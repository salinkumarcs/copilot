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6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67.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65" r:id="rId2"/>
    <p:sldId id="268" r:id="rId3"/>
    <p:sldId id="302" r:id="rId4"/>
    <p:sldId id="2147483468" r:id="rId5"/>
    <p:sldId id="273" r:id="rId6"/>
    <p:sldId id="2147483454" r:id="rId7"/>
    <p:sldId id="2147483466" r:id="rId8"/>
    <p:sldId id="2147483467" r:id="rId9"/>
    <p:sldId id="2147483457" r:id="rId10"/>
    <p:sldId id="2147482659" r:id="rId11"/>
    <p:sldId id="277" r:id="rId12"/>
    <p:sldId id="288" r:id="rId13"/>
    <p:sldId id="291" r:id="rId14"/>
    <p:sldId id="292" r:id="rId15"/>
    <p:sldId id="294" r:id="rId16"/>
    <p:sldId id="2147483456" r:id="rId17"/>
    <p:sldId id="2147483566" r:id="rId18"/>
    <p:sldId id="2147483414" r:id="rId19"/>
    <p:sldId id="264" r:id="rId20"/>
    <p:sldId id="295" r:id="rId21"/>
    <p:sldId id="2147483453" r:id="rId22"/>
    <p:sldId id="2147483431" r:id="rId23"/>
    <p:sldId id="270" r:id="rId24"/>
    <p:sldId id="296" r:id="rId25"/>
    <p:sldId id="2147483480" r:id="rId26"/>
    <p:sldId id="2147483641" r:id="rId27"/>
    <p:sldId id="2147483642" r:id="rId28"/>
    <p:sldId id="2147483643" r:id="rId29"/>
    <p:sldId id="2147483634" r:id="rId30"/>
    <p:sldId id="297" r:id="rId31"/>
    <p:sldId id="2147483492" r:id="rId32"/>
    <p:sldId id="2147479096" r:id="rId33"/>
    <p:sldId id="2147483462" r:id="rId34"/>
    <p:sldId id="301" r:id="rId35"/>
    <p:sldId id="2147483436" r:id="rId36"/>
    <p:sldId id="2147483437" r:id="rId37"/>
    <p:sldId id="2147483438" r:id="rId38"/>
    <p:sldId id="2147483439" r:id="rId39"/>
    <p:sldId id="2147483469" r:id="rId40"/>
    <p:sldId id="2147483442" r:id="rId41"/>
    <p:sldId id="2147483420" r:id="rId42"/>
    <p:sldId id="2147483446" r:id="rId43"/>
    <p:sldId id="2147483463" r:id="rId44"/>
    <p:sldId id="2147483445" r:id="rId45"/>
    <p:sldId id="2147483464" r:id="rId46"/>
    <p:sldId id="2147483422" r:id="rId47"/>
    <p:sldId id="2147483499" r:id="rId48"/>
    <p:sldId id="2147483498" r:id="rId49"/>
    <p:sldId id="298" r:id="rId50"/>
    <p:sldId id="353" r:id="rId51"/>
    <p:sldId id="354" r:id="rId52"/>
    <p:sldId id="375" r:id="rId53"/>
    <p:sldId id="2147483564" r:id="rId54"/>
    <p:sldId id="323" r:id="rId55"/>
    <p:sldId id="2147483500" r:id="rId56"/>
    <p:sldId id="305" r:id="rId57"/>
    <p:sldId id="307" r:id="rId58"/>
    <p:sldId id="311" r:id="rId59"/>
    <p:sldId id="308" r:id="rId60"/>
    <p:sldId id="309" r:id="rId61"/>
    <p:sldId id="312" r:id="rId62"/>
    <p:sldId id="314" r:id="rId63"/>
    <p:sldId id="318" r:id="rId64"/>
    <p:sldId id="319" r:id="rId65"/>
    <p:sldId id="320" r:id="rId66"/>
    <p:sldId id="321" r:id="rId67"/>
    <p:sldId id="322" r:id="rId68"/>
    <p:sldId id="324" r:id="rId69"/>
    <p:sldId id="326" r:id="rId70"/>
    <p:sldId id="329" r:id="rId71"/>
    <p:sldId id="328" r:id="rId72"/>
    <p:sldId id="304" r:id="rId73"/>
    <p:sldId id="290" r:id="rId74"/>
    <p:sldId id="278" r:id="rId75"/>
    <p:sldId id="281" r:id="rId76"/>
    <p:sldId id="283" r:id="rId77"/>
    <p:sldId id="280" r:id="rId78"/>
    <p:sldId id="316" r:id="rId79"/>
    <p:sldId id="2147470033" r:id="rId80"/>
    <p:sldId id="284" r:id="rId81"/>
    <p:sldId id="2147482317" r:id="rId82"/>
    <p:sldId id="256" r:id="rId83"/>
    <p:sldId id="332" r:id="rId84"/>
    <p:sldId id="333" r:id="rId85"/>
    <p:sldId id="267" r:id="rId86"/>
    <p:sldId id="2147480693" r:id="rId87"/>
    <p:sldId id="2147482329" r:id="rId88"/>
    <p:sldId id="2147482296" r:id="rId89"/>
    <p:sldId id="2147482665" r:id="rId90"/>
    <p:sldId id="330"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9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14090A-C54A-4AC5-9D3C-4B12BC6C5901}"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10B97-7300-40CB-BDD8-09911EFC4164}" type="slidenum">
              <a:rPr lang="en-US" smtClean="0"/>
              <a:t>‹#›</a:t>
            </a:fld>
            <a:endParaRPr lang="en-US"/>
          </a:p>
        </p:txBody>
      </p:sp>
    </p:spTree>
    <p:extLst>
      <p:ext uri="{BB962C8B-B14F-4D97-AF65-F5344CB8AC3E}">
        <p14:creationId xmlns:p14="http://schemas.microsoft.com/office/powerpoint/2010/main" val="1090935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E247D-4C71-2D00-A17C-CEAD31237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CAF80-C95F-4E82-0B9A-1E748D2A2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019A54-FA82-EDA7-AD82-FFE4937AEC72}"/>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99BAE685-E745-8924-5288-FC0763B7A282}"/>
              </a:ext>
            </a:extLst>
          </p:cNvPr>
          <p:cNvSpPr>
            <a:spLocks noGrp="1"/>
          </p:cNvSpPr>
          <p:nvPr>
            <p:ph type="sldNum" sz="quarter" idx="5"/>
          </p:nvPr>
        </p:nvSpPr>
        <p:spPr/>
        <p:txBody>
          <a:bodyPr/>
          <a:lstStyle/>
          <a:p>
            <a:fld id="{D90D7196-05DF-4E34-B2FC-EB13190E006B}" type="slidenum">
              <a:rPr lang="en-US" smtClean="0"/>
              <a:t>1</a:t>
            </a:fld>
            <a:endParaRPr lang="en-US"/>
          </a:p>
        </p:txBody>
      </p:sp>
    </p:spTree>
    <p:extLst>
      <p:ext uri="{BB962C8B-B14F-4D97-AF65-F5344CB8AC3E}">
        <p14:creationId xmlns:p14="http://schemas.microsoft.com/office/powerpoint/2010/main" val="227932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B1DE4-005C-5A0D-4920-742AC82FB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AFE4C-6BCA-9C47-C102-69E393301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7252BE-D882-3204-F057-17DFDA78A25E}"/>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AD7972DE-6168-E47A-5F85-0864794DDA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402006-6DF7-4E46-AA10-77681950139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272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EAF6-5B49-F951-6F03-95D53C8C0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2B66E-DC5D-1F15-B5BA-D3BF745A2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99938-5099-AAF0-EECD-A2D7E43A6F6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CA92522-E813-8A43-F241-8184F46A8F2F}"/>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AEBC3D8B-3F14-EECA-E178-781232EB512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A6430B3-4F60-EEEA-8041-DB8EA68CD42B}"/>
              </a:ext>
            </a:extLst>
          </p:cNvPr>
          <p:cNvSpPr>
            <a:spLocks noGrp="1"/>
          </p:cNvSpPr>
          <p:nvPr>
            <p:ph type="dt" idx="1"/>
          </p:nvPr>
        </p:nvSpPr>
        <p:spPr/>
        <p:txBody>
          <a:bodyPr/>
          <a:lstStyle/>
          <a:p>
            <a:fld id="{F0BCC5A8-CB9F-4C18-83E3-C4C0838CF210}" type="datetime8">
              <a:rPr lang="en-US" smtClean="0"/>
              <a:t>2/24/2025 12:02 PM</a:t>
            </a:fld>
            <a:endParaRPr lang="en-US"/>
          </a:p>
        </p:txBody>
      </p:sp>
      <p:sp>
        <p:nvSpPr>
          <p:cNvPr id="7" name="Slide Number Placeholder 6">
            <a:extLst>
              <a:ext uri="{FF2B5EF4-FFF2-40B4-BE49-F238E27FC236}">
                <a16:creationId xmlns:a16="http://schemas.microsoft.com/office/drawing/2014/main" id="{8744131B-215C-15B3-AAF9-2C2E3B1044D5}"/>
              </a:ext>
            </a:extLst>
          </p:cNvPr>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695048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7284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84B1-EDA9-69DA-5266-13EF3B96B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6B72A-8373-05D8-FD66-1863BA07B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DBDD9-A280-2495-00ED-48B4D33CEE15}"/>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0E8C1E00-9869-00BA-BBFD-EAD11C28431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8998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6</a:t>
            </a:fld>
            <a:endParaRPr lang="en-US"/>
          </a:p>
        </p:txBody>
      </p:sp>
    </p:spTree>
    <p:extLst>
      <p:ext uri="{BB962C8B-B14F-4D97-AF65-F5344CB8AC3E}">
        <p14:creationId xmlns:p14="http://schemas.microsoft.com/office/powerpoint/2010/main" val="1844702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39D0DE-57E3-4479-BE8D-22F17427B436}" type="slidenum">
              <a:rPr lang="en-US" smtClean="0"/>
              <a:t>7</a:t>
            </a:fld>
            <a:endParaRPr lang="en-US"/>
          </a:p>
        </p:txBody>
      </p:sp>
    </p:spTree>
    <p:extLst>
      <p:ext uri="{BB962C8B-B14F-4D97-AF65-F5344CB8AC3E}">
        <p14:creationId xmlns:p14="http://schemas.microsoft.com/office/powerpoint/2010/main" val="1528835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39D0DE-57E3-4479-BE8D-22F17427B436}" type="slidenum">
              <a:rPr lang="en-US" smtClean="0"/>
              <a:t>8</a:t>
            </a:fld>
            <a:endParaRPr lang="en-US"/>
          </a:p>
        </p:txBody>
      </p:sp>
    </p:spTree>
    <p:extLst>
      <p:ext uri="{BB962C8B-B14F-4D97-AF65-F5344CB8AC3E}">
        <p14:creationId xmlns:p14="http://schemas.microsoft.com/office/powerpoint/2010/main" val="3527528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2929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976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64C5-0F10-04F6-798C-025495BAE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1E60B-2260-2C8A-6058-4291C9835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74276-6447-5994-6BCB-C42C3F0140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A6920D-FE16-9628-9A3F-5E06F8673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866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8FE5-E7AA-E862-5B21-683804F85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C15A1-B4DF-3920-D56F-98D12D7A5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30A73-6B02-585D-ECCB-F3C9E2329A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68AA29-20CE-E9FA-CADD-2B27155085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8255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01969-AC42-F7CD-3B19-C21BC0269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29981-73D8-3E8C-F70D-C3BC407A1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8145F-454F-A31B-A2C2-62FE725E0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85A797-C9A5-6257-D3A9-E1D6CE87F9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340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2A85A-B52D-2886-4628-50C6967B8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08544-EC16-D080-E299-D25262813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A41BB-7421-D262-F808-103049D98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5A5CCC-3349-4D1C-D7A4-5C210FD1E4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0407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A77F-41BE-211F-0135-328C6F463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01620-C6DC-2E05-1547-392B1EC32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94293D-D76B-3E9F-FA4E-1A5250FF21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5163C-DD92-BEAD-DD9B-42F694C01D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BEF674-687C-4523-AB9A-39F3E48DCA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9470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0762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2/24/2025 12:02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2435528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9CCCD7-65E2-45DB-B0AD-6B06DD9C28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5085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7928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3530F-3394-41A4-D4BE-BEFE19443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190BC-F3BB-2C3A-E4D2-5C5CA78C8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51ABC-3CB0-3E22-7C13-0EFBC8BDEA44}"/>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4859B769-103D-AD3F-FAF4-358BB1FF0A8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19944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25357B-8F40-42E9-BE27-6FDDE825A71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2768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1467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EB83-A303-070E-09EB-F8F8FD9D9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367C6-E194-0953-A4AF-EEB9420AC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13EE7-C603-6106-8568-9216BFEFF4B3}"/>
              </a:ext>
            </a:extLst>
          </p:cNvPr>
          <p:cNvSpPr>
            <a:spLocks noGrp="1"/>
          </p:cNvSpPr>
          <p:nvPr>
            <p:ph type="body" idx="1"/>
          </p:nvPr>
        </p:nvSpPr>
        <p:spPr/>
        <p:txBody>
          <a:bodyPr/>
          <a:lstStyle/>
          <a:p>
            <a:endParaRPr lang="en-US" sz="1200" kern="1200" baseline="0" dirty="0">
              <a:solidFill>
                <a:schemeClr val="tx1"/>
              </a:solidFill>
              <a:latin typeface="+mn-lt"/>
              <a:ea typeface="+mn-ea"/>
              <a:cs typeface="Segoe UI"/>
            </a:endParaRPr>
          </a:p>
        </p:txBody>
      </p:sp>
      <p:sp>
        <p:nvSpPr>
          <p:cNvPr id="4" name="Slide Number Placeholder 3">
            <a:extLst>
              <a:ext uri="{FF2B5EF4-FFF2-40B4-BE49-F238E27FC236}">
                <a16:creationId xmlns:a16="http://schemas.microsoft.com/office/drawing/2014/main" id="{F19E4724-89BA-18DF-7044-CD57B2CB25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2CAA9-BE3F-45D6-BB8A-1AD10BFBE0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1586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467CA-A1B4-85B6-FDC3-D515CBEDE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978F5-A12C-D116-F568-5588E87DE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DA869-42B9-E33D-549B-C408AD2A476D}"/>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DD75C8B8-A485-2BA4-2DFD-FF692B08E73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0051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80621-9509-BD7A-7BAB-B2ED3A51B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0FD75-E3EF-25E0-2EF9-0E5A50962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21A65-1717-257B-5F84-7B5D70A0B5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20DD70-F32C-B534-B4CC-7308FBF172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8E4C37-BBC1-4DAF-AE3C-86D11AAE94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9580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0732-2D7A-B5D4-DA66-3EBB0A8DC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FE0DE-D2CE-E631-FFFE-7B440E7C5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A8EEC-A63D-AC0D-3C82-D762DC25365C}"/>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7AA10150-668A-7508-C20B-CEBA86AF17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8E4C37-BBC1-4DAF-AE3C-86D11AAE94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1545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27</a:t>
            </a:fld>
            <a:endParaRPr lang="en-US"/>
          </a:p>
        </p:txBody>
      </p:sp>
    </p:spTree>
    <p:extLst>
      <p:ext uri="{BB962C8B-B14F-4D97-AF65-F5344CB8AC3E}">
        <p14:creationId xmlns:p14="http://schemas.microsoft.com/office/powerpoint/2010/main" val="4119540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28</a:t>
            </a:fld>
            <a:endParaRPr lang="en-US"/>
          </a:p>
        </p:txBody>
      </p:sp>
    </p:spTree>
    <p:extLst>
      <p:ext uri="{BB962C8B-B14F-4D97-AF65-F5344CB8AC3E}">
        <p14:creationId xmlns:p14="http://schemas.microsoft.com/office/powerpoint/2010/main" val="2267644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96C0B6-D558-45A9-AA5C-4B0C7776B6D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18768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40BC5-43C4-E001-71D9-E9DB50FEC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A125A-287C-286E-975A-2499EC349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8035F-8A2C-510D-B957-894BA40FAE1E}"/>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CEA38FA-44A6-0918-533B-156DC46283F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25141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BBDC-0AC1-E58F-B926-3EC4D3F25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71173-032B-7D1E-AC68-EB36FB381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3149A-965E-1F08-E670-E99CA10F1C71}"/>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6216F29C-7CB1-D50F-BD05-9E5170DA106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9556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2EA74FB8-A5D8-42F5-8A4C-4FD460673BB5}" type="slidenum">
              <a:rPr lang="en-US" smtClean="0"/>
              <a:t>32</a:t>
            </a:fld>
            <a:endParaRPr lang="en-US"/>
          </a:p>
        </p:txBody>
      </p:sp>
    </p:spTree>
    <p:extLst>
      <p:ext uri="{BB962C8B-B14F-4D97-AF65-F5344CB8AC3E}">
        <p14:creationId xmlns:p14="http://schemas.microsoft.com/office/powerpoint/2010/main" val="11801350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b="0"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F9CCCD7-65E2-45DB-B0AD-6B06DD9C28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4527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90D7196-05DF-4E34-B2FC-EB13190E006B}" type="slidenum">
              <a:rPr lang="en-US" smtClean="0"/>
              <a:t>34</a:t>
            </a:fld>
            <a:endParaRPr lang="en-US"/>
          </a:p>
        </p:txBody>
      </p:sp>
    </p:spTree>
    <p:extLst>
      <p:ext uri="{BB962C8B-B14F-4D97-AF65-F5344CB8AC3E}">
        <p14:creationId xmlns:p14="http://schemas.microsoft.com/office/powerpoint/2010/main" val="5819629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35</a:t>
            </a:fld>
            <a:endParaRPr lang="en-US"/>
          </a:p>
        </p:txBody>
      </p:sp>
    </p:spTree>
    <p:extLst>
      <p:ext uri="{BB962C8B-B14F-4D97-AF65-F5344CB8AC3E}">
        <p14:creationId xmlns:p14="http://schemas.microsoft.com/office/powerpoint/2010/main" val="17307289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b="0" i="0" dirty="0">
              <a:solidFill>
                <a:srgbClr val="000000"/>
              </a:solidFill>
              <a:effectLst/>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8F61DCC-CD76-4760-8C8A-4DB5ACF040E7}" type="slidenum">
              <a:rPr lang="en-US" smtClean="0"/>
              <a:t>36</a:t>
            </a:fld>
            <a:endParaRPr lang="en-US"/>
          </a:p>
        </p:txBody>
      </p:sp>
    </p:spTree>
    <p:extLst>
      <p:ext uri="{BB962C8B-B14F-4D97-AF65-F5344CB8AC3E}">
        <p14:creationId xmlns:p14="http://schemas.microsoft.com/office/powerpoint/2010/main" val="16454393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37</a:t>
            </a:fld>
            <a:endParaRPr lang="en-US"/>
          </a:p>
        </p:txBody>
      </p:sp>
    </p:spTree>
    <p:extLst>
      <p:ext uri="{BB962C8B-B14F-4D97-AF65-F5344CB8AC3E}">
        <p14:creationId xmlns:p14="http://schemas.microsoft.com/office/powerpoint/2010/main" val="41080451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38</a:t>
            </a:fld>
            <a:endParaRPr lang="en-US"/>
          </a:p>
        </p:txBody>
      </p:sp>
    </p:spTree>
    <p:extLst>
      <p:ext uri="{BB962C8B-B14F-4D97-AF65-F5344CB8AC3E}">
        <p14:creationId xmlns:p14="http://schemas.microsoft.com/office/powerpoint/2010/main" val="19332985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8DAE-8395-CBBC-D094-44EBAF850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1D194-F979-A52E-488C-AB5151FDB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0FF33-B599-F283-27B7-DAF2EB4EB2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CD38D4-0F82-44D7-96A8-5F852E55002C}"/>
              </a:ext>
            </a:extLst>
          </p:cNvPr>
          <p:cNvSpPr>
            <a:spLocks noGrp="1"/>
          </p:cNvSpPr>
          <p:nvPr>
            <p:ph type="sldNum" sz="quarter" idx="5"/>
          </p:nvPr>
        </p:nvSpPr>
        <p:spPr/>
        <p:txBody>
          <a:bodyPr/>
          <a:lstStyle/>
          <a:p>
            <a:fld id="{A8F61DCC-CD76-4760-8C8A-4DB5ACF040E7}" type="slidenum">
              <a:rPr lang="en-US" smtClean="0"/>
              <a:t>39</a:t>
            </a:fld>
            <a:endParaRPr lang="en-US"/>
          </a:p>
        </p:txBody>
      </p:sp>
    </p:spTree>
    <p:extLst>
      <p:ext uri="{BB962C8B-B14F-4D97-AF65-F5344CB8AC3E}">
        <p14:creationId xmlns:p14="http://schemas.microsoft.com/office/powerpoint/2010/main" val="26538929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40</a:t>
            </a:fld>
            <a:endParaRPr lang="en-US"/>
          </a:p>
        </p:txBody>
      </p:sp>
    </p:spTree>
    <p:extLst>
      <p:ext uri="{BB962C8B-B14F-4D97-AF65-F5344CB8AC3E}">
        <p14:creationId xmlns:p14="http://schemas.microsoft.com/office/powerpoint/2010/main" val="19872992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41</a:t>
            </a:fld>
            <a:endParaRPr lang="en-US"/>
          </a:p>
        </p:txBody>
      </p:sp>
    </p:spTree>
    <p:extLst>
      <p:ext uri="{BB962C8B-B14F-4D97-AF65-F5344CB8AC3E}">
        <p14:creationId xmlns:p14="http://schemas.microsoft.com/office/powerpoint/2010/main" val="3596551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42</a:t>
            </a:fld>
            <a:endParaRPr lang="en-US"/>
          </a:p>
        </p:txBody>
      </p:sp>
    </p:spTree>
    <p:extLst>
      <p:ext uri="{BB962C8B-B14F-4D97-AF65-F5344CB8AC3E}">
        <p14:creationId xmlns:p14="http://schemas.microsoft.com/office/powerpoint/2010/main" val="5239245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29B44-FF5A-832E-D2A3-94DCB1175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C8266-34F6-8B30-FC19-C1486CD62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00B38-B33F-4059-C224-C08664E076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98AFCD-75C2-D528-A126-098B35E97EA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F9CCCD7-65E2-45DB-B0AD-6B06DD9C28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19075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D90D7196-05DF-4E34-B2FC-EB13190E006B}" type="slidenum">
              <a:rPr lang="en-US" smtClean="0"/>
              <a:t>44</a:t>
            </a:fld>
            <a:endParaRPr lang="en-US"/>
          </a:p>
        </p:txBody>
      </p:sp>
    </p:spTree>
    <p:extLst>
      <p:ext uri="{BB962C8B-B14F-4D97-AF65-F5344CB8AC3E}">
        <p14:creationId xmlns:p14="http://schemas.microsoft.com/office/powerpoint/2010/main" val="26187144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6151E-7457-18D2-E194-7BF3394C2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2CCFC-8D97-FEA8-CBF9-1B874E2D9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3BBCA-7401-1A26-94DD-78C73334E7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3A067C-046F-0C76-F19C-2656704A765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F9CCCD7-65E2-45DB-B0AD-6B06DD9C28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76048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46</a:t>
            </a:fld>
            <a:endParaRPr lang="en-US"/>
          </a:p>
        </p:txBody>
      </p:sp>
    </p:spTree>
    <p:extLst>
      <p:ext uri="{BB962C8B-B14F-4D97-AF65-F5344CB8AC3E}">
        <p14:creationId xmlns:p14="http://schemas.microsoft.com/office/powerpoint/2010/main" val="34773747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sz="1200" b="0" dirty="0"/>
              <a:t> </a:t>
            </a:r>
            <a:endParaRPr lang="en-US" sz="1200" b="0" dirty="0"/>
          </a:p>
        </p:txBody>
      </p:sp>
      <p:sp>
        <p:nvSpPr>
          <p:cNvPr id="4" name="Slide Number Placeholder 3"/>
          <p:cNvSpPr>
            <a:spLocks noGrp="1"/>
          </p:cNvSpPr>
          <p:nvPr>
            <p:ph type="sldNum" sz="quarter" idx="5"/>
          </p:nvPr>
        </p:nvSpPr>
        <p:spPr/>
        <p:txBody>
          <a:bodyPr/>
          <a:lstStyle/>
          <a:p>
            <a:fld id="{D90D7196-05DF-4E34-B2FC-EB13190E006B}" type="slidenum">
              <a:rPr lang="en-US" smtClean="0"/>
              <a:t>47</a:t>
            </a:fld>
            <a:endParaRPr lang="en-US"/>
          </a:p>
        </p:txBody>
      </p:sp>
    </p:spTree>
    <p:extLst>
      <p:ext uri="{BB962C8B-B14F-4D97-AF65-F5344CB8AC3E}">
        <p14:creationId xmlns:p14="http://schemas.microsoft.com/office/powerpoint/2010/main" val="21586389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F61DCC-CD76-4760-8C8A-4DB5ACF040E7}" type="slidenum">
              <a:rPr lang="en-US" smtClean="0"/>
              <a:t>48</a:t>
            </a:fld>
            <a:endParaRPr lang="en-US"/>
          </a:p>
        </p:txBody>
      </p:sp>
    </p:spTree>
    <p:extLst>
      <p:ext uri="{BB962C8B-B14F-4D97-AF65-F5344CB8AC3E}">
        <p14:creationId xmlns:p14="http://schemas.microsoft.com/office/powerpoint/2010/main" val="12674141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00C3-1507-E804-E23C-61B3A6C05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B15EB-ECF7-6C9E-95C7-0614DE77A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4F09C-3AD3-AE40-19C7-0FA127AEFB0D}"/>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898E3BE2-88E2-C5F3-6C2F-916A4FA79C4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71124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99E7-0269-F487-A77B-852F3DB0F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4E49F-0DCF-0F78-609D-117B6B9D6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96CF0-4D74-8388-DF9B-6FD7913C023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DDFFD1A-B276-C0B4-5B37-A2A1FFBC8CB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B3CBE9C-9F27-E699-1684-08EE69C37DF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C5302C7-A29E-F239-419E-0826427AD33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F8C8F22-71C1-490E-0EA8-B12304F4F05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899989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1D9E8-4933-1B11-84D3-988B534D5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3B27B-F541-AF57-8C0C-6ED59FF8E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E9F7F-AA21-F492-6A0E-F3FB0334A2EC}"/>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a:extLst>
              <a:ext uri="{FF2B5EF4-FFF2-40B4-BE49-F238E27FC236}">
                <a16:creationId xmlns:a16="http://schemas.microsoft.com/office/drawing/2014/main" id="{7FB7E18E-8204-59B2-3A4A-169410329BF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EE4CB6A-CE0D-23A3-0D6A-6E88C8FAB0D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9598739-A945-0CE9-8357-3AE6DBE2132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6848D58-369B-5EA7-4555-D74937C5562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420666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1CF1-2951-278E-3250-6AED3B90F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918EA-9819-A131-5B00-E76BA6D3B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D7D3F-D899-3FAB-BCF3-34A91B601491}"/>
              </a:ext>
            </a:extLst>
          </p:cNvPr>
          <p:cNvSpPr>
            <a:spLocks noGrp="1"/>
          </p:cNvSpPr>
          <p:nvPr>
            <p:ph type="body" idx="1"/>
          </p:nvPr>
        </p:nvSpPr>
        <p:spPr/>
        <p:txBody>
          <a:bodyPr/>
          <a:lstStyle/>
          <a:p>
            <a:endParaRPr lang="en-US" b="0" i="0" dirty="0">
              <a:solidFill>
                <a:srgbClr val="000000"/>
              </a:solidFill>
              <a:effectLst/>
              <a:latin typeface="Times New Roman" panose="02020603050405020304" pitchFamily="18" charset="0"/>
            </a:endParaRPr>
          </a:p>
        </p:txBody>
      </p:sp>
      <p:sp>
        <p:nvSpPr>
          <p:cNvPr id="4" name="Header Placeholder 3">
            <a:extLst>
              <a:ext uri="{FF2B5EF4-FFF2-40B4-BE49-F238E27FC236}">
                <a16:creationId xmlns:a16="http://schemas.microsoft.com/office/drawing/2014/main" id="{49828FB3-0AAE-1660-2332-16347937DB0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AB08013-F659-CF7A-320F-C758AAFC881A}"/>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709577D-D88F-1CC5-782C-D070CC6CD3C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B1B10A7-AE4C-D30B-4CC2-3BB803F3545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002900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E7A0A-4334-DF26-826B-BA464F063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7814A-9F45-5EF2-2D24-38E55C8BC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8FE25-DD0E-328C-535D-0060665EB7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2E4A80-2EE7-6AED-6D60-C8FACF41B0E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09649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6A965-3560-8CCD-B7AB-0BC6EF444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B91FA-AD7B-5B6F-085D-9ACE41DD7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03FBB-F708-6972-B0A6-A2DFFFADC7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2E8962-8230-53C3-7A18-7C70718E49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576D78-3375-4E05-A780-65CD166E538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85718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55</a:t>
            </a:fld>
            <a:endParaRPr lang="en-US"/>
          </a:p>
        </p:txBody>
      </p:sp>
    </p:spTree>
    <p:extLst>
      <p:ext uri="{BB962C8B-B14F-4D97-AF65-F5344CB8AC3E}">
        <p14:creationId xmlns:p14="http://schemas.microsoft.com/office/powerpoint/2010/main" val="39267654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0D7196-05DF-4E34-B2FC-EB13190E006B}" type="slidenum">
              <a:rPr lang="en-US" smtClean="0"/>
              <a:t>56</a:t>
            </a:fld>
            <a:endParaRPr lang="en-US"/>
          </a:p>
        </p:txBody>
      </p:sp>
    </p:spTree>
    <p:extLst>
      <p:ext uri="{BB962C8B-B14F-4D97-AF65-F5344CB8AC3E}">
        <p14:creationId xmlns:p14="http://schemas.microsoft.com/office/powerpoint/2010/main" val="20204388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56CAE-DA28-975A-E6E6-56E506D1C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74554-9776-53EB-3E8A-BC581D235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ABB49-9437-2719-EF1D-40BAB0B3F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9A473-590C-AA89-044B-495D6010F633}"/>
              </a:ext>
            </a:extLst>
          </p:cNvPr>
          <p:cNvSpPr>
            <a:spLocks noGrp="1"/>
          </p:cNvSpPr>
          <p:nvPr>
            <p:ph type="sldNum" sz="quarter" idx="5"/>
          </p:nvPr>
        </p:nvSpPr>
        <p:spPr/>
        <p:txBody>
          <a:bodyPr/>
          <a:lstStyle/>
          <a:p>
            <a:fld id="{D90D7196-05DF-4E34-B2FC-EB13190E006B}" type="slidenum">
              <a:rPr lang="en-US" smtClean="0"/>
              <a:t>57</a:t>
            </a:fld>
            <a:endParaRPr lang="en-US"/>
          </a:p>
        </p:txBody>
      </p:sp>
    </p:spTree>
    <p:extLst>
      <p:ext uri="{BB962C8B-B14F-4D97-AF65-F5344CB8AC3E}">
        <p14:creationId xmlns:p14="http://schemas.microsoft.com/office/powerpoint/2010/main" val="9616990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D87D-089D-3F19-2993-EC8D20A20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AF3AB-102E-465C-68B8-471C4419B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30B20-0296-2742-B636-833970A95B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912753-FEAC-4C1A-11DF-1CD39AA6453F}"/>
              </a:ext>
            </a:extLst>
          </p:cNvPr>
          <p:cNvSpPr>
            <a:spLocks noGrp="1"/>
          </p:cNvSpPr>
          <p:nvPr>
            <p:ph type="sldNum" sz="quarter" idx="5"/>
          </p:nvPr>
        </p:nvSpPr>
        <p:spPr/>
        <p:txBody>
          <a:bodyPr/>
          <a:lstStyle/>
          <a:p>
            <a:fld id="{D90D7196-05DF-4E34-B2FC-EB13190E006B}" type="slidenum">
              <a:rPr lang="en-US" smtClean="0"/>
              <a:t>58</a:t>
            </a:fld>
            <a:endParaRPr lang="en-US"/>
          </a:p>
        </p:txBody>
      </p:sp>
    </p:spTree>
    <p:extLst>
      <p:ext uri="{BB962C8B-B14F-4D97-AF65-F5344CB8AC3E}">
        <p14:creationId xmlns:p14="http://schemas.microsoft.com/office/powerpoint/2010/main" val="20383096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82EA-6338-2CB2-F469-5C589B027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A6BB5-DDAD-3F97-288C-3914B75DB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CDD32-2B91-AF0B-554B-6AD33B88E7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AE87B1-9CC1-E2C9-F559-456377C743DB}"/>
              </a:ext>
            </a:extLst>
          </p:cNvPr>
          <p:cNvSpPr>
            <a:spLocks noGrp="1"/>
          </p:cNvSpPr>
          <p:nvPr>
            <p:ph type="sldNum" sz="quarter" idx="5"/>
          </p:nvPr>
        </p:nvSpPr>
        <p:spPr/>
        <p:txBody>
          <a:bodyPr/>
          <a:lstStyle/>
          <a:p>
            <a:fld id="{D90D7196-05DF-4E34-B2FC-EB13190E006B}" type="slidenum">
              <a:rPr lang="en-US" smtClean="0"/>
              <a:t>59</a:t>
            </a:fld>
            <a:endParaRPr lang="en-US"/>
          </a:p>
        </p:txBody>
      </p:sp>
    </p:spTree>
    <p:extLst>
      <p:ext uri="{BB962C8B-B14F-4D97-AF65-F5344CB8AC3E}">
        <p14:creationId xmlns:p14="http://schemas.microsoft.com/office/powerpoint/2010/main" val="35328580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A0A88-9494-D41B-E5D4-980508577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56981-61C3-D7C1-20FC-965813D85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CEF2D-61FB-B4EC-CE39-3E9B3404A9E2}"/>
              </a:ext>
            </a:extLst>
          </p:cNvPr>
          <p:cNvSpPr>
            <a:spLocks noGrp="1"/>
          </p:cNvSpPr>
          <p:nvPr>
            <p:ph type="body" idx="1"/>
          </p:nvPr>
        </p:nvSpPr>
        <p:spPr/>
        <p:txBody>
          <a:bodyPr/>
          <a:lstStyle/>
          <a:p>
            <a:endParaRPr lang="en-US" sz="1200" b="0" dirty="0"/>
          </a:p>
        </p:txBody>
      </p:sp>
      <p:sp>
        <p:nvSpPr>
          <p:cNvPr id="4" name="Slide Number Placeholder 3">
            <a:extLst>
              <a:ext uri="{FF2B5EF4-FFF2-40B4-BE49-F238E27FC236}">
                <a16:creationId xmlns:a16="http://schemas.microsoft.com/office/drawing/2014/main" id="{E337E981-ED54-B659-820E-1455F0F35D44}"/>
              </a:ext>
            </a:extLst>
          </p:cNvPr>
          <p:cNvSpPr>
            <a:spLocks noGrp="1"/>
          </p:cNvSpPr>
          <p:nvPr>
            <p:ph type="sldNum" sz="quarter" idx="5"/>
          </p:nvPr>
        </p:nvSpPr>
        <p:spPr/>
        <p:txBody>
          <a:bodyPr/>
          <a:lstStyle/>
          <a:p>
            <a:fld id="{D90D7196-05DF-4E34-B2FC-EB13190E006B}" type="slidenum">
              <a:rPr lang="en-US" smtClean="0"/>
              <a:t>60</a:t>
            </a:fld>
            <a:endParaRPr lang="en-US"/>
          </a:p>
        </p:txBody>
      </p:sp>
    </p:spTree>
    <p:extLst>
      <p:ext uri="{BB962C8B-B14F-4D97-AF65-F5344CB8AC3E}">
        <p14:creationId xmlns:p14="http://schemas.microsoft.com/office/powerpoint/2010/main" val="5365051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9F65-8F8E-539F-21AD-0B46E351E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CF84D-B182-15A7-81DE-8FE73A6C4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ECB23-6C3C-DE4E-17A4-B4E8F544A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A25C76-C4F0-F131-F82D-AF5D09B3F957}"/>
              </a:ext>
            </a:extLst>
          </p:cNvPr>
          <p:cNvSpPr>
            <a:spLocks noGrp="1"/>
          </p:cNvSpPr>
          <p:nvPr>
            <p:ph type="sldNum" sz="quarter" idx="5"/>
          </p:nvPr>
        </p:nvSpPr>
        <p:spPr/>
        <p:txBody>
          <a:bodyPr/>
          <a:lstStyle/>
          <a:p>
            <a:fld id="{D90D7196-05DF-4E34-B2FC-EB13190E006B}" type="slidenum">
              <a:rPr lang="en-US" smtClean="0"/>
              <a:t>61</a:t>
            </a:fld>
            <a:endParaRPr lang="en-US"/>
          </a:p>
        </p:txBody>
      </p:sp>
    </p:spTree>
    <p:extLst>
      <p:ext uri="{BB962C8B-B14F-4D97-AF65-F5344CB8AC3E}">
        <p14:creationId xmlns:p14="http://schemas.microsoft.com/office/powerpoint/2010/main" val="21015509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2B4CB-DD55-4E7E-C0DC-92B00B89B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47C5D-C0EB-3E1B-593D-1D3ACCE21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62DD0-AFFF-67CE-E9B2-F7FFECA339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90CCA8-89BF-9360-489B-0BAE19EC770B}"/>
              </a:ext>
            </a:extLst>
          </p:cNvPr>
          <p:cNvSpPr>
            <a:spLocks noGrp="1"/>
          </p:cNvSpPr>
          <p:nvPr>
            <p:ph type="sldNum" sz="quarter" idx="5"/>
          </p:nvPr>
        </p:nvSpPr>
        <p:spPr/>
        <p:txBody>
          <a:bodyPr/>
          <a:lstStyle/>
          <a:p>
            <a:fld id="{D90D7196-05DF-4E34-B2FC-EB13190E006B}" type="slidenum">
              <a:rPr lang="en-US" smtClean="0"/>
              <a:t>62</a:t>
            </a:fld>
            <a:endParaRPr lang="en-US"/>
          </a:p>
        </p:txBody>
      </p:sp>
    </p:spTree>
    <p:extLst>
      <p:ext uri="{BB962C8B-B14F-4D97-AF65-F5344CB8AC3E}">
        <p14:creationId xmlns:p14="http://schemas.microsoft.com/office/powerpoint/2010/main" val="36822014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14FE-E436-35B8-BEEF-C4A8E8F3D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1FA52-F23B-33E2-E8B4-15AD07CF5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9396D-EF80-05D4-F070-31ED48AD28FD}"/>
              </a:ext>
            </a:extLst>
          </p:cNvPr>
          <p:cNvSpPr>
            <a:spLocks noGrp="1"/>
          </p:cNvSpPr>
          <p:nvPr>
            <p:ph type="body" idx="1"/>
          </p:nvPr>
        </p:nvSpPr>
        <p:spPr/>
        <p:txBody>
          <a:bodyPr/>
          <a:lstStyle/>
          <a:p>
            <a:endParaRPr lang="en-US" sz="1200" b="0" dirty="0"/>
          </a:p>
        </p:txBody>
      </p:sp>
      <p:sp>
        <p:nvSpPr>
          <p:cNvPr id="4" name="Slide Number Placeholder 3">
            <a:extLst>
              <a:ext uri="{FF2B5EF4-FFF2-40B4-BE49-F238E27FC236}">
                <a16:creationId xmlns:a16="http://schemas.microsoft.com/office/drawing/2014/main" id="{E68D9C83-C667-CDEB-ECD4-DAF2EBBF6996}"/>
              </a:ext>
            </a:extLst>
          </p:cNvPr>
          <p:cNvSpPr>
            <a:spLocks noGrp="1"/>
          </p:cNvSpPr>
          <p:nvPr>
            <p:ph type="sldNum" sz="quarter" idx="5"/>
          </p:nvPr>
        </p:nvSpPr>
        <p:spPr/>
        <p:txBody>
          <a:bodyPr/>
          <a:lstStyle/>
          <a:p>
            <a:fld id="{D90D7196-05DF-4E34-B2FC-EB13190E006B}" type="slidenum">
              <a:rPr lang="en-US" smtClean="0"/>
              <a:t>63</a:t>
            </a:fld>
            <a:endParaRPr lang="en-US"/>
          </a:p>
        </p:txBody>
      </p:sp>
    </p:spTree>
    <p:extLst>
      <p:ext uri="{BB962C8B-B14F-4D97-AF65-F5344CB8AC3E}">
        <p14:creationId xmlns:p14="http://schemas.microsoft.com/office/powerpoint/2010/main" val="38385166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F29D8-EA00-4F19-3D30-AC6876E60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142FB-3A67-D023-FB10-AD8DCF8DC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02BBD-BD27-6B08-5295-445BF46DF574}"/>
              </a:ext>
            </a:extLst>
          </p:cNvPr>
          <p:cNvSpPr>
            <a:spLocks noGrp="1"/>
          </p:cNvSpPr>
          <p:nvPr>
            <p:ph type="body" idx="1"/>
          </p:nvPr>
        </p:nvSpPr>
        <p:spPr/>
        <p:txBody>
          <a:bodyPr/>
          <a:lstStyle/>
          <a:p>
            <a:endParaRPr lang="en-BE" sz="1200" b="0" dirty="0"/>
          </a:p>
        </p:txBody>
      </p:sp>
      <p:sp>
        <p:nvSpPr>
          <p:cNvPr id="4" name="Slide Number Placeholder 3">
            <a:extLst>
              <a:ext uri="{FF2B5EF4-FFF2-40B4-BE49-F238E27FC236}">
                <a16:creationId xmlns:a16="http://schemas.microsoft.com/office/drawing/2014/main" id="{59DC57A6-F1A6-9728-85A1-C817880AD95B}"/>
              </a:ext>
            </a:extLst>
          </p:cNvPr>
          <p:cNvSpPr>
            <a:spLocks noGrp="1"/>
          </p:cNvSpPr>
          <p:nvPr>
            <p:ph type="sldNum" sz="quarter" idx="5"/>
          </p:nvPr>
        </p:nvSpPr>
        <p:spPr/>
        <p:txBody>
          <a:bodyPr/>
          <a:lstStyle/>
          <a:p>
            <a:fld id="{D90D7196-05DF-4E34-B2FC-EB13190E006B}" type="slidenum">
              <a:rPr lang="en-US" smtClean="0"/>
              <a:t>64</a:t>
            </a:fld>
            <a:endParaRPr lang="en-US"/>
          </a:p>
        </p:txBody>
      </p:sp>
    </p:spTree>
    <p:extLst>
      <p:ext uri="{BB962C8B-B14F-4D97-AF65-F5344CB8AC3E}">
        <p14:creationId xmlns:p14="http://schemas.microsoft.com/office/powerpoint/2010/main" val="32112271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F29E7-2976-CF5A-BE33-017DA6C45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55264-1B6D-9F9E-F3A1-83301986C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52BF1B-6154-771C-C8F9-436BE6258FE6}"/>
              </a:ext>
            </a:extLst>
          </p:cNvPr>
          <p:cNvSpPr>
            <a:spLocks noGrp="1"/>
          </p:cNvSpPr>
          <p:nvPr>
            <p:ph type="body" idx="1"/>
          </p:nvPr>
        </p:nvSpPr>
        <p:spPr/>
        <p:txBody>
          <a:bodyPr/>
          <a:lstStyle/>
          <a:p>
            <a:endParaRPr lang="en-BE" sz="1200" b="0" dirty="0"/>
          </a:p>
        </p:txBody>
      </p:sp>
      <p:sp>
        <p:nvSpPr>
          <p:cNvPr id="4" name="Slide Number Placeholder 3">
            <a:extLst>
              <a:ext uri="{FF2B5EF4-FFF2-40B4-BE49-F238E27FC236}">
                <a16:creationId xmlns:a16="http://schemas.microsoft.com/office/drawing/2014/main" id="{63FF07FE-072A-0009-41FE-45B605E77178}"/>
              </a:ext>
            </a:extLst>
          </p:cNvPr>
          <p:cNvSpPr>
            <a:spLocks noGrp="1"/>
          </p:cNvSpPr>
          <p:nvPr>
            <p:ph type="sldNum" sz="quarter" idx="5"/>
          </p:nvPr>
        </p:nvSpPr>
        <p:spPr/>
        <p:txBody>
          <a:bodyPr/>
          <a:lstStyle/>
          <a:p>
            <a:fld id="{D90D7196-05DF-4E34-B2FC-EB13190E006B}" type="slidenum">
              <a:rPr lang="en-US" smtClean="0"/>
              <a:t>65</a:t>
            </a:fld>
            <a:endParaRPr lang="en-US"/>
          </a:p>
        </p:txBody>
      </p:sp>
    </p:spTree>
    <p:extLst>
      <p:ext uri="{BB962C8B-B14F-4D97-AF65-F5344CB8AC3E}">
        <p14:creationId xmlns:p14="http://schemas.microsoft.com/office/powerpoint/2010/main" val="7597094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AE7A5-34E6-7F09-B31F-CE401BBBD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931BA-F1F2-E9C9-93CD-05AC90FBE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82577-9C4D-803C-9EFB-B2982D8C6E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05E616-DAED-32D0-C05F-0AA750E247AA}"/>
              </a:ext>
            </a:extLst>
          </p:cNvPr>
          <p:cNvSpPr>
            <a:spLocks noGrp="1"/>
          </p:cNvSpPr>
          <p:nvPr>
            <p:ph type="sldNum" sz="quarter" idx="5"/>
          </p:nvPr>
        </p:nvSpPr>
        <p:spPr/>
        <p:txBody>
          <a:bodyPr/>
          <a:lstStyle/>
          <a:p>
            <a:fld id="{D90D7196-05DF-4E34-B2FC-EB13190E006B}" type="slidenum">
              <a:rPr lang="en-US" smtClean="0"/>
              <a:t>66</a:t>
            </a:fld>
            <a:endParaRPr lang="en-US"/>
          </a:p>
        </p:txBody>
      </p:sp>
    </p:spTree>
    <p:extLst>
      <p:ext uri="{BB962C8B-B14F-4D97-AF65-F5344CB8AC3E}">
        <p14:creationId xmlns:p14="http://schemas.microsoft.com/office/powerpoint/2010/main" val="35741260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35DF3-6586-48C2-B520-408E73C21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184B5-447F-38F8-EE8A-4CC461351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6E373-011F-C92D-CB1D-5CDE61C5E1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505E5D-BD84-443C-A46F-D0F3A43DAC53}"/>
              </a:ext>
            </a:extLst>
          </p:cNvPr>
          <p:cNvSpPr>
            <a:spLocks noGrp="1"/>
          </p:cNvSpPr>
          <p:nvPr>
            <p:ph type="sldNum" sz="quarter" idx="5"/>
          </p:nvPr>
        </p:nvSpPr>
        <p:spPr/>
        <p:txBody>
          <a:bodyPr/>
          <a:lstStyle/>
          <a:p>
            <a:fld id="{D90D7196-05DF-4E34-B2FC-EB13190E006B}" type="slidenum">
              <a:rPr lang="en-US" smtClean="0"/>
              <a:t>67</a:t>
            </a:fld>
            <a:endParaRPr lang="en-US"/>
          </a:p>
        </p:txBody>
      </p:sp>
    </p:spTree>
    <p:extLst>
      <p:ext uri="{BB962C8B-B14F-4D97-AF65-F5344CB8AC3E}">
        <p14:creationId xmlns:p14="http://schemas.microsoft.com/office/powerpoint/2010/main" val="9989169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A6B9A-F6AE-A8B2-2A80-701B2B33D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0347F-7AE6-D802-1F4E-2E127C33A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70BB6-EB4D-D63B-1299-C3C5F458E228}"/>
              </a:ext>
            </a:extLst>
          </p:cNvPr>
          <p:cNvSpPr>
            <a:spLocks noGrp="1"/>
          </p:cNvSpPr>
          <p:nvPr>
            <p:ph type="body" idx="1"/>
          </p:nvPr>
        </p:nvSpPr>
        <p:spPr/>
        <p:txBody>
          <a:bodyPr/>
          <a:lstStyle/>
          <a:p>
            <a:endParaRPr lang="en-US" sz="1200" b="0" dirty="0"/>
          </a:p>
        </p:txBody>
      </p:sp>
      <p:sp>
        <p:nvSpPr>
          <p:cNvPr id="4" name="Slide Number Placeholder 3">
            <a:extLst>
              <a:ext uri="{FF2B5EF4-FFF2-40B4-BE49-F238E27FC236}">
                <a16:creationId xmlns:a16="http://schemas.microsoft.com/office/drawing/2014/main" id="{F92BFB04-1A9A-BB3F-8F36-2BA0DF389CEB}"/>
              </a:ext>
            </a:extLst>
          </p:cNvPr>
          <p:cNvSpPr>
            <a:spLocks noGrp="1"/>
          </p:cNvSpPr>
          <p:nvPr>
            <p:ph type="sldNum" sz="quarter" idx="5"/>
          </p:nvPr>
        </p:nvSpPr>
        <p:spPr/>
        <p:txBody>
          <a:bodyPr/>
          <a:lstStyle/>
          <a:p>
            <a:fld id="{D90D7196-05DF-4E34-B2FC-EB13190E006B}" type="slidenum">
              <a:rPr lang="en-US" smtClean="0"/>
              <a:t>68</a:t>
            </a:fld>
            <a:endParaRPr lang="en-US"/>
          </a:p>
        </p:txBody>
      </p:sp>
    </p:spTree>
    <p:extLst>
      <p:ext uri="{BB962C8B-B14F-4D97-AF65-F5344CB8AC3E}">
        <p14:creationId xmlns:p14="http://schemas.microsoft.com/office/powerpoint/2010/main" val="19238864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4ADE-A715-294D-AF9C-0D71B1F93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57742-99BA-BA02-8129-BBB8CF26E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AF49E-3ECC-175B-F383-F609D2ACD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9863C-9D67-396C-8C32-7F9C8B112C9F}"/>
              </a:ext>
            </a:extLst>
          </p:cNvPr>
          <p:cNvSpPr>
            <a:spLocks noGrp="1"/>
          </p:cNvSpPr>
          <p:nvPr>
            <p:ph type="sldNum" sz="quarter" idx="5"/>
          </p:nvPr>
        </p:nvSpPr>
        <p:spPr/>
        <p:txBody>
          <a:bodyPr/>
          <a:lstStyle/>
          <a:p>
            <a:fld id="{D90D7196-05DF-4E34-B2FC-EB13190E006B}" type="slidenum">
              <a:rPr lang="en-US" smtClean="0"/>
              <a:t>69</a:t>
            </a:fld>
            <a:endParaRPr lang="en-US"/>
          </a:p>
        </p:txBody>
      </p:sp>
    </p:spTree>
    <p:extLst>
      <p:ext uri="{BB962C8B-B14F-4D97-AF65-F5344CB8AC3E}">
        <p14:creationId xmlns:p14="http://schemas.microsoft.com/office/powerpoint/2010/main" val="28016619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CF2FB-DF1A-9369-0D48-2B5F2A93F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F3026-CE90-DAC0-4D78-1C014C5BD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24F14-1C0B-CAEF-F30E-FDCD4D603D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6966A-A30A-5122-418D-D0973CBFD518}"/>
              </a:ext>
            </a:extLst>
          </p:cNvPr>
          <p:cNvSpPr>
            <a:spLocks noGrp="1"/>
          </p:cNvSpPr>
          <p:nvPr>
            <p:ph type="sldNum" sz="quarter" idx="5"/>
          </p:nvPr>
        </p:nvSpPr>
        <p:spPr/>
        <p:txBody>
          <a:bodyPr/>
          <a:lstStyle/>
          <a:p>
            <a:fld id="{D90D7196-05DF-4E34-B2FC-EB13190E006B}" type="slidenum">
              <a:rPr lang="en-US" smtClean="0"/>
              <a:t>70</a:t>
            </a:fld>
            <a:endParaRPr lang="en-US"/>
          </a:p>
        </p:txBody>
      </p:sp>
    </p:spTree>
    <p:extLst>
      <p:ext uri="{BB962C8B-B14F-4D97-AF65-F5344CB8AC3E}">
        <p14:creationId xmlns:p14="http://schemas.microsoft.com/office/powerpoint/2010/main" val="32399912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9701-F072-D1C2-716A-FA624FEF8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A4C4B-C30E-9E47-A590-9185F1E72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409CF-5CD5-319F-ABCC-EE509BBC04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ADFB0-EE6C-1185-5F84-CF8EB180B629}"/>
              </a:ext>
            </a:extLst>
          </p:cNvPr>
          <p:cNvSpPr>
            <a:spLocks noGrp="1"/>
          </p:cNvSpPr>
          <p:nvPr>
            <p:ph type="sldNum" sz="quarter" idx="5"/>
          </p:nvPr>
        </p:nvSpPr>
        <p:spPr/>
        <p:txBody>
          <a:bodyPr/>
          <a:lstStyle/>
          <a:p>
            <a:fld id="{D90D7196-05DF-4E34-B2FC-EB13190E006B}" type="slidenum">
              <a:rPr lang="en-US" smtClean="0"/>
              <a:t>71</a:t>
            </a:fld>
            <a:endParaRPr lang="en-US"/>
          </a:p>
        </p:txBody>
      </p:sp>
    </p:spTree>
    <p:extLst>
      <p:ext uri="{BB962C8B-B14F-4D97-AF65-F5344CB8AC3E}">
        <p14:creationId xmlns:p14="http://schemas.microsoft.com/office/powerpoint/2010/main" val="6962415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3ECD-5765-A1AA-6746-2D5EEC2AA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C2049-C1F3-ECAC-DC16-67A4E03B7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5A5B3-BA79-4AF0-02B5-04D14FFBE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E6917-4E34-A7B5-2CF7-86D613FB606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8F61DCC-CD76-4760-8C8A-4DB5ACF040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12125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77A64-8F1B-A73D-8870-48A04DAAB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C8A24-04C0-242C-3C01-410B558BF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74ABC-BE9B-9B00-CBA5-5DE99D50272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DF45EA51-011E-1FF0-9377-0273A98DDDB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4AD9FE6D-DCCE-A403-A1DF-68AC922CEA3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D9A99C4-E0B4-1332-96AE-AC26B0226B6E}"/>
              </a:ext>
            </a:extLst>
          </p:cNvPr>
          <p:cNvSpPr>
            <a:spLocks noGrp="1"/>
          </p:cNvSpPr>
          <p:nvPr>
            <p:ph type="dt" idx="1"/>
          </p:nvPr>
        </p:nvSpPr>
        <p:spPr/>
        <p:txBody>
          <a:bodyPr/>
          <a:lstStyle/>
          <a:p>
            <a:fld id="{F0BCC5A8-CB9F-4C18-83E3-C4C0838CF210}" type="datetime8">
              <a:rPr lang="en-US" smtClean="0"/>
              <a:t>2/24/2025 12:02 PM</a:t>
            </a:fld>
            <a:endParaRPr lang="en-US"/>
          </a:p>
        </p:txBody>
      </p:sp>
      <p:sp>
        <p:nvSpPr>
          <p:cNvPr id="7" name="Slide Number Placeholder 6">
            <a:extLst>
              <a:ext uri="{FF2B5EF4-FFF2-40B4-BE49-F238E27FC236}">
                <a16:creationId xmlns:a16="http://schemas.microsoft.com/office/drawing/2014/main" id="{F6C38A8D-4254-1A28-ED46-4CD628EB5E4B}"/>
              </a:ext>
            </a:extLst>
          </p:cNvPr>
          <p:cNvSpPr>
            <a:spLocks noGrp="1"/>
          </p:cNvSpPr>
          <p:nvPr>
            <p:ph type="sldNum" sz="quarter" idx="5"/>
          </p:nvPr>
        </p:nvSpPr>
        <p:spPr/>
        <p:txBody>
          <a:bodyPr/>
          <a:lstStyle/>
          <a:p>
            <a:fld id="{B4008EB6-D09E-4580-8CD6-DDB14511944F}" type="slidenum">
              <a:rPr lang="en-US" smtClean="0"/>
              <a:pPr/>
              <a:t>73</a:t>
            </a:fld>
            <a:endParaRPr lang="en-US"/>
          </a:p>
        </p:txBody>
      </p:sp>
    </p:spTree>
    <p:extLst>
      <p:ext uri="{BB962C8B-B14F-4D97-AF65-F5344CB8AC3E}">
        <p14:creationId xmlns:p14="http://schemas.microsoft.com/office/powerpoint/2010/main" val="15405587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8C9F-4CA2-1EE7-DF1A-F02528B30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77CEB-C744-C5F7-5503-5D41FB9C9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A4E38-2A7A-034B-F515-C412EE5BFF92}"/>
              </a:ext>
            </a:extLst>
          </p:cNvPr>
          <p:cNvSpPr>
            <a:spLocks noGrp="1"/>
          </p:cNvSpPr>
          <p:nvPr>
            <p:ph type="body" idx="1"/>
          </p:nvPr>
        </p:nvSpPr>
        <p:spPr/>
        <p:txBody>
          <a:bodyPr/>
          <a:lstStyle/>
          <a:p>
            <a:pPr marL="38100" marR="88900">
              <a:spcBef>
                <a:spcPts val="0"/>
              </a:spcBef>
              <a:spcAft>
                <a:spcPts val="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a:extLst>
              <a:ext uri="{FF2B5EF4-FFF2-40B4-BE49-F238E27FC236}">
                <a16:creationId xmlns:a16="http://schemas.microsoft.com/office/drawing/2014/main" id="{64C55BE2-4ED1-2850-D2EB-85057D685CE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F188432-8F2C-0D96-B44B-3152AC61F83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350414B-DA6B-E435-9BC3-2ABD6D6B666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19D60A2-418D-5A4E-24FF-81B739BA207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749057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3B5C3-277E-907E-EF23-F214FC20C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C7078-1AD9-A478-D43B-FA66777E4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77321-D4BD-322D-D518-75CFC2894986}"/>
              </a:ext>
            </a:extLst>
          </p:cNvPr>
          <p:cNvSpPr>
            <a:spLocks noGrp="1"/>
          </p:cNvSpPr>
          <p:nvPr>
            <p:ph type="body" idx="1"/>
          </p:nvPr>
        </p:nvSpPr>
        <p:spPr/>
        <p:txBody>
          <a:bodyPr/>
          <a:lstStyle/>
          <a:p>
            <a:pPr marL="38100" marR="88900">
              <a:spcBef>
                <a:spcPts val="0"/>
              </a:spcBef>
              <a:spcAft>
                <a:spcPts val="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a:extLst>
              <a:ext uri="{FF2B5EF4-FFF2-40B4-BE49-F238E27FC236}">
                <a16:creationId xmlns:a16="http://schemas.microsoft.com/office/drawing/2014/main" id="{8FDDD818-5372-F8CC-6E34-51FF86B558E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400D076-631F-A103-8FD6-B80B041C25EA}"/>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2775B15-1F5F-1FE2-9364-3FA2CCF5552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AD4C78F-8ED0-A3F7-3145-2E17EECADA4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592809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26C44-9327-78EC-9921-231C3EF9D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56E2D-796D-506F-7B08-85F18DD96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EC5DB-C758-6473-A9DB-E18965059A2E}"/>
              </a:ext>
            </a:extLst>
          </p:cNvPr>
          <p:cNvSpPr>
            <a:spLocks noGrp="1"/>
          </p:cNvSpPr>
          <p:nvPr>
            <p:ph type="body" idx="1"/>
          </p:nvPr>
        </p:nvSpPr>
        <p:spPr/>
        <p:txBody>
          <a:bodyPr/>
          <a:lstStyle/>
          <a:p>
            <a:pPr marL="0" marR="0" lvl="0" indent="0">
              <a:lnSpc>
                <a:spcPct val="107000"/>
              </a:lnSpc>
              <a:spcBef>
                <a:spcPts val="0"/>
              </a:spcBef>
              <a:spcAft>
                <a:spcPts val="0"/>
              </a:spcAft>
              <a:buFont typeface="Arial" panose="020B0604020202020204" pitchFamily="34" charset="0"/>
              <a:buNone/>
            </a:pP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7DC304C-512D-D890-4CDD-6FAD0577D2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402006-6DF7-4E46-AA10-77681950139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3055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100" marR="88900">
              <a:spcBef>
                <a:spcPts val="0"/>
              </a:spcBef>
              <a:spcAft>
                <a:spcPts val="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025667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284996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83E037-452A-4AD1-850A-1570ED03ACEF}"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2/24/2025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Microsoft Office</a:t>
            </a:r>
          </a:p>
        </p:txBody>
      </p:sp>
      <p:sp>
        <p:nvSpPr>
          <p:cNvPr id="7" name="Footer Placeholder 6"/>
          <p:cNvSpPr>
            <a:spLocks noGrp="1"/>
          </p:cNvSpPr>
          <p:nvPr>
            <p:ph type="ftr" sz="quarter" idx="13"/>
          </p:nvPr>
        </p:nvSpPr>
        <p:spPr/>
        <p:txBody>
          <a:bodyPr/>
          <a:lstStyle/>
          <a:p>
            <a:pPr marL="236179" marR="0" lvl="0" indent="0" algn="l" defTabSz="931467"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marR="0" lvl="0" indent="0" algn="l" defTabSz="931467"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5904056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929392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7556-4280-6079-E4CC-DCAFF5C4B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76215-40C7-8023-9CAF-0361DC55F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6E255-EC64-B842-2970-6EED0B190CB4}"/>
              </a:ext>
            </a:extLst>
          </p:cNvPr>
          <p:cNvSpPr>
            <a:spLocks noGrp="1"/>
          </p:cNvSpPr>
          <p:nvPr>
            <p:ph type="body" idx="1"/>
          </p:nvPr>
        </p:nvSpPr>
        <p:spPr/>
        <p:txBody>
          <a:bodyPr/>
          <a:lstStyle/>
          <a:p>
            <a:endParaRPr lang="en-US" sz="1200" dirty="0"/>
          </a:p>
        </p:txBody>
      </p:sp>
      <p:sp>
        <p:nvSpPr>
          <p:cNvPr id="4" name="Slide Number Placeholder 3">
            <a:extLst>
              <a:ext uri="{FF2B5EF4-FFF2-40B4-BE49-F238E27FC236}">
                <a16:creationId xmlns:a16="http://schemas.microsoft.com/office/drawing/2014/main" id="{70D31A6F-2E37-FB3B-1396-5B7557BC8EA3}"/>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CAD3900-6D83-4BBF-8DAA-9098839B95B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89658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90D7196-05DF-4E34-B2FC-EB13190E006B}" type="slidenum">
              <a:rPr lang="en-US" smtClean="0"/>
              <a:t>82</a:t>
            </a:fld>
            <a:endParaRPr lang="en-US"/>
          </a:p>
        </p:txBody>
      </p:sp>
    </p:spTree>
    <p:extLst>
      <p:ext uri="{BB962C8B-B14F-4D97-AF65-F5344CB8AC3E}">
        <p14:creationId xmlns:p14="http://schemas.microsoft.com/office/powerpoint/2010/main" val="39895537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0FD0A0-7EA3-4AB5-8580-2CDFA9D58B5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99121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0FD0A0-7EA3-4AB5-8580-2CDFA9D58B5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17243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0BCC5A8-CB9F-4C18-83E3-C4C0838CF210}" type="datetime8">
              <a:rPr lang="en-US" smtClean="0"/>
              <a:t>2/24/2025 12:02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85</a:t>
            </a:fld>
            <a:endParaRPr lang="en-US"/>
          </a:p>
        </p:txBody>
      </p:sp>
    </p:spTree>
    <p:extLst>
      <p:ext uri="{BB962C8B-B14F-4D97-AF65-F5344CB8AC3E}">
        <p14:creationId xmlns:p14="http://schemas.microsoft.com/office/powerpoint/2010/main" val="18586017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5" name="Footer Placeholder 4"/>
          <p:cNvSpPr>
            <a:spLocks noGrp="1"/>
          </p:cNvSpPr>
          <p:nvPr>
            <p:ph type="ftr" sz="quarter" idx="4"/>
          </p:nvPr>
        </p:nvSpPr>
        <p:spPr/>
        <p:txBody>
          <a:bodyPr/>
          <a:lstStyle/>
          <a:p>
            <a:pPr marL="566014" marR="0" lvl="0" indent="0" algn="l" defTabSz="90532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2/24/2025 12:02 PM</a:t>
            </a:fld>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4209600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586027">
              <a:lnSpc>
                <a:spcPct val="100000"/>
              </a:lnSpc>
              <a:spcAft>
                <a:spcPts val="0"/>
              </a:spcAft>
              <a:defRPr/>
            </a:pPr>
            <a:endParaRPr lang="en-US" sz="1400">
              <a:latin typeface="+mn-lt"/>
            </a:endParaRPr>
          </a:p>
        </p:txBody>
      </p:sp>
      <p:sp>
        <p:nvSpPr>
          <p:cNvPr id="4" name="Slide Number Placeholder 3"/>
          <p:cNvSpPr>
            <a:spLocks noGrp="1"/>
          </p:cNvSpPr>
          <p:nvPr>
            <p:ph type="sldNum" sz="quarter" idx="5"/>
          </p:nvPr>
        </p:nvSpPr>
        <p:spPr/>
        <p:txBody>
          <a:bodyPr/>
          <a:lstStyle/>
          <a:p>
            <a:pPr marL="0" marR="0" lvl="0" indent="0" algn="r" defTabSz="950409" rtl="0" eaLnBrk="1" fontAlgn="auto" latinLnBrk="0" hangingPunct="1">
              <a:lnSpc>
                <a:spcPct val="100000"/>
              </a:lnSpc>
              <a:spcBef>
                <a:spcPts val="0"/>
              </a:spcBef>
              <a:spcAft>
                <a:spcPts val="0"/>
              </a:spcAft>
              <a:buClrTx/>
              <a:buSzTx/>
              <a:buFontTx/>
              <a:buNone/>
              <a:tabLst/>
              <a:defRPr/>
            </a:pPr>
            <a:fld id="{5F2D3714-B553-A044-BA72-366907BA36B5}"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50409"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939627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99FB3-EEBE-8492-A955-749BA4AE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6248B-FB69-175C-E274-5F1CFF1E8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D0600-94CB-5D40-4011-B37BBACD8CB1}"/>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0940779B-C8D3-92B2-60A2-0C233453EB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14FFE8-3367-47F3-B46B-E3DFBEC7AA0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06496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2273174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4FF5-DBB3-9143-E98A-B0FBE1D90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069C0-9DB8-BE91-1DB1-C9F345BCF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A1ECF-0792-A5BC-C228-1DCCBD6304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D47902-0601-F207-077D-C17AD14BD2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82D677-2CCA-402E-B2D2-37E06A34EEC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7947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8204-EE17-0F00-0F94-14651201A1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A34136-AB34-1188-1A45-BB4091AFF4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E5ABBF-2B7D-0537-E4A7-47AEF42A83C0}"/>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1D09C978-2866-7919-1ED5-F596755F4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7E609-3086-B6A5-15CC-6AA1FD355A46}"/>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2651381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331-9691-968D-2FD1-0758413E88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93DAA7-1F21-5F2F-76B5-344E9C3E8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88AAA4-4907-CF51-2772-BBEF9F866462}"/>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18AE780F-DBA9-E182-A37A-EBFB4D958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F578C-2D83-D0E7-EED9-4088AFCBE0CE}"/>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419541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75D96-7F64-DF20-7665-048D11677D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115B9A-E67C-0575-508B-A46B57F9A4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D100A-66CF-985B-3D21-C4960B5AAB9B}"/>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DC1CC721-6908-CF40-8BC8-85477B2C4D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06DA7-CB8E-E559-0013-0648714FE943}"/>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3599256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3EFA-ED2B-98BA-A875-D63C25FEBD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9E70E4-B4D8-BE1F-DE0F-074759AA50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4DB529-7133-15E9-0DC2-1C1FA8A7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2652AE-4953-32FE-1D38-05578B203369}"/>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6" name="Footer Placeholder 5">
            <a:extLst>
              <a:ext uri="{FF2B5EF4-FFF2-40B4-BE49-F238E27FC236}">
                <a16:creationId xmlns:a16="http://schemas.microsoft.com/office/drawing/2014/main" id="{A932297A-54CE-8C65-5EAB-08E06DACE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BB9B73-C6A4-A3A1-D782-D48266DCD689}"/>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70774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8DC8C-3EA9-12A7-A2EA-209944E10B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2F05C-CF4A-0E3A-52FA-FF58FC934B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87EE9E-5959-13DD-09A7-94E6CB72E3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A35AB2-A08E-4562-A0E7-9A8246CF28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04DF6B-C775-0962-AB1C-CD3693D014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343126-BC9C-FFCD-8A0A-BBDB5B7C8E9C}"/>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8" name="Footer Placeholder 7">
            <a:extLst>
              <a:ext uri="{FF2B5EF4-FFF2-40B4-BE49-F238E27FC236}">
                <a16:creationId xmlns:a16="http://schemas.microsoft.com/office/drawing/2014/main" id="{AB0F3DA6-464A-14E5-23F1-A35FCD08D1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21405C-1FB3-2C27-EEA3-3D21F75181C5}"/>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2528005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CF75-EE53-3DB4-D818-25AE61A4A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7A2931-F043-8465-0F1E-392D22665211}"/>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4" name="Footer Placeholder 3">
            <a:extLst>
              <a:ext uri="{FF2B5EF4-FFF2-40B4-BE49-F238E27FC236}">
                <a16:creationId xmlns:a16="http://schemas.microsoft.com/office/drawing/2014/main" id="{E56EDC38-8FE0-AA05-085A-CAC5CC2146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C7A0DA-F764-B3B6-CB67-2465AA399FA2}"/>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3724658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92F2B7-D1B3-BF70-564D-C354DDC06E76}"/>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3" name="Footer Placeholder 2">
            <a:extLst>
              <a:ext uri="{FF2B5EF4-FFF2-40B4-BE49-F238E27FC236}">
                <a16:creationId xmlns:a16="http://schemas.microsoft.com/office/drawing/2014/main" id="{659FF1FB-1A5C-6200-F78C-A244FF7F6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A24A7E-A34C-D7AD-C752-1A56C0B4D5C6}"/>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3835559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9007-8701-4269-4FF1-0F38218D2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A611C9-3419-15A3-6BB5-3705E2C59E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2EEA4F-C34E-C519-1479-D86C10C22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78A1DE-AE40-93DA-DC2E-BCF8AEE3DE85}"/>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6" name="Footer Placeholder 5">
            <a:extLst>
              <a:ext uri="{FF2B5EF4-FFF2-40B4-BE49-F238E27FC236}">
                <a16:creationId xmlns:a16="http://schemas.microsoft.com/office/drawing/2014/main" id="{E86A480F-00B8-D3C6-D0CE-5D42366E1D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5ACC30-C905-412C-5D9A-6F59D7B84274}"/>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388602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D73B-0266-77D4-63A8-4560F45B9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E8D8D2-32DF-2840-F5E4-E1F0101A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5D7F28-E091-3123-2D11-9732B9A3B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1E9735-D1EF-0D9A-F24C-87B8C2842C75}"/>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6" name="Footer Placeholder 5">
            <a:extLst>
              <a:ext uri="{FF2B5EF4-FFF2-40B4-BE49-F238E27FC236}">
                <a16:creationId xmlns:a16="http://schemas.microsoft.com/office/drawing/2014/main" id="{7381C1F4-FD9B-F1E4-4BF7-4C347C7256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18A852-C142-2058-7BDD-1F4006DB8C10}"/>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1540714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EF0B9-1FD3-750E-D251-9C608F7FAB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C20B7B-03AA-4CA9-33B0-E9DC7DB74F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451B3-935A-9534-5861-AD7F255DBFAF}"/>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5B0FEF00-1DC5-8D48-515A-5886A7B78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76210-558E-91C8-EC77-67F61F0F86BD}"/>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1936107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BAFFAE-B3FE-6312-6653-9376C5EA45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7E78F0-DD5E-D2A1-DFD3-C04949E84A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2DD876-F080-8827-F61E-90A97FA9D673}"/>
              </a:ext>
            </a:extLst>
          </p:cNvPr>
          <p:cNvSpPr>
            <a:spLocks noGrp="1"/>
          </p:cNvSpPr>
          <p:nvPr>
            <p:ph type="dt" sz="half" idx="10"/>
          </p:nvPr>
        </p:nvSpPr>
        <p:spPr/>
        <p:txBody>
          <a:body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F8DCF198-0012-9389-EDCB-F109B46C6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B80481-7D09-0D9E-5170-A26D72ADB219}"/>
              </a:ext>
            </a:extLst>
          </p:cNvPr>
          <p:cNvSpPr>
            <a:spLocks noGrp="1"/>
          </p:cNvSpPr>
          <p:nvPr>
            <p:ph type="sldNum" sz="quarter" idx="12"/>
          </p:nvPr>
        </p:nvSpPr>
        <p:spPr/>
        <p:txBody>
          <a:bodyPr/>
          <a:lstStyle/>
          <a:p>
            <a:fld id="{C0171F5F-61A7-4426-A222-3DE4149623F9}" type="slidenum">
              <a:rPr lang="en-US" smtClean="0"/>
              <a:t>‹#›</a:t>
            </a:fld>
            <a:endParaRPr lang="en-US"/>
          </a:p>
        </p:txBody>
      </p:sp>
    </p:spTree>
    <p:extLst>
      <p:ext uri="{BB962C8B-B14F-4D97-AF65-F5344CB8AC3E}">
        <p14:creationId xmlns:p14="http://schemas.microsoft.com/office/powerpoint/2010/main" val="3499061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Section Title">
    <p:bg>
      <p:bgPr>
        <a:solidFill>
          <a:schemeClr val="tx1"/>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B3466DC-878A-6198-3041-824F210881E3}"/>
              </a:ext>
            </a:extLst>
          </p:cNvPr>
          <p:cNvGrpSpPr/>
          <p:nvPr userDrawn="1"/>
        </p:nvGrpSpPr>
        <p:grpSpPr>
          <a:xfrm>
            <a:off x="0" y="944880"/>
            <a:ext cx="6163455" cy="4968238"/>
            <a:chOff x="0" y="944880"/>
            <a:chExt cx="6151880" cy="4968238"/>
          </a:xfrm>
          <a:solidFill>
            <a:schemeClr val="tx1">
              <a:lumMod val="95000"/>
            </a:schemeClr>
          </a:solidFill>
        </p:grpSpPr>
        <p:sp>
          <p:nvSpPr>
            <p:cNvPr id="40" name="Freeform: Shape 39">
              <a:extLst>
                <a:ext uri="{FF2B5EF4-FFF2-40B4-BE49-F238E27FC236}">
                  <a16:creationId xmlns:a16="http://schemas.microsoft.com/office/drawing/2014/main" id="{6922850F-C344-E294-B1DB-1EF0ECACCB52}"/>
                </a:ext>
              </a:extLst>
            </p:cNvPr>
            <p:cNvSpPr/>
            <p:nvPr userDrawn="1"/>
          </p:nvSpPr>
          <p:spPr bwMode="auto">
            <a:xfrm>
              <a:off x="2007037" y="944880"/>
              <a:ext cx="4144843" cy="4968238"/>
            </a:xfrm>
            <a:custGeom>
              <a:avLst/>
              <a:gdLst>
                <a:gd name="connsiteX0" fmla="*/ 0 w 5721411"/>
                <a:gd name="connsiteY0" fmla="*/ 0 h 6858000"/>
                <a:gd name="connsiteX1" fmla="*/ 3898900 w 5721411"/>
                <a:gd name="connsiteY1" fmla="*/ 0 h 6858000"/>
                <a:gd name="connsiteX2" fmla="*/ 3989783 w 5721411"/>
                <a:gd name="connsiteY2" fmla="*/ 0 h 6858000"/>
                <a:gd name="connsiteX3" fmla="*/ 4030218 w 5721411"/>
                <a:gd name="connsiteY3" fmla="*/ 4669 h 6858000"/>
                <a:gd name="connsiteX4" fmla="*/ 4294140 w 5721411"/>
                <a:gd name="connsiteY4" fmla="*/ 226015 h 6858000"/>
                <a:gd name="connsiteX5" fmla="*/ 5684686 w 5721411"/>
                <a:gd name="connsiteY5" fmla="*/ 3244530 h 6858000"/>
                <a:gd name="connsiteX6" fmla="*/ 5711192 w 5721411"/>
                <a:gd name="connsiteY6" fmla="*/ 3321697 h 6858000"/>
                <a:gd name="connsiteX7" fmla="*/ 5715889 w 5721411"/>
                <a:gd name="connsiteY7" fmla="*/ 3357766 h 6858000"/>
                <a:gd name="connsiteX8" fmla="*/ 5716141 w 5721411"/>
                <a:gd name="connsiteY8" fmla="*/ 3358708 h 6858000"/>
                <a:gd name="connsiteX9" fmla="*/ 5716282 w 5721411"/>
                <a:gd name="connsiteY9" fmla="*/ 3360776 h 6858000"/>
                <a:gd name="connsiteX10" fmla="*/ 5721411 w 5721411"/>
                <a:gd name="connsiteY10" fmla="*/ 3400169 h 6858000"/>
                <a:gd name="connsiteX11" fmla="*/ 5720184 w 5721411"/>
                <a:gd name="connsiteY11" fmla="*/ 3418262 h 6858000"/>
                <a:gd name="connsiteX12" fmla="*/ 5721410 w 5721411"/>
                <a:gd name="connsiteY12" fmla="*/ 3436341 h 6858000"/>
                <a:gd name="connsiteX13" fmla="*/ 5716286 w 5721411"/>
                <a:gd name="connsiteY13" fmla="*/ 3475701 h 6858000"/>
                <a:gd name="connsiteX14" fmla="*/ 5716143 w 5721411"/>
                <a:gd name="connsiteY14" fmla="*/ 3477802 h 6858000"/>
                <a:gd name="connsiteX15" fmla="*/ 5715886 w 5721411"/>
                <a:gd name="connsiteY15" fmla="*/ 3478759 h 6858000"/>
                <a:gd name="connsiteX16" fmla="*/ 5711191 w 5721411"/>
                <a:gd name="connsiteY16" fmla="*/ 3514814 h 6858000"/>
                <a:gd name="connsiteX17" fmla="*/ 5707347 w 5721411"/>
                <a:gd name="connsiteY17" fmla="*/ 3526005 h 6858000"/>
                <a:gd name="connsiteX18" fmla="*/ 5707318 w 5721411"/>
                <a:gd name="connsiteY18" fmla="*/ 3526230 h 6858000"/>
                <a:gd name="connsiteX19" fmla="*/ 5680814 w 5721411"/>
                <a:gd name="connsiteY19" fmla="*/ 3603533 h 6858000"/>
                <a:gd name="connsiteX20" fmla="*/ 4290265 w 5721411"/>
                <a:gd name="connsiteY20" fmla="*/ 6627441 h 6858000"/>
                <a:gd name="connsiteX21" fmla="*/ 4026345 w 5721411"/>
                <a:gd name="connsiteY21" fmla="*/ 6849182 h 6858000"/>
                <a:gd name="connsiteX22" fmla="*/ 3950104 w 5721411"/>
                <a:gd name="connsiteY22" fmla="*/ 6858000 h 6858000"/>
                <a:gd name="connsiteX23" fmla="*/ 3898900 w 5721411"/>
                <a:gd name="connsiteY23" fmla="*/ 6858000 h 6858000"/>
                <a:gd name="connsiteX24" fmla="*/ 2083191 w 5721411"/>
                <a:gd name="connsiteY24" fmla="*/ 6858000 h 6858000"/>
                <a:gd name="connsiteX25" fmla="*/ 1944471 w 5721411"/>
                <a:gd name="connsiteY25" fmla="*/ 6858000 h 6858000"/>
                <a:gd name="connsiteX26" fmla="*/ 77558 w 5721411"/>
                <a:gd name="connsiteY26" fmla="*/ 6858000 h 6858000"/>
                <a:gd name="connsiteX27" fmla="*/ 0 w 5721411"/>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21411" h="6858000">
                  <a:moveTo>
                    <a:pt x="0" y="0"/>
                  </a:moveTo>
                  <a:lnTo>
                    <a:pt x="3898900" y="0"/>
                  </a:lnTo>
                  <a:lnTo>
                    <a:pt x="3989783" y="0"/>
                  </a:lnTo>
                  <a:lnTo>
                    <a:pt x="4030218" y="4669"/>
                  </a:lnTo>
                  <a:cubicBezTo>
                    <a:pt x="4142873" y="34506"/>
                    <a:pt x="4241765" y="112323"/>
                    <a:pt x="4294140" y="226015"/>
                  </a:cubicBezTo>
                  <a:lnTo>
                    <a:pt x="5684686" y="3244530"/>
                  </a:lnTo>
                  <a:cubicBezTo>
                    <a:pt x="5696326" y="3269797"/>
                    <a:pt x="5705115" y="3295637"/>
                    <a:pt x="5711192" y="3321697"/>
                  </a:cubicBezTo>
                  <a:lnTo>
                    <a:pt x="5715889" y="3357766"/>
                  </a:lnTo>
                  <a:lnTo>
                    <a:pt x="5716141" y="3358708"/>
                  </a:lnTo>
                  <a:lnTo>
                    <a:pt x="5716282" y="3360776"/>
                  </a:lnTo>
                  <a:lnTo>
                    <a:pt x="5721411" y="3400169"/>
                  </a:lnTo>
                  <a:lnTo>
                    <a:pt x="5720184" y="3418262"/>
                  </a:lnTo>
                  <a:lnTo>
                    <a:pt x="5721410" y="3436341"/>
                  </a:lnTo>
                  <a:lnTo>
                    <a:pt x="5716286" y="3475701"/>
                  </a:lnTo>
                  <a:lnTo>
                    <a:pt x="5716143" y="3477802"/>
                  </a:lnTo>
                  <a:lnTo>
                    <a:pt x="5715886" y="3478759"/>
                  </a:lnTo>
                  <a:lnTo>
                    <a:pt x="5711191" y="3514814"/>
                  </a:lnTo>
                  <a:lnTo>
                    <a:pt x="5707347" y="3526005"/>
                  </a:lnTo>
                  <a:lnTo>
                    <a:pt x="5707318" y="3526230"/>
                  </a:lnTo>
                  <a:cubicBezTo>
                    <a:pt x="5701242" y="3552335"/>
                    <a:pt x="5692452" y="3578222"/>
                    <a:pt x="5680814" y="3603533"/>
                  </a:cubicBezTo>
                  <a:lnTo>
                    <a:pt x="4290265" y="6627441"/>
                  </a:lnTo>
                  <a:cubicBezTo>
                    <a:pt x="4237892" y="6741339"/>
                    <a:pt x="4139000" y="6819293"/>
                    <a:pt x="4026345" y="6849182"/>
                  </a:cubicBezTo>
                  <a:lnTo>
                    <a:pt x="3950104" y="6858000"/>
                  </a:lnTo>
                  <a:lnTo>
                    <a:pt x="3898900" y="6858000"/>
                  </a:lnTo>
                  <a:lnTo>
                    <a:pt x="2083191" y="6858000"/>
                  </a:lnTo>
                  <a:lnTo>
                    <a:pt x="1944471" y="6858000"/>
                  </a:lnTo>
                  <a:lnTo>
                    <a:pt x="77558" y="6858000"/>
                  </a:lnTo>
                  <a:lnTo>
                    <a:pt x="0" y="685800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F9BF79C4-C0C5-8847-992A-E2988E37850C}"/>
                </a:ext>
              </a:extLst>
            </p:cNvPr>
            <p:cNvSpPr/>
            <p:nvPr userDrawn="1"/>
          </p:nvSpPr>
          <p:spPr bwMode="auto">
            <a:xfrm>
              <a:off x="0" y="944880"/>
              <a:ext cx="3627120" cy="496823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15" name="Group 14">
            <a:extLst>
              <a:ext uri="{FF2B5EF4-FFF2-40B4-BE49-F238E27FC236}">
                <a16:creationId xmlns:a16="http://schemas.microsoft.com/office/drawing/2014/main" id="{9E574171-960A-8BC6-CA49-1995F913BCF6}"/>
              </a:ext>
            </a:extLst>
          </p:cNvPr>
          <p:cNvGrpSpPr/>
          <p:nvPr userDrawn="1"/>
        </p:nvGrpSpPr>
        <p:grpSpPr>
          <a:xfrm>
            <a:off x="4983630" y="944880"/>
            <a:ext cx="8447562" cy="4968238"/>
            <a:chOff x="2791732" y="1516380"/>
            <a:chExt cx="8408699" cy="4945381"/>
          </a:xfrm>
          <a:gradFill>
            <a:gsLst>
              <a:gs pos="0">
                <a:schemeClr val="tx1">
                  <a:lumMod val="95000"/>
                </a:schemeClr>
              </a:gs>
              <a:gs pos="100000">
                <a:srgbClr val="E6E6E6">
                  <a:lumMod val="90000"/>
                </a:srgbClr>
              </a:gs>
            </a:gsLst>
            <a:lin ang="0" scaled="1"/>
          </a:gradFill>
        </p:grpSpPr>
        <p:sp>
          <p:nvSpPr>
            <p:cNvPr id="16" name="Freeform: Shape 15">
              <a:extLst>
                <a:ext uri="{FF2B5EF4-FFF2-40B4-BE49-F238E27FC236}">
                  <a16:creationId xmlns:a16="http://schemas.microsoft.com/office/drawing/2014/main" id="{6CA92874-90CE-EAEF-2DE6-B54695873572}"/>
                </a:ext>
              </a:extLst>
            </p:cNvPr>
            <p:cNvSpPr/>
            <p:nvPr userDrawn="1"/>
          </p:nvSpPr>
          <p:spPr bwMode="auto">
            <a:xfrm>
              <a:off x="4238016"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17" name="Freeform: Shape 16">
              <a:extLst>
                <a:ext uri="{FF2B5EF4-FFF2-40B4-BE49-F238E27FC236}">
                  <a16:creationId xmlns:a16="http://schemas.microsoft.com/office/drawing/2014/main" id="{E4375DE3-EA5F-6A8A-3958-1B94FF5DAB79}"/>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18" name="Freeform: Shape 17">
              <a:extLst>
                <a:ext uri="{FF2B5EF4-FFF2-40B4-BE49-F238E27FC236}">
                  <a16:creationId xmlns:a16="http://schemas.microsoft.com/office/drawing/2014/main" id="{CADC8F0B-2A0B-767A-D051-2D8D05A5F64F}"/>
                </a:ext>
              </a:extLst>
            </p:cNvPr>
            <p:cNvSpPr/>
            <p:nvPr userDrawn="1"/>
          </p:nvSpPr>
          <p:spPr bwMode="auto">
            <a:xfrm>
              <a:off x="2791732"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80861B9C-099A-EE24-AB42-072AF8022979}"/>
                </a:ext>
              </a:extLst>
            </p:cNvPr>
            <p:cNvSpPr/>
            <p:nvPr userDrawn="1"/>
          </p:nvSpPr>
          <p:spPr bwMode="auto">
            <a:xfrm>
              <a:off x="7130585"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0" name="Freeform: Shape 19">
              <a:extLst>
                <a:ext uri="{FF2B5EF4-FFF2-40B4-BE49-F238E27FC236}">
                  <a16:creationId xmlns:a16="http://schemas.microsoft.com/office/drawing/2014/main" id="{9DFFD070-67B8-1EF6-79ED-1425A6EE04C8}"/>
                </a:ext>
              </a:extLst>
            </p:cNvPr>
            <p:cNvSpPr/>
            <p:nvPr userDrawn="1"/>
          </p:nvSpPr>
          <p:spPr bwMode="auto">
            <a:xfrm>
              <a:off x="8576869"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grpSp>
        <p:nvGrpSpPr>
          <p:cNvPr id="33" name="Group 32">
            <a:extLst>
              <a:ext uri="{FF2B5EF4-FFF2-40B4-BE49-F238E27FC236}">
                <a16:creationId xmlns:a16="http://schemas.microsoft.com/office/drawing/2014/main" id="{B3625303-E439-638C-B430-C0F0E358742D}"/>
              </a:ext>
            </a:extLst>
          </p:cNvPr>
          <p:cNvGrpSpPr/>
          <p:nvPr userDrawn="1"/>
        </p:nvGrpSpPr>
        <p:grpSpPr>
          <a:xfrm>
            <a:off x="7889566" y="944880"/>
            <a:ext cx="5541628" cy="4968238"/>
            <a:chOff x="2791732" y="1516380"/>
            <a:chExt cx="5516131" cy="4945381"/>
          </a:xfrm>
          <a:blipFill dpi="0" rotWithShape="1">
            <a:blip r:embed="rId2"/>
            <a:srcRect/>
            <a:tile tx="-1168400" ty="0" sx="60000" sy="60000" flip="none" algn="ctr"/>
          </a:blipFill>
          <a:effectLst/>
        </p:grpSpPr>
        <p:sp>
          <p:nvSpPr>
            <p:cNvPr id="34" name="Freeform: Shape 33">
              <a:extLst>
                <a:ext uri="{FF2B5EF4-FFF2-40B4-BE49-F238E27FC236}">
                  <a16:creationId xmlns:a16="http://schemas.microsoft.com/office/drawing/2014/main" id="{D059BF58-33B1-486D-6B13-E2FF384F0665}"/>
                </a:ext>
              </a:extLst>
            </p:cNvPr>
            <p:cNvSpPr/>
            <p:nvPr userDrawn="1"/>
          </p:nvSpPr>
          <p:spPr bwMode="auto">
            <a:xfrm>
              <a:off x="4238016"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a:outerShdw blurRad="50800" dist="38100" algn="l" rotWithShape="0">
                <a:schemeClr val="accent2">
                  <a:alpha val="30000"/>
                </a:scheme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gradFill>
                  <a:gsLst>
                    <a:gs pos="0">
                      <a:srgbClr val="FFFFFF"/>
                    </a:gs>
                    <a:gs pos="100000">
                      <a:srgbClr val="FFFFFF"/>
                    </a:gs>
                  </a:gsLst>
                  <a:lin ang="5400000" scaled="0"/>
                </a:gradFill>
                <a:ea typeface="Segoe UI" pitchFamily="34" charset="0"/>
                <a:cs typeface="Segoe UI" pitchFamily="34" charset="0"/>
              </a:endParaRPr>
            </a:p>
          </p:txBody>
        </p:sp>
        <p:sp>
          <p:nvSpPr>
            <p:cNvPr id="35" name="Freeform: Shape 34">
              <a:extLst>
                <a:ext uri="{FF2B5EF4-FFF2-40B4-BE49-F238E27FC236}">
                  <a16:creationId xmlns:a16="http://schemas.microsoft.com/office/drawing/2014/main" id="{8A178883-30D4-193C-495E-1C214CAA6683}"/>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a:outerShdw blurRad="50800" dist="38100" algn="l" rotWithShape="0">
                <a:schemeClr val="accent2">
                  <a:alpha val="40000"/>
                </a:scheme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gradFill>
                  <a:gsLst>
                    <a:gs pos="0">
                      <a:srgbClr val="FFFFFF"/>
                    </a:gs>
                    <a:gs pos="100000">
                      <a:srgbClr val="FFFFFF"/>
                    </a:gs>
                  </a:gsLst>
                  <a:lin ang="5400000" scaled="0"/>
                </a:gradFill>
                <a:ea typeface="Segoe UI" pitchFamily="34" charset="0"/>
                <a:cs typeface="Segoe UI" pitchFamily="34" charset="0"/>
              </a:endParaRPr>
            </a:p>
          </p:txBody>
        </p:sp>
        <p:sp>
          <p:nvSpPr>
            <p:cNvPr id="36" name="Freeform: Shape 35">
              <a:extLst>
                <a:ext uri="{FF2B5EF4-FFF2-40B4-BE49-F238E27FC236}">
                  <a16:creationId xmlns:a16="http://schemas.microsoft.com/office/drawing/2014/main" id="{B0537F37-3D23-48F4-C32F-F72ED51DEAAB}"/>
                </a:ext>
              </a:extLst>
            </p:cNvPr>
            <p:cNvSpPr/>
            <p:nvPr userDrawn="1"/>
          </p:nvSpPr>
          <p:spPr bwMode="auto">
            <a:xfrm>
              <a:off x="2791732"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w="9525" cap="flat" cmpd="sng" algn="ctr">
              <a:noFill/>
              <a:prstDash val="solid"/>
              <a:headEnd type="none" w="med" len="med"/>
              <a:tailEnd type="none" w="med" len="med"/>
            </a:ln>
            <a:effectLst>
              <a:outerShdw blurRad="50800" dist="38100" algn="l" rotWithShape="0">
                <a:schemeClr val="accent2">
                  <a:alpha val="20000"/>
                </a:scheme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p:cNvSpPr>
            <a:spLocks noGrp="1"/>
          </p:cNvSpPr>
          <p:nvPr>
            <p:ph type="title" hasCustomPrompt="1"/>
          </p:nvPr>
        </p:nvSpPr>
        <p:spPr>
          <a:xfrm>
            <a:off x="585216" y="3035808"/>
            <a:ext cx="503834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1" i="0" kern="1200" cap="none" spc="-50" baseline="0" dirty="0">
                <a:ln w="3175">
                  <a:noFill/>
                </a:ln>
                <a:solidFill>
                  <a:schemeClr val="accent1"/>
                </a:solidFill>
                <a:effectLst/>
                <a:latin typeface="+mj-lt"/>
                <a:ea typeface="+mn-ea"/>
                <a:cs typeface="Segoe UI Semibold" panose="020B0502040204020203" pitchFamily="34" charset="0"/>
              </a:defRPr>
            </a:lvl1pPr>
          </a:lstStyle>
          <a:p>
            <a:r>
              <a:rPr lang="en-US"/>
              <a:t>Section title</a:t>
            </a:r>
          </a:p>
        </p:txBody>
      </p:sp>
    </p:spTree>
    <p:extLst>
      <p:ext uri="{BB962C8B-B14F-4D97-AF65-F5344CB8AC3E}">
        <p14:creationId xmlns:p14="http://schemas.microsoft.com/office/powerpoint/2010/main" val="27676469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_with backgroun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2489C8-E48B-34D3-096D-D002CA9F2DA7}"/>
              </a:ext>
            </a:extLst>
          </p:cNvPr>
          <p:cNvGrpSpPr/>
          <p:nvPr userDrawn="1"/>
        </p:nvGrpSpPr>
        <p:grpSpPr>
          <a:xfrm>
            <a:off x="4047996" y="0"/>
            <a:ext cx="9655116" cy="6857998"/>
            <a:chOff x="2791732" y="1516380"/>
            <a:chExt cx="6962415" cy="4945381"/>
          </a:xfrm>
          <a:gradFill flip="none" rotWithShape="1">
            <a:gsLst>
              <a:gs pos="0">
                <a:schemeClr val="bg1">
                  <a:lumMod val="85000"/>
                  <a:alpha val="58000"/>
                </a:schemeClr>
              </a:gs>
              <a:gs pos="100000">
                <a:schemeClr val="bg1">
                  <a:alpha val="30000"/>
                </a:schemeClr>
              </a:gs>
            </a:gsLst>
            <a:lin ang="10800000" scaled="1"/>
            <a:tileRect/>
          </a:gradFill>
        </p:grpSpPr>
        <p:sp>
          <p:nvSpPr>
            <p:cNvPr id="5" name="Freeform: Shape 4">
              <a:extLst>
                <a:ext uri="{FF2B5EF4-FFF2-40B4-BE49-F238E27FC236}">
                  <a16:creationId xmlns:a16="http://schemas.microsoft.com/office/drawing/2014/main" id="{E240A5DE-6EE2-A390-5E63-7E3BDD9BC045}"/>
                </a:ext>
              </a:extLst>
            </p:cNvPr>
            <p:cNvSpPr/>
            <p:nvPr userDrawn="1"/>
          </p:nvSpPr>
          <p:spPr bwMode="auto">
            <a:xfrm>
              <a:off x="4238016"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Freeform: Shape 5">
              <a:extLst>
                <a:ext uri="{FF2B5EF4-FFF2-40B4-BE49-F238E27FC236}">
                  <a16:creationId xmlns:a16="http://schemas.microsoft.com/office/drawing/2014/main" id="{80D426D5-957F-E8A6-FF49-81C2A68EC756}"/>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Freeform: Shape 6">
              <a:extLst>
                <a:ext uri="{FF2B5EF4-FFF2-40B4-BE49-F238E27FC236}">
                  <a16:creationId xmlns:a16="http://schemas.microsoft.com/office/drawing/2014/main" id="{1A7E347E-C3D6-01F6-C572-F0A77934F895}"/>
                </a:ext>
              </a:extLst>
            </p:cNvPr>
            <p:cNvSpPr/>
            <p:nvPr userDrawn="1"/>
          </p:nvSpPr>
          <p:spPr bwMode="auto">
            <a:xfrm>
              <a:off x="2791732"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Freeform: Shape 7">
              <a:extLst>
                <a:ext uri="{FF2B5EF4-FFF2-40B4-BE49-F238E27FC236}">
                  <a16:creationId xmlns:a16="http://schemas.microsoft.com/office/drawing/2014/main" id="{C95AF32B-5483-7A6F-E9F6-26E6FF11308F}"/>
                </a:ext>
              </a:extLst>
            </p:cNvPr>
            <p:cNvSpPr/>
            <p:nvPr userDrawn="1"/>
          </p:nvSpPr>
          <p:spPr bwMode="auto">
            <a:xfrm>
              <a:off x="7130585"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endParaRPr lang="en-US"/>
          </a:p>
        </p:txBody>
      </p:sp>
      <p:sp>
        <p:nvSpPr>
          <p:cNvPr id="2" name="Title 1">
            <a:extLst>
              <a:ext uri="{FF2B5EF4-FFF2-40B4-BE49-F238E27FC236}">
                <a16:creationId xmlns:a16="http://schemas.microsoft.com/office/drawing/2014/main" id="{7D9C4AD9-2FB4-AD40-96EB-7B09E7C21082}"/>
              </a:ext>
            </a:extLst>
          </p:cNvPr>
          <p:cNvSpPr>
            <a:spLocks noGrp="1"/>
          </p:cNvSpPr>
          <p:nvPr>
            <p:ph type="title"/>
          </p:nvPr>
        </p:nvSpPr>
        <p:spPr/>
        <p:txBody>
          <a:bodyPr/>
          <a:lstStyle/>
          <a:p>
            <a:r>
              <a:rPr lang="en-US"/>
              <a:t>Click to edit Master title style</a:t>
            </a:r>
          </a:p>
        </p:txBody>
      </p:sp>
      <p:sp>
        <p:nvSpPr>
          <p:cNvPr id="9" name="Text Placeholder 2">
            <a:extLst>
              <a:ext uri="{FF2B5EF4-FFF2-40B4-BE49-F238E27FC236}">
                <a16:creationId xmlns:a16="http://schemas.microsoft.com/office/drawing/2014/main" id="{F1112C8D-41E7-523D-9E9E-3B2BCC863766}"/>
              </a:ext>
            </a:extLst>
          </p:cNvPr>
          <p:cNvSpPr>
            <a:spLocks noGrp="1"/>
          </p:cNvSpPr>
          <p:nvPr>
            <p:ph type="body" sz="quarter" idx="10"/>
          </p:nvPr>
        </p:nvSpPr>
        <p:spPr>
          <a:xfrm>
            <a:off x="588963" y="939800"/>
            <a:ext cx="10231437" cy="276999"/>
          </a:xfrm>
        </p:spPr>
        <p:txBody>
          <a:bodyPr/>
          <a:lstStyle>
            <a:lvl1pPr>
              <a:defRPr sz="1800">
                <a:latin typeface="+mj-lt"/>
              </a:defRPr>
            </a:lvl1pPr>
          </a:lstStyle>
          <a:p>
            <a:pPr lvl="0"/>
            <a:r>
              <a:rPr lang="en-US"/>
              <a:t>Click to edit Master text styles</a:t>
            </a:r>
          </a:p>
        </p:txBody>
      </p:sp>
    </p:spTree>
    <p:extLst>
      <p:ext uri="{BB962C8B-B14F-4D97-AF65-F5344CB8AC3E}">
        <p14:creationId xmlns:p14="http://schemas.microsoft.com/office/powerpoint/2010/main" val="2808820003"/>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3" y="497541"/>
            <a:ext cx="11018520" cy="430887"/>
          </a:xfrm>
        </p:spPr>
        <p:txBody>
          <a:bodyPr/>
          <a:lstStyle>
            <a:lvl1pPr>
              <a:defRPr sz="2800">
                <a:solidFill>
                  <a:srgbClr val="000000"/>
                </a:solidFill>
              </a:defRPr>
            </a:lvl1pPr>
          </a:lstStyle>
          <a:p>
            <a:r>
              <a:rPr lang="en-US"/>
              <a:t>Click to edit Master title style</a:t>
            </a:r>
          </a:p>
        </p:txBody>
      </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r>
              <a:rPr lang="en-US"/>
              <a:t>© Microsoft Corporation                                                                                  					   	    	                                     Microsoft 365 </a:t>
            </a:r>
          </a:p>
        </p:txBody>
      </p:sp>
    </p:spTree>
    <p:extLst>
      <p:ext uri="{BB962C8B-B14F-4D97-AF65-F5344CB8AC3E}">
        <p14:creationId xmlns:p14="http://schemas.microsoft.com/office/powerpoint/2010/main" val="319890576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877854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_with backgroun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2489C8-E48B-34D3-096D-D002CA9F2DA7}"/>
              </a:ext>
            </a:extLst>
          </p:cNvPr>
          <p:cNvGrpSpPr/>
          <p:nvPr userDrawn="1"/>
        </p:nvGrpSpPr>
        <p:grpSpPr>
          <a:xfrm>
            <a:off x="4047996" y="0"/>
            <a:ext cx="9655116" cy="6857998"/>
            <a:chOff x="2791732" y="1516380"/>
            <a:chExt cx="6962415" cy="4945381"/>
          </a:xfrm>
          <a:gradFill flip="none" rotWithShape="1">
            <a:gsLst>
              <a:gs pos="0">
                <a:schemeClr val="bg1">
                  <a:lumMod val="85000"/>
                  <a:alpha val="58000"/>
                </a:schemeClr>
              </a:gs>
              <a:gs pos="100000">
                <a:schemeClr val="bg1">
                  <a:alpha val="30000"/>
                </a:schemeClr>
              </a:gs>
            </a:gsLst>
            <a:lin ang="10800000" scaled="1"/>
            <a:tileRect/>
          </a:gradFill>
        </p:grpSpPr>
        <p:sp>
          <p:nvSpPr>
            <p:cNvPr id="5" name="Freeform: Shape 4">
              <a:extLst>
                <a:ext uri="{FF2B5EF4-FFF2-40B4-BE49-F238E27FC236}">
                  <a16:creationId xmlns:a16="http://schemas.microsoft.com/office/drawing/2014/main" id="{E240A5DE-6EE2-A390-5E63-7E3BDD9BC045}"/>
                </a:ext>
              </a:extLst>
            </p:cNvPr>
            <p:cNvSpPr/>
            <p:nvPr userDrawn="1"/>
          </p:nvSpPr>
          <p:spPr bwMode="auto">
            <a:xfrm>
              <a:off x="4238016"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Freeform: Shape 5">
              <a:extLst>
                <a:ext uri="{FF2B5EF4-FFF2-40B4-BE49-F238E27FC236}">
                  <a16:creationId xmlns:a16="http://schemas.microsoft.com/office/drawing/2014/main" id="{80D426D5-957F-E8A6-FF49-81C2A68EC756}"/>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Freeform: Shape 6">
              <a:extLst>
                <a:ext uri="{FF2B5EF4-FFF2-40B4-BE49-F238E27FC236}">
                  <a16:creationId xmlns:a16="http://schemas.microsoft.com/office/drawing/2014/main" id="{1A7E347E-C3D6-01F6-C572-F0A77934F895}"/>
                </a:ext>
              </a:extLst>
            </p:cNvPr>
            <p:cNvSpPr/>
            <p:nvPr userDrawn="1"/>
          </p:nvSpPr>
          <p:spPr bwMode="auto">
            <a:xfrm>
              <a:off x="2791732"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Freeform: Shape 7">
              <a:extLst>
                <a:ext uri="{FF2B5EF4-FFF2-40B4-BE49-F238E27FC236}">
                  <a16:creationId xmlns:a16="http://schemas.microsoft.com/office/drawing/2014/main" id="{C95AF32B-5483-7A6F-E9F6-26E6FF11308F}"/>
                </a:ext>
              </a:extLst>
            </p:cNvPr>
            <p:cNvSpPr/>
            <p:nvPr userDrawn="1"/>
          </p:nvSpPr>
          <p:spPr bwMode="auto">
            <a:xfrm>
              <a:off x="7130585"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endParaRPr lang="en-US"/>
          </a:p>
        </p:txBody>
      </p:sp>
      <p:sp>
        <p:nvSpPr>
          <p:cNvPr id="2" name="Title 1">
            <a:extLst>
              <a:ext uri="{FF2B5EF4-FFF2-40B4-BE49-F238E27FC236}">
                <a16:creationId xmlns:a16="http://schemas.microsoft.com/office/drawing/2014/main" id="{7D9C4AD9-2FB4-AD40-96EB-7B09E7C2108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970511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ustom Layout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BA183F-06DD-FC4C-6352-AEF36AC19F30}"/>
              </a:ext>
            </a:extLst>
          </p:cNvPr>
          <p:cNvSpPr/>
          <p:nvPr userDrawn="1"/>
        </p:nvSpPr>
        <p:spPr bwMode="auto">
          <a:xfrm>
            <a:off x="0" y="4511040"/>
            <a:ext cx="12192000" cy="2346960"/>
          </a:xfrm>
          <a:prstGeom prst="rect">
            <a:avLst/>
          </a:prstGeom>
          <a:gradFill>
            <a:gsLst>
              <a:gs pos="0">
                <a:srgbClr val="2B91DA"/>
              </a:gs>
              <a:gs pos="100000">
                <a:srgbClr val="205897"/>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573902E2-BFAB-B64C-A76F-DB62844C8992}"/>
              </a:ext>
            </a:extLst>
          </p:cNvPr>
          <p:cNvSpPr/>
          <p:nvPr userDrawn="1"/>
        </p:nvSpPr>
        <p:spPr bwMode="auto">
          <a:xfrm>
            <a:off x="0" y="0"/>
            <a:ext cx="12192000" cy="451104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31BAD24A-8EEB-7CAB-5D55-B3439B84807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4386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046420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714969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87383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958064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5099535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649611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367698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3059782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3101191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0808487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1147893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41545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43911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2990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5612118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79197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866139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82341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3699219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216009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103861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080520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431481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459658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46942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9639022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3146783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_subtitle">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1D0E9342-539E-1E49-B252-DEDE7F123A10}"/>
              </a:ext>
            </a:extLst>
          </p:cNvPr>
          <p:cNvSpPr>
            <a:spLocks noGrp="1"/>
          </p:cNvSpPr>
          <p:nvPr>
            <p:ph type="title"/>
          </p:nvPr>
        </p:nvSpPr>
        <p:spPr>
          <a:xfrm>
            <a:off x="588263" y="476986"/>
            <a:ext cx="11018520" cy="553998"/>
          </a:xfrm>
        </p:spPr>
        <p:txBody>
          <a:bodyPr/>
          <a:lstStyle/>
          <a:p>
            <a:r>
              <a:rPr lang="en-US"/>
              <a:t>Click to edit Master title style</a:t>
            </a:r>
          </a:p>
        </p:txBody>
      </p:sp>
      <p:sp>
        <p:nvSpPr>
          <p:cNvPr id="4" name="Text Placeholder 3">
            <a:extLst>
              <a:ext uri="{FF2B5EF4-FFF2-40B4-BE49-F238E27FC236}">
                <a16:creationId xmlns:a16="http://schemas.microsoft.com/office/drawing/2014/main" id="{CF11CDE3-5C8E-DA48-A90A-3F4A9A23BB0F}"/>
              </a:ext>
            </a:extLst>
          </p:cNvPr>
          <p:cNvSpPr>
            <a:spLocks noGrp="1"/>
          </p:cNvSpPr>
          <p:nvPr>
            <p:ph type="body" sz="quarter" idx="10"/>
          </p:nvPr>
        </p:nvSpPr>
        <p:spPr>
          <a:xfrm>
            <a:off x="613202" y="1023252"/>
            <a:ext cx="11018520" cy="307777"/>
          </a:xfrm>
        </p:spPr>
        <p:txBody>
          <a:bodyPr wrap="square">
            <a:spAutoFit/>
          </a:bodyPr>
          <a:lstStyle>
            <a:lvl1pPr marL="0" indent="0">
              <a:buNone/>
              <a:defRPr sz="2000"/>
            </a:lvl1pPr>
            <a:lvl2pPr marL="228594" indent="0">
              <a:buNone/>
              <a:defRPr sz="2000"/>
            </a:lvl2pPr>
            <a:lvl3pPr marL="457189" indent="0">
              <a:buNone/>
              <a:defRPr sz="2000"/>
            </a:lvl3pPr>
            <a:lvl4pPr marL="685783" indent="0">
              <a:buNone/>
              <a:defRPr sz="2000"/>
            </a:lvl4pPr>
            <a:lvl5pPr marL="914377" indent="0">
              <a:buNone/>
              <a:defRPr sz="2000"/>
            </a:lvl5pPr>
          </a:lstStyle>
          <a:p>
            <a:pPr lvl="0"/>
            <a:r>
              <a:rPr lang="en-US"/>
              <a:t>Click to edit Master text styles</a:t>
            </a:r>
          </a:p>
        </p:txBody>
      </p:sp>
    </p:spTree>
    <p:extLst>
      <p:ext uri="{BB962C8B-B14F-4D97-AF65-F5344CB8AC3E}">
        <p14:creationId xmlns:p14="http://schemas.microsoft.com/office/powerpoint/2010/main" val="4215050457"/>
      </p:ext>
    </p:extLst>
  </p:cSld>
  <p:clrMapOvr>
    <a:masterClrMapping/>
  </p:clrMapOvr>
  <p:transition>
    <p:fade/>
  </p:transition>
  <p:extLst>
    <p:ext uri="{DCECCB84-F9BA-43D5-87BE-67443E8EF086}">
      <p15:sldGuideLst xmlns:p15="http://schemas.microsoft.com/office/powerpoint/2012/main">
        <p15:guide id="1" orient="horz" pos="6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Agenda 2 columns_1">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4B438B79-C780-F3C0-7FB6-479DB8C0A1E2}"/>
              </a:ext>
            </a:extLst>
          </p:cNvPr>
          <p:cNvSpPr>
            <a:spLocks noGrp="1"/>
          </p:cNvSpPr>
          <p:nvPr>
            <p:ph type="body" sz="quarter" idx="10"/>
          </p:nvPr>
        </p:nvSpPr>
        <p:spPr>
          <a:xfrm>
            <a:off x="1117475" y="2011817"/>
            <a:ext cx="8438005" cy="3573935"/>
          </a:xfrm>
        </p:spPr>
        <p:txBody>
          <a:bodyPr numCol="2" spcCol="457200">
            <a:noAutofit/>
          </a:bodyPr>
          <a:lstStyle>
            <a:lvl1pPr marL="342900" indent="-342900">
              <a:spcBef>
                <a:spcPts val="2000"/>
              </a:spcBef>
              <a:buClr>
                <a:schemeClr val="accent1"/>
              </a:buClr>
              <a:buSzPct val="100000"/>
              <a:buFontTx/>
              <a:buBlip>
                <a:blip r:embed="rId2"/>
              </a:buBlip>
              <a:defRPr sz="1600">
                <a:solidFill>
                  <a:schemeClr val="tx1"/>
                </a:solidFill>
                <a:latin typeface="+mn-lt"/>
              </a:defRPr>
            </a:lvl1pPr>
          </a:lstStyle>
          <a:p>
            <a:pPr lvl="0"/>
            <a:r>
              <a:rPr lang="en-US"/>
              <a:t>Click to edit Master text styles</a:t>
            </a:r>
          </a:p>
        </p:txBody>
      </p:sp>
      <p:grpSp>
        <p:nvGrpSpPr>
          <p:cNvPr id="5" name="Group 4">
            <a:extLst>
              <a:ext uri="{FF2B5EF4-FFF2-40B4-BE49-F238E27FC236}">
                <a16:creationId xmlns:a16="http://schemas.microsoft.com/office/drawing/2014/main" id="{5A2CAA0D-D6CC-FD99-46F3-6D03F2E3AB49}"/>
              </a:ext>
            </a:extLst>
          </p:cNvPr>
          <p:cNvGrpSpPr/>
          <p:nvPr userDrawn="1"/>
        </p:nvGrpSpPr>
        <p:grpSpPr>
          <a:xfrm>
            <a:off x="3761321" y="-11372"/>
            <a:ext cx="8430680" cy="6869371"/>
            <a:chOff x="4582803" y="-11371"/>
            <a:chExt cx="7609198" cy="6200022"/>
          </a:xfrm>
        </p:grpSpPr>
        <p:sp>
          <p:nvSpPr>
            <p:cNvPr id="21" name="Freeform: Shape 20">
              <a:extLst>
                <a:ext uri="{FF2B5EF4-FFF2-40B4-BE49-F238E27FC236}">
                  <a16:creationId xmlns:a16="http://schemas.microsoft.com/office/drawing/2014/main" id="{027BC730-9798-C6D3-0DDF-92628FE48FC4}"/>
                </a:ext>
              </a:extLst>
            </p:cNvPr>
            <p:cNvSpPr/>
            <p:nvPr userDrawn="1"/>
          </p:nvSpPr>
          <p:spPr bwMode="auto">
            <a:xfrm>
              <a:off x="10007656" y="0"/>
              <a:ext cx="2184344" cy="6188651"/>
            </a:xfrm>
            <a:custGeom>
              <a:avLst/>
              <a:gdLst>
                <a:gd name="connsiteX0" fmla="*/ 21853 w 2184344"/>
                <a:gd name="connsiteY0" fmla="*/ 0 h 6188651"/>
                <a:gd name="connsiteX1" fmla="*/ 1720507 w 2184344"/>
                <a:gd name="connsiteY1" fmla="*/ 0 h 6188651"/>
                <a:gd name="connsiteX2" fmla="*/ 1756995 w 2184344"/>
                <a:gd name="connsiteY2" fmla="*/ 4214 h 6188651"/>
                <a:gd name="connsiteX3" fmla="*/ 1995158 w 2184344"/>
                <a:gd name="connsiteY3" fmla="*/ 203956 h 6188651"/>
                <a:gd name="connsiteX4" fmla="*/ 2184344 w 2184344"/>
                <a:gd name="connsiteY4" fmla="*/ 614630 h 6188651"/>
                <a:gd name="connsiteX5" fmla="*/ 2184344 w 2184344"/>
                <a:gd name="connsiteY5" fmla="*/ 5561585 h 6188651"/>
                <a:gd name="connsiteX6" fmla="*/ 1991662 w 2184344"/>
                <a:gd name="connsiteY6" fmla="*/ 5980595 h 6188651"/>
                <a:gd name="connsiteX7" fmla="*/ 1753500 w 2184344"/>
                <a:gd name="connsiteY7" fmla="*/ 6180694 h 6188651"/>
                <a:gd name="connsiteX8" fmla="*/ 1684701 w 2184344"/>
                <a:gd name="connsiteY8" fmla="*/ 6188651 h 6188651"/>
                <a:gd name="connsiteX9" fmla="*/ 0 w 2184344"/>
                <a:gd name="connsiteY9" fmla="*/ 6188651 h 6188651"/>
                <a:gd name="connsiteX10" fmla="*/ 2318 w 2184344"/>
                <a:gd name="connsiteY10" fmla="*/ 6183606 h 6188651"/>
                <a:gd name="connsiteX11" fmla="*/ 82375 w 2184344"/>
                <a:gd name="connsiteY11" fmla="*/ 6174360 h 6188651"/>
                <a:gd name="connsiteX12" fmla="*/ 320536 w 2184344"/>
                <a:gd name="connsiteY12" fmla="*/ 5974569 h 6188651"/>
                <a:gd name="connsiteX13" fmla="*/ 1575366 w 2184344"/>
                <a:gd name="connsiteY13" fmla="*/ 3249995 h 6188651"/>
                <a:gd name="connsiteX14" fmla="*/ 1599283 w 2184344"/>
                <a:gd name="connsiteY14" fmla="*/ 3180345 h 6188651"/>
                <a:gd name="connsiteX15" fmla="*/ 1599309 w 2184344"/>
                <a:gd name="connsiteY15" fmla="*/ 3180142 h 6188651"/>
                <a:gd name="connsiteX16" fmla="*/ 1602778 w 2184344"/>
                <a:gd name="connsiteY16" fmla="*/ 3170058 h 6188651"/>
                <a:gd name="connsiteX17" fmla="*/ 1607015 w 2184344"/>
                <a:gd name="connsiteY17" fmla="*/ 3137572 h 6188651"/>
                <a:gd name="connsiteX18" fmla="*/ 1607246 w 2184344"/>
                <a:gd name="connsiteY18" fmla="*/ 3136710 h 6188651"/>
                <a:gd name="connsiteX19" fmla="*/ 1607375 w 2184344"/>
                <a:gd name="connsiteY19" fmla="*/ 3134818 h 6188651"/>
                <a:gd name="connsiteX20" fmla="*/ 1611999 w 2184344"/>
                <a:gd name="connsiteY20" fmla="*/ 3099353 h 6188651"/>
                <a:gd name="connsiteX21" fmla="*/ 1610893 w 2184344"/>
                <a:gd name="connsiteY21" fmla="*/ 3083064 h 6188651"/>
                <a:gd name="connsiteX22" fmla="*/ 1612000 w 2184344"/>
                <a:gd name="connsiteY22" fmla="*/ 3066762 h 6188651"/>
                <a:gd name="connsiteX23" fmla="*/ 1607372 w 2184344"/>
                <a:gd name="connsiteY23" fmla="*/ 3031269 h 6188651"/>
                <a:gd name="connsiteX24" fmla="*/ 1607245 w 2184344"/>
                <a:gd name="connsiteY24" fmla="*/ 3029405 h 6188651"/>
                <a:gd name="connsiteX25" fmla="*/ 1607018 w 2184344"/>
                <a:gd name="connsiteY25" fmla="*/ 3028558 h 6188651"/>
                <a:gd name="connsiteX26" fmla="*/ 1602779 w 2184344"/>
                <a:gd name="connsiteY26" fmla="*/ 2996059 h 6188651"/>
                <a:gd name="connsiteX27" fmla="*/ 1578860 w 2184344"/>
                <a:gd name="connsiteY27" fmla="*/ 2926530 h 6188651"/>
                <a:gd name="connsiteX28" fmla="*/ 324032 w 2184344"/>
                <a:gd name="connsiteY28" fmla="*/ 206815 h 6188651"/>
                <a:gd name="connsiteX29" fmla="*/ 85870 w 2184344"/>
                <a:gd name="connsiteY29" fmla="*/ 7381 h 618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84344" h="6188651">
                  <a:moveTo>
                    <a:pt x="21853" y="0"/>
                  </a:moveTo>
                  <a:lnTo>
                    <a:pt x="1720507" y="0"/>
                  </a:lnTo>
                  <a:lnTo>
                    <a:pt x="1756995" y="4214"/>
                  </a:lnTo>
                  <a:cubicBezTo>
                    <a:pt x="1858655" y="31137"/>
                    <a:pt x="1947895" y="101360"/>
                    <a:pt x="1995158" y="203956"/>
                  </a:cubicBezTo>
                  <a:lnTo>
                    <a:pt x="2184344" y="614630"/>
                  </a:lnTo>
                  <a:lnTo>
                    <a:pt x="2184344" y="5561585"/>
                  </a:lnTo>
                  <a:lnTo>
                    <a:pt x="1991662" y="5980595"/>
                  </a:lnTo>
                  <a:cubicBezTo>
                    <a:pt x="1944400" y="6083376"/>
                    <a:pt x="1855160" y="6153722"/>
                    <a:pt x="1753500" y="6180694"/>
                  </a:cubicBezTo>
                  <a:lnTo>
                    <a:pt x="1684701" y="6188651"/>
                  </a:lnTo>
                  <a:lnTo>
                    <a:pt x="0" y="6188651"/>
                  </a:lnTo>
                  <a:lnTo>
                    <a:pt x="2318" y="6183606"/>
                  </a:lnTo>
                  <a:lnTo>
                    <a:pt x="82375" y="6174360"/>
                  </a:lnTo>
                  <a:cubicBezTo>
                    <a:pt x="184035" y="6147430"/>
                    <a:pt x="273274" y="6077192"/>
                    <a:pt x="320536" y="5974569"/>
                  </a:cubicBezTo>
                  <a:lnTo>
                    <a:pt x="1575366" y="3249995"/>
                  </a:lnTo>
                  <a:cubicBezTo>
                    <a:pt x="1585868" y="3227190"/>
                    <a:pt x="1593800" y="3203866"/>
                    <a:pt x="1599283" y="3180345"/>
                  </a:cubicBezTo>
                  <a:lnTo>
                    <a:pt x="1599309" y="3180142"/>
                  </a:lnTo>
                  <a:lnTo>
                    <a:pt x="1602778" y="3170058"/>
                  </a:lnTo>
                  <a:lnTo>
                    <a:pt x="1607015" y="3137572"/>
                  </a:lnTo>
                  <a:lnTo>
                    <a:pt x="1607246" y="3136710"/>
                  </a:lnTo>
                  <a:lnTo>
                    <a:pt x="1607375" y="3134818"/>
                  </a:lnTo>
                  <a:lnTo>
                    <a:pt x="1611999" y="3099353"/>
                  </a:lnTo>
                  <a:lnTo>
                    <a:pt x="1610893" y="3083064"/>
                  </a:lnTo>
                  <a:lnTo>
                    <a:pt x="1612000" y="3066762"/>
                  </a:lnTo>
                  <a:lnTo>
                    <a:pt x="1607372" y="3031269"/>
                  </a:lnTo>
                  <a:lnTo>
                    <a:pt x="1607245" y="3029405"/>
                  </a:lnTo>
                  <a:lnTo>
                    <a:pt x="1607018" y="3028558"/>
                  </a:lnTo>
                  <a:lnTo>
                    <a:pt x="1602779" y="2996059"/>
                  </a:lnTo>
                  <a:cubicBezTo>
                    <a:pt x="1597295" y="2972578"/>
                    <a:pt x="1589364" y="2949295"/>
                    <a:pt x="1578860" y="2926530"/>
                  </a:cubicBezTo>
                  <a:lnTo>
                    <a:pt x="324032" y="206815"/>
                  </a:lnTo>
                  <a:cubicBezTo>
                    <a:pt x="276770" y="104378"/>
                    <a:pt x="187530" y="34263"/>
                    <a:pt x="85870" y="7381"/>
                  </a:cubicBezTo>
                  <a:close/>
                </a:path>
              </a:pathLst>
            </a:custGeom>
            <a:gradFill>
              <a:gsLst>
                <a:gs pos="0">
                  <a:schemeClr val="bg1">
                    <a:lumMod val="95000"/>
                    <a:alpha val="9000"/>
                  </a:schemeClr>
                </a:gs>
                <a:gs pos="100000">
                  <a:schemeClr val="bg2">
                    <a:lumMod val="9000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A3A892B0-4604-9F79-FEA8-D0F850E30369}"/>
                </a:ext>
              </a:extLst>
            </p:cNvPr>
            <p:cNvGrpSpPr/>
            <p:nvPr userDrawn="1"/>
          </p:nvGrpSpPr>
          <p:grpSpPr>
            <a:xfrm>
              <a:off x="4582803" y="-11371"/>
              <a:ext cx="6902887" cy="6188651"/>
              <a:chOff x="2791732" y="1516380"/>
              <a:chExt cx="5516131" cy="4945381"/>
            </a:xfrm>
            <a:gradFill>
              <a:gsLst>
                <a:gs pos="11000">
                  <a:schemeClr val="bg1">
                    <a:lumMod val="95000"/>
                    <a:alpha val="9000"/>
                  </a:schemeClr>
                </a:gs>
                <a:gs pos="100000">
                  <a:schemeClr val="bg2">
                    <a:lumMod val="73000"/>
                    <a:lumOff val="27000"/>
                  </a:schemeClr>
                </a:gs>
              </a:gsLst>
              <a:lin ang="0" scaled="1"/>
            </a:gradFill>
          </p:grpSpPr>
          <p:sp>
            <p:nvSpPr>
              <p:cNvPr id="11" name="Freeform: Shape 10">
                <a:extLst>
                  <a:ext uri="{FF2B5EF4-FFF2-40B4-BE49-F238E27FC236}">
                    <a16:creationId xmlns:a16="http://schemas.microsoft.com/office/drawing/2014/main" id="{65DFD9A8-50A1-3457-1FDC-5421AD588BB5}"/>
                  </a:ext>
                </a:extLst>
              </p:cNvPr>
              <p:cNvSpPr/>
              <p:nvPr userDrawn="1"/>
            </p:nvSpPr>
            <p:spPr bwMode="auto">
              <a:xfrm>
                <a:off x="4238016"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2" name="Freeform: Shape 11">
                <a:extLst>
                  <a:ext uri="{FF2B5EF4-FFF2-40B4-BE49-F238E27FC236}">
                    <a16:creationId xmlns:a16="http://schemas.microsoft.com/office/drawing/2014/main" id="{A5932E7E-0232-7082-65F4-39FDA04D05F3}"/>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3" name="Freeform: Shape 12">
                <a:extLst>
                  <a:ext uri="{FF2B5EF4-FFF2-40B4-BE49-F238E27FC236}">
                    <a16:creationId xmlns:a16="http://schemas.microsoft.com/office/drawing/2014/main" id="{D3BE2578-EEB6-C252-E360-E0B988671141}"/>
                  </a:ext>
                </a:extLst>
              </p:cNvPr>
              <p:cNvSpPr/>
              <p:nvPr userDrawn="1"/>
            </p:nvSpPr>
            <p:spPr bwMode="auto">
              <a:xfrm>
                <a:off x="2791732"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
          <p:nvSpPr>
            <p:cNvPr id="6" name="Freeform: Shape 5">
              <a:extLst>
                <a:ext uri="{FF2B5EF4-FFF2-40B4-BE49-F238E27FC236}">
                  <a16:creationId xmlns:a16="http://schemas.microsoft.com/office/drawing/2014/main" id="{8611DA2A-85F0-1ECB-CDBC-0F3E10082D46}"/>
                </a:ext>
              </a:extLst>
            </p:cNvPr>
            <p:cNvSpPr/>
            <p:nvPr userDrawn="1"/>
          </p:nvSpPr>
          <p:spPr bwMode="auto">
            <a:xfrm>
              <a:off x="10007656" y="-11371"/>
              <a:ext cx="2184345" cy="6188651"/>
            </a:xfrm>
            <a:custGeom>
              <a:avLst/>
              <a:gdLst>
                <a:gd name="connsiteX0" fmla="*/ 21853 w 2184345"/>
                <a:gd name="connsiteY0" fmla="*/ 0 h 6188651"/>
                <a:gd name="connsiteX1" fmla="*/ 1720508 w 2184345"/>
                <a:gd name="connsiteY1" fmla="*/ 0 h 6188651"/>
                <a:gd name="connsiteX2" fmla="*/ 1756996 w 2184345"/>
                <a:gd name="connsiteY2" fmla="*/ 4214 h 6188651"/>
                <a:gd name="connsiteX3" fmla="*/ 1995159 w 2184345"/>
                <a:gd name="connsiteY3" fmla="*/ 203956 h 6188651"/>
                <a:gd name="connsiteX4" fmla="*/ 2184345 w 2184345"/>
                <a:gd name="connsiteY4" fmla="*/ 614629 h 6188651"/>
                <a:gd name="connsiteX5" fmla="*/ 2184345 w 2184345"/>
                <a:gd name="connsiteY5" fmla="*/ 5561586 h 6188651"/>
                <a:gd name="connsiteX6" fmla="*/ 1991663 w 2184345"/>
                <a:gd name="connsiteY6" fmla="*/ 5980595 h 6188651"/>
                <a:gd name="connsiteX7" fmla="*/ 1753501 w 2184345"/>
                <a:gd name="connsiteY7" fmla="*/ 6180694 h 6188651"/>
                <a:gd name="connsiteX8" fmla="*/ 1684702 w 2184345"/>
                <a:gd name="connsiteY8" fmla="*/ 6188651 h 6188651"/>
                <a:gd name="connsiteX9" fmla="*/ 0 w 2184345"/>
                <a:gd name="connsiteY9" fmla="*/ 6188651 h 6188651"/>
                <a:gd name="connsiteX10" fmla="*/ 2318 w 2184345"/>
                <a:gd name="connsiteY10" fmla="*/ 6183606 h 6188651"/>
                <a:gd name="connsiteX11" fmla="*/ 82375 w 2184345"/>
                <a:gd name="connsiteY11" fmla="*/ 6174360 h 6188651"/>
                <a:gd name="connsiteX12" fmla="*/ 320536 w 2184345"/>
                <a:gd name="connsiteY12" fmla="*/ 5974569 h 6188651"/>
                <a:gd name="connsiteX13" fmla="*/ 1575367 w 2184345"/>
                <a:gd name="connsiteY13" fmla="*/ 3249995 h 6188651"/>
                <a:gd name="connsiteX14" fmla="*/ 1599283 w 2184345"/>
                <a:gd name="connsiteY14" fmla="*/ 3180345 h 6188651"/>
                <a:gd name="connsiteX15" fmla="*/ 1599310 w 2184345"/>
                <a:gd name="connsiteY15" fmla="*/ 3180142 h 6188651"/>
                <a:gd name="connsiteX16" fmla="*/ 1602779 w 2184345"/>
                <a:gd name="connsiteY16" fmla="*/ 3170059 h 6188651"/>
                <a:gd name="connsiteX17" fmla="*/ 1607016 w 2184345"/>
                <a:gd name="connsiteY17" fmla="*/ 3137572 h 6188651"/>
                <a:gd name="connsiteX18" fmla="*/ 1607247 w 2184345"/>
                <a:gd name="connsiteY18" fmla="*/ 3136710 h 6188651"/>
                <a:gd name="connsiteX19" fmla="*/ 1607376 w 2184345"/>
                <a:gd name="connsiteY19" fmla="*/ 3134818 h 6188651"/>
                <a:gd name="connsiteX20" fmla="*/ 1612000 w 2184345"/>
                <a:gd name="connsiteY20" fmla="*/ 3099353 h 6188651"/>
                <a:gd name="connsiteX21" fmla="*/ 1610894 w 2184345"/>
                <a:gd name="connsiteY21" fmla="*/ 3083064 h 6188651"/>
                <a:gd name="connsiteX22" fmla="*/ 1612001 w 2184345"/>
                <a:gd name="connsiteY22" fmla="*/ 3066762 h 6188651"/>
                <a:gd name="connsiteX23" fmla="*/ 1607373 w 2184345"/>
                <a:gd name="connsiteY23" fmla="*/ 3031269 h 6188651"/>
                <a:gd name="connsiteX24" fmla="*/ 1607246 w 2184345"/>
                <a:gd name="connsiteY24" fmla="*/ 3029405 h 6188651"/>
                <a:gd name="connsiteX25" fmla="*/ 1607019 w 2184345"/>
                <a:gd name="connsiteY25" fmla="*/ 3028558 h 6188651"/>
                <a:gd name="connsiteX26" fmla="*/ 1602780 w 2184345"/>
                <a:gd name="connsiteY26" fmla="*/ 2996059 h 6188651"/>
                <a:gd name="connsiteX27" fmla="*/ 1578861 w 2184345"/>
                <a:gd name="connsiteY27" fmla="*/ 2926530 h 6188651"/>
                <a:gd name="connsiteX28" fmla="*/ 324033 w 2184345"/>
                <a:gd name="connsiteY28" fmla="*/ 206815 h 6188651"/>
                <a:gd name="connsiteX29" fmla="*/ 85870 w 2184345"/>
                <a:gd name="connsiteY29" fmla="*/ 7381 h 618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84345" h="6188651">
                  <a:moveTo>
                    <a:pt x="21853" y="0"/>
                  </a:moveTo>
                  <a:lnTo>
                    <a:pt x="1720508" y="0"/>
                  </a:lnTo>
                  <a:lnTo>
                    <a:pt x="1756996" y="4214"/>
                  </a:lnTo>
                  <a:cubicBezTo>
                    <a:pt x="1858656" y="31137"/>
                    <a:pt x="1947896" y="101360"/>
                    <a:pt x="1995159" y="203956"/>
                  </a:cubicBezTo>
                  <a:lnTo>
                    <a:pt x="2184345" y="614629"/>
                  </a:lnTo>
                  <a:lnTo>
                    <a:pt x="2184345" y="5561586"/>
                  </a:lnTo>
                  <a:lnTo>
                    <a:pt x="1991663" y="5980595"/>
                  </a:lnTo>
                  <a:cubicBezTo>
                    <a:pt x="1944401" y="6083376"/>
                    <a:pt x="1855161" y="6153722"/>
                    <a:pt x="1753501" y="6180694"/>
                  </a:cubicBezTo>
                  <a:lnTo>
                    <a:pt x="1684702" y="6188651"/>
                  </a:lnTo>
                  <a:lnTo>
                    <a:pt x="0" y="6188651"/>
                  </a:lnTo>
                  <a:lnTo>
                    <a:pt x="2318" y="6183606"/>
                  </a:lnTo>
                  <a:lnTo>
                    <a:pt x="82375" y="6174360"/>
                  </a:lnTo>
                  <a:cubicBezTo>
                    <a:pt x="184035" y="6147430"/>
                    <a:pt x="273275" y="6077192"/>
                    <a:pt x="320536" y="5974569"/>
                  </a:cubicBezTo>
                  <a:lnTo>
                    <a:pt x="1575367" y="3249995"/>
                  </a:lnTo>
                  <a:cubicBezTo>
                    <a:pt x="1585869" y="3227190"/>
                    <a:pt x="1593801" y="3203867"/>
                    <a:pt x="1599283" y="3180345"/>
                  </a:cubicBezTo>
                  <a:lnTo>
                    <a:pt x="1599310" y="3180142"/>
                  </a:lnTo>
                  <a:lnTo>
                    <a:pt x="1602779" y="3170059"/>
                  </a:lnTo>
                  <a:lnTo>
                    <a:pt x="1607016" y="3137572"/>
                  </a:lnTo>
                  <a:lnTo>
                    <a:pt x="1607247" y="3136710"/>
                  </a:lnTo>
                  <a:lnTo>
                    <a:pt x="1607376" y="3134818"/>
                  </a:lnTo>
                  <a:lnTo>
                    <a:pt x="1612000" y="3099353"/>
                  </a:lnTo>
                  <a:lnTo>
                    <a:pt x="1610894" y="3083064"/>
                  </a:lnTo>
                  <a:lnTo>
                    <a:pt x="1612001" y="3066762"/>
                  </a:lnTo>
                  <a:lnTo>
                    <a:pt x="1607373" y="3031269"/>
                  </a:lnTo>
                  <a:lnTo>
                    <a:pt x="1607246" y="3029405"/>
                  </a:lnTo>
                  <a:lnTo>
                    <a:pt x="1607019" y="3028558"/>
                  </a:lnTo>
                  <a:lnTo>
                    <a:pt x="1602780" y="2996059"/>
                  </a:lnTo>
                  <a:cubicBezTo>
                    <a:pt x="1597296" y="2972578"/>
                    <a:pt x="1589365" y="2949295"/>
                    <a:pt x="1578861" y="2926530"/>
                  </a:cubicBezTo>
                  <a:lnTo>
                    <a:pt x="324033" y="206815"/>
                  </a:lnTo>
                  <a:cubicBezTo>
                    <a:pt x="276770" y="104378"/>
                    <a:pt x="187530" y="34263"/>
                    <a:pt x="85870" y="7381"/>
                  </a:cubicBezTo>
                  <a:close/>
                </a:path>
              </a:pathLst>
            </a:custGeom>
            <a:blipFill dpi="0" rotWithShape="1">
              <a:blip r:embed="rId3"/>
              <a:srcRect/>
              <a:tile tx="-1682750" ty="0" sx="60000" sy="60000" flip="none" algn="ctr"/>
            </a:blipFill>
            <a:ln w="9525" cap="flat" cmpd="sng" algn="ctr">
              <a:noFill/>
              <a:prstDash val="solid"/>
              <a:headEnd type="none" w="med" len="med"/>
              <a:tailEnd type="none" w="med" len="med"/>
            </a:ln>
            <a:effectLst>
              <a:outerShdw blurRad="50800" dist="38100" algn="l" rotWithShape="0">
                <a:schemeClr val="accent2">
                  <a:alpha val="20000"/>
                </a:scheme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sp>
        <p:nvSpPr>
          <p:cNvPr id="17" name="Rectangle 16">
            <a:extLst>
              <a:ext uri="{FF2B5EF4-FFF2-40B4-BE49-F238E27FC236}">
                <a16:creationId xmlns:a16="http://schemas.microsoft.com/office/drawing/2014/main" id="{586B3CF3-D925-AADA-1E88-18475E7052CF}"/>
              </a:ext>
            </a:extLst>
          </p:cNvPr>
          <p:cNvSpPr/>
          <p:nvPr userDrawn="1"/>
        </p:nvSpPr>
        <p:spPr bwMode="auto">
          <a:xfrm flipV="1">
            <a:off x="0" y="6177280"/>
            <a:ext cx="12192000" cy="680720"/>
          </a:xfrm>
          <a:prstGeom prst="rect">
            <a:avLst/>
          </a:prstGeom>
          <a:gradFill>
            <a:gsLst>
              <a:gs pos="0">
                <a:srgbClr val="2B91DA"/>
              </a:gs>
              <a:gs pos="100000">
                <a:srgbClr val="205897"/>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Title 6">
            <a:extLst>
              <a:ext uri="{FF2B5EF4-FFF2-40B4-BE49-F238E27FC236}">
                <a16:creationId xmlns:a16="http://schemas.microsoft.com/office/drawing/2014/main" id="{9D6C76B8-2550-36E2-FCD8-B922A2A42453}"/>
              </a:ext>
            </a:extLst>
          </p:cNvPr>
          <p:cNvSpPr>
            <a:spLocks noGrp="1"/>
          </p:cNvSpPr>
          <p:nvPr>
            <p:ph type="title"/>
          </p:nvPr>
        </p:nvSpPr>
        <p:spPr>
          <a:xfrm>
            <a:off x="574816" y="1204845"/>
            <a:ext cx="11018520" cy="430887"/>
          </a:xfrm>
        </p:spPr>
        <p:txBody>
          <a:bodyPr/>
          <a:lstStyle/>
          <a:p>
            <a:r>
              <a:rPr lang="en-US"/>
              <a:t>Click to edit Master title style</a:t>
            </a:r>
          </a:p>
        </p:txBody>
      </p:sp>
    </p:spTree>
    <p:extLst>
      <p:ext uri="{BB962C8B-B14F-4D97-AF65-F5344CB8AC3E}">
        <p14:creationId xmlns:p14="http://schemas.microsoft.com/office/powerpoint/2010/main" val="1064988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Right square gradi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7B86C3-3070-C5B9-78CF-8959A6F56A4F}"/>
              </a:ext>
              <a:ext uri="{C183D7F6-B498-43B3-948B-1728B52AA6E4}">
                <adec:decorative xmlns:adec="http://schemas.microsoft.com/office/drawing/2017/decorative" val="1"/>
              </a:ext>
            </a:extLst>
          </p:cNvPr>
          <p:cNvSpPr/>
          <p:nvPr userDrawn="1"/>
        </p:nvSpPr>
        <p:spPr bwMode="auto">
          <a:xfrm>
            <a:off x="5638800" y="0"/>
            <a:ext cx="6553200" cy="6858000"/>
          </a:xfrm>
          <a:prstGeom prst="rect">
            <a:avLst/>
          </a:prstGeom>
          <a:gradFill flip="none" rotWithShape="1">
            <a:gsLst>
              <a:gs pos="0">
                <a:schemeClr val="accent1"/>
              </a:gs>
              <a:gs pos="100000">
                <a:srgbClr val="002564"/>
              </a:gs>
            </a:gsLst>
            <a:lin ang="135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noProof="0" err="1">
              <a:solidFill>
                <a:srgbClr val="FFFFFF"/>
              </a:solidFill>
              <a:cs typeface="Segoe UI" pitchFamily="34" charset="0"/>
            </a:endParaRPr>
          </a:p>
        </p:txBody>
      </p:sp>
      <p:sp>
        <p:nvSpPr>
          <p:cNvPr id="6" name="Text Placeholder 5">
            <a:extLst>
              <a:ext uri="{FF2B5EF4-FFF2-40B4-BE49-F238E27FC236}">
                <a16:creationId xmlns:a16="http://schemas.microsoft.com/office/drawing/2014/main" id="{282857C6-E648-FEFA-6ACE-EB1C1D36BD4D}"/>
              </a:ext>
            </a:extLst>
          </p:cNvPr>
          <p:cNvSpPr>
            <a:spLocks noGrp="1"/>
          </p:cNvSpPr>
          <p:nvPr>
            <p:ph type="body" sz="quarter" idx="11"/>
          </p:nvPr>
        </p:nvSpPr>
        <p:spPr>
          <a:xfrm>
            <a:off x="6212114" y="510988"/>
            <a:ext cx="5405070" cy="3645839"/>
          </a:xfrm>
        </p:spPr>
        <p:txBody>
          <a:bodyPr anchor="t"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62D03788-49AD-F323-C138-3FAB83EBD9B7}"/>
              </a:ext>
            </a:extLst>
          </p:cNvPr>
          <p:cNvSpPr>
            <a:spLocks noGrp="1"/>
          </p:cNvSpPr>
          <p:nvPr>
            <p:ph type="title"/>
          </p:nvPr>
        </p:nvSpPr>
        <p:spPr>
          <a:xfrm>
            <a:off x="574816" y="510988"/>
            <a:ext cx="3902841" cy="430887"/>
          </a:xfrm>
        </p:spPr>
        <p:txBody>
          <a:bodyPr/>
          <a:lstStyle/>
          <a:p>
            <a:r>
              <a:rPr lang="en-US"/>
              <a:t>Click to edit Master title style</a:t>
            </a:r>
          </a:p>
        </p:txBody>
      </p:sp>
    </p:spTree>
    <p:extLst>
      <p:ext uri="{BB962C8B-B14F-4D97-AF65-F5344CB8AC3E}">
        <p14:creationId xmlns:p14="http://schemas.microsoft.com/office/powerpoint/2010/main" val="315280950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Custom Layout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BA183F-06DD-FC4C-6352-AEF36AC19F30}"/>
              </a:ext>
            </a:extLst>
          </p:cNvPr>
          <p:cNvSpPr/>
          <p:nvPr userDrawn="1"/>
        </p:nvSpPr>
        <p:spPr bwMode="auto">
          <a:xfrm>
            <a:off x="0" y="0"/>
            <a:ext cx="12192000" cy="1474237"/>
          </a:xfrm>
          <a:prstGeom prst="rect">
            <a:avLst/>
          </a:prstGeom>
          <a:gradFill>
            <a:gsLst>
              <a:gs pos="0">
                <a:srgbClr val="2B91DA"/>
              </a:gs>
              <a:gs pos="100000">
                <a:srgbClr val="205897"/>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31BAD24A-8EEB-7CAB-5D55-B3439B848076}"/>
              </a:ext>
            </a:extLst>
          </p:cNvPr>
          <p:cNvSpPr>
            <a:spLocks noGrp="1"/>
          </p:cNvSpPr>
          <p:nvPr>
            <p:ph type="title"/>
          </p:nvPr>
        </p:nvSpPr>
        <p:spPr/>
        <p:txBody>
          <a:bodyPr/>
          <a:lstStyle/>
          <a:p>
            <a:r>
              <a:rPr lang="en-US"/>
              <a:t>Click to edit Master title style</a:t>
            </a:r>
          </a:p>
        </p:txBody>
      </p:sp>
      <p:grpSp>
        <p:nvGrpSpPr>
          <p:cNvPr id="4" name="Group 3">
            <a:extLst>
              <a:ext uri="{FF2B5EF4-FFF2-40B4-BE49-F238E27FC236}">
                <a16:creationId xmlns:a16="http://schemas.microsoft.com/office/drawing/2014/main" id="{9030F711-EBC5-DF9B-7FA0-A315875164B9}"/>
              </a:ext>
            </a:extLst>
          </p:cNvPr>
          <p:cNvGrpSpPr/>
          <p:nvPr userDrawn="1"/>
        </p:nvGrpSpPr>
        <p:grpSpPr>
          <a:xfrm>
            <a:off x="10496939" y="1"/>
            <a:ext cx="1671213" cy="1488180"/>
            <a:chOff x="2508649" y="1516380"/>
            <a:chExt cx="5799214" cy="4945381"/>
          </a:xfrm>
          <a:gradFill>
            <a:gsLst>
              <a:gs pos="0">
                <a:schemeClr val="bg1">
                  <a:alpha val="0"/>
                </a:schemeClr>
              </a:gs>
              <a:gs pos="100000">
                <a:schemeClr val="bg1">
                  <a:alpha val="35000"/>
                </a:schemeClr>
              </a:gs>
            </a:gsLst>
            <a:lin ang="0" scaled="1"/>
          </a:gradFill>
        </p:grpSpPr>
        <p:sp>
          <p:nvSpPr>
            <p:cNvPr id="5" name="Freeform: Shape 4">
              <a:extLst>
                <a:ext uri="{FF2B5EF4-FFF2-40B4-BE49-F238E27FC236}">
                  <a16:creationId xmlns:a16="http://schemas.microsoft.com/office/drawing/2014/main" id="{04C050D5-B5F8-093E-69B9-617B872A605A}"/>
                </a:ext>
              </a:extLst>
            </p:cNvPr>
            <p:cNvSpPr/>
            <p:nvPr userDrawn="1"/>
          </p:nvSpPr>
          <p:spPr bwMode="auto">
            <a:xfrm>
              <a:off x="4096477" y="1516380"/>
              <a:ext cx="2623561"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Freeform: Shape 5">
              <a:extLst>
                <a:ext uri="{FF2B5EF4-FFF2-40B4-BE49-F238E27FC236}">
                  <a16:creationId xmlns:a16="http://schemas.microsoft.com/office/drawing/2014/main" id="{C2701B82-2E39-970A-877D-3D6F058E7B39}"/>
                </a:ext>
              </a:extLst>
            </p:cNvPr>
            <p:cNvSpPr/>
            <p:nvPr userDrawn="1"/>
          </p:nvSpPr>
          <p:spPr bwMode="auto">
            <a:xfrm>
              <a:off x="5684301" y="1516380"/>
              <a:ext cx="2623562"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Freeform: Shape 6">
              <a:extLst>
                <a:ext uri="{FF2B5EF4-FFF2-40B4-BE49-F238E27FC236}">
                  <a16:creationId xmlns:a16="http://schemas.microsoft.com/office/drawing/2014/main" id="{0EB63153-7D32-37D9-BF5F-7FD9423E2AE0}"/>
                </a:ext>
              </a:extLst>
            </p:cNvPr>
            <p:cNvSpPr/>
            <p:nvPr userDrawn="1"/>
          </p:nvSpPr>
          <p:spPr bwMode="auto">
            <a:xfrm>
              <a:off x="2508649" y="1516380"/>
              <a:ext cx="2623563" cy="4945381"/>
            </a:xfrm>
            <a:custGeom>
              <a:avLst/>
              <a:gdLst>
                <a:gd name="connsiteX0" fmla="*/ 17463 w 2623563"/>
                <a:gd name="connsiteY0" fmla="*/ 0 h 4945381"/>
                <a:gd name="connsiteX1" fmla="*/ 1374866 w 2623563"/>
                <a:gd name="connsiteY1" fmla="*/ 0 h 4945381"/>
                <a:gd name="connsiteX2" fmla="*/ 1404024 w 2623563"/>
                <a:gd name="connsiteY2" fmla="*/ 3367 h 4945381"/>
                <a:gd name="connsiteX3" fmla="*/ 1594341 w 2623563"/>
                <a:gd name="connsiteY3" fmla="*/ 162982 h 4945381"/>
                <a:gd name="connsiteX4" fmla="*/ 2597080 w 2623563"/>
                <a:gd name="connsiteY4" fmla="*/ 2339667 h 4945381"/>
                <a:gd name="connsiteX5" fmla="*/ 2616194 w 2623563"/>
                <a:gd name="connsiteY5" fmla="*/ 2395313 h 4945381"/>
                <a:gd name="connsiteX6" fmla="*/ 2619581 w 2623563"/>
                <a:gd name="connsiteY6" fmla="*/ 2421323 h 4945381"/>
                <a:gd name="connsiteX7" fmla="*/ 2619763 w 2623563"/>
                <a:gd name="connsiteY7" fmla="*/ 2422002 h 4945381"/>
                <a:gd name="connsiteX8" fmla="*/ 2619864 w 2623563"/>
                <a:gd name="connsiteY8" fmla="*/ 2423493 h 4945381"/>
                <a:gd name="connsiteX9" fmla="*/ 2623563 w 2623563"/>
                <a:gd name="connsiteY9" fmla="*/ 2451900 h 4945381"/>
                <a:gd name="connsiteX10" fmla="*/ 2622678 w 2623563"/>
                <a:gd name="connsiteY10" fmla="*/ 2464947 h 4945381"/>
                <a:gd name="connsiteX11" fmla="*/ 2623562 w 2623563"/>
                <a:gd name="connsiteY11" fmla="*/ 2477984 h 4945381"/>
                <a:gd name="connsiteX12" fmla="*/ 2619867 w 2623563"/>
                <a:gd name="connsiteY12" fmla="*/ 2506367 h 4945381"/>
                <a:gd name="connsiteX13" fmla="*/ 2619764 w 2623563"/>
                <a:gd name="connsiteY13" fmla="*/ 2507882 h 4945381"/>
                <a:gd name="connsiteX14" fmla="*/ 2619579 w 2623563"/>
                <a:gd name="connsiteY14" fmla="*/ 2508572 h 4945381"/>
                <a:gd name="connsiteX15" fmla="*/ 2616193 w 2623563"/>
                <a:gd name="connsiteY15" fmla="*/ 2534572 h 4945381"/>
                <a:gd name="connsiteX16" fmla="*/ 2613421 w 2623563"/>
                <a:gd name="connsiteY16" fmla="*/ 2542642 h 4945381"/>
                <a:gd name="connsiteX17" fmla="*/ 2613400 w 2623563"/>
                <a:gd name="connsiteY17" fmla="*/ 2542804 h 4945381"/>
                <a:gd name="connsiteX18" fmla="*/ 2594288 w 2623563"/>
                <a:gd name="connsiteY18" fmla="*/ 2598548 h 4945381"/>
                <a:gd name="connsiteX19" fmla="*/ 1591547 w 2623563"/>
                <a:gd name="connsiteY19" fmla="*/ 4779122 h 4945381"/>
                <a:gd name="connsiteX20" fmla="*/ 1401231 w 2623563"/>
                <a:gd name="connsiteY20" fmla="*/ 4939022 h 4945381"/>
                <a:gd name="connsiteX21" fmla="*/ 1346253 w 2623563"/>
                <a:gd name="connsiteY21" fmla="*/ 4945381 h 4945381"/>
                <a:gd name="connsiteX22" fmla="*/ 0 w 2623563"/>
                <a:gd name="connsiteY22" fmla="*/ 4945381 h 4945381"/>
                <a:gd name="connsiteX23" fmla="*/ 1852 w 2623563"/>
                <a:gd name="connsiteY23" fmla="*/ 4941349 h 4945381"/>
                <a:gd name="connsiteX24" fmla="*/ 65826 w 2623563"/>
                <a:gd name="connsiteY24" fmla="*/ 4933961 h 4945381"/>
                <a:gd name="connsiteX25" fmla="*/ 256142 w 2623563"/>
                <a:gd name="connsiteY25" fmla="*/ 4774307 h 4945381"/>
                <a:gd name="connsiteX26" fmla="*/ 1258883 w 2623563"/>
                <a:gd name="connsiteY26" fmla="*/ 2597087 h 4945381"/>
                <a:gd name="connsiteX27" fmla="*/ 1277995 w 2623563"/>
                <a:gd name="connsiteY27" fmla="*/ 2541429 h 4945381"/>
                <a:gd name="connsiteX28" fmla="*/ 1278016 w 2623563"/>
                <a:gd name="connsiteY28" fmla="*/ 2541267 h 4945381"/>
                <a:gd name="connsiteX29" fmla="*/ 1280788 w 2623563"/>
                <a:gd name="connsiteY29" fmla="*/ 2533209 h 4945381"/>
                <a:gd name="connsiteX30" fmla="*/ 1284174 w 2623563"/>
                <a:gd name="connsiteY30" fmla="*/ 2507249 h 4945381"/>
                <a:gd name="connsiteX31" fmla="*/ 1284359 w 2623563"/>
                <a:gd name="connsiteY31" fmla="*/ 2506560 h 4945381"/>
                <a:gd name="connsiteX32" fmla="*/ 1284462 w 2623563"/>
                <a:gd name="connsiteY32" fmla="*/ 2505048 h 4945381"/>
                <a:gd name="connsiteX33" fmla="*/ 1288157 w 2623563"/>
                <a:gd name="connsiteY33" fmla="*/ 2476708 h 4945381"/>
                <a:gd name="connsiteX34" fmla="*/ 1287273 w 2623563"/>
                <a:gd name="connsiteY34" fmla="*/ 2463691 h 4945381"/>
                <a:gd name="connsiteX35" fmla="*/ 1288158 w 2623563"/>
                <a:gd name="connsiteY35" fmla="*/ 2450664 h 4945381"/>
                <a:gd name="connsiteX36" fmla="*/ 1284459 w 2623563"/>
                <a:gd name="connsiteY36" fmla="*/ 2422302 h 4945381"/>
                <a:gd name="connsiteX37" fmla="*/ 1284358 w 2623563"/>
                <a:gd name="connsiteY37" fmla="*/ 2420812 h 4945381"/>
                <a:gd name="connsiteX38" fmla="*/ 1284176 w 2623563"/>
                <a:gd name="connsiteY38" fmla="*/ 2420135 h 4945381"/>
                <a:gd name="connsiteX39" fmla="*/ 1280789 w 2623563"/>
                <a:gd name="connsiteY39" fmla="*/ 2394165 h 4945381"/>
                <a:gd name="connsiteX40" fmla="*/ 1261675 w 2623563"/>
                <a:gd name="connsiteY40" fmla="*/ 2338604 h 4945381"/>
                <a:gd name="connsiteX41" fmla="*/ 258936 w 2623563"/>
                <a:gd name="connsiteY41" fmla="*/ 165267 h 4945381"/>
                <a:gd name="connsiteX42" fmla="*/ 68619 w 2623563"/>
                <a:gd name="connsiteY42" fmla="*/ 5898 h 494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23563" h="4945381">
                  <a:moveTo>
                    <a:pt x="17463" y="0"/>
                  </a:moveTo>
                  <a:lnTo>
                    <a:pt x="1374866" y="0"/>
                  </a:lnTo>
                  <a:lnTo>
                    <a:pt x="1404024" y="3367"/>
                  </a:lnTo>
                  <a:cubicBezTo>
                    <a:pt x="1485261" y="24882"/>
                    <a:pt x="1556573" y="80997"/>
                    <a:pt x="1594341" y="162982"/>
                  </a:cubicBezTo>
                  <a:lnTo>
                    <a:pt x="2597080" y="2339667"/>
                  </a:lnTo>
                  <a:cubicBezTo>
                    <a:pt x="2605474" y="2357887"/>
                    <a:pt x="2611812" y="2376521"/>
                    <a:pt x="2616194" y="2395313"/>
                  </a:cubicBezTo>
                  <a:lnTo>
                    <a:pt x="2619581" y="2421323"/>
                  </a:lnTo>
                  <a:lnTo>
                    <a:pt x="2619763" y="2422002"/>
                  </a:lnTo>
                  <a:lnTo>
                    <a:pt x="2619864" y="2423493"/>
                  </a:lnTo>
                  <a:lnTo>
                    <a:pt x="2623563" y="2451900"/>
                  </a:lnTo>
                  <a:lnTo>
                    <a:pt x="2622678" y="2464947"/>
                  </a:lnTo>
                  <a:lnTo>
                    <a:pt x="2623562" y="2477984"/>
                  </a:lnTo>
                  <a:lnTo>
                    <a:pt x="2619867" y="2506367"/>
                  </a:lnTo>
                  <a:lnTo>
                    <a:pt x="2619764" y="2507882"/>
                  </a:lnTo>
                  <a:lnTo>
                    <a:pt x="2619579" y="2508572"/>
                  </a:lnTo>
                  <a:lnTo>
                    <a:pt x="2616193" y="2534572"/>
                  </a:lnTo>
                  <a:lnTo>
                    <a:pt x="2613421" y="2542642"/>
                  </a:lnTo>
                  <a:lnTo>
                    <a:pt x="2613400" y="2542804"/>
                  </a:lnTo>
                  <a:cubicBezTo>
                    <a:pt x="2609019" y="2561629"/>
                    <a:pt x="2602680" y="2580296"/>
                    <a:pt x="2594288" y="2598548"/>
                  </a:cubicBezTo>
                  <a:lnTo>
                    <a:pt x="1591547" y="4779122"/>
                  </a:lnTo>
                  <a:cubicBezTo>
                    <a:pt x="1553780" y="4861255"/>
                    <a:pt x="1482468" y="4917469"/>
                    <a:pt x="1401231" y="4939022"/>
                  </a:cubicBezTo>
                  <a:lnTo>
                    <a:pt x="1346253" y="4945381"/>
                  </a:lnTo>
                  <a:lnTo>
                    <a:pt x="0" y="4945381"/>
                  </a:lnTo>
                  <a:lnTo>
                    <a:pt x="1852" y="4941349"/>
                  </a:lnTo>
                  <a:lnTo>
                    <a:pt x="65826" y="4933961"/>
                  </a:lnTo>
                  <a:cubicBezTo>
                    <a:pt x="147063" y="4912441"/>
                    <a:pt x="218375" y="4856313"/>
                    <a:pt x="256142" y="4774307"/>
                  </a:cubicBezTo>
                  <a:lnTo>
                    <a:pt x="1258883" y="2597087"/>
                  </a:lnTo>
                  <a:cubicBezTo>
                    <a:pt x="1267275" y="2578863"/>
                    <a:pt x="1273614" y="2560225"/>
                    <a:pt x="1277995" y="2541429"/>
                  </a:cubicBezTo>
                  <a:lnTo>
                    <a:pt x="1278016" y="2541267"/>
                  </a:lnTo>
                  <a:lnTo>
                    <a:pt x="1280788" y="2533209"/>
                  </a:lnTo>
                  <a:lnTo>
                    <a:pt x="1284174" y="2507249"/>
                  </a:lnTo>
                  <a:lnTo>
                    <a:pt x="1284359" y="2506560"/>
                  </a:lnTo>
                  <a:lnTo>
                    <a:pt x="1284462" y="2505048"/>
                  </a:lnTo>
                  <a:lnTo>
                    <a:pt x="1288157" y="2476708"/>
                  </a:lnTo>
                  <a:lnTo>
                    <a:pt x="1287273" y="2463691"/>
                  </a:lnTo>
                  <a:lnTo>
                    <a:pt x="1288158" y="2450664"/>
                  </a:lnTo>
                  <a:lnTo>
                    <a:pt x="1284459" y="2422302"/>
                  </a:lnTo>
                  <a:lnTo>
                    <a:pt x="1284358" y="2420812"/>
                  </a:lnTo>
                  <a:lnTo>
                    <a:pt x="1284176" y="2420135"/>
                  </a:lnTo>
                  <a:lnTo>
                    <a:pt x="1280789" y="2394165"/>
                  </a:lnTo>
                  <a:cubicBezTo>
                    <a:pt x="1276407" y="2375401"/>
                    <a:pt x="1270069" y="2356796"/>
                    <a:pt x="1261675" y="2338604"/>
                  </a:cubicBezTo>
                  <a:lnTo>
                    <a:pt x="258936" y="165267"/>
                  </a:lnTo>
                  <a:cubicBezTo>
                    <a:pt x="221168" y="83409"/>
                    <a:pt x="149856" y="27380"/>
                    <a:pt x="68619" y="58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85880239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FD9E24-314E-C557-7A72-EB1F05C996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BE0D7B-3C5F-7F3A-3A6C-49CBE1E99F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2DF70-C73C-DA51-CA92-9B54A4EBC4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D750A5-17B6-44E2-88EF-E9C3A1A86C97}" type="datetimeFigureOut">
              <a:rPr lang="en-US" smtClean="0"/>
              <a:t>2/24/2025</a:t>
            </a:fld>
            <a:endParaRPr lang="en-US"/>
          </a:p>
        </p:txBody>
      </p:sp>
      <p:sp>
        <p:nvSpPr>
          <p:cNvPr id="5" name="Footer Placeholder 4">
            <a:extLst>
              <a:ext uri="{FF2B5EF4-FFF2-40B4-BE49-F238E27FC236}">
                <a16:creationId xmlns:a16="http://schemas.microsoft.com/office/drawing/2014/main" id="{A6023A26-1D56-A28D-9664-8FEE42B56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503480-C7A9-73A9-04B1-F6035A7FA6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171F5F-61A7-4426-A222-3DE4149623F9}" type="slidenum">
              <a:rPr lang="en-US" smtClean="0"/>
              <a:t>‹#›</a:t>
            </a:fld>
            <a:endParaRPr lang="en-US"/>
          </a:p>
        </p:txBody>
      </p:sp>
    </p:spTree>
    <p:extLst>
      <p:ext uri="{BB962C8B-B14F-4D97-AF65-F5344CB8AC3E}">
        <p14:creationId xmlns:p14="http://schemas.microsoft.com/office/powerpoint/2010/main" val="718221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hyperlink" Target="https://aka.ms/Copilot/OversharingBlueprintLearn"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hyperlink" Target="https://aka.ms/E3PrepareYourDataForCopilot"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sv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40.pn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s>
</file>

<file path=ppt/slides/_rels/slide26.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40.png"/><Relationship Id="rId3" Type="http://schemas.openxmlformats.org/officeDocument/2006/relationships/image" Target="../media/image42.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notesSlide" Target="../notesSlides/notesSlide26.xml"/><Relationship Id="rId1" Type="http://schemas.openxmlformats.org/officeDocument/2006/relationships/slideLayout" Target="../slideLayouts/slideLayout16.xml"/><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3.svg"/><Relationship Id="rId9" Type="http://schemas.openxmlformats.org/officeDocument/2006/relationships/image" Target="../media/image49.png"/><Relationship Id="rId14" Type="http://schemas.openxmlformats.org/officeDocument/2006/relationships/image" Target="../media/image41.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31.xml"/><Relationship Id="rId7" Type="http://schemas.openxmlformats.org/officeDocument/2006/relationships/slide" Target="slide20.xml"/><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hyperlink" Target="https://learn.microsoft.com/en-us/microsoftteams/block-download-meeting-recording" TargetMode="External"/><Relationship Id="rId5" Type="http://schemas.openxmlformats.org/officeDocument/2006/relationships/slide" Target="slide45.xml"/><Relationship Id="rId10" Type="http://schemas.openxmlformats.org/officeDocument/2006/relationships/slide" Target="slide35.xml"/><Relationship Id="rId4" Type="http://schemas.openxmlformats.org/officeDocument/2006/relationships/slide" Target="slide41.xml"/><Relationship Id="rId9" Type="http://schemas.openxmlformats.org/officeDocument/2006/relationships/slide" Target="slide46.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6.xml"/><Relationship Id="rId1" Type="http://schemas.openxmlformats.org/officeDocument/2006/relationships/slideLayout" Target="../slideLayouts/slideLayout20.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4.xml"/><Relationship Id="rId1" Type="http://schemas.openxmlformats.org/officeDocument/2006/relationships/slideLayout" Target="../slideLayouts/slideLayout6.xml"/><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7.xml"/><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8.xml"/><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1.xml"/><Relationship Id="rId1" Type="http://schemas.openxmlformats.org/officeDocument/2006/relationships/slideLayout" Target="../slideLayouts/slideLayout33.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2.xml"/><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3.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4.xml"/><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5.xml"/><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6.xml"/><Relationship Id="rId1" Type="http://schemas.openxmlformats.org/officeDocument/2006/relationships/slideLayout" Target="../slideLayouts/slideLayout38.xml"/></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7.xml"/><Relationship Id="rId1" Type="http://schemas.openxmlformats.org/officeDocument/2006/relationships/slideLayout" Target="../slideLayouts/slideLayout39.xml"/></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8.xml"/><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9.xml"/><Relationship Id="rId1" Type="http://schemas.openxmlformats.org/officeDocument/2006/relationships/slideLayout" Target="../slideLayouts/slideLayout41.xml"/></Relationships>
</file>

<file path=ppt/slides/_rels/slide7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0.xml"/><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1.xml"/><Relationship Id="rId1" Type="http://schemas.openxmlformats.org/officeDocument/2006/relationships/slideLayout" Target="../slideLayouts/slideLayout43.xml"/></Relationships>
</file>

<file path=ppt/slides/_rels/slide72.xml.rels><?xml version="1.0" encoding="UTF-8" standalone="yes"?>
<Relationships xmlns="http://schemas.openxmlformats.org/package/2006/relationships"><Relationship Id="rId3" Type="http://schemas.openxmlformats.org/officeDocument/2006/relationships/hyperlink" Target="https://aka.ms/Copilot/OversharingBlueprintLearn" TargetMode="External"/><Relationship Id="rId2" Type="http://schemas.openxmlformats.org/officeDocument/2006/relationships/notesSlide" Target="../notesSlides/notesSlide72.xml"/><Relationship Id="rId1" Type="http://schemas.openxmlformats.org/officeDocument/2006/relationships/slideLayout" Target="../slideLayouts/slideLayout44.xml"/><Relationship Id="rId5" Type="http://schemas.openxmlformats.org/officeDocument/2006/relationships/image" Target="../media/image36.png"/><Relationship Id="rId4" Type="http://schemas.openxmlformats.org/officeDocument/2006/relationships/image" Target="../media/image3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7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96.png"/><Relationship Id="rId2" Type="http://schemas.openxmlformats.org/officeDocument/2006/relationships/notesSlide" Target="../notesSlides/notesSlide77.xml"/><Relationship Id="rId1" Type="http://schemas.openxmlformats.org/officeDocument/2006/relationships/slideLayout" Target="../slideLayouts/slideLayout45.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16.xml"/></Relationships>
</file>

<file path=ppt/slides/_rels/slide78.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78.xml"/><Relationship Id="rId1" Type="http://schemas.openxmlformats.org/officeDocument/2006/relationships/slideLayout" Target="../slideLayouts/slideLayout16.xml"/><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98.svg"/></Relationships>
</file>

<file path=ppt/slides/_rels/slide79.xml.rels><?xml version="1.0" encoding="UTF-8" standalone="yes"?>
<Relationships xmlns="http://schemas.openxmlformats.org/package/2006/relationships"><Relationship Id="rId8" Type="http://schemas.openxmlformats.org/officeDocument/2006/relationships/image" Target="../media/image108.svg"/><Relationship Id="rId13" Type="http://schemas.openxmlformats.org/officeDocument/2006/relationships/image" Target="../media/image113.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79.xml"/><Relationship Id="rId1" Type="http://schemas.openxmlformats.org/officeDocument/2006/relationships/slideLayout" Target="../slideLayouts/slideLayout13.xml"/><Relationship Id="rId6" Type="http://schemas.openxmlformats.org/officeDocument/2006/relationships/image" Target="../media/image106.sv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svg"/><Relationship Id="rId4" Type="http://schemas.openxmlformats.org/officeDocument/2006/relationships/image" Target="../media/image104.svg"/><Relationship Id="rId9" Type="http://schemas.openxmlformats.org/officeDocument/2006/relationships/image" Target="../media/image109.png"/><Relationship Id="rId14" Type="http://schemas.openxmlformats.org/officeDocument/2006/relationships/image" Target="../media/image114.png"/></Relationships>
</file>

<file path=ppt/slides/_rels/slide80.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svg"/><Relationship Id="rId2" Type="http://schemas.openxmlformats.org/officeDocument/2006/relationships/notesSlide" Target="../notesSlides/notesSlide80.xml"/><Relationship Id="rId1" Type="http://schemas.openxmlformats.org/officeDocument/2006/relationships/slideLayout" Target="../slideLayouts/slideLayout17.xml"/><Relationship Id="rId6" Type="http://schemas.openxmlformats.org/officeDocument/2006/relationships/image" Target="../media/image118.png"/><Relationship Id="rId5" Type="http://schemas.openxmlformats.org/officeDocument/2006/relationships/image" Target="../media/image117.svg"/><Relationship Id="rId4" Type="http://schemas.openxmlformats.org/officeDocument/2006/relationships/image" Target="../media/image116.png"/></Relationships>
</file>

<file path=ppt/slides/_rels/slide81.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10.svg"/><Relationship Id="rId2" Type="http://schemas.openxmlformats.org/officeDocument/2006/relationships/notesSlide" Target="../notesSlides/notesSlide81.xml"/><Relationship Id="rId1" Type="http://schemas.openxmlformats.org/officeDocument/2006/relationships/slideLayout" Target="../slideLayouts/slideLayout17.xml"/><Relationship Id="rId6" Type="http://schemas.openxmlformats.org/officeDocument/2006/relationships/image" Target="../media/image109.png"/><Relationship Id="rId5" Type="http://schemas.openxmlformats.org/officeDocument/2006/relationships/image" Target="../media/image123.svg"/><Relationship Id="rId4" Type="http://schemas.openxmlformats.org/officeDocument/2006/relationships/image" Target="../media/image12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8" Type="http://schemas.openxmlformats.org/officeDocument/2006/relationships/hyperlink" Target="https://www.youtube.com/watch?v=KtsVRCsdvoU&amp;t" TargetMode="External"/><Relationship Id="rId13" Type="http://schemas.openxmlformats.org/officeDocument/2006/relationships/hyperlink" Target="https://www.microsoft.com/security/business/ai-machine-learning/microsoft-security-copilot?rtc=1" TargetMode="External"/><Relationship Id="rId18" Type="http://schemas.openxmlformats.org/officeDocument/2006/relationships/hyperlink" Target="https://www.microsoft.com/trust-center/privacy?rtc=1" TargetMode="External"/><Relationship Id="rId3" Type="http://schemas.openxmlformats.org/officeDocument/2006/relationships/hyperlink" Target="https://adoption.microsoft.com/copilot" TargetMode="External"/><Relationship Id="rId21" Type="http://schemas.openxmlformats.org/officeDocument/2006/relationships/hyperlink" Target="https://learn.microsoft.com/windows-server/networking/technologies/ipam/role-based-access-control" TargetMode="External"/><Relationship Id="rId7" Type="http://schemas.openxmlformats.org/officeDocument/2006/relationships/hyperlink" Target="https://www.youtube.com/watch?v=B2-8wrF9Okc" TargetMode="External"/><Relationship Id="rId12" Type="http://schemas.openxmlformats.org/officeDocument/2006/relationships/hyperlink" Target="https://cloudblogs.microsoft.com/powerplatform/2023/03/16/power-platform-is-leading-a-new-era-of-ai-generated-low-code-app-development/" TargetMode="External"/><Relationship Id="rId17" Type="http://schemas.openxmlformats.org/officeDocument/2006/relationships/hyperlink" Target="https://privacy.microsoft.com/privacystatement" TargetMode="External"/><Relationship Id="rId25" Type="http://schemas.openxmlformats.org/officeDocument/2006/relationships/hyperlink" Target="https://wwlpdocumentsearch.blob.core.windows.net/prodv2/MicrosoftProductandServicesDPA(WW)(English)(Jan2023)(CR).docx?sv=2020-08-04&amp;se=2123-06-13T19:19:30Z&amp;sr=b&amp;sp=r&amp;sig=l%2BpTA%2F6%2By%2BE18HdQPgpuecCESiG8hKFfGmuc8%2FiOpuY%3D" TargetMode="External"/><Relationship Id="rId2" Type="http://schemas.openxmlformats.org/officeDocument/2006/relationships/notesSlide" Target="../notesSlides/notesSlide83.xml"/><Relationship Id="rId16" Type="http://schemas.openxmlformats.org/officeDocument/2006/relationships/hyperlink" Target="https://privacy.microsoft.com/" TargetMode="External"/><Relationship Id="rId20" Type="http://schemas.openxmlformats.org/officeDocument/2006/relationships/hyperlink" Target="https://learn.microsoft.com/legal/cognitive-services/openai/data-privacy" TargetMode="External"/><Relationship Id="rId1" Type="http://schemas.openxmlformats.org/officeDocument/2006/relationships/slideLayout" Target="../slideLayouts/slideLayout17.xml"/><Relationship Id="rId6" Type="http://schemas.openxmlformats.org/officeDocument/2006/relationships/hyperlink" Target="https://support.microsoft.com/topic/chatgpt-vs-microsoft-365-copilot-what-s-the-difference-8fdec864-72b1-46e1-afcb-8c12280d712f" TargetMode="External"/><Relationship Id="rId11" Type="http://schemas.openxmlformats.org/officeDocument/2006/relationships/hyperlink" Target="https://blogs.microsoft.com/blog/2023/03/06/introducing-microsoft-dynamics-365-copilot/" TargetMode="External"/><Relationship Id="rId24" Type="http://schemas.openxmlformats.org/officeDocument/2006/relationships/hyperlink" Target="https://learn.microsoft.com/compliance/assurance/assurance-microsoft-365-isolation-controls?view=o365-worldwide" TargetMode="External"/><Relationship Id="rId5" Type="http://schemas.openxmlformats.org/officeDocument/2006/relationships/hyperlink" Target="https://www.youtube.com/watch?v=E5g20qmeKpg&amp;t=3s" TargetMode="External"/><Relationship Id="rId15" Type="http://schemas.openxmlformats.org/officeDocument/2006/relationships/hyperlink" Target="https://techcommunity.microsoft.com/t5/microsoft-stream-blog/introducing-copilot-in-microsoft-stream/ba-p/3929109" TargetMode="External"/><Relationship Id="rId23" Type="http://schemas.openxmlformats.org/officeDocument/2006/relationships/hyperlink" Target="https://learn.microsoft.com/microsoft-365/compliance/customer-lockbox-requests?view=o365-worldwide" TargetMode="External"/><Relationship Id="rId10" Type="http://schemas.openxmlformats.org/officeDocument/2006/relationships/hyperlink" Target="https://learn.microsoft.com/graph/connecting-external-content-connectors-overview" TargetMode="External"/><Relationship Id="rId19" Type="http://schemas.openxmlformats.org/officeDocument/2006/relationships/hyperlink" Target="https://learn.microsoft.com/microsoft-365-copilot/microsoft-365-copilot-privacy" TargetMode="External"/><Relationship Id="rId4" Type="http://schemas.openxmlformats.org/officeDocument/2006/relationships/hyperlink" Target="https://www.microsoft.com/en-us/microsoft-365/blog/2023/03/16/introducing-microsoft-365-copilot-a-whole-new-way-to-work/" TargetMode="External"/><Relationship Id="rId9" Type="http://schemas.openxmlformats.org/officeDocument/2006/relationships/hyperlink" Target="https://learn.microsoft.com/graph/overview" TargetMode="External"/><Relationship Id="rId14" Type="http://schemas.openxmlformats.org/officeDocument/2006/relationships/hyperlink" Target="https://github.blog/2023-03-22-github-copilot-x-the-ai-powered-developer-experience/" TargetMode="External"/><Relationship Id="rId22" Type="http://schemas.openxmlformats.org/officeDocument/2006/relationships/hyperlink" Target="https://learn.microsoft.com/SharePoint/sites/user-permissions-and-permission-levels" TargetMode="External"/></Relationships>
</file>

<file path=ppt/slides/_rels/slide84.xml.rels><?xml version="1.0" encoding="UTF-8" standalone="yes"?>
<Relationships xmlns="http://schemas.openxmlformats.org/package/2006/relationships"><Relationship Id="rId8" Type="http://schemas.openxmlformats.org/officeDocument/2006/relationships/hyperlink" Target="https://servicetrust.microsoft.com/" TargetMode="External"/><Relationship Id="rId13" Type="http://schemas.openxmlformats.org/officeDocument/2006/relationships/hyperlink" Target="https://learn.microsoft.com/microsoft-365/admin/manage/manage-feedback-ms-org?view=o365-worldwide" TargetMode="External"/><Relationship Id="rId18" Type="http://schemas.openxmlformats.org/officeDocument/2006/relationships/hyperlink" Target="https://www.microsoft.com/licensing/terms/product/UniversalLicenseTerms" TargetMode="External"/><Relationship Id="rId3" Type="http://schemas.openxmlformats.org/officeDocument/2006/relationships/hyperlink" Target="https://www.microsoft.com/trust-center/privacy/european-data-boundary-eudb?rtc=1" TargetMode="External"/><Relationship Id="rId21" Type="http://schemas.openxmlformats.org/officeDocument/2006/relationships/hyperlink" Target="https://www.microsoft.com/ai/our-approach?activetab=pivot1:primaryr5" TargetMode="External"/><Relationship Id="rId7" Type="http://schemas.openxmlformats.org/officeDocument/2006/relationships/hyperlink" Target="https://learn.microsoft.com/en-us/azure/information-protection/configure-usage-rights" TargetMode="External"/><Relationship Id="rId12" Type="http://schemas.openxmlformats.org/officeDocument/2006/relationships/hyperlink" Target="https://learn.microsoft.com/microsoft-365/admin/misc/feedback-user-control?view=o365-worldwide" TargetMode="External"/><Relationship Id="rId17" Type="http://schemas.openxmlformats.org/officeDocument/2006/relationships/hyperlink" Target="https://learn.microsoft.com/azure/information-protection/configure-usage-rights" TargetMode="External"/><Relationship Id="rId2" Type="http://schemas.openxmlformats.org/officeDocument/2006/relationships/notesSlide" Target="../notesSlides/notesSlide84.xml"/><Relationship Id="rId16" Type="http://schemas.openxmlformats.org/officeDocument/2006/relationships/hyperlink" Target="https://techcommunity.microsoft.com/t5/microsoft-365-blog/new-era-in-content-management-and-security-in-sharepoint/ba-p/3806083" TargetMode="External"/><Relationship Id="rId20" Type="http://schemas.openxmlformats.org/officeDocument/2006/relationships/hyperlink" Target="https://learn.microsoft.com/microsoft-365/enterprise/microsoft-365-isolation-in-microsoft-365?view=o365-worldwide" TargetMode="External"/><Relationship Id="rId1" Type="http://schemas.openxmlformats.org/officeDocument/2006/relationships/slideLayout" Target="../slideLayouts/slideLayout17.xml"/><Relationship Id="rId6" Type="http://schemas.openxmlformats.org/officeDocument/2006/relationships/hyperlink" Target="https://learn.microsoft.com/compliance/" TargetMode="External"/><Relationship Id="rId11" Type="http://schemas.openxmlformats.org/officeDocument/2006/relationships/hyperlink" Target="https://learn.microsoft.com/legal/gdpr" TargetMode="External"/><Relationship Id="rId24" Type="http://schemas.openxmlformats.org/officeDocument/2006/relationships/hyperlink" Target="https://aka.ms/May25WhitePaper" TargetMode="External"/><Relationship Id="rId5" Type="http://schemas.openxmlformats.org/officeDocument/2006/relationships/hyperlink" Target="https://learn.microsoft.com/privacy/eudb/eu-data-boundary-learn" TargetMode="External"/><Relationship Id="rId15" Type="http://schemas.openxmlformats.org/officeDocument/2006/relationships/hyperlink" Target="https://www.microsoft.com/licensing/terms/productoffering/Microsoft365/" TargetMode="External"/><Relationship Id="rId23" Type="http://schemas.openxmlformats.org/officeDocument/2006/relationships/hyperlink" Target="https://query.prod.cms.rt.microsoft.com/cms/api/am/binary/RE5cmFl" TargetMode="External"/><Relationship Id="rId10" Type="http://schemas.openxmlformats.org/officeDocument/2006/relationships/hyperlink" Target="https://learn.microsoft.com/compliance/regulatory/gdpr" TargetMode="External"/><Relationship Id="rId19" Type="http://schemas.openxmlformats.org/officeDocument/2006/relationships/hyperlink" Target="https://wwlpdocumentsearch.blob.core.windows.net/prodv2/MicrosoftProductandServicesDPA(WW)(English)(Jan2023)(CR).docx?sv=2020-08-04&amp;se=2123-06-13T19:19:30Z&amp;sr=b&amp;sp=r&amp;sig=l%2BpTA%2F6%2By%2BE18HdQPgpuecCESiG8hKFfGmuc8%2FiOpuY%3D" TargetMode="External"/><Relationship Id="rId4" Type="http://schemas.openxmlformats.org/officeDocument/2006/relationships/hyperlink" Target="https://blogs.microsoft.com/eupolicy/2022/12/15/eu-data-boundary-cloud-rollout/?culture=en-us&amp;country=us" TargetMode="External"/><Relationship Id="rId9" Type="http://schemas.openxmlformats.org/officeDocument/2006/relationships/hyperlink" Target="https://learn.microsoft.com/compliance/regulatory/offering-home" TargetMode="External"/><Relationship Id="rId14" Type="http://schemas.openxmlformats.org/officeDocument/2006/relationships/hyperlink" Target="https://learn.microsoft.com/microsoftsearch/overview-microsoft-search" TargetMode="External"/><Relationship Id="rId22" Type="http://schemas.openxmlformats.org/officeDocument/2006/relationships/hyperlink" Target="https://learn.microsoft.com/azure/cloud-adoption-framework/innovate/best-practices/trusted-ai"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3.xml"/><Relationship Id="rId5" Type="http://schemas.openxmlformats.org/officeDocument/2006/relationships/image" Target="../media/image124.png"/><Relationship Id="rId4" Type="http://schemas.openxmlformats.org/officeDocument/2006/relationships/hyperlink" Target="https://cloudpartners.transform.microsoft.com/partner-gtm/csp"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aka.ms/SMBManagedServices" TargetMode="External"/><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8" Type="http://schemas.openxmlformats.org/officeDocument/2006/relationships/image" Target="../media/image126.svg"/><Relationship Id="rId13" Type="http://schemas.openxmlformats.org/officeDocument/2006/relationships/image" Target="../media/image131.png"/><Relationship Id="rId3" Type="http://schemas.openxmlformats.org/officeDocument/2006/relationships/hyperlink" Target="https://www.microsoft.com/en-us/microsoft-365/business/microsoft-365-business-premium?activetab=pivot:overviewtab" TargetMode="External"/><Relationship Id="rId7" Type="http://schemas.openxmlformats.org/officeDocument/2006/relationships/image" Target="../media/image125.png"/><Relationship Id="rId12" Type="http://schemas.openxmlformats.org/officeDocument/2006/relationships/image" Target="../media/image130.svg"/><Relationship Id="rId2" Type="http://schemas.openxmlformats.org/officeDocument/2006/relationships/notesSlide" Target="../notesSlides/notesSlide87.xml"/><Relationship Id="rId1" Type="http://schemas.openxmlformats.org/officeDocument/2006/relationships/slideLayout" Target="../slideLayouts/slideLayout46.xml"/><Relationship Id="rId6" Type="http://schemas.openxmlformats.org/officeDocument/2006/relationships/hyperlink" Target="https://www.microsoft.com/en-us/microsoft-365/business/copilot-for-microsoft-365" TargetMode="External"/><Relationship Id="rId11" Type="http://schemas.openxmlformats.org/officeDocument/2006/relationships/image" Target="../media/image129.png"/><Relationship Id="rId5" Type="http://schemas.openxmlformats.org/officeDocument/2006/relationships/hyperlink" Target="https://aka.ms/M365BPvideo" TargetMode="External"/><Relationship Id="rId10" Type="http://schemas.openxmlformats.org/officeDocument/2006/relationships/image" Target="../media/image128.svg"/><Relationship Id="rId4" Type="http://schemas.openxmlformats.org/officeDocument/2006/relationships/hyperlink" Target="https://customers.microsoft.com/en-us/story/1616787919369573214-hollen-automotive-m365-business-premium" TargetMode="External"/><Relationship Id="rId9" Type="http://schemas.openxmlformats.org/officeDocument/2006/relationships/image" Target="../media/image127.png"/><Relationship Id="rId14" Type="http://schemas.openxmlformats.org/officeDocument/2006/relationships/image" Target="../media/image132.svg"/></Relationships>
</file>

<file path=ppt/slides/_rels/slide88.xml.rels><?xml version="1.0" encoding="UTF-8" standalone="yes"?>
<Relationships xmlns="http://schemas.openxmlformats.org/package/2006/relationships"><Relationship Id="rId8" Type="http://schemas.openxmlformats.org/officeDocument/2006/relationships/hyperlink" Target="https://aka.ms/m365lighthousefaq" TargetMode="External"/><Relationship Id="rId13" Type="http://schemas.openxmlformats.org/officeDocument/2006/relationships/hyperlink" Target="https://aka.ms/M365LighthouseFeedback" TargetMode="External"/><Relationship Id="rId3" Type="http://schemas.openxmlformats.org/officeDocument/2006/relationships/image" Target="../media/image133.png"/><Relationship Id="rId7" Type="http://schemas.openxmlformats.org/officeDocument/2006/relationships/hyperlink" Target="https://aka.ms/M365Lighthouse" TargetMode="External"/><Relationship Id="rId12" Type="http://schemas.openxmlformats.org/officeDocument/2006/relationships/hyperlink" Target="https://aka.ms/M365LighthouseDocs" TargetMode="External"/><Relationship Id="rId2" Type="http://schemas.openxmlformats.org/officeDocument/2006/relationships/notesSlide" Target="../notesSlides/notesSlide88.xml"/><Relationship Id="rId1" Type="http://schemas.openxmlformats.org/officeDocument/2006/relationships/slideLayout" Target="../slideLayouts/slideLayout47.xml"/><Relationship Id="rId6" Type="http://schemas.openxmlformats.org/officeDocument/2006/relationships/hyperlink" Target="https://aka.ms/M365Lighthouseonboard" TargetMode="External"/><Relationship Id="rId11" Type="http://schemas.openxmlformats.org/officeDocument/2006/relationships/hyperlink" Target="https://aka.ms/Microsoft365LighthouseBlog" TargetMode="External"/><Relationship Id="rId5" Type="http://schemas.openxmlformats.org/officeDocument/2006/relationships/hyperlink" Target="https://nam06.safelinks.protection.outlook.com/?url=https%3A%2F%2Fwww.figma.com%2Fproto%2FHxqOlkT9dG8inCYdk7Z8Bv%2FLH-%252B-O---Designs-for-GA%3Fpage-id%3D858%253A236929%26type%3Ddesign%26node-id%3D1487-320489%26viewport%3D-228%252C-166%252C0.04%26t%3D5e0re5We55nh2LVD-1%26scaling%3Dcontain%26starting-point-node-id%3D1487%253A320489%26mode%3Ddesign&amp;data=05%7C02%7Cv-vemoody%40microsoft.com%7Cda78901a1ae24d72f9d008dc36878513%7C72f988bf86f141af91ab2d7cd011db47%7C1%7C0%7C638445202965337589%7CUnknown%7CTWFpbGZsb3d8eyJWIjoiMC4wLjAwMDAiLCJQIjoiV2luMzIiLCJBTiI6Ik1haWwiLCJXVCI6Mn0%3D%7C0%7C%7C%7C&amp;sdata=SxSkm5a0KO8yO9zxJFxjJ4iG3tsricn%2BacGZPtAEfGY%3D&amp;reserved=0" TargetMode="External"/><Relationship Id="rId10" Type="http://schemas.openxmlformats.org/officeDocument/2006/relationships/hyperlink" Target="https://aka.ms/M365LHDatasheet" TargetMode="External"/><Relationship Id="rId4" Type="http://schemas.openxmlformats.org/officeDocument/2006/relationships/hyperlink" Target="https://mslearn.cloudguides.com/en-us/guides/Secure%20and%20manage%20customer%20devices,%20data,%20and%20users%20with%20Microsoft%20365%20Lighthouse" TargetMode="External"/><Relationship Id="rId9" Type="http://schemas.openxmlformats.org/officeDocument/2006/relationships/hyperlink" Target="https://cloudpartners.transform.microsoft.com/download?assetname=assets%2FSales-Advisor-Walkthrough.mp4"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89.xml"/><Relationship Id="rId1" Type="http://schemas.openxmlformats.org/officeDocument/2006/relationships/slideLayout" Target="../slideLayouts/slideLayout17.xml"/><Relationship Id="rId4" Type="http://schemas.openxmlformats.org/officeDocument/2006/relationships/hyperlink" Target="https://aka.ms/WhatsNewCopilot" TargetMode="Externa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4375-92B4-6760-E448-30C988D75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200BF-C519-5113-27F5-E1E3CB83C50B}"/>
              </a:ext>
            </a:extLst>
          </p:cNvPr>
          <p:cNvSpPr>
            <a:spLocks noGrp="1"/>
          </p:cNvSpPr>
          <p:nvPr>
            <p:ph type="title"/>
          </p:nvPr>
        </p:nvSpPr>
        <p:spPr>
          <a:xfrm>
            <a:off x="585216" y="2681103"/>
            <a:ext cx="5038344" cy="1495794"/>
          </a:xfrm>
        </p:spPr>
        <p:txBody>
          <a:bodyPr/>
          <a:lstStyle/>
          <a:p>
            <a:r>
              <a:rPr lang="en-US"/>
              <a:t>Secure Data II:</a:t>
            </a:r>
            <a:br>
              <a:rPr lang="en-US"/>
            </a:br>
            <a:r>
              <a:rPr lang="en-US"/>
              <a:t>Data Protection &amp; Governance</a:t>
            </a:r>
          </a:p>
        </p:txBody>
      </p:sp>
    </p:spTree>
    <p:extLst>
      <p:ext uri="{BB962C8B-B14F-4D97-AF65-F5344CB8AC3E}">
        <p14:creationId xmlns:p14="http://schemas.microsoft.com/office/powerpoint/2010/main" val="313348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C18C9-8275-B62B-CD71-F8F28F45C0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50A7A6-B846-620E-659A-E6CE99644F1E}"/>
              </a:ext>
              <a:ext uri="{C183D7F6-B498-43B3-948B-1728B52AA6E4}">
                <adec:decorative xmlns:adec="http://schemas.microsoft.com/office/drawing/2017/decorative" val="1"/>
              </a:ext>
            </a:extLst>
          </p:cNvPr>
          <p:cNvSpPr/>
          <p:nvPr/>
        </p:nvSpPr>
        <p:spPr bwMode="auto">
          <a:xfrm>
            <a:off x="0" y="6387864"/>
            <a:ext cx="12192000" cy="470136"/>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1" name="Title 25">
            <a:extLst>
              <a:ext uri="{FF2B5EF4-FFF2-40B4-BE49-F238E27FC236}">
                <a16:creationId xmlns:a16="http://schemas.microsoft.com/office/drawing/2014/main" id="{FCEEAC8A-D8D3-A59F-CD62-1AAB84099685}"/>
              </a:ext>
            </a:extLst>
          </p:cNvPr>
          <p:cNvSpPr txBox="1">
            <a:spLocks noGrp="1"/>
          </p:cNvSpPr>
          <p:nvPr>
            <p:ph type="title"/>
          </p:nvPr>
        </p:nvSpPr>
        <p:spPr>
          <a:xfrm>
            <a:off x="574816" y="510988"/>
            <a:ext cx="11018520" cy="70788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Securing Against </a:t>
            </a:r>
            <a:r>
              <a:rPr lang="en-US" sz="2800" dirty="0">
                <a:solidFill>
                  <a:srgbClr val="000000"/>
                </a:solidFill>
                <a:latin typeface="Segoe UI Semibold"/>
              </a:rPr>
              <a:t>Ex</a:t>
            </a:r>
            <a:r>
              <a:rPr kumimoji="0" lang="en-US"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ternal Threats</a:t>
            </a:r>
            <a:br>
              <a:rPr kumimoji="0" lang="en-US"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br>
            <a:r>
              <a:rPr kumimoji="0" lang="en-US" sz="1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Reducing Risk Within Your Organization    </a:t>
            </a:r>
          </a:p>
        </p:txBody>
      </p:sp>
      <p:grpSp>
        <p:nvGrpSpPr>
          <p:cNvPr id="11" name="Group 10">
            <a:extLst>
              <a:ext uri="{FF2B5EF4-FFF2-40B4-BE49-F238E27FC236}">
                <a16:creationId xmlns:a16="http://schemas.microsoft.com/office/drawing/2014/main" id="{EBB1E115-9211-2997-F2B4-DD52F86455F5}"/>
              </a:ext>
              <a:ext uri="{C183D7F6-B498-43B3-948B-1728B52AA6E4}">
                <adec:decorative xmlns:adec="http://schemas.microsoft.com/office/drawing/2017/decorative" val="1"/>
              </a:ext>
            </a:extLst>
          </p:cNvPr>
          <p:cNvGrpSpPr/>
          <p:nvPr/>
        </p:nvGrpSpPr>
        <p:grpSpPr>
          <a:xfrm>
            <a:off x="0" y="1684421"/>
            <a:ext cx="12192000" cy="2719138"/>
            <a:chOff x="0" y="1684421"/>
            <a:chExt cx="12192000" cy="2719138"/>
          </a:xfrm>
        </p:grpSpPr>
        <p:sp>
          <p:nvSpPr>
            <p:cNvPr id="18" name="Rectangle 17">
              <a:extLst>
                <a:ext uri="{FF2B5EF4-FFF2-40B4-BE49-F238E27FC236}">
                  <a16:creationId xmlns:a16="http://schemas.microsoft.com/office/drawing/2014/main" id="{CCADE4EF-D2EC-0C03-65E9-A37E7C18A9D7}"/>
                </a:ext>
              </a:extLst>
            </p:cNvPr>
            <p:cNvSpPr/>
            <p:nvPr/>
          </p:nvSpPr>
          <p:spPr bwMode="auto">
            <a:xfrm>
              <a:off x="0" y="1684421"/>
              <a:ext cx="12192000" cy="2719138"/>
            </a:xfrm>
            <a:prstGeom prst="rect">
              <a:avLst/>
            </a:prstGeom>
            <a:solidFill>
              <a:srgbClr val="F2F2F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8661C5"/>
                </a:solidFill>
                <a:effectLst/>
                <a:uLnTx/>
                <a:uFillTx/>
                <a:latin typeface="Calibri" panose="020F0502020204030204"/>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8DBDC2A9-F5A8-9C10-BF66-ED0DEB18C1CE}"/>
                </a:ext>
              </a:extLst>
            </p:cNvPr>
            <p:cNvCxnSpPr/>
            <p:nvPr/>
          </p:nvCxnSpPr>
          <p:spPr>
            <a:xfrm>
              <a:off x="0" y="3417293"/>
              <a:ext cx="11092852"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584748BC-9A7B-E3AB-0963-146812AC7B8F}"/>
                </a:ext>
              </a:extLst>
            </p:cNvPr>
            <p:cNvSpPr/>
            <p:nvPr/>
          </p:nvSpPr>
          <p:spPr>
            <a:xfrm rot="5400000">
              <a:off x="10996181" y="3301781"/>
              <a:ext cx="423079" cy="229738"/>
            </a:xfrm>
            <a:prstGeom prs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 name="Oval 21">
            <a:extLst>
              <a:ext uri="{FF2B5EF4-FFF2-40B4-BE49-F238E27FC236}">
                <a16:creationId xmlns:a16="http://schemas.microsoft.com/office/drawing/2014/main" id="{BE71E45B-EA08-F68F-C873-29C812A8F64A}"/>
              </a:ext>
              <a:ext uri="{C183D7F6-B498-43B3-948B-1728B52AA6E4}">
                <adec:decorative xmlns:adec="http://schemas.microsoft.com/office/drawing/2017/decorative" val="1"/>
              </a:ext>
            </a:extLst>
          </p:cNvPr>
          <p:cNvSpPr/>
          <p:nvPr/>
        </p:nvSpPr>
        <p:spPr>
          <a:xfrm>
            <a:off x="2433244" y="3234091"/>
            <a:ext cx="365760" cy="365760"/>
          </a:xfrm>
          <a:prstGeom prst="ellipse">
            <a:avLst/>
          </a:prstGeom>
          <a:solidFill>
            <a:schemeClr val="bg2"/>
          </a:solidFill>
          <a:ln w="28575">
            <a:solidFill>
              <a:schemeClr val="bg1"/>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b="1">
              <a:solidFill>
                <a:srgbClr val="FFFFFF"/>
              </a:solidFill>
              <a:latin typeface="Segoe UI"/>
              <a:cs typeface="Segoe UI" pitchFamily="34" charset="0"/>
            </a:endParaRPr>
          </a:p>
        </p:txBody>
      </p:sp>
      <p:sp>
        <p:nvSpPr>
          <p:cNvPr id="4" name="Rectangle 3">
            <a:extLst>
              <a:ext uri="{FF2B5EF4-FFF2-40B4-BE49-F238E27FC236}">
                <a16:creationId xmlns:a16="http://schemas.microsoft.com/office/drawing/2014/main" id="{7118BD5B-F96C-E006-4AE6-7DED29BCFDF7}"/>
              </a:ext>
              <a:ext uri="{C183D7F6-B498-43B3-948B-1728B52AA6E4}">
                <adec:decorative xmlns:adec="http://schemas.microsoft.com/office/drawing/2017/decorative" val="1"/>
              </a:ext>
            </a:extLst>
          </p:cNvPr>
          <p:cNvSpPr/>
          <p:nvPr/>
        </p:nvSpPr>
        <p:spPr>
          <a:xfrm>
            <a:off x="4614002" y="2548548"/>
            <a:ext cx="2940147" cy="609847"/>
          </a:xfrm>
          <a:prstGeom prst="rect">
            <a:avLst/>
          </a:prstGeom>
        </p:spPr>
        <p:txBody>
          <a:bodyPr wrap="square" anchor="b">
            <a:spAutoFit/>
          </a:bodyPr>
          <a:lstStyle/>
          <a:p>
            <a:pPr marL="0" marR="0" lvl="0" indent="0" algn="ctr" defTabSz="932418" rtl="0" eaLnBrk="1" fontAlgn="auto" latinLnBrk="0" hangingPunct="1">
              <a:lnSpc>
                <a:spcPct val="110000"/>
              </a:lnSpc>
              <a:spcBef>
                <a:spcPts val="0"/>
              </a:spcBef>
              <a:spcAft>
                <a:spcPts val="0"/>
              </a:spcAft>
              <a:buClrTx/>
              <a:buSzTx/>
              <a:buFontTx/>
              <a:buNone/>
              <a:tabLst/>
              <a:defRPr/>
            </a:pPr>
            <a:r>
              <a:rPr kumimoji="0" lang="en-US" sz="1600" b="1" i="0" strike="noStrike" kern="1200" cap="none" spc="0" normalizeH="0" baseline="0" noProof="0">
                <a:ln>
                  <a:noFill/>
                </a:ln>
                <a:solidFill>
                  <a:schemeClr val="bg2">
                    <a:lumMod val="90000"/>
                  </a:schemeClr>
                </a:solidFill>
                <a:effectLst/>
                <a:highlight>
                  <a:srgbClr val="F2F2F2"/>
                </a:highlight>
                <a:uLnTx/>
                <a:uFillTx/>
                <a:latin typeface="Segoe UI Semibold" panose="020B0702040204020203" pitchFamily="34" charset="0"/>
                <a:cs typeface="Segoe UI Semibold" panose="020B0702040204020203" pitchFamily="34" charset="0"/>
              </a:rPr>
              <a:t>Protect Devices: </a:t>
            </a:r>
            <a:br>
              <a:rPr kumimoji="0" lang="en-US" sz="1600" b="0" i="0" u="none" strike="noStrike" kern="1200" cap="none" spc="0" normalizeH="0" baseline="0" noProof="0">
                <a:ln>
                  <a:noFill/>
                </a:ln>
                <a:solidFill>
                  <a:schemeClr val="bg2">
                    <a:lumMod val="90000"/>
                  </a:schemeClr>
                </a:solidFill>
                <a:effectLst/>
                <a:highlight>
                  <a:srgbClr val="F2F2F2"/>
                </a:highlight>
                <a:uLnTx/>
                <a:uFillTx/>
                <a:latin typeface="Segoe UI Semibold" panose="020B0702040204020203" pitchFamily="34" charset="0"/>
                <a:ea typeface="+mn-ea"/>
                <a:cs typeface="Segoe UI Semibold" panose="020B0702040204020203" pitchFamily="34" charset="0"/>
              </a:rPr>
            </a:br>
            <a:r>
              <a:rPr kumimoji="0" lang="en-US" sz="1600" b="0" i="0" u="none" strike="noStrike" kern="1200" cap="none" spc="0" normalizeH="0" baseline="0" noProof="0">
                <a:ln>
                  <a:noFill/>
                </a:ln>
                <a:solidFill>
                  <a:schemeClr val="bg2">
                    <a:lumMod val="90000"/>
                  </a:schemeClr>
                </a:solidFill>
                <a:effectLst/>
                <a:highlight>
                  <a:srgbClr val="F2F2F2"/>
                </a:highlight>
                <a:uLnTx/>
                <a:uFillTx/>
                <a:latin typeface="Segoe Sans Display" pitchFamily="2" charset="0"/>
                <a:cs typeface="Segoe Sans Display" pitchFamily="2" charset="0"/>
              </a:rPr>
              <a:t>Endpoint Security Strategies</a:t>
            </a:r>
          </a:p>
        </p:txBody>
      </p:sp>
      <p:sp>
        <p:nvSpPr>
          <p:cNvPr id="23" name="Oval 22">
            <a:extLst>
              <a:ext uri="{FF2B5EF4-FFF2-40B4-BE49-F238E27FC236}">
                <a16:creationId xmlns:a16="http://schemas.microsoft.com/office/drawing/2014/main" id="{917801D8-169C-DECD-8633-260A48062F14}"/>
              </a:ext>
              <a:ext uri="{C183D7F6-B498-43B3-948B-1728B52AA6E4}">
                <adec:decorative xmlns:adec="http://schemas.microsoft.com/office/drawing/2017/decorative" val="1"/>
              </a:ext>
            </a:extLst>
          </p:cNvPr>
          <p:cNvSpPr/>
          <p:nvPr/>
        </p:nvSpPr>
        <p:spPr>
          <a:xfrm>
            <a:off x="5913120" y="3234091"/>
            <a:ext cx="365760" cy="365760"/>
          </a:xfrm>
          <a:prstGeom prst="ellipse">
            <a:avLst/>
          </a:prstGeom>
          <a:solidFill>
            <a:schemeClr val="bg2"/>
          </a:solidFill>
          <a:ln w="28575">
            <a:solidFill>
              <a:schemeClr val="bg1"/>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b="1">
              <a:solidFill>
                <a:srgbClr val="FFFFFF"/>
              </a:solidFill>
              <a:latin typeface="Segoe UI"/>
              <a:cs typeface="Segoe UI" pitchFamily="34" charset="0"/>
            </a:endParaRPr>
          </a:p>
        </p:txBody>
      </p:sp>
      <p:sp>
        <p:nvSpPr>
          <p:cNvPr id="5" name="Rectangle 4">
            <a:extLst>
              <a:ext uri="{FF2B5EF4-FFF2-40B4-BE49-F238E27FC236}">
                <a16:creationId xmlns:a16="http://schemas.microsoft.com/office/drawing/2014/main" id="{64C83CA4-CFE6-2BA3-BC51-3316355578E9}"/>
              </a:ext>
              <a:ext uri="{C183D7F6-B498-43B3-948B-1728B52AA6E4}">
                <adec:decorative xmlns:adec="http://schemas.microsoft.com/office/drawing/2017/decorative" val="1"/>
              </a:ext>
            </a:extLst>
          </p:cNvPr>
          <p:cNvSpPr/>
          <p:nvPr/>
        </p:nvSpPr>
        <p:spPr>
          <a:xfrm>
            <a:off x="1229956" y="2548548"/>
            <a:ext cx="2772335" cy="609847"/>
          </a:xfrm>
          <a:prstGeom prst="rect">
            <a:avLst/>
          </a:prstGeom>
        </p:spPr>
        <p:txBody>
          <a:bodyPr wrap="square" anchor="b">
            <a:spAutoFit/>
          </a:bodyPr>
          <a:lstStyle/>
          <a:p>
            <a:pPr marL="0" marR="0" lvl="0" indent="0" algn="ctr" defTabSz="932418" rtl="0" eaLnBrk="1" fontAlgn="auto" latinLnBrk="0" hangingPunct="1">
              <a:lnSpc>
                <a:spcPct val="11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2">
                    <a:lumMod val="90000"/>
                  </a:schemeClr>
                </a:solidFill>
                <a:effectLst/>
                <a:uLnTx/>
                <a:uFillTx/>
                <a:latin typeface="Segoe UI Semibold" panose="020B0702040204020203" pitchFamily="34" charset="0"/>
                <a:cs typeface="Segoe UI Semibold" panose="020B0702040204020203" pitchFamily="34" charset="0"/>
              </a:rPr>
              <a:t>Defend Users: </a:t>
            </a:r>
            <a:br>
              <a:rPr kumimoji="0" lang="en-US" sz="1600" b="0" i="0" u="none" strike="noStrike" kern="1200" cap="none" spc="0" normalizeH="0" baseline="0" noProof="0">
                <a:ln>
                  <a:noFill/>
                </a:ln>
                <a:solidFill>
                  <a:schemeClr val="bg2">
                    <a:lumMod val="90000"/>
                  </a:schemeClr>
                </a:solidFill>
                <a:effectLst/>
                <a:uLnTx/>
                <a:uFillTx/>
                <a:latin typeface="Segoe UI Semibold" panose="020B0702040204020203" pitchFamily="34" charset="0"/>
                <a:ea typeface="+mn-ea"/>
                <a:cs typeface="Segoe UI Semibold" panose="020B0702040204020203" pitchFamily="34" charset="0"/>
              </a:rPr>
            </a:br>
            <a:r>
              <a:rPr kumimoji="0" lang="en-US" sz="1600" b="0" i="0" u="none" strike="noStrike" kern="1200" cap="none" spc="0" normalizeH="0" baseline="0" noProof="0">
                <a:ln>
                  <a:noFill/>
                </a:ln>
                <a:solidFill>
                  <a:schemeClr val="bg2">
                    <a:lumMod val="90000"/>
                  </a:schemeClr>
                </a:solidFill>
                <a:effectLst/>
                <a:uLnTx/>
                <a:uFillTx/>
                <a:latin typeface="Segoe Sans Display" pitchFamily="2" charset="0"/>
                <a:cs typeface="Segoe Sans Display" pitchFamily="2" charset="0"/>
              </a:rPr>
              <a:t>Phishing &amp; Threat Protection</a:t>
            </a:r>
          </a:p>
        </p:txBody>
      </p:sp>
      <p:sp>
        <p:nvSpPr>
          <p:cNvPr id="24" name="Oval 23">
            <a:extLst>
              <a:ext uri="{FF2B5EF4-FFF2-40B4-BE49-F238E27FC236}">
                <a16:creationId xmlns:a16="http://schemas.microsoft.com/office/drawing/2014/main" id="{75FBF299-7D24-A17B-5A49-295B12714F4D}"/>
              </a:ext>
              <a:ext uri="{C183D7F6-B498-43B3-948B-1728B52AA6E4}">
                <adec:decorative xmlns:adec="http://schemas.microsoft.com/office/drawing/2017/decorative" val="1"/>
              </a:ext>
            </a:extLst>
          </p:cNvPr>
          <p:cNvSpPr/>
          <p:nvPr/>
        </p:nvSpPr>
        <p:spPr>
          <a:xfrm>
            <a:off x="9392996" y="3234091"/>
            <a:ext cx="365760" cy="365760"/>
          </a:xfrm>
          <a:prstGeom prst="ellipse">
            <a:avLst/>
          </a:prstGeom>
          <a:gradFill>
            <a:gsLst>
              <a:gs pos="0">
                <a:schemeClr val="tx2"/>
              </a:gs>
              <a:gs pos="100000">
                <a:srgbClr val="9900FF"/>
              </a:gs>
            </a:gsLst>
            <a:lin ang="2700000" scaled="1"/>
          </a:gradFill>
          <a:ln w="28575">
            <a:solidFill>
              <a:schemeClr val="bg1"/>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b="1">
              <a:solidFill>
                <a:srgbClr val="FFFFFF"/>
              </a:solidFill>
              <a:latin typeface="Segoe UI"/>
              <a:cs typeface="Segoe UI" pitchFamily="34" charset="0"/>
            </a:endParaRPr>
          </a:p>
        </p:txBody>
      </p:sp>
      <p:sp>
        <p:nvSpPr>
          <p:cNvPr id="6" name="Rectangle 5">
            <a:extLst>
              <a:ext uri="{FF2B5EF4-FFF2-40B4-BE49-F238E27FC236}">
                <a16:creationId xmlns:a16="http://schemas.microsoft.com/office/drawing/2014/main" id="{B0D5AAD8-4A82-7156-71A7-C51B4D94F339}"/>
              </a:ext>
            </a:extLst>
          </p:cNvPr>
          <p:cNvSpPr/>
          <p:nvPr/>
        </p:nvSpPr>
        <p:spPr>
          <a:xfrm>
            <a:off x="8029014" y="2548549"/>
            <a:ext cx="3093725" cy="609847"/>
          </a:xfrm>
          <a:prstGeom prst="rect">
            <a:avLst/>
          </a:prstGeom>
        </p:spPr>
        <p:txBody>
          <a:bodyPr wrap="square" anchor="b">
            <a:spAutoFit/>
          </a:bodyPr>
          <a:lstStyle/>
          <a:p>
            <a:pPr marL="0" marR="0" lvl="0" indent="0" algn="ctr" defTabSz="932418"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900FF"/>
                </a:solidFill>
                <a:effectLst/>
                <a:uLnTx/>
                <a:uFillTx/>
                <a:latin typeface="Segoe UI Semibold" panose="020B0702040204020203" pitchFamily="34" charset="0"/>
                <a:cs typeface="Segoe UI Semibold" panose="020B0702040204020203" pitchFamily="34" charset="0"/>
              </a:rPr>
              <a:t>Secure Data II: </a:t>
            </a:r>
            <a:br>
              <a:rPr kumimoji="0" lang="en-US" sz="16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br>
            <a:r>
              <a:rPr kumimoji="0" lang="en-US" sz="1600" b="0" i="0" u="none" strike="noStrike" kern="1200" cap="none" spc="0" normalizeH="0" baseline="0" noProof="0">
                <a:ln>
                  <a:noFill/>
                </a:ln>
                <a:solidFill>
                  <a:srgbClr val="505050"/>
                </a:solidFill>
                <a:effectLst/>
                <a:uLnTx/>
                <a:uFillTx/>
                <a:latin typeface="Segoe Sans Display" pitchFamily="2" charset="0"/>
                <a:cs typeface="Segoe Sans Display" pitchFamily="2" charset="0"/>
              </a:rPr>
              <a:t>Data Protection &amp; Governance</a:t>
            </a:r>
          </a:p>
        </p:txBody>
      </p:sp>
    </p:spTree>
    <p:extLst>
      <p:ext uri="{BB962C8B-B14F-4D97-AF65-F5344CB8AC3E}">
        <p14:creationId xmlns:p14="http://schemas.microsoft.com/office/powerpoint/2010/main" val="153320620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84E6B-49B8-EA2A-D9BB-939ADB3B41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8E80F6-A7F5-3FEF-EFBC-C67C5DB5BBD5}"/>
              </a:ext>
            </a:extLst>
          </p:cNvPr>
          <p:cNvSpPr>
            <a:spLocks noGrp="1"/>
          </p:cNvSpPr>
          <p:nvPr>
            <p:ph type="title"/>
          </p:nvPr>
        </p:nvSpPr>
        <p:spPr>
          <a:xfrm>
            <a:off x="585216" y="3035808"/>
            <a:ext cx="5038344" cy="498598"/>
          </a:xfr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en-BE"/>
              <a:t>Handling Oversharing</a:t>
            </a:r>
            <a:endParaRPr lang="en-US" noProof="0"/>
          </a:p>
        </p:txBody>
      </p:sp>
    </p:spTree>
    <p:extLst>
      <p:ext uri="{BB962C8B-B14F-4D97-AF65-F5344CB8AC3E}">
        <p14:creationId xmlns:p14="http://schemas.microsoft.com/office/powerpoint/2010/main" val="2321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437AEAE3-DB56-028E-EA70-265B7D06A4CA}"/>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0D3B85C3-9E98-F89B-1582-8D27179AFDB5}"/>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A1B07519-8A33-0CDB-092F-EACA308BEBEE}"/>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5A6A1BC2-2AE8-1CFC-9CC9-B01201DDA994}"/>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950A17A6-1456-761C-7B7B-4C447931BED0}"/>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4209DEDE-7960-67F3-800D-FD418BAFA3E9}"/>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94CE8684-38DC-2FA8-0619-6570F4C3B8DF}"/>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45D9F04E-219F-7B5C-63EA-7752023CAFF7}"/>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a:ln w="3175">
                  <a:noFill/>
                </a:ln>
                <a:solidFill>
                  <a:schemeClr val="bg1"/>
                </a:solidFill>
                <a:effectLst/>
                <a:uLnTx/>
                <a:uFillTx/>
                <a:latin typeface="+mj-lt"/>
                <a:ea typeface="+mn-ea"/>
                <a:cs typeface="Segoe UI" pitchFamily="34" charset="0"/>
              </a:rPr>
              <a:t>Agenda</a:t>
            </a:r>
            <a:endParaRPr kumimoji="0" lang="en-US" sz="3200" b="0" i="0" u="none" strike="noStrike" kern="1200" cap="none" spc="-50" normalizeH="0" baseline="0" noProof="0">
              <a:ln w="3175">
                <a:noFill/>
              </a:ln>
              <a:solidFill>
                <a:schemeClr val="bg1"/>
              </a:solidFill>
              <a:effectLst/>
              <a:uLnTx/>
              <a:uFillTx/>
              <a:latin typeface="+mj-lt"/>
              <a:ea typeface="+mn-ea"/>
              <a:cs typeface="Segoe UI" pitchFamily="34" charset="0"/>
            </a:endParaRPr>
          </a:p>
        </p:txBody>
      </p:sp>
      <p:sp>
        <p:nvSpPr>
          <p:cNvPr id="36" name="Freeform: Shape 35" descr="Icon of a person in front of a screen">
            <a:extLst>
              <a:ext uri="{FF2B5EF4-FFF2-40B4-BE49-F238E27FC236}">
                <a16:creationId xmlns:a16="http://schemas.microsoft.com/office/drawing/2014/main" id="{76862A3A-6FA4-4ECE-0194-6930D105413C}"/>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2FD0963F-1191-FDF4-3F52-53A706910F7A}"/>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476A22F8-2FF3-29E1-EECB-D5DF221A2679}"/>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21DF2A53-AFB0-856E-84AE-4ABA050D7223}"/>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1A7312A4-D0FC-CB56-98D9-19A142A5FAA0}"/>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E0645A81-17DF-BB53-7EC5-7924191EE6CD}"/>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6838EBCD-8BF8-5F46-EF02-AC22730B3734}"/>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A53DED28-2197-0D72-55CA-0903B9C9D383}"/>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6A7E983B-A770-B571-E2D4-CD8EF1BF9C3C}"/>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47B6B051-611C-1705-8577-1964A7F08572}"/>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59850936-FEE7-0B56-8D78-3F536609492A}"/>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B6BCC07F-8C35-FF6B-242A-7E47E043C92C}"/>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22013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63B6B-2FF1-82B2-7C51-053F129351FE}"/>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F7841487-FC9F-B75C-CF24-281D0C0A41D1}"/>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ACD169BA-7F06-D95E-1128-7FA237121A5B}"/>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B5665EC4-77F8-BEE9-08E8-90AFCA73D4FC}"/>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304B3440-616A-D287-5F6C-47FAADCCBC14}"/>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D44C3D8B-F427-1813-29B8-7A28D1DDDDA5}"/>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E23B948E-73EB-3779-278D-58A41E5BD80F}"/>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0E25EAD1-FB74-8E44-0D58-9C70CDEC37CF}"/>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1CAACE40-AE5F-AA05-7081-69E07ECFAB3F}"/>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Agenda</a:t>
            </a:r>
            <a:r>
              <a:rPr kumimoji="0" lang="en-US" sz="3200" b="0" i="0" u="none" strike="noStrike" kern="1200" cap="none" spc="-50" normalizeH="0" baseline="0" noProof="0" dirty="0">
                <a:ln w="3175">
                  <a:noFill/>
                </a:ln>
                <a:solidFill>
                  <a:schemeClr val="bg1"/>
                </a:solidFill>
                <a:effectLst/>
                <a:uLnTx/>
                <a:uFillTx/>
                <a:latin typeface="+mj-lt"/>
                <a:ea typeface="+mn-ea"/>
                <a:cs typeface="Segoe UI" pitchFamily="34" charset="0"/>
              </a:rPr>
              <a:t> </a:t>
            </a:r>
          </a:p>
        </p:txBody>
      </p:sp>
      <p:sp>
        <p:nvSpPr>
          <p:cNvPr id="36" name="Freeform: Shape 35" descr="Icon of a person in front of a screen">
            <a:extLst>
              <a:ext uri="{FF2B5EF4-FFF2-40B4-BE49-F238E27FC236}">
                <a16:creationId xmlns:a16="http://schemas.microsoft.com/office/drawing/2014/main" id="{1AB2C3D9-2BA6-7721-D0CE-A19221B3F7FA}"/>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999598A1-64E3-9EDA-82FD-93C62122C45F}"/>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7A98BC06-F155-4ED8-C9FA-1CCB95B5642E}"/>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91DBACEC-F851-484B-E9CA-DFA1273CF462}"/>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2FB31CD2-802B-0ADD-8166-0927BB5F0D0D}"/>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D0E87713-04D3-BF09-8C4C-828863349859}"/>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8D77DCF3-1D57-A9DD-97E4-BEB7ED61526C}"/>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9A035A1E-E361-262D-21F1-06688A6B673C}"/>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194B09C7-39C5-2315-92E8-11FE19A34B4A}"/>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B8855442-2207-A63C-9897-1B240AEC08A5}"/>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37731684-D2E1-9100-0080-0868A46148E6}"/>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20F42819-4928-ADE8-9344-5F63895B4E6B}"/>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pic>
        <p:nvPicPr>
          <p:cNvPr id="12" name="Picture 11">
            <a:extLst>
              <a:ext uri="{FF2B5EF4-FFF2-40B4-BE49-F238E27FC236}">
                <a16:creationId xmlns:a16="http://schemas.microsoft.com/office/drawing/2014/main" id="{FA892E6D-7B7C-DE22-3349-5DE43E5C42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1938996"/>
            <a:ext cx="6816901" cy="3827951"/>
          </a:xfrm>
          <a:prstGeom prst="rect">
            <a:avLst/>
          </a:prstGeom>
        </p:spPr>
      </p:pic>
    </p:spTree>
    <p:extLst>
      <p:ext uri="{BB962C8B-B14F-4D97-AF65-F5344CB8AC3E}">
        <p14:creationId xmlns:p14="http://schemas.microsoft.com/office/powerpoint/2010/main" val="213253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1588C3D-027F-9EAF-8C67-2EC39A35F106}"/>
              </a:ext>
              <a:ext uri="{C183D7F6-B498-43B3-948B-1728B52AA6E4}">
                <adec:decorative xmlns:adec="http://schemas.microsoft.com/office/drawing/2017/decorative" val="1"/>
              </a:ext>
            </a:extLst>
          </p:cNvPr>
          <p:cNvGrpSpPr/>
          <p:nvPr/>
        </p:nvGrpSpPr>
        <p:grpSpPr>
          <a:xfrm>
            <a:off x="502702" y="236873"/>
            <a:ext cx="11186595" cy="6076841"/>
            <a:chOff x="97064" y="0"/>
            <a:chExt cx="12196702" cy="6971652"/>
          </a:xfrm>
        </p:grpSpPr>
        <p:pic>
          <p:nvPicPr>
            <p:cNvPr id="5" name="Picture 4">
              <a:extLst>
                <a:ext uri="{FF2B5EF4-FFF2-40B4-BE49-F238E27FC236}">
                  <a16:creationId xmlns:a16="http://schemas.microsoft.com/office/drawing/2014/main" id="{9BF029BE-49DA-425A-745F-0FE592AA3F0F}"/>
                </a:ext>
              </a:extLst>
            </p:cNvPr>
            <p:cNvPicPr>
              <a:picLocks noChangeAspect="1"/>
            </p:cNvPicPr>
            <p:nvPr/>
          </p:nvPicPr>
          <p:blipFill>
            <a:blip r:embed="rId3"/>
            <a:stretch>
              <a:fillRect/>
            </a:stretch>
          </p:blipFill>
          <p:spPr>
            <a:xfrm>
              <a:off x="97064" y="0"/>
              <a:ext cx="12196702" cy="6971652"/>
            </a:xfrm>
            <a:prstGeom prst="rect">
              <a:avLst/>
            </a:prstGeom>
          </p:spPr>
        </p:pic>
        <p:sp>
          <p:nvSpPr>
            <p:cNvPr id="6" name="Rectangle 5">
              <a:extLst>
                <a:ext uri="{FF2B5EF4-FFF2-40B4-BE49-F238E27FC236}">
                  <a16:creationId xmlns:a16="http://schemas.microsoft.com/office/drawing/2014/main" id="{EF20A96D-AEDC-14E4-A361-F8EE7778676D}"/>
                </a:ext>
              </a:extLst>
            </p:cNvPr>
            <p:cNvSpPr/>
            <p:nvPr/>
          </p:nvSpPr>
          <p:spPr>
            <a:xfrm>
              <a:off x="9568444" y="2730230"/>
              <a:ext cx="2668536" cy="242543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AF0BC0CD-F021-C877-099E-7AD1D9A184A0}"/>
                </a:ext>
              </a:extLst>
            </p:cNvPr>
            <p:cNvPicPr>
              <a:picLocks noChangeAspect="1"/>
            </p:cNvPicPr>
            <p:nvPr/>
          </p:nvPicPr>
          <p:blipFill>
            <a:blip r:embed="rId4"/>
            <a:srcRect l="96811" t="9266" r="490" b="86009"/>
            <a:stretch/>
          </p:blipFill>
          <p:spPr>
            <a:xfrm>
              <a:off x="11958859" y="30169"/>
              <a:ext cx="330788" cy="330506"/>
            </a:xfrm>
            <a:prstGeom prst="rect">
              <a:avLst/>
            </a:prstGeom>
          </p:spPr>
        </p:pic>
      </p:grpSp>
      <p:sp>
        <p:nvSpPr>
          <p:cNvPr id="2" name="Title 1">
            <a:extLst>
              <a:ext uri="{FF2B5EF4-FFF2-40B4-BE49-F238E27FC236}">
                <a16:creationId xmlns:a16="http://schemas.microsoft.com/office/drawing/2014/main" id="{5058F919-1BAC-6118-E3BA-92571526E24A}"/>
              </a:ext>
            </a:extLst>
          </p:cNvPr>
          <p:cNvSpPr>
            <a:spLocks noGrp="1"/>
          </p:cNvSpPr>
          <p:nvPr>
            <p:ph type="title"/>
          </p:nvPr>
        </p:nvSpPr>
        <p:spPr>
          <a:xfrm>
            <a:off x="618694" y="-557536"/>
            <a:ext cx="11018520" cy="430887"/>
          </a:xfrm>
        </p:spPr>
        <p:txBody>
          <a:bodyPr>
            <a:normAutofit fontScale="90000"/>
          </a:bodyPr>
          <a:lstStyle/>
          <a:p>
            <a:r>
              <a:rPr lang="en-US" dirty="0">
                <a:solidFill>
                  <a:schemeClr val="bg2">
                    <a:lumMod val="90000"/>
                  </a:schemeClr>
                </a:solidFill>
              </a:rPr>
              <a:t>1</a:t>
            </a:r>
          </a:p>
        </p:txBody>
      </p:sp>
    </p:spTree>
    <p:extLst>
      <p:ext uri="{BB962C8B-B14F-4D97-AF65-F5344CB8AC3E}">
        <p14:creationId xmlns:p14="http://schemas.microsoft.com/office/powerpoint/2010/main" val="92202474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CC826-892E-9AA7-13D1-FACECE5475D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22D1079-986E-2368-43C4-BEBDB42BE3E0}"/>
              </a:ext>
              <a:ext uri="{C183D7F6-B498-43B3-948B-1728B52AA6E4}">
                <adec:decorative xmlns:adec="http://schemas.microsoft.com/office/drawing/2017/decorative" val="1"/>
              </a:ext>
            </a:extLst>
          </p:cNvPr>
          <p:cNvGrpSpPr/>
          <p:nvPr/>
        </p:nvGrpSpPr>
        <p:grpSpPr>
          <a:xfrm>
            <a:off x="665598" y="246185"/>
            <a:ext cx="10860803" cy="6056644"/>
            <a:chOff x="-16329" y="0"/>
            <a:chExt cx="11997871" cy="6858000"/>
          </a:xfrm>
        </p:grpSpPr>
        <p:pic>
          <p:nvPicPr>
            <p:cNvPr id="9" name="Picture 8">
              <a:extLst>
                <a:ext uri="{FF2B5EF4-FFF2-40B4-BE49-F238E27FC236}">
                  <a16:creationId xmlns:a16="http://schemas.microsoft.com/office/drawing/2014/main" id="{7E9EF6B4-9F10-24F7-7F14-29F46A514646}"/>
                </a:ext>
              </a:extLst>
            </p:cNvPr>
            <p:cNvPicPr>
              <a:picLocks noChangeAspect="1"/>
            </p:cNvPicPr>
            <p:nvPr/>
          </p:nvPicPr>
          <p:blipFill>
            <a:blip r:embed="rId3"/>
            <a:stretch>
              <a:fillRect/>
            </a:stretch>
          </p:blipFill>
          <p:spPr>
            <a:xfrm>
              <a:off x="-16329" y="0"/>
              <a:ext cx="11997871" cy="6858000"/>
            </a:xfrm>
            <a:prstGeom prst="rect">
              <a:avLst/>
            </a:prstGeom>
          </p:spPr>
        </p:pic>
        <p:grpSp>
          <p:nvGrpSpPr>
            <p:cNvPr id="4" name="Group 3">
              <a:extLst>
                <a:ext uri="{FF2B5EF4-FFF2-40B4-BE49-F238E27FC236}">
                  <a16:creationId xmlns:a16="http://schemas.microsoft.com/office/drawing/2014/main" id="{7A5F7A51-215B-6EDB-C3D1-563F449BD074}"/>
                </a:ext>
              </a:extLst>
            </p:cNvPr>
            <p:cNvGrpSpPr/>
            <p:nvPr/>
          </p:nvGrpSpPr>
          <p:grpSpPr>
            <a:xfrm>
              <a:off x="1810316" y="928688"/>
              <a:ext cx="10135463" cy="4817688"/>
              <a:chOff x="1907380" y="928688"/>
              <a:chExt cx="10135463" cy="4817688"/>
            </a:xfrm>
          </p:grpSpPr>
          <p:sp>
            <p:nvSpPr>
              <p:cNvPr id="6" name="Rectangle 5">
                <a:extLst>
                  <a:ext uri="{FF2B5EF4-FFF2-40B4-BE49-F238E27FC236}">
                    <a16:creationId xmlns:a16="http://schemas.microsoft.com/office/drawing/2014/main" id="{5A0006C7-E98D-29A8-6550-F536F07F38F1}"/>
                  </a:ext>
                </a:extLst>
              </p:cNvPr>
              <p:cNvSpPr/>
              <p:nvPr/>
            </p:nvSpPr>
            <p:spPr>
              <a:xfrm>
                <a:off x="1907381" y="1293019"/>
                <a:ext cx="10135462" cy="422924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5F313079-7B38-49FF-B475-6F9D37F374D7}"/>
                  </a:ext>
                </a:extLst>
              </p:cNvPr>
              <p:cNvPicPr>
                <a:picLocks noChangeAspect="1"/>
              </p:cNvPicPr>
              <p:nvPr/>
            </p:nvPicPr>
            <p:blipFill>
              <a:blip r:embed="rId4"/>
              <a:srcRect l="21792" t="19896" r="15707" b="20027"/>
              <a:stretch/>
            </p:blipFill>
            <p:spPr>
              <a:xfrm>
                <a:off x="1907380" y="928688"/>
                <a:ext cx="8779417" cy="4817688"/>
              </a:xfrm>
              <a:prstGeom prst="rect">
                <a:avLst/>
              </a:prstGeom>
            </p:spPr>
          </p:pic>
        </p:grpSp>
        <p:pic>
          <p:nvPicPr>
            <p:cNvPr id="11" name="Picture 10">
              <a:extLst>
                <a:ext uri="{FF2B5EF4-FFF2-40B4-BE49-F238E27FC236}">
                  <a16:creationId xmlns:a16="http://schemas.microsoft.com/office/drawing/2014/main" id="{4A6AC2FC-BEA3-7E78-64D5-0F59EE986AC6}"/>
                </a:ext>
              </a:extLst>
            </p:cNvPr>
            <p:cNvPicPr>
              <a:picLocks noChangeAspect="1"/>
            </p:cNvPicPr>
            <p:nvPr/>
          </p:nvPicPr>
          <p:blipFill>
            <a:blip r:embed="rId5"/>
            <a:srcRect l="96811" t="9266" r="490" b="86009"/>
            <a:stretch/>
          </p:blipFill>
          <p:spPr>
            <a:xfrm>
              <a:off x="11605193" y="33051"/>
              <a:ext cx="330788" cy="330506"/>
            </a:xfrm>
            <a:prstGeom prst="rect">
              <a:avLst/>
            </a:prstGeom>
          </p:spPr>
        </p:pic>
      </p:grpSp>
      <p:sp>
        <p:nvSpPr>
          <p:cNvPr id="5" name="Title 4">
            <a:extLst>
              <a:ext uri="{FF2B5EF4-FFF2-40B4-BE49-F238E27FC236}">
                <a16:creationId xmlns:a16="http://schemas.microsoft.com/office/drawing/2014/main" id="{EE073349-1F93-CB01-280C-FD053BA581AC}"/>
              </a:ext>
            </a:extLst>
          </p:cNvPr>
          <p:cNvSpPr>
            <a:spLocks noGrp="1"/>
          </p:cNvSpPr>
          <p:nvPr>
            <p:ph type="title"/>
          </p:nvPr>
        </p:nvSpPr>
        <p:spPr>
          <a:xfrm>
            <a:off x="586739" y="-595130"/>
            <a:ext cx="11018520" cy="430887"/>
          </a:xfrm>
        </p:spPr>
        <p:txBody>
          <a:bodyPr>
            <a:normAutofit fontScale="90000"/>
          </a:bodyPr>
          <a:lstStyle/>
          <a:p>
            <a:r>
              <a:rPr lang="en-US" dirty="0">
                <a:solidFill>
                  <a:schemeClr val="bg2">
                    <a:lumMod val="90000"/>
                  </a:schemeClr>
                </a:solidFill>
              </a:rPr>
              <a:t>2</a:t>
            </a:r>
          </a:p>
        </p:txBody>
      </p:sp>
    </p:spTree>
    <p:extLst>
      <p:ext uri="{BB962C8B-B14F-4D97-AF65-F5344CB8AC3E}">
        <p14:creationId xmlns:p14="http://schemas.microsoft.com/office/powerpoint/2010/main" val="326505685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77EB9-28E5-132E-90A9-C03E1B121EB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C2C06AA-C13D-D461-E6E3-09862D988C98}"/>
              </a:ext>
              <a:ext uri="{C183D7F6-B498-43B3-948B-1728B52AA6E4}">
                <adec:decorative xmlns:adec="http://schemas.microsoft.com/office/drawing/2017/decorative" val="1"/>
              </a:ext>
            </a:extLst>
          </p:cNvPr>
          <p:cNvGrpSpPr/>
          <p:nvPr/>
        </p:nvGrpSpPr>
        <p:grpSpPr>
          <a:xfrm>
            <a:off x="821110" y="229667"/>
            <a:ext cx="10549780" cy="6076841"/>
            <a:chOff x="-16329" y="0"/>
            <a:chExt cx="11997871" cy="6858000"/>
          </a:xfrm>
        </p:grpSpPr>
        <p:pic>
          <p:nvPicPr>
            <p:cNvPr id="9" name="Picture 8">
              <a:extLst>
                <a:ext uri="{FF2B5EF4-FFF2-40B4-BE49-F238E27FC236}">
                  <a16:creationId xmlns:a16="http://schemas.microsoft.com/office/drawing/2014/main" id="{B87EC347-5D98-B9E9-9E06-1ED459E2CB78}"/>
                </a:ext>
              </a:extLst>
            </p:cNvPr>
            <p:cNvPicPr>
              <a:picLocks noChangeAspect="1"/>
            </p:cNvPicPr>
            <p:nvPr/>
          </p:nvPicPr>
          <p:blipFill>
            <a:blip r:embed="rId3"/>
            <a:stretch>
              <a:fillRect/>
            </a:stretch>
          </p:blipFill>
          <p:spPr>
            <a:xfrm>
              <a:off x="-16329" y="0"/>
              <a:ext cx="11997871" cy="6858000"/>
            </a:xfrm>
            <a:prstGeom prst="rect">
              <a:avLst/>
            </a:prstGeom>
          </p:spPr>
        </p:pic>
        <p:grpSp>
          <p:nvGrpSpPr>
            <p:cNvPr id="4" name="Group 3">
              <a:extLst>
                <a:ext uri="{FF2B5EF4-FFF2-40B4-BE49-F238E27FC236}">
                  <a16:creationId xmlns:a16="http://schemas.microsoft.com/office/drawing/2014/main" id="{610114A0-8BD3-63A1-E6EA-A3EF58D4D7D6}"/>
                </a:ext>
              </a:extLst>
            </p:cNvPr>
            <p:cNvGrpSpPr/>
            <p:nvPr/>
          </p:nvGrpSpPr>
          <p:grpSpPr>
            <a:xfrm>
              <a:off x="1810316" y="928688"/>
              <a:ext cx="10135463" cy="4817688"/>
              <a:chOff x="1907380" y="928688"/>
              <a:chExt cx="10135463" cy="4817688"/>
            </a:xfrm>
          </p:grpSpPr>
          <p:sp>
            <p:nvSpPr>
              <p:cNvPr id="6" name="Rectangle 5">
                <a:extLst>
                  <a:ext uri="{FF2B5EF4-FFF2-40B4-BE49-F238E27FC236}">
                    <a16:creationId xmlns:a16="http://schemas.microsoft.com/office/drawing/2014/main" id="{8DC4B994-88D8-C1BD-831D-9ADC19ADAAAB}"/>
                  </a:ext>
                </a:extLst>
              </p:cNvPr>
              <p:cNvSpPr/>
              <p:nvPr/>
            </p:nvSpPr>
            <p:spPr>
              <a:xfrm>
                <a:off x="1907381" y="1293019"/>
                <a:ext cx="10135462" cy="422924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9A0F2BF4-E9F3-D895-58C0-AC75049E17DF}"/>
                  </a:ext>
                </a:extLst>
              </p:cNvPr>
              <p:cNvPicPr>
                <a:picLocks noChangeAspect="1"/>
              </p:cNvPicPr>
              <p:nvPr/>
            </p:nvPicPr>
            <p:blipFill>
              <a:blip r:embed="rId4"/>
              <a:srcRect l="21792" t="19896" r="15707" b="20027"/>
              <a:stretch/>
            </p:blipFill>
            <p:spPr>
              <a:xfrm>
                <a:off x="1907380" y="928688"/>
                <a:ext cx="8779417" cy="4817688"/>
              </a:xfrm>
              <a:prstGeom prst="rect">
                <a:avLst/>
              </a:prstGeom>
            </p:spPr>
          </p:pic>
        </p:grpSp>
        <p:pic>
          <p:nvPicPr>
            <p:cNvPr id="11" name="Picture 10">
              <a:extLst>
                <a:ext uri="{FF2B5EF4-FFF2-40B4-BE49-F238E27FC236}">
                  <a16:creationId xmlns:a16="http://schemas.microsoft.com/office/drawing/2014/main" id="{2EF63CB1-892E-10A0-F373-AC6553B03C93}"/>
                </a:ext>
              </a:extLst>
            </p:cNvPr>
            <p:cNvPicPr>
              <a:picLocks noChangeAspect="1"/>
            </p:cNvPicPr>
            <p:nvPr/>
          </p:nvPicPr>
          <p:blipFill>
            <a:blip r:embed="rId5"/>
            <a:srcRect l="96811" t="9266" r="490" b="86009"/>
            <a:stretch/>
          </p:blipFill>
          <p:spPr>
            <a:xfrm>
              <a:off x="11605193" y="33051"/>
              <a:ext cx="330788" cy="330506"/>
            </a:xfrm>
            <a:prstGeom prst="rect">
              <a:avLst/>
            </a:prstGeom>
          </p:spPr>
        </p:pic>
        <p:cxnSp>
          <p:nvCxnSpPr>
            <p:cNvPr id="5" name="Straight Connector 4">
              <a:extLst>
                <a:ext uri="{FF2B5EF4-FFF2-40B4-BE49-F238E27FC236}">
                  <a16:creationId xmlns:a16="http://schemas.microsoft.com/office/drawing/2014/main" id="{8519B6C2-12A3-0008-2740-941A541CEA93}"/>
                </a:ext>
              </a:extLst>
            </p:cNvPr>
            <p:cNvCxnSpPr/>
            <p:nvPr/>
          </p:nvCxnSpPr>
          <p:spPr>
            <a:xfrm>
              <a:off x="3558211" y="4134679"/>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5A16F3A-F05C-797A-A9C4-EB896129E8F5}"/>
                </a:ext>
              </a:extLst>
            </p:cNvPr>
            <p:cNvCxnSpPr/>
            <p:nvPr/>
          </p:nvCxnSpPr>
          <p:spPr>
            <a:xfrm>
              <a:off x="6758611" y="4943062"/>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D9A92D8-2D7C-586E-EBC0-E745012FB066}"/>
              </a:ext>
            </a:extLst>
          </p:cNvPr>
          <p:cNvSpPr>
            <a:spLocks noGrp="1"/>
          </p:cNvSpPr>
          <p:nvPr>
            <p:ph type="title"/>
          </p:nvPr>
        </p:nvSpPr>
        <p:spPr>
          <a:xfrm>
            <a:off x="586740" y="-672625"/>
            <a:ext cx="11018520" cy="430887"/>
          </a:xfrm>
        </p:spPr>
        <p:txBody>
          <a:bodyPr>
            <a:normAutofit fontScale="90000"/>
          </a:bodyPr>
          <a:lstStyle/>
          <a:p>
            <a:r>
              <a:rPr lang="en-US" dirty="0">
                <a:solidFill>
                  <a:schemeClr val="bg2">
                    <a:lumMod val="90000"/>
                  </a:schemeClr>
                </a:solidFill>
              </a:rPr>
              <a:t>3</a:t>
            </a:r>
          </a:p>
        </p:txBody>
      </p:sp>
    </p:spTree>
    <p:extLst>
      <p:ext uri="{BB962C8B-B14F-4D97-AF65-F5344CB8AC3E}">
        <p14:creationId xmlns:p14="http://schemas.microsoft.com/office/powerpoint/2010/main" val="75318001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174AAA2E-449E-67DE-47FC-3485D6F4FEAC}"/>
              </a:ext>
              <a:ext uri="{C183D7F6-B498-43B3-948B-1728B52AA6E4}">
                <adec:decorative xmlns:adec="http://schemas.microsoft.com/office/drawing/2017/decorative" val="1"/>
              </a:ext>
            </a:extLst>
          </p:cNvPr>
          <p:cNvSpPr>
            <a:spLocks/>
          </p:cNvSpPr>
          <p:nvPr/>
        </p:nvSpPr>
        <p:spPr bwMode="auto">
          <a:xfrm>
            <a:off x="584200" y="2017713"/>
            <a:ext cx="11020425" cy="3825645"/>
          </a:xfrm>
          <a:prstGeom prst="roundRect">
            <a:avLst>
              <a:gd name="adj" fmla="val 47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TextBox 51">
            <a:extLst>
              <a:ext uri="{FF2B5EF4-FFF2-40B4-BE49-F238E27FC236}">
                <a16:creationId xmlns:a16="http://schemas.microsoft.com/office/drawing/2014/main" id="{E8AC43E6-74D3-750F-A568-1EF71118028A}"/>
              </a:ext>
              <a:ext uri="{C183D7F6-B498-43B3-948B-1728B52AA6E4}">
                <adec:decorative xmlns:adec="http://schemas.microsoft.com/office/drawing/2017/decorative" val="1"/>
              </a:ext>
            </a:extLst>
          </p:cNvPr>
          <p:cNvSpPr txBox="1">
            <a:spLocks/>
          </p:cNvSpPr>
          <p:nvPr/>
        </p:nvSpPr>
        <p:spPr>
          <a:xfrm>
            <a:off x="1484271" y="3661187"/>
            <a:ext cx="550246" cy="70232"/>
          </a:xfrm>
          <a:prstGeom prst="roundRect">
            <a:avLst>
              <a:gd name="adj" fmla="val 50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3175">
                <a:noFill/>
              </a:ln>
              <a:solidFill>
                <a:srgbClr val="FFFFFF"/>
              </a:solidFill>
              <a:effectLst/>
              <a:uLnTx/>
              <a:uFillTx/>
              <a:latin typeface="Segoe UI Semibold"/>
              <a:ea typeface="+mj-ea"/>
              <a:cs typeface="+mj-cs"/>
            </a:endParaRPr>
          </a:p>
        </p:txBody>
      </p:sp>
      <p:sp>
        <p:nvSpPr>
          <p:cNvPr id="53" name="TextBox 52">
            <a:extLst>
              <a:ext uri="{FF2B5EF4-FFF2-40B4-BE49-F238E27FC236}">
                <a16:creationId xmlns:a16="http://schemas.microsoft.com/office/drawing/2014/main" id="{54A76328-F694-ACD5-725D-D0AAC62BADA7}"/>
              </a:ext>
              <a:ext uri="{C183D7F6-B498-43B3-948B-1728B52AA6E4}">
                <adec:decorative xmlns:adec="http://schemas.microsoft.com/office/drawing/2017/decorative" val="1"/>
              </a:ext>
            </a:extLst>
          </p:cNvPr>
          <p:cNvSpPr txBox="1">
            <a:spLocks/>
          </p:cNvSpPr>
          <p:nvPr/>
        </p:nvSpPr>
        <p:spPr>
          <a:xfrm>
            <a:off x="3651779" y="3661187"/>
            <a:ext cx="550246" cy="70232"/>
          </a:xfrm>
          <a:prstGeom prst="roundRect">
            <a:avLst>
              <a:gd name="adj" fmla="val 50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3175">
                <a:noFill/>
              </a:ln>
              <a:solidFill>
                <a:srgbClr val="FFFFFF"/>
              </a:solidFill>
              <a:effectLst/>
              <a:uLnTx/>
              <a:uFillTx/>
              <a:latin typeface="Segoe UI Semibold"/>
              <a:ea typeface="+mj-ea"/>
              <a:cs typeface="+mj-cs"/>
            </a:endParaRPr>
          </a:p>
        </p:txBody>
      </p:sp>
      <p:sp>
        <p:nvSpPr>
          <p:cNvPr id="54" name="TextBox 53">
            <a:extLst>
              <a:ext uri="{FF2B5EF4-FFF2-40B4-BE49-F238E27FC236}">
                <a16:creationId xmlns:a16="http://schemas.microsoft.com/office/drawing/2014/main" id="{355E4553-C549-1A2E-043C-5E8260224AED}"/>
              </a:ext>
              <a:ext uri="{C183D7F6-B498-43B3-948B-1728B52AA6E4}">
                <adec:decorative xmlns:adec="http://schemas.microsoft.com/office/drawing/2017/decorative" val="1"/>
              </a:ext>
            </a:extLst>
          </p:cNvPr>
          <p:cNvSpPr txBox="1">
            <a:spLocks/>
          </p:cNvSpPr>
          <p:nvPr/>
        </p:nvSpPr>
        <p:spPr>
          <a:xfrm>
            <a:off x="5819287" y="3661187"/>
            <a:ext cx="550246" cy="70232"/>
          </a:xfrm>
          <a:prstGeom prst="roundRect">
            <a:avLst>
              <a:gd name="adj" fmla="val 50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3175">
                <a:noFill/>
              </a:ln>
              <a:solidFill>
                <a:srgbClr val="FFFFFF"/>
              </a:solidFill>
              <a:effectLst/>
              <a:uLnTx/>
              <a:uFillTx/>
              <a:latin typeface="Segoe UI Semibold"/>
              <a:ea typeface="+mj-ea"/>
              <a:cs typeface="+mj-cs"/>
            </a:endParaRPr>
          </a:p>
        </p:txBody>
      </p:sp>
      <p:sp>
        <p:nvSpPr>
          <p:cNvPr id="55" name="TextBox 54">
            <a:extLst>
              <a:ext uri="{FF2B5EF4-FFF2-40B4-BE49-F238E27FC236}">
                <a16:creationId xmlns:a16="http://schemas.microsoft.com/office/drawing/2014/main" id="{92DE92A6-6FB6-DCE3-8D08-6A8D8C000E92}"/>
              </a:ext>
              <a:ext uri="{C183D7F6-B498-43B3-948B-1728B52AA6E4}">
                <adec:decorative xmlns:adec="http://schemas.microsoft.com/office/drawing/2017/decorative" val="1"/>
              </a:ext>
            </a:extLst>
          </p:cNvPr>
          <p:cNvSpPr txBox="1">
            <a:spLocks/>
          </p:cNvSpPr>
          <p:nvPr/>
        </p:nvSpPr>
        <p:spPr>
          <a:xfrm>
            <a:off x="7986795" y="3661187"/>
            <a:ext cx="550246" cy="70232"/>
          </a:xfrm>
          <a:prstGeom prst="roundRect">
            <a:avLst>
              <a:gd name="adj" fmla="val 50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3175">
                <a:noFill/>
              </a:ln>
              <a:solidFill>
                <a:srgbClr val="FFFFFF"/>
              </a:solidFill>
              <a:effectLst/>
              <a:uLnTx/>
              <a:uFillTx/>
              <a:latin typeface="Segoe UI Semibold"/>
              <a:ea typeface="+mj-ea"/>
              <a:cs typeface="+mj-cs"/>
            </a:endParaRPr>
          </a:p>
        </p:txBody>
      </p:sp>
      <p:sp>
        <p:nvSpPr>
          <p:cNvPr id="56" name="TextBox 55">
            <a:extLst>
              <a:ext uri="{FF2B5EF4-FFF2-40B4-BE49-F238E27FC236}">
                <a16:creationId xmlns:a16="http://schemas.microsoft.com/office/drawing/2014/main" id="{AA62982A-B57D-70ED-39A8-7644469A9FF7}"/>
              </a:ext>
              <a:ext uri="{C183D7F6-B498-43B3-948B-1728B52AA6E4}">
                <adec:decorative xmlns:adec="http://schemas.microsoft.com/office/drawing/2017/decorative" val="1"/>
              </a:ext>
            </a:extLst>
          </p:cNvPr>
          <p:cNvSpPr txBox="1">
            <a:spLocks/>
          </p:cNvSpPr>
          <p:nvPr/>
        </p:nvSpPr>
        <p:spPr>
          <a:xfrm>
            <a:off x="10154303" y="3661187"/>
            <a:ext cx="550246" cy="70232"/>
          </a:xfrm>
          <a:prstGeom prst="roundRect">
            <a:avLst>
              <a:gd name="adj" fmla="val 50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3175">
                <a:noFill/>
              </a:ln>
              <a:solidFill>
                <a:srgbClr val="FFFFFF"/>
              </a:solidFill>
              <a:effectLst/>
              <a:uLnTx/>
              <a:uFillTx/>
              <a:latin typeface="Segoe UI Semibold"/>
              <a:ea typeface="+mj-ea"/>
              <a:cs typeface="+mj-cs"/>
            </a:endParaRPr>
          </a:p>
        </p:txBody>
      </p:sp>
      <p:sp>
        <p:nvSpPr>
          <p:cNvPr id="2" name="Title 1">
            <a:extLst>
              <a:ext uri="{FF2B5EF4-FFF2-40B4-BE49-F238E27FC236}">
                <a16:creationId xmlns:a16="http://schemas.microsoft.com/office/drawing/2014/main" id="{BA9351E6-8E15-D14E-BEDE-6202E00F1F1D}"/>
              </a:ext>
            </a:extLst>
          </p:cNvPr>
          <p:cNvSpPr>
            <a:spLocks noGrp="1"/>
          </p:cNvSpPr>
          <p:nvPr>
            <p:ph type="title"/>
          </p:nvPr>
        </p:nvSpPr>
        <p:spPr>
          <a:xfrm>
            <a:off x="588263" y="457200"/>
            <a:ext cx="11018520" cy="553998"/>
          </a:xfrm>
        </p:spPr>
        <p:txBody>
          <a:bodyPr>
            <a:normAutofit fontScale="90000"/>
          </a:bodyPr>
          <a:lstStyle/>
          <a:p>
            <a:r>
              <a:rPr lang="en-US"/>
              <a:t>How Copilot gets access to content</a:t>
            </a:r>
          </a:p>
        </p:txBody>
      </p:sp>
      <p:sp>
        <p:nvSpPr>
          <p:cNvPr id="20" name="TextBox 19">
            <a:extLst>
              <a:ext uri="{FF2B5EF4-FFF2-40B4-BE49-F238E27FC236}">
                <a16:creationId xmlns:a16="http://schemas.microsoft.com/office/drawing/2014/main" id="{8C22F714-2B66-4D39-F888-12AE1A88E06E}"/>
              </a:ext>
            </a:extLst>
          </p:cNvPr>
          <p:cNvSpPr txBox="1">
            <a:spLocks/>
          </p:cNvSpPr>
          <p:nvPr/>
        </p:nvSpPr>
        <p:spPr>
          <a:xfrm>
            <a:off x="588963" y="1128911"/>
            <a:ext cx="11017250" cy="307777"/>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Copilot retrieves only the information you have access to</a:t>
            </a:r>
          </a:p>
        </p:txBody>
      </p:sp>
      <p:sp>
        <p:nvSpPr>
          <p:cNvPr id="24" name="TextBox 23">
            <a:extLst>
              <a:ext uri="{FF2B5EF4-FFF2-40B4-BE49-F238E27FC236}">
                <a16:creationId xmlns:a16="http://schemas.microsoft.com/office/drawing/2014/main" id="{3D46EA6D-C5E3-6982-65C7-A974547BE3CD}"/>
              </a:ext>
            </a:extLst>
          </p:cNvPr>
          <p:cNvSpPr txBox="1">
            <a:spLocks/>
          </p:cNvSpPr>
          <p:nvPr/>
        </p:nvSpPr>
        <p:spPr>
          <a:xfrm>
            <a:off x="767080" y="2200593"/>
            <a:ext cx="10654663" cy="579704"/>
          </a:xfrm>
          <a:prstGeom prst="roundRect">
            <a:avLst>
              <a:gd name="adj" fmla="val 210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w="3175">
                  <a:noFill/>
                </a:ln>
                <a:solidFill>
                  <a:srgbClr val="FFFFFF"/>
                </a:solidFill>
                <a:effectLst/>
                <a:uLnTx/>
                <a:uFillTx/>
                <a:latin typeface="Segoe UI Semibold"/>
                <a:ea typeface="+mj-ea"/>
                <a:cs typeface="+mj-cs"/>
              </a:rPr>
              <a:t>The process is called “retrieval augmented generation”</a:t>
            </a:r>
          </a:p>
        </p:txBody>
      </p:sp>
      <p:sp>
        <p:nvSpPr>
          <p:cNvPr id="47" name="Rounded Rectangle 11">
            <a:extLst>
              <a:ext uri="{FF2B5EF4-FFF2-40B4-BE49-F238E27FC236}">
                <a16:creationId xmlns:a16="http://schemas.microsoft.com/office/drawing/2014/main" id="{66AF55C6-A91A-3EAC-7968-8325C97C2D53}"/>
              </a:ext>
              <a:ext uri="{C183D7F6-B498-43B3-948B-1728B52AA6E4}">
                <adec:decorative xmlns:adec="http://schemas.microsoft.com/office/drawing/2017/decorative" val="0"/>
              </a:ext>
            </a:extLst>
          </p:cNvPr>
          <p:cNvSpPr/>
          <p:nvPr/>
        </p:nvSpPr>
        <p:spPr bwMode="auto">
          <a:xfrm>
            <a:off x="1484271" y="29631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1</a:t>
            </a:r>
          </a:p>
        </p:txBody>
      </p:sp>
      <p:sp>
        <p:nvSpPr>
          <p:cNvPr id="42" name="Rectangle: Rounded Corners 41">
            <a:extLst>
              <a:ext uri="{FF2B5EF4-FFF2-40B4-BE49-F238E27FC236}">
                <a16:creationId xmlns:a16="http://schemas.microsoft.com/office/drawing/2014/main" id="{3AA37E4B-C030-0B71-A641-E8B12C43F76B}"/>
              </a:ext>
              <a:ext uri="{C183D7F6-B498-43B3-948B-1728B52AA6E4}">
                <adec:decorative xmlns:adec="http://schemas.microsoft.com/office/drawing/2017/decorative" val="0"/>
              </a:ext>
            </a:extLst>
          </p:cNvPr>
          <p:cNvSpPr>
            <a:spLocks/>
          </p:cNvSpPr>
          <p:nvPr/>
        </p:nvSpPr>
        <p:spPr bwMode="auto">
          <a:xfrm>
            <a:off x="767080" y="3696303"/>
            <a:ext cx="1984628" cy="1931902"/>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You submit a prompt</a:t>
            </a:r>
          </a:p>
        </p:txBody>
      </p:sp>
      <p:sp>
        <p:nvSpPr>
          <p:cNvPr id="48" name="Rounded Rectangle 11">
            <a:extLst>
              <a:ext uri="{FF2B5EF4-FFF2-40B4-BE49-F238E27FC236}">
                <a16:creationId xmlns:a16="http://schemas.microsoft.com/office/drawing/2014/main" id="{19575BF8-B901-EAFF-D51B-D80DF35BCFA7}"/>
              </a:ext>
              <a:ext uri="{C183D7F6-B498-43B3-948B-1728B52AA6E4}">
                <adec:decorative xmlns:adec="http://schemas.microsoft.com/office/drawing/2017/decorative" val="0"/>
              </a:ext>
            </a:extLst>
          </p:cNvPr>
          <p:cNvSpPr/>
          <p:nvPr/>
        </p:nvSpPr>
        <p:spPr bwMode="auto">
          <a:xfrm>
            <a:off x="3651779" y="29631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2</a:t>
            </a:r>
          </a:p>
        </p:txBody>
      </p:sp>
      <p:sp>
        <p:nvSpPr>
          <p:cNvPr id="43" name="Rectangle: Rounded Corners 42">
            <a:extLst>
              <a:ext uri="{FF2B5EF4-FFF2-40B4-BE49-F238E27FC236}">
                <a16:creationId xmlns:a16="http://schemas.microsoft.com/office/drawing/2014/main" id="{CA4C94AC-5736-0FE8-2207-79C75C3E0215}"/>
              </a:ext>
              <a:ext uri="{C183D7F6-B498-43B3-948B-1728B52AA6E4}">
                <adec:decorative xmlns:adec="http://schemas.microsoft.com/office/drawing/2017/decorative" val="0"/>
              </a:ext>
            </a:extLst>
          </p:cNvPr>
          <p:cNvSpPr>
            <a:spLocks/>
          </p:cNvSpPr>
          <p:nvPr/>
        </p:nvSpPr>
        <p:spPr bwMode="auto">
          <a:xfrm>
            <a:off x="2934588" y="3696303"/>
            <a:ext cx="1984628" cy="1931902"/>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Orchestrator determines what it needs to answer the prompt</a:t>
            </a:r>
          </a:p>
        </p:txBody>
      </p:sp>
      <p:sp>
        <p:nvSpPr>
          <p:cNvPr id="49" name="Rounded Rectangle 11">
            <a:extLst>
              <a:ext uri="{FF2B5EF4-FFF2-40B4-BE49-F238E27FC236}">
                <a16:creationId xmlns:a16="http://schemas.microsoft.com/office/drawing/2014/main" id="{C4725302-63AD-64BB-BB04-C1FBCC2C223F}"/>
              </a:ext>
              <a:ext uri="{C183D7F6-B498-43B3-948B-1728B52AA6E4}">
                <adec:decorative xmlns:adec="http://schemas.microsoft.com/office/drawing/2017/decorative" val="0"/>
              </a:ext>
            </a:extLst>
          </p:cNvPr>
          <p:cNvSpPr/>
          <p:nvPr/>
        </p:nvSpPr>
        <p:spPr bwMode="auto">
          <a:xfrm>
            <a:off x="5819287" y="29631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3</a:t>
            </a:r>
          </a:p>
        </p:txBody>
      </p:sp>
      <p:sp>
        <p:nvSpPr>
          <p:cNvPr id="44" name="Rectangle: Rounded Corners 43">
            <a:extLst>
              <a:ext uri="{FF2B5EF4-FFF2-40B4-BE49-F238E27FC236}">
                <a16:creationId xmlns:a16="http://schemas.microsoft.com/office/drawing/2014/main" id="{22BB83CF-5E38-2096-CD7D-B29718D572FB}"/>
              </a:ext>
              <a:ext uri="{C183D7F6-B498-43B3-948B-1728B52AA6E4}">
                <adec:decorative xmlns:adec="http://schemas.microsoft.com/office/drawing/2017/decorative" val="0"/>
              </a:ext>
            </a:extLst>
          </p:cNvPr>
          <p:cNvSpPr>
            <a:spLocks/>
          </p:cNvSpPr>
          <p:nvPr/>
        </p:nvSpPr>
        <p:spPr bwMode="auto">
          <a:xfrm>
            <a:off x="5102096" y="3696303"/>
            <a:ext cx="1984628" cy="1931902"/>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Orchestrator uses Graph to find relevant info you </a:t>
            </a:r>
            <a:r>
              <a:rPr kumimoji="0" lang="en-US" sz="1800" b="0" i="0" u="none" strike="noStrike" kern="1200" cap="none" spc="0" normalizeH="0" baseline="0" noProof="0">
                <a:ln>
                  <a:noFill/>
                </a:ln>
                <a:solidFill>
                  <a:srgbClr val="0078D4"/>
                </a:solidFill>
                <a:effectLst/>
                <a:uLnTx/>
                <a:uFillTx/>
                <a:latin typeface="Segoe UI Semibold"/>
                <a:ea typeface="+mn-ea"/>
                <a:cs typeface="+mn-cs"/>
              </a:rPr>
              <a:t>are allowed to access</a:t>
            </a:r>
          </a:p>
        </p:txBody>
      </p:sp>
      <p:sp>
        <p:nvSpPr>
          <p:cNvPr id="50" name="Rounded Rectangle 11">
            <a:extLst>
              <a:ext uri="{FF2B5EF4-FFF2-40B4-BE49-F238E27FC236}">
                <a16:creationId xmlns:a16="http://schemas.microsoft.com/office/drawing/2014/main" id="{16C9E65D-D1E6-D4C1-1204-8FF8ECC4402D}"/>
              </a:ext>
              <a:ext uri="{C183D7F6-B498-43B3-948B-1728B52AA6E4}">
                <adec:decorative xmlns:adec="http://schemas.microsoft.com/office/drawing/2017/decorative" val="0"/>
              </a:ext>
            </a:extLst>
          </p:cNvPr>
          <p:cNvSpPr/>
          <p:nvPr/>
        </p:nvSpPr>
        <p:spPr bwMode="auto">
          <a:xfrm>
            <a:off x="7986795" y="29631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4</a:t>
            </a:r>
          </a:p>
        </p:txBody>
      </p:sp>
      <p:sp>
        <p:nvSpPr>
          <p:cNvPr id="45" name="Rectangle: Rounded Corners 44">
            <a:extLst>
              <a:ext uri="{FF2B5EF4-FFF2-40B4-BE49-F238E27FC236}">
                <a16:creationId xmlns:a16="http://schemas.microsoft.com/office/drawing/2014/main" id="{FF87656B-5582-39CF-6A39-1AD41BFCB1B4}"/>
              </a:ext>
              <a:ext uri="{C183D7F6-B498-43B3-948B-1728B52AA6E4}">
                <adec:decorative xmlns:adec="http://schemas.microsoft.com/office/drawing/2017/decorative" val="0"/>
              </a:ext>
            </a:extLst>
          </p:cNvPr>
          <p:cNvSpPr>
            <a:spLocks/>
          </p:cNvSpPr>
          <p:nvPr/>
        </p:nvSpPr>
        <p:spPr bwMode="auto">
          <a:xfrm>
            <a:off x="7269604" y="3696303"/>
            <a:ext cx="1984628" cy="1931902"/>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Orchestrator appends info to your prompt to enhance it</a:t>
            </a:r>
          </a:p>
        </p:txBody>
      </p:sp>
      <p:sp>
        <p:nvSpPr>
          <p:cNvPr id="51" name="Rounded Rectangle 11">
            <a:extLst>
              <a:ext uri="{FF2B5EF4-FFF2-40B4-BE49-F238E27FC236}">
                <a16:creationId xmlns:a16="http://schemas.microsoft.com/office/drawing/2014/main" id="{6006B372-92C3-4EE2-37DD-38FC2EE458F3}"/>
              </a:ext>
              <a:ext uri="{C183D7F6-B498-43B3-948B-1728B52AA6E4}">
                <adec:decorative xmlns:adec="http://schemas.microsoft.com/office/drawing/2017/decorative" val="0"/>
              </a:ext>
            </a:extLst>
          </p:cNvPr>
          <p:cNvSpPr/>
          <p:nvPr/>
        </p:nvSpPr>
        <p:spPr bwMode="auto">
          <a:xfrm>
            <a:off x="10154303" y="29631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5</a:t>
            </a:r>
          </a:p>
        </p:txBody>
      </p:sp>
      <p:sp>
        <p:nvSpPr>
          <p:cNvPr id="46" name="Rectangle: Rounded Corners 45">
            <a:extLst>
              <a:ext uri="{FF2B5EF4-FFF2-40B4-BE49-F238E27FC236}">
                <a16:creationId xmlns:a16="http://schemas.microsoft.com/office/drawing/2014/main" id="{D599F592-82B7-52AD-C663-F5932AB28042}"/>
              </a:ext>
              <a:ext uri="{C183D7F6-B498-43B3-948B-1728B52AA6E4}">
                <adec:decorative xmlns:adec="http://schemas.microsoft.com/office/drawing/2017/decorative" val="0"/>
              </a:ext>
            </a:extLst>
          </p:cNvPr>
          <p:cNvSpPr>
            <a:spLocks/>
          </p:cNvSpPr>
          <p:nvPr/>
        </p:nvSpPr>
        <p:spPr bwMode="auto">
          <a:xfrm>
            <a:off x="9437112" y="3696303"/>
            <a:ext cx="1984628" cy="1931902"/>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LLM uses additional that information to generate a response </a:t>
            </a:r>
          </a:p>
        </p:txBody>
      </p:sp>
    </p:spTree>
    <p:extLst>
      <p:ext uri="{BB962C8B-B14F-4D97-AF65-F5344CB8AC3E}">
        <p14:creationId xmlns:p14="http://schemas.microsoft.com/office/powerpoint/2010/main" val="2130664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 name="Title 16">
            <a:extLst>
              <a:ext uri="{FF2B5EF4-FFF2-40B4-BE49-F238E27FC236}">
                <a16:creationId xmlns:a16="http://schemas.microsoft.com/office/drawing/2014/main" id="{9F989914-911F-B51A-8243-39DFC4F12BDA}"/>
              </a:ext>
            </a:extLst>
          </p:cNvPr>
          <p:cNvSpPr txBox="1">
            <a:spLocks noGrp="1"/>
          </p:cNvSpPr>
          <p:nvPr>
            <p:ph type="title"/>
          </p:nvPr>
        </p:nvSpPr>
        <p:spPr>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a:cs typeface="Segoe Sans Display" pitchFamily="2" charset="0"/>
              </a:rPr>
              <a:t>Microsoft Copilot for Microsoft 365 architecture </a:t>
            </a:r>
            <a:r>
              <a:rPr lang="en-BE" sz="2800" noProof="0">
                <a:cs typeface="Segoe Sans Display" pitchFamily="2" charset="0"/>
              </a:rPr>
              <a:t>and content retrieval</a:t>
            </a:r>
            <a:endParaRPr lang="en-US" sz="2800" noProof="0">
              <a:cs typeface="Segoe Sans Display" pitchFamily="2" charset="0"/>
            </a:endParaRPr>
          </a:p>
        </p:txBody>
      </p:sp>
      <p:grpSp>
        <p:nvGrpSpPr>
          <p:cNvPr id="2" name="Group 1" descr="Diagram of Microsoft 365 Service Boundary&#10;6) Copilot sends the response back to the user&#10;">
            <a:extLst>
              <a:ext uri="{FF2B5EF4-FFF2-40B4-BE49-F238E27FC236}">
                <a16:creationId xmlns:a16="http://schemas.microsoft.com/office/drawing/2014/main" id="{D46DB78E-233B-343F-F48A-22E6A3927BB0}"/>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6EC65930-A45B-7766-D710-C26DF6FCA3A2}"/>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839AC0B1-9E26-A0A9-2AD9-F7AE656F3969}"/>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497CA769-78B6-90A7-B975-4D674324CDE0}"/>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16964E93-6674-9425-C7CD-6E3BC64A800C}"/>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2E4D6FFC-B7A8-3AC7-4508-4654DD20DD54}"/>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3FEA9805-ACD5-D0FD-5CC1-DF4751070D07}"/>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00C69CDC-27F4-50B1-F3DF-B03C221B6820}"/>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0BCCCF5C-D832-DFA1-D7D1-66B475152122}"/>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DBE5B99E-FDE2-A2AB-115E-4840BF31A30B}"/>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3E1726DD-3949-92F1-0183-3377B7758FC2}"/>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F3FC01B9-79CD-AB7E-8F1C-936F04FB24BD}"/>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35CF7B22-AF75-B540-5AE0-A7E6F9CC8CAD}"/>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189A42EA-FC82-FE47-76F4-7F8CE20FAD99}"/>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CD4BDA6-9A51-1792-047D-C33C7639AA78}"/>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DEFAE3-A816-3C39-C03E-AFA90F06D8BD}"/>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79B121F-1D8A-5E95-1CB9-92439D5DAFD9}"/>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B03876F-105B-B040-B86F-799585F5DBC4}"/>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8239CA3-F758-C645-C10C-4D2084AAA1A3}"/>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2FC4C50-F5FD-F438-4802-1A67759BF9A6}"/>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391CB7EB-6F95-3C68-D54A-E0F65D64B4B5}"/>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E21FFB47-714A-4B18-8B6E-515C1A4AEDE0}"/>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AC5E9A3A-9B65-FBF8-C425-47B809553E5F}"/>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E2BA7921-7DC3-EF66-7F29-4EAB589DB52D}"/>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905A23A2-D10D-6257-9E29-1F98AC6BC526}"/>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9459FBB2-C979-A760-B958-5604A23C9C0B}"/>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1BCFD121-82BB-3568-D911-3645266AD16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CC24FDF1-27F5-A781-6141-55ACCF50D1F0}"/>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ABA1C097-8E0C-4AA3-98C8-9D52E52152BA}"/>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6E9C6EE0-333C-5C1B-FBC9-AE1295086D5D}"/>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BA89D562-7BBB-AC28-779A-26C17CE64C0D}"/>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7E1AEA52-7E6C-EE5C-44CC-F8152688D64F}"/>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75B6EB19-4128-58CC-17B1-AE15A9B61EC9}"/>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20E1D1C0-712C-07FC-3245-0F7703229C30}"/>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8B55013C-0B27-69A7-50AA-825756788CE2}"/>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1805AA4B-3578-D046-4D93-B2D680576821}"/>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17FA0367-F4CC-DB25-0480-3E4803AD9F35}"/>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4043F1B1-77D8-C1D4-B0EE-D354D40D7806}"/>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F4684BB1-CBA9-74C2-01CF-D6596A2B353D}"/>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217B00E9-A4D7-EBD7-7C9A-2794E65F7D51}"/>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1E4F4505-7D31-40A2-B422-466D9CB01705}"/>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3F24E019-6B28-7F40-8EFE-E52015CCBBA5}"/>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C65D7D72-EADE-310D-DE13-4D7F06D17835}"/>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F204445A-26AE-6906-743D-8EAA068A11A5}"/>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4025012F-7B14-0350-3AC8-7DC0D107F8F4}"/>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94009BF0-6197-17DA-EE07-41D382165A9B}"/>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7D6D3663-80A8-2BE1-EC20-55A4F46847F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391C8D4B-C660-F814-61C2-8E1B16136DA0}"/>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22F53F72-29AE-917B-AFEB-AB8A9B97830A}"/>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EB063D9A-EE35-1663-43EF-8EF65A7FF43A}"/>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04DF9215-6A3F-F64A-0018-20E84879F688}"/>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5596D780-9B1C-1E98-81A9-27A266F63E5E}"/>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9555429B-C53E-AB07-3B14-852D6252FB8C}"/>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B8DF8D58-F601-6AB8-A0F5-77E2036173CA}"/>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BF04F950-8098-CA04-A6E6-7DD52C9116F5}"/>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5AF69B4C-6A41-B672-ABA5-3954CCBBA85A}"/>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E9DE206E-7C58-58A8-4EA5-C74B137EA2F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B24D4241-62AA-C405-0AD9-55C403E14547}"/>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CACB6210-78A7-5FC5-16E8-B12706B16085}"/>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C2BB4204-81FC-78DC-FF4C-E75E1FA8165F}"/>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B052E44E-C518-C220-681B-77D8D5DE99D8}"/>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10C3AE10-055E-8CAE-6D0E-55C5273452A2}"/>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F86C6E71-3625-A241-621B-BD6F53405EAC}"/>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72DE1DC7-119C-50DF-3A60-A709FDD0DDCE}"/>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8622CFC3-62A8-57CC-9DB3-4B8A3A640B4B}"/>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B68E0700-5177-CA97-7CB9-93809BDAE236}"/>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72025227-2160-AA47-7A43-009B9ED796E8}"/>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5D041130-7D34-778E-1D14-AD4C053A485B}"/>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95D4D44C-BA4C-2666-EEE5-520A9F01C5CF}"/>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B698B77B-2CD5-34B5-43A2-CCDD44BD3EE7}"/>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EEF5AE85-6E18-360C-A9B6-11F3EE535B60}"/>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EA036807-A9E3-2F9B-FF8D-46BC61709D31}"/>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CD77D818-8A70-54FC-B19E-13DA4D78740B}"/>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023B2F1F-4382-97AF-32FF-2631C8824C18}"/>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C58764F6-C845-19F0-2736-0253FD1A598E}"/>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F2614DD6-9DB0-8D31-8D22-DD06DA846215}"/>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568F07D7-8F1A-2214-D592-ECD9BBACE918}"/>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D26BE50C-B26F-A8EA-4E54-361F30022649}"/>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90AA853C-F050-A559-0B7E-2E95BAF86022}"/>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4B8C18E4-AE8D-7069-83D3-768C315DB114}"/>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0044A290-5EBE-6889-5807-E9273C81537F}"/>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06DFF19F-6207-F983-CA17-399C29045BCB}"/>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B6229F47-98DF-D466-42F6-670EE811373D}"/>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5F65E2DB-FAFB-96FF-6437-2BC1399F313C}"/>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B43C16A2-A371-9D5B-1FC6-2ED27E92D425}"/>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F5B575AE-2522-B6BC-ECCF-0392792F0B0B}"/>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8AEF9607-3EDE-7A9A-EED5-D5F46A298204}"/>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E12950F9-B306-3B38-CAC0-F49C0AB907E2}"/>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DA62C243-45D1-CE7D-9E81-47783C3E3BE7}"/>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50294E11-CC2C-C545-B450-5983B4814465}"/>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FA253FA3-8B83-1BCC-3D8A-A72D385FFD23}"/>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0CD95795-E155-409C-CE5D-54DEA411C656}"/>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445813C3-8E37-ABB5-5585-65296147A562}"/>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E8B636AE-77B8-34B0-C536-C2759B83ED5E}"/>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D14F6CCB-D0BF-1008-BAEE-A10B9E7EBCD9}"/>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9028ADD8-6691-4A3F-A172-0C5AA428A882}"/>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B82C37B2-A783-57DF-5B89-7E57E9D0D0FB}"/>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3DFD153F-1988-27E1-C41F-17A5B60F0662}"/>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EF59DAD3-266D-B7D2-7F72-4E37CC7C41B1}"/>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21213A66-A60F-2627-5451-ABFF50186697}"/>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75F364CE-05C4-FB00-FD8B-1EA88A90ABC4}"/>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647E51B6-42D5-5A3F-6D31-CEF4245AAC59}"/>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6A1A9FEA-992C-9A33-1CCA-BD23C2ADFDBF}"/>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C3992C1A-DE0B-FC06-C69B-628706905D4A}"/>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E918AFB9-E66B-CEA8-C81E-D5BC1ECC5C4E}"/>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DEF81EC6-18B9-1F55-2F81-FE6B90CAC8E3}"/>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2DBCD6C5-34CF-7F80-C189-34D8728FEEDC}"/>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05CF33ED-1230-7DEF-570C-FF9880449687}"/>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8D8202CC-00E3-B43A-ADA9-61C3950CFD93}"/>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8968DF38-77C8-E04C-7E37-2CAA1177F1B4}"/>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BA098843-4B05-C7E8-76E6-CB1B389EED93}"/>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DD7858B7-D96D-1A60-83B1-B2017BFCC00E}"/>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6328B72C-9191-4A59-883C-D4BBCE88EDBC}"/>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0E3E2DD4-E0A6-7612-9351-C63ABD6D91B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DFF074AF-7028-13D1-9D5C-FF32098EBE34}"/>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E89CB7E1-CA1C-B3A9-2F92-DCB9F2DCB66C}"/>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DF8F4C49-23DB-8353-573A-136555E1720B}"/>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1BF0ECBC-73F7-3163-5650-D5D945407CA2}"/>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38B30526-FEFA-0093-A089-7E2F185CF79E}"/>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806F2489-6597-9DB7-ACCF-D829A4CC7246}"/>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C94650FD-2518-82E7-3329-EE5B67FED8BC}"/>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83E90944-7F6C-E4CB-83B6-36E25A19D2EE}"/>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189E0862-7203-B616-862B-8FAB216EE72F}"/>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2E1F8338-5526-437B-89CC-90E5D3DAAFA3}"/>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0F9B4AE5-77E6-BE89-EFE3-0CDF5CAD25A2}"/>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3D7F43E3-B3AE-CE69-CC64-7F704C97B344}"/>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DC7FC85B-BCF8-0951-A28A-248F5A23932C}"/>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86B82B94-EAA2-9611-2157-8C3D4885255B}"/>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4A1E4904-2068-AC08-2D69-02926E9CD827}"/>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6BE89D21-B312-939A-122F-67EE667B05E6}"/>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052D19A9-C381-87A0-8A62-0E85C519D2EC}"/>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C0E1D9BD-4AA6-07B1-39ED-8AA21A48E4E2}"/>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156A327D-0699-5FB6-90EF-4B5B535F3F92}"/>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32191839-918D-2A45-DD62-BE06EE9187DA}"/>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8EE912CA-0B61-68CE-D271-390C1B38690B}"/>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D838A7D3-D846-AED3-9265-161ADEC34ED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C11739CF-73E2-061C-D540-4D16BAB374CA}"/>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85652675-062B-A213-D233-EF91AF918F74}"/>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E9051B86-9023-1E81-77CF-854C53BC10E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069488BE-6221-4F2B-E87F-D1111B5AE7D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B63954D9-E3BE-BBB5-B472-637B938FCC5D}"/>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766245D1-84DF-3D1B-1BBE-DEB6CFCF3146}"/>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209D1033-0232-F974-7329-F7D482EE7ABC}"/>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953AA9FE-8FAC-7726-FADE-1038DB18B998}"/>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B86DED96-13F9-FA72-C4C0-A01763213DE8}"/>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0C191BBA-D3EE-D307-E19A-2B23709AE047}"/>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AAA09153-5900-BE7C-60E0-1D3CE47A42F1}"/>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6B442750-9A16-46AA-D093-73FFBD98EDF0}"/>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A657AF98-CAE9-60BB-B7D1-4B733063CA0C}"/>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7C3F15D5-0378-5306-65FF-8CE3B4EC7E23}"/>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prstClr val="black"/>
                        </a:solidFill>
                        <a:effectLst/>
                        <a:uLnTx/>
                        <a:uFillTx/>
                        <a:latin typeface="+mj-lt"/>
                        <a:ea typeface="+mn-ea"/>
                        <a:cs typeface="Segoe Sans Display" pitchFamily="2" charset="0"/>
                      </a:rPr>
                      <a:t>Agents</a:t>
                    </a:r>
                    <a:endPar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endParaRPr>
                  </a:p>
                </p:txBody>
              </p:sp>
              <p:pic>
                <p:nvPicPr>
                  <p:cNvPr id="48" name="Graphic 47">
                    <a:extLst>
                      <a:ext uri="{FF2B5EF4-FFF2-40B4-BE49-F238E27FC236}">
                        <a16:creationId xmlns:a16="http://schemas.microsoft.com/office/drawing/2014/main" id="{F5372AE1-29EE-225C-F2AC-AC1C26744F29}"/>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249D5B0F-CFA2-C0C7-4818-FD9532B2E8DF}"/>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90AEDFF2-C59E-8984-D56B-908EDB6E502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E76F138F-A312-04A2-D760-B39C4419FE57}"/>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805F0009-1A55-2FF2-3262-34C6A0E323A8}"/>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032BC305-AF04-DC58-3F90-06A04CAF5BCB}"/>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4EB3E6EA-A849-E7D4-3D32-0F8CFF8B4C75}"/>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37A3A037-3B9A-0B0E-F278-18BBD8972913}"/>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2D2283BE-FB4E-8A6C-75CE-535CBFE0243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65E19309-5F86-3CFA-569F-95D3BABB3E98}"/>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C598CB8B-D481-3786-DF2B-FAAAD4AAB2BB}"/>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10EB931B-87CF-F9DD-E3CF-B8FF8E2A1B9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Tree>
    <p:extLst>
      <p:ext uri="{BB962C8B-B14F-4D97-AF65-F5344CB8AC3E}">
        <p14:creationId xmlns:p14="http://schemas.microsoft.com/office/powerpoint/2010/main" val="377337760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8A4AA-935E-D713-4CA2-4D3BAF492EB0}"/>
            </a:ext>
          </a:extLst>
        </p:cNvPr>
        <p:cNvGrpSpPr/>
        <p:nvPr/>
      </p:nvGrpSpPr>
      <p:grpSpPr>
        <a:xfrm>
          <a:off x="0" y="0"/>
          <a:ext cx="0" cy="0"/>
          <a:chOff x="0" y="0"/>
          <a:chExt cx="0" cy="0"/>
        </a:xfrm>
      </p:grpSpPr>
      <p:sp>
        <p:nvSpPr>
          <p:cNvPr id="1362" name="Title 16">
            <a:extLst>
              <a:ext uri="{FF2B5EF4-FFF2-40B4-BE49-F238E27FC236}">
                <a16:creationId xmlns:a16="http://schemas.microsoft.com/office/drawing/2014/main" id="{ED95D7D6-291D-BCC1-B4B5-6EE2FE3FC062}"/>
              </a:ext>
            </a:extLst>
          </p:cNvPr>
          <p:cNvSpPr txBox="1">
            <a:spLocks noGrp="1"/>
          </p:cNvSpPr>
          <p:nvPr>
            <p:ph type="title"/>
          </p:nvPr>
        </p:nvSpPr>
        <p:spPr>
          <a:xfrm>
            <a:off x="588263" y="497541"/>
            <a:ext cx="11449062" cy="430887"/>
          </a:xfr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dirty="0">
                <a:cs typeface="Segoe Sans Display" pitchFamily="2" charset="0"/>
              </a:rPr>
              <a:t>Microsoft Copilot for Microsoft 365 architecture </a:t>
            </a:r>
            <a:r>
              <a:rPr lang="en-BE" sz="2800" noProof="0" dirty="0">
                <a:cs typeface="Segoe Sans Display" pitchFamily="2" charset="0"/>
              </a:rPr>
              <a:t>and content retrieval</a:t>
            </a:r>
            <a:r>
              <a:rPr lang="en-US" sz="2800" noProof="0" dirty="0">
                <a:cs typeface="Segoe Sans Display" pitchFamily="2" charset="0"/>
              </a:rPr>
              <a:t> </a:t>
            </a:r>
          </a:p>
        </p:txBody>
      </p:sp>
      <p:grpSp>
        <p:nvGrpSpPr>
          <p:cNvPr id="2" name="Group 1" descr="Diagram of Microsoft 365 Service Boundary&#10;6) Copilot sends the response back to the user&#10;">
            <a:extLst>
              <a:ext uri="{FF2B5EF4-FFF2-40B4-BE49-F238E27FC236}">
                <a16:creationId xmlns:a16="http://schemas.microsoft.com/office/drawing/2014/main" id="{1A450AF2-54AF-4B93-FE0A-CD8A322A0D61}"/>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6FF467B8-6B7F-C775-6B77-48C887703EAD}"/>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E1917104-8FF3-40DA-BD19-F917D533F403}"/>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35F0E9FF-DB04-842E-889E-331F088DD9C1}"/>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FDF8C7D3-0BF7-A860-D0CC-82B3E9960460}"/>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CB2B9D25-5E9A-8324-DBEA-A88FF90CA3AF}"/>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C4F2BDBD-348B-F6F0-CC3F-87B8E1350126}"/>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082D4CC6-0AE2-7C45-D79E-71BDEAD7D521}"/>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41EB7046-0B69-A81C-7CA9-D1A1407C2F6F}"/>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7BC6B394-D352-6AD9-344B-93BDCBC1D24E}"/>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7B8F7BF9-E747-99B2-9D84-74B9AE828502}"/>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A2D119D3-3D5F-0267-EAD6-C0AF4BB2119A}"/>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6F358390-BAE3-B9D5-C798-38EC3E7328EA}"/>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40BFBD78-632F-7D6D-03E6-65649634B4F0}"/>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6F8D1CD-BF7A-9084-166B-0527D6F61172}"/>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3DDFB0C-3449-EF86-795C-33E3CA2630E9}"/>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9A8CE44-CEFB-24B1-F6A3-416F9BEA0676}"/>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CB97F3D-1028-B91A-F05A-F8A8797C2992}"/>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995B10B-C857-02CA-1BDB-C42C27CE4801}"/>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414192E-617A-7747-25BC-3AD9368FCD6B}"/>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6E18220F-2757-1D1A-BA2D-CE220CAE269B}"/>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BBC716A3-3C65-5EBF-A062-5C71F3265850}"/>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DC56237A-5E9B-00CC-EAEB-DB4D8BDF7CAE}"/>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D89A65DB-080D-A496-B14B-F2E781D3BA7B}"/>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C03F79C6-ABBE-6659-C844-2F3C07084767}"/>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A8A720A3-BE57-2B12-7B42-6ED06489ACFA}"/>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980023E4-A267-735E-8865-99C2105EAF15}"/>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3FA9BEAA-B4F6-1D2E-3802-0667905885E5}"/>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288F5DBA-BBC9-9006-219B-8A089E5E6300}"/>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41B90643-A8FE-4C0A-7A50-99C771AC2D7D}"/>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E6CEBCB4-878D-F55C-AB74-1F4728E47DB7}"/>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C7C7489D-7FFD-3CCC-FA25-D0B5637B4FD6}"/>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F7E41F0B-7130-F42B-4953-96F2F56B6770}"/>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28056F73-02E7-4337-001F-6CD8C49B7ED3}"/>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0ECBD4BB-6DC0-1627-FB95-9D15E5A326E7}"/>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CF43AD8B-5F4A-9FEE-11D0-0C2D5B1BD86C}"/>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7C23891A-064E-1133-0FD5-B40D24B002CE}"/>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3FE3351D-2505-5A4F-3AFC-CECFF570020F}"/>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5D6E6002-89CD-5D5A-14D6-788758F855E9}"/>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66F71511-EF9B-80D7-7C52-9F9C6AC50F9A}"/>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E6495D2D-D75D-3237-C55B-3CF040FA0F85}"/>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6A373050-9AE7-12DF-48FA-BBE972D962F9}"/>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0B462EF3-4E0E-DB9F-57BD-F7BA595C5DC9}"/>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E96D4161-88AA-18DC-81A0-DDCB0A424EF7}"/>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54FE533F-1089-BF09-4741-8B13837CB2ED}"/>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4E20FE3A-7A36-2B7D-9482-62324F75F304}"/>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0439F29D-74E2-702C-3052-FE02FC4EFD46}"/>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E0F80099-A38A-C92D-3449-A5CE82CFAF66}"/>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FF36F704-786D-D2EF-6A35-6C7000D4CB61}"/>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6841FF24-12B9-A480-94F8-FEEB8F3AA798}"/>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549CB82E-2925-721C-D7B7-0CDADD6185F9}"/>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748C4E4E-3870-F371-3378-88C2A3E25FC5}"/>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9F6383B9-A0A5-F7A8-3481-D0A2B975D229}"/>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3430DC32-CAC4-E50A-1315-6E45E51F98B0}"/>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A42E92AA-F969-5670-D6B4-7D5351E21201}"/>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CB683AEB-BCD0-7215-C936-FB3B6F2D0D61}"/>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BDCF5D16-D5AE-76B6-89D2-CB5A35A156E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FA64D0A5-2638-D81D-029E-71BAB8DB9040}"/>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244509B6-2714-65AB-F867-F652D5D9C8A0}"/>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605EC97E-E49F-0BD9-2F42-6FC278DF493F}"/>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A2480CAF-9828-BF93-7B80-6C8FDC0F1386}"/>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DCB28CA9-C359-50E1-BEBD-8C7D6B2E7F0A}"/>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9DF75BE4-8FBC-A6B6-06DF-44B382D94037}"/>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1F037B4A-F1DC-7106-56F9-B0B8C5E70349}"/>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D5975798-31C5-FC9F-31FF-A748CE0E160A}"/>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A4B12D56-C6B6-7CA3-B3F1-AF770842ABC2}"/>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10BAE1A9-0380-8F75-5295-947644B6D5FB}"/>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71751289-EF10-C20B-45A9-48BC685F2651}"/>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16A35AE1-FB8E-85D0-4EB9-70FA9BC93D0C}"/>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17F592D6-3715-9E9F-894B-D638A345C1D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53123AFD-2F44-D531-B520-4A3419D48F36}"/>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B7589B4C-6DDB-8CA8-1001-79518839E74F}"/>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E32B363C-0391-C2B6-49AD-B955FB9C9BEE}"/>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FE16AB7F-0507-F0D1-3A07-AB33A6316E19}"/>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0A00BEDB-AEC4-D77C-BAD8-55EFB2B7A941}"/>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49259097-CAEC-3A6A-98BC-F1A6ACBEDAF3}"/>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17EC69DC-2A97-B2EC-C5A8-7DC84D234680}"/>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906DD5C5-4FE2-63B9-C9B6-256FC3B7A5F8}"/>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98148401-D92B-3CDC-1A64-63640B35F628}"/>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D4FB6E83-1DA3-9AC3-C353-0D3D830A5D39}"/>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491B056B-75D7-D3CC-3B9B-B97EDE9FBD4F}"/>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148BB6B2-7082-7DBE-2B8D-27C91A0B9E64}"/>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EBBAD73B-92DE-34FF-AA2E-3B60F4B161B3}"/>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ED4B705C-B086-45D1-880D-948599D41F95}"/>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D32472CB-0358-3FFB-878F-FC1F2F3663EE}"/>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2A853460-5772-585A-DEE2-C539206D8401}"/>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5CFCB713-E8B0-6EDB-77B6-93D2ED16E630}"/>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2C2ED6E2-4DD4-1F48-08DB-D1C1E3F54077}"/>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DFFDDDCC-28E6-B9D8-7E41-62346FD272A3}"/>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FBB7BCEB-238C-F515-7A87-D269981B38E6}"/>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C6A83476-D7BA-4795-ACC9-042FC8471938}"/>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4A4E0B63-1412-DAEA-F0A1-68C270905E27}"/>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8FC27585-9134-E805-69C3-9188EBEAA774}"/>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9CED96EA-1350-9B79-9964-28BB7A401148}"/>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953F5296-F605-16FA-7D29-679AAC9D525B}"/>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E930ACB8-FD57-0682-D03A-F1EFEE0DF850}"/>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860EFC34-9CD8-0CAD-4FED-24D4BF679435}"/>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FEF13B57-FFCF-3D04-5A85-69D66BA2F450}"/>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FE344447-9FF0-8E9D-0593-28B44FDB1022}"/>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E2CFF026-D5DA-DE19-2A48-5FAEA8A03A68}"/>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CE0EE478-F766-4DD4-D6F0-49C6B424DEF5}"/>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E86D739B-A513-F783-A3DB-98CFEAEE55B9}"/>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05881645-6637-2213-76EA-E158ECA52D0A}"/>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AD93DA4C-E159-DC1A-3038-AB5D75ADBA15}"/>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7C1F870D-1AFE-8F1E-17DD-06066253D6D3}"/>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43B0C793-05F8-E55F-E30E-7F4582AD1442}"/>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99F4D00E-33DE-2502-C610-7D9D4024E009}"/>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AC1CE50C-51E5-D890-B981-F0C3BB9E7251}"/>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5EA0CB8D-B172-B173-C428-CEE0822D7050}"/>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FDABFD3D-8EF6-0104-5922-B2519C66BAE4}"/>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7680D698-FF19-A58B-67AF-78E1011DA614}"/>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07AA7CD0-5C22-2879-99B9-93D8017496F4}"/>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D3F6BC63-1035-6A27-4F00-C409519C32DE}"/>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1216E245-0920-0FF4-5BF9-BABC160B849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FD18A082-6E20-778C-C382-927A9FCB6710}"/>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A57560E0-88E7-190C-649E-013C6F829AC0}"/>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3AB9C43F-492F-FDE4-2AC2-9932F4F2E3AD}"/>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F65D38EC-EF57-58C0-B4FF-F863E6817FB9}"/>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E6DE7CB2-65CC-28CD-59EB-DC6BCB09748F}"/>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98F48BD1-242C-B861-D282-37750A515FCD}"/>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18583C66-A3A6-B6E5-63F4-DF82FD043E5B}"/>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B742D930-D204-8E45-69C8-A84A1DD8D9D2}"/>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6BAF47AC-F597-7C4E-90C4-619D7D9FCEF4}"/>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D5909E89-2445-ECE1-1798-A4B7DE97CBF4}"/>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A82B2651-AC4C-A1DC-9EF7-8F66648BFB38}"/>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D0D12E9F-AEEB-EFE2-1A6B-6A32AC4003B0}"/>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5084F72A-4C6F-5A98-2739-94D3B9FD2E43}"/>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05CE03F4-734F-DAD5-A082-D7DB7BAF2F2D}"/>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97DF217C-3F42-4DC9-7CE3-0E7B1C015255}"/>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07808BC8-8CE7-2B90-BA3A-17E9218AE7E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A3D91EFB-AA16-64C6-6F69-7790B0F5D77F}"/>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87E4A67F-F034-765F-6F2B-9F2D2C3F8AB7}"/>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318EB9D2-F564-8C7B-39C8-233FBDE45069}"/>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47859A28-3EF7-EF22-A4B8-56D9872204E4}"/>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C6CD0810-BDEE-C89A-3E8B-F9DF9B704E41}"/>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9C5579F4-1A6B-E9B1-70FB-1F8D92F42C3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C1AED591-53FC-720D-790D-6F911F03F118}"/>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A03AA081-D2D6-15A0-6908-B676198F4840}"/>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27380A32-260E-1D92-698D-37A8B16DE52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6A9DCDE3-8D79-A014-A417-06FF1A1CE1C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4E3D6274-0B19-FD86-02DE-918326897BA9}"/>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36BF83B3-549A-2123-4B65-622292DB06BD}"/>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83C824A5-7323-36D1-479B-94B502308A4E}"/>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1491467E-A31D-B0C7-4C36-37E0B88AB8D2}"/>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9310FC31-C1AA-A996-F6EC-6C5E0D593FB8}"/>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41652F2C-B503-4E65-A531-10FEA74259DB}"/>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40037BEF-6D5D-6AF1-800C-5DB660E3E45D}"/>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37ED571A-B76C-7741-2EC9-5BDDF4AB15EE}"/>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A25A7AC0-257B-94BD-40BB-59C258DE9F6F}"/>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26DEFC4B-807B-6FF7-CEBE-FCA00E35CB69}"/>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Plug-ins</a:t>
                    </a:r>
                  </a:p>
                </p:txBody>
              </p:sp>
              <p:pic>
                <p:nvPicPr>
                  <p:cNvPr id="48" name="Graphic 47">
                    <a:extLst>
                      <a:ext uri="{FF2B5EF4-FFF2-40B4-BE49-F238E27FC236}">
                        <a16:creationId xmlns:a16="http://schemas.microsoft.com/office/drawing/2014/main" id="{09F24BA8-9AFA-2B3A-0155-EB964F3A2CC0}"/>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498347EE-CE4C-5202-C0EF-92D120E12B3C}"/>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70C4A2EE-4C2F-771B-73AE-DCEA6EB61DB7}"/>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66F47E03-937E-7D57-9FE8-3B3170BFC7F2}"/>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86C3905B-6F49-B79A-132F-D20FBEB8622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DA985AB0-AF81-8CB4-0A28-F9F5FE9A67D5}"/>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8F78B188-373A-760B-4F8A-4A4FD8996467}"/>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91EB0C17-B610-1B74-4BB7-2ACF03A92CCB}"/>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05295A6D-0E62-CBCF-4E6B-14C0D6BA98F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78961823-4481-A390-C26B-85772A563232}"/>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C03CDD2C-207B-D661-010C-2E2EEDF3CE53}"/>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B1EB2B5C-66EE-4897-6B06-CF4FD59DA19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
        <p:nvSpPr>
          <p:cNvPr id="57" name="Speech Bubble: Rectangle with Corners Rounded 56">
            <a:extLst>
              <a:ext uri="{FF2B5EF4-FFF2-40B4-BE49-F238E27FC236}">
                <a16:creationId xmlns:a16="http://schemas.microsoft.com/office/drawing/2014/main" id="{8D28411E-BE21-854B-9D2E-F0DD4BCB996F}"/>
              </a:ext>
            </a:extLst>
          </p:cNvPr>
          <p:cNvSpPr/>
          <p:nvPr/>
        </p:nvSpPr>
        <p:spPr bwMode="auto">
          <a:xfrm>
            <a:off x="1285487" y="2291392"/>
            <a:ext cx="1885729" cy="1366208"/>
          </a:xfrm>
          <a:prstGeom prst="wedgeRoundRectCallout">
            <a:avLst>
              <a:gd name="adj1" fmla="val 72878"/>
              <a:gd name="adj2" fmla="val -55147"/>
              <a:gd name="adj3" fmla="val 16667"/>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You submit a prompt</a:t>
            </a:r>
          </a:p>
        </p:txBody>
      </p:sp>
      <p:sp>
        <p:nvSpPr>
          <p:cNvPr id="21" name="Rounded Rectangle 11">
            <a:extLst>
              <a:ext uri="{FF2B5EF4-FFF2-40B4-BE49-F238E27FC236}">
                <a16:creationId xmlns:a16="http://schemas.microsoft.com/office/drawing/2014/main" id="{515E3F4A-35E1-FF4D-DE60-2EBD1BEC73B3}"/>
              </a:ext>
              <a:ext uri="{C183D7F6-B498-43B3-948B-1728B52AA6E4}">
                <adec:decorative xmlns:adec="http://schemas.microsoft.com/office/drawing/2017/decorative" val="0"/>
              </a:ext>
            </a:extLst>
          </p:cNvPr>
          <p:cNvSpPr/>
          <p:nvPr/>
        </p:nvSpPr>
        <p:spPr bwMode="auto">
          <a:xfrm>
            <a:off x="2700229" y="3153877"/>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1</a:t>
            </a:r>
          </a:p>
        </p:txBody>
      </p:sp>
    </p:spTree>
    <p:extLst>
      <p:ext uri="{BB962C8B-B14F-4D97-AF65-F5344CB8AC3E}">
        <p14:creationId xmlns:p14="http://schemas.microsoft.com/office/powerpoint/2010/main" val="295453027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FC9C-40A5-95F0-3C77-87D3F2EA7F83}"/>
            </a:ext>
          </a:extLst>
        </p:cNvPr>
        <p:cNvGrpSpPr/>
        <p:nvPr/>
      </p:nvGrpSpPr>
      <p:grpSpPr>
        <a:xfrm>
          <a:off x="0" y="0"/>
          <a:ext cx="0" cy="0"/>
          <a:chOff x="0" y="0"/>
          <a:chExt cx="0" cy="0"/>
        </a:xfrm>
      </p:grpSpPr>
      <p:sp>
        <p:nvSpPr>
          <p:cNvPr id="1362" name="Title 16">
            <a:extLst>
              <a:ext uri="{FF2B5EF4-FFF2-40B4-BE49-F238E27FC236}">
                <a16:creationId xmlns:a16="http://schemas.microsoft.com/office/drawing/2014/main" id="{2789E20F-EA7D-9A32-AF66-D9440046AD36}"/>
              </a:ext>
            </a:extLst>
          </p:cNvPr>
          <p:cNvSpPr txBox="1">
            <a:spLocks noGrp="1"/>
          </p:cNvSpPr>
          <p:nvPr>
            <p:ph type="title"/>
          </p:nvPr>
        </p:nvSpPr>
        <p:spPr>
          <a:xfrm>
            <a:off x="588262" y="497541"/>
            <a:ext cx="11603737" cy="444155"/>
          </a:xfr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dirty="0">
                <a:cs typeface="Segoe Sans Display" pitchFamily="2" charset="0"/>
              </a:rPr>
              <a:t>Microsoft Copilot for Microsoft 365 architecture </a:t>
            </a:r>
            <a:r>
              <a:rPr lang="en-BE" sz="2800" noProof="0" dirty="0">
                <a:cs typeface="Segoe Sans Display" pitchFamily="2" charset="0"/>
              </a:rPr>
              <a:t>and content retrieval</a:t>
            </a:r>
            <a:r>
              <a:rPr lang="en-US" sz="2800" noProof="0" dirty="0">
                <a:cs typeface="Segoe Sans Display" pitchFamily="2" charset="0"/>
              </a:rPr>
              <a:t>  </a:t>
            </a:r>
          </a:p>
        </p:txBody>
      </p:sp>
      <p:grpSp>
        <p:nvGrpSpPr>
          <p:cNvPr id="2" name="Group 1" descr="Diagram of Microsoft 365 Service Boundary&#10;6) Copilot sends the response back to the user&#10;">
            <a:extLst>
              <a:ext uri="{FF2B5EF4-FFF2-40B4-BE49-F238E27FC236}">
                <a16:creationId xmlns:a16="http://schemas.microsoft.com/office/drawing/2014/main" id="{9A4B9982-BEA5-A175-8E18-E899B8F114A3}"/>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5F9CB3E1-0478-4985-5309-A4783BAE1F7E}"/>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7F5F54D8-CB60-E479-1B77-FE1751005761}"/>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83B0975C-DE75-214F-E2C7-5F4140A89456}"/>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3480AB7F-FB8C-036C-59BF-9D77FA413743}"/>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1498A09D-2EF9-4DA9-6DE6-523586E013E1}"/>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C66D460C-F812-2F78-4F8A-32CDCDB9FC24}"/>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2EBD77F5-9E43-8939-B9CA-9E6EBA6F06D6}"/>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AEC25D5D-8323-91ED-E99F-F9A547446137}"/>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F7CD1464-0919-46B7-CA5C-2A69A17D0F7D}"/>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65118092-A438-FF78-594D-C7C02DD79667}"/>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817F35B4-3CA2-A584-0DE2-EAFCB46DC7FC}"/>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6F644730-2A65-18FC-F6CB-771D19F9366A}"/>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F6F2F707-E2C5-FB85-6648-A9D7034E5F2D}"/>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FC6164-00DC-3220-AA47-B3F9924C8EB9}"/>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5B7B853-2C92-EF01-5B67-3E55E42827A6}"/>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262E2BB-6353-5C2C-2812-F77E529FCB4D}"/>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7A997E3-C6B1-16FD-FA5B-B9C591471CA7}"/>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AA9C2AD-7BF1-267A-005E-5C22360D697D}"/>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5DFE655-4B1E-FC35-C8F4-F4518416F206}"/>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6FB0C1D3-13FD-36AC-4A57-DB3D8C65BC0E}"/>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6CE5B6F2-536D-8EEC-8C74-6BAF37B1E22D}"/>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11D9D694-7502-0A54-CBCE-9C71509EEB68}"/>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E1C22427-D08E-54AE-44B6-58A7A9B7A737}"/>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C4001CC5-B77C-EEB1-CCAE-14EF1BE038D1}"/>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F10DFC0C-D37E-7053-BB65-DC3D16990B2A}"/>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C820EBEB-6268-5DBD-51E0-1AAB03787430}"/>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8A612745-9ABC-DAB8-19ED-152D2362F924}"/>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A1EB0DF8-9601-E702-39A8-42C8FFC5ACE2}"/>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4C5CB8F3-D734-A780-5570-E2B6DE68FC98}"/>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A1BF0B38-9A5B-DCB2-EC96-38EFC69665B8}"/>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7C0FCEBD-6997-BA77-0D28-52863886CDB6}"/>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BE273943-B1BF-5FAB-E221-1F541F122187}"/>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2EB64A3A-14F8-F10A-9891-34F178C0788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535E16E2-40EF-DE9C-47D9-50BCC1265614}"/>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505F8C67-FD21-9291-AA3D-096476A79C0B}"/>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620FED99-44CC-64D7-75C4-E3B106C85D85}"/>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04CE0872-2547-239E-26E2-091D26BF095A}"/>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E79964B3-58D9-8823-3A9B-88E9A8210A95}"/>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AE31CBF3-6CD0-EE63-4C0E-59E4561AB58B}"/>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51927C13-268A-6F93-D801-025DA729BF6D}"/>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7C445B7A-C7E5-BF03-77FF-C93DEFAAED07}"/>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C355EA18-5CCA-840E-59A5-F3D0BAEB831D}"/>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2CD0FE65-278B-2E40-E703-85BED77F5F59}"/>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722DC049-079E-C785-E0CB-EAB73FEE4F44}"/>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A45F87A6-7080-F49D-E54B-0A388A3F5112}"/>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3F75F5EB-FA49-ADEB-891E-56D314B5AB8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BA42CAAF-77D8-3C93-4158-EE916AB13F25}"/>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92DF8792-813F-A9A5-EDEE-9D20E9BB43B6}"/>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A8F82BB2-2019-5097-C417-F3CA9BA790B7}"/>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481ED7C5-357E-3F91-1212-1DB8FFA8708F}"/>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105D4F27-2AC9-AB94-73BA-DDE08570E995}"/>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9AFB63DE-DCE3-D2DC-2F59-6FBDC347BEFC}"/>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46D0BD62-47A0-87AB-466F-E870F5B15127}"/>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C9D30AD8-B678-2262-DF7E-F2C7539C0218}"/>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5759D5E7-BB15-C9BC-189E-F1B90F6C71FC}"/>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82F9BC19-70A4-BB1B-AD9E-12EF5135210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D27AB287-6CE4-E457-618A-762D3ECA2870}"/>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8B3C1EED-5B0E-4F02-A9D3-E0B2ACDE4A67}"/>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E6D331D6-700C-1517-B1C0-9C1132B28E2C}"/>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A4849953-904B-A024-6872-01DDCD929477}"/>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164E7E71-5080-5D81-345C-1B2F552CE0DF}"/>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C060C259-A4D0-F313-2F29-CE2E27B17409}"/>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093E3AF8-D06A-2BC2-92B5-04EE5EF4CC4F}"/>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5658F0AC-E592-5975-70B8-E524B983B84C}"/>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B33BC20A-2A28-1832-B6D0-63D05B66A50E}"/>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F8F87579-2778-3661-F46A-D6A8E67A2FBF}"/>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C5CE9D1B-4A88-094A-3C74-AD52C098C1EC}"/>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0392A511-CD70-E718-0AB8-5A7678EF6E33}"/>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1D980D3F-0CB5-1B19-CE3F-43777B671120}"/>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32E7191B-6B85-F3C2-5086-3D8A789C5F0D}"/>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85698E1F-E5ED-9BD6-615F-9899528975A8}"/>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99B6FB2C-823A-DCEE-766E-4377426A1B86}"/>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86880CC2-AF2B-7C0A-B882-ED3E371DB822}"/>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B3863441-E54E-919A-E1DF-EC38DD4D2ADB}"/>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5DEAA5E0-0C68-6FBC-C41D-7AC29FD6EDA5}"/>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B5513EDF-2A5A-FF87-25C1-B3DB4321350C}"/>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029E702A-0252-2B4B-307F-732F83022F32}"/>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5004FAFD-2616-127E-AA3F-E63BA218153B}"/>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784CD961-4734-39FC-9327-CEAFD902E339}"/>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048E32EA-A7B6-0524-ABC7-3E2D6B9CBC3F}"/>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A6A0E51F-11D5-85A3-1807-5362EC6813E7}"/>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16805F9C-C3A4-48AB-B999-A1317E907F3A}"/>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23AC678E-9F15-842D-00B7-23DC25C51872}"/>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264A8127-156B-E1D4-96D3-6D0D95BF842E}"/>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F2A6595F-4A4D-3C03-79B5-B2B52146F5DF}"/>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962C1437-B196-CD61-E998-5769962A8B27}"/>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0567C521-DF8F-F311-6596-F9D628EC4DF3}"/>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A15B302A-2E83-5EF8-2E7E-9E3025720F63}"/>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AB64BDE8-3801-FEAF-2617-F4F754DF55C9}"/>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5CDFFB7F-913D-7D55-6CDE-B8709EC45B30}"/>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FF939715-EE8D-7AA6-1BBE-083F443439CB}"/>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DF07A807-9C57-BDBC-5519-C6966119FA10}"/>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3E39E647-C8FC-4E18-F74E-B5B8025AE1BF}"/>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4974AB5C-D34E-06D6-D4C3-247B9D2224D3}"/>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12113E18-3006-AD96-388D-68F5B673DA5B}"/>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64CE9C6D-10F4-9495-EA93-A8526735F6AA}"/>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9357F2C1-FBF9-9E50-E6E9-06D5EB6909F8}"/>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6FB0B0BF-00C8-2902-0BF3-3051DE614045}"/>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A4462750-87A3-DB71-CDAF-C701D5F48BD5}"/>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4712C4F0-6B71-ABAB-45AA-13B74F5BF094}"/>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D3114AAB-1B87-BD24-7DE8-A10DB5B9BD0F}"/>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D0C5CBF3-6787-E84E-F04D-A30BC5EBA6D2}"/>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E8FA12AB-ED95-E5E6-C625-B28572A6E50B}"/>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97FB0F97-9A4C-FAD6-F666-6658D0465A27}"/>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40AC82D4-E8DD-C9AB-C212-D7A739E14613}"/>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4ED0FB83-FCA3-5C9D-8BFB-4152C1AB2A8A}"/>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22E40D7C-C765-6346-2547-6F0C4FB4C462}"/>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BE64104A-DDF9-9904-B8FC-C4B946747E24}"/>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14109239-AC2C-AD2B-B816-0B6AAE3430EF}"/>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D575342D-AC98-D686-06A0-67B8ED79B7D0}"/>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B25E3864-0BBF-7C8D-90A2-3C5AB13D797D}"/>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5BFAC968-74D0-8477-8D06-D75F615A010D}"/>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952DADD2-1312-106F-6527-C326F99AB40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F1F5CEEF-233A-B863-D608-BC2D30A6EF88}"/>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70785963-E530-9EC5-44E5-5F1D9AB2E059}"/>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4CF8DEEF-B4D2-67DD-5692-4C7B837D05CA}"/>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046C8A4E-E735-8C3F-0667-0C9AADCF0CBA}"/>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C1D31C84-B5F4-1CB9-2915-6A7F83CED86C}"/>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AFA6B671-0C06-6795-F2DF-4851D9968B2E}"/>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B3986345-9F50-FD62-C899-5F02318D595F}"/>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9B960607-B207-AA63-5B47-7D1EF283D79C}"/>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82632F19-F80B-2526-1C7F-DAD8050CF3B5}"/>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E2069CEA-2EF3-C2BC-3B64-0F1E406617F6}"/>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FC27241A-CFC4-DD3A-713A-F0EC91AB55B7}"/>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3DB73DA4-C261-79C7-BB49-4318FF14E907}"/>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E2026948-8BED-07FF-53D9-7BAC25BA46C4}"/>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58134483-2F84-A7AB-349A-6AB5ABF0DAEB}"/>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30467F9D-B7CE-453F-2827-FB519039A1AA}"/>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26E2B654-D4EC-B640-0445-EC437F15701A}"/>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79786E65-732B-594D-2800-0A97C2324D8F}"/>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C5D3F024-A11F-59CC-69FA-72563E95B05D}"/>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5A9EE4F1-3F81-9304-BD2E-8BE95E2B122F}"/>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F5330D5E-40F2-7978-B32F-89003DACB08B}"/>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BA5CB643-2EC0-58A4-F899-CE2C9F208BB8}"/>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769DE69E-A4F2-BB21-497E-CE9304C73C6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58C3F4A9-AB47-A7B6-64A8-8ACCD5E9FF32}"/>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8A655A2D-5C55-E5FC-C7D3-C0E10529189B}"/>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F9806CA0-BC52-F6AB-66F2-903746CBBBB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10798DF8-BBB2-03AC-B5EB-6BDE9E8BA65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0697356D-15F8-E896-ABCF-1922503C8BBA}"/>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FCBE2FF2-F4DB-38E3-1206-09157DA352DE}"/>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A1DA3A13-689F-2EFE-8615-9F1CAD0BF152}"/>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006F4813-7FB8-B6CB-7307-4D28F995E6E0}"/>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C7BFEF32-ADE6-1349-49C9-880EDCBAA77A}"/>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B1742EFD-D6CE-0FC1-2237-E2504D30D475}"/>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B2937C52-4F8D-774B-8E3D-3A495756852B}"/>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0B8EF1F3-C226-0298-D273-504F833B65F1}"/>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CCAD1ECC-8100-04E6-3A4D-A3AB600C06A3}"/>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F67E7693-4812-DB2A-EC85-38BA176E3B3F}"/>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prstClr val="black"/>
                        </a:solidFill>
                        <a:effectLst/>
                        <a:uLnTx/>
                        <a:uFillTx/>
                        <a:latin typeface="+mj-lt"/>
                        <a:ea typeface="+mn-ea"/>
                        <a:cs typeface="Segoe Sans Display" pitchFamily="2" charset="0"/>
                      </a:rPr>
                      <a:t>Agents</a:t>
                    </a:r>
                    <a:endPar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endParaRPr>
                  </a:p>
                </p:txBody>
              </p:sp>
              <p:pic>
                <p:nvPicPr>
                  <p:cNvPr id="48" name="Graphic 47">
                    <a:extLst>
                      <a:ext uri="{FF2B5EF4-FFF2-40B4-BE49-F238E27FC236}">
                        <a16:creationId xmlns:a16="http://schemas.microsoft.com/office/drawing/2014/main" id="{57C7E6DD-21EC-8EFF-AA51-71F453FD074C}"/>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1DCBC4DD-2996-6007-1A2B-2ACB50AF179E}"/>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DA79BE14-C892-956F-A9F0-D5FE0253084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6FC3C031-4FA4-E752-6C61-6B6EB0FB3D3D}"/>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59C4DFD7-A4A3-16DD-F1B9-4196A0C81461}"/>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920796F5-8B6C-C092-C95A-434BF9B40AF8}"/>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4F2A6175-0791-9BF1-50A2-1D777638102B}"/>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9E676C45-0FC4-56E1-ED0A-A74890BA3E26}"/>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E1689BFE-7EC4-BCD9-A36F-04287A05685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22104991-73C6-551E-32CD-D3EB32296B5D}"/>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6F2DD74E-BFB6-349A-C4C4-9093C0142ED1}"/>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4EA0AB5D-D452-556B-C65E-A308C472283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
        <p:nvSpPr>
          <p:cNvPr id="57" name="Speech Bubble: Rectangle with Corners Rounded 56">
            <a:extLst>
              <a:ext uri="{FF2B5EF4-FFF2-40B4-BE49-F238E27FC236}">
                <a16:creationId xmlns:a16="http://schemas.microsoft.com/office/drawing/2014/main" id="{33AB66D8-C12A-F06D-EF79-D201214149AB}"/>
              </a:ext>
            </a:extLst>
          </p:cNvPr>
          <p:cNvSpPr/>
          <p:nvPr/>
        </p:nvSpPr>
        <p:spPr bwMode="auto">
          <a:xfrm>
            <a:off x="6373053" y="3711630"/>
            <a:ext cx="4580292" cy="1084106"/>
          </a:xfrm>
          <a:prstGeom prst="wedgeRoundRectCallout">
            <a:avLst>
              <a:gd name="adj1" fmla="val -33417"/>
              <a:gd name="adj2" fmla="val -73659"/>
              <a:gd name="adj3" fmla="val 16667"/>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Orchestrator determines what it needs to answer the prompt</a:t>
            </a:r>
          </a:p>
        </p:txBody>
      </p:sp>
      <p:sp>
        <p:nvSpPr>
          <p:cNvPr id="11" name="Rounded Rectangle 11">
            <a:extLst>
              <a:ext uri="{FF2B5EF4-FFF2-40B4-BE49-F238E27FC236}">
                <a16:creationId xmlns:a16="http://schemas.microsoft.com/office/drawing/2014/main" id="{6C0B6E7F-D6AF-A339-0607-166C53149C2E}"/>
              </a:ext>
              <a:ext uri="{C183D7F6-B498-43B3-948B-1728B52AA6E4}">
                <adec:decorative xmlns:adec="http://schemas.microsoft.com/office/drawing/2017/decorative" val="0"/>
              </a:ext>
            </a:extLst>
          </p:cNvPr>
          <p:cNvSpPr/>
          <p:nvPr/>
        </p:nvSpPr>
        <p:spPr bwMode="auto">
          <a:xfrm>
            <a:off x="10489349" y="434609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400" b="1" i="0" u="none" strike="noStrike" kern="1200" cap="none" spc="0" normalizeH="0" baseline="0" noProof="0">
                <a:ln>
                  <a:noFill/>
                </a:ln>
                <a:solidFill>
                  <a:srgbClr val="FFFFFF"/>
                </a:solidFill>
                <a:effectLst/>
                <a:uLnTx/>
                <a:uFillTx/>
                <a:latin typeface="Segoe UI"/>
                <a:ea typeface="+mn-ea"/>
                <a:cs typeface="+mn-cs"/>
              </a:rPr>
              <a:t>2</a:t>
            </a:r>
          </a:p>
        </p:txBody>
      </p:sp>
    </p:spTree>
    <p:extLst>
      <p:ext uri="{BB962C8B-B14F-4D97-AF65-F5344CB8AC3E}">
        <p14:creationId xmlns:p14="http://schemas.microsoft.com/office/powerpoint/2010/main" val="178527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AC3D-DA99-8C5E-2AC3-D702B86C8DBA}"/>
            </a:ext>
          </a:extLst>
        </p:cNvPr>
        <p:cNvGrpSpPr/>
        <p:nvPr/>
      </p:nvGrpSpPr>
      <p:grpSpPr>
        <a:xfrm>
          <a:off x="0" y="0"/>
          <a:ext cx="0" cy="0"/>
          <a:chOff x="0" y="0"/>
          <a:chExt cx="0" cy="0"/>
        </a:xfrm>
      </p:grpSpPr>
      <p:sp>
        <p:nvSpPr>
          <p:cNvPr id="1362" name="Title 16">
            <a:extLst>
              <a:ext uri="{FF2B5EF4-FFF2-40B4-BE49-F238E27FC236}">
                <a16:creationId xmlns:a16="http://schemas.microsoft.com/office/drawing/2014/main" id="{7986EDDB-3C40-4099-FBEB-13C95DFBCB1E}"/>
              </a:ext>
            </a:extLst>
          </p:cNvPr>
          <p:cNvSpPr txBox="1">
            <a:spLocks noGrp="1"/>
          </p:cNvSpPr>
          <p:nvPr>
            <p:ph type="title"/>
          </p:nvPr>
        </p:nvSpPr>
        <p:spPr>
          <a:xfrm>
            <a:off x="588262" y="497541"/>
            <a:ext cx="11981325" cy="430887"/>
          </a:xfr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dirty="0">
                <a:cs typeface="Segoe Sans Display" pitchFamily="2" charset="0"/>
              </a:rPr>
              <a:t>Microsoft Copilot for Microsoft 365 architecture </a:t>
            </a:r>
            <a:r>
              <a:rPr lang="en-BE" sz="2800" noProof="0" dirty="0">
                <a:cs typeface="Segoe Sans Display" pitchFamily="2" charset="0"/>
              </a:rPr>
              <a:t>and content retrieval</a:t>
            </a:r>
            <a:r>
              <a:rPr lang="en-US" sz="2800" noProof="0" dirty="0">
                <a:cs typeface="Segoe Sans Display" pitchFamily="2" charset="0"/>
              </a:rPr>
              <a:t>   </a:t>
            </a:r>
          </a:p>
        </p:txBody>
      </p:sp>
      <p:grpSp>
        <p:nvGrpSpPr>
          <p:cNvPr id="2" name="Group 1" descr="Diagram of Microsoft 365 Service Boundary&#10;6) Copilot sends the response back to the user&#10;">
            <a:extLst>
              <a:ext uri="{FF2B5EF4-FFF2-40B4-BE49-F238E27FC236}">
                <a16:creationId xmlns:a16="http://schemas.microsoft.com/office/drawing/2014/main" id="{EA7F1069-EBAE-ACCC-73D8-4444C2DA322D}"/>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C1151A86-20A9-7E78-D3CD-4B53E443B8BC}"/>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0ABF6ADF-9DD8-8151-7701-D305EEE27019}"/>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C088A045-7F95-8FF5-813E-2A71F5F11025}"/>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D5AEC922-B14A-B65D-CD5C-A3E382D54C63}"/>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7F32698D-24A1-1D97-E5F4-7DA2689CAEAB}"/>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D9E7134B-405D-9E8C-4EA4-83EE437E3452}"/>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2880AC48-C67F-B7E4-1EFB-B21D476054B3}"/>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EEF0931C-1EE8-3481-09C1-9FFE0E826A54}"/>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995D4F61-F1BE-0DE0-8E32-763EC5232AA1}"/>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B9512851-4344-92BA-DDD1-7E10A153547C}"/>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1EEBF56F-9C00-6576-557F-AD528D5FA57A}"/>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2FA55D41-112C-C27A-83AB-5F7150C36CEE}"/>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F6D4ECE2-A8B3-B845-53C1-21B60887B0FB}"/>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A3CA2E8-2A3F-EB95-5191-4B0B787FF99F}"/>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05D21E-961E-6EBB-F10B-66007BFA91A9}"/>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1F9A63B-8CC4-7231-D8CA-C9205075402F}"/>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0220CC1-4764-7DAE-4F68-F43EE8EF5919}"/>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1F625A-4454-BB28-84FB-A9304F9170F0}"/>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B397E00-6AD2-88E3-714C-378621E44684}"/>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CAB0D656-24C8-8ACD-01EA-A24170822280}"/>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332951EB-6058-1086-135B-CB73BE1B7F2B}"/>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32A67E1A-EC69-F254-43E3-54588B9CD59D}"/>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50D59660-4590-587D-76DC-FB93E098CE11}"/>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DBB81662-AD1F-5D9C-70EC-B2DF4D4D102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274D2558-F49D-ACCA-6301-D1AC5C0DB6BD}"/>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F828D20E-F41D-3960-5A3F-7EF19D8D82FB}"/>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03842216-2840-5C4F-870D-C0CAA4301A5A}"/>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98350BEC-25A2-5C36-A599-367B5D8E8C3E}"/>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3697A1DC-B50A-376E-2E1A-FA2DFF0B2CC4}"/>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588BB586-5F2D-4A61-D436-833E4C78987D}"/>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AAEFA19E-95C8-9BCC-FF28-FD695230473D}"/>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A77EBAD8-3B3D-2167-4B34-F31FE1B101D1}"/>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1CDF7000-E038-DFA8-6398-83B86F4EC22A}"/>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95FE1031-6DC6-6ADF-47B2-05719EEFCD9D}"/>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1976A8D7-4424-6D0C-69DB-D0B78207E13D}"/>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A6005109-0965-E20E-F13F-A5AE63CEB2FF}"/>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C432B529-5879-23F0-7C4C-75DEEB59B50A}"/>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9722119B-FF48-8A2C-52D4-F11564744B24}"/>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0E4105F3-CC62-338B-3FDB-97960B1F556D}"/>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24FAE88C-5CDD-88E6-C579-8951994EF650}"/>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58E5D281-4A78-5A5E-1011-0A937F682EFA}"/>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BC184392-0F9A-B7C9-9710-6F75C658ABB7}"/>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A32533EB-49A1-51D4-3E1A-F3916263C220}"/>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4B1AC606-E014-E7B2-FB58-2FACD516AC10}"/>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B9CB4382-EAFB-FA71-A1B7-7CEEAD20EBBA}"/>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D5FF73B7-FB5D-7103-354E-D01A462DA44F}"/>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9F0BD2CF-0779-B945-9CE2-5BF7FD78DC5A}"/>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013049DB-82E8-6C56-CDE1-2EF40DFDB1EB}"/>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F81E7F62-6F66-A473-A679-BA642B3809A4}"/>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6DB0DF5C-2844-AAC9-2340-E3A30F6E3BBA}"/>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BA802931-D048-BAF8-D512-7AEA1E8675F8}"/>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1D79D157-858C-6251-3BAB-7F4F056FEAEC}"/>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93B9FA88-0D06-9CDF-6B8C-02ED86D36409}"/>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BB450535-8741-75A1-3A04-CF4326BF5BC6}"/>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71DBADB5-CD69-EACE-AE0B-2C4A91BC905E}"/>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8462CAF9-226F-FBD0-C63D-A660AD67CA4E}"/>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95D14BE3-7AB4-63A2-411A-623DD253A31C}"/>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7FC4EDBA-0847-7F5A-CB93-6440BA6E39DA}"/>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3BE931D7-8217-5C80-B57A-4D27E4EBB224}"/>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33B2677C-A4F7-0E66-055F-3A01A87B588B}"/>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25269DC2-63B9-26F8-6848-9485D7F7FEE1}"/>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BD0430C4-FCCF-F75A-2266-4B48528890BF}"/>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ABC8C089-FEDD-F232-D18C-0FCE9BEDCC18}"/>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DA21C124-3189-ABF5-FBD0-3D5C5A3B09EE}"/>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6ED9ECAD-DA9F-31F8-F57B-4F4254539B35}"/>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8AE05367-9082-B4C7-2826-E07DD837DCC9}"/>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28383AB8-6888-35F6-2837-9DE0C6372846}"/>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15168608-BD9D-E0B6-C773-1D800B890C14}"/>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3C3ADB76-6380-1D37-0612-DFE2B08CDADF}"/>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374F56DE-FDF9-7217-1034-CD3BDE762D7D}"/>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80E39A59-2DF7-3561-A85E-B193CEE5ADDE}"/>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2FE44D68-141B-7E6C-77DA-F58DCA066DF9}"/>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9B412CE0-8569-9B62-52B2-90529DBD6F77}"/>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2BDAB0D7-E396-AD71-1EA0-DF667F69801B}"/>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F33B4756-8F43-D05E-F747-DD34665A1853}"/>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AD6C2408-92EC-F79F-3D3D-8967B0484E49}"/>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CEDDBC30-0111-4ADD-3AFE-89F056FDC17D}"/>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D5319B9D-D40A-A539-0D1D-747F41B04DC0}"/>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A868E224-C171-213E-F9BF-FE3E3A5E4795}"/>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4949E156-C16C-38AF-3E9D-C0A88E4A218B}"/>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6CBD36DA-9765-C4FD-A11E-793B4C26788F}"/>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1264A9D1-DC97-F7DF-A55A-5D7A624C3624}"/>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6B7644D8-6567-6EC9-AA7D-E506A564FD91}"/>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411CDAE8-B764-4445-F8A0-C79AB0C8B381}"/>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D7FA06EA-EB91-A433-A06C-0E7B19B27D94}"/>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7972D3CB-D7F9-0CB7-AA24-5C83FE1D6312}"/>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0BDC2F6E-A69D-ED23-8516-9C550B0635AD}"/>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F4AAD392-8BA2-1D23-1E58-CB859EE87B7C}"/>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F8DC4728-017A-08A0-79C1-52C341415C50}"/>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298520F3-6C38-BACA-FA78-500E2E867B7B}"/>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392B91C8-CC3B-81FC-6948-33337D88E236}"/>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075AC313-542A-F114-F787-A52B6D88F276}"/>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55D45F87-7E94-0801-EAB6-FFA2BF65A5F0}"/>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6F54E82D-0D83-CACE-1DFA-229727322A6F}"/>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1C0A9865-9A30-F5DA-2376-DC7A28EB036A}"/>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6E137277-60FF-C20C-6C77-CA68BBE991E6}"/>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CC039390-8C78-1C53-31E9-37A68FFFBC35}"/>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48C645BE-01CD-076D-4750-4E913845A3A9}"/>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DA5F9508-C78F-0588-7C3D-854DCA5DF7C9}"/>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2DB25515-9BA4-9AF6-AC7D-92C24E4A9D82}"/>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EE2BD1FD-EB71-D8A0-0AB1-52026825B00E}"/>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BFE18E2A-312F-C5E9-1C1B-31FA55325CDE}"/>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2B5EB8DE-876B-1A1E-261D-FFB6BDD13913}"/>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E7351049-5330-A031-251E-CF19130919ED}"/>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E435D104-73DC-174A-6EB4-EFC18CFCC613}"/>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E48BE98E-DCD4-D064-2E87-C29895104382}"/>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A80B7738-90D4-9ED7-4C4C-BA7B24D96DEF}"/>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0ED389E2-C06D-7732-40DE-33138666FF7A}"/>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16234DF0-4380-71F8-4697-ACCECBF65E9F}"/>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6DBF67EB-F92B-5C52-7066-7E39DC43BC2C}"/>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1FF249C2-2B43-3B39-C7B6-D48EF2C55B9F}"/>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D67FE401-5700-F831-4949-97FDCC6B5F4B}"/>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E21A8DB7-5FC3-4ED5-82D9-8D621157F2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A0C72E5D-5B8D-5487-0AC6-C8AEA6CC67A6}"/>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7F8957B6-920B-AA07-7D31-FF41CEB4C148}"/>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65DD170F-81FC-E4C9-702E-A8AD48BF50A7}"/>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A23EC663-3C0F-A90F-2955-9A3038AE5796}"/>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C8C3BC4F-CCEB-022C-A8D2-9781F76CDB49}"/>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51A49A5C-6259-9D2B-1A65-377B23AF3344}"/>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6E479C75-B639-D89B-356C-D265706045D6}"/>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CE739E44-EC0B-9796-00EF-FA8A39538709}"/>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DCF61F04-6984-BF1C-B874-30ABF268B5B7}"/>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D77FD063-C8F2-FAD0-3441-C422C69CA1D4}"/>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6545DF2A-5051-FBD9-A525-3F7F922A53B0}"/>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0610E251-94CF-B2AC-0B1B-9AFCD895AA55}"/>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B4B8017A-1757-A26F-8B42-E5F4A8D58AFB}"/>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383FEDA8-E4E9-7314-5701-B2DC54861134}"/>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B7FE972E-DF36-49A7-8C51-D76AC521779B}"/>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9558B470-2136-4951-C397-F7F20D08AA4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94DEC327-06FA-D86B-0175-C96584BD097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9F58DC88-EEB6-2320-C9C9-7B2A5976F3B2}"/>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AD7D3420-CFB4-1773-D295-90DA40D435C7}"/>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56A7052D-AE78-07AF-79B4-C07144AAE5C0}"/>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D4290EC4-25BA-67DD-692D-B7C4E5C8E491}"/>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A0B98A21-E6BC-E8C1-8385-0A2E15DDC2D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2F3B9767-9706-2149-6728-CC1C1D747EED}"/>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91305B68-0494-3120-9C16-AA25EEDCD402}"/>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588E7EF5-356E-049B-2156-00334C7F409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253A4465-45A7-97BB-BA05-3DFA8A729EF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927C2C6F-3B0A-ADF2-8E33-9AEC68434001}"/>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410A5B42-C7EC-D023-C120-C82181238B8D}"/>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36F89705-A9B9-8323-0841-2B1198FEFB1C}"/>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10CA4A66-7D48-410F-38B5-1546F16C8183}"/>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61B166EB-D1B1-EA70-5C93-0B15839A1E7C}"/>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70424E2A-4CDB-6E4D-1FC1-94E8FBEE22FE}"/>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2ABAD323-48D3-1383-6F46-E218AACE95BD}"/>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5105B2FA-B8F9-2399-0DCE-64871E16A9FA}"/>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F2FF3E73-D498-B2A1-6721-17D7544509E4}"/>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7CCA9673-ADE2-09D1-6CBA-4F84DC41424E}"/>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prstClr val="black"/>
                        </a:solidFill>
                        <a:effectLst/>
                        <a:uLnTx/>
                        <a:uFillTx/>
                        <a:latin typeface="+mj-lt"/>
                        <a:ea typeface="+mn-ea"/>
                        <a:cs typeface="Segoe Sans Display" pitchFamily="2" charset="0"/>
                      </a:rPr>
                      <a:t>Agents</a:t>
                    </a:r>
                    <a:endPar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endParaRPr>
                  </a:p>
                </p:txBody>
              </p:sp>
              <p:pic>
                <p:nvPicPr>
                  <p:cNvPr id="48" name="Graphic 47">
                    <a:extLst>
                      <a:ext uri="{FF2B5EF4-FFF2-40B4-BE49-F238E27FC236}">
                        <a16:creationId xmlns:a16="http://schemas.microsoft.com/office/drawing/2014/main" id="{8D88BAE7-A505-2CE5-3F79-8DC455E75D9E}"/>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54FA286E-F937-EF78-F241-0C7AD9C1FBF8}"/>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0EE91AF3-45AE-DD3B-C986-9AB26464D945}"/>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D9C15F67-641A-BBF0-A5F9-976B7D743C0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F19FE9B2-5D0D-E871-923F-75CE67CC3806}"/>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FC7D36A0-7C58-C021-E7FA-A18C65E9B384}"/>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C7512DD7-848C-354D-C7B9-46A088C8561C}"/>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F7F17F6B-B494-FB1E-84ED-BFAC59375800}"/>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7EB11CE9-F211-986F-52B4-44A47122724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1B410B14-96E1-58FD-2264-8A6D3E557B6E}"/>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7A34D609-0C50-2E6B-B674-EFED6E64DF26}"/>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050FD164-A362-13CE-027E-2CD8B02D0D1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
        <p:nvSpPr>
          <p:cNvPr id="57" name="Speech Bubble: Rectangle with Corners Rounded 56">
            <a:extLst>
              <a:ext uri="{FF2B5EF4-FFF2-40B4-BE49-F238E27FC236}">
                <a16:creationId xmlns:a16="http://schemas.microsoft.com/office/drawing/2014/main" id="{F6AB25E5-479B-7F05-3623-6B6BB0C77FA6}"/>
              </a:ext>
            </a:extLst>
          </p:cNvPr>
          <p:cNvSpPr/>
          <p:nvPr/>
        </p:nvSpPr>
        <p:spPr bwMode="auto">
          <a:xfrm>
            <a:off x="5594839" y="4079165"/>
            <a:ext cx="5125041" cy="1084106"/>
          </a:xfrm>
          <a:prstGeom prst="wedgeRoundRectCallout">
            <a:avLst>
              <a:gd name="adj1" fmla="val -57204"/>
              <a:gd name="adj2" fmla="val -17129"/>
              <a:gd name="adj3" fmla="val 1666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mn-cs"/>
              </a:rPr>
              <a:t>Orchestrator uses Graph to find relevant info you </a:t>
            </a:r>
            <a:r>
              <a:rPr kumimoji="0" lang="en-US" sz="2000" b="0" i="0" u="none" strike="noStrike" kern="1200" cap="none" spc="0" normalizeH="0" baseline="0" noProof="0" dirty="0">
                <a:ln>
                  <a:noFill/>
                </a:ln>
                <a:solidFill>
                  <a:schemeClr val="tx1"/>
                </a:solidFill>
                <a:effectLst/>
                <a:uLnTx/>
                <a:uFillTx/>
                <a:latin typeface="Segoe UI Semibold"/>
                <a:ea typeface="+mn-ea"/>
                <a:cs typeface="+mn-cs"/>
              </a:rPr>
              <a:t>are allowed to access</a:t>
            </a:r>
          </a:p>
        </p:txBody>
      </p:sp>
      <p:sp>
        <p:nvSpPr>
          <p:cNvPr id="11" name="Rounded Rectangle 11">
            <a:extLst>
              <a:ext uri="{FF2B5EF4-FFF2-40B4-BE49-F238E27FC236}">
                <a16:creationId xmlns:a16="http://schemas.microsoft.com/office/drawing/2014/main" id="{CE01B864-A2C7-F94B-048D-A043799EE88F}"/>
              </a:ext>
              <a:ext uri="{C183D7F6-B498-43B3-948B-1728B52AA6E4}">
                <adec:decorative xmlns:adec="http://schemas.microsoft.com/office/drawing/2017/decorative" val="0"/>
              </a:ext>
            </a:extLst>
          </p:cNvPr>
          <p:cNvSpPr/>
          <p:nvPr/>
        </p:nvSpPr>
        <p:spPr bwMode="auto">
          <a:xfrm>
            <a:off x="10285068" y="476438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400" b="1" i="0" u="none" strike="noStrike" kern="1200" cap="none" spc="0" normalizeH="0" baseline="0" noProof="0">
                <a:ln>
                  <a:noFill/>
                </a:ln>
                <a:solidFill>
                  <a:srgbClr val="FFFFFF"/>
                </a:solidFill>
                <a:effectLst/>
                <a:uLnTx/>
                <a:uFillTx/>
                <a:latin typeface="Segoe UI"/>
                <a:ea typeface="+mn-ea"/>
                <a:cs typeface="+mn-cs"/>
              </a:rPr>
              <a:t>3</a:t>
            </a:r>
            <a:endParaRPr kumimoji="0" lang="en-US" sz="2400" b="1"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4099035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AD767-CB39-2161-0846-F7B94D36571D}"/>
            </a:ext>
          </a:extLst>
        </p:cNvPr>
        <p:cNvGrpSpPr/>
        <p:nvPr/>
      </p:nvGrpSpPr>
      <p:grpSpPr>
        <a:xfrm>
          <a:off x="0" y="0"/>
          <a:ext cx="0" cy="0"/>
          <a:chOff x="0" y="0"/>
          <a:chExt cx="0" cy="0"/>
        </a:xfrm>
      </p:grpSpPr>
      <p:sp>
        <p:nvSpPr>
          <p:cNvPr id="1362" name="Title 16">
            <a:extLst>
              <a:ext uri="{FF2B5EF4-FFF2-40B4-BE49-F238E27FC236}">
                <a16:creationId xmlns:a16="http://schemas.microsoft.com/office/drawing/2014/main" id="{EAF9A9FE-5153-1969-1B4D-F7FC7A400C15}"/>
              </a:ext>
            </a:extLst>
          </p:cNvPr>
          <p:cNvSpPr txBox="1">
            <a:spLocks noGrp="1"/>
          </p:cNvSpPr>
          <p:nvPr>
            <p:ph type="title"/>
          </p:nvPr>
        </p:nvSpPr>
        <p:spPr>
          <a:xfrm>
            <a:off x="588262" y="497541"/>
            <a:ext cx="12240633" cy="430887"/>
          </a:xfr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dirty="0">
                <a:cs typeface="Segoe Sans Display" pitchFamily="2" charset="0"/>
              </a:rPr>
              <a:t>Microsoft Copilot for Microsoft 365 architecture </a:t>
            </a:r>
            <a:r>
              <a:rPr lang="en-BE" sz="2800" noProof="0" dirty="0">
                <a:cs typeface="Segoe Sans Display" pitchFamily="2" charset="0"/>
              </a:rPr>
              <a:t>and content retrieva</a:t>
            </a:r>
            <a:r>
              <a:rPr lang="en-US" sz="2800" noProof="0" dirty="0">
                <a:cs typeface="Segoe Sans Display" pitchFamily="2" charset="0"/>
              </a:rPr>
              <a:t> </a:t>
            </a:r>
            <a:r>
              <a:rPr lang="en-BE" sz="2800" noProof="0" dirty="0">
                <a:cs typeface="Segoe Sans Display" pitchFamily="2" charset="0"/>
              </a:rPr>
              <a:t>l</a:t>
            </a:r>
            <a:endParaRPr lang="en-US" sz="2800" noProof="0" dirty="0">
              <a:cs typeface="Segoe Sans Display" pitchFamily="2" charset="0"/>
            </a:endParaRPr>
          </a:p>
        </p:txBody>
      </p:sp>
      <p:grpSp>
        <p:nvGrpSpPr>
          <p:cNvPr id="2" name="Group 1" descr="Diagram of Microsoft 365 Service Boundary&#10;6) Copilot sends the response back to the user&#10;">
            <a:extLst>
              <a:ext uri="{FF2B5EF4-FFF2-40B4-BE49-F238E27FC236}">
                <a16:creationId xmlns:a16="http://schemas.microsoft.com/office/drawing/2014/main" id="{CFF39066-898B-7631-16B0-200442BAD354}"/>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8687894A-02B3-9AF1-DA6B-FDC7C69B668B}"/>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2B50073B-7663-FAB1-CD3A-8848D223369A}"/>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07EE613C-511A-FEB7-6F39-ACAB64CB4FC7}"/>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AD883D4C-1699-27EE-D16F-B79E53921197}"/>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8693B32C-EE71-54CA-30FA-44EAAD4B33AE}"/>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1B8C9D16-5E06-801E-F465-A79BA89EDC3B}"/>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C22F2A26-6818-9776-77B4-74BD888B9B2D}"/>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C27F17FA-2D4C-3F35-BA02-299B3D21A187}"/>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9352099F-1984-15A6-7371-96BBAFC5A4A6}"/>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C786F09B-7EBF-A54F-EBD9-7014BE1BB603}"/>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A12050D9-5625-FB56-7359-CFF3EE016F73}"/>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29588B80-D3C7-4E58-60CA-3CC31D536E9D}"/>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83BCCBA2-F4AB-7548-4B69-D18B3C633324}"/>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5646864-1DBE-5144-524F-331370CF5867}"/>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64D03E3-4580-94F9-591F-E2380F308C66}"/>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E7672BF-D1BD-DED1-0345-FFCB843C0BD2}"/>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BFC10B-A4D2-333A-5427-7BA6419B3008}"/>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EC399A-7E0E-3893-8E60-BE57A50C5ED0}"/>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42B487E-19DF-0471-7B24-9334A21F83E2}"/>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76558C9B-9155-BCC9-35CF-B729CE8D2E24}"/>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6702FF50-D044-4066-D03C-7DF4C01951C3}"/>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9A14737E-6E77-9E7B-1551-D47132629425}"/>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40044B30-F81A-B7C0-8A06-33E420CCE11C}"/>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D9DE1F1C-8C0A-4A95-3683-E90AF632D11B}"/>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24F8EF20-F9A6-B3B4-3BFC-6B98BAA386F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A6A6E86C-C7AA-C131-C293-794A3918DA56}"/>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08E62115-EA29-8D19-F9D8-E3F13803CB48}"/>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4A34513C-9A71-3C58-0888-867D459E4801}"/>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D3AC3B26-B7D6-1147-65AE-E5BCA86E6BA5}"/>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77B8F4AA-ABEC-BAEC-916C-AD8093D82EDF}"/>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02609C85-B798-155A-FC31-E2B98C9D2C0D}"/>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7F7A82A8-AC61-5A89-FAFE-65019FDA0280}"/>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42F09623-9B42-9A77-3D48-396A1CE2BB7E}"/>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6B04CBD8-83BB-94A2-5A5D-FAB7E6AC4357}"/>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DA3FE86E-661D-3653-3FDA-5FEE42E93F5C}"/>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66D4331A-CEAD-25CA-2695-2E996D634308}"/>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CEBAC2C8-296F-C8E0-B6B7-AE556CCDD9F7}"/>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BF249795-2434-3DA7-111D-3230C131D2B9}"/>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4EB65D04-D7B9-3E5A-A593-60D84276F52E}"/>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4B9933B8-3713-DEF7-23F0-744DEF9A90FE}"/>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F2182A62-299E-B899-87D9-EB9534175E88}"/>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97EEF41C-977B-5EC0-4FE3-E7507BD8E4FD}"/>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192C54A1-5F3E-97E2-F3F6-DF4653973E98}"/>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7CCCE790-10AD-B52A-6060-9755C38487AE}"/>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0670BB1E-0EA5-9A53-B2F9-60A6773AFCD3}"/>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8C5E0CC5-AEA3-7A6E-F5AF-5551D8CA01C6}"/>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71CDEBEE-DF58-71D5-6C20-C1FA34586509}"/>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75A5C3BB-D68A-A7C5-D62A-A87E6ECF3A9B}"/>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06BE52A2-AACB-69C4-7413-0602CA128840}"/>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0B7C6BF3-86CD-8F8A-2A91-FDD2595FFAC0}"/>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8BA1BD64-0928-51AA-FEA8-0A91F54EAE7C}"/>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41A9CF47-B4EF-00AB-339E-FCE0C36BEB03}"/>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91071EC2-29A2-2F13-F054-95CD9F3EC868}"/>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1EBFF353-F7D0-5697-0053-D4D296BEECB3}"/>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46895ED8-088F-C59F-B61D-071EBF3F989E}"/>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9CC21BCE-97B9-011B-1483-177CB2913DEA}"/>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E49E1FA2-AC4A-7848-8C06-FB7BC3032975}"/>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3195F5D3-D5FC-44F0-596A-C9A7A64C5ED6}"/>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610F154F-E29A-25AF-83FC-C22AF96DEF62}"/>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8602F5F5-EF9B-6D9C-9886-D2964FC6B586}"/>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2F334291-CC2F-9617-F3D9-FF2B02F1A49C}"/>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D92B4902-BAC3-B31B-9AFF-B3FC75A505C4}"/>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394BD055-DBB9-F461-CC73-3C0376936A2C}"/>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4925941D-AFFB-70C0-EEB6-3FF8E38706B3}"/>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795C0B07-0409-9DB0-E99D-4CC18E84467F}"/>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5FE1CB19-FF65-6B12-4345-567ABDFCE6D9}"/>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ECFD337B-A9E2-AD9B-6587-B4B7BB8D6170}"/>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661DC204-E1B2-610E-C338-6C737395CBD9}"/>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4A9A40F8-D9A0-E9FA-8147-0DE7362D9786}"/>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AFAE8C84-0030-FBFB-F0BF-45D9A27848D8}"/>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E3F16771-B3F0-1E45-60A4-8D91C3134D6C}"/>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A75AABF3-4D95-4B6D-0111-2042C1E65185}"/>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5B374136-3474-B447-31B2-733C9645EC27}"/>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53C6EB46-0D76-3C25-D466-5002DEBC4F42}"/>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43ED7187-A898-F4E7-DD1F-8682A50A2268}"/>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69092E44-2CB6-A201-49AD-3D939A2E1FC9}"/>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8E83120A-BAF7-6D74-D14A-A2E475F702E6}"/>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1E9CAD1F-5029-3D07-759E-7EA089AB1451}"/>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14897872-9657-4207-2181-91D677ED4AAD}"/>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7186D7F6-908D-8169-3773-2F7FF92D080B}"/>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1E49F611-BADE-8441-061F-DDAF2E8B2721}"/>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97AC8B7C-359F-11D1-4BBB-97EDB69B14D8}"/>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87F54463-90BB-0195-9490-F53B7D746DBD}"/>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1803356B-4B62-D8E1-49C9-A225E1264C86}"/>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4471C841-6B3C-14A6-04E2-82957BA07879}"/>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243EC272-E1F4-D082-6C8F-60B866D55EF4}"/>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CDA6C0D4-6E86-53A8-3CAB-D0080CF03277}"/>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A13D827C-AD1F-DEAA-651C-0FB4447D6BD4}"/>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05DFA77A-562F-C09F-21E1-B01EA0BC4FEF}"/>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403764C8-8F72-942A-2494-2D9CBBD9CFD5}"/>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55AE7FE0-816C-0851-428B-EDCE659A68D8}"/>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762A098C-9DA1-60B3-3DDF-584E52E08CE8}"/>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181CA24D-0252-651A-07B2-E6A15792D949}"/>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8BB35EF2-2F04-0014-88AE-6820F1AA657C}"/>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62400815-87FB-A074-4218-BC417A8A24A2}"/>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8C77D2CC-AF24-06C5-DC47-B6954750647A}"/>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1783E100-4407-192E-9964-3D5C0910ADA5}"/>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B16CC04E-3026-10C4-1AA4-1DD217453D13}"/>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7599ACE5-8A03-34BF-7A0A-057CCFC24E17}"/>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75904C4E-77AA-76BC-2B85-CB1815E84607}"/>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242FBD58-D712-A7DE-EE7B-B7B42925D70A}"/>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848F37E1-F98D-60E3-6DF0-6BBF0ECE1C0D}"/>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1D826D09-CC50-A93D-3E4E-29750793721E}"/>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27FF7698-58FE-5846-57F9-87E9623410ED}"/>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E2D145FC-B116-0F65-8FE0-9B586000B4F1}"/>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5E0DB839-E5B2-2A52-AC34-C205752CD3C8}"/>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A966EA71-521E-6E10-AC1F-6AA56DD05A53}"/>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F2FEE9C7-A090-108F-78C1-AC80C1CF1181}"/>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2DF0B725-D460-11B3-5E46-BBBD88E6F27C}"/>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1DF94D9C-DB48-B664-E875-EACD9161E30A}"/>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986D6A9B-368C-41EA-BECB-50A6F3C46D09}"/>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EAD8D172-34AB-E1B3-A7D2-2CBAE7BAEDD2}"/>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BCDB19A3-6EA6-1AAB-6D95-42E979F94A6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D5462363-F1DA-D25D-4164-33ABC90D72DB}"/>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C93C082D-DB18-68D7-FEA3-62B8F957F0A3}"/>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5B06A3D6-C768-B7AD-51E8-17F96D1FB2C6}"/>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3F93A119-7FA0-8E18-9BCF-AC795479207A}"/>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A8AD7787-ED3A-A9BF-A9F9-DC7B7B298AD9}"/>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664AD9E5-36AC-5DCA-9E01-1A91DBABA968}"/>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B2488336-386F-F711-958E-D3F70663EA6E}"/>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31C445E8-9160-CA9C-9FC5-40E7F14E25EC}"/>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6D3F0A6E-94A6-70D2-4CA8-1040A663DE5A}"/>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11DC90BB-05EB-9FCA-C415-FA8C2A3FFF46}"/>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60D4D20B-22E3-C77D-108E-A2C29315D545}"/>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29981DCA-1210-CC38-0EF4-80A90A706444}"/>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A3E5BEA8-B303-FFC6-50E2-0A66D238EE34}"/>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351F5BE4-4F7F-1C7F-6D05-908E83D76DC7}"/>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20A4FA6E-0F44-F986-7BF0-233F658627B5}"/>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9FBE5E1E-77F0-79F6-DFCE-507D82253CE3}"/>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9D35F718-02AD-683A-D2DA-1CBB93A9B6B2}"/>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E3E33C4B-DF17-AD6F-A625-B10EE4022CD8}"/>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CCCD33E2-C8BE-CE5E-D090-F7B86EFB2CA3}"/>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C5CD0D1E-075E-DD8C-808B-D7E6BB89F7CB}"/>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72C72609-F1A4-F467-559F-B7BBFAE2EB16}"/>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77CBBA90-3378-5151-5B96-63E27C6445C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73694DF7-69D5-D122-AD2D-DE3D1D2D226C}"/>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7569DAAC-D5A1-2226-5399-E2AAAE0A382A}"/>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F5DF40AC-B07E-C6B6-55FB-AC488D45971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8D8C9E9E-4D7C-DF22-D60F-B3474712F6F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FCAE51AC-D755-4729-2D80-43B544B3C557}"/>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14E65097-2900-D7E2-4A15-F22C479E21FF}"/>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13A7D72E-8FE4-9239-E4CE-2FEEF6831170}"/>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0D1AB380-95E2-F026-4E84-B3EE44788F87}"/>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5322200B-109D-AC76-B43F-1F575887DDC0}"/>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1B728883-DDA2-6635-FD93-8177CD1A9240}"/>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DC640D6B-2270-12B7-093A-B7950DAB758F}"/>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220BF3C2-7879-04F0-61F5-805CE1A2303A}"/>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FD7A877C-6FA2-F423-1A56-B7D058CB9916}"/>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31E04282-EC41-5122-8E0C-65EE1129B79D}"/>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prstClr val="black"/>
                        </a:solidFill>
                        <a:effectLst/>
                        <a:uLnTx/>
                        <a:uFillTx/>
                        <a:latin typeface="+mj-lt"/>
                        <a:ea typeface="+mn-ea"/>
                        <a:cs typeface="Segoe Sans Display" pitchFamily="2" charset="0"/>
                      </a:rPr>
                      <a:t>Agents</a:t>
                    </a:r>
                    <a:endPar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endParaRPr>
                  </a:p>
                </p:txBody>
              </p:sp>
              <p:pic>
                <p:nvPicPr>
                  <p:cNvPr id="48" name="Graphic 47">
                    <a:extLst>
                      <a:ext uri="{FF2B5EF4-FFF2-40B4-BE49-F238E27FC236}">
                        <a16:creationId xmlns:a16="http://schemas.microsoft.com/office/drawing/2014/main" id="{9830593B-DE22-7CF6-6DFE-B068EFA734A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C76CC5F9-F7D7-8BE4-EB45-ED902674051D}"/>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1CB73E10-89CB-705E-49AA-27CAA9B04427}"/>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94367045-256E-E92B-28E2-EB2F1E12E983}"/>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6A7EE7A3-1F34-FE68-31F5-E8BC18DCCBE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8CBF1FC7-169C-64F1-4EB7-5695596B2712}"/>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75E802FF-ED38-B72D-7C49-D8C1D6058C19}"/>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1FF5C156-A11A-BCC4-AFC3-6DA83A5B7733}"/>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ED85A705-B75B-10B1-85CD-DEAB3212110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D85BE9D8-B1F9-6F37-E304-68C29EBB3E7C}"/>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A0078434-9824-2F60-0ADC-3958478A5889}"/>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E457125F-ED0E-C7E8-3910-5FA9C82701D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
        <p:nvSpPr>
          <p:cNvPr id="57" name="Speech Bubble: Rectangle with Corners Rounded 56">
            <a:extLst>
              <a:ext uri="{FF2B5EF4-FFF2-40B4-BE49-F238E27FC236}">
                <a16:creationId xmlns:a16="http://schemas.microsoft.com/office/drawing/2014/main" id="{286DC167-805C-24D4-BC54-D282940C5554}"/>
              </a:ext>
            </a:extLst>
          </p:cNvPr>
          <p:cNvSpPr/>
          <p:nvPr/>
        </p:nvSpPr>
        <p:spPr bwMode="auto">
          <a:xfrm>
            <a:off x="6859435" y="3680279"/>
            <a:ext cx="5125041" cy="1084106"/>
          </a:xfrm>
          <a:prstGeom prst="wedgeRoundRectCallout">
            <a:avLst>
              <a:gd name="adj1" fmla="val -34996"/>
              <a:gd name="adj2" fmla="val -125702"/>
              <a:gd name="adj3" fmla="val 16667"/>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Orchestrator appends info to your prompt to enhance it</a:t>
            </a:r>
          </a:p>
        </p:txBody>
      </p:sp>
      <p:sp>
        <p:nvSpPr>
          <p:cNvPr id="11" name="Rounded Rectangle 11">
            <a:extLst>
              <a:ext uri="{FF2B5EF4-FFF2-40B4-BE49-F238E27FC236}">
                <a16:creationId xmlns:a16="http://schemas.microsoft.com/office/drawing/2014/main" id="{FEBE231E-59D0-9E0D-AF44-73C1E5307C35}"/>
              </a:ext>
              <a:ext uri="{C183D7F6-B498-43B3-948B-1728B52AA6E4}">
                <adec:decorative xmlns:adec="http://schemas.microsoft.com/office/drawing/2017/decorative" val="0"/>
              </a:ext>
            </a:extLst>
          </p:cNvPr>
          <p:cNvSpPr/>
          <p:nvPr/>
        </p:nvSpPr>
        <p:spPr bwMode="auto">
          <a:xfrm>
            <a:off x="11531506" y="4414189"/>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400" b="1" i="0" u="none" strike="noStrike" kern="1200" cap="none" spc="0" normalizeH="0" baseline="0" noProof="0">
                <a:ln>
                  <a:noFill/>
                </a:ln>
                <a:solidFill>
                  <a:srgbClr val="FFFFFF"/>
                </a:solidFill>
                <a:effectLst/>
                <a:uLnTx/>
                <a:uFillTx/>
                <a:latin typeface="Segoe UI"/>
                <a:ea typeface="+mn-ea"/>
                <a:cs typeface="+mn-cs"/>
              </a:rPr>
              <a:t>4</a:t>
            </a:r>
            <a:endParaRPr kumimoji="0" lang="en-US" sz="2400" b="1"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5136622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B9D32-1C47-082B-5611-5E45DBE38910}"/>
            </a:ext>
          </a:extLst>
        </p:cNvPr>
        <p:cNvGrpSpPr/>
        <p:nvPr/>
      </p:nvGrpSpPr>
      <p:grpSpPr>
        <a:xfrm>
          <a:off x="0" y="0"/>
          <a:ext cx="0" cy="0"/>
          <a:chOff x="0" y="0"/>
          <a:chExt cx="0" cy="0"/>
        </a:xfrm>
      </p:grpSpPr>
      <p:sp>
        <p:nvSpPr>
          <p:cNvPr id="1362" name="Title 16">
            <a:extLst>
              <a:ext uri="{FF2B5EF4-FFF2-40B4-BE49-F238E27FC236}">
                <a16:creationId xmlns:a16="http://schemas.microsoft.com/office/drawing/2014/main" id="{3C0C33E1-AE60-7408-A82F-06797AF611A9}"/>
              </a:ext>
            </a:extLst>
          </p:cNvPr>
          <p:cNvSpPr txBox="1">
            <a:spLocks noGrp="1"/>
          </p:cNvSpPr>
          <p:nvPr>
            <p:ph type="title"/>
          </p:nvPr>
        </p:nvSpPr>
        <p:spPr>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2800" noProof="0" dirty="0">
                <a:cs typeface="Segoe Sans Display" pitchFamily="2" charset="0"/>
              </a:rPr>
              <a:t>Microsoft Copilot for Microsoft 365 architecture </a:t>
            </a:r>
            <a:r>
              <a:rPr lang="en-BE" sz="2800" noProof="0" dirty="0">
                <a:cs typeface="Segoe Sans Display" pitchFamily="2" charset="0"/>
              </a:rPr>
              <a:t>and content retrieval</a:t>
            </a:r>
            <a:r>
              <a:rPr lang="en-US" sz="2800" noProof="0" dirty="0">
                <a:cs typeface="Segoe Sans Display" pitchFamily="2" charset="0"/>
              </a:rPr>
              <a:t>    </a:t>
            </a:r>
          </a:p>
        </p:txBody>
      </p:sp>
      <p:grpSp>
        <p:nvGrpSpPr>
          <p:cNvPr id="2" name="Group 1" descr="Diagram of Microsoft 365 Service Boundary&#10;6) Copilot sends the response back to the user&#10;">
            <a:extLst>
              <a:ext uri="{FF2B5EF4-FFF2-40B4-BE49-F238E27FC236}">
                <a16:creationId xmlns:a16="http://schemas.microsoft.com/office/drawing/2014/main" id="{E8DB5C8E-B1A3-E2BB-2450-3845FADF6BEF}"/>
              </a:ext>
            </a:extLst>
          </p:cNvPr>
          <p:cNvGrpSpPr/>
          <p:nvPr/>
        </p:nvGrpSpPr>
        <p:grpSpPr>
          <a:xfrm>
            <a:off x="1197111" y="1102246"/>
            <a:ext cx="10028448" cy="5556328"/>
            <a:chOff x="1197111" y="1102246"/>
            <a:chExt cx="10028448" cy="5556328"/>
          </a:xfrm>
        </p:grpSpPr>
        <p:sp>
          <p:nvSpPr>
            <p:cNvPr id="3" name="Freeform: Shape 2" descr="Microsoft 365 Service Boundary">
              <a:extLst>
                <a:ext uri="{FF2B5EF4-FFF2-40B4-BE49-F238E27FC236}">
                  <a16:creationId xmlns:a16="http://schemas.microsoft.com/office/drawing/2014/main" id="{FD04E438-FB07-6C01-0BE1-08C1230F5E0E}"/>
                </a:ext>
              </a:extLst>
            </p:cNvPr>
            <p:cNvSpPr/>
            <p:nvPr/>
          </p:nvSpPr>
          <p:spPr>
            <a:xfrm>
              <a:off x="3093058" y="1388721"/>
              <a:ext cx="8132500" cy="5269853"/>
            </a:xfrm>
            <a:custGeom>
              <a:avLst/>
              <a:gdLst>
                <a:gd name="connsiteX0" fmla="*/ 173408 w 8132500"/>
                <a:gd name="connsiteY0" fmla="*/ 0 h 5269853"/>
                <a:gd name="connsiteX1" fmla="*/ 187415 w 8132500"/>
                <a:gd name="connsiteY1" fmla="*/ 0 h 5269853"/>
                <a:gd name="connsiteX2" fmla="*/ 6551432 w 8132500"/>
                <a:gd name="connsiteY2" fmla="*/ 0 h 5269853"/>
                <a:gd name="connsiteX3" fmla="*/ 6748694 w 8132500"/>
                <a:gd name="connsiteY3" fmla="*/ 0 h 5269853"/>
                <a:gd name="connsiteX4" fmla="*/ 6874703 w 8132500"/>
                <a:gd name="connsiteY4" fmla="*/ 0 h 5269853"/>
                <a:gd name="connsiteX5" fmla="*/ 6917051 w 8132500"/>
                <a:gd name="connsiteY5" fmla="*/ 4123 h 5269853"/>
                <a:gd name="connsiteX6" fmla="*/ 7326281 w 8132500"/>
                <a:gd name="connsiteY6" fmla="*/ 4123 h 5269853"/>
                <a:gd name="connsiteX7" fmla="*/ 7363081 w 8132500"/>
                <a:gd name="connsiteY7" fmla="*/ 7833 h 5269853"/>
                <a:gd name="connsiteX8" fmla="*/ 7366587 w 8132500"/>
                <a:gd name="connsiteY8" fmla="*/ 8921 h 5269853"/>
                <a:gd name="connsiteX9" fmla="*/ 7946376 w 8132500"/>
                <a:gd name="connsiteY9" fmla="*/ 8921 h 5269853"/>
                <a:gd name="connsiteX10" fmla="*/ 8132500 w 8132500"/>
                <a:gd name="connsiteY10" fmla="*/ 195045 h 5269853"/>
                <a:gd name="connsiteX11" fmla="*/ 8132500 w 8132500"/>
                <a:gd name="connsiteY11" fmla="*/ 2711891 h 5269853"/>
                <a:gd name="connsiteX12" fmla="*/ 7946376 w 8132500"/>
                <a:gd name="connsiteY12" fmla="*/ 2898015 h 5269853"/>
                <a:gd name="connsiteX13" fmla="*/ 7134401 w 8132500"/>
                <a:gd name="connsiteY13" fmla="*/ 2898015 h 5269853"/>
                <a:gd name="connsiteX14" fmla="*/ 7096891 w 8132500"/>
                <a:gd name="connsiteY14" fmla="*/ 2894234 h 5269853"/>
                <a:gd name="connsiteX15" fmla="*/ 7082714 w 8132500"/>
                <a:gd name="connsiteY15" fmla="*/ 2889833 h 5269853"/>
                <a:gd name="connsiteX16" fmla="*/ 6935622 w 8132500"/>
                <a:gd name="connsiteY16" fmla="*/ 2889833 h 5269853"/>
                <a:gd name="connsiteX17" fmla="*/ 6935622 w 8132500"/>
                <a:gd name="connsiteY17" fmla="*/ 2893860 h 5269853"/>
                <a:gd name="connsiteX18" fmla="*/ 6748694 w 8132500"/>
                <a:gd name="connsiteY18" fmla="*/ 2893860 h 5269853"/>
                <a:gd name="connsiteX19" fmla="*/ 6551432 w 8132500"/>
                <a:gd name="connsiteY19" fmla="*/ 2893860 h 5269853"/>
                <a:gd name="connsiteX20" fmla="*/ 2830602 w 8132500"/>
                <a:gd name="connsiteY20" fmla="*/ 2893860 h 5269853"/>
                <a:gd name="connsiteX21" fmla="*/ 2830602 w 8132500"/>
                <a:gd name="connsiteY21" fmla="*/ 4838410 h 5269853"/>
                <a:gd name="connsiteX22" fmla="*/ 2829990 w 8132500"/>
                <a:gd name="connsiteY22" fmla="*/ 4839347 h 5269853"/>
                <a:gd name="connsiteX23" fmla="*/ 2829990 w 8132500"/>
                <a:gd name="connsiteY23" fmla="*/ 5081035 h 5269853"/>
                <a:gd name="connsiteX24" fmla="*/ 2641172 w 8132500"/>
                <a:gd name="connsiteY24" fmla="*/ 5269853 h 5269853"/>
                <a:gd name="connsiteX25" fmla="*/ 188818 w 8132500"/>
                <a:gd name="connsiteY25" fmla="*/ 5269853 h 5269853"/>
                <a:gd name="connsiteX26" fmla="*/ 0 w 8132500"/>
                <a:gd name="connsiteY26" fmla="*/ 5081035 h 5269853"/>
                <a:gd name="connsiteX27" fmla="*/ 0 w 8132500"/>
                <a:gd name="connsiteY27" fmla="*/ 4423372 h 5269853"/>
                <a:gd name="connsiteX28" fmla="*/ 1 w 8132500"/>
                <a:gd name="connsiteY28" fmla="*/ 4423367 h 5269853"/>
                <a:gd name="connsiteX29" fmla="*/ 1 w 8132500"/>
                <a:gd name="connsiteY29" fmla="*/ 208394 h 5269853"/>
                <a:gd name="connsiteX30" fmla="*/ 105414 w 8132500"/>
                <a:gd name="connsiteY30" fmla="*/ 27544 h 5269853"/>
                <a:gd name="connsiteX31" fmla="*/ 173408 w 8132500"/>
                <a:gd name="connsiteY31" fmla="*/ 1762 h 526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32500" h="5269853">
                  <a:moveTo>
                    <a:pt x="173408" y="0"/>
                  </a:moveTo>
                  <a:lnTo>
                    <a:pt x="187415" y="0"/>
                  </a:lnTo>
                  <a:lnTo>
                    <a:pt x="6551432" y="0"/>
                  </a:lnTo>
                  <a:lnTo>
                    <a:pt x="6748694" y="0"/>
                  </a:lnTo>
                  <a:lnTo>
                    <a:pt x="6874703" y="0"/>
                  </a:lnTo>
                  <a:lnTo>
                    <a:pt x="6917051" y="4123"/>
                  </a:lnTo>
                  <a:lnTo>
                    <a:pt x="7326281" y="4123"/>
                  </a:lnTo>
                  <a:cubicBezTo>
                    <a:pt x="7338887" y="4123"/>
                    <a:pt x="7351194" y="5401"/>
                    <a:pt x="7363081" y="7833"/>
                  </a:cubicBezTo>
                  <a:lnTo>
                    <a:pt x="7366587" y="8921"/>
                  </a:lnTo>
                  <a:lnTo>
                    <a:pt x="7946376" y="8921"/>
                  </a:lnTo>
                  <a:cubicBezTo>
                    <a:pt x="8049169" y="8921"/>
                    <a:pt x="8132500" y="92252"/>
                    <a:pt x="8132500" y="195045"/>
                  </a:cubicBezTo>
                  <a:lnTo>
                    <a:pt x="8132500" y="2711891"/>
                  </a:lnTo>
                  <a:cubicBezTo>
                    <a:pt x="8132500" y="2814684"/>
                    <a:pt x="8049169" y="2898015"/>
                    <a:pt x="7946376" y="2898015"/>
                  </a:cubicBezTo>
                  <a:lnTo>
                    <a:pt x="7134401" y="2898015"/>
                  </a:lnTo>
                  <a:cubicBezTo>
                    <a:pt x="7121552" y="2898015"/>
                    <a:pt x="7109007" y="2896713"/>
                    <a:pt x="7096891" y="2894234"/>
                  </a:cubicBezTo>
                  <a:lnTo>
                    <a:pt x="7082714" y="2889833"/>
                  </a:lnTo>
                  <a:lnTo>
                    <a:pt x="6935622" y="2889833"/>
                  </a:lnTo>
                  <a:lnTo>
                    <a:pt x="6935622" y="2893860"/>
                  </a:lnTo>
                  <a:lnTo>
                    <a:pt x="6748694" y="2893860"/>
                  </a:lnTo>
                  <a:lnTo>
                    <a:pt x="6551432" y="2893860"/>
                  </a:lnTo>
                  <a:lnTo>
                    <a:pt x="2830602" y="2893860"/>
                  </a:lnTo>
                  <a:lnTo>
                    <a:pt x="2830602" y="4838410"/>
                  </a:lnTo>
                  <a:lnTo>
                    <a:pt x="2829990" y="4839347"/>
                  </a:lnTo>
                  <a:lnTo>
                    <a:pt x="2829990" y="5081035"/>
                  </a:lnTo>
                  <a:cubicBezTo>
                    <a:pt x="2829990" y="5185316"/>
                    <a:pt x="2745453" y="5269853"/>
                    <a:pt x="2641172" y="5269853"/>
                  </a:cubicBezTo>
                  <a:lnTo>
                    <a:pt x="188818" y="5269853"/>
                  </a:lnTo>
                  <a:cubicBezTo>
                    <a:pt x="84537" y="5269853"/>
                    <a:pt x="0" y="5185316"/>
                    <a:pt x="0" y="5081035"/>
                  </a:cubicBezTo>
                  <a:lnTo>
                    <a:pt x="0" y="4423372"/>
                  </a:lnTo>
                  <a:lnTo>
                    <a:pt x="1" y="4423367"/>
                  </a:lnTo>
                  <a:lnTo>
                    <a:pt x="1" y="208394"/>
                  </a:lnTo>
                  <a:cubicBezTo>
                    <a:pt x="1" y="131750"/>
                    <a:pt x="42216" y="64632"/>
                    <a:pt x="105414" y="27544"/>
                  </a:cubicBezTo>
                  <a:lnTo>
                    <a:pt x="173408" y="1762"/>
                  </a:lnTo>
                  <a:close/>
                </a:path>
              </a:pathLst>
            </a:custGeom>
            <a:solidFill>
              <a:schemeClr val="bg1">
                <a:lumMod val="95000"/>
              </a:schemeClr>
            </a:solidFill>
            <a:ln w="0" cap="flat">
              <a:noFill/>
              <a:prstDash val="solid"/>
              <a:miter/>
            </a:ln>
            <a:effectLst>
              <a:outerShdw blurRad="232836" dist="38100" dir="2700000" algn="tl" rotWithShape="0">
                <a:prstClr val="black">
                  <a:alpha val="7000"/>
                </a:prstClr>
              </a:outerShdw>
            </a:effectLst>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85CD969C-3C90-679D-539D-E9ABE9CCA837}"/>
                </a:ext>
                <a:ext uri="{C183D7F6-B498-43B3-948B-1728B52AA6E4}">
                  <adec:decorative xmlns:adec="http://schemas.microsoft.com/office/drawing/2017/decorative" val="1"/>
                </a:ext>
              </a:extLst>
            </p:cNvPr>
            <p:cNvCxnSpPr>
              <a:cxnSpLocks/>
            </p:cNvCxnSpPr>
            <p:nvPr/>
          </p:nvCxnSpPr>
          <p:spPr>
            <a:xfrm>
              <a:off x="6685963" y="1732646"/>
              <a:ext cx="0" cy="550086"/>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Rounded Corners 4" descr="Customer Microsoft 365 Tenant">
              <a:extLst>
                <a:ext uri="{FF2B5EF4-FFF2-40B4-BE49-F238E27FC236}">
                  <a16:creationId xmlns:a16="http://schemas.microsoft.com/office/drawing/2014/main" id="{EECB4F40-825E-CB8A-D418-D7AECF3ABEBB}"/>
                </a:ext>
              </a:extLst>
            </p:cNvPr>
            <p:cNvSpPr/>
            <p:nvPr/>
          </p:nvSpPr>
          <p:spPr bwMode="auto">
            <a:xfrm>
              <a:off x="3238000" y="3995904"/>
              <a:ext cx="2531574" cy="2198683"/>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6" name="Rectangle 5">
              <a:extLst>
                <a:ext uri="{FF2B5EF4-FFF2-40B4-BE49-F238E27FC236}">
                  <a16:creationId xmlns:a16="http://schemas.microsoft.com/office/drawing/2014/main" id="{3CC8D9BD-31D6-D485-BA38-A15F1CB7D06A}"/>
                </a:ext>
                <a:ext uri="{C183D7F6-B498-43B3-948B-1728B52AA6E4}">
                  <adec:decorative xmlns:adec="http://schemas.microsoft.com/office/drawing/2017/decorative" val="1"/>
                </a:ext>
              </a:extLst>
            </p:cNvPr>
            <p:cNvSpPr/>
            <p:nvPr/>
          </p:nvSpPr>
          <p:spPr bwMode="auto">
            <a:xfrm>
              <a:off x="4043245" y="3923366"/>
              <a:ext cx="849089" cy="14126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7" name="Freeform: Shape 6">
              <a:extLst>
                <a:ext uri="{FF2B5EF4-FFF2-40B4-BE49-F238E27FC236}">
                  <a16:creationId xmlns:a16="http://schemas.microsoft.com/office/drawing/2014/main" id="{FD5AE2C7-F7EA-6860-681D-DA9DF3EC9BE4}"/>
                </a:ext>
                <a:ext uri="{C183D7F6-B498-43B3-948B-1728B52AA6E4}">
                  <adec:decorative xmlns:adec="http://schemas.microsoft.com/office/drawing/2017/decorative" val="1"/>
                </a:ext>
              </a:extLst>
            </p:cNvPr>
            <p:cNvSpPr/>
            <p:nvPr/>
          </p:nvSpPr>
          <p:spPr bwMode="auto">
            <a:xfrm>
              <a:off x="5923152" y="4278567"/>
              <a:ext cx="251884" cy="208379"/>
            </a:xfrm>
            <a:custGeom>
              <a:avLst/>
              <a:gdLst>
                <a:gd name="connsiteX0" fmla="*/ 0 w 251884"/>
                <a:gd name="connsiteY0" fmla="*/ 0 h 208379"/>
                <a:gd name="connsiteX1" fmla="*/ 251884 w 251884"/>
                <a:gd name="connsiteY1" fmla="*/ 0 h 208379"/>
                <a:gd name="connsiteX2" fmla="*/ 251884 w 251884"/>
                <a:gd name="connsiteY2" fmla="*/ 1216 h 208379"/>
                <a:gd name="connsiteX3" fmla="*/ 173685 w 251884"/>
                <a:gd name="connsiteY3" fmla="*/ 10373 h 208379"/>
                <a:gd name="connsiteX4" fmla="*/ 95922 w 251884"/>
                <a:gd name="connsiteY4" fmla="*/ 47500 h 208379"/>
                <a:gd name="connsiteX5" fmla="*/ 13502 w 251884"/>
                <a:gd name="connsiteY5" fmla="*/ 164705 h 208379"/>
                <a:gd name="connsiteX6" fmla="*/ 8510 w 251884"/>
                <a:gd name="connsiteY6" fmla="*/ 208379 h 208379"/>
                <a:gd name="connsiteX7" fmla="*/ 0 w 251884"/>
                <a:gd name="connsiteY7" fmla="*/ 208379 h 20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84" h="208379">
                  <a:moveTo>
                    <a:pt x="0" y="0"/>
                  </a:moveTo>
                  <a:lnTo>
                    <a:pt x="251884" y="0"/>
                  </a:lnTo>
                  <a:lnTo>
                    <a:pt x="251884" y="1216"/>
                  </a:lnTo>
                  <a:lnTo>
                    <a:pt x="173685" y="10373"/>
                  </a:lnTo>
                  <a:cubicBezTo>
                    <a:pt x="145567" y="18418"/>
                    <a:pt x="119162" y="30932"/>
                    <a:pt x="95922" y="47500"/>
                  </a:cubicBezTo>
                  <a:cubicBezTo>
                    <a:pt x="53545" y="77712"/>
                    <a:pt x="24794" y="119166"/>
                    <a:pt x="13502" y="164705"/>
                  </a:cubicBezTo>
                  <a:lnTo>
                    <a:pt x="8510" y="208379"/>
                  </a:lnTo>
                  <a:lnTo>
                    <a:pt x="0" y="20837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8" name="Arc 7">
              <a:extLst>
                <a:ext uri="{FF2B5EF4-FFF2-40B4-BE49-F238E27FC236}">
                  <a16:creationId xmlns:a16="http://schemas.microsoft.com/office/drawing/2014/main" id="{2626F0F3-8D57-EEF4-403B-B1B0E3D238BC}"/>
                </a:ext>
                <a:ext uri="{C183D7F6-B498-43B3-948B-1728B52AA6E4}">
                  <adec:decorative xmlns:adec="http://schemas.microsoft.com/office/drawing/2017/decorative" val="1"/>
                </a:ext>
              </a:extLst>
            </p:cNvPr>
            <p:cNvSpPr/>
            <p:nvPr/>
          </p:nvSpPr>
          <p:spPr>
            <a:xfrm rot="16200000">
              <a:off x="3097153" y="1388752"/>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0" name="Arc 9">
              <a:extLst>
                <a:ext uri="{FF2B5EF4-FFF2-40B4-BE49-F238E27FC236}">
                  <a16:creationId xmlns:a16="http://schemas.microsoft.com/office/drawing/2014/main" id="{C9FC3A1C-1731-7797-0988-C833A21B986F}"/>
                </a:ext>
                <a:ext uri="{C183D7F6-B498-43B3-948B-1728B52AA6E4}">
                  <adec:decorative xmlns:adec="http://schemas.microsoft.com/office/drawing/2017/decorative" val="1"/>
                </a:ext>
              </a:extLst>
            </p:cNvPr>
            <p:cNvSpPr/>
            <p:nvPr/>
          </p:nvSpPr>
          <p:spPr>
            <a:xfrm rot="10800000">
              <a:off x="3093062" y="6313289"/>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2" name="Straight Connector 11">
              <a:extLst>
                <a:ext uri="{FF2B5EF4-FFF2-40B4-BE49-F238E27FC236}">
                  <a16:creationId xmlns:a16="http://schemas.microsoft.com/office/drawing/2014/main" id="{B2ECC961-E5CB-8B9C-414D-9130B477F03B}"/>
                </a:ext>
                <a:ext uri="{C183D7F6-B498-43B3-948B-1728B52AA6E4}">
                  <adec:decorative xmlns:adec="http://schemas.microsoft.com/office/drawing/2017/decorative" val="1"/>
                </a:ext>
              </a:extLst>
            </p:cNvPr>
            <p:cNvCxnSpPr>
              <a:cxnSpLocks/>
            </p:cNvCxnSpPr>
            <p:nvPr/>
          </p:nvCxnSpPr>
          <p:spPr>
            <a:xfrm flipH="1">
              <a:off x="3249133" y="6658574"/>
              <a:ext cx="2484979"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41D04F32-11BE-0609-37CF-6D91F4009AE3}"/>
                </a:ext>
                <a:ext uri="{C183D7F6-B498-43B3-948B-1728B52AA6E4}">
                  <adec:decorative xmlns:adec="http://schemas.microsoft.com/office/drawing/2017/decorative" val="1"/>
                </a:ext>
              </a:extLst>
            </p:cNvPr>
            <p:cNvSpPr/>
            <p:nvPr/>
          </p:nvSpPr>
          <p:spPr>
            <a:xfrm rot="5400000">
              <a:off x="5571049" y="6305096"/>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4" name="Arc 13">
              <a:extLst>
                <a:ext uri="{FF2B5EF4-FFF2-40B4-BE49-F238E27FC236}">
                  <a16:creationId xmlns:a16="http://schemas.microsoft.com/office/drawing/2014/main" id="{F98EDFD5-2F67-6064-8FF5-A0ACE1D4CA87}"/>
                </a:ext>
                <a:ext uri="{C183D7F6-B498-43B3-948B-1728B52AA6E4}">
                  <adec:decorative xmlns:adec="http://schemas.microsoft.com/office/drawing/2017/decorative" val="1"/>
                </a:ext>
              </a:extLst>
            </p:cNvPr>
            <p:cNvSpPr/>
            <p:nvPr/>
          </p:nvSpPr>
          <p:spPr>
            <a:xfrm>
              <a:off x="10863743" y="1393181"/>
              <a:ext cx="361816" cy="345284"/>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6" name="Arc 15">
              <a:extLst>
                <a:ext uri="{FF2B5EF4-FFF2-40B4-BE49-F238E27FC236}">
                  <a16:creationId xmlns:a16="http://schemas.microsoft.com/office/drawing/2014/main" id="{1473151F-548F-B3BF-34DE-DF9156087037}"/>
                </a:ext>
                <a:ext uri="{C183D7F6-B498-43B3-948B-1728B52AA6E4}">
                  <adec:decorative xmlns:adec="http://schemas.microsoft.com/office/drawing/2017/decorative" val="1"/>
                </a:ext>
              </a:extLst>
            </p:cNvPr>
            <p:cNvSpPr/>
            <p:nvPr/>
          </p:nvSpPr>
          <p:spPr>
            <a:xfrm rot="16200000">
              <a:off x="5957352" y="4253912"/>
              <a:ext cx="417201" cy="482850"/>
            </a:xfrm>
            <a:prstGeom prst="arc">
              <a:avLst>
                <a:gd name="adj1" fmla="val 16158148"/>
                <a:gd name="adj2" fmla="val 200300"/>
              </a:avLst>
            </a:prstGeom>
            <a:no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8" name="Arc 17">
              <a:extLst>
                <a:ext uri="{FF2B5EF4-FFF2-40B4-BE49-F238E27FC236}">
                  <a16:creationId xmlns:a16="http://schemas.microsoft.com/office/drawing/2014/main" id="{D7432DBE-1EB2-CDB1-8832-7FDF65D8C94E}"/>
                </a:ext>
                <a:ext uri="{C183D7F6-B498-43B3-948B-1728B52AA6E4}">
                  <adec:decorative xmlns:adec="http://schemas.microsoft.com/office/drawing/2017/decorative" val="1"/>
                </a:ext>
              </a:extLst>
            </p:cNvPr>
            <p:cNvSpPr/>
            <p:nvPr/>
          </p:nvSpPr>
          <p:spPr>
            <a:xfrm rot="5400000">
              <a:off x="10872080" y="3933563"/>
              <a:ext cx="349386" cy="357570"/>
            </a:xfrm>
            <a:prstGeom prst="arc">
              <a:avLst>
                <a:gd name="adj1" fmla="val 16158148"/>
                <a:gd name="adj2" fmla="val 21439852"/>
              </a:avLst>
            </a:prstGeom>
            <a:solidFill>
              <a:schemeClr val="bg1">
                <a:lumMod val="95000"/>
              </a:schemeClr>
            </a:solidFill>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cxnSp>
          <p:nvCxnSpPr>
            <p:cNvPr id="19" name="Straight Connector 18">
              <a:extLst>
                <a:ext uri="{FF2B5EF4-FFF2-40B4-BE49-F238E27FC236}">
                  <a16:creationId xmlns:a16="http://schemas.microsoft.com/office/drawing/2014/main" id="{811147E6-3B1C-DCC4-A981-2BD0ADDA67DA}"/>
                </a:ext>
                <a:ext uri="{C183D7F6-B498-43B3-948B-1728B52AA6E4}">
                  <adec:decorative xmlns:adec="http://schemas.microsoft.com/office/drawing/2017/decorative" val="1"/>
                </a:ext>
              </a:extLst>
            </p:cNvPr>
            <p:cNvCxnSpPr>
              <a:cxnSpLocks/>
            </p:cNvCxnSpPr>
            <p:nvPr/>
          </p:nvCxnSpPr>
          <p:spPr>
            <a:xfrm>
              <a:off x="6194927" y="4286736"/>
              <a:ext cx="4832013"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4ACBA46-A86E-EBFD-7C79-EF0B995BD2FD}"/>
                </a:ext>
                <a:ext uri="{C183D7F6-B498-43B3-948B-1728B52AA6E4}">
                  <adec:decorative xmlns:adec="http://schemas.microsoft.com/office/drawing/2017/decorative" val="1"/>
                </a:ext>
              </a:extLst>
            </p:cNvPr>
            <p:cNvCxnSpPr>
              <a:cxnSpLocks/>
            </p:cNvCxnSpPr>
            <p:nvPr/>
          </p:nvCxnSpPr>
          <p:spPr>
            <a:xfrm>
              <a:off x="3277048" y="1393181"/>
              <a:ext cx="7731154" cy="0"/>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F2F247-1866-5728-1F06-0FD92395E55A}"/>
                </a:ext>
                <a:ext uri="{C183D7F6-B498-43B3-948B-1728B52AA6E4}">
                  <adec:decorative xmlns:adec="http://schemas.microsoft.com/office/drawing/2017/decorative" val="1"/>
                </a:ext>
              </a:extLst>
            </p:cNvPr>
            <p:cNvCxnSpPr>
              <a:cxnSpLocks/>
            </p:cNvCxnSpPr>
            <p:nvPr/>
          </p:nvCxnSpPr>
          <p:spPr>
            <a:xfrm flipH="1">
              <a:off x="3093059" y="1600729"/>
              <a:ext cx="2" cy="4872641"/>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B3456C8-B3D0-96D8-9D51-8DFE72EE383F}"/>
                </a:ext>
                <a:ext uri="{C183D7F6-B498-43B3-948B-1728B52AA6E4}">
                  <adec:decorative xmlns:adec="http://schemas.microsoft.com/office/drawing/2017/decorative" val="1"/>
                </a:ext>
              </a:extLst>
            </p:cNvPr>
            <p:cNvCxnSpPr>
              <a:cxnSpLocks/>
            </p:cNvCxnSpPr>
            <p:nvPr/>
          </p:nvCxnSpPr>
          <p:spPr>
            <a:xfrm>
              <a:off x="11225558" y="1589314"/>
              <a:ext cx="0" cy="2506748"/>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C064772-EE29-8266-2CAC-BDF3235C6F7A}"/>
                </a:ext>
                <a:ext uri="{C183D7F6-B498-43B3-948B-1728B52AA6E4}">
                  <adec:decorative xmlns:adec="http://schemas.microsoft.com/office/drawing/2017/decorative" val="1"/>
                </a:ext>
              </a:extLst>
            </p:cNvPr>
            <p:cNvCxnSpPr>
              <a:cxnSpLocks/>
            </p:cNvCxnSpPr>
            <p:nvPr/>
          </p:nvCxnSpPr>
          <p:spPr>
            <a:xfrm flipV="1">
              <a:off x="5924527" y="4520936"/>
              <a:ext cx="0" cy="1933612"/>
            </a:xfrm>
            <a:prstGeom prst="line">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B3BCE51-79DF-DFA2-288C-4E85B2772B32}"/>
                </a:ext>
                <a:ext uri="{C183D7F6-B498-43B3-948B-1728B52AA6E4}">
                  <adec:decorative xmlns:adec="http://schemas.microsoft.com/office/drawing/2017/decorative" val="1"/>
                </a:ext>
              </a:extLst>
            </p:cNvPr>
            <p:cNvCxnSpPr>
              <a:cxnSpLocks/>
            </p:cNvCxnSpPr>
            <p:nvPr/>
          </p:nvCxnSpPr>
          <p:spPr>
            <a:xfrm flipV="1">
              <a:off x="6547767" y="1879443"/>
              <a:ext cx="0" cy="272354"/>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A9F6A75-43F0-0CD3-D2E8-4292CF82D694}"/>
                </a:ext>
              </a:extLst>
            </p:cNvPr>
            <p:cNvSpPr txBox="1"/>
            <p:nvPr/>
          </p:nvSpPr>
          <p:spPr>
            <a:xfrm>
              <a:off x="5591129" y="1935208"/>
              <a:ext cx="792584"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User prompt</a:t>
              </a:r>
            </a:p>
          </p:txBody>
        </p:sp>
        <p:sp>
          <p:nvSpPr>
            <p:cNvPr id="32" name="TextBox 31">
              <a:extLst>
                <a:ext uri="{FF2B5EF4-FFF2-40B4-BE49-F238E27FC236}">
                  <a16:creationId xmlns:a16="http://schemas.microsoft.com/office/drawing/2014/main" id="{5033545E-0B8B-B391-8809-C5752D07730C}"/>
                </a:ext>
              </a:extLst>
            </p:cNvPr>
            <p:cNvSpPr txBox="1"/>
            <p:nvPr/>
          </p:nvSpPr>
          <p:spPr>
            <a:xfrm>
              <a:off x="6041176" y="4459769"/>
              <a:ext cx="3955959"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 flow (     = all requests are encrypted via HTTPS and wss://)</a:t>
              </a:r>
            </a:p>
          </p:txBody>
        </p:sp>
        <p:sp>
          <p:nvSpPr>
            <p:cNvPr id="33" name="TextBox 32">
              <a:extLst>
                <a:ext uri="{FF2B5EF4-FFF2-40B4-BE49-F238E27FC236}">
                  <a16:creationId xmlns:a16="http://schemas.microsoft.com/office/drawing/2014/main" id="{D1E7D6FD-8CA0-6BD5-16EE-29D2DDA2CAC5}"/>
                </a:ext>
              </a:extLst>
            </p:cNvPr>
            <p:cNvSpPr txBox="1"/>
            <p:nvPr/>
          </p:nvSpPr>
          <p:spPr>
            <a:xfrm>
              <a:off x="6412460" y="4843063"/>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User prompts are sent to Copilot</a:t>
              </a:r>
            </a:p>
          </p:txBody>
        </p:sp>
        <p:sp>
          <p:nvSpPr>
            <p:cNvPr id="34" name="Oval 33">
              <a:extLst>
                <a:ext uri="{FF2B5EF4-FFF2-40B4-BE49-F238E27FC236}">
                  <a16:creationId xmlns:a16="http://schemas.microsoft.com/office/drawing/2014/main" id="{F9216CFD-D811-D785-8F46-BCDA75921460}"/>
                </a:ext>
              </a:extLst>
            </p:cNvPr>
            <p:cNvSpPr/>
            <p:nvPr/>
          </p:nvSpPr>
          <p:spPr bwMode="auto">
            <a:xfrm>
              <a:off x="6167498" y="483263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36" name="Graphic 1029" descr="Lock icon">
              <a:extLst>
                <a:ext uri="{FF2B5EF4-FFF2-40B4-BE49-F238E27FC236}">
                  <a16:creationId xmlns:a16="http://schemas.microsoft.com/office/drawing/2014/main" id="{330AEA72-621F-792C-1E72-E93D32C0D819}"/>
                </a:ext>
              </a:extLst>
            </p:cNvPr>
            <p:cNvGrpSpPr/>
            <p:nvPr/>
          </p:nvGrpSpPr>
          <p:grpSpPr>
            <a:xfrm>
              <a:off x="6841465" y="4500616"/>
              <a:ext cx="95286" cy="148143"/>
              <a:chOff x="2880290" y="4717417"/>
              <a:chExt cx="169913" cy="264170"/>
            </a:xfrm>
            <a:solidFill>
              <a:schemeClr val="accent2"/>
            </a:solidFill>
          </p:grpSpPr>
          <p:sp>
            <p:nvSpPr>
              <p:cNvPr id="37" name="Freeform 1077">
                <a:extLst>
                  <a:ext uri="{FF2B5EF4-FFF2-40B4-BE49-F238E27FC236}">
                    <a16:creationId xmlns:a16="http://schemas.microsoft.com/office/drawing/2014/main" id="{16AAF5B7-053C-DE99-1B75-9E25FFD4D170}"/>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8" name="Freeform 1078">
                <a:extLst>
                  <a:ext uri="{FF2B5EF4-FFF2-40B4-BE49-F238E27FC236}">
                    <a16:creationId xmlns:a16="http://schemas.microsoft.com/office/drawing/2014/main" id="{6FB19A5D-0136-F806-1A47-79751B4F196E}"/>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39" name="Freeform 1079">
                <a:extLst>
                  <a:ext uri="{FF2B5EF4-FFF2-40B4-BE49-F238E27FC236}">
                    <a16:creationId xmlns:a16="http://schemas.microsoft.com/office/drawing/2014/main" id="{6A44614B-EEA5-4F22-8A09-F31DC2BE65A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sp>
            <p:nvSpPr>
              <p:cNvPr id="40" name="Freeform 1080">
                <a:extLst>
                  <a:ext uri="{FF2B5EF4-FFF2-40B4-BE49-F238E27FC236}">
                    <a16:creationId xmlns:a16="http://schemas.microsoft.com/office/drawing/2014/main" id="{2D10C051-0E4C-2AA5-F3C2-66218862D9E0}"/>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sp>
          <p:nvSpPr>
            <p:cNvPr id="41" name="TextBox 40">
              <a:extLst>
                <a:ext uri="{FF2B5EF4-FFF2-40B4-BE49-F238E27FC236}">
                  <a16:creationId xmlns:a16="http://schemas.microsoft.com/office/drawing/2014/main" id="{5B056848-8822-FFF6-855E-0C3A58AD8A0C}"/>
                </a:ext>
              </a:extLst>
            </p:cNvPr>
            <p:cNvSpPr txBox="1"/>
            <p:nvPr/>
          </p:nvSpPr>
          <p:spPr>
            <a:xfrm>
              <a:off x="5450875" y="1102246"/>
              <a:ext cx="2380909" cy="301552"/>
            </a:xfrm>
            <a:custGeom>
              <a:avLst/>
              <a:gdLst>
                <a:gd name="connsiteX0" fmla="*/ 62430 w 2380909"/>
                <a:gd name="connsiteY0" fmla="*/ 0 h 301552"/>
                <a:gd name="connsiteX1" fmla="*/ 2318479 w 2380909"/>
                <a:gd name="connsiteY1" fmla="*/ 0 h 301552"/>
                <a:gd name="connsiteX2" fmla="*/ 2380909 w 2380909"/>
                <a:gd name="connsiteY2" fmla="*/ 62430 h 301552"/>
                <a:gd name="connsiteX3" fmla="*/ 2380909 w 2380909"/>
                <a:gd name="connsiteY3" fmla="*/ 301552 h 301552"/>
                <a:gd name="connsiteX4" fmla="*/ 0 w 2380909"/>
                <a:gd name="connsiteY4" fmla="*/ 301552 h 301552"/>
                <a:gd name="connsiteX5" fmla="*/ 0 w 2380909"/>
                <a:gd name="connsiteY5" fmla="*/ 62430 h 301552"/>
                <a:gd name="connsiteX6" fmla="*/ 62430 w 2380909"/>
                <a:gd name="connsiteY6" fmla="*/ 0 h 30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0909" h="301552">
                  <a:moveTo>
                    <a:pt x="62430" y="0"/>
                  </a:moveTo>
                  <a:lnTo>
                    <a:pt x="2318479" y="0"/>
                  </a:lnTo>
                  <a:cubicBezTo>
                    <a:pt x="2352958" y="0"/>
                    <a:pt x="2380909" y="27951"/>
                    <a:pt x="2380909" y="62430"/>
                  </a:cubicBezTo>
                  <a:lnTo>
                    <a:pt x="2380909" y="301552"/>
                  </a:lnTo>
                  <a:lnTo>
                    <a:pt x="0" y="301552"/>
                  </a:lnTo>
                  <a:lnTo>
                    <a:pt x="0" y="62430"/>
                  </a:lnTo>
                  <a:cubicBezTo>
                    <a:pt x="0" y="27951"/>
                    <a:pt x="27951" y="0"/>
                    <a:pt x="62430" y="0"/>
                  </a:cubicBezTo>
                  <a:close/>
                </a:path>
              </a:pathLst>
            </a:custGeom>
            <a:solidFill>
              <a:schemeClr val="accent2"/>
            </a:solidFill>
            <a:ln>
              <a:noFill/>
              <a:prstDash val="dash"/>
            </a:ln>
          </p:spPr>
          <p:txBody>
            <a:bodyPr wrap="square" lIns="91440" tIns="91440" rIns="91440" bIns="91440"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j-lt"/>
                  <a:ea typeface="+mn-ea"/>
                  <a:cs typeface="Segoe Sans Display" pitchFamily="2" charset="0"/>
                </a:rPr>
                <a:t>Microsoft 365 Service Boundary</a:t>
              </a:r>
            </a:p>
          </p:txBody>
        </p:sp>
        <p:cxnSp>
          <p:nvCxnSpPr>
            <p:cNvPr id="1128" name="Straight Connector 1127">
              <a:extLst>
                <a:ext uri="{FF2B5EF4-FFF2-40B4-BE49-F238E27FC236}">
                  <a16:creationId xmlns:a16="http://schemas.microsoft.com/office/drawing/2014/main" id="{E4FA3DA4-B8F6-616B-0388-8A4848D275B4}"/>
                </a:ext>
                <a:ext uri="{C183D7F6-B498-43B3-948B-1728B52AA6E4}">
                  <adec:decorative xmlns:adec="http://schemas.microsoft.com/office/drawing/2017/decorative" val="1"/>
                </a:ext>
              </a:extLst>
            </p:cNvPr>
            <p:cNvCxnSpPr>
              <a:cxnSpLocks/>
            </p:cNvCxnSpPr>
            <p:nvPr/>
          </p:nvCxnSpPr>
          <p:spPr>
            <a:xfrm>
              <a:off x="3212086" y="1795605"/>
              <a:ext cx="325020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9" name="Arc 1128">
              <a:extLst>
                <a:ext uri="{FF2B5EF4-FFF2-40B4-BE49-F238E27FC236}">
                  <a16:creationId xmlns:a16="http://schemas.microsoft.com/office/drawing/2014/main" id="{1828B883-8418-4D39-C2EB-B5D2430EFF05}"/>
                </a:ext>
                <a:ext uri="{C183D7F6-B498-43B3-948B-1728B52AA6E4}">
                  <adec:decorative xmlns:adec="http://schemas.microsoft.com/office/drawing/2017/decorative" val="1"/>
                </a:ext>
              </a:extLst>
            </p:cNvPr>
            <p:cNvSpPr/>
            <p:nvPr/>
          </p:nvSpPr>
          <p:spPr>
            <a:xfrm>
              <a:off x="6370589" y="1795605"/>
              <a:ext cx="177178" cy="177178"/>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30" name="Oval 1129">
              <a:extLst>
                <a:ext uri="{FF2B5EF4-FFF2-40B4-BE49-F238E27FC236}">
                  <a16:creationId xmlns:a16="http://schemas.microsoft.com/office/drawing/2014/main" id="{2216BA9E-7FD0-FA8B-F93E-03F828104AB7}"/>
                </a:ext>
              </a:extLst>
            </p:cNvPr>
            <p:cNvSpPr/>
            <p:nvPr/>
          </p:nvSpPr>
          <p:spPr bwMode="auto">
            <a:xfrm>
              <a:off x="5901177" y="171066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1</a:t>
              </a:r>
            </a:p>
          </p:txBody>
        </p:sp>
        <p:grpSp>
          <p:nvGrpSpPr>
            <p:cNvPr id="1131" name="Graphic 1029" descr="Lock icon">
              <a:extLst>
                <a:ext uri="{FF2B5EF4-FFF2-40B4-BE49-F238E27FC236}">
                  <a16:creationId xmlns:a16="http://schemas.microsoft.com/office/drawing/2014/main" id="{20BFB6EB-F382-C02A-1CA8-41572AFD93B4}"/>
                </a:ext>
              </a:extLst>
            </p:cNvPr>
            <p:cNvGrpSpPr/>
            <p:nvPr/>
          </p:nvGrpSpPr>
          <p:grpSpPr>
            <a:xfrm>
              <a:off x="3380728" y="1694549"/>
              <a:ext cx="95286" cy="148143"/>
              <a:chOff x="2880290" y="4717417"/>
              <a:chExt cx="169913" cy="264170"/>
            </a:xfrm>
            <a:solidFill>
              <a:schemeClr val="accent2"/>
            </a:solidFill>
          </p:grpSpPr>
          <p:sp>
            <p:nvSpPr>
              <p:cNvPr id="1132" name="Freeform 1062">
                <a:extLst>
                  <a:ext uri="{FF2B5EF4-FFF2-40B4-BE49-F238E27FC236}">
                    <a16:creationId xmlns:a16="http://schemas.microsoft.com/office/drawing/2014/main" id="{1CA2616A-E165-7F4C-0F62-A767A5A388FD}"/>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3" name="Freeform 1063">
                <a:extLst>
                  <a:ext uri="{FF2B5EF4-FFF2-40B4-BE49-F238E27FC236}">
                    <a16:creationId xmlns:a16="http://schemas.microsoft.com/office/drawing/2014/main" id="{D8A81FD2-E8A6-D28F-3F21-F4DEF5DE47D5}"/>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4" name="Freeform 1064">
                <a:extLst>
                  <a:ext uri="{FF2B5EF4-FFF2-40B4-BE49-F238E27FC236}">
                    <a16:creationId xmlns:a16="http://schemas.microsoft.com/office/drawing/2014/main" id="{71A74BA7-0802-7E65-CD02-54F3CD172239}"/>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35" name="Freeform 1065">
                <a:extLst>
                  <a:ext uri="{FF2B5EF4-FFF2-40B4-BE49-F238E27FC236}">
                    <a16:creationId xmlns:a16="http://schemas.microsoft.com/office/drawing/2014/main" id="{2587C643-B49E-2162-6BD3-45C39B46B70F}"/>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136" name="Straight Connector 1135">
              <a:extLst>
                <a:ext uri="{FF2B5EF4-FFF2-40B4-BE49-F238E27FC236}">
                  <a16:creationId xmlns:a16="http://schemas.microsoft.com/office/drawing/2014/main" id="{A33A3F10-B863-61FA-156C-F78F7D3D0705}"/>
                </a:ext>
                <a:ext uri="{C183D7F6-B498-43B3-948B-1728B52AA6E4}">
                  <adec:decorative xmlns:adec="http://schemas.microsoft.com/office/drawing/2017/decorative" val="1"/>
                </a:ext>
              </a:extLst>
            </p:cNvPr>
            <p:cNvCxnSpPr>
              <a:cxnSpLocks/>
            </p:cNvCxnSpPr>
            <p:nvPr/>
          </p:nvCxnSpPr>
          <p:spPr>
            <a:xfrm>
              <a:off x="3794171" y="2597861"/>
              <a:ext cx="230551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8" name="TextBox 1137">
              <a:extLst>
                <a:ext uri="{FF2B5EF4-FFF2-40B4-BE49-F238E27FC236}">
                  <a16:creationId xmlns:a16="http://schemas.microsoft.com/office/drawing/2014/main" id="{526A4398-8441-96B4-CCAA-9FE973872FF7}"/>
                </a:ext>
              </a:extLst>
            </p:cNvPr>
            <p:cNvSpPr txBox="1"/>
            <p:nvPr/>
          </p:nvSpPr>
          <p:spPr>
            <a:xfrm>
              <a:off x="3988280" y="2022572"/>
              <a:ext cx="1306577"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Pre-processing</a:t>
              </a:r>
            </a:p>
          </p:txBody>
        </p:sp>
        <p:sp>
          <p:nvSpPr>
            <p:cNvPr id="1139" name="TextBox 1138">
              <a:extLst>
                <a:ext uri="{FF2B5EF4-FFF2-40B4-BE49-F238E27FC236}">
                  <a16:creationId xmlns:a16="http://schemas.microsoft.com/office/drawing/2014/main" id="{04BE7342-2A77-32A3-9D2C-E5C18707D2A3}"/>
                </a:ext>
              </a:extLst>
            </p:cNvPr>
            <p:cNvSpPr txBox="1"/>
            <p:nvPr/>
          </p:nvSpPr>
          <p:spPr>
            <a:xfrm>
              <a:off x="4185514" y="2302053"/>
              <a:ext cx="912109"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Grounding</a:t>
              </a:r>
            </a:p>
          </p:txBody>
        </p:sp>
        <p:sp>
          <p:nvSpPr>
            <p:cNvPr id="1140" name="Arc 1139">
              <a:extLst>
                <a:ext uri="{FF2B5EF4-FFF2-40B4-BE49-F238E27FC236}">
                  <a16:creationId xmlns:a16="http://schemas.microsoft.com/office/drawing/2014/main" id="{DDC05593-0D89-EC1E-DEF3-14D942278D4B}"/>
                </a:ext>
                <a:ext uri="{C183D7F6-B498-43B3-948B-1728B52AA6E4}">
                  <adec:decorative xmlns:adec="http://schemas.microsoft.com/office/drawing/2017/decorative" val="1"/>
                </a:ext>
              </a:extLst>
            </p:cNvPr>
            <p:cNvSpPr/>
            <p:nvPr/>
          </p:nvSpPr>
          <p:spPr>
            <a:xfrm rot="16200000">
              <a:off x="3707595" y="2597861"/>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1" name="Arc 1140">
              <a:extLst>
                <a:ext uri="{FF2B5EF4-FFF2-40B4-BE49-F238E27FC236}">
                  <a16:creationId xmlns:a16="http://schemas.microsoft.com/office/drawing/2014/main" id="{3BC27E84-F6BD-EB36-F2F5-87D8CEACE9BA}"/>
                </a:ext>
                <a:ext uri="{C183D7F6-B498-43B3-948B-1728B52AA6E4}">
                  <adec:decorative xmlns:adec="http://schemas.microsoft.com/office/drawing/2017/decorative" val="1"/>
                </a:ext>
              </a:extLst>
            </p:cNvPr>
            <p:cNvSpPr/>
            <p:nvPr/>
          </p:nvSpPr>
          <p:spPr>
            <a:xfrm rot="5400000">
              <a:off x="3837673" y="3293153"/>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142" name="Oval 1141">
              <a:extLst>
                <a:ext uri="{FF2B5EF4-FFF2-40B4-BE49-F238E27FC236}">
                  <a16:creationId xmlns:a16="http://schemas.microsoft.com/office/drawing/2014/main" id="{C7C5C49A-CDB8-3B6C-9F1E-2111C22D7E04}"/>
                </a:ext>
              </a:extLst>
            </p:cNvPr>
            <p:cNvSpPr/>
            <p:nvPr/>
          </p:nvSpPr>
          <p:spPr bwMode="auto">
            <a:xfrm>
              <a:off x="4557484" y="251439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143" name="Straight Connector 1142">
              <a:extLst>
                <a:ext uri="{FF2B5EF4-FFF2-40B4-BE49-F238E27FC236}">
                  <a16:creationId xmlns:a16="http://schemas.microsoft.com/office/drawing/2014/main" id="{0B928256-4626-D951-8276-681B977504A0}"/>
                </a:ext>
                <a:ext uri="{C183D7F6-B498-43B3-948B-1728B52AA6E4}">
                  <adec:decorative xmlns:adec="http://schemas.microsoft.com/office/drawing/2017/decorative" val="1"/>
                </a:ext>
              </a:extLst>
            </p:cNvPr>
            <p:cNvCxnSpPr>
              <a:cxnSpLocks/>
            </p:cNvCxnSpPr>
            <p:nvPr/>
          </p:nvCxnSpPr>
          <p:spPr>
            <a:xfrm>
              <a:off x="2650299" y="3455078"/>
              <a:ext cx="1278234"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45" name="Graphic 1029" descr="Lock icon">
              <a:extLst>
                <a:ext uri="{FF2B5EF4-FFF2-40B4-BE49-F238E27FC236}">
                  <a16:creationId xmlns:a16="http://schemas.microsoft.com/office/drawing/2014/main" id="{57713F43-AEE6-1CC9-9F3E-A7C928B5D185}"/>
                </a:ext>
              </a:extLst>
            </p:cNvPr>
            <p:cNvGrpSpPr/>
            <p:nvPr/>
          </p:nvGrpSpPr>
          <p:grpSpPr>
            <a:xfrm>
              <a:off x="4023303" y="2494470"/>
              <a:ext cx="95286" cy="148143"/>
              <a:chOff x="2880290" y="4717417"/>
              <a:chExt cx="169913" cy="264170"/>
            </a:xfrm>
            <a:solidFill>
              <a:schemeClr val="accent2"/>
            </a:solidFill>
          </p:grpSpPr>
          <p:sp>
            <p:nvSpPr>
              <p:cNvPr id="1146" name="Freeform 1057">
                <a:extLst>
                  <a:ext uri="{FF2B5EF4-FFF2-40B4-BE49-F238E27FC236}">
                    <a16:creationId xmlns:a16="http://schemas.microsoft.com/office/drawing/2014/main" id="{E6E4D212-A68D-F6E3-679B-DC4E4BC76608}"/>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7" name="Freeform 1058">
                <a:extLst>
                  <a:ext uri="{FF2B5EF4-FFF2-40B4-BE49-F238E27FC236}">
                    <a16:creationId xmlns:a16="http://schemas.microsoft.com/office/drawing/2014/main" id="{EE53452D-DBAC-FE32-0454-8FE49407F47B}"/>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8" name="Freeform 1059">
                <a:extLst>
                  <a:ext uri="{FF2B5EF4-FFF2-40B4-BE49-F238E27FC236}">
                    <a16:creationId xmlns:a16="http://schemas.microsoft.com/office/drawing/2014/main" id="{786E8BB3-E7C4-6983-EAB9-0D2FB0C9563E}"/>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49" name="Freeform 1060">
                <a:extLst>
                  <a:ext uri="{FF2B5EF4-FFF2-40B4-BE49-F238E27FC236}">
                    <a16:creationId xmlns:a16="http://schemas.microsoft.com/office/drawing/2014/main" id="{5077B4E8-726F-148D-249F-9A8701915AC8}"/>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164" name="TextBox 1163">
              <a:extLst>
                <a:ext uri="{FF2B5EF4-FFF2-40B4-BE49-F238E27FC236}">
                  <a16:creationId xmlns:a16="http://schemas.microsoft.com/office/drawing/2014/main" id="{9D4EF687-9547-795C-2B27-FFB20C4DE76F}"/>
                </a:ext>
              </a:extLst>
            </p:cNvPr>
            <p:cNvSpPr txBox="1"/>
            <p:nvPr/>
          </p:nvSpPr>
          <p:spPr>
            <a:xfrm>
              <a:off x="3826519" y="4304689"/>
              <a:ext cx="1354536" cy="215444"/>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Microsoft Graph</a:t>
              </a:r>
            </a:p>
          </p:txBody>
        </p:sp>
        <p:sp>
          <p:nvSpPr>
            <p:cNvPr id="1192" name="TextBox 1191">
              <a:extLst>
                <a:ext uri="{FF2B5EF4-FFF2-40B4-BE49-F238E27FC236}">
                  <a16:creationId xmlns:a16="http://schemas.microsoft.com/office/drawing/2014/main" id="{89859DDA-B207-5CF0-F01C-7D2456C35F68}"/>
                </a:ext>
              </a:extLst>
            </p:cNvPr>
            <p:cNvSpPr txBox="1"/>
            <p:nvPr/>
          </p:nvSpPr>
          <p:spPr>
            <a:xfrm>
              <a:off x="3608479" y="5500607"/>
              <a:ext cx="1790616" cy="4616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Your context and content (emails, files, meetings, chats, calendars, and contacts)</a:t>
              </a:r>
            </a:p>
          </p:txBody>
        </p:sp>
        <p:grpSp>
          <p:nvGrpSpPr>
            <p:cNvPr id="1193" name="Group 1192" descr="Microsoft Graph icon">
              <a:extLst>
                <a:ext uri="{FF2B5EF4-FFF2-40B4-BE49-F238E27FC236}">
                  <a16:creationId xmlns:a16="http://schemas.microsoft.com/office/drawing/2014/main" id="{D98FF280-E761-11F3-1921-B7DDDCF65C04}"/>
                </a:ext>
              </a:extLst>
            </p:cNvPr>
            <p:cNvGrpSpPr/>
            <p:nvPr/>
          </p:nvGrpSpPr>
          <p:grpSpPr>
            <a:xfrm>
              <a:off x="4049705" y="4654707"/>
              <a:ext cx="908164" cy="711337"/>
              <a:chOff x="1637886" y="4135412"/>
              <a:chExt cx="1218268" cy="954231"/>
            </a:xfrm>
          </p:grpSpPr>
          <p:sp>
            <p:nvSpPr>
              <p:cNvPr id="1194" name="Freeform 1037">
                <a:extLst>
                  <a:ext uri="{FF2B5EF4-FFF2-40B4-BE49-F238E27FC236}">
                    <a16:creationId xmlns:a16="http://schemas.microsoft.com/office/drawing/2014/main" id="{ECEF0955-1E14-1087-43B3-C55370301896}"/>
                  </a:ext>
                </a:extLst>
              </p:cNvPr>
              <p:cNvSpPr/>
              <p:nvPr/>
            </p:nvSpPr>
            <p:spPr>
              <a:xfrm>
                <a:off x="1637886" y="4135412"/>
                <a:ext cx="1218268" cy="724918"/>
              </a:xfrm>
              <a:custGeom>
                <a:avLst/>
                <a:gdLst>
                  <a:gd name="connsiteX0" fmla="*/ 1511128 w 1626297"/>
                  <a:gd name="connsiteY0" fmla="*/ 360809 h 967711"/>
                  <a:gd name="connsiteX1" fmla="*/ 1465477 w 1626297"/>
                  <a:gd name="connsiteY1" fmla="*/ 370274 h 967711"/>
                  <a:gd name="connsiteX2" fmla="*/ 1350591 w 1626297"/>
                  <a:gd name="connsiteY2" fmla="*/ 191668 h 967711"/>
                  <a:gd name="connsiteX3" fmla="*/ 1380141 w 1626297"/>
                  <a:gd name="connsiteY3" fmla="*/ 115001 h 967711"/>
                  <a:gd name="connsiteX4" fmla="*/ 1265066 w 1626297"/>
                  <a:gd name="connsiteY4" fmla="*/ 0 h 967711"/>
                  <a:gd name="connsiteX5" fmla="*/ 1160410 w 1626297"/>
                  <a:gd name="connsiteY5" fmla="*/ 67297 h 967711"/>
                  <a:gd name="connsiteX6" fmla="*/ 933764 w 1626297"/>
                  <a:gd name="connsiteY6" fmla="*/ 67297 h 967711"/>
                  <a:gd name="connsiteX7" fmla="*/ 829108 w 1626297"/>
                  <a:gd name="connsiteY7" fmla="*/ 0 h 967711"/>
                  <a:gd name="connsiteX8" fmla="*/ 724451 w 1626297"/>
                  <a:gd name="connsiteY8" fmla="*/ 67297 h 967711"/>
                  <a:gd name="connsiteX9" fmla="*/ 468350 w 1626297"/>
                  <a:gd name="connsiteY9" fmla="*/ 67297 h 967711"/>
                  <a:gd name="connsiteX10" fmla="*/ 363694 w 1626297"/>
                  <a:gd name="connsiteY10" fmla="*/ 0 h 967711"/>
                  <a:gd name="connsiteX11" fmla="*/ 248619 w 1626297"/>
                  <a:gd name="connsiteY11" fmla="*/ 115001 h 967711"/>
                  <a:gd name="connsiteX12" fmla="*/ 287072 w 1626297"/>
                  <a:gd name="connsiteY12" fmla="*/ 200660 h 967711"/>
                  <a:gd name="connsiteX13" fmla="*/ 156843 w 1626297"/>
                  <a:gd name="connsiteY13" fmla="*/ 368760 h 967711"/>
                  <a:gd name="connsiteX14" fmla="*/ 115075 w 1626297"/>
                  <a:gd name="connsiteY14" fmla="*/ 360809 h 967711"/>
                  <a:gd name="connsiteX15" fmla="*/ 0 w 1626297"/>
                  <a:gd name="connsiteY15" fmla="*/ 475810 h 967711"/>
                  <a:gd name="connsiteX16" fmla="*/ 115075 w 1626297"/>
                  <a:gd name="connsiteY16" fmla="*/ 590811 h 967711"/>
                  <a:gd name="connsiteX17" fmla="*/ 230150 w 1626297"/>
                  <a:gd name="connsiteY17" fmla="*/ 475810 h 967711"/>
                  <a:gd name="connsiteX18" fmla="*/ 182131 w 1626297"/>
                  <a:gd name="connsiteY18" fmla="*/ 382484 h 967711"/>
                  <a:gd name="connsiteX19" fmla="*/ 310466 w 1626297"/>
                  <a:gd name="connsiteY19" fmla="*/ 216940 h 967711"/>
                  <a:gd name="connsiteX20" fmla="*/ 363694 w 1626297"/>
                  <a:gd name="connsiteY20" fmla="*/ 230002 h 967711"/>
                  <a:gd name="connsiteX21" fmla="*/ 402241 w 1626297"/>
                  <a:gd name="connsiteY21" fmla="*/ 223282 h 967711"/>
                  <a:gd name="connsiteX22" fmla="*/ 512486 w 1626297"/>
                  <a:gd name="connsiteY22" fmla="*/ 394505 h 967711"/>
                  <a:gd name="connsiteX23" fmla="*/ 478768 w 1626297"/>
                  <a:gd name="connsiteY23" fmla="*/ 475810 h 967711"/>
                  <a:gd name="connsiteX24" fmla="*/ 511160 w 1626297"/>
                  <a:gd name="connsiteY24" fmla="*/ 555696 h 967711"/>
                  <a:gd name="connsiteX25" fmla="*/ 369945 w 1626297"/>
                  <a:gd name="connsiteY25" fmla="*/ 737993 h 967711"/>
                  <a:gd name="connsiteX26" fmla="*/ 363694 w 1626297"/>
                  <a:gd name="connsiteY26" fmla="*/ 737710 h 967711"/>
                  <a:gd name="connsiteX27" fmla="*/ 248619 w 1626297"/>
                  <a:gd name="connsiteY27" fmla="*/ 852710 h 967711"/>
                  <a:gd name="connsiteX28" fmla="*/ 363694 w 1626297"/>
                  <a:gd name="connsiteY28" fmla="*/ 967711 h 967711"/>
                  <a:gd name="connsiteX29" fmla="*/ 477821 w 1626297"/>
                  <a:gd name="connsiteY29" fmla="*/ 866908 h 967711"/>
                  <a:gd name="connsiteX30" fmla="*/ 714980 w 1626297"/>
                  <a:gd name="connsiteY30" fmla="*/ 866908 h 967711"/>
                  <a:gd name="connsiteX31" fmla="*/ 829108 w 1626297"/>
                  <a:gd name="connsiteY31" fmla="*/ 967711 h 967711"/>
                  <a:gd name="connsiteX32" fmla="*/ 943236 w 1626297"/>
                  <a:gd name="connsiteY32" fmla="*/ 866908 h 967711"/>
                  <a:gd name="connsiteX33" fmla="*/ 1150939 w 1626297"/>
                  <a:gd name="connsiteY33" fmla="*/ 866908 h 967711"/>
                  <a:gd name="connsiteX34" fmla="*/ 1265066 w 1626297"/>
                  <a:gd name="connsiteY34" fmla="*/ 967711 h 967711"/>
                  <a:gd name="connsiteX35" fmla="*/ 1380141 w 1626297"/>
                  <a:gd name="connsiteY35" fmla="*/ 852710 h 967711"/>
                  <a:gd name="connsiteX36" fmla="*/ 1265066 w 1626297"/>
                  <a:gd name="connsiteY36" fmla="*/ 737710 h 967711"/>
                  <a:gd name="connsiteX37" fmla="*/ 1214111 w 1626297"/>
                  <a:gd name="connsiteY37" fmla="*/ 749730 h 967711"/>
                  <a:gd name="connsiteX38" fmla="*/ 1105572 w 1626297"/>
                  <a:gd name="connsiteY38" fmla="*/ 581062 h 967711"/>
                  <a:gd name="connsiteX39" fmla="*/ 1174333 w 1626297"/>
                  <a:gd name="connsiteY39" fmla="*/ 475810 h 967711"/>
                  <a:gd name="connsiteX40" fmla="*/ 1135216 w 1626297"/>
                  <a:gd name="connsiteY40" fmla="*/ 389583 h 967711"/>
                  <a:gd name="connsiteX41" fmla="*/ 1259100 w 1626297"/>
                  <a:gd name="connsiteY41" fmla="*/ 229718 h 967711"/>
                  <a:gd name="connsiteX42" fmla="*/ 1264972 w 1626297"/>
                  <a:gd name="connsiteY42" fmla="*/ 230002 h 967711"/>
                  <a:gd name="connsiteX43" fmla="*/ 1328902 w 1626297"/>
                  <a:gd name="connsiteY43" fmla="*/ 210598 h 967711"/>
                  <a:gd name="connsiteX44" fmla="*/ 1441041 w 1626297"/>
                  <a:gd name="connsiteY44" fmla="*/ 384756 h 967711"/>
                  <a:gd name="connsiteX45" fmla="*/ 1396148 w 1626297"/>
                  <a:gd name="connsiteY45" fmla="*/ 475810 h 967711"/>
                  <a:gd name="connsiteX46" fmla="*/ 1511223 w 1626297"/>
                  <a:gd name="connsiteY46" fmla="*/ 590811 h 967711"/>
                  <a:gd name="connsiteX47" fmla="*/ 1626297 w 1626297"/>
                  <a:gd name="connsiteY47" fmla="*/ 475810 h 967711"/>
                  <a:gd name="connsiteX48" fmla="*/ 1511223 w 1626297"/>
                  <a:gd name="connsiteY48" fmla="*/ 360809 h 967711"/>
                  <a:gd name="connsiteX49" fmla="*/ 478768 w 1626297"/>
                  <a:gd name="connsiteY49" fmla="*/ 115001 h 967711"/>
                  <a:gd name="connsiteX50" fmla="*/ 477064 w 1626297"/>
                  <a:gd name="connsiteY50" fmla="*/ 95692 h 967711"/>
                  <a:gd name="connsiteX51" fmla="*/ 715738 w 1626297"/>
                  <a:gd name="connsiteY51" fmla="*/ 95692 h 967711"/>
                  <a:gd name="connsiteX52" fmla="*/ 714033 w 1626297"/>
                  <a:gd name="connsiteY52" fmla="*/ 115001 h 967711"/>
                  <a:gd name="connsiteX53" fmla="*/ 774364 w 1626297"/>
                  <a:gd name="connsiteY53" fmla="*/ 216183 h 967711"/>
                  <a:gd name="connsiteX54" fmla="*/ 650671 w 1626297"/>
                  <a:gd name="connsiteY54" fmla="*/ 375859 h 967711"/>
                  <a:gd name="connsiteX55" fmla="*/ 593938 w 1626297"/>
                  <a:gd name="connsiteY55" fmla="*/ 360809 h 967711"/>
                  <a:gd name="connsiteX56" fmla="*/ 535122 w 1626297"/>
                  <a:gd name="connsiteY56" fmla="*/ 377089 h 967711"/>
                  <a:gd name="connsiteX57" fmla="*/ 427908 w 1626297"/>
                  <a:gd name="connsiteY57" fmla="*/ 210504 h 967711"/>
                  <a:gd name="connsiteX58" fmla="*/ 478863 w 1626297"/>
                  <a:gd name="connsiteY58" fmla="*/ 115001 h 967711"/>
                  <a:gd name="connsiteX59" fmla="*/ 533323 w 1626297"/>
                  <a:gd name="connsiteY59" fmla="*/ 573490 h 967711"/>
                  <a:gd name="connsiteX60" fmla="*/ 593843 w 1626297"/>
                  <a:gd name="connsiteY60" fmla="*/ 590811 h 967711"/>
                  <a:gd name="connsiteX61" fmla="*/ 634001 w 1626297"/>
                  <a:gd name="connsiteY61" fmla="*/ 583428 h 967711"/>
                  <a:gd name="connsiteX62" fmla="*/ 752202 w 1626297"/>
                  <a:gd name="connsiteY62" fmla="*/ 767146 h 967711"/>
                  <a:gd name="connsiteX63" fmla="*/ 714885 w 1626297"/>
                  <a:gd name="connsiteY63" fmla="*/ 838418 h 967711"/>
                  <a:gd name="connsiteX64" fmla="*/ 477727 w 1626297"/>
                  <a:gd name="connsiteY64" fmla="*/ 838418 h 967711"/>
                  <a:gd name="connsiteX65" fmla="*/ 401105 w 1626297"/>
                  <a:gd name="connsiteY65" fmla="*/ 743956 h 967711"/>
                  <a:gd name="connsiteX66" fmla="*/ 533228 w 1626297"/>
                  <a:gd name="connsiteY66" fmla="*/ 573395 h 967711"/>
                  <a:gd name="connsiteX67" fmla="*/ 1190149 w 1626297"/>
                  <a:gd name="connsiteY67" fmla="*/ 765348 h 967711"/>
                  <a:gd name="connsiteX68" fmla="*/ 1150749 w 1626297"/>
                  <a:gd name="connsiteY68" fmla="*/ 838513 h 967711"/>
                  <a:gd name="connsiteX69" fmla="*/ 943046 w 1626297"/>
                  <a:gd name="connsiteY69" fmla="*/ 838513 h 967711"/>
                  <a:gd name="connsiteX70" fmla="*/ 861689 w 1626297"/>
                  <a:gd name="connsiteY70" fmla="*/ 742537 h 967711"/>
                  <a:gd name="connsiteX71" fmla="*/ 994569 w 1626297"/>
                  <a:gd name="connsiteY71" fmla="*/ 571124 h 967711"/>
                  <a:gd name="connsiteX72" fmla="*/ 1059163 w 1626297"/>
                  <a:gd name="connsiteY72" fmla="*/ 590906 h 967711"/>
                  <a:gd name="connsiteX73" fmla="*/ 1076969 w 1626297"/>
                  <a:gd name="connsiteY73" fmla="*/ 589391 h 967711"/>
                  <a:gd name="connsiteX74" fmla="*/ 1190244 w 1626297"/>
                  <a:gd name="connsiteY74" fmla="*/ 765442 h 967711"/>
                  <a:gd name="connsiteX75" fmla="*/ 1111538 w 1626297"/>
                  <a:gd name="connsiteY75" fmla="*/ 373587 h 967711"/>
                  <a:gd name="connsiteX76" fmla="*/ 1059068 w 1626297"/>
                  <a:gd name="connsiteY76" fmla="*/ 360809 h 967711"/>
                  <a:gd name="connsiteX77" fmla="*/ 982446 w 1626297"/>
                  <a:gd name="connsiteY77" fmla="*/ 390151 h 967711"/>
                  <a:gd name="connsiteX78" fmla="*/ 874475 w 1626297"/>
                  <a:gd name="connsiteY78" fmla="*/ 222335 h 967711"/>
                  <a:gd name="connsiteX79" fmla="*/ 850607 w 1626297"/>
                  <a:gd name="connsiteY79" fmla="*/ 237669 h 967711"/>
                  <a:gd name="connsiteX80" fmla="*/ 963125 w 1626297"/>
                  <a:gd name="connsiteY80" fmla="*/ 412489 h 967711"/>
                  <a:gd name="connsiteX81" fmla="*/ 944088 w 1626297"/>
                  <a:gd name="connsiteY81" fmla="*/ 475810 h 967711"/>
                  <a:gd name="connsiteX82" fmla="*/ 973259 w 1626297"/>
                  <a:gd name="connsiteY82" fmla="*/ 552099 h 967711"/>
                  <a:gd name="connsiteX83" fmla="*/ 829487 w 1626297"/>
                  <a:gd name="connsiteY83" fmla="*/ 737615 h 967711"/>
                  <a:gd name="connsiteX84" fmla="*/ 829013 w 1626297"/>
                  <a:gd name="connsiteY84" fmla="*/ 737615 h 967711"/>
                  <a:gd name="connsiteX85" fmla="*/ 775501 w 1626297"/>
                  <a:gd name="connsiteY85" fmla="*/ 750866 h 967711"/>
                  <a:gd name="connsiteX86" fmla="*/ 659289 w 1626297"/>
                  <a:gd name="connsiteY86" fmla="*/ 570272 h 967711"/>
                  <a:gd name="connsiteX87" fmla="*/ 708824 w 1626297"/>
                  <a:gd name="connsiteY87" fmla="*/ 475810 h 967711"/>
                  <a:gd name="connsiteX88" fmla="*/ 673307 w 1626297"/>
                  <a:gd name="connsiteY88" fmla="*/ 392801 h 967711"/>
                  <a:gd name="connsiteX89" fmla="*/ 802020 w 1626297"/>
                  <a:gd name="connsiteY89" fmla="*/ 226689 h 967711"/>
                  <a:gd name="connsiteX90" fmla="*/ 829013 w 1626297"/>
                  <a:gd name="connsiteY90" fmla="*/ 230002 h 967711"/>
                  <a:gd name="connsiteX91" fmla="*/ 944088 w 1626297"/>
                  <a:gd name="connsiteY91" fmla="*/ 115001 h 967711"/>
                  <a:gd name="connsiteX92" fmla="*/ 942383 w 1626297"/>
                  <a:gd name="connsiteY92" fmla="*/ 95692 h 967711"/>
                  <a:gd name="connsiteX93" fmla="*/ 1151602 w 1626297"/>
                  <a:gd name="connsiteY93" fmla="*/ 95692 h 967711"/>
                  <a:gd name="connsiteX94" fmla="*/ 1149897 w 1626297"/>
                  <a:gd name="connsiteY94" fmla="*/ 115001 h 967711"/>
                  <a:gd name="connsiteX95" fmla="*/ 1227750 w 1626297"/>
                  <a:gd name="connsiteY95" fmla="*/ 223755 h 967711"/>
                  <a:gd name="connsiteX96" fmla="*/ 1111633 w 1626297"/>
                  <a:gd name="connsiteY96" fmla="*/ 373587 h 96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26297" h="967711">
                    <a:moveTo>
                      <a:pt x="1511128" y="360809"/>
                    </a:moveTo>
                    <a:cubicBezTo>
                      <a:pt x="1494932" y="360809"/>
                      <a:pt x="1479494" y="364217"/>
                      <a:pt x="1465477" y="370274"/>
                    </a:cubicBezTo>
                    <a:lnTo>
                      <a:pt x="1350591" y="191668"/>
                    </a:lnTo>
                    <a:cubicBezTo>
                      <a:pt x="1368871" y="171318"/>
                      <a:pt x="1380141" y="144437"/>
                      <a:pt x="1380141" y="115001"/>
                    </a:cubicBezTo>
                    <a:cubicBezTo>
                      <a:pt x="1380141" y="51490"/>
                      <a:pt x="1328618" y="0"/>
                      <a:pt x="1265066" y="0"/>
                    </a:cubicBezTo>
                    <a:cubicBezTo>
                      <a:pt x="1218563" y="0"/>
                      <a:pt x="1178595" y="27638"/>
                      <a:pt x="1160410" y="67297"/>
                    </a:cubicBezTo>
                    <a:lnTo>
                      <a:pt x="933764" y="67297"/>
                    </a:lnTo>
                    <a:cubicBezTo>
                      <a:pt x="915580" y="27638"/>
                      <a:pt x="875611" y="0"/>
                      <a:pt x="829108" y="0"/>
                    </a:cubicBezTo>
                    <a:cubicBezTo>
                      <a:pt x="782604" y="0"/>
                      <a:pt x="742636" y="27638"/>
                      <a:pt x="724451" y="67297"/>
                    </a:cubicBezTo>
                    <a:lnTo>
                      <a:pt x="468350" y="67297"/>
                    </a:lnTo>
                    <a:cubicBezTo>
                      <a:pt x="450166" y="27638"/>
                      <a:pt x="410292" y="0"/>
                      <a:pt x="363694" y="0"/>
                    </a:cubicBezTo>
                    <a:cubicBezTo>
                      <a:pt x="300142" y="0"/>
                      <a:pt x="248619" y="51490"/>
                      <a:pt x="248619" y="115001"/>
                    </a:cubicBezTo>
                    <a:cubicBezTo>
                      <a:pt x="248619" y="149075"/>
                      <a:pt x="263488" y="179553"/>
                      <a:pt x="287072" y="200660"/>
                    </a:cubicBezTo>
                    <a:lnTo>
                      <a:pt x="156843" y="368760"/>
                    </a:lnTo>
                    <a:cubicBezTo>
                      <a:pt x="143867" y="363744"/>
                      <a:pt x="129850" y="360809"/>
                      <a:pt x="115075" y="360809"/>
                    </a:cubicBezTo>
                    <a:cubicBezTo>
                      <a:pt x="51523" y="360809"/>
                      <a:pt x="0" y="412300"/>
                      <a:pt x="0" y="475810"/>
                    </a:cubicBezTo>
                    <a:cubicBezTo>
                      <a:pt x="0" y="539321"/>
                      <a:pt x="51523" y="590811"/>
                      <a:pt x="115075" y="590811"/>
                    </a:cubicBezTo>
                    <a:cubicBezTo>
                      <a:pt x="178627" y="590811"/>
                      <a:pt x="230150" y="539321"/>
                      <a:pt x="230150" y="475810"/>
                    </a:cubicBezTo>
                    <a:cubicBezTo>
                      <a:pt x="230150" y="437287"/>
                      <a:pt x="211113" y="403308"/>
                      <a:pt x="182131" y="382484"/>
                    </a:cubicBezTo>
                    <a:lnTo>
                      <a:pt x="310466" y="216940"/>
                    </a:lnTo>
                    <a:cubicBezTo>
                      <a:pt x="326377" y="225269"/>
                      <a:pt x="344467" y="230002"/>
                      <a:pt x="363694" y="230002"/>
                    </a:cubicBezTo>
                    <a:cubicBezTo>
                      <a:pt x="377237" y="230002"/>
                      <a:pt x="390118" y="227541"/>
                      <a:pt x="402241" y="223282"/>
                    </a:cubicBezTo>
                    <a:lnTo>
                      <a:pt x="512486" y="394505"/>
                    </a:lnTo>
                    <a:cubicBezTo>
                      <a:pt x="491649" y="415328"/>
                      <a:pt x="478768" y="444008"/>
                      <a:pt x="478768" y="475810"/>
                    </a:cubicBezTo>
                    <a:cubicBezTo>
                      <a:pt x="478768" y="507613"/>
                      <a:pt x="491176" y="534967"/>
                      <a:pt x="511160" y="555696"/>
                    </a:cubicBezTo>
                    <a:lnTo>
                      <a:pt x="369945" y="737993"/>
                    </a:lnTo>
                    <a:cubicBezTo>
                      <a:pt x="367861" y="737899"/>
                      <a:pt x="365777" y="737710"/>
                      <a:pt x="363694" y="737710"/>
                    </a:cubicBezTo>
                    <a:cubicBezTo>
                      <a:pt x="300142" y="737710"/>
                      <a:pt x="248619" y="789200"/>
                      <a:pt x="248619" y="852710"/>
                    </a:cubicBezTo>
                    <a:cubicBezTo>
                      <a:pt x="248619" y="916221"/>
                      <a:pt x="300142" y="967711"/>
                      <a:pt x="363694" y="967711"/>
                    </a:cubicBezTo>
                    <a:cubicBezTo>
                      <a:pt x="422415" y="967711"/>
                      <a:pt x="470813" y="923699"/>
                      <a:pt x="477821" y="866908"/>
                    </a:cubicBezTo>
                    <a:lnTo>
                      <a:pt x="714980" y="866908"/>
                    </a:lnTo>
                    <a:cubicBezTo>
                      <a:pt x="721989" y="923699"/>
                      <a:pt x="770386" y="967711"/>
                      <a:pt x="829108" y="967711"/>
                    </a:cubicBezTo>
                    <a:cubicBezTo>
                      <a:pt x="887829" y="967711"/>
                      <a:pt x="936227" y="923699"/>
                      <a:pt x="943236" y="866908"/>
                    </a:cubicBezTo>
                    <a:lnTo>
                      <a:pt x="1150939" y="866908"/>
                    </a:lnTo>
                    <a:cubicBezTo>
                      <a:pt x="1157947" y="923699"/>
                      <a:pt x="1206345" y="967711"/>
                      <a:pt x="1265066" y="967711"/>
                    </a:cubicBezTo>
                    <a:cubicBezTo>
                      <a:pt x="1328618" y="967711"/>
                      <a:pt x="1380141" y="916221"/>
                      <a:pt x="1380141" y="852710"/>
                    </a:cubicBezTo>
                    <a:cubicBezTo>
                      <a:pt x="1380141" y="789200"/>
                      <a:pt x="1328618" y="737710"/>
                      <a:pt x="1265066" y="737710"/>
                    </a:cubicBezTo>
                    <a:cubicBezTo>
                      <a:pt x="1246692" y="737710"/>
                      <a:pt x="1229455" y="742063"/>
                      <a:pt x="1214111" y="749730"/>
                    </a:cubicBezTo>
                    <a:lnTo>
                      <a:pt x="1105572" y="581062"/>
                    </a:lnTo>
                    <a:cubicBezTo>
                      <a:pt x="1146014" y="563268"/>
                      <a:pt x="1174333" y="522852"/>
                      <a:pt x="1174333" y="475810"/>
                    </a:cubicBezTo>
                    <a:cubicBezTo>
                      <a:pt x="1174333" y="441452"/>
                      <a:pt x="1159179" y="410690"/>
                      <a:pt x="1135216" y="389583"/>
                    </a:cubicBezTo>
                    <a:lnTo>
                      <a:pt x="1259100" y="229718"/>
                    </a:lnTo>
                    <a:cubicBezTo>
                      <a:pt x="1261089" y="229813"/>
                      <a:pt x="1262983" y="230002"/>
                      <a:pt x="1264972" y="230002"/>
                    </a:cubicBezTo>
                    <a:cubicBezTo>
                      <a:pt x="1288650" y="230002"/>
                      <a:pt x="1310623" y="222808"/>
                      <a:pt x="1328902" y="210598"/>
                    </a:cubicBezTo>
                    <a:lnTo>
                      <a:pt x="1441041" y="384756"/>
                    </a:lnTo>
                    <a:cubicBezTo>
                      <a:pt x="1413764" y="405769"/>
                      <a:pt x="1396148" y="438707"/>
                      <a:pt x="1396148" y="475810"/>
                    </a:cubicBezTo>
                    <a:cubicBezTo>
                      <a:pt x="1396148" y="539321"/>
                      <a:pt x="1447671" y="590811"/>
                      <a:pt x="1511223" y="590811"/>
                    </a:cubicBezTo>
                    <a:cubicBezTo>
                      <a:pt x="1574774" y="590811"/>
                      <a:pt x="1626297" y="539321"/>
                      <a:pt x="1626297" y="475810"/>
                    </a:cubicBezTo>
                    <a:cubicBezTo>
                      <a:pt x="1626297" y="412300"/>
                      <a:pt x="1574774" y="360809"/>
                      <a:pt x="1511223" y="360809"/>
                    </a:cubicBezTo>
                    <a:close/>
                    <a:moveTo>
                      <a:pt x="478768" y="115001"/>
                    </a:moveTo>
                    <a:cubicBezTo>
                      <a:pt x="478768" y="108375"/>
                      <a:pt x="478106" y="102034"/>
                      <a:pt x="477064" y="95692"/>
                    </a:cubicBezTo>
                    <a:lnTo>
                      <a:pt x="715738" y="95692"/>
                    </a:lnTo>
                    <a:cubicBezTo>
                      <a:pt x="714696" y="101939"/>
                      <a:pt x="714033" y="108375"/>
                      <a:pt x="714033" y="115001"/>
                    </a:cubicBezTo>
                    <a:cubicBezTo>
                      <a:pt x="714033" y="158730"/>
                      <a:pt x="738468" y="196685"/>
                      <a:pt x="774364" y="216183"/>
                    </a:cubicBezTo>
                    <a:lnTo>
                      <a:pt x="650671" y="375859"/>
                    </a:lnTo>
                    <a:cubicBezTo>
                      <a:pt x="633907" y="366299"/>
                      <a:pt x="614585" y="360809"/>
                      <a:pt x="593938" y="360809"/>
                    </a:cubicBezTo>
                    <a:cubicBezTo>
                      <a:pt x="573291" y="360809"/>
                      <a:pt x="552360" y="366867"/>
                      <a:pt x="535122" y="377089"/>
                    </a:cubicBezTo>
                    <a:lnTo>
                      <a:pt x="427908" y="210504"/>
                    </a:lnTo>
                    <a:cubicBezTo>
                      <a:pt x="458690" y="189870"/>
                      <a:pt x="478863" y="154849"/>
                      <a:pt x="478863" y="115001"/>
                    </a:cubicBezTo>
                    <a:close/>
                    <a:moveTo>
                      <a:pt x="533323" y="573490"/>
                    </a:moveTo>
                    <a:cubicBezTo>
                      <a:pt x="550939" y="584375"/>
                      <a:pt x="571586" y="590811"/>
                      <a:pt x="593843" y="590811"/>
                    </a:cubicBezTo>
                    <a:cubicBezTo>
                      <a:pt x="607955" y="590811"/>
                      <a:pt x="621499" y="588161"/>
                      <a:pt x="634001" y="583428"/>
                    </a:cubicBezTo>
                    <a:lnTo>
                      <a:pt x="752202" y="767146"/>
                    </a:lnTo>
                    <a:cubicBezTo>
                      <a:pt x="732123" y="785224"/>
                      <a:pt x="718389" y="810212"/>
                      <a:pt x="714885" y="838418"/>
                    </a:cubicBezTo>
                    <a:lnTo>
                      <a:pt x="477727" y="838418"/>
                    </a:lnTo>
                    <a:cubicBezTo>
                      <a:pt x="472328" y="794311"/>
                      <a:pt x="441926" y="758059"/>
                      <a:pt x="401105" y="743956"/>
                    </a:cubicBezTo>
                    <a:lnTo>
                      <a:pt x="533228" y="573395"/>
                    </a:lnTo>
                    <a:close/>
                    <a:moveTo>
                      <a:pt x="1190149" y="765348"/>
                    </a:moveTo>
                    <a:cubicBezTo>
                      <a:pt x="1168934" y="783521"/>
                      <a:pt x="1154348" y="809266"/>
                      <a:pt x="1150749" y="838513"/>
                    </a:cubicBezTo>
                    <a:lnTo>
                      <a:pt x="943046" y="838513"/>
                    </a:lnTo>
                    <a:cubicBezTo>
                      <a:pt x="937363" y="792702"/>
                      <a:pt x="904877" y="755315"/>
                      <a:pt x="861689" y="742537"/>
                    </a:cubicBezTo>
                    <a:lnTo>
                      <a:pt x="994569" y="571124"/>
                    </a:lnTo>
                    <a:cubicBezTo>
                      <a:pt x="1012943" y="583618"/>
                      <a:pt x="1035201" y="590906"/>
                      <a:pt x="1059163" y="590906"/>
                    </a:cubicBezTo>
                    <a:cubicBezTo>
                      <a:pt x="1065224" y="590906"/>
                      <a:pt x="1071097" y="590338"/>
                      <a:pt x="1076969" y="589391"/>
                    </a:cubicBezTo>
                    <a:lnTo>
                      <a:pt x="1190244" y="765442"/>
                    </a:lnTo>
                    <a:close/>
                    <a:moveTo>
                      <a:pt x="1111538" y="373587"/>
                    </a:moveTo>
                    <a:cubicBezTo>
                      <a:pt x="1095816" y="365542"/>
                      <a:pt x="1078010" y="360809"/>
                      <a:pt x="1059068" y="360809"/>
                    </a:cubicBezTo>
                    <a:cubicBezTo>
                      <a:pt x="1029613" y="360809"/>
                      <a:pt x="1002809" y="371978"/>
                      <a:pt x="982446" y="390151"/>
                    </a:cubicBezTo>
                    <a:lnTo>
                      <a:pt x="874475" y="222335"/>
                    </a:lnTo>
                    <a:lnTo>
                      <a:pt x="850607" y="237669"/>
                    </a:lnTo>
                    <a:lnTo>
                      <a:pt x="963125" y="412489"/>
                    </a:lnTo>
                    <a:cubicBezTo>
                      <a:pt x="951097" y="430662"/>
                      <a:pt x="944088" y="452432"/>
                      <a:pt x="944088" y="475810"/>
                    </a:cubicBezTo>
                    <a:cubicBezTo>
                      <a:pt x="944088" y="505152"/>
                      <a:pt x="955169" y="531844"/>
                      <a:pt x="973259" y="552099"/>
                    </a:cubicBezTo>
                    <a:lnTo>
                      <a:pt x="829487" y="737615"/>
                    </a:lnTo>
                    <a:cubicBezTo>
                      <a:pt x="829487" y="737615"/>
                      <a:pt x="829202" y="737615"/>
                      <a:pt x="829013" y="737615"/>
                    </a:cubicBezTo>
                    <a:cubicBezTo>
                      <a:pt x="809692" y="737615"/>
                      <a:pt x="791507" y="742442"/>
                      <a:pt x="775501" y="750866"/>
                    </a:cubicBezTo>
                    <a:lnTo>
                      <a:pt x="659289" y="570272"/>
                    </a:lnTo>
                    <a:cubicBezTo>
                      <a:pt x="689218" y="549543"/>
                      <a:pt x="708824" y="514996"/>
                      <a:pt x="708824" y="475810"/>
                    </a:cubicBezTo>
                    <a:cubicBezTo>
                      <a:pt x="708824" y="443156"/>
                      <a:pt x="695185" y="413719"/>
                      <a:pt x="673307" y="392801"/>
                    </a:cubicBezTo>
                    <a:lnTo>
                      <a:pt x="802020" y="226689"/>
                    </a:lnTo>
                    <a:cubicBezTo>
                      <a:pt x="810639" y="228771"/>
                      <a:pt x="819636" y="230002"/>
                      <a:pt x="829013" y="230002"/>
                    </a:cubicBezTo>
                    <a:cubicBezTo>
                      <a:pt x="892565" y="230002"/>
                      <a:pt x="944088" y="178512"/>
                      <a:pt x="944088" y="115001"/>
                    </a:cubicBezTo>
                    <a:cubicBezTo>
                      <a:pt x="944088" y="108375"/>
                      <a:pt x="943425" y="102034"/>
                      <a:pt x="942383" y="95692"/>
                    </a:cubicBezTo>
                    <a:lnTo>
                      <a:pt x="1151602" y="95692"/>
                    </a:lnTo>
                    <a:cubicBezTo>
                      <a:pt x="1150560" y="101939"/>
                      <a:pt x="1149897" y="108375"/>
                      <a:pt x="1149897" y="115001"/>
                    </a:cubicBezTo>
                    <a:cubicBezTo>
                      <a:pt x="1149897" y="165450"/>
                      <a:pt x="1182478" y="208232"/>
                      <a:pt x="1227750" y="223755"/>
                    </a:cubicBezTo>
                    <a:lnTo>
                      <a:pt x="1111633" y="373587"/>
                    </a:lnTo>
                    <a:close/>
                  </a:path>
                </a:pathLst>
              </a:custGeom>
              <a:solidFill>
                <a:schemeClr val="bg1">
                  <a:lumMod val="75000"/>
                </a:schemeClr>
              </a:solid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5" name="Group 1194">
                <a:extLst>
                  <a:ext uri="{FF2B5EF4-FFF2-40B4-BE49-F238E27FC236}">
                    <a16:creationId xmlns:a16="http://schemas.microsoft.com/office/drawing/2014/main" id="{7A474A8D-6AB7-0BCA-17CF-714D5857ECAC}"/>
                  </a:ext>
                </a:extLst>
              </p:cNvPr>
              <p:cNvGrpSpPr/>
              <p:nvPr/>
            </p:nvGrpSpPr>
            <p:grpSpPr>
              <a:xfrm>
                <a:off x="1969814" y="4412749"/>
                <a:ext cx="554413" cy="676894"/>
                <a:chOff x="1998287" y="4412749"/>
                <a:chExt cx="497466" cy="607366"/>
              </a:xfrm>
            </p:grpSpPr>
            <p:sp>
              <p:nvSpPr>
                <p:cNvPr id="1196" name="Freeform 1031">
                  <a:extLst>
                    <a:ext uri="{FF2B5EF4-FFF2-40B4-BE49-F238E27FC236}">
                      <a16:creationId xmlns:a16="http://schemas.microsoft.com/office/drawing/2014/main" id="{36F1546A-5C7D-4261-1BD6-F0B6FFA6CDDA}"/>
                    </a:ext>
                  </a:extLst>
                </p:cNvPr>
                <p:cNvSpPr/>
                <p:nvPr/>
              </p:nvSpPr>
              <p:spPr>
                <a:xfrm>
                  <a:off x="1998287" y="4412749"/>
                  <a:ext cx="497466" cy="607366"/>
                </a:xfrm>
                <a:custGeom>
                  <a:avLst/>
                  <a:gdLst>
                    <a:gd name="connsiteX0" fmla="*/ 434204 w 437468"/>
                    <a:gd name="connsiteY0" fmla="*/ 109133 h 534115"/>
                    <a:gd name="connsiteX1" fmla="*/ 322159 w 437468"/>
                    <a:gd name="connsiteY1" fmla="*/ 77519 h 534115"/>
                    <a:gd name="connsiteX2" fmla="*/ 218734 w 437468"/>
                    <a:gd name="connsiteY2" fmla="*/ 0 h 534115"/>
                    <a:gd name="connsiteX3" fmla="*/ 115309 w 437468"/>
                    <a:gd name="connsiteY3" fmla="*/ 77519 h 534115"/>
                    <a:gd name="connsiteX4" fmla="*/ 3265 w 437468"/>
                    <a:gd name="connsiteY4" fmla="*/ 109133 h 534115"/>
                    <a:gd name="connsiteX5" fmla="*/ 218734 w 437468"/>
                    <a:gd name="connsiteY5" fmla="*/ 534115 h 534115"/>
                    <a:gd name="connsiteX6" fmla="*/ 434204 w 437468"/>
                    <a:gd name="connsiteY6" fmla="*/ 109133 h 5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68" h="534115">
                      <a:moveTo>
                        <a:pt x="434204" y="109133"/>
                      </a:moveTo>
                      <a:cubicBezTo>
                        <a:pt x="407400" y="106388"/>
                        <a:pt x="366769" y="99100"/>
                        <a:pt x="322159" y="77519"/>
                      </a:cubicBezTo>
                      <a:cubicBezTo>
                        <a:pt x="271489" y="53099"/>
                        <a:pt x="237771" y="21013"/>
                        <a:pt x="218734" y="0"/>
                      </a:cubicBezTo>
                      <a:cubicBezTo>
                        <a:pt x="199697" y="21107"/>
                        <a:pt x="165980" y="53099"/>
                        <a:pt x="115309" y="77519"/>
                      </a:cubicBezTo>
                      <a:cubicBezTo>
                        <a:pt x="70700" y="99005"/>
                        <a:pt x="30068" y="106388"/>
                        <a:pt x="3265" y="109133"/>
                      </a:cubicBezTo>
                      <a:cubicBezTo>
                        <a:pt x="-31211" y="436436"/>
                        <a:pt x="218734" y="534115"/>
                        <a:pt x="218734" y="534115"/>
                      </a:cubicBezTo>
                      <a:cubicBezTo>
                        <a:pt x="218734" y="534115"/>
                        <a:pt x="468679" y="436530"/>
                        <a:pt x="434204" y="109133"/>
                      </a:cubicBezTo>
                      <a:close/>
                    </a:path>
                  </a:pathLst>
                </a:custGeom>
                <a:solidFill>
                  <a:srgbClr val="00ADFD"/>
                </a:solidFill>
                <a:ln w="38100" cap="flat">
                  <a:solidFill>
                    <a:srgbClr val="333333"/>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nvGrpSpPr>
                <p:cNvPr id="1197" name="Graphic 1029">
                  <a:extLst>
                    <a:ext uri="{FF2B5EF4-FFF2-40B4-BE49-F238E27FC236}">
                      <a16:creationId xmlns:a16="http://schemas.microsoft.com/office/drawing/2014/main" id="{AE0C1349-CD04-7EFD-46F7-0F38C3F5C7BD}"/>
                    </a:ext>
                  </a:extLst>
                </p:cNvPr>
                <p:cNvGrpSpPr/>
                <p:nvPr/>
              </p:nvGrpSpPr>
              <p:grpSpPr>
                <a:xfrm>
                  <a:off x="2174699" y="4603993"/>
                  <a:ext cx="144645" cy="224880"/>
                  <a:chOff x="2880290" y="4717417"/>
                  <a:chExt cx="169913" cy="264170"/>
                </a:xfrm>
                <a:solidFill>
                  <a:schemeClr val="bg1"/>
                </a:solidFill>
              </p:grpSpPr>
              <p:sp>
                <p:nvSpPr>
                  <p:cNvPr id="1198" name="Freeform 1033">
                    <a:extLst>
                      <a:ext uri="{FF2B5EF4-FFF2-40B4-BE49-F238E27FC236}">
                        <a16:creationId xmlns:a16="http://schemas.microsoft.com/office/drawing/2014/main" id="{77346F0E-B2CE-013A-C6DE-A9752ECA18DF}"/>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199" name="Freeform 1034">
                    <a:extLst>
                      <a:ext uri="{FF2B5EF4-FFF2-40B4-BE49-F238E27FC236}">
                        <a16:creationId xmlns:a16="http://schemas.microsoft.com/office/drawing/2014/main" id="{7E77C607-9721-A1E9-3784-76BAC0B433C3}"/>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0" name="Freeform 1035">
                    <a:extLst>
                      <a:ext uri="{FF2B5EF4-FFF2-40B4-BE49-F238E27FC236}">
                        <a16:creationId xmlns:a16="http://schemas.microsoft.com/office/drawing/2014/main" id="{39D6A964-412E-65EB-4306-4513313513E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01" name="Freeform 1036">
                    <a:extLst>
                      <a:ext uri="{FF2B5EF4-FFF2-40B4-BE49-F238E27FC236}">
                        <a16:creationId xmlns:a16="http://schemas.microsoft.com/office/drawing/2014/main" id="{C57E138A-864C-111B-EDBB-2C7ECF00D86A}"/>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grpSp>
        <p:sp>
          <p:nvSpPr>
            <p:cNvPr id="1202" name="TextBox 1201">
              <a:extLst>
                <a:ext uri="{FF2B5EF4-FFF2-40B4-BE49-F238E27FC236}">
                  <a16:creationId xmlns:a16="http://schemas.microsoft.com/office/drawing/2014/main" id="{23F7BB3A-569E-9B88-711C-6DDA60EFD75B}"/>
                </a:ext>
              </a:extLst>
            </p:cNvPr>
            <p:cNvSpPr txBox="1"/>
            <p:nvPr/>
          </p:nvSpPr>
          <p:spPr>
            <a:xfrm>
              <a:off x="3338733" y="6251080"/>
              <a:ext cx="2380908" cy="315084"/>
            </a:xfrm>
            <a:custGeom>
              <a:avLst/>
              <a:gdLst>
                <a:gd name="connsiteX0" fmla="*/ 0 w 2380908"/>
                <a:gd name="connsiteY0" fmla="*/ 0 h 315084"/>
                <a:gd name="connsiteX1" fmla="*/ 2380908 w 2380908"/>
                <a:gd name="connsiteY1" fmla="*/ 0 h 315084"/>
                <a:gd name="connsiteX2" fmla="*/ 2380908 w 2380908"/>
                <a:gd name="connsiteY2" fmla="*/ 251235 h 315084"/>
                <a:gd name="connsiteX3" fmla="*/ 2317059 w 2380908"/>
                <a:gd name="connsiteY3" fmla="*/ 315084 h 315084"/>
                <a:gd name="connsiteX4" fmla="*/ 63849 w 2380908"/>
                <a:gd name="connsiteY4" fmla="*/ 315084 h 315084"/>
                <a:gd name="connsiteX5" fmla="*/ 0 w 2380908"/>
                <a:gd name="connsiteY5" fmla="*/ 251235 h 31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908" h="315084">
                  <a:moveTo>
                    <a:pt x="0" y="0"/>
                  </a:moveTo>
                  <a:lnTo>
                    <a:pt x="2380908" y="0"/>
                  </a:lnTo>
                  <a:lnTo>
                    <a:pt x="2380908" y="251235"/>
                  </a:lnTo>
                  <a:cubicBezTo>
                    <a:pt x="2380908" y="286498"/>
                    <a:pt x="2352322" y="315084"/>
                    <a:pt x="2317059" y="315084"/>
                  </a:cubicBezTo>
                  <a:lnTo>
                    <a:pt x="63849" y="315084"/>
                  </a:lnTo>
                  <a:cubicBezTo>
                    <a:pt x="28586" y="315084"/>
                    <a:pt x="0" y="286498"/>
                    <a:pt x="0" y="251235"/>
                  </a:cubicBezTo>
                  <a:close/>
                </a:path>
              </a:pathLst>
            </a:custGeom>
            <a:solidFill>
              <a:schemeClr val="bg1"/>
            </a:solidFill>
            <a:ln>
              <a:noFill/>
              <a:prstDash val="dash"/>
            </a:ln>
          </p:spPr>
          <p:txBody>
            <a:bodyPr wrap="square" lIns="91440" tIns="91440" rIns="91440" bIns="91440" rtlCol="0" anchor="ctr">
              <a:noAutofit/>
            </a:bodyPr>
            <a:lstStyle>
              <a:defPPr>
                <a:defRPr lang="en-US"/>
              </a:defPPr>
              <a:lvl1pPr algn="ctr">
                <a:defRPr sz="1050">
                  <a:solidFill>
                    <a:schemeClr val="tx2"/>
                  </a:solidFill>
                  <a:latin typeface="+mj-lt"/>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Segoe Sans Display" pitchFamily="2" charset="0"/>
                </a:rPr>
                <a:t>Customer Microsoft 365 Tenant</a:t>
              </a:r>
            </a:p>
          </p:txBody>
        </p:sp>
        <p:cxnSp>
          <p:nvCxnSpPr>
            <p:cNvPr id="1204" name="Straight Arrow Connector 1203">
              <a:extLst>
                <a:ext uri="{FF2B5EF4-FFF2-40B4-BE49-F238E27FC236}">
                  <a16:creationId xmlns:a16="http://schemas.microsoft.com/office/drawing/2014/main" id="{18D37D96-6780-CF5C-6BD3-1440F30D02CD}"/>
                </a:ext>
                <a:ext uri="{C183D7F6-B498-43B3-948B-1728B52AA6E4}">
                  <adec:decorative xmlns:adec="http://schemas.microsoft.com/office/drawing/2017/decorative" val="1"/>
                </a:ext>
              </a:extLst>
            </p:cNvPr>
            <p:cNvCxnSpPr>
              <a:cxnSpLocks/>
            </p:cNvCxnSpPr>
            <p:nvPr/>
          </p:nvCxnSpPr>
          <p:spPr>
            <a:xfrm flipH="1">
              <a:off x="2650299" y="4933682"/>
              <a:ext cx="1211609" cy="0"/>
            </a:xfrm>
            <a:prstGeom prst="straightConnector1">
              <a:avLst/>
            </a:prstGeom>
            <a:ln w="22225">
              <a:solidFill>
                <a:schemeClr val="accent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208" name="Straight Connector 1207">
              <a:extLst>
                <a:ext uri="{FF2B5EF4-FFF2-40B4-BE49-F238E27FC236}">
                  <a16:creationId xmlns:a16="http://schemas.microsoft.com/office/drawing/2014/main" id="{A53B0674-1459-E421-3D37-2C7822957ADE}"/>
                </a:ext>
                <a:ext uri="{C183D7F6-B498-43B3-948B-1728B52AA6E4}">
                  <adec:decorative xmlns:adec="http://schemas.microsoft.com/office/drawing/2017/decorative" val="1"/>
                </a:ext>
              </a:extLst>
            </p:cNvPr>
            <p:cNvCxnSpPr>
              <a:cxnSpLocks/>
            </p:cNvCxnSpPr>
            <p:nvPr/>
          </p:nvCxnSpPr>
          <p:spPr>
            <a:xfrm flipH="1" flipV="1">
              <a:off x="3712709" y="2718067"/>
              <a:ext cx="660109" cy="150349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209" name="TextBox 1208">
              <a:extLst>
                <a:ext uri="{FF2B5EF4-FFF2-40B4-BE49-F238E27FC236}">
                  <a16:creationId xmlns:a16="http://schemas.microsoft.com/office/drawing/2014/main" id="{28B961DA-4708-0612-E87D-DDD6A282CBD1}"/>
                </a:ext>
              </a:extLst>
            </p:cNvPr>
            <p:cNvSpPr txBox="1"/>
            <p:nvPr/>
          </p:nvSpPr>
          <p:spPr>
            <a:xfrm>
              <a:off x="6412460" y="5071144"/>
              <a:ext cx="433809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 (optional) Web + Other services for grounding</a:t>
              </a:r>
            </a:p>
          </p:txBody>
        </p:sp>
        <p:sp>
          <p:nvSpPr>
            <p:cNvPr id="1210" name="Oval 1209">
              <a:extLst>
                <a:ext uri="{FF2B5EF4-FFF2-40B4-BE49-F238E27FC236}">
                  <a16:creationId xmlns:a16="http://schemas.microsoft.com/office/drawing/2014/main" id="{748A069D-D8DD-9252-B353-D6E623121336}"/>
                </a:ext>
              </a:extLst>
            </p:cNvPr>
            <p:cNvSpPr/>
            <p:nvPr/>
          </p:nvSpPr>
          <p:spPr bwMode="auto">
            <a:xfrm>
              <a:off x="6167498" y="5062029"/>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2</a:t>
              </a:r>
            </a:p>
          </p:txBody>
        </p:sp>
        <p:cxnSp>
          <p:nvCxnSpPr>
            <p:cNvPr id="1211" name="Straight Connector 1210">
              <a:extLst>
                <a:ext uri="{FF2B5EF4-FFF2-40B4-BE49-F238E27FC236}">
                  <a16:creationId xmlns:a16="http://schemas.microsoft.com/office/drawing/2014/main" id="{7C3FF3DA-08CE-D2BD-26D4-309928E9378F}"/>
                </a:ext>
                <a:ext uri="{C183D7F6-B498-43B3-948B-1728B52AA6E4}">
                  <adec:decorative xmlns:adec="http://schemas.microsoft.com/office/drawing/2017/decorative" val="1"/>
                </a:ext>
              </a:extLst>
            </p:cNvPr>
            <p:cNvCxnSpPr>
              <a:cxnSpLocks/>
            </p:cNvCxnSpPr>
            <p:nvPr/>
          </p:nvCxnSpPr>
          <p:spPr>
            <a:xfrm>
              <a:off x="6099816" y="2752542"/>
              <a:ext cx="2221193" cy="0"/>
            </a:xfrm>
            <a:prstGeom prst="line">
              <a:avLst/>
            </a:prstGeom>
            <a:ln w="22225">
              <a:solidFill>
                <a:schemeClr val="accent2"/>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213" name="TextBox 1212">
              <a:extLst>
                <a:ext uri="{FF2B5EF4-FFF2-40B4-BE49-F238E27FC236}">
                  <a16:creationId xmlns:a16="http://schemas.microsoft.com/office/drawing/2014/main" id="{C132267A-10EF-EB26-372D-84A5AD4799A7}"/>
                </a:ext>
              </a:extLst>
            </p:cNvPr>
            <p:cNvSpPr txBox="1"/>
            <p:nvPr/>
          </p:nvSpPr>
          <p:spPr>
            <a:xfrm>
              <a:off x="7349303" y="2292131"/>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Modified prompt</a:t>
              </a:r>
            </a:p>
          </p:txBody>
        </p:sp>
        <p:sp>
          <p:nvSpPr>
            <p:cNvPr id="1214" name="Oval 1213">
              <a:extLst>
                <a:ext uri="{FF2B5EF4-FFF2-40B4-BE49-F238E27FC236}">
                  <a16:creationId xmlns:a16="http://schemas.microsoft.com/office/drawing/2014/main" id="{C5FB70F0-1F7C-A366-04E1-1FA43DB35519}"/>
                </a:ext>
              </a:extLst>
            </p:cNvPr>
            <p:cNvSpPr/>
            <p:nvPr/>
          </p:nvSpPr>
          <p:spPr bwMode="auto">
            <a:xfrm>
              <a:off x="7547262" y="26694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grpSp>
          <p:nvGrpSpPr>
            <p:cNvPr id="1215" name="Graphic 1029" descr="Lock icon">
              <a:extLst>
                <a:ext uri="{FF2B5EF4-FFF2-40B4-BE49-F238E27FC236}">
                  <a16:creationId xmlns:a16="http://schemas.microsoft.com/office/drawing/2014/main" id="{B06C084D-CFD0-D7F1-4831-E486AC7CBDD3}"/>
                </a:ext>
              </a:extLst>
            </p:cNvPr>
            <p:cNvGrpSpPr/>
            <p:nvPr/>
          </p:nvGrpSpPr>
          <p:grpSpPr>
            <a:xfrm>
              <a:off x="7941179" y="2647334"/>
              <a:ext cx="95286" cy="148143"/>
              <a:chOff x="2880290" y="4717417"/>
              <a:chExt cx="169913" cy="264170"/>
            </a:xfrm>
            <a:solidFill>
              <a:schemeClr val="accent2"/>
            </a:solidFill>
          </p:grpSpPr>
          <p:sp>
            <p:nvSpPr>
              <p:cNvPr id="1216" name="Freeform 1067">
                <a:extLst>
                  <a:ext uri="{FF2B5EF4-FFF2-40B4-BE49-F238E27FC236}">
                    <a16:creationId xmlns:a16="http://schemas.microsoft.com/office/drawing/2014/main" id="{4D5631B2-8BCC-41B1-EF55-A745843FA58B}"/>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7" name="Freeform 1068">
                <a:extLst>
                  <a:ext uri="{FF2B5EF4-FFF2-40B4-BE49-F238E27FC236}">
                    <a16:creationId xmlns:a16="http://schemas.microsoft.com/office/drawing/2014/main" id="{4D4BCF63-56B0-0755-B5CC-7976AFD04107}"/>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8" name="Freeform 1069">
                <a:extLst>
                  <a:ext uri="{FF2B5EF4-FFF2-40B4-BE49-F238E27FC236}">
                    <a16:creationId xmlns:a16="http://schemas.microsoft.com/office/drawing/2014/main" id="{0B81085C-6FCB-7975-AFAB-936A66EE0E8B}"/>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19" name="Freeform 1070">
                <a:extLst>
                  <a:ext uri="{FF2B5EF4-FFF2-40B4-BE49-F238E27FC236}">
                    <a16:creationId xmlns:a16="http://schemas.microsoft.com/office/drawing/2014/main" id="{6F2D24E7-A404-1B08-00E6-DB1596B87652}"/>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cxnSp>
          <p:nvCxnSpPr>
            <p:cNvPr id="1220" name="Straight Connector 1219">
              <a:extLst>
                <a:ext uri="{FF2B5EF4-FFF2-40B4-BE49-F238E27FC236}">
                  <a16:creationId xmlns:a16="http://schemas.microsoft.com/office/drawing/2014/main" id="{3DF322F0-78E6-78CC-8BBA-7BD563EEBE83}"/>
                </a:ext>
                <a:ext uri="{C183D7F6-B498-43B3-948B-1728B52AA6E4}">
                  <adec:decorative xmlns:adec="http://schemas.microsoft.com/office/drawing/2017/decorative" val="1"/>
                </a:ext>
              </a:extLst>
            </p:cNvPr>
            <p:cNvCxnSpPr>
              <a:cxnSpLocks/>
            </p:cNvCxnSpPr>
            <p:nvPr/>
          </p:nvCxnSpPr>
          <p:spPr>
            <a:xfrm flipH="1" flipV="1">
              <a:off x="3962779" y="2873862"/>
              <a:ext cx="590830" cy="134208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1" name="Arc 1220">
              <a:extLst>
                <a:ext uri="{FF2B5EF4-FFF2-40B4-BE49-F238E27FC236}">
                  <a16:creationId xmlns:a16="http://schemas.microsoft.com/office/drawing/2014/main" id="{64B99A8C-96F0-AC57-15FD-06797EC93B1E}"/>
                </a:ext>
                <a:ext uri="{C183D7F6-B498-43B3-948B-1728B52AA6E4}">
                  <adec:decorative xmlns:adec="http://schemas.microsoft.com/office/drawing/2017/decorative" val="1"/>
                </a:ext>
              </a:extLst>
            </p:cNvPr>
            <p:cNvSpPr/>
            <p:nvPr/>
          </p:nvSpPr>
          <p:spPr>
            <a:xfrm rot="16200000">
              <a:off x="3957311" y="2752542"/>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222" name="Arc 1221">
              <a:extLst>
                <a:ext uri="{FF2B5EF4-FFF2-40B4-BE49-F238E27FC236}">
                  <a16:creationId xmlns:a16="http://schemas.microsoft.com/office/drawing/2014/main" id="{6F6A9D8F-0643-38D9-CF08-D8EEAA17F8BC}"/>
                </a:ext>
                <a:ext uri="{C183D7F6-B498-43B3-948B-1728B52AA6E4}">
                  <adec:decorative xmlns:adec="http://schemas.microsoft.com/office/drawing/2017/decorative" val="1"/>
                </a:ext>
              </a:extLst>
            </p:cNvPr>
            <p:cNvSpPr/>
            <p:nvPr/>
          </p:nvSpPr>
          <p:spPr>
            <a:xfrm rot="5400000">
              <a:off x="4152023" y="3589950"/>
              <a:ext cx="161925" cy="161925"/>
            </a:xfrm>
            <a:prstGeom prst="arc">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223" name="Straight Connector 1222">
              <a:extLst>
                <a:ext uri="{FF2B5EF4-FFF2-40B4-BE49-F238E27FC236}">
                  <a16:creationId xmlns:a16="http://schemas.microsoft.com/office/drawing/2014/main" id="{7F65E553-220F-10BD-2A43-E7170F081E10}"/>
                </a:ext>
                <a:ext uri="{C183D7F6-B498-43B3-948B-1728B52AA6E4}">
                  <adec:decorative xmlns:adec="http://schemas.microsoft.com/office/drawing/2017/decorative" val="1"/>
                </a:ext>
              </a:extLst>
            </p:cNvPr>
            <p:cNvCxnSpPr>
              <a:cxnSpLocks/>
            </p:cNvCxnSpPr>
            <p:nvPr/>
          </p:nvCxnSpPr>
          <p:spPr>
            <a:xfrm>
              <a:off x="2656464" y="3752818"/>
              <a:ext cx="1586632"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5" name="TextBox 1224">
              <a:extLst>
                <a:ext uri="{FF2B5EF4-FFF2-40B4-BE49-F238E27FC236}">
                  <a16:creationId xmlns:a16="http://schemas.microsoft.com/office/drawing/2014/main" id="{AD3F2A65-E3D3-BD3D-493A-255054535581}"/>
                </a:ext>
              </a:extLst>
            </p:cNvPr>
            <p:cNvSpPr txBox="1"/>
            <p:nvPr/>
          </p:nvSpPr>
          <p:spPr>
            <a:xfrm>
              <a:off x="8376282" y="1993059"/>
              <a:ext cx="1354536" cy="43088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j-lt"/>
                  <a:ea typeface="+mn-ea"/>
                  <a:cs typeface="Segoe Sans Display" pitchFamily="2" charset="0"/>
                </a:rPr>
                <a:t>Large Language Model</a:t>
              </a:r>
            </a:p>
          </p:txBody>
        </p:sp>
        <p:sp>
          <p:nvSpPr>
            <p:cNvPr id="1226" name="TextBox 1225">
              <a:extLst>
                <a:ext uri="{FF2B5EF4-FFF2-40B4-BE49-F238E27FC236}">
                  <a16:creationId xmlns:a16="http://schemas.microsoft.com/office/drawing/2014/main" id="{3B6513B7-B81E-68B0-A233-D9C7AAC11F3A}"/>
                </a:ext>
              </a:extLst>
            </p:cNvPr>
            <p:cNvSpPr txBox="1"/>
            <p:nvPr/>
          </p:nvSpPr>
          <p:spPr>
            <a:xfrm>
              <a:off x="8499124" y="3604607"/>
              <a:ext cx="1108852" cy="369332"/>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RAI is performed on input prompt and output results</a:t>
              </a:r>
            </a:p>
          </p:txBody>
        </p:sp>
        <p:sp>
          <p:nvSpPr>
            <p:cNvPr id="1227" name="TextBox 1226">
              <a:extLst>
                <a:ext uri="{FF2B5EF4-FFF2-40B4-BE49-F238E27FC236}">
                  <a16:creationId xmlns:a16="http://schemas.microsoft.com/office/drawing/2014/main" id="{B6DC6734-A978-4748-CE56-3BB1A29DEDD4}"/>
                </a:ext>
              </a:extLst>
            </p:cNvPr>
            <p:cNvSpPr txBox="1"/>
            <p:nvPr/>
          </p:nvSpPr>
          <p:spPr>
            <a:xfrm>
              <a:off x="8771507" y="3227385"/>
              <a:ext cx="564086" cy="16158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mn-ea"/>
                  <a:cs typeface="Segoe Sans Display" pitchFamily="2" charset="0"/>
                </a:rPr>
                <a:t>RAI</a:t>
              </a:r>
            </a:p>
          </p:txBody>
        </p:sp>
        <p:grpSp>
          <p:nvGrpSpPr>
            <p:cNvPr id="1228" name="Group 1227" descr="Large Language Model icon">
              <a:extLst>
                <a:ext uri="{FF2B5EF4-FFF2-40B4-BE49-F238E27FC236}">
                  <a16:creationId xmlns:a16="http://schemas.microsoft.com/office/drawing/2014/main" id="{F5A309D5-662C-C8E5-A218-48D164275472}"/>
                </a:ext>
              </a:extLst>
            </p:cNvPr>
            <p:cNvGrpSpPr/>
            <p:nvPr/>
          </p:nvGrpSpPr>
          <p:grpSpPr>
            <a:xfrm>
              <a:off x="8434943" y="2494037"/>
              <a:ext cx="1237214" cy="663256"/>
              <a:chOff x="8465061" y="2231600"/>
              <a:chExt cx="1519168" cy="814409"/>
            </a:xfrm>
          </p:grpSpPr>
          <p:sp>
            <p:nvSpPr>
              <p:cNvPr id="1230" name="Oval 1229">
                <a:extLst>
                  <a:ext uri="{FF2B5EF4-FFF2-40B4-BE49-F238E27FC236}">
                    <a16:creationId xmlns:a16="http://schemas.microsoft.com/office/drawing/2014/main" id="{8992425D-AE62-079E-08AC-3C1E258A5723}"/>
                  </a:ext>
                </a:extLst>
              </p:cNvPr>
              <p:cNvSpPr/>
              <p:nvPr/>
            </p:nvSpPr>
            <p:spPr bwMode="auto">
              <a:xfrm>
                <a:off x="8821881" y="2231600"/>
                <a:ext cx="814409" cy="814409"/>
              </a:xfrm>
              <a:prstGeom prst="ellipse">
                <a:avLst/>
              </a:prstGeom>
              <a:solidFill>
                <a:srgbClr val="00ADFD"/>
              </a:solidFill>
              <a:ln w="38100">
                <a:solidFill>
                  <a:schemeClr val="tx1"/>
                </a:solidFill>
                <a:headEnd type="none" w="med" len="med"/>
                <a:tailEnd type="none" w="med" len="med"/>
              </a:ln>
              <a:effectLst>
                <a:outerShdw blurRad="80624" sx="102000" sy="102000" algn="ctr" rotWithShape="0">
                  <a:prstClr val="black">
                    <a:alpha val="6812"/>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31" name="light" title="Icon of a lightbulb">
                <a:extLst>
                  <a:ext uri="{FF2B5EF4-FFF2-40B4-BE49-F238E27FC236}">
                    <a16:creationId xmlns:a16="http://schemas.microsoft.com/office/drawing/2014/main" id="{B384C259-F58E-9667-F778-5BF47046B5FD}"/>
                  </a:ext>
                </a:extLst>
              </p:cNvPr>
              <p:cNvSpPr>
                <a:spLocks noChangeAspect="1" noEditPoints="1"/>
              </p:cNvSpPr>
              <p:nvPr/>
            </p:nvSpPr>
            <p:spPr bwMode="auto">
              <a:xfrm>
                <a:off x="9116108" y="2472668"/>
                <a:ext cx="212624" cy="31567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solidFill>
                <a:schemeClr val="bg1"/>
              </a:solidFill>
              <a:ln w="19050" cap="sq">
                <a:solidFill>
                  <a:srgbClr val="00AE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mj-lt"/>
                  <a:ea typeface="+mn-ea"/>
                  <a:cs typeface="+mn-cs"/>
                </a:endParaRPr>
              </a:p>
            </p:txBody>
          </p:sp>
          <p:grpSp>
            <p:nvGrpSpPr>
              <p:cNvPr id="1232" name="Group 1231">
                <a:extLst>
                  <a:ext uri="{FF2B5EF4-FFF2-40B4-BE49-F238E27FC236}">
                    <a16:creationId xmlns:a16="http://schemas.microsoft.com/office/drawing/2014/main" id="{7A294BE5-9D73-F4AB-6BF9-274C8273B0D6}"/>
                  </a:ext>
                </a:extLst>
              </p:cNvPr>
              <p:cNvGrpSpPr/>
              <p:nvPr/>
            </p:nvGrpSpPr>
            <p:grpSpPr>
              <a:xfrm>
                <a:off x="8465061" y="2400248"/>
                <a:ext cx="566526" cy="511359"/>
                <a:chOff x="9144984" y="2688843"/>
                <a:chExt cx="566526" cy="511359"/>
              </a:xfrm>
            </p:grpSpPr>
            <p:sp>
              <p:nvSpPr>
                <p:cNvPr id="1265" name="Oval 1370">
                  <a:extLst>
                    <a:ext uri="{FF2B5EF4-FFF2-40B4-BE49-F238E27FC236}">
                      <a16:creationId xmlns:a16="http://schemas.microsoft.com/office/drawing/2014/main" id="{736E75FC-E04B-FB63-13F6-66CA85009B69}"/>
                    </a:ext>
                  </a:extLst>
                </p:cNvPr>
                <p:cNvSpPr/>
                <p:nvPr/>
              </p:nvSpPr>
              <p:spPr bwMode="auto">
                <a:xfrm>
                  <a:off x="9148747" y="2699350"/>
                  <a:ext cx="541707" cy="500852"/>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 name="connsiteX0" fmla="*/ 0 w 531083"/>
                    <a:gd name="connsiteY0" fmla="*/ 245515 h 491029"/>
                    <a:gd name="connsiteX1" fmla="*/ 245505 w 531083"/>
                    <a:gd name="connsiteY1" fmla="*/ 10 h 491029"/>
                    <a:gd name="connsiteX2" fmla="*/ 531083 w 531083"/>
                    <a:gd name="connsiteY2" fmla="*/ 238229 h 491029"/>
                    <a:gd name="connsiteX3" fmla="*/ 245505 w 531083"/>
                    <a:gd name="connsiteY3" fmla="*/ 491020 h 491029"/>
                    <a:gd name="connsiteX4" fmla="*/ 0 w 531083"/>
                    <a:gd name="connsiteY4" fmla="*/ 245515 h 491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083" h="491029">
                      <a:moveTo>
                        <a:pt x="0" y="245515"/>
                      </a:moveTo>
                      <a:cubicBezTo>
                        <a:pt x="0" y="109926"/>
                        <a:pt x="156991" y="1224"/>
                        <a:pt x="245505" y="10"/>
                      </a:cubicBezTo>
                      <a:cubicBezTo>
                        <a:pt x="334019" y="-1204"/>
                        <a:pt x="480081" y="106283"/>
                        <a:pt x="531083" y="238229"/>
                      </a:cubicBezTo>
                      <a:cubicBezTo>
                        <a:pt x="472795" y="351959"/>
                        <a:pt x="334019" y="489806"/>
                        <a:pt x="245505" y="491020"/>
                      </a:cubicBezTo>
                      <a:cubicBezTo>
                        <a:pt x="156991" y="492234"/>
                        <a:pt x="0" y="381104"/>
                        <a:pt x="0" y="245515"/>
                      </a:cubicBezTo>
                      <a:close/>
                    </a:path>
                  </a:pathLst>
                </a:custGeom>
                <a:solidFill>
                  <a:srgbClr val="1D313F"/>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6" name="Freeform 1091">
                  <a:extLst>
                    <a:ext uri="{FF2B5EF4-FFF2-40B4-BE49-F238E27FC236}">
                      <a16:creationId xmlns:a16="http://schemas.microsoft.com/office/drawing/2014/main" id="{57D68E82-882D-A259-C3E3-C5D7C624A254}"/>
                    </a:ext>
                  </a:extLst>
                </p:cNvPr>
                <p:cNvSpPr/>
                <p:nvPr/>
              </p:nvSpPr>
              <p:spPr>
                <a:xfrm>
                  <a:off x="9285889" y="288334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7" name="Freeform 1092">
                  <a:extLst>
                    <a:ext uri="{FF2B5EF4-FFF2-40B4-BE49-F238E27FC236}">
                      <a16:creationId xmlns:a16="http://schemas.microsoft.com/office/drawing/2014/main" id="{11E54E94-4BF7-43E9-AC8E-28EBE9F19506}"/>
                    </a:ext>
                  </a:extLst>
                </p:cNvPr>
                <p:cNvSpPr/>
                <p:nvPr/>
              </p:nvSpPr>
              <p:spPr>
                <a:xfrm>
                  <a:off x="9285889" y="2944363"/>
                  <a:ext cx="208453" cy="19069"/>
                </a:xfrm>
                <a:custGeom>
                  <a:avLst/>
                  <a:gdLst>
                    <a:gd name="connsiteX0" fmla="*/ 0 w 312374"/>
                    <a:gd name="connsiteY0" fmla="*/ 0 h 28575"/>
                    <a:gd name="connsiteX1" fmla="*/ 312375 w 312374"/>
                    <a:gd name="connsiteY1" fmla="*/ 0 h 28575"/>
                    <a:gd name="connsiteX2" fmla="*/ 312375 w 312374"/>
                    <a:gd name="connsiteY2" fmla="*/ 28575 h 28575"/>
                    <a:gd name="connsiteX3" fmla="*/ 0 w 31237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312374" h="28575">
                      <a:moveTo>
                        <a:pt x="0" y="0"/>
                      </a:moveTo>
                      <a:lnTo>
                        <a:pt x="312375" y="0"/>
                      </a:lnTo>
                      <a:lnTo>
                        <a:pt x="31237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8" name="Freeform 1093">
                  <a:extLst>
                    <a:ext uri="{FF2B5EF4-FFF2-40B4-BE49-F238E27FC236}">
                      <a16:creationId xmlns:a16="http://schemas.microsoft.com/office/drawing/2014/main" id="{5757E670-2107-2127-5997-FA21DA02105A}"/>
                    </a:ext>
                  </a:extLst>
                </p:cNvPr>
                <p:cNvSpPr/>
                <p:nvPr/>
              </p:nvSpPr>
              <p:spPr>
                <a:xfrm>
                  <a:off x="9285889" y="3005382"/>
                  <a:ext cx="135709" cy="19069"/>
                </a:xfrm>
                <a:custGeom>
                  <a:avLst/>
                  <a:gdLst>
                    <a:gd name="connsiteX0" fmla="*/ 0 w 203365"/>
                    <a:gd name="connsiteY0" fmla="*/ 0 h 28575"/>
                    <a:gd name="connsiteX1" fmla="*/ 203365 w 203365"/>
                    <a:gd name="connsiteY1" fmla="*/ 0 h 28575"/>
                    <a:gd name="connsiteX2" fmla="*/ 203365 w 203365"/>
                    <a:gd name="connsiteY2" fmla="*/ 28575 h 28575"/>
                    <a:gd name="connsiteX3" fmla="*/ 0 w 20336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03365" h="28575">
                      <a:moveTo>
                        <a:pt x="0" y="0"/>
                      </a:moveTo>
                      <a:lnTo>
                        <a:pt x="203365" y="0"/>
                      </a:lnTo>
                      <a:lnTo>
                        <a:pt x="203365" y="28575"/>
                      </a:lnTo>
                      <a:lnTo>
                        <a:pt x="0" y="28575"/>
                      </a:ln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9" name="Freeform 1094">
                  <a:extLst>
                    <a:ext uri="{FF2B5EF4-FFF2-40B4-BE49-F238E27FC236}">
                      <a16:creationId xmlns:a16="http://schemas.microsoft.com/office/drawing/2014/main" id="{65E2AEEF-7549-45DC-0124-695AC2F88F10}"/>
                    </a:ext>
                  </a:extLst>
                </p:cNvPr>
                <p:cNvSpPr/>
                <p:nvPr/>
              </p:nvSpPr>
              <p:spPr>
                <a:xfrm>
                  <a:off x="9144984" y="2688843"/>
                  <a:ext cx="566526" cy="506208"/>
                </a:xfrm>
                <a:custGeom>
                  <a:avLst/>
                  <a:gdLst>
                    <a:gd name="connsiteX0" fmla="*/ 376131 w 848958"/>
                    <a:gd name="connsiteY0" fmla="*/ 758571 h 758570"/>
                    <a:gd name="connsiteX1" fmla="*/ 352401 w 848958"/>
                    <a:gd name="connsiteY1" fmla="*/ 757809 h 758570"/>
                    <a:gd name="connsiteX2" fmla="*/ 979 w 848958"/>
                    <a:gd name="connsiteY2" fmla="*/ 406908 h 758570"/>
                    <a:gd name="connsiteX3" fmla="*/ 101007 w 848958"/>
                    <a:gd name="connsiteY3" fmla="*/ 120777 h 758570"/>
                    <a:gd name="connsiteX4" fmla="*/ 376510 w 848958"/>
                    <a:gd name="connsiteY4" fmla="*/ 0 h 758570"/>
                    <a:gd name="connsiteX5" fmla="*/ 736062 w 848958"/>
                    <a:gd name="connsiteY5" fmla="*/ 266510 h 758570"/>
                    <a:gd name="connsiteX6" fmla="*/ 842519 w 848958"/>
                    <a:gd name="connsiteY6" fmla="*/ 366522 h 758570"/>
                    <a:gd name="connsiteX7" fmla="*/ 842519 w 848958"/>
                    <a:gd name="connsiteY7" fmla="*/ 366522 h 758570"/>
                    <a:gd name="connsiteX8" fmla="*/ 848948 w 848958"/>
                    <a:gd name="connsiteY8" fmla="*/ 379762 h 758570"/>
                    <a:gd name="connsiteX9" fmla="*/ 841479 w 848958"/>
                    <a:gd name="connsiteY9" fmla="*/ 392430 h 758570"/>
                    <a:gd name="connsiteX10" fmla="*/ 741357 w 848958"/>
                    <a:gd name="connsiteY10" fmla="*/ 472916 h 758570"/>
                    <a:gd name="connsiteX11" fmla="*/ 376037 w 848958"/>
                    <a:gd name="connsiteY11" fmla="*/ 758476 h 758570"/>
                    <a:gd name="connsiteX12" fmla="*/ 376510 w 848958"/>
                    <a:gd name="connsiteY12" fmla="*/ 28575 h 758570"/>
                    <a:gd name="connsiteX13" fmla="*/ 121712 w 848958"/>
                    <a:gd name="connsiteY13" fmla="*/ 140303 h 758570"/>
                    <a:gd name="connsiteX14" fmla="*/ 29248 w 848958"/>
                    <a:gd name="connsiteY14" fmla="*/ 404908 h 758570"/>
                    <a:gd name="connsiteX15" fmla="*/ 354102 w 848958"/>
                    <a:gd name="connsiteY15" fmla="*/ 729329 h 758570"/>
                    <a:gd name="connsiteX16" fmla="*/ 713844 w 848958"/>
                    <a:gd name="connsiteY16" fmla="*/ 465963 h 758570"/>
                    <a:gd name="connsiteX17" fmla="*/ 810563 w 848958"/>
                    <a:gd name="connsiteY17" fmla="*/ 378333 h 758570"/>
                    <a:gd name="connsiteX18" fmla="*/ 708928 w 848958"/>
                    <a:gd name="connsiteY18" fmla="*/ 274987 h 758570"/>
                    <a:gd name="connsiteX19" fmla="*/ 376510 w 848958"/>
                    <a:gd name="connsiteY19" fmla="*/ 28575 h 758570"/>
                    <a:gd name="connsiteX20" fmla="*/ 825785 w 848958"/>
                    <a:gd name="connsiteY20" fmla="*/ 389668 h 758570"/>
                    <a:gd name="connsiteX21" fmla="*/ 825785 w 848958"/>
                    <a:gd name="connsiteY21" fmla="*/ 389668 h 758570"/>
                    <a:gd name="connsiteX22" fmla="*/ 825785 w 848958"/>
                    <a:gd name="connsiteY22" fmla="*/ 389668 h 758570"/>
                    <a:gd name="connsiteX23" fmla="*/ 825785 w 848958"/>
                    <a:gd name="connsiteY23" fmla="*/ 389668 h 758570"/>
                    <a:gd name="connsiteX24" fmla="*/ 826636 w 848958"/>
                    <a:gd name="connsiteY24" fmla="*/ 368141 h 758570"/>
                    <a:gd name="connsiteX25" fmla="*/ 826636 w 848958"/>
                    <a:gd name="connsiteY25" fmla="*/ 368141 h 758570"/>
                    <a:gd name="connsiteX26" fmla="*/ 826636 w 848958"/>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8958" h="758570">
                      <a:moveTo>
                        <a:pt x="376131" y="758571"/>
                      </a:moveTo>
                      <a:cubicBezTo>
                        <a:pt x="368284" y="758571"/>
                        <a:pt x="360342" y="758285"/>
                        <a:pt x="352401" y="757809"/>
                      </a:cubicBezTo>
                      <a:cubicBezTo>
                        <a:pt x="165297" y="745998"/>
                        <a:pt x="14215" y="595122"/>
                        <a:pt x="979" y="406908"/>
                      </a:cubicBezTo>
                      <a:cubicBezTo>
                        <a:pt x="-6490" y="300228"/>
                        <a:pt x="28964" y="198692"/>
                        <a:pt x="101007" y="120777"/>
                      </a:cubicBezTo>
                      <a:cubicBezTo>
                        <a:pt x="172010" y="44006"/>
                        <a:pt x="272416" y="0"/>
                        <a:pt x="376510" y="0"/>
                      </a:cubicBezTo>
                      <a:cubicBezTo>
                        <a:pt x="542340" y="0"/>
                        <a:pt x="686804" y="107061"/>
                        <a:pt x="736062" y="266510"/>
                      </a:cubicBezTo>
                      <a:cubicBezTo>
                        <a:pt x="741829" y="285179"/>
                        <a:pt x="793923" y="330994"/>
                        <a:pt x="842519" y="366522"/>
                      </a:cubicBezTo>
                      <a:lnTo>
                        <a:pt x="842519" y="366522"/>
                      </a:lnTo>
                      <a:cubicBezTo>
                        <a:pt x="846774" y="369570"/>
                        <a:pt x="849137" y="374523"/>
                        <a:pt x="848948" y="379762"/>
                      </a:cubicBezTo>
                      <a:cubicBezTo>
                        <a:pt x="848759" y="385000"/>
                        <a:pt x="845923" y="389763"/>
                        <a:pt x="841479" y="392430"/>
                      </a:cubicBezTo>
                      <a:cubicBezTo>
                        <a:pt x="788440" y="425196"/>
                        <a:pt x="744476" y="460534"/>
                        <a:pt x="741357" y="472916"/>
                      </a:cubicBezTo>
                      <a:cubicBezTo>
                        <a:pt x="698812" y="641604"/>
                        <a:pt x="547351" y="758476"/>
                        <a:pt x="376037" y="758476"/>
                      </a:cubicBezTo>
                      <a:close/>
                      <a:moveTo>
                        <a:pt x="376510" y="28575"/>
                      </a:moveTo>
                      <a:cubicBezTo>
                        <a:pt x="280263" y="28575"/>
                        <a:pt x="187421" y="69247"/>
                        <a:pt x="121712" y="140303"/>
                      </a:cubicBezTo>
                      <a:cubicBezTo>
                        <a:pt x="55153" y="212312"/>
                        <a:pt x="22346" y="306229"/>
                        <a:pt x="29248" y="404908"/>
                      </a:cubicBezTo>
                      <a:cubicBezTo>
                        <a:pt x="41444" y="578930"/>
                        <a:pt x="181086" y="718376"/>
                        <a:pt x="354102" y="729329"/>
                      </a:cubicBezTo>
                      <a:cubicBezTo>
                        <a:pt x="521257" y="739997"/>
                        <a:pt x="672717" y="629126"/>
                        <a:pt x="713844" y="465963"/>
                      </a:cubicBezTo>
                      <a:cubicBezTo>
                        <a:pt x="720179" y="440722"/>
                        <a:pt x="771611" y="403384"/>
                        <a:pt x="810563" y="378333"/>
                      </a:cubicBezTo>
                      <a:cubicBezTo>
                        <a:pt x="774825" y="351092"/>
                        <a:pt x="717910" y="304229"/>
                        <a:pt x="708928" y="274987"/>
                      </a:cubicBezTo>
                      <a:cubicBezTo>
                        <a:pt x="663452" y="127635"/>
                        <a:pt x="529861" y="28575"/>
                        <a:pt x="376510" y="28575"/>
                      </a:cubicBezTo>
                      <a:close/>
                      <a:moveTo>
                        <a:pt x="825785" y="389668"/>
                      </a:moveTo>
                      <a:cubicBezTo>
                        <a:pt x="825785" y="389668"/>
                        <a:pt x="825785" y="389668"/>
                        <a:pt x="825785" y="389668"/>
                      </a:cubicBezTo>
                      <a:lnTo>
                        <a:pt x="825785" y="389668"/>
                      </a:lnTo>
                      <a:cubicBezTo>
                        <a:pt x="825785" y="389668"/>
                        <a:pt x="825785" y="389668"/>
                        <a:pt x="825785" y="389668"/>
                      </a:cubicBezTo>
                      <a:close/>
                      <a:moveTo>
                        <a:pt x="826636" y="368141"/>
                      </a:moveTo>
                      <a:cubicBezTo>
                        <a:pt x="826636" y="368141"/>
                        <a:pt x="826636" y="368141"/>
                        <a:pt x="826636" y="368141"/>
                      </a:cubicBezTo>
                      <a:cubicBezTo>
                        <a:pt x="826636" y="368141"/>
                        <a:pt x="826636" y="368141"/>
                        <a:pt x="826636"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1233" name="Group 1232">
                <a:extLst>
                  <a:ext uri="{FF2B5EF4-FFF2-40B4-BE49-F238E27FC236}">
                    <a16:creationId xmlns:a16="http://schemas.microsoft.com/office/drawing/2014/main" id="{2252B442-F22B-8F43-41A5-40BB4FB45D7B}"/>
                  </a:ext>
                </a:extLst>
              </p:cNvPr>
              <p:cNvGrpSpPr/>
              <p:nvPr/>
            </p:nvGrpSpPr>
            <p:grpSpPr>
              <a:xfrm>
                <a:off x="9415457" y="2401507"/>
                <a:ext cx="568772" cy="506208"/>
                <a:chOff x="10095380" y="2690102"/>
                <a:chExt cx="568772" cy="506208"/>
              </a:xfrm>
            </p:grpSpPr>
            <p:sp>
              <p:nvSpPr>
                <p:cNvPr id="1260" name="Oval 1371">
                  <a:extLst>
                    <a:ext uri="{FF2B5EF4-FFF2-40B4-BE49-F238E27FC236}">
                      <a16:creationId xmlns:a16="http://schemas.microsoft.com/office/drawing/2014/main" id="{794977C4-8A36-1FA2-A1DB-89996E868D3A}"/>
                    </a:ext>
                  </a:extLst>
                </p:cNvPr>
                <p:cNvSpPr/>
                <p:nvPr/>
              </p:nvSpPr>
              <p:spPr bwMode="auto">
                <a:xfrm>
                  <a:off x="10136712" y="2698039"/>
                  <a:ext cx="527440" cy="491010"/>
                </a:xfrm>
                <a:custGeom>
                  <a:avLst/>
                  <a:gdLst>
                    <a:gd name="connsiteX0" fmla="*/ 0 w 491009"/>
                    <a:gd name="connsiteY0" fmla="*/ 245505 h 491009"/>
                    <a:gd name="connsiteX1" fmla="*/ 245505 w 491009"/>
                    <a:gd name="connsiteY1" fmla="*/ 0 h 491009"/>
                    <a:gd name="connsiteX2" fmla="*/ 491010 w 491009"/>
                    <a:gd name="connsiteY2" fmla="*/ 245505 h 491009"/>
                    <a:gd name="connsiteX3" fmla="*/ 245505 w 491009"/>
                    <a:gd name="connsiteY3" fmla="*/ 491010 h 491009"/>
                    <a:gd name="connsiteX4" fmla="*/ 0 w 491009"/>
                    <a:gd name="connsiteY4" fmla="*/ 245505 h 491009"/>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4572 w 532012"/>
                    <a:gd name="connsiteY0" fmla="*/ 245505 h 491010"/>
                    <a:gd name="connsiteX1" fmla="*/ 286507 w 532012"/>
                    <a:gd name="connsiteY1" fmla="*/ 0 h 491010"/>
                    <a:gd name="connsiteX2" fmla="*/ 532012 w 532012"/>
                    <a:gd name="connsiteY2" fmla="*/ 245505 h 491010"/>
                    <a:gd name="connsiteX3" fmla="*/ 286507 w 532012"/>
                    <a:gd name="connsiteY3" fmla="*/ 491010 h 491010"/>
                    <a:gd name="connsiteX4" fmla="*/ 4572 w 532012"/>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2048 w 529488"/>
                    <a:gd name="connsiteY0" fmla="*/ 245505 h 491010"/>
                    <a:gd name="connsiteX1" fmla="*/ 283983 w 529488"/>
                    <a:gd name="connsiteY1" fmla="*/ 0 h 491010"/>
                    <a:gd name="connsiteX2" fmla="*/ 529488 w 529488"/>
                    <a:gd name="connsiteY2" fmla="*/ 245505 h 491010"/>
                    <a:gd name="connsiteX3" fmla="*/ 283983 w 529488"/>
                    <a:gd name="connsiteY3" fmla="*/ 491010 h 491010"/>
                    <a:gd name="connsiteX4" fmla="*/ 2048 w 529488"/>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 name="connsiteX0" fmla="*/ 0 w 527440"/>
                    <a:gd name="connsiteY0" fmla="*/ 245505 h 491010"/>
                    <a:gd name="connsiteX1" fmla="*/ 281935 w 527440"/>
                    <a:gd name="connsiteY1" fmla="*/ 0 h 491010"/>
                    <a:gd name="connsiteX2" fmla="*/ 527440 w 527440"/>
                    <a:gd name="connsiteY2" fmla="*/ 245505 h 491010"/>
                    <a:gd name="connsiteX3" fmla="*/ 281935 w 527440"/>
                    <a:gd name="connsiteY3" fmla="*/ 491010 h 491010"/>
                    <a:gd name="connsiteX4" fmla="*/ 0 w 527440"/>
                    <a:gd name="connsiteY4" fmla="*/ 245505 h 491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40" h="491010">
                      <a:moveTo>
                        <a:pt x="0" y="245505"/>
                      </a:moveTo>
                      <a:cubicBezTo>
                        <a:pt x="32787" y="120846"/>
                        <a:pt x="194028" y="0"/>
                        <a:pt x="281935" y="0"/>
                      </a:cubicBezTo>
                      <a:cubicBezTo>
                        <a:pt x="369842" y="0"/>
                        <a:pt x="527440" y="109916"/>
                        <a:pt x="527440" y="245505"/>
                      </a:cubicBezTo>
                      <a:cubicBezTo>
                        <a:pt x="527440" y="381094"/>
                        <a:pt x="369842" y="491010"/>
                        <a:pt x="281935" y="491010"/>
                      </a:cubicBezTo>
                      <a:cubicBezTo>
                        <a:pt x="194028" y="491010"/>
                        <a:pt x="36431" y="377450"/>
                        <a:pt x="0" y="245505"/>
                      </a:cubicBezTo>
                      <a:close/>
                    </a:path>
                  </a:pathLst>
                </a:custGeom>
                <a:solidFill>
                  <a:srgbClr val="1D313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61" name="Freeform 1096">
                  <a:extLst>
                    <a:ext uri="{FF2B5EF4-FFF2-40B4-BE49-F238E27FC236}">
                      <a16:creationId xmlns:a16="http://schemas.microsoft.com/office/drawing/2014/main" id="{E37A4D46-4926-71BC-5931-3F43CD85537B}"/>
                    </a:ext>
                  </a:extLst>
                </p:cNvPr>
                <p:cNvSpPr/>
                <p:nvPr/>
              </p:nvSpPr>
              <p:spPr>
                <a:xfrm>
                  <a:off x="10095380" y="2690102"/>
                  <a:ext cx="566588" cy="506208"/>
                </a:xfrm>
                <a:custGeom>
                  <a:avLst/>
                  <a:gdLst>
                    <a:gd name="connsiteX0" fmla="*/ 107602 w 849051"/>
                    <a:gd name="connsiteY0" fmla="*/ 473012 h 758570"/>
                    <a:gd name="connsiteX1" fmla="*/ 7480 w 849051"/>
                    <a:gd name="connsiteY1" fmla="*/ 392525 h 758570"/>
                    <a:gd name="connsiteX2" fmla="*/ 11 w 849051"/>
                    <a:gd name="connsiteY2" fmla="*/ 379857 h 758570"/>
                    <a:gd name="connsiteX3" fmla="*/ 6440 w 849051"/>
                    <a:gd name="connsiteY3" fmla="*/ 366617 h 758570"/>
                    <a:gd name="connsiteX4" fmla="*/ 6440 w 849051"/>
                    <a:gd name="connsiteY4" fmla="*/ 366617 h 758570"/>
                    <a:gd name="connsiteX5" fmla="*/ 112897 w 849051"/>
                    <a:gd name="connsiteY5" fmla="*/ 266605 h 758570"/>
                    <a:gd name="connsiteX6" fmla="*/ 472544 w 849051"/>
                    <a:gd name="connsiteY6" fmla="*/ 0 h 758570"/>
                    <a:gd name="connsiteX7" fmla="*/ 748046 w 849051"/>
                    <a:gd name="connsiteY7" fmla="*/ 120777 h 758570"/>
                    <a:gd name="connsiteX8" fmla="*/ 848074 w 849051"/>
                    <a:gd name="connsiteY8" fmla="*/ 406908 h 758570"/>
                    <a:gd name="connsiteX9" fmla="*/ 496747 w 849051"/>
                    <a:gd name="connsiteY9" fmla="*/ 757809 h 758570"/>
                    <a:gd name="connsiteX10" fmla="*/ 473016 w 849051"/>
                    <a:gd name="connsiteY10" fmla="*/ 758571 h 758570"/>
                    <a:gd name="connsiteX11" fmla="*/ 107697 w 849051"/>
                    <a:gd name="connsiteY11" fmla="*/ 473012 h 758570"/>
                    <a:gd name="connsiteX12" fmla="*/ 140031 w 849051"/>
                    <a:gd name="connsiteY12" fmla="*/ 274987 h 758570"/>
                    <a:gd name="connsiteX13" fmla="*/ 38396 w 849051"/>
                    <a:gd name="connsiteY13" fmla="*/ 378333 h 758570"/>
                    <a:gd name="connsiteX14" fmla="*/ 135115 w 849051"/>
                    <a:gd name="connsiteY14" fmla="*/ 465963 h 758570"/>
                    <a:gd name="connsiteX15" fmla="*/ 494856 w 849051"/>
                    <a:gd name="connsiteY15" fmla="*/ 729329 h 758570"/>
                    <a:gd name="connsiteX16" fmla="*/ 819711 w 849051"/>
                    <a:gd name="connsiteY16" fmla="*/ 404908 h 758570"/>
                    <a:gd name="connsiteX17" fmla="*/ 727246 w 849051"/>
                    <a:gd name="connsiteY17" fmla="*/ 140303 h 758570"/>
                    <a:gd name="connsiteX18" fmla="*/ 472449 w 849051"/>
                    <a:gd name="connsiteY18" fmla="*/ 28575 h 758570"/>
                    <a:gd name="connsiteX19" fmla="*/ 140031 w 849051"/>
                    <a:gd name="connsiteY19" fmla="*/ 274987 h 758570"/>
                    <a:gd name="connsiteX20" fmla="*/ 23174 w 849051"/>
                    <a:gd name="connsiteY20" fmla="*/ 389668 h 758570"/>
                    <a:gd name="connsiteX21" fmla="*/ 23174 w 849051"/>
                    <a:gd name="connsiteY21" fmla="*/ 389668 h 758570"/>
                    <a:gd name="connsiteX22" fmla="*/ 23174 w 849051"/>
                    <a:gd name="connsiteY22" fmla="*/ 389668 h 758570"/>
                    <a:gd name="connsiteX23" fmla="*/ 23174 w 849051"/>
                    <a:gd name="connsiteY23" fmla="*/ 389668 h 758570"/>
                    <a:gd name="connsiteX24" fmla="*/ 22323 w 849051"/>
                    <a:gd name="connsiteY24" fmla="*/ 368141 h 758570"/>
                    <a:gd name="connsiteX25" fmla="*/ 22323 w 849051"/>
                    <a:gd name="connsiteY25" fmla="*/ 368141 h 758570"/>
                    <a:gd name="connsiteX26" fmla="*/ 22323 w 849051"/>
                    <a:gd name="connsiteY26" fmla="*/ 368141 h 75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9051" h="758570">
                      <a:moveTo>
                        <a:pt x="107602" y="473012"/>
                      </a:moveTo>
                      <a:cubicBezTo>
                        <a:pt x="104482" y="460629"/>
                        <a:pt x="60519" y="425291"/>
                        <a:pt x="7480" y="392525"/>
                      </a:cubicBezTo>
                      <a:cubicBezTo>
                        <a:pt x="3036" y="389763"/>
                        <a:pt x="294" y="385000"/>
                        <a:pt x="11" y="379857"/>
                      </a:cubicBezTo>
                      <a:cubicBezTo>
                        <a:pt x="-179" y="374618"/>
                        <a:pt x="2185" y="369665"/>
                        <a:pt x="6440" y="366617"/>
                      </a:cubicBezTo>
                      <a:lnTo>
                        <a:pt x="6440" y="366617"/>
                      </a:lnTo>
                      <a:cubicBezTo>
                        <a:pt x="55035" y="330994"/>
                        <a:pt x="107129" y="285179"/>
                        <a:pt x="112897" y="266605"/>
                      </a:cubicBezTo>
                      <a:cubicBezTo>
                        <a:pt x="162154" y="107061"/>
                        <a:pt x="306713" y="0"/>
                        <a:pt x="472544" y="0"/>
                      </a:cubicBezTo>
                      <a:cubicBezTo>
                        <a:pt x="576637" y="0"/>
                        <a:pt x="677043" y="44006"/>
                        <a:pt x="748046" y="120777"/>
                      </a:cubicBezTo>
                      <a:cubicBezTo>
                        <a:pt x="819995" y="198596"/>
                        <a:pt x="855543" y="300228"/>
                        <a:pt x="848074" y="406908"/>
                      </a:cubicBezTo>
                      <a:cubicBezTo>
                        <a:pt x="834838" y="595217"/>
                        <a:pt x="683756" y="745998"/>
                        <a:pt x="496747" y="757809"/>
                      </a:cubicBezTo>
                      <a:cubicBezTo>
                        <a:pt x="488805" y="758285"/>
                        <a:pt x="480864" y="758571"/>
                        <a:pt x="473016" y="758571"/>
                      </a:cubicBezTo>
                      <a:cubicBezTo>
                        <a:pt x="301702" y="758571"/>
                        <a:pt x="150242" y="641699"/>
                        <a:pt x="107697" y="473012"/>
                      </a:cubicBezTo>
                      <a:close/>
                      <a:moveTo>
                        <a:pt x="140031" y="274987"/>
                      </a:moveTo>
                      <a:cubicBezTo>
                        <a:pt x="131049" y="304133"/>
                        <a:pt x="74133" y="351092"/>
                        <a:pt x="38396" y="378333"/>
                      </a:cubicBezTo>
                      <a:cubicBezTo>
                        <a:pt x="77253" y="403384"/>
                        <a:pt x="128686" y="440722"/>
                        <a:pt x="135115" y="465963"/>
                      </a:cubicBezTo>
                      <a:cubicBezTo>
                        <a:pt x="176241" y="629126"/>
                        <a:pt x="327702" y="739902"/>
                        <a:pt x="494856" y="729329"/>
                      </a:cubicBezTo>
                      <a:cubicBezTo>
                        <a:pt x="667778" y="718471"/>
                        <a:pt x="807420" y="579025"/>
                        <a:pt x="819711" y="404908"/>
                      </a:cubicBezTo>
                      <a:cubicBezTo>
                        <a:pt x="826613" y="306229"/>
                        <a:pt x="793806" y="212312"/>
                        <a:pt x="727246" y="140303"/>
                      </a:cubicBezTo>
                      <a:cubicBezTo>
                        <a:pt x="661633" y="69342"/>
                        <a:pt x="568790" y="28575"/>
                        <a:pt x="472449" y="28575"/>
                      </a:cubicBezTo>
                      <a:cubicBezTo>
                        <a:pt x="319098" y="28575"/>
                        <a:pt x="185507" y="127635"/>
                        <a:pt x="140031" y="274987"/>
                      </a:cubicBezTo>
                      <a:close/>
                      <a:moveTo>
                        <a:pt x="23174" y="389668"/>
                      </a:moveTo>
                      <a:lnTo>
                        <a:pt x="23174" y="389668"/>
                      </a:lnTo>
                      <a:cubicBezTo>
                        <a:pt x="23174" y="389668"/>
                        <a:pt x="23174" y="389668"/>
                        <a:pt x="23174" y="389668"/>
                      </a:cubicBezTo>
                      <a:cubicBezTo>
                        <a:pt x="23174" y="389668"/>
                        <a:pt x="23174" y="389668"/>
                        <a:pt x="23174" y="389668"/>
                      </a:cubicBezTo>
                      <a:close/>
                      <a:moveTo>
                        <a:pt x="22323" y="368141"/>
                      </a:moveTo>
                      <a:cubicBezTo>
                        <a:pt x="22323" y="368141"/>
                        <a:pt x="22323" y="368141"/>
                        <a:pt x="22323" y="368141"/>
                      </a:cubicBezTo>
                      <a:cubicBezTo>
                        <a:pt x="22323" y="368141"/>
                        <a:pt x="22323" y="368141"/>
                        <a:pt x="22323" y="368141"/>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2" name="Freeform 1097">
                  <a:extLst>
                    <a:ext uri="{FF2B5EF4-FFF2-40B4-BE49-F238E27FC236}">
                      <a16:creationId xmlns:a16="http://schemas.microsoft.com/office/drawing/2014/main" id="{7453D2B4-7A2F-8F9B-CDD6-601269A55744}"/>
                    </a:ext>
                  </a:extLst>
                </p:cNvPr>
                <p:cNvSpPr/>
                <p:nvPr/>
              </p:nvSpPr>
              <p:spPr>
                <a:xfrm>
                  <a:off x="10278100"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3" name="Freeform 1098">
                  <a:extLst>
                    <a:ext uri="{FF2B5EF4-FFF2-40B4-BE49-F238E27FC236}">
                      <a16:creationId xmlns:a16="http://schemas.microsoft.com/office/drawing/2014/main" id="{164AA680-8486-48E2-522F-D8DF833EFDC0}"/>
                    </a:ext>
                  </a:extLst>
                </p:cNvPr>
                <p:cNvSpPr/>
                <p:nvPr/>
              </p:nvSpPr>
              <p:spPr>
                <a:xfrm>
                  <a:off x="10378668"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2"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64" name="Freeform 1099">
                  <a:extLst>
                    <a:ext uri="{FF2B5EF4-FFF2-40B4-BE49-F238E27FC236}">
                      <a16:creationId xmlns:a16="http://schemas.microsoft.com/office/drawing/2014/main" id="{C75F9241-EBE0-FFB7-B30D-62C3ADEF71C8}"/>
                    </a:ext>
                  </a:extLst>
                </p:cNvPr>
                <p:cNvSpPr/>
                <p:nvPr/>
              </p:nvSpPr>
              <p:spPr>
                <a:xfrm>
                  <a:off x="10479235" y="2914222"/>
                  <a:ext cx="57539" cy="57969"/>
                </a:xfrm>
                <a:custGeom>
                  <a:avLst/>
                  <a:gdLst>
                    <a:gd name="connsiteX0" fmla="*/ 86225 w 86224"/>
                    <a:gd name="connsiteY0" fmla="*/ 43434 h 86868"/>
                    <a:gd name="connsiteX1" fmla="*/ 43112 w 86224"/>
                    <a:gd name="connsiteY1" fmla="*/ 86868 h 86868"/>
                    <a:gd name="connsiteX2" fmla="*/ 0 w 86224"/>
                    <a:gd name="connsiteY2" fmla="*/ 43434 h 86868"/>
                    <a:gd name="connsiteX3" fmla="*/ 43112 w 86224"/>
                    <a:gd name="connsiteY3" fmla="*/ 0 h 86868"/>
                    <a:gd name="connsiteX4" fmla="*/ 86225 w 86224"/>
                    <a:gd name="connsiteY4" fmla="*/ 43434 h 8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24" h="86868">
                      <a:moveTo>
                        <a:pt x="86225" y="43434"/>
                      </a:moveTo>
                      <a:cubicBezTo>
                        <a:pt x="86225" y="67422"/>
                        <a:pt x="66923" y="86868"/>
                        <a:pt x="43112" y="86868"/>
                      </a:cubicBezTo>
                      <a:cubicBezTo>
                        <a:pt x="19302" y="86868"/>
                        <a:pt x="0" y="67422"/>
                        <a:pt x="0" y="43434"/>
                      </a:cubicBezTo>
                      <a:cubicBezTo>
                        <a:pt x="0" y="19446"/>
                        <a:pt x="19302" y="0"/>
                        <a:pt x="43112" y="0"/>
                      </a:cubicBezTo>
                      <a:cubicBezTo>
                        <a:pt x="66923" y="0"/>
                        <a:pt x="86225" y="19446"/>
                        <a:pt x="86225" y="43434"/>
                      </a:cubicBezTo>
                      <a:close/>
                    </a:path>
                  </a:pathLst>
                </a:custGeom>
                <a:solidFill>
                  <a:schemeClr val="bg1"/>
                </a:solidFill>
                <a:ln w="19050" cap="flat">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sp>
          <p:nvSpPr>
            <p:cNvPr id="1229" name="Isosceles Triangle 1228">
              <a:extLst>
                <a:ext uri="{FF2B5EF4-FFF2-40B4-BE49-F238E27FC236}">
                  <a16:creationId xmlns:a16="http://schemas.microsoft.com/office/drawing/2014/main" id="{9AD7B4FD-4BB6-388C-BA0B-15874A95DFF1}"/>
                </a:ext>
                <a:ext uri="{C183D7F6-B498-43B3-948B-1728B52AA6E4}">
                  <adec:decorative xmlns:adec="http://schemas.microsoft.com/office/drawing/2017/decorative" val="1"/>
                </a:ext>
              </a:extLst>
            </p:cNvPr>
            <p:cNvSpPr/>
            <p:nvPr/>
          </p:nvSpPr>
          <p:spPr bwMode="auto">
            <a:xfrm rot="10800000">
              <a:off x="8979952" y="3459060"/>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78" name="TextBox 1277">
              <a:extLst>
                <a:ext uri="{FF2B5EF4-FFF2-40B4-BE49-F238E27FC236}">
                  <a16:creationId xmlns:a16="http://schemas.microsoft.com/office/drawing/2014/main" id="{EDAE4919-4CE0-5F0C-5380-384B4CD0EC37}"/>
                </a:ext>
              </a:extLst>
            </p:cNvPr>
            <p:cNvSpPr txBox="1"/>
            <p:nvPr/>
          </p:nvSpPr>
          <p:spPr>
            <a:xfrm>
              <a:off x="8040157" y="1531201"/>
              <a:ext cx="2026787" cy="246221"/>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Prompts, responses, and grounding data aren’t used to train foundation models</a:t>
              </a:r>
            </a:p>
          </p:txBody>
        </p:sp>
        <p:sp>
          <p:nvSpPr>
            <p:cNvPr id="1279" name="Isosceles Triangle 1278">
              <a:extLst>
                <a:ext uri="{FF2B5EF4-FFF2-40B4-BE49-F238E27FC236}">
                  <a16:creationId xmlns:a16="http://schemas.microsoft.com/office/drawing/2014/main" id="{4D1FA878-E725-988F-C521-451A3E2E27A2}"/>
                </a:ext>
                <a:ext uri="{C183D7F6-B498-43B3-948B-1728B52AA6E4}">
                  <adec:decorative xmlns:adec="http://schemas.microsoft.com/office/drawing/2017/decorative" val="1"/>
                </a:ext>
              </a:extLst>
            </p:cNvPr>
            <p:cNvSpPr/>
            <p:nvPr/>
          </p:nvSpPr>
          <p:spPr bwMode="auto">
            <a:xfrm>
              <a:off x="8979952" y="1847513"/>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1" name="TextBox 1280">
              <a:extLst>
                <a:ext uri="{FF2B5EF4-FFF2-40B4-BE49-F238E27FC236}">
                  <a16:creationId xmlns:a16="http://schemas.microsoft.com/office/drawing/2014/main" id="{8E6250ED-5E0D-3E9C-D4E5-822D55A71B00}"/>
                </a:ext>
              </a:extLst>
            </p:cNvPr>
            <p:cNvSpPr txBox="1"/>
            <p:nvPr/>
          </p:nvSpPr>
          <p:spPr>
            <a:xfrm>
              <a:off x="10109287" y="3153770"/>
              <a:ext cx="752380" cy="561856"/>
            </a:xfrm>
            <a:prstGeom prst="roundRect">
              <a:avLst/>
            </a:prstGeom>
            <a:solidFill>
              <a:schemeClr val="bg1"/>
            </a:solidFill>
            <a:ln>
              <a:noFill/>
              <a:prstDash val="dash"/>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Azure</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j-lt"/>
                  <a:ea typeface="+mn-ea"/>
                  <a:cs typeface="Segoe Sans Display" pitchFamily="2" charset="0"/>
                </a:rPr>
                <a:t>OpenAI</a:t>
              </a:r>
            </a:p>
          </p:txBody>
        </p:sp>
        <p:sp>
          <p:nvSpPr>
            <p:cNvPr id="1282" name="TextBox 1281">
              <a:extLst>
                <a:ext uri="{FF2B5EF4-FFF2-40B4-BE49-F238E27FC236}">
                  <a16:creationId xmlns:a16="http://schemas.microsoft.com/office/drawing/2014/main" id="{7F9B7C98-7C6C-7DC9-6C99-7734F9598FC6}"/>
                </a:ext>
              </a:extLst>
            </p:cNvPr>
            <p:cNvSpPr txBox="1"/>
            <p:nvPr/>
          </p:nvSpPr>
          <p:spPr>
            <a:xfrm>
              <a:off x="9952668" y="2251373"/>
              <a:ext cx="1065619" cy="615553"/>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Segoe Sans Display" pitchFamily="2" charset="0"/>
                </a:rPr>
                <a:t>Azure OpenAI instance is maintained by Microsoft. OpenAI has no access to the data or the model</a:t>
              </a:r>
            </a:p>
          </p:txBody>
        </p:sp>
        <p:sp>
          <p:nvSpPr>
            <p:cNvPr id="1283" name="Isosceles Triangle 1282">
              <a:extLst>
                <a:ext uri="{FF2B5EF4-FFF2-40B4-BE49-F238E27FC236}">
                  <a16:creationId xmlns:a16="http://schemas.microsoft.com/office/drawing/2014/main" id="{7A1F2D73-980D-F079-5E88-C954E0CA54E7}"/>
                </a:ext>
                <a:ext uri="{C183D7F6-B498-43B3-948B-1728B52AA6E4}">
                  <adec:decorative xmlns:adec="http://schemas.microsoft.com/office/drawing/2017/decorative" val="1"/>
                </a:ext>
              </a:extLst>
            </p:cNvPr>
            <p:cNvSpPr/>
            <p:nvPr/>
          </p:nvSpPr>
          <p:spPr bwMode="auto">
            <a:xfrm>
              <a:off x="10413471" y="2972621"/>
              <a:ext cx="147196" cy="75455"/>
            </a:xfrm>
            <a:prstGeom prst="triangle">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sp>
          <p:nvSpPr>
            <p:cNvPr id="1284" name="TextBox 1283">
              <a:extLst>
                <a:ext uri="{FF2B5EF4-FFF2-40B4-BE49-F238E27FC236}">
                  <a16:creationId xmlns:a16="http://schemas.microsoft.com/office/drawing/2014/main" id="{745750DD-9BF0-A9E6-B509-A5001EA3F368}"/>
                </a:ext>
              </a:extLst>
            </p:cNvPr>
            <p:cNvSpPr txBox="1"/>
            <p:nvPr/>
          </p:nvSpPr>
          <p:spPr>
            <a:xfrm>
              <a:off x="6412460" y="5299225"/>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modified prompt to Large Language Model (LLM)</a:t>
              </a:r>
            </a:p>
          </p:txBody>
        </p:sp>
        <p:sp>
          <p:nvSpPr>
            <p:cNvPr id="1309" name="Oval 1308">
              <a:extLst>
                <a:ext uri="{FF2B5EF4-FFF2-40B4-BE49-F238E27FC236}">
                  <a16:creationId xmlns:a16="http://schemas.microsoft.com/office/drawing/2014/main" id="{4D1DA7B0-8CC0-BE84-005D-EA03EDCF2174}"/>
                </a:ext>
              </a:extLst>
            </p:cNvPr>
            <p:cNvSpPr/>
            <p:nvPr/>
          </p:nvSpPr>
          <p:spPr bwMode="auto">
            <a:xfrm>
              <a:off x="6167498" y="529142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cxnSp>
          <p:nvCxnSpPr>
            <p:cNvPr id="1310" name="Straight Connector 1309">
              <a:extLst>
                <a:ext uri="{FF2B5EF4-FFF2-40B4-BE49-F238E27FC236}">
                  <a16:creationId xmlns:a16="http://schemas.microsoft.com/office/drawing/2014/main" id="{9D1BEA35-368A-A0C5-CDA3-996F7A128C38}"/>
                </a:ext>
                <a:ext uri="{C183D7F6-B498-43B3-948B-1728B52AA6E4}">
                  <adec:decorative xmlns:adec="http://schemas.microsoft.com/office/drawing/2017/decorative" val="1"/>
                </a:ext>
              </a:extLst>
            </p:cNvPr>
            <p:cNvCxnSpPr>
              <a:cxnSpLocks/>
            </p:cNvCxnSpPr>
            <p:nvPr/>
          </p:nvCxnSpPr>
          <p:spPr>
            <a:xfrm>
              <a:off x="6101099" y="2905179"/>
              <a:ext cx="2197607"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2" name="TextBox 1311">
              <a:extLst>
                <a:ext uri="{FF2B5EF4-FFF2-40B4-BE49-F238E27FC236}">
                  <a16:creationId xmlns:a16="http://schemas.microsoft.com/office/drawing/2014/main" id="{9797D1F0-5EBF-7288-93F5-A0FB0D8E4F52}"/>
                </a:ext>
              </a:extLst>
            </p:cNvPr>
            <p:cNvSpPr txBox="1"/>
            <p:nvPr/>
          </p:nvSpPr>
          <p:spPr>
            <a:xfrm>
              <a:off x="7545342" y="3056218"/>
              <a:ext cx="564086" cy="30777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LLM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response</a:t>
              </a:r>
            </a:p>
          </p:txBody>
        </p:sp>
        <p:sp>
          <p:nvSpPr>
            <p:cNvPr id="1313" name="Oval 1312">
              <a:extLst>
                <a:ext uri="{FF2B5EF4-FFF2-40B4-BE49-F238E27FC236}">
                  <a16:creationId xmlns:a16="http://schemas.microsoft.com/office/drawing/2014/main" id="{AA5DA088-A4EA-5471-3F12-628DB35AB65F}"/>
                </a:ext>
              </a:extLst>
            </p:cNvPr>
            <p:cNvSpPr/>
            <p:nvPr/>
          </p:nvSpPr>
          <p:spPr bwMode="auto">
            <a:xfrm>
              <a:off x="7742580" y="2817454"/>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grpSp>
          <p:nvGrpSpPr>
            <p:cNvPr id="1314" name="Graphic 1029" descr="Lock icon">
              <a:extLst>
                <a:ext uri="{FF2B5EF4-FFF2-40B4-BE49-F238E27FC236}">
                  <a16:creationId xmlns:a16="http://schemas.microsoft.com/office/drawing/2014/main" id="{354DD9C2-5BA8-10B1-ED83-C8BBAE7EDA51}"/>
                </a:ext>
              </a:extLst>
            </p:cNvPr>
            <p:cNvGrpSpPr/>
            <p:nvPr/>
          </p:nvGrpSpPr>
          <p:grpSpPr>
            <a:xfrm>
              <a:off x="8063980" y="2802332"/>
              <a:ext cx="95286" cy="148141"/>
              <a:chOff x="2880290" y="4717417"/>
              <a:chExt cx="169913" cy="264170"/>
            </a:xfrm>
            <a:solidFill>
              <a:schemeClr val="accent2"/>
            </a:solidFill>
          </p:grpSpPr>
          <p:sp>
            <p:nvSpPr>
              <p:cNvPr id="1315" name="Freeform 1072">
                <a:extLst>
                  <a:ext uri="{FF2B5EF4-FFF2-40B4-BE49-F238E27FC236}">
                    <a16:creationId xmlns:a16="http://schemas.microsoft.com/office/drawing/2014/main" id="{74248A1E-56F5-E08F-A752-964790287254}"/>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6" name="Freeform 1073">
                <a:extLst>
                  <a:ext uri="{FF2B5EF4-FFF2-40B4-BE49-F238E27FC236}">
                    <a16:creationId xmlns:a16="http://schemas.microsoft.com/office/drawing/2014/main" id="{F352BA87-0D32-5C85-86C9-2D7E26D3ECF0}"/>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7" name="Freeform 1074">
                <a:extLst>
                  <a:ext uri="{FF2B5EF4-FFF2-40B4-BE49-F238E27FC236}">
                    <a16:creationId xmlns:a16="http://schemas.microsoft.com/office/drawing/2014/main" id="{A486951C-02BD-A4BF-EC8E-9E75F7280F57}"/>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18" name="Freeform 1075">
                <a:extLst>
                  <a:ext uri="{FF2B5EF4-FFF2-40B4-BE49-F238E27FC236}">
                    <a16:creationId xmlns:a16="http://schemas.microsoft.com/office/drawing/2014/main" id="{58C84F95-CD49-7A83-0D63-3CEA67914676}"/>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19" name="Arc 1318">
              <a:extLst>
                <a:ext uri="{FF2B5EF4-FFF2-40B4-BE49-F238E27FC236}">
                  <a16:creationId xmlns:a16="http://schemas.microsoft.com/office/drawing/2014/main" id="{06BB2D38-83FE-025F-0D54-7D3147F9D57F}"/>
                </a:ext>
                <a:ext uri="{C183D7F6-B498-43B3-948B-1728B52AA6E4}">
                  <adec:decorative xmlns:adec="http://schemas.microsoft.com/office/drawing/2017/decorative" val="1"/>
                </a:ext>
              </a:extLst>
            </p:cNvPr>
            <p:cNvSpPr/>
            <p:nvPr/>
          </p:nvSpPr>
          <p:spPr>
            <a:xfrm rot="16200000">
              <a:off x="4210126" y="2905179"/>
              <a:ext cx="182880" cy="182880"/>
            </a:xfrm>
            <a:prstGeom prst="arc">
              <a:avLst>
                <a:gd name="adj1" fmla="val 15008309"/>
                <a:gd name="adj2" fmla="val 0"/>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cxnSp>
          <p:nvCxnSpPr>
            <p:cNvPr id="1320" name="Straight Connector 1319">
              <a:extLst>
                <a:ext uri="{FF2B5EF4-FFF2-40B4-BE49-F238E27FC236}">
                  <a16:creationId xmlns:a16="http://schemas.microsoft.com/office/drawing/2014/main" id="{9B3CA8A4-BA3A-B263-4409-892D28CB5332}"/>
                </a:ext>
                <a:ext uri="{C183D7F6-B498-43B3-948B-1728B52AA6E4}">
                  <adec:decorative xmlns:adec="http://schemas.microsoft.com/office/drawing/2017/decorative" val="1"/>
                </a:ext>
              </a:extLst>
            </p:cNvPr>
            <p:cNvCxnSpPr>
              <a:cxnSpLocks/>
            </p:cNvCxnSpPr>
            <p:nvPr/>
          </p:nvCxnSpPr>
          <p:spPr>
            <a:xfrm flipH="1" flipV="1">
              <a:off x="4213649" y="3023822"/>
              <a:ext cx="525724" cy="1197735"/>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pic>
          <p:nvPicPr>
            <p:cNvPr id="1321" name="Graphic 1320" descr="Microsoft 365 Copilot logo">
              <a:extLst>
                <a:ext uri="{FF2B5EF4-FFF2-40B4-BE49-F238E27FC236}">
                  <a16:creationId xmlns:a16="http://schemas.microsoft.com/office/drawing/2014/main" id="{A3236DC2-94A6-9066-8421-235B19F81C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2543" y="2179274"/>
              <a:ext cx="1317572" cy="1317572"/>
            </a:xfrm>
            <a:prstGeom prst="rect">
              <a:avLst/>
            </a:prstGeom>
          </p:spPr>
        </p:pic>
        <p:cxnSp>
          <p:nvCxnSpPr>
            <p:cNvPr id="1322" name="Straight Connector 1321">
              <a:extLst>
                <a:ext uri="{FF2B5EF4-FFF2-40B4-BE49-F238E27FC236}">
                  <a16:creationId xmlns:a16="http://schemas.microsoft.com/office/drawing/2014/main" id="{F880F1C5-C402-6DA5-9DDF-5F2C514B3727}"/>
                </a:ext>
                <a:ext uri="{C183D7F6-B498-43B3-948B-1728B52AA6E4}">
                  <adec:decorative xmlns:adec="http://schemas.microsoft.com/office/drawing/2017/decorative" val="1"/>
                </a:ext>
              </a:extLst>
            </p:cNvPr>
            <p:cNvCxnSpPr>
              <a:cxnSpLocks/>
            </p:cNvCxnSpPr>
            <p:nvPr/>
          </p:nvCxnSpPr>
          <p:spPr>
            <a:xfrm>
              <a:off x="4042416" y="2752542"/>
              <a:ext cx="2561035"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BF0C0979-7A88-F549-0DE2-4518E3E7A090}"/>
                </a:ext>
                <a:ext uri="{C183D7F6-B498-43B3-948B-1728B52AA6E4}">
                  <adec:decorative xmlns:adec="http://schemas.microsoft.com/office/drawing/2017/decorative" val="1"/>
                </a:ext>
              </a:extLst>
            </p:cNvPr>
            <p:cNvCxnSpPr>
              <a:cxnSpLocks/>
            </p:cNvCxnSpPr>
            <p:nvPr/>
          </p:nvCxnSpPr>
          <p:spPr>
            <a:xfrm>
              <a:off x="4291617" y="2905179"/>
              <a:ext cx="2258096" cy="0"/>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24" name="TextBox 1323">
              <a:extLst>
                <a:ext uri="{FF2B5EF4-FFF2-40B4-BE49-F238E27FC236}">
                  <a16:creationId xmlns:a16="http://schemas.microsoft.com/office/drawing/2014/main" id="{63A627BB-8870-AE09-42BC-604A54C754E8}"/>
                </a:ext>
              </a:extLst>
            </p:cNvPr>
            <p:cNvSpPr txBox="1"/>
            <p:nvPr/>
          </p:nvSpPr>
          <p:spPr>
            <a:xfrm>
              <a:off x="6412460" y="5527306"/>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receives LLM response</a:t>
              </a:r>
            </a:p>
          </p:txBody>
        </p:sp>
        <p:sp>
          <p:nvSpPr>
            <p:cNvPr id="1325" name="Oval 1324">
              <a:extLst>
                <a:ext uri="{FF2B5EF4-FFF2-40B4-BE49-F238E27FC236}">
                  <a16:creationId xmlns:a16="http://schemas.microsoft.com/office/drawing/2014/main" id="{7C4678CC-A6AF-0458-6559-EE405071D7F7}"/>
                </a:ext>
              </a:extLst>
            </p:cNvPr>
            <p:cNvSpPr/>
            <p:nvPr/>
          </p:nvSpPr>
          <p:spPr bwMode="auto">
            <a:xfrm>
              <a:off x="6167498" y="5520825"/>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4</a:t>
              </a:r>
            </a:p>
          </p:txBody>
        </p:sp>
        <p:sp>
          <p:nvSpPr>
            <p:cNvPr id="1326" name="TextBox 1325">
              <a:extLst>
                <a:ext uri="{FF2B5EF4-FFF2-40B4-BE49-F238E27FC236}">
                  <a16:creationId xmlns:a16="http://schemas.microsoft.com/office/drawing/2014/main" id="{B25952EE-9F11-B679-F291-85E7F2F3176D}"/>
                </a:ext>
              </a:extLst>
            </p:cNvPr>
            <p:cNvSpPr txBox="1"/>
            <p:nvPr/>
          </p:nvSpPr>
          <p:spPr>
            <a:xfrm>
              <a:off x="6412459" y="5755387"/>
              <a:ext cx="4130747"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accesses Graph for Compliance and Purview</a:t>
              </a:r>
            </a:p>
          </p:txBody>
        </p:sp>
        <p:sp>
          <p:nvSpPr>
            <p:cNvPr id="1327" name="Oval 1326">
              <a:extLst>
                <a:ext uri="{FF2B5EF4-FFF2-40B4-BE49-F238E27FC236}">
                  <a16:creationId xmlns:a16="http://schemas.microsoft.com/office/drawing/2014/main" id="{F2064792-8CCD-3948-30A5-33A98CA40BA2}"/>
                </a:ext>
              </a:extLst>
            </p:cNvPr>
            <p:cNvSpPr/>
            <p:nvPr/>
          </p:nvSpPr>
          <p:spPr bwMode="auto">
            <a:xfrm>
              <a:off x="6167498" y="57502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1" name="TextBox 1330">
              <a:extLst>
                <a:ext uri="{FF2B5EF4-FFF2-40B4-BE49-F238E27FC236}">
                  <a16:creationId xmlns:a16="http://schemas.microsoft.com/office/drawing/2014/main" id="{CE7C3C36-C564-8148-0165-C8AAC3BAB7CF}"/>
                </a:ext>
              </a:extLst>
            </p:cNvPr>
            <p:cNvSpPr txBox="1"/>
            <p:nvPr/>
          </p:nvSpPr>
          <p:spPr>
            <a:xfrm>
              <a:off x="4449433" y="3042080"/>
              <a:ext cx="1485198" cy="153888"/>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Compliance and Purview</a:t>
              </a:r>
            </a:p>
          </p:txBody>
        </p:sp>
        <p:sp>
          <p:nvSpPr>
            <p:cNvPr id="1332" name="TextBox 1331">
              <a:extLst>
                <a:ext uri="{FF2B5EF4-FFF2-40B4-BE49-F238E27FC236}">
                  <a16:creationId xmlns:a16="http://schemas.microsoft.com/office/drawing/2014/main" id="{3A86B326-4BC8-D9EE-6417-E0423D6FB960}"/>
                </a:ext>
              </a:extLst>
            </p:cNvPr>
            <p:cNvSpPr txBox="1"/>
            <p:nvPr/>
          </p:nvSpPr>
          <p:spPr>
            <a:xfrm>
              <a:off x="4538236" y="3248233"/>
              <a:ext cx="1307592" cy="227216"/>
            </a:xfrm>
            <a:prstGeom prst="roundRect">
              <a:avLst>
                <a:gd name="adj" fmla="val 50000"/>
              </a:avLst>
            </a:prstGeom>
            <a:solidFill>
              <a:schemeClr val="accent4"/>
            </a:solid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050" b="0" i="0" u="none" strike="noStrike" cap="none" spc="0" normalizeH="0" baseline="0">
                  <a:ln>
                    <a:noFill/>
                  </a:ln>
                  <a:solidFill>
                    <a:srgbClr val="091F2C"/>
                  </a:solidFill>
                  <a:effectLst/>
                  <a:uLnTx/>
                  <a:uFillTx/>
                  <a:latin typeface="Segoe UI Semibold"/>
                  <a:cs typeface="Segoe UI"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j-lt"/>
                  <a:ea typeface="+mn-ea"/>
                  <a:cs typeface="Segoe Sans Display" pitchFamily="2" charset="0"/>
                </a:rPr>
                <a:t>Post-processing</a:t>
              </a:r>
            </a:p>
          </p:txBody>
        </p:sp>
        <p:sp>
          <p:nvSpPr>
            <p:cNvPr id="1333" name="Oval 1332">
              <a:extLst>
                <a:ext uri="{FF2B5EF4-FFF2-40B4-BE49-F238E27FC236}">
                  <a16:creationId xmlns:a16="http://schemas.microsoft.com/office/drawing/2014/main" id="{DC1D5463-7F99-2C79-AF88-6E955DE1DF28}"/>
                </a:ext>
              </a:extLst>
            </p:cNvPr>
            <p:cNvSpPr/>
            <p:nvPr/>
          </p:nvSpPr>
          <p:spPr bwMode="auto">
            <a:xfrm>
              <a:off x="5110142" y="2819797"/>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5</a:t>
              </a:r>
            </a:p>
          </p:txBody>
        </p:sp>
        <p:sp>
          <p:nvSpPr>
            <p:cNvPr id="1334" name="Oval 1333">
              <a:extLst>
                <a:ext uri="{FF2B5EF4-FFF2-40B4-BE49-F238E27FC236}">
                  <a16:creationId xmlns:a16="http://schemas.microsoft.com/office/drawing/2014/main" id="{2FE17053-8E88-F943-04F0-E39E7EE7A92E}"/>
                </a:ext>
              </a:extLst>
            </p:cNvPr>
            <p:cNvSpPr/>
            <p:nvPr/>
          </p:nvSpPr>
          <p:spPr bwMode="auto">
            <a:xfrm>
              <a:off x="4833813" y="2667991"/>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3</a:t>
              </a:r>
            </a:p>
          </p:txBody>
        </p:sp>
        <p:sp>
          <p:nvSpPr>
            <p:cNvPr id="1335" name="TextBox 1334">
              <a:extLst>
                <a:ext uri="{FF2B5EF4-FFF2-40B4-BE49-F238E27FC236}">
                  <a16:creationId xmlns:a16="http://schemas.microsoft.com/office/drawing/2014/main" id="{9D8E785F-294F-FD8C-6F58-7C1E6070EFD7}"/>
                </a:ext>
              </a:extLst>
            </p:cNvPr>
            <p:cNvSpPr txBox="1"/>
            <p:nvPr/>
          </p:nvSpPr>
          <p:spPr>
            <a:xfrm>
              <a:off x="6412460" y="5983470"/>
              <a:ext cx="365760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Segoe Sans Display" pitchFamily="2" charset="0"/>
                </a:rPr>
                <a:t>Copilot sends the response back to the user</a:t>
              </a:r>
            </a:p>
          </p:txBody>
        </p:sp>
        <p:sp>
          <p:nvSpPr>
            <p:cNvPr id="1336" name="Oval 1335">
              <a:extLst>
                <a:ext uri="{FF2B5EF4-FFF2-40B4-BE49-F238E27FC236}">
                  <a16:creationId xmlns:a16="http://schemas.microsoft.com/office/drawing/2014/main" id="{4BE9F10E-4352-8844-56CF-2D2DC5FDE0E4}"/>
                </a:ext>
              </a:extLst>
            </p:cNvPr>
            <p:cNvSpPr/>
            <p:nvPr/>
          </p:nvSpPr>
          <p:spPr bwMode="auto">
            <a:xfrm>
              <a:off x="6167498" y="5979623"/>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cxnSp>
          <p:nvCxnSpPr>
            <p:cNvPr id="1337" name="Straight Connector 1336">
              <a:extLst>
                <a:ext uri="{FF2B5EF4-FFF2-40B4-BE49-F238E27FC236}">
                  <a16:creationId xmlns:a16="http://schemas.microsoft.com/office/drawing/2014/main" id="{050DD005-B22B-6A04-1891-927A739481FE}"/>
                </a:ext>
                <a:ext uri="{C183D7F6-B498-43B3-948B-1728B52AA6E4}">
                  <adec:decorative xmlns:adec="http://schemas.microsoft.com/office/drawing/2017/decorative" val="1"/>
                </a:ext>
              </a:extLst>
            </p:cNvPr>
            <p:cNvCxnSpPr>
              <a:cxnSpLocks/>
            </p:cNvCxnSpPr>
            <p:nvPr/>
          </p:nvCxnSpPr>
          <p:spPr>
            <a:xfrm>
              <a:off x="3212086" y="1648914"/>
              <a:ext cx="3385277" cy="0"/>
            </a:xfrm>
            <a:prstGeom prst="line">
              <a:avLst/>
            </a:prstGeom>
            <a:ln w="22225">
              <a:solidFill>
                <a:schemeClr val="accent2"/>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38" name="TextBox 1337">
              <a:extLst>
                <a:ext uri="{FF2B5EF4-FFF2-40B4-BE49-F238E27FC236}">
                  <a16:creationId xmlns:a16="http://schemas.microsoft.com/office/drawing/2014/main" id="{B5CBF786-8D18-5315-1FDF-1895D950F929}"/>
                </a:ext>
              </a:extLst>
            </p:cNvPr>
            <p:cNvSpPr txBox="1"/>
            <p:nvPr/>
          </p:nvSpPr>
          <p:spPr>
            <a:xfrm>
              <a:off x="6843616" y="1423263"/>
              <a:ext cx="977110" cy="461665"/>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Copilot response </a:t>
              </a:r>
              <a:b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b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back to the user</a:t>
              </a:r>
            </a:p>
          </p:txBody>
        </p:sp>
        <p:grpSp>
          <p:nvGrpSpPr>
            <p:cNvPr id="1339" name="Graphic 1029" descr="Lock icon">
              <a:extLst>
                <a:ext uri="{FF2B5EF4-FFF2-40B4-BE49-F238E27FC236}">
                  <a16:creationId xmlns:a16="http://schemas.microsoft.com/office/drawing/2014/main" id="{ADBC86A5-BC3D-8711-EF27-846392348EC2}"/>
                </a:ext>
              </a:extLst>
            </p:cNvPr>
            <p:cNvGrpSpPr/>
            <p:nvPr/>
          </p:nvGrpSpPr>
          <p:grpSpPr>
            <a:xfrm>
              <a:off x="3526587" y="1548200"/>
              <a:ext cx="95286" cy="148143"/>
              <a:chOff x="2880290" y="4717417"/>
              <a:chExt cx="169913" cy="264170"/>
            </a:xfrm>
            <a:solidFill>
              <a:schemeClr val="accent2"/>
            </a:solidFill>
          </p:grpSpPr>
          <p:sp>
            <p:nvSpPr>
              <p:cNvPr id="1340" name="Freeform 1057">
                <a:extLst>
                  <a:ext uri="{FF2B5EF4-FFF2-40B4-BE49-F238E27FC236}">
                    <a16:creationId xmlns:a16="http://schemas.microsoft.com/office/drawing/2014/main" id="{187F5C34-A723-B85F-7079-AB5AE99C6FE9}"/>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1" name="Freeform 1058">
                <a:extLst>
                  <a:ext uri="{FF2B5EF4-FFF2-40B4-BE49-F238E27FC236}">
                    <a16:creationId xmlns:a16="http://schemas.microsoft.com/office/drawing/2014/main" id="{B641CD23-76A3-A5DC-23E3-5652B30F0FE4}"/>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2" name="Freeform 1059">
                <a:extLst>
                  <a:ext uri="{FF2B5EF4-FFF2-40B4-BE49-F238E27FC236}">
                    <a16:creationId xmlns:a16="http://schemas.microsoft.com/office/drawing/2014/main" id="{C74CF752-8CCA-AA13-9ED0-E425237E37B0}"/>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343" name="Freeform 1060">
                <a:extLst>
                  <a:ext uri="{FF2B5EF4-FFF2-40B4-BE49-F238E27FC236}">
                    <a16:creationId xmlns:a16="http://schemas.microsoft.com/office/drawing/2014/main" id="{226AF09F-E2C1-B8E7-5A9C-3BC0B1521549}"/>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sp>
          <p:nvSpPr>
            <p:cNvPr id="1344" name="Arc 1343">
              <a:extLst>
                <a:ext uri="{FF2B5EF4-FFF2-40B4-BE49-F238E27FC236}">
                  <a16:creationId xmlns:a16="http://schemas.microsoft.com/office/drawing/2014/main" id="{5AB3F427-B20F-CCD4-7B85-4496E0F7662A}"/>
                </a:ext>
                <a:ext uri="{C183D7F6-B498-43B3-948B-1728B52AA6E4}">
                  <adec:decorative xmlns:adec="http://schemas.microsoft.com/office/drawing/2017/decorative" val="1"/>
                </a:ext>
              </a:extLst>
            </p:cNvPr>
            <p:cNvSpPr/>
            <p:nvPr/>
          </p:nvSpPr>
          <p:spPr>
            <a:xfrm>
              <a:off x="6508785" y="1648914"/>
              <a:ext cx="177178" cy="177178"/>
            </a:xfrm>
            <a:prstGeom prst="arc">
              <a:avLst/>
            </a:prstGeom>
            <a:ln w="2222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sp>
          <p:nvSpPr>
            <p:cNvPr id="1345" name="Oval 1344">
              <a:extLst>
                <a:ext uri="{FF2B5EF4-FFF2-40B4-BE49-F238E27FC236}">
                  <a16:creationId xmlns:a16="http://schemas.microsoft.com/office/drawing/2014/main" id="{C70FF409-26E8-C124-9FAA-DE7B1BFF81E9}"/>
                </a:ext>
              </a:extLst>
            </p:cNvPr>
            <p:cNvSpPr/>
            <p:nvPr/>
          </p:nvSpPr>
          <p:spPr bwMode="auto">
            <a:xfrm>
              <a:off x="6602926" y="1566410"/>
              <a:ext cx="168168" cy="168168"/>
            </a:xfrm>
            <a:prstGeom prst="ellipse">
              <a:avLst/>
            </a:prstGeom>
            <a:solidFill>
              <a:schemeClr val="accent6"/>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800">
                  <a:solidFill>
                    <a:schemeClr val="bg1"/>
                  </a:solidFill>
                  <a:latin typeface="+mj-lt"/>
                  <a:cs typeface="Segoe Sans Display" pitchFamily="2" charset="0"/>
                </a:rPr>
                <a:t>6</a:t>
              </a:r>
            </a:p>
          </p:txBody>
        </p:sp>
        <p:pic>
          <p:nvPicPr>
            <p:cNvPr id="9" name="Graphic 8" descr="Microsoft 365 Copilot logo">
              <a:extLst>
                <a:ext uri="{FF2B5EF4-FFF2-40B4-BE49-F238E27FC236}">
                  <a16:creationId xmlns:a16="http://schemas.microsoft.com/office/drawing/2014/main" id="{62C8271A-FD9A-E672-ABFB-C21D557A187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0961" y="1448655"/>
              <a:ext cx="724154" cy="724154"/>
            </a:xfrm>
            <a:prstGeom prst="rect">
              <a:avLst/>
            </a:prstGeom>
          </p:spPr>
        </p:pic>
        <p:grpSp>
          <p:nvGrpSpPr>
            <p:cNvPr id="15" name="Group 14" descr="Group including Dataverse and Power Platform Services">
              <a:extLst>
                <a:ext uri="{FF2B5EF4-FFF2-40B4-BE49-F238E27FC236}">
                  <a16:creationId xmlns:a16="http://schemas.microsoft.com/office/drawing/2014/main" id="{E01B777E-F5C0-D0C5-AE8B-9E4EDF076260}"/>
                </a:ext>
              </a:extLst>
            </p:cNvPr>
            <p:cNvGrpSpPr/>
            <p:nvPr/>
          </p:nvGrpSpPr>
          <p:grpSpPr>
            <a:xfrm>
              <a:off x="1197111" y="4234561"/>
              <a:ext cx="1369392" cy="913716"/>
              <a:chOff x="1197111" y="4234561"/>
              <a:chExt cx="1369392" cy="913716"/>
            </a:xfrm>
          </p:grpSpPr>
          <p:grpSp>
            <p:nvGrpSpPr>
              <p:cNvPr id="17" name="Group 16">
                <a:extLst>
                  <a:ext uri="{FF2B5EF4-FFF2-40B4-BE49-F238E27FC236}">
                    <a16:creationId xmlns:a16="http://schemas.microsoft.com/office/drawing/2014/main" id="{1D318D09-398D-8044-1E4F-26D19F8FAE3F}"/>
                  </a:ext>
                </a:extLst>
              </p:cNvPr>
              <p:cNvGrpSpPr/>
              <p:nvPr/>
            </p:nvGrpSpPr>
            <p:grpSpPr>
              <a:xfrm>
                <a:off x="1445067" y="4668362"/>
                <a:ext cx="873481" cy="402262"/>
                <a:chOff x="567070" y="5123121"/>
                <a:chExt cx="1181323" cy="544032"/>
              </a:xfrm>
            </p:grpSpPr>
            <p:pic>
              <p:nvPicPr>
                <p:cNvPr id="26" name="Picture 25" descr="A green and white circle&#10;&#10;Description automatically generated">
                  <a:extLst>
                    <a:ext uri="{FF2B5EF4-FFF2-40B4-BE49-F238E27FC236}">
                      <a16:creationId xmlns:a16="http://schemas.microsoft.com/office/drawing/2014/main" id="{29E752A4-479D-F60D-39FD-7BB15CC1E93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7070" y="5123121"/>
                  <a:ext cx="544032" cy="544032"/>
                </a:xfrm>
                <a:prstGeom prst="rect">
                  <a:avLst/>
                </a:prstGeom>
              </p:spPr>
            </p:pic>
            <p:pic>
              <p:nvPicPr>
                <p:cNvPr id="35" name="Picture 34" descr="A logo with a black background&#10;&#10;Description automatically generated">
                  <a:extLst>
                    <a:ext uri="{FF2B5EF4-FFF2-40B4-BE49-F238E27FC236}">
                      <a16:creationId xmlns:a16="http://schemas.microsoft.com/office/drawing/2014/main" id="{D826862D-44F4-D47A-70F4-567698BC883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301967" y="5171924"/>
                  <a:ext cx="446426" cy="446426"/>
                </a:xfrm>
                <a:prstGeom prst="rect">
                  <a:avLst/>
                </a:prstGeom>
              </p:spPr>
            </p:pic>
          </p:grpSp>
          <p:sp>
            <p:nvSpPr>
              <p:cNvPr id="23" name="TextBox 22">
                <a:extLst>
                  <a:ext uri="{FF2B5EF4-FFF2-40B4-BE49-F238E27FC236}">
                    <a16:creationId xmlns:a16="http://schemas.microsoft.com/office/drawing/2014/main" id="{949A413D-A848-E69D-0DAA-19D15A7E4F6B}"/>
                  </a:ext>
                </a:extLst>
              </p:cNvPr>
              <p:cNvSpPr txBox="1"/>
              <p:nvPr/>
            </p:nvSpPr>
            <p:spPr>
              <a:xfrm>
                <a:off x="1251049" y="4292666"/>
                <a:ext cx="1261516" cy="307777"/>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Dataverse + Power Platform Services</a:t>
                </a:r>
              </a:p>
            </p:txBody>
          </p:sp>
          <p:sp>
            <p:nvSpPr>
              <p:cNvPr id="25" name="Rectangle: Rounded Corners 24">
                <a:extLst>
                  <a:ext uri="{FF2B5EF4-FFF2-40B4-BE49-F238E27FC236}">
                    <a16:creationId xmlns:a16="http://schemas.microsoft.com/office/drawing/2014/main" id="{050B6FDE-F171-10A4-EA69-34FC380299E9}"/>
                  </a:ext>
                </a:extLst>
              </p:cNvPr>
              <p:cNvSpPr/>
              <p:nvPr/>
            </p:nvSpPr>
            <p:spPr bwMode="auto">
              <a:xfrm>
                <a:off x="1197111" y="4234561"/>
                <a:ext cx="1369392" cy="913716"/>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42" name="Group 41" descr="Group including plug-ins and Bing">
              <a:extLst>
                <a:ext uri="{FF2B5EF4-FFF2-40B4-BE49-F238E27FC236}">
                  <a16:creationId xmlns:a16="http://schemas.microsoft.com/office/drawing/2014/main" id="{DCA92FA9-E7AB-C41B-2A9F-DE6064263F5C}"/>
                </a:ext>
              </a:extLst>
            </p:cNvPr>
            <p:cNvGrpSpPr/>
            <p:nvPr/>
          </p:nvGrpSpPr>
          <p:grpSpPr>
            <a:xfrm>
              <a:off x="1198779" y="3306430"/>
              <a:ext cx="1369392" cy="748280"/>
              <a:chOff x="1198779" y="3306430"/>
              <a:chExt cx="1369392" cy="748280"/>
            </a:xfrm>
          </p:grpSpPr>
          <p:sp>
            <p:nvSpPr>
              <p:cNvPr id="43" name="Rectangle: Rounded Corners 42">
                <a:extLst>
                  <a:ext uri="{FF2B5EF4-FFF2-40B4-BE49-F238E27FC236}">
                    <a16:creationId xmlns:a16="http://schemas.microsoft.com/office/drawing/2014/main" id="{914A4AAE-E4A4-EDCE-04E4-E98FA5F305B2}"/>
                  </a:ext>
                </a:extLst>
              </p:cNvPr>
              <p:cNvSpPr/>
              <p:nvPr/>
            </p:nvSpPr>
            <p:spPr bwMode="auto">
              <a:xfrm>
                <a:off x="1198779" y="3306430"/>
                <a:ext cx="1369392" cy="748280"/>
              </a:xfrm>
              <a:prstGeom prst="roundRect">
                <a:avLst>
                  <a:gd name="adj" fmla="val 4217"/>
                </a:avLst>
              </a:prstGeom>
              <a:ln w="1905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mj-lt"/>
                  <a:ea typeface="+mn-ea"/>
                  <a:cs typeface="+mn-cs"/>
                </a:endParaRPr>
              </a:p>
            </p:txBody>
          </p:sp>
          <p:grpSp>
            <p:nvGrpSpPr>
              <p:cNvPr id="44" name="Group 43">
                <a:extLst>
                  <a:ext uri="{FF2B5EF4-FFF2-40B4-BE49-F238E27FC236}">
                    <a16:creationId xmlns:a16="http://schemas.microsoft.com/office/drawing/2014/main" id="{1C1C6E38-1D59-0BF0-F679-3D42CBD63CF7}"/>
                  </a:ext>
                </a:extLst>
              </p:cNvPr>
              <p:cNvGrpSpPr/>
              <p:nvPr/>
            </p:nvGrpSpPr>
            <p:grpSpPr>
              <a:xfrm>
                <a:off x="1200561" y="3373933"/>
                <a:ext cx="1358314" cy="606867"/>
                <a:chOff x="1094545" y="3360682"/>
                <a:chExt cx="1358314" cy="606867"/>
              </a:xfrm>
            </p:grpSpPr>
            <p:grpSp>
              <p:nvGrpSpPr>
                <p:cNvPr id="45" name="Group 44">
                  <a:extLst>
                    <a:ext uri="{FF2B5EF4-FFF2-40B4-BE49-F238E27FC236}">
                      <a16:creationId xmlns:a16="http://schemas.microsoft.com/office/drawing/2014/main" id="{2C0BE1E1-9544-EB75-C0DE-DEE5062D0FDE}"/>
                    </a:ext>
                  </a:extLst>
                </p:cNvPr>
                <p:cNvGrpSpPr/>
                <p:nvPr/>
              </p:nvGrpSpPr>
              <p:grpSpPr>
                <a:xfrm>
                  <a:off x="1686340" y="3360682"/>
                  <a:ext cx="766519" cy="593212"/>
                  <a:chOff x="1774686" y="3360682"/>
                  <a:chExt cx="766519" cy="593212"/>
                </a:xfrm>
              </p:grpSpPr>
              <p:pic>
                <p:nvPicPr>
                  <p:cNvPr id="49" name="Picture 2">
                    <a:extLst>
                      <a:ext uri="{FF2B5EF4-FFF2-40B4-BE49-F238E27FC236}">
                        <a16:creationId xmlns:a16="http://schemas.microsoft.com/office/drawing/2014/main" id="{7B32BAE6-EA2A-955D-470E-E6AF372B091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47975" y="3621676"/>
                    <a:ext cx="219941" cy="33221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F9C15A4E-7EF9-51AE-7E66-D50AC2B99222}"/>
                      </a:ext>
                    </a:extLst>
                  </p:cNvPr>
                  <p:cNvSpPr txBox="1"/>
                  <p:nvPr/>
                </p:nvSpPr>
                <p:spPr>
                  <a:xfrm>
                    <a:off x="1774686" y="3360682"/>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rPr>
                      <a:t>Bing</a:t>
                    </a:r>
                  </a:p>
                </p:txBody>
              </p:sp>
            </p:grpSp>
            <p:grpSp>
              <p:nvGrpSpPr>
                <p:cNvPr id="46" name="Group 45">
                  <a:extLst>
                    <a:ext uri="{FF2B5EF4-FFF2-40B4-BE49-F238E27FC236}">
                      <a16:creationId xmlns:a16="http://schemas.microsoft.com/office/drawing/2014/main" id="{9902EA1C-02C2-F28F-6808-219535117F17}"/>
                    </a:ext>
                  </a:extLst>
                </p:cNvPr>
                <p:cNvGrpSpPr/>
                <p:nvPr/>
              </p:nvGrpSpPr>
              <p:grpSpPr>
                <a:xfrm>
                  <a:off x="1094545" y="3360682"/>
                  <a:ext cx="766519" cy="606867"/>
                  <a:chOff x="417626" y="3622233"/>
                  <a:chExt cx="766519" cy="606867"/>
                </a:xfrm>
              </p:grpSpPr>
              <p:sp>
                <p:nvSpPr>
                  <p:cNvPr id="47" name="TextBox 46">
                    <a:extLst>
                      <a:ext uri="{FF2B5EF4-FFF2-40B4-BE49-F238E27FC236}">
                        <a16:creationId xmlns:a16="http://schemas.microsoft.com/office/drawing/2014/main" id="{07CF7700-872E-2FDF-89D6-DC206174BADC}"/>
                      </a:ext>
                    </a:extLst>
                  </p:cNvPr>
                  <p:cNvSpPr txBox="1"/>
                  <p:nvPr/>
                </p:nvSpPr>
                <p:spPr>
                  <a:xfrm>
                    <a:off x="417626" y="3622233"/>
                    <a:ext cx="766519" cy="153888"/>
                  </a:xfrm>
                  <a:prstGeom prst="rect">
                    <a:avLst/>
                  </a:prstGeom>
                  <a:noFill/>
                </p:spPr>
                <p:txBody>
                  <a:bodyPr wrap="square" lIns="0" tIns="0" rIns="0" bIns="0" rtlCol="0" anchor="b">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prstClr val="black"/>
                        </a:solidFill>
                        <a:effectLst/>
                        <a:uLnTx/>
                        <a:uFillTx/>
                        <a:latin typeface="+mj-lt"/>
                        <a:ea typeface="+mn-ea"/>
                        <a:cs typeface="Segoe Sans Display" pitchFamily="2" charset="0"/>
                      </a:rPr>
                      <a:t>Agents</a:t>
                    </a:r>
                    <a:endParaRPr kumimoji="0" lang="en-US" sz="1000" b="0" i="0" u="none" strike="noStrike" kern="1200" cap="none" spc="0" normalizeH="0" baseline="0" noProof="0">
                      <a:ln>
                        <a:noFill/>
                      </a:ln>
                      <a:solidFill>
                        <a:prstClr val="black"/>
                      </a:solidFill>
                      <a:effectLst/>
                      <a:uLnTx/>
                      <a:uFillTx/>
                      <a:latin typeface="+mj-lt"/>
                      <a:ea typeface="+mn-ea"/>
                      <a:cs typeface="Segoe Sans Display" pitchFamily="2" charset="0"/>
                    </a:endParaRPr>
                  </a:p>
                </p:txBody>
              </p:sp>
              <p:pic>
                <p:nvPicPr>
                  <p:cNvPr id="48" name="Graphic 47">
                    <a:extLst>
                      <a:ext uri="{FF2B5EF4-FFF2-40B4-BE49-F238E27FC236}">
                        <a16:creationId xmlns:a16="http://schemas.microsoft.com/office/drawing/2014/main" id="{A5726375-CF51-0BD2-AB78-44B64E694558}"/>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4445" y="3856220"/>
                    <a:ext cx="372880" cy="372880"/>
                  </a:xfrm>
                  <a:prstGeom prst="rect">
                    <a:avLst/>
                  </a:prstGeom>
                </p:spPr>
              </p:pic>
            </p:grpSp>
          </p:grpSp>
        </p:grpSp>
        <p:grpSp>
          <p:nvGrpSpPr>
            <p:cNvPr id="1270" name="Graphic 1029" descr="Lock icon">
              <a:extLst>
                <a:ext uri="{FF2B5EF4-FFF2-40B4-BE49-F238E27FC236}">
                  <a16:creationId xmlns:a16="http://schemas.microsoft.com/office/drawing/2014/main" id="{3D0F7CC5-42BD-30C1-8CF6-E285D0A5FBB2}"/>
                </a:ext>
              </a:extLst>
            </p:cNvPr>
            <p:cNvGrpSpPr/>
            <p:nvPr/>
          </p:nvGrpSpPr>
          <p:grpSpPr>
            <a:xfrm>
              <a:off x="4194623" y="2646192"/>
              <a:ext cx="95286" cy="148143"/>
              <a:chOff x="2880290" y="4717417"/>
              <a:chExt cx="169913" cy="264170"/>
            </a:xfrm>
            <a:solidFill>
              <a:schemeClr val="accent2"/>
            </a:solidFill>
          </p:grpSpPr>
          <p:sp>
            <p:nvSpPr>
              <p:cNvPr id="1271" name="Freeform 1057">
                <a:extLst>
                  <a:ext uri="{FF2B5EF4-FFF2-40B4-BE49-F238E27FC236}">
                    <a16:creationId xmlns:a16="http://schemas.microsoft.com/office/drawing/2014/main" id="{51EEDFCA-3CA9-6861-5DD4-DBAA805F982A}"/>
                  </a:ext>
                </a:extLst>
              </p:cNvPr>
              <p:cNvSpPr/>
              <p:nvPr/>
            </p:nvSpPr>
            <p:spPr>
              <a:xfrm>
                <a:off x="2880290" y="4811784"/>
                <a:ext cx="169913" cy="169803"/>
              </a:xfrm>
              <a:custGeom>
                <a:avLst/>
                <a:gdLst>
                  <a:gd name="connsiteX0" fmla="*/ 145193 w 169913"/>
                  <a:gd name="connsiteY0" fmla="*/ 0 h 169803"/>
                  <a:gd name="connsiteX1" fmla="*/ 169913 w 169913"/>
                  <a:gd name="connsiteY1" fmla="*/ 24704 h 169803"/>
                  <a:gd name="connsiteX2" fmla="*/ 169913 w 169913"/>
                  <a:gd name="connsiteY2" fmla="*/ 145100 h 169803"/>
                  <a:gd name="connsiteX3" fmla="*/ 145193 w 169913"/>
                  <a:gd name="connsiteY3" fmla="*/ 169804 h 169803"/>
                  <a:gd name="connsiteX4" fmla="*/ 24720 w 169913"/>
                  <a:gd name="connsiteY4" fmla="*/ 169804 h 169803"/>
                  <a:gd name="connsiteX5" fmla="*/ 0 w 169913"/>
                  <a:gd name="connsiteY5" fmla="*/ 145100 h 169803"/>
                  <a:gd name="connsiteX6" fmla="*/ 0 w 169913"/>
                  <a:gd name="connsiteY6" fmla="*/ 24704 h 169803"/>
                  <a:gd name="connsiteX7" fmla="*/ 24720 w 169913"/>
                  <a:gd name="connsiteY7" fmla="*/ 0 h 16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913" h="169803">
                    <a:moveTo>
                      <a:pt x="145193" y="0"/>
                    </a:moveTo>
                    <a:cubicBezTo>
                      <a:pt x="158846" y="0"/>
                      <a:pt x="169913" y="11060"/>
                      <a:pt x="169913" y="24704"/>
                    </a:cubicBezTo>
                    <a:lnTo>
                      <a:pt x="169913" y="145100"/>
                    </a:lnTo>
                    <a:cubicBezTo>
                      <a:pt x="169913" y="158743"/>
                      <a:pt x="158846" y="169804"/>
                      <a:pt x="145193" y="169804"/>
                    </a:cubicBezTo>
                    <a:lnTo>
                      <a:pt x="24720" y="169804"/>
                    </a:lnTo>
                    <a:cubicBezTo>
                      <a:pt x="11067" y="169804"/>
                      <a:pt x="0" y="158744"/>
                      <a:pt x="0" y="145100"/>
                    </a:cubicBezTo>
                    <a:lnTo>
                      <a:pt x="0" y="24704"/>
                    </a:lnTo>
                    <a:cubicBezTo>
                      <a:pt x="0" y="11060"/>
                      <a:pt x="11067" y="0"/>
                      <a:pt x="24720" y="0"/>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2" name="Freeform 1058">
                <a:extLst>
                  <a:ext uri="{FF2B5EF4-FFF2-40B4-BE49-F238E27FC236}">
                    <a16:creationId xmlns:a16="http://schemas.microsoft.com/office/drawing/2014/main" id="{C4F71B4A-7003-81D3-C17B-5A24B6DB934B}"/>
                  </a:ext>
                </a:extLst>
              </p:cNvPr>
              <p:cNvSpPr/>
              <p:nvPr/>
            </p:nvSpPr>
            <p:spPr>
              <a:xfrm>
                <a:off x="2899422" y="4717417"/>
                <a:ext cx="131838" cy="188828"/>
              </a:xfrm>
              <a:custGeom>
                <a:avLst/>
                <a:gdLst>
                  <a:gd name="connsiteX0" fmla="*/ 97553 w 131838"/>
                  <a:gd name="connsiteY0" fmla="*/ 188829 h 188828"/>
                  <a:gd name="connsiteX1" fmla="*/ 34191 w 131838"/>
                  <a:gd name="connsiteY1" fmla="*/ 188829 h 188828"/>
                  <a:gd name="connsiteX2" fmla="*/ 0 w 131838"/>
                  <a:gd name="connsiteY2" fmla="*/ 154660 h 188828"/>
                  <a:gd name="connsiteX3" fmla="*/ 0 w 131838"/>
                  <a:gd name="connsiteY3" fmla="*/ 65877 h 188828"/>
                  <a:gd name="connsiteX4" fmla="*/ 65920 w 131838"/>
                  <a:gd name="connsiteY4" fmla="*/ 0 h 188828"/>
                  <a:gd name="connsiteX5" fmla="*/ 131839 w 131838"/>
                  <a:gd name="connsiteY5" fmla="*/ 65877 h 188828"/>
                  <a:gd name="connsiteX6" fmla="*/ 131839 w 131838"/>
                  <a:gd name="connsiteY6" fmla="*/ 154660 h 188828"/>
                  <a:gd name="connsiteX7" fmla="*/ 97648 w 131838"/>
                  <a:gd name="connsiteY7" fmla="*/ 188829 h 188828"/>
                  <a:gd name="connsiteX8" fmla="*/ 65825 w 131838"/>
                  <a:gd name="connsiteY8" fmla="*/ 19025 h 188828"/>
                  <a:gd name="connsiteX9" fmla="*/ 18848 w 131838"/>
                  <a:gd name="connsiteY9" fmla="*/ 65972 h 188828"/>
                  <a:gd name="connsiteX10" fmla="*/ 18848 w 131838"/>
                  <a:gd name="connsiteY10" fmla="*/ 154754 h 188828"/>
                  <a:gd name="connsiteX11" fmla="*/ 34096 w 131838"/>
                  <a:gd name="connsiteY11" fmla="*/ 169993 h 188828"/>
                  <a:gd name="connsiteX12" fmla="*/ 97458 w 131838"/>
                  <a:gd name="connsiteY12" fmla="*/ 169993 h 188828"/>
                  <a:gd name="connsiteX13" fmla="*/ 112707 w 131838"/>
                  <a:gd name="connsiteY13" fmla="*/ 154754 h 188828"/>
                  <a:gd name="connsiteX14" fmla="*/ 112707 w 131838"/>
                  <a:gd name="connsiteY14" fmla="*/ 65972 h 188828"/>
                  <a:gd name="connsiteX15" fmla="*/ 65730 w 131838"/>
                  <a:gd name="connsiteY15" fmla="*/ 19025 h 18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838" h="188828">
                    <a:moveTo>
                      <a:pt x="97553" y="188829"/>
                    </a:moveTo>
                    <a:lnTo>
                      <a:pt x="34191" y="188829"/>
                    </a:lnTo>
                    <a:cubicBezTo>
                      <a:pt x="15343" y="188829"/>
                      <a:pt x="0" y="173495"/>
                      <a:pt x="0" y="154660"/>
                    </a:cubicBezTo>
                    <a:lnTo>
                      <a:pt x="0" y="65877"/>
                    </a:lnTo>
                    <a:cubicBezTo>
                      <a:pt x="0" y="29531"/>
                      <a:pt x="29550" y="0"/>
                      <a:pt x="65920" y="0"/>
                    </a:cubicBezTo>
                    <a:cubicBezTo>
                      <a:pt x="102289" y="0"/>
                      <a:pt x="131839" y="29531"/>
                      <a:pt x="131839" y="65877"/>
                    </a:cubicBezTo>
                    <a:lnTo>
                      <a:pt x="131839" y="154660"/>
                    </a:lnTo>
                    <a:cubicBezTo>
                      <a:pt x="131839" y="173495"/>
                      <a:pt x="116496" y="188829"/>
                      <a:pt x="97648" y="188829"/>
                    </a:cubicBezTo>
                    <a:close/>
                    <a:moveTo>
                      <a:pt x="65825" y="19025"/>
                    </a:moveTo>
                    <a:cubicBezTo>
                      <a:pt x="39968" y="19025"/>
                      <a:pt x="18848" y="40037"/>
                      <a:pt x="18848" y="65972"/>
                    </a:cubicBezTo>
                    <a:lnTo>
                      <a:pt x="18848" y="154754"/>
                    </a:lnTo>
                    <a:cubicBezTo>
                      <a:pt x="18848" y="163178"/>
                      <a:pt x="25667" y="169993"/>
                      <a:pt x="34096" y="169993"/>
                    </a:cubicBezTo>
                    <a:lnTo>
                      <a:pt x="97458" y="169993"/>
                    </a:lnTo>
                    <a:cubicBezTo>
                      <a:pt x="105888" y="169993"/>
                      <a:pt x="112707" y="163178"/>
                      <a:pt x="112707" y="154754"/>
                    </a:cubicBezTo>
                    <a:lnTo>
                      <a:pt x="112707" y="65972"/>
                    </a:lnTo>
                    <a:cubicBezTo>
                      <a:pt x="112707" y="40132"/>
                      <a:pt x="91681" y="19025"/>
                      <a:pt x="65730" y="1902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3" name="Freeform 1059">
                <a:extLst>
                  <a:ext uri="{FF2B5EF4-FFF2-40B4-BE49-F238E27FC236}">
                    <a16:creationId xmlns:a16="http://schemas.microsoft.com/office/drawing/2014/main" id="{19E281B4-DC54-2E3E-EEDC-FF9D8388A833}"/>
                  </a:ext>
                </a:extLst>
              </p:cNvPr>
              <p:cNvSpPr/>
              <p:nvPr/>
            </p:nvSpPr>
            <p:spPr>
              <a:xfrm>
                <a:off x="2943558" y="4850685"/>
                <a:ext cx="43378" cy="43350"/>
              </a:xfrm>
              <a:custGeom>
                <a:avLst/>
                <a:gdLst>
                  <a:gd name="connsiteX0" fmla="*/ 43378 w 43378"/>
                  <a:gd name="connsiteY0" fmla="*/ 21675 h 43350"/>
                  <a:gd name="connsiteX1" fmla="*/ 21689 w 43378"/>
                  <a:gd name="connsiteY1" fmla="*/ 43350 h 43350"/>
                  <a:gd name="connsiteX2" fmla="*/ 0 w 43378"/>
                  <a:gd name="connsiteY2" fmla="*/ 21675 h 43350"/>
                  <a:gd name="connsiteX3" fmla="*/ 21689 w 43378"/>
                  <a:gd name="connsiteY3" fmla="*/ 0 h 43350"/>
                  <a:gd name="connsiteX4" fmla="*/ 43378 w 43378"/>
                  <a:gd name="connsiteY4" fmla="*/ 21675 h 4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78" h="43350">
                    <a:moveTo>
                      <a:pt x="43378" y="21675"/>
                    </a:moveTo>
                    <a:cubicBezTo>
                      <a:pt x="43378" y="33646"/>
                      <a:pt x="33668" y="43350"/>
                      <a:pt x="21689" y="43350"/>
                    </a:cubicBezTo>
                    <a:cubicBezTo>
                      <a:pt x="9711" y="43350"/>
                      <a:pt x="0" y="33646"/>
                      <a:pt x="0" y="21675"/>
                    </a:cubicBezTo>
                    <a:cubicBezTo>
                      <a:pt x="0" y="9704"/>
                      <a:pt x="9711" y="0"/>
                      <a:pt x="21689" y="0"/>
                    </a:cubicBezTo>
                    <a:cubicBezTo>
                      <a:pt x="33668" y="0"/>
                      <a:pt x="43378" y="9704"/>
                      <a:pt x="43378" y="21675"/>
                    </a:cubicBez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sp>
            <p:nvSpPr>
              <p:cNvPr id="1274" name="Freeform 1060">
                <a:extLst>
                  <a:ext uri="{FF2B5EF4-FFF2-40B4-BE49-F238E27FC236}">
                    <a16:creationId xmlns:a16="http://schemas.microsoft.com/office/drawing/2014/main" id="{5064E0E7-EA3D-9BDB-FCAF-B0A72685A874}"/>
                  </a:ext>
                </a:extLst>
              </p:cNvPr>
              <p:cNvSpPr/>
              <p:nvPr/>
            </p:nvSpPr>
            <p:spPr>
              <a:xfrm>
                <a:off x="2955870" y="4879554"/>
                <a:ext cx="18752" cy="53004"/>
              </a:xfrm>
              <a:custGeom>
                <a:avLst/>
                <a:gdLst>
                  <a:gd name="connsiteX0" fmla="*/ 0 w 18752"/>
                  <a:gd name="connsiteY0" fmla="*/ 0 h 53004"/>
                  <a:gd name="connsiteX1" fmla="*/ 18753 w 18752"/>
                  <a:gd name="connsiteY1" fmla="*/ 0 h 53004"/>
                  <a:gd name="connsiteX2" fmla="*/ 18753 w 18752"/>
                  <a:gd name="connsiteY2" fmla="*/ 43634 h 53004"/>
                  <a:gd name="connsiteX3" fmla="*/ 9376 w 18752"/>
                  <a:gd name="connsiteY3" fmla="*/ 53005 h 53004"/>
                  <a:gd name="connsiteX4" fmla="*/ 9376 w 18752"/>
                  <a:gd name="connsiteY4" fmla="*/ 53005 h 53004"/>
                  <a:gd name="connsiteX5" fmla="*/ 0 w 18752"/>
                  <a:gd name="connsiteY5" fmla="*/ 43634 h 53004"/>
                  <a:gd name="connsiteX6" fmla="*/ 0 w 18752"/>
                  <a:gd name="connsiteY6" fmla="*/ 0 h 53004"/>
                  <a:gd name="connsiteX7" fmla="*/ 0 w 18752"/>
                  <a:gd name="connsiteY7" fmla="*/ 0 h 5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2" h="53004">
                    <a:moveTo>
                      <a:pt x="0" y="0"/>
                    </a:moveTo>
                    <a:lnTo>
                      <a:pt x="18753" y="0"/>
                    </a:lnTo>
                    <a:lnTo>
                      <a:pt x="18753" y="43634"/>
                    </a:lnTo>
                    <a:cubicBezTo>
                      <a:pt x="18753" y="48840"/>
                      <a:pt x="14586" y="53005"/>
                      <a:pt x="9376" y="53005"/>
                    </a:cubicBezTo>
                    <a:lnTo>
                      <a:pt x="9376" y="53005"/>
                    </a:lnTo>
                    <a:cubicBezTo>
                      <a:pt x="4167" y="53005"/>
                      <a:pt x="0" y="48840"/>
                      <a:pt x="0" y="43634"/>
                    </a:cubicBezTo>
                    <a:lnTo>
                      <a:pt x="0" y="0"/>
                    </a:lnTo>
                    <a:lnTo>
                      <a:pt x="0" y="0"/>
                    </a:lnTo>
                    <a:close/>
                  </a:path>
                </a:pathLst>
              </a:custGeom>
              <a:grpFill/>
              <a:ln w="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1" name="Group 50" descr="Toggle icon">
              <a:extLst>
                <a:ext uri="{FF2B5EF4-FFF2-40B4-BE49-F238E27FC236}">
                  <a16:creationId xmlns:a16="http://schemas.microsoft.com/office/drawing/2014/main" id="{D9983BAB-B2E5-723B-061D-0B6AF7C57FAC}"/>
                </a:ext>
              </a:extLst>
            </p:cNvPr>
            <p:cNvGrpSpPr/>
            <p:nvPr/>
          </p:nvGrpSpPr>
          <p:grpSpPr>
            <a:xfrm>
              <a:off x="2986996" y="3353673"/>
              <a:ext cx="209605" cy="209605"/>
              <a:chOff x="2986996" y="3353673"/>
              <a:chExt cx="209605" cy="209605"/>
            </a:xfrm>
          </p:grpSpPr>
          <p:sp>
            <p:nvSpPr>
              <p:cNvPr id="52" name="Oval 51">
                <a:extLst>
                  <a:ext uri="{FF2B5EF4-FFF2-40B4-BE49-F238E27FC236}">
                    <a16:creationId xmlns:a16="http://schemas.microsoft.com/office/drawing/2014/main" id="{BEC63252-98D5-1E1A-ADCD-DF09943D8CE1}"/>
                  </a:ext>
                </a:extLst>
              </p:cNvPr>
              <p:cNvSpPr/>
              <p:nvPr/>
            </p:nvSpPr>
            <p:spPr bwMode="auto">
              <a:xfrm>
                <a:off x="2986996" y="3353673"/>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3" name="Graphic 52">
                <a:extLst>
                  <a:ext uri="{FF2B5EF4-FFF2-40B4-BE49-F238E27FC236}">
                    <a16:creationId xmlns:a16="http://schemas.microsoft.com/office/drawing/2014/main" id="{9C5309D7-1FBE-CC07-11D5-83FDBC136E4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27115" y="3393792"/>
                <a:ext cx="129366" cy="129366"/>
              </a:xfrm>
              <a:prstGeom prst="rect">
                <a:avLst/>
              </a:prstGeom>
            </p:spPr>
          </p:pic>
        </p:grpSp>
        <p:grpSp>
          <p:nvGrpSpPr>
            <p:cNvPr id="54" name="Group 53" descr="Toggle icon">
              <a:extLst>
                <a:ext uri="{FF2B5EF4-FFF2-40B4-BE49-F238E27FC236}">
                  <a16:creationId xmlns:a16="http://schemas.microsoft.com/office/drawing/2014/main" id="{F7299199-D3BA-78EF-C179-9522295C115E}"/>
                </a:ext>
              </a:extLst>
            </p:cNvPr>
            <p:cNvGrpSpPr/>
            <p:nvPr/>
          </p:nvGrpSpPr>
          <p:grpSpPr>
            <a:xfrm>
              <a:off x="2986996" y="4831770"/>
              <a:ext cx="209605" cy="209605"/>
              <a:chOff x="2245389" y="3149309"/>
              <a:chExt cx="209605" cy="209605"/>
            </a:xfrm>
          </p:grpSpPr>
          <p:sp>
            <p:nvSpPr>
              <p:cNvPr id="55" name="Oval 54">
                <a:extLst>
                  <a:ext uri="{FF2B5EF4-FFF2-40B4-BE49-F238E27FC236}">
                    <a16:creationId xmlns:a16="http://schemas.microsoft.com/office/drawing/2014/main" id="{CDA0E567-BBB9-1E85-6265-CF5D9C618069}"/>
                  </a:ext>
                </a:extLst>
              </p:cNvPr>
              <p:cNvSpPr/>
              <p:nvPr/>
            </p:nvSpPr>
            <p:spPr bwMode="auto">
              <a:xfrm>
                <a:off x="2245389" y="3149309"/>
                <a:ext cx="209605" cy="20960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mj-lt"/>
                  <a:ea typeface="Segoe UI" pitchFamily="34" charset="0"/>
                  <a:cs typeface="Segoe Sans Display" pitchFamily="2" charset="0"/>
                </a:endParaRPr>
              </a:p>
            </p:txBody>
          </p:sp>
          <p:pic>
            <p:nvPicPr>
              <p:cNvPr id="56" name="Graphic 55">
                <a:extLst>
                  <a:ext uri="{FF2B5EF4-FFF2-40B4-BE49-F238E27FC236}">
                    <a16:creationId xmlns:a16="http://schemas.microsoft.com/office/drawing/2014/main" id="{BD653B96-6981-0DA1-BFB5-4005037CB7B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285508" y="3189428"/>
                <a:ext cx="129366" cy="129366"/>
              </a:xfrm>
              <a:prstGeom prst="rect">
                <a:avLst/>
              </a:prstGeom>
            </p:spPr>
          </p:pic>
        </p:grpSp>
      </p:grpSp>
      <p:sp>
        <p:nvSpPr>
          <p:cNvPr id="57" name="Speech Bubble: Rectangle with Corners Rounded 56">
            <a:extLst>
              <a:ext uri="{FF2B5EF4-FFF2-40B4-BE49-F238E27FC236}">
                <a16:creationId xmlns:a16="http://schemas.microsoft.com/office/drawing/2014/main" id="{D3D244D0-FA79-25EC-B13A-8BC34A898CE8}"/>
              </a:ext>
            </a:extLst>
          </p:cNvPr>
          <p:cNvSpPr/>
          <p:nvPr/>
        </p:nvSpPr>
        <p:spPr bwMode="auto">
          <a:xfrm>
            <a:off x="6859435" y="3680279"/>
            <a:ext cx="5125041" cy="1084106"/>
          </a:xfrm>
          <a:prstGeom prst="wedgeRoundRectCallout">
            <a:avLst>
              <a:gd name="adj1" fmla="val -12219"/>
              <a:gd name="adj2" fmla="val -95194"/>
              <a:gd name="adj3" fmla="val 16667"/>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LLM uses additional that information to generate a response </a:t>
            </a:r>
          </a:p>
        </p:txBody>
      </p:sp>
      <p:sp>
        <p:nvSpPr>
          <p:cNvPr id="11" name="Rounded Rectangle 11">
            <a:extLst>
              <a:ext uri="{FF2B5EF4-FFF2-40B4-BE49-F238E27FC236}">
                <a16:creationId xmlns:a16="http://schemas.microsoft.com/office/drawing/2014/main" id="{217C4E08-4A96-01F2-E144-90E6C9ACCE23}"/>
              </a:ext>
              <a:ext uri="{C183D7F6-B498-43B3-948B-1728B52AA6E4}">
                <adec:decorative xmlns:adec="http://schemas.microsoft.com/office/drawing/2017/decorative" val="0"/>
              </a:ext>
            </a:extLst>
          </p:cNvPr>
          <p:cNvSpPr/>
          <p:nvPr/>
        </p:nvSpPr>
        <p:spPr bwMode="auto">
          <a:xfrm>
            <a:off x="11531506" y="4414189"/>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400" b="1" i="0" u="none" strike="noStrike" kern="1200" cap="none" spc="0" normalizeH="0" baseline="0" noProof="0">
                <a:ln>
                  <a:noFill/>
                </a:ln>
                <a:solidFill>
                  <a:srgbClr val="FFFFFF"/>
                </a:solidFill>
                <a:effectLst/>
                <a:uLnTx/>
                <a:uFillTx/>
                <a:latin typeface="Segoe UI"/>
                <a:ea typeface="+mn-ea"/>
                <a:cs typeface="+mn-cs"/>
              </a:rPr>
              <a:t>5</a:t>
            </a:r>
            <a:endParaRPr kumimoji="0" lang="en-US" sz="2400" b="1"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4742268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488387F-D69F-235F-7FF0-D47FC2C83BD2}"/>
              </a:ext>
              <a:ext uri="{C183D7F6-B498-43B3-948B-1728B52AA6E4}">
                <adec:decorative xmlns:adec="http://schemas.microsoft.com/office/drawing/2017/decorative" val="1"/>
              </a:ext>
            </a:extLst>
          </p:cNvPr>
          <p:cNvSpPr>
            <a:spLocks/>
          </p:cNvSpPr>
          <p:nvPr/>
        </p:nvSpPr>
        <p:spPr bwMode="auto">
          <a:xfrm>
            <a:off x="584201" y="2017713"/>
            <a:ext cx="11020425" cy="3894722"/>
          </a:xfrm>
          <a:prstGeom prst="roundRect">
            <a:avLst>
              <a:gd name="adj" fmla="val 78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6" name="Title 9">
            <a:extLst>
              <a:ext uri="{FF2B5EF4-FFF2-40B4-BE49-F238E27FC236}">
                <a16:creationId xmlns:a16="http://schemas.microsoft.com/office/drawing/2014/main" id="{28418058-97BD-C697-3B30-1137258C2402}"/>
              </a:ext>
              <a:ext uri="{C183D7F6-B498-43B3-948B-1728B52AA6E4}">
                <adec:decorative xmlns:adec="http://schemas.microsoft.com/office/drawing/2017/decorative" val="1"/>
              </a:ext>
            </a:extLst>
          </p:cNvPr>
          <p:cNvSpPr txBox="1">
            <a:spLocks/>
          </p:cNvSpPr>
          <p:nvPr/>
        </p:nvSpPr>
        <p:spPr>
          <a:xfrm>
            <a:off x="809548" y="5133829"/>
            <a:ext cx="10569731" cy="479300"/>
          </a:xfrm>
          <a:prstGeom prst="roundRect">
            <a:avLst>
              <a:gd name="adj" fmla="val 50000"/>
            </a:avLst>
          </a:prstGeom>
          <a:solidFill>
            <a:schemeClr val="accent1"/>
          </a:soli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defPPr>
              <a:defRPr lang="en-US"/>
            </a:defPPr>
            <a:lvl1pPr algn="ctr" defTabSz="914400" fontAlgn="base">
              <a:spcBef>
                <a:spcPct val="0"/>
              </a:spcBef>
              <a:spcAft>
                <a:spcPts val="1200"/>
              </a:spcAft>
              <a:buSzPct val="90000"/>
              <a:defRPr sz="2400">
                <a:solidFill>
                  <a:schemeClr val="bg1"/>
                </a:solidFill>
                <a:latin typeface="+mj-lt"/>
                <a:ea typeface="+mj-ea"/>
                <a:cs typeface="+mj-cs"/>
              </a:defRPr>
            </a:lvl1pPr>
            <a:lvl2pPr lvl="1" algn="ctr">
              <a:defRPr sz="1800">
                <a:solidFill>
                  <a:schemeClr val="bg1"/>
                </a:solidFill>
                <a:latin typeface="+mj-lt"/>
              </a:defRPr>
            </a:lvl2pPr>
          </a:lstStyle>
          <a:p>
            <a:pPr marL="0" marR="0" lvl="0" indent="0" algn="l" defTabSz="914400" rtl="0" eaLnBrk="1" fontAlgn="base" latinLnBrk="0" hangingPunct="1">
              <a:lnSpc>
                <a:spcPct val="100000"/>
              </a:lnSpc>
              <a:spcBef>
                <a:spcPct val="0"/>
              </a:spcBef>
              <a:spcAft>
                <a:spcPts val="400"/>
              </a:spcAft>
              <a:buClrTx/>
              <a:buSzPct val="90000"/>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j-ea"/>
              <a:cs typeface="+mj-cs"/>
            </a:endParaRPr>
          </a:p>
        </p:txBody>
      </p:sp>
      <p:cxnSp>
        <p:nvCxnSpPr>
          <p:cNvPr id="33" name="Straight Connector 32">
            <a:extLst>
              <a:ext uri="{FF2B5EF4-FFF2-40B4-BE49-F238E27FC236}">
                <a16:creationId xmlns:a16="http://schemas.microsoft.com/office/drawing/2014/main" id="{2FF6626C-5B64-3286-F40D-23361A8BB33D}"/>
              </a:ext>
              <a:ext uri="{C183D7F6-B498-43B3-948B-1728B52AA6E4}">
                <adec:decorative xmlns:adec="http://schemas.microsoft.com/office/drawing/2017/decorative" val="1"/>
              </a:ext>
            </a:extLst>
          </p:cNvPr>
          <p:cNvCxnSpPr/>
          <p:nvPr/>
        </p:nvCxnSpPr>
        <p:spPr>
          <a:xfrm>
            <a:off x="6122124" y="5265757"/>
            <a:ext cx="0" cy="215444"/>
          </a:xfrm>
          <a:prstGeom prst="line">
            <a:avLst/>
          </a:prstGeom>
          <a:ln w="15875"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05609BBD-0E83-44B7-4D6C-4888DD8BDA94}"/>
              </a:ext>
              <a:ext uri="{C183D7F6-B498-43B3-948B-1728B52AA6E4}">
                <adec:decorative xmlns:adec="http://schemas.microsoft.com/office/drawing/2017/decorative" val="1"/>
              </a:ext>
            </a:extLst>
          </p:cNvPr>
          <p:cNvSpPr>
            <a:spLocks/>
          </p:cNvSpPr>
          <p:nvPr/>
        </p:nvSpPr>
        <p:spPr bwMode="auto">
          <a:xfrm>
            <a:off x="809549" y="2605252"/>
            <a:ext cx="5170565" cy="2303230"/>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9" name="Rectangle: Rounded Corners 58">
            <a:extLst>
              <a:ext uri="{FF2B5EF4-FFF2-40B4-BE49-F238E27FC236}">
                <a16:creationId xmlns:a16="http://schemas.microsoft.com/office/drawing/2014/main" id="{5D25CDAA-B66C-A7C9-BA33-E01B14EED6DE}"/>
              </a:ext>
              <a:ext uri="{C183D7F6-B498-43B3-948B-1728B52AA6E4}">
                <adec:decorative xmlns:adec="http://schemas.microsoft.com/office/drawing/2017/decorative" val="1"/>
              </a:ext>
            </a:extLst>
          </p:cNvPr>
          <p:cNvSpPr>
            <a:spLocks/>
          </p:cNvSpPr>
          <p:nvPr/>
        </p:nvSpPr>
        <p:spPr bwMode="auto">
          <a:xfrm>
            <a:off x="6208714" y="2605252"/>
            <a:ext cx="5170565" cy="2303230"/>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1" name="Title 1">
            <a:extLst>
              <a:ext uri="{FF2B5EF4-FFF2-40B4-BE49-F238E27FC236}">
                <a16:creationId xmlns:a16="http://schemas.microsoft.com/office/drawing/2014/main" id="{3101C744-F5FF-1AAC-4376-622F7DACAAA2}"/>
              </a:ext>
            </a:extLst>
          </p:cNvPr>
          <p:cNvSpPr txBox="1">
            <a:spLocks noGrp="1"/>
          </p:cNvSpPr>
          <p:nvPr>
            <p:ph type="title" idx="4294967295"/>
          </p:nvPr>
        </p:nvSpPr>
        <p:spPr>
          <a:xfrm>
            <a:off x="420560" y="478923"/>
            <a:ext cx="11607799"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ts val="600"/>
              </a:spcBef>
              <a:spcAft>
                <a:spcPts val="0"/>
              </a:spcAft>
              <a:buClrTx/>
              <a:buSzTx/>
              <a:buFontTx/>
              <a:buNone/>
              <a:tabLst/>
              <a:defRPr/>
            </a:pPr>
            <a:r>
              <a:rPr kumimoji="0" lang="en-US" sz="3600" b="0" i="0" u="none" strike="noStrike" kern="1200" cap="none" spc="-150" normalizeH="0" baseline="0" noProof="0">
                <a:ln>
                  <a:noFill/>
                </a:ln>
                <a:solidFill>
                  <a:srgbClr val="000000"/>
                </a:solidFill>
                <a:effectLst/>
                <a:uLnTx/>
                <a:uFillTx/>
                <a:latin typeface="Segoe Sans Text Semibold" pitchFamily="2" charset="0"/>
                <a:ea typeface="+mn-ea"/>
                <a:cs typeface="Segoe Sans Text Semibold" pitchFamily="2" charset="0"/>
              </a:rPr>
              <a:t>Internal oversharing: Too much access and too few controls</a:t>
            </a:r>
          </a:p>
        </p:txBody>
      </p:sp>
      <p:sp>
        <p:nvSpPr>
          <p:cNvPr id="62" name="Rounded Rectangle 11">
            <a:extLst>
              <a:ext uri="{FF2B5EF4-FFF2-40B4-BE49-F238E27FC236}">
                <a16:creationId xmlns:a16="http://schemas.microsoft.com/office/drawing/2014/main" id="{582F8C7B-EC9D-16B9-275F-1F41B052D318}"/>
              </a:ext>
              <a:ext uri="{C183D7F6-B498-43B3-948B-1728B52AA6E4}">
                <adec:decorative xmlns:adec="http://schemas.microsoft.com/office/drawing/2017/decorative" val="0"/>
              </a:ext>
            </a:extLst>
          </p:cNvPr>
          <p:cNvSpPr/>
          <p:nvPr/>
        </p:nvSpPr>
        <p:spPr bwMode="auto">
          <a:xfrm>
            <a:off x="3031466" y="1653173"/>
            <a:ext cx="726732" cy="726732"/>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3200" b="1" i="0" u="none" strike="noStrike" kern="1200" cap="none" spc="0" normalizeH="0" baseline="0" noProof="0">
                <a:ln>
                  <a:noFill/>
                </a:ln>
                <a:solidFill>
                  <a:srgbClr val="FFFFFF"/>
                </a:solidFill>
                <a:effectLst/>
                <a:uLnTx/>
                <a:uFillTx/>
                <a:latin typeface="Segoe UI"/>
                <a:ea typeface="+mn-ea"/>
                <a:cs typeface="+mn-cs"/>
              </a:rPr>
              <a:t>1</a:t>
            </a:r>
          </a:p>
        </p:txBody>
      </p:sp>
      <p:sp>
        <p:nvSpPr>
          <p:cNvPr id="29" name="Rectangle: Rounded Corners 28">
            <a:extLst>
              <a:ext uri="{FF2B5EF4-FFF2-40B4-BE49-F238E27FC236}">
                <a16:creationId xmlns:a16="http://schemas.microsoft.com/office/drawing/2014/main" id="{D28FE28F-F6F0-A045-63B8-7CF665E582D9}"/>
              </a:ext>
            </a:extLst>
          </p:cNvPr>
          <p:cNvSpPr>
            <a:spLocks/>
          </p:cNvSpPr>
          <p:nvPr/>
        </p:nvSpPr>
        <p:spPr bwMode="auto">
          <a:xfrm>
            <a:off x="928421" y="2724122"/>
            <a:ext cx="4932820" cy="847994"/>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w="3175">
                  <a:noFill/>
                </a:ln>
                <a:solidFill>
                  <a:srgbClr val="FFFFFF"/>
                </a:solidFill>
                <a:effectLst/>
                <a:uLnTx/>
                <a:uFillTx/>
                <a:latin typeface="Segoe UI Semibold"/>
                <a:ea typeface="+mn-ea"/>
                <a:cs typeface="+mn-cs"/>
              </a:rPr>
              <a:t>Over-</a:t>
            </a:r>
            <a:r>
              <a:rPr kumimoji="0" lang="en-US" sz="2400" b="0" i="0" u="none" strike="noStrike" kern="1200" cap="none" spc="0" normalizeH="0" baseline="0" noProof="0" err="1">
                <a:ln w="3175">
                  <a:noFill/>
                </a:ln>
                <a:solidFill>
                  <a:srgbClr val="FFFFFF"/>
                </a:solidFill>
                <a:effectLst/>
                <a:uLnTx/>
                <a:uFillTx/>
                <a:latin typeface="Segoe UI Semibold"/>
                <a:ea typeface="+mn-ea"/>
                <a:cs typeface="+mn-cs"/>
              </a:rPr>
              <a:t>permissioning</a:t>
            </a:r>
            <a:r>
              <a:rPr kumimoji="0" lang="en-US" sz="2400" b="0" i="0" u="none" strike="noStrike" kern="1200" cap="none" spc="0" normalizeH="0" baseline="0" noProof="0">
                <a:ln w="3175">
                  <a:noFill/>
                </a:ln>
                <a:solidFill>
                  <a:srgbClr val="FFFFFF"/>
                </a:solidFill>
                <a:effectLst/>
                <a:uLnTx/>
                <a:uFillTx/>
                <a:latin typeface="Segoe UI Semibold"/>
                <a:ea typeface="+mn-ea"/>
                <a:cs typeface="+mn-cs"/>
              </a:rPr>
              <a: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solidFill>
                  <a:srgbClr val="FFFFFF"/>
                </a:solidFill>
                <a:effectLst/>
                <a:uLnTx/>
                <a:uFillTx/>
                <a:latin typeface="Segoe UI"/>
                <a:ea typeface="+mn-ea"/>
                <a:cs typeface="+mn-cs"/>
              </a:rPr>
              <a:t>too much internal access</a:t>
            </a:r>
          </a:p>
        </p:txBody>
      </p:sp>
      <p:sp>
        <p:nvSpPr>
          <p:cNvPr id="9" name="TextBox 8">
            <a:extLst>
              <a:ext uri="{FF2B5EF4-FFF2-40B4-BE49-F238E27FC236}">
                <a16:creationId xmlns:a16="http://schemas.microsoft.com/office/drawing/2014/main" id="{4859330D-BC8A-94CA-2A02-DC42CED023D2}"/>
              </a:ext>
            </a:extLst>
          </p:cNvPr>
          <p:cNvSpPr txBox="1"/>
          <p:nvPr/>
        </p:nvSpPr>
        <p:spPr>
          <a:xfrm>
            <a:off x="1370906" y="3721263"/>
            <a:ext cx="4047850" cy="615553"/>
          </a:xfrm>
          <a:prstGeom prst="rect">
            <a:avLst/>
          </a:prstGeom>
          <a:noFill/>
        </p:spPr>
        <p:txBody>
          <a:bodyPr wrap="square" lIns="0" tIns="0" rIns="0" bIns="0" rtlCol="0">
            <a:spAutoFit/>
          </a:bodyPr>
          <a:lstStyle/>
          <a:p>
            <a:pPr marL="0" marR="0" lvl="1" indent="0" algn="ctr" defTabSz="914367" rtl="0" eaLnBrk="1" fontAlgn="auto" latinLnBrk="0" hangingPunct="1">
              <a:lnSpc>
                <a:spcPct val="100000"/>
              </a:lnSpc>
              <a:spcBef>
                <a:spcPts val="0"/>
              </a:spcBef>
              <a:spcAft>
                <a:spcPts val="8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Bias towards overly broad access for permissions and links</a:t>
            </a:r>
          </a:p>
        </p:txBody>
      </p:sp>
      <p:sp>
        <p:nvSpPr>
          <p:cNvPr id="63" name="Rounded Rectangle 11">
            <a:extLst>
              <a:ext uri="{FF2B5EF4-FFF2-40B4-BE49-F238E27FC236}">
                <a16:creationId xmlns:a16="http://schemas.microsoft.com/office/drawing/2014/main" id="{A33375CC-44AC-2FD7-0F13-A83AE98C5CF1}"/>
              </a:ext>
              <a:ext uri="{C183D7F6-B498-43B3-948B-1728B52AA6E4}">
                <adec:decorative xmlns:adec="http://schemas.microsoft.com/office/drawing/2017/decorative" val="0"/>
              </a:ext>
            </a:extLst>
          </p:cNvPr>
          <p:cNvSpPr/>
          <p:nvPr/>
        </p:nvSpPr>
        <p:spPr bwMode="auto">
          <a:xfrm>
            <a:off x="8430630" y="1653173"/>
            <a:ext cx="726732" cy="726732"/>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3200" b="1" i="0" u="none" strike="noStrike" kern="1200" cap="none" spc="0" normalizeH="0" baseline="0" noProof="0">
                <a:ln>
                  <a:noFill/>
                </a:ln>
                <a:solidFill>
                  <a:srgbClr val="FFFFFF"/>
                </a:solidFill>
                <a:effectLst/>
                <a:uLnTx/>
                <a:uFillTx/>
                <a:latin typeface="Segoe UI"/>
                <a:ea typeface="+mn-ea"/>
                <a:cs typeface="+mn-cs"/>
              </a:rPr>
              <a:t>2</a:t>
            </a:r>
          </a:p>
        </p:txBody>
      </p:sp>
      <p:sp>
        <p:nvSpPr>
          <p:cNvPr id="60" name="Rectangle: Rounded Corners 59">
            <a:extLst>
              <a:ext uri="{FF2B5EF4-FFF2-40B4-BE49-F238E27FC236}">
                <a16:creationId xmlns:a16="http://schemas.microsoft.com/office/drawing/2014/main" id="{C1B6C9CB-BF09-929B-095E-125E5EABB19A}"/>
              </a:ext>
            </a:extLst>
          </p:cNvPr>
          <p:cNvSpPr>
            <a:spLocks/>
          </p:cNvSpPr>
          <p:nvPr/>
        </p:nvSpPr>
        <p:spPr bwMode="auto">
          <a:xfrm>
            <a:off x="6327586" y="2724122"/>
            <a:ext cx="4932820" cy="847994"/>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w="3175">
                  <a:noFill/>
                </a:ln>
                <a:solidFill>
                  <a:srgbClr val="FFFFFF"/>
                </a:solidFill>
                <a:effectLst/>
                <a:uLnTx/>
                <a:uFillTx/>
                <a:latin typeface="Segoe UI Semibold"/>
                <a:ea typeface="+mn-ea"/>
                <a:cs typeface="+mn-cs"/>
              </a:rPr>
              <a:t>Under-enforcement</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solidFill>
                  <a:srgbClr val="FFFFFF"/>
                </a:solidFill>
                <a:effectLst/>
                <a:uLnTx/>
                <a:uFillTx/>
                <a:latin typeface="Segoe UI"/>
                <a:ea typeface="+mn-ea"/>
                <a:cs typeface="+mn-cs"/>
              </a:rPr>
              <a:t>too few internal controls</a:t>
            </a:r>
          </a:p>
        </p:txBody>
      </p:sp>
      <p:sp>
        <p:nvSpPr>
          <p:cNvPr id="10" name="TextBox 9">
            <a:extLst>
              <a:ext uri="{FF2B5EF4-FFF2-40B4-BE49-F238E27FC236}">
                <a16:creationId xmlns:a16="http://schemas.microsoft.com/office/drawing/2014/main" id="{2678725D-BB75-9619-ACE4-FE90CB6709B9}"/>
              </a:ext>
            </a:extLst>
          </p:cNvPr>
          <p:cNvSpPr txBox="1"/>
          <p:nvPr/>
        </p:nvSpPr>
        <p:spPr>
          <a:xfrm>
            <a:off x="6770071" y="3721263"/>
            <a:ext cx="4047850" cy="923330"/>
          </a:xfrm>
          <a:prstGeom prst="rect">
            <a:avLst/>
          </a:prstGeom>
          <a:noFill/>
        </p:spPr>
        <p:txBody>
          <a:bodyPr wrap="square" lIns="0" tIns="0" rIns="0" bIns="0" rtlCol="0">
            <a:spAutoFit/>
          </a:bodyPr>
          <a:lstStyle>
            <a:defPPr>
              <a:defRPr lang="en-US"/>
            </a:defPPr>
            <a:lvl2pPr marL="0" marR="0" lvl="1" algn="ctr" fontAlgn="auto">
              <a:lnSpc>
                <a:spcPct val="100000"/>
              </a:lnSpc>
              <a:spcBef>
                <a:spcPts val="0"/>
              </a:spcBef>
              <a:spcAft>
                <a:spcPts val="800"/>
              </a:spcAft>
              <a:buClrTx/>
              <a:buSzTx/>
              <a:buFontTx/>
              <a:buNone/>
              <a:tabLst/>
              <a:defRPr kumimoji="0" sz="2000" b="0" i="0" u="none" strike="noStrike" cap="none" spc="0" normalizeH="0" baseline="0">
                <a:ln>
                  <a:noFill/>
                </a:ln>
                <a:solidFill>
                  <a:srgbClr val="000000"/>
                </a:solidFill>
                <a:effectLst/>
                <a:uLnTx/>
                <a:uFillTx/>
              </a:defRPr>
            </a:lvl2pPr>
          </a:lstStyle>
          <a:p>
            <a:pPr marL="0" marR="0" lvl="1" indent="0" algn="ctr" defTabSz="914367" rtl="0" eaLnBrk="1" fontAlgn="auto" latinLnBrk="0" hangingPunct="1">
              <a:lnSpc>
                <a:spcPct val="100000"/>
              </a:lnSpc>
              <a:spcBef>
                <a:spcPts val="0"/>
              </a:spcBef>
              <a:spcAft>
                <a:spcPts val="8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Content looks the same without labeling and content-aware policies to follow its use</a:t>
            </a:r>
          </a:p>
        </p:txBody>
      </p:sp>
      <p:sp>
        <p:nvSpPr>
          <p:cNvPr id="28" name="Rectangle: Rounded Corners 27">
            <a:extLst>
              <a:ext uri="{FF2B5EF4-FFF2-40B4-BE49-F238E27FC236}">
                <a16:creationId xmlns:a16="http://schemas.microsoft.com/office/drawing/2014/main" id="{80DFD28A-5169-7FB7-E6B3-1975D16B8216}"/>
              </a:ext>
            </a:extLst>
          </p:cNvPr>
          <p:cNvSpPr>
            <a:spLocks/>
          </p:cNvSpPr>
          <p:nvPr/>
        </p:nvSpPr>
        <p:spPr bwMode="auto">
          <a:xfrm>
            <a:off x="872607" y="5180233"/>
            <a:ext cx="1597544" cy="386492"/>
          </a:xfrm>
          <a:prstGeom prst="roundRect">
            <a:avLst>
              <a:gd name="adj" fmla="val 500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Implications</a:t>
            </a:r>
          </a:p>
        </p:txBody>
      </p:sp>
      <p:sp>
        <p:nvSpPr>
          <p:cNvPr id="27" name="Rectangle 26">
            <a:extLst>
              <a:ext uri="{FF2B5EF4-FFF2-40B4-BE49-F238E27FC236}">
                <a16:creationId xmlns:a16="http://schemas.microsoft.com/office/drawing/2014/main" id="{D3DF0DDD-9626-88BA-FB48-CEE67CC58AE9}"/>
              </a:ext>
            </a:extLst>
          </p:cNvPr>
          <p:cNvSpPr>
            <a:spLocks/>
          </p:cNvSpPr>
          <p:nvPr/>
        </p:nvSpPr>
        <p:spPr bwMode="auto">
          <a:xfrm>
            <a:off x="2727503" y="5265757"/>
            <a:ext cx="3137269"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Risk of exposure in search and AI tools</a:t>
            </a:r>
          </a:p>
        </p:txBody>
      </p:sp>
      <p:sp>
        <p:nvSpPr>
          <p:cNvPr id="30" name="Rectangle 29">
            <a:extLst>
              <a:ext uri="{FF2B5EF4-FFF2-40B4-BE49-F238E27FC236}">
                <a16:creationId xmlns:a16="http://schemas.microsoft.com/office/drawing/2014/main" id="{DAD0C45D-061A-F86F-4017-8C8B1FB1EAB4}"/>
              </a:ext>
            </a:extLst>
          </p:cNvPr>
          <p:cNvSpPr>
            <a:spLocks/>
          </p:cNvSpPr>
          <p:nvPr/>
        </p:nvSpPr>
        <p:spPr bwMode="auto">
          <a:xfrm>
            <a:off x="6379476" y="5265757"/>
            <a:ext cx="4742452"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Hard to get started with AI and solve without the right tools</a:t>
            </a:r>
          </a:p>
        </p:txBody>
      </p:sp>
    </p:spTree>
    <p:extLst>
      <p:ext uri="{BB962C8B-B14F-4D97-AF65-F5344CB8AC3E}">
        <p14:creationId xmlns:p14="http://schemas.microsoft.com/office/powerpoint/2010/main" val="4033129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CF05EBC4-5757-BDC7-31DE-36E27E0BB6C9}"/>
              </a:ext>
              <a:ext uri="{C183D7F6-B498-43B3-948B-1728B52AA6E4}">
                <adec:decorative xmlns:adec="http://schemas.microsoft.com/office/drawing/2017/decorative" val="1"/>
              </a:ext>
            </a:extLst>
          </p:cNvPr>
          <p:cNvSpPr>
            <a:spLocks/>
          </p:cNvSpPr>
          <p:nvPr/>
        </p:nvSpPr>
        <p:spPr bwMode="auto">
          <a:xfrm>
            <a:off x="584200" y="1419225"/>
            <a:ext cx="11023600" cy="4854576"/>
          </a:xfrm>
          <a:prstGeom prst="roundRect">
            <a:avLst>
              <a:gd name="adj" fmla="val 4947"/>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3" name="Rectangle: Top Corners Rounded 12">
            <a:extLst>
              <a:ext uri="{FF2B5EF4-FFF2-40B4-BE49-F238E27FC236}">
                <a16:creationId xmlns:a16="http://schemas.microsoft.com/office/drawing/2014/main" id="{2749D8EA-C89A-E067-76C9-37AD90CDD4F4}"/>
              </a:ext>
              <a:ext uri="{C183D7F6-B498-43B3-948B-1728B52AA6E4}">
                <adec:decorative xmlns:adec="http://schemas.microsoft.com/office/drawing/2017/decorative" val="1"/>
              </a:ext>
            </a:extLst>
          </p:cNvPr>
          <p:cNvSpPr>
            <a:spLocks/>
          </p:cNvSpPr>
          <p:nvPr/>
        </p:nvSpPr>
        <p:spPr bwMode="auto">
          <a:xfrm>
            <a:off x="584200" y="4267200"/>
            <a:ext cx="11023600" cy="2006600"/>
          </a:xfrm>
          <a:prstGeom prst="round2SameRect">
            <a:avLst>
              <a:gd name="adj1" fmla="val 0"/>
              <a:gd name="adj2" fmla="val 12342"/>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31" name="Rectangle: Rounded Corners 30">
            <a:extLst>
              <a:ext uri="{FF2B5EF4-FFF2-40B4-BE49-F238E27FC236}">
                <a16:creationId xmlns:a16="http://schemas.microsoft.com/office/drawing/2014/main" id="{F8BD2F8A-DA67-D09E-1294-B91BB0FCB8EE}"/>
              </a:ext>
              <a:ext uri="{C183D7F6-B498-43B3-948B-1728B52AA6E4}">
                <adec:decorative xmlns:adec="http://schemas.microsoft.com/office/drawing/2017/decorative" val="1"/>
              </a:ext>
            </a:extLst>
          </p:cNvPr>
          <p:cNvSpPr>
            <a:spLocks/>
          </p:cNvSpPr>
          <p:nvPr/>
        </p:nvSpPr>
        <p:spPr bwMode="auto">
          <a:xfrm>
            <a:off x="809730" y="1622219"/>
            <a:ext cx="3373826" cy="3856654"/>
          </a:xfrm>
          <a:prstGeom prst="roundRect">
            <a:avLst>
              <a:gd name="adj" fmla="val 3900"/>
            </a:avLst>
          </a:prstGeom>
          <a:noFill/>
          <a:ln w="12700" cap="rnd">
            <a:solidFill>
              <a:schemeClr val="accent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33" name="Rectangle: Rounded Corners 32">
            <a:extLst>
              <a:ext uri="{FF2B5EF4-FFF2-40B4-BE49-F238E27FC236}">
                <a16:creationId xmlns:a16="http://schemas.microsoft.com/office/drawing/2014/main" id="{7E37455F-D341-6236-2F37-BAC2CB59031C}"/>
              </a:ext>
              <a:ext uri="{C183D7F6-B498-43B3-948B-1728B52AA6E4}">
                <adec:decorative xmlns:adec="http://schemas.microsoft.com/office/drawing/2017/decorative" val="1"/>
              </a:ext>
            </a:extLst>
          </p:cNvPr>
          <p:cNvSpPr>
            <a:spLocks/>
          </p:cNvSpPr>
          <p:nvPr/>
        </p:nvSpPr>
        <p:spPr bwMode="auto">
          <a:xfrm>
            <a:off x="8008443" y="1622219"/>
            <a:ext cx="3373826" cy="3856654"/>
          </a:xfrm>
          <a:prstGeom prst="roundRect">
            <a:avLst>
              <a:gd name="adj" fmla="val 3900"/>
            </a:avLst>
          </a:prstGeom>
          <a:noFill/>
          <a:ln w="12700" cap="rnd">
            <a:solidFill>
              <a:schemeClr val="tx2"/>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2" name="Title 1">
            <a:extLst>
              <a:ext uri="{FF2B5EF4-FFF2-40B4-BE49-F238E27FC236}">
                <a16:creationId xmlns:a16="http://schemas.microsoft.com/office/drawing/2014/main" id="{5EEBF88D-6216-6C60-8EB2-D68818183C67}"/>
              </a:ext>
            </a:extLst>
          </p:cNvPr>
          <p:cNvSpPr>
            <a:spLocks noGrp="1"/>
          </p:cNvSpPr>
          <p:nvPr>
            <p:ph type="title"/>
          </p:nvPr>
        </p:nvSpPr>
        <p:spPr>
          <a:xfrm>
            <a:off x="588963" y="457200"/>
            <a:ext cx="11017250" cy="554038"/>
          </a:xfrm>
        </p:spPr>
        <p:txBody>
          <a:bodyPr>
            <a:normAutofit fontScale="90000"/>
          </a:bodyPr>
          <a:lstStyle/>
          <a:p>
            <a:r>
              <a:rPr lang="en-US"/>
              <a:t>Oversharing is a biproduct of collaboration</a:t>
            </a:r>
          </a:p>
        </p:txBody>
      </p:sp>
      <p:sp>
        <p:nvSpPr>
          <p:cNvPr id="26" name="Text Placeholder 50">
            <a:extLst>
              <a:ext uri="{FF2B5EF4-FFF2-40B4-BE49-F238E27FC236}">
                <a16:creationId xmlns:a16="http://schemas.microsoft.com/office/drawing/2014/main" id="{C6794AED-CA3D-6365-EDD6-99CAAEFF366F}"/>
              </a:ext>
              <a:ext uri="{C183D7F6-B498-43B3-948B-1728B52AA6E4}">
                <adec:decorative xmlns:adec="http://schemas.microsoft.com/office/drawing/2017/decorative" val="0"/>
              </a:ext>
            </a:extLst>
          </p:cNvPr>
          <p:cNvSpPr txBox="1">
            <a:spLocks/>
          </p:cNvSpPr>
          <p:nvPr/>
        </p:nvSpPr>
        <p:spPr>
          <a:xfrm>
            <a:off x="946890" y="1759380"/>
            <a:ext cx="3099506" cy="829162"/>
          </a:xfrm>
          <a:prstGeom prst="roundRect">
            <a:avLst>
              <a:gd name="adj" fmla="val 11000"/>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fontAlgn="base">
              <a:spcBef>
                <a:spcPct val="0"/>
              </a:spcBef>
              <a:spcAft>
                <a:spcPts val="1200"/>
              </a:spcAft>
              <a:buSzPct val="90000"/>
              <a:defRPr sz="2400">
                <a:solidFill>
                  <a:schemeClr val="bg1"/>
                </a:solidFill>
                <a:latin typeface="+mj-lt"/>
                <a:ea typeface="+mj-ea"/>
                <a:cs typeface="+mj-cs"/>
              </a:defRPr>
            </a:lvl1pPr>
            <a:lvl2pPr marL="457183" lvl="1" algn="ctr" defTabSz="914367">
              <a:defRPr>
                <a:solidFill>
                  <a:schemeClr val="bg1"/>
                </a:solidFill>
                <a:latin typeface="+mj-lt"/>
              </a:defRPr>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j-ea"/>
                <a:cs typeface="+mj-cs"/>
              </a:rPr>
              <a:t>Individual user permissions</a:t>
            </a:r>
          </a:p>
        </p:txBody>
      </p:sp>
      <p:pic>
        <p:nvPicPr>
          <p:cNvPr id="1026" name="Picture 2" descr="Exchange mailbox logo">
            <a:extLst>
              <a:ext uri="{FF2B5EF4-FFF2-40B4-BE49-F238E27FC236}">
                <a16:creationId xmlns:a16="http://schemas.microsoft.com/office/drawing/2014/main" id="{521FA9E4-90ED-4FE4-A5F6-35A8543DEA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08" t="12287" r="9979" b="11799"/>
          <a:stretch/>
        </p:blipFill>
        <p:spPr bwMode="auto">
          <a:xfrm>
            <a:off x="946890" y="2807617"/>
            <a:ext cx="537718" cy="481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F884DF8-7E75-D242-567B-CB0558F08486}"/>
              </a:ext>
              <a:ext uri="{C183D7F6-B498-43B3-948B-1728B52AA6E4}">
                <adec:decorative xmlns:adec="http://schemas.microsoft.com/office/drawing/2017/decorative" val="0"/>
              </a:ext>
            </a:extLst>
          </p:cNvPr>
          <p:cNvSpPr txBox="1"/>
          <p:nvPr/>
        </p:nvSpPr>
        <p:spPr>
          <a:xfrm>
            <a:off x="1621769" y="2909768"/>
            <a:ext cx="2424628" cy="276999"/>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Exchange mailbox</a:t>
            </a:r>
          </a:p>
        </p:txBody>
      </p:sp>
      <p:pic>
        <p:nvPicPr>
          <p:cNvPr id="1028" name="Picture 4" descr="Microsoft Teams">
            <a:extLst>
              <a:ext uri="{FF2B5EF4-FFF2-40B4-BE49-F238E27FC236}">
                <a16:creationId xmlns:a16="http://schemas.microsoft.com/office/drawing/2014/main" id="{E6BDA1EE-0422-10BA-3027-A59312853EC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5644" t="18522" r="36012" b="18635"/>
          <a:stretch/>
        </p:blipFill>
        <p:spPr bwMode="auto">
          <a:xfrm>
            <a:off x="946890" y="3537408"/>
            <a:ext cx="530246" cy="481300"/>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AA266B4C-1ECE-DCD0-8DAE-8C38AFE88E1D}"/>
              </a:ext>
              <a:ext uri="{C183D7F6-B498-43B3-948B-1728B52AA6E4}">
                <adec:decorative xmlns:adec="http://schemas.microsoft.com/office/drawing/2017/decorative" val="0"/>
              </a:ext>
            </a:extLst>
          </p:cNvPr>
          <p:cNvSpPr txBox="1"/>
          <p:nvPr/>
        </p:nvSpPr>
        <p:spPr>
          <a:xfrm>
            <a:off x="1621769" y="3639558"/>
            <a:ext cx="2424628" cy="276999"/>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800" b="0" i="0" u="none" strike="noStrike" cap="none" spc="0" normalizeH="0" baseline="0">
                <a:ln>
                  <a:noFill/>
                </a:ln>
                <a:effectLst/>
                <a:uLnTx/>
                <a:uFillTx/>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Teams chats</a:t>
            </a:r>
          </a:p>
        </p:txBody>
      </p:sp>
      <p:pic>
        <p:nvPicPr>
          <p:cNvPr id="1030" name="Picture 6" descr="Onedrive logo">
            <a:extLst>
              <a:ext uri="{FF2B5EF4-FFF2-40B4-BE49-F238E27FC236}">
                <a16:creationId xmlns:a16="http://schemas.microsoft.com/office/drawing/2014/main" id="{3E1775DB-80B3-8E4D-E92D-4240F4DC5F7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059" t="23183" r="6059" b="19706"/>
          <a:stretch/>
        </p:blipFill>
        <p:spPr bwMode="auto">
          <a:xfrm>
            <a:off x="932318" y="4742566"/>
            <a:ext cx="530246" cy="34458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AE322704-6C77-FEE0-6981-A6D60A5D66A9}"/>
              </a:ext>
              <a:ext uri="{C183D7F6-B498-43B3-948B-1728B52AA6E4}">
                <adec:decorative xmlns:adec="http://schemas.microsoft.com/office/drawing/2017/decorative" val="0"/>
              </a:ext>
            </a:extLst>
          </p:cNvPr>
          <p:cNvSpPr txBox="1"/>
          <p:nvPr/>
        </p:nvSpPr>
        <p:spPr>
          <a:xfrm>
            <a:off x="1621769" y="4776358"/>
            <a:ext cx="2475052" cy="276999"/>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800" b="0" i="0" u="none" strike="noStrike" cap="none" spc="0" normalizeH="0" baseline="0">
                <a:ln>
                  <a:noFill/>
                </a:ln>
                <a:effectLst/>
                <a:uLnTx/>
                <a:uFillTx/>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OneDrive for Business</a:t>
            </a:r>
          </a:p>
        </p:txBody>
      </p:sp>
      <p:sp>
        <p:nvSpPr>
          <p:cNvPr id="42" name="Rectangle: Rounded Corners 41" descr="An enclosure for One drive for business, Option to share more broadly via link and SharePoint sites">
            <a:extLst>
              <a:ext uri="{FF2B5EF4-FFF2-40B4-BE49-F238E27FC236}">
                <a16:creationId xmlns:a16="http://schemas.microsoft.com/office/drawing/2014/main" id="{8A09B4B4-C496-D949-24EF-744188F59C9A}"/>
              </a:ext>
            </a:extLst>
          </p:cNvPr>
          <p:cNvSpPr>
            <a:spLocks/>
          </p:cNvSpPr>
          <p:nvPr/>
        </p:nvSpPr>
        <p:spPr bwMode="auto">
          <a:xfrm>
            <a:off x="809730" y="4350841"/>
            <a:ext cx="10572540" cy="1128033"/>
          </a:xfrm>
          <a:prstGeom prst="roundRect">
            <a:avLst>
              <a:gd name="adj" fmla="val 10334"/>
            </a:avLst>
          </a:prstGeom>
          <a:noFill/>
          <a:ln>
            <a:solidFill>
              <a:schemeClr val="tx2"/>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Box 16">
            <a:extLst>
              <a:ext uri="{FF2B5EF4-FFF2-40B4-BE49-F238E27FC236}">
                <a16:creationId xmlns:a16="http://schemas.microsoft.com/office/drawing/2014/main" id="{E01F86A1-4CE0-84EB-251D-43C978173E2C}"/>
              </a:ext>
              <a:ext uri="{C183D7F6-B498-43B3-948B-1728B52AA6E4}">
                <adec:decorative xmlns:adec="http://schemas.microsoft.com/office/drawing/2017/decorative" val="0"/>
              </a:ext>
            </a:extLst>
          </p:cNvPr>
          <p:cNvSpPr txBox="1"/>
          <p:nvPr/>
        </p:nvSpPr>
        <p:spPr>
          <a:xfrm>
            <a:off x="4645787" y="4637858"/>
            <a:ext cx="2900423" cy="553998"/>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800" b="0" i="0" u="none" strike="noStrike" cap="none" spc="0" normalizeH="0" baseline="0">
                <a:ln>
                  <a:noFill/>
                </a:ln>
                <a:effectLst/>
                <a:uLnTx/>
                <a:uFillTx/>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Option to share more broadly via link</a:t>
            </a:r>
          </a:p>
        </p:txBody>
      </p:sp>
      <p:sp>
        <p:nvSpPr>
          <p:cNvPr id="39" name="Text Placeholder 50">
            <a:extLst>
              <a:ext uri="{FF2B5EF4-FFF2-40B4-BE49-F238E27FC236}">
                <a16:creationId xmlns:a16="http://schemas.microsoft.com/office/drawing/2014/main" id="{C37B03F0-34B8-3339-FBA9-1F2B63CE8BA1}"/>
              </a:ext>
              <a:ext uri="{C183D7F6-B498-43B3-948B-1728B52AA6E4}">
                <adec:decorative xmlns:adec="http://schemas.microsoft.com/office/drawing/2017/decorative" val="0"/>
              </a:ext>
            </a:extLst>
          </p:cNvPr>
          <p:cNvSpPr txBox="1">
            <a:spLocks/>
          </p:cNvSpPr>
          <p:nvPr/>
        </p:nvSpPr>
        <p:spPr>
          <a:xfrm>
            <a:off x="8145603" y="1759380"/>
            <a:ext cx="3099506" cy="829162"/>
          </a:xfrm>
          <a:prstGeom prst="roundRect">
            <a:avLst>
              <a:gd name="adj" fmla="val 11000"/>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fontAlgn="base">
              <a:spcBef>
                <a:spcPct val="0"/>
              </a:spcBef>
              <a:spcAft>
                <a:spcPts val="1200"/>
              </a:spcAft>
              <a:buSzPct val="90000"/>
              <a:defRPr sz="2400">
                <a:solidFill>
                  <a:schemeClr val="bg1"/>
                </a:solidFill>
                <a:latin typeface="+mj-lt"/>
                <a:ea typeface="+mj-ea"/>
                <a:cs typeface="+mj-cs"/>
              </a:defRPr>
            </a:lvl1pPr>
            <a:lvl2pPr marL="457183" lvl="1" algn="ctr" defTabSz="914367">
              <a:defRPr>
                <a:solidFill>
                  <a:schemeClr val="bg1"/>
                </a:solidFill>
                <a:latin typeface="+mj-lt"/>
              </a:defRPr>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j-ea"/>
                <a:cs typeface="+mj-cs"/>
              </a:rPr>
              <a:t>Group based permissions</a:t>
            </a:r>
          </a:p>
        </p:txBody>
      </p:sp>
      <p:pic>
        <p:nvPicPr>
          <p:cNvPr id="41" name="Picture 4" descr="Microsoft Teams">
            <a:extLst>
              <a:ext uri="{FF2B5EF4-FFF2-40B4-BE49-F238E27FC236}">
                <a16:creationId xmlns:a16="http://schemas.microsoft.com/office/drawing/2014/main" id="{86EE72DF-C154-7F3F-AA5E-024DF2E57C3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5644" t="18522" r="36012" b="18635"/>
          <a:stretch/>
        </p:blipFill>
        <p:spPr bwMode="auto">
          <a:xfrm>
            <a:off x="8145603" y="2807617"/>
            <a:ext cx="530246" cy="48130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765C916-5CE8-4E0C-0CF3-814539038596}"/>
              </a:ext>
              <a:ext uri="{C183D7F6-B498-43B3-948B-1728B52AA6E4}">
                <adec:decorative xmlns:adec="http://schemas.microsoft.com/office/drawing/2017/decorative" val="0"/>
              </a:ext>
            </a:extLst>
          </p:cNvPr>
          <p:cNvSpPr txBox="1"/>
          <p:nvPr/>
        </p:nvSpPr>
        <p:spPr>
          <a:xfrm>
            <a:off x="8820482" y="2909768"/>
            <a:ext cx="2424628" cy="276999"/>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Teams channels</a:t>
            </a:r>
          </a:p>
        </p:txBody>
      </p:sp>
      <p:pic>
        <p:nvPicPr>
          <p:cNvPr id="27" name="Picture 26" descr="Sharepoint logo">
            <a:extLst>
              <a:ext uri="{FF2B5EF4-FFF2-40B4-BE49-F238E27FC236}">
                <a16:creationId xmlns:a16="http://schemas.microsoft.com/office/drawing/2014/main" id="{0E8AF721-D038-E49C-136E-6EAE29B7C302}"/>
              </a:ext>
            </a:extLst>
          </p:cNvPr>
          <p:cNvPicPr>
            <a:picLocks noChangeAspect="1"/>
          </p:cNvPicPr>
          <p:nvPr/>
        </p:nvPicPr>
        <p:blipFill>
          <a:blip r:embed="rId6"/>
          <a:srcRect l="24268" t="24268" r="24268" b="24268"/>
          <a:stretch/>
        </p:blipFill>
        <p:spPr>
          <a:xfrm>
            <a:off x="8145603" y="4649735"/>
            <a:ext cx="530246" cy="530246"/>
          </a:xfrm>
          <a:prstGeom prst="rect">
            <a:avLst/>
          </a:prstGeom>
        </p:spPr>
      </p:pic>
      <p:sp>
        <p:nvSpPr>
          <p:cNvPr id="28" name="TextBox 27">
            <a:extLst>
              <a:ext uri="{FF2B5EF4-FFF2-40B4-BE49-F238E27FC236}">
                <a16:creationId xmlns:a16="http://schemas.microsoft.com/office/drawing/2014/main" id="{0E0C8072-4A19-CA9F-9E01-0FD1B43B0850}"/>
              </a:ext>
              <a:ext uri="{C183D7F6-B498-43B3-948B-1728B52AA6E4}">
                <adec:decorative xmlns:adec="http://schemas.microsoft.com/office/drawing/2017/decorative" val="0"/>
              </a:ext>
            </a:extLst>
          </p:cNvPr>
          <p:cNvSpPr txBox="1"/>
          <p:nvPr/>
        </p:nvSpPr>
        <p:spPr>
          <a:xfrm>
            <a:off x="8820482" y="4776358"/>
            <a:ext cx="2106593" cy="276999"/>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800" b="0" i="0" u="none" strike="noStrike" cap="none" spc="0" normalizeH="0" baseline="0">
                <a:ln>
                  <a:noFill/>
                </a:ln>
                <a:effectLst/>
                <a:uLnTx/>
                <a:uFillTx/>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SharePoint sites</a:t>
            </a:r>
          </a:p>
        </p:txBody>
      </p:sp>
      <p:sp>
        <p:nvSpPr>
          <p:cNvPr id="34" name="TextBox 33">
            <a:extLst>
              <a:ext uri="{FF2B5EF4-FFF2-40B4-BE49-F238E27FC236}">
                <a16:creationId xmlns:a16="http://schemas.microsoft.com/office/drawing/2014/main" id="{AD121405-49C7-B363-316F-BDBEDC368C14}"/>
              </a:ext>
              <a:ext uri="{C183D7F6-B498-43B3-948B-1728B52AA6E4}">
                <adec:decorative xmlns:adec="http://schemas.microsoft.com/office/drawing/2017/decorative" val="0"/>
              </a:ext>
            </a:extLst>
          </p:cNvPr>
          <p:cNvSpPr txBox="1"/>
          <p:nvPr/>
        </p:nvSpPr>
        <p:spPr>
          <a:xfrm>
            <a:off x="2814040" y="5722449"/>
            <a:ext cx="6563920"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mn-cs"/>
              </a:rPr>
              <a:t>Highest risk of oversharing in Microsoft 365 Copilot</a:t>
            </a:r>
          </a:p>
        </p:txBody>
      </p:sp>
    </p:spTree>
    <p:extLst>
      <p:ext uri="{BB962C8B-B14F-4D97-AF65-F5344CB8AC3E}">
        <p14:creationId xmlns:p14="http://schemas.microsoft.com/office/powerpoint/2010/main" val="3737696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1">
            <a:extLst>
              <a:ext uri="{FF2B5EF4-FFF2-40B4-BE49-F238E27FC236}">
                <a16:creationId xmlns:a16="http://schemas.microsoft.com/office/drawing/2014/main" id="{988E1322-3D2F-D5E5-1BCF-6444A9B6AD85}"/>
              </a:ext>
            </a:extLst>
          </p:cNvPr>
          <p:cNvSpPr txBox="1">
            <a:spLocks noGrp="1"/>
          </p:cNvSpPr>
          <p:nvPr>
            <p:ph type="title" idx="4294967295"/>
          </p:nvPr>
        </p:nvSpPr>
        <p:spPr>
          <a:xfrm>
            <a:off x="588263" y="457200"/>
            <a:ext cx="11018520"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dirty="0">
                <a:ln w="3175">
                  <a:noFill/>
                </a:ln>
                <a:solidFill>
                  <a:srgbClr val="000000"/>
                </a:solidFill>
                <a:effectLst/>
                <a:uLnTx/>
                <a:uFillTx/>
                <a:latin typeface="Segoe UI Semibold"/>
                <a:ea typeface="+mn-ea"/>
                <a:cs typeface="Segoe UI"/>
              </a:rPr>
              <a:t>Common causes of Copilot oversharing in SharePoint</a:t>
            </a:r>
            <a:endParaRPr kumimoji="0" lang="en-US" sz="3600" b="0" i="0" u="none" strike="noStrike" kern="1200" cap="none" spc="-50" normalizeH="0" baseline="0" noProof="0" dirty="0">
              <a:ln w="3175">
                <a:noFill/>
              </a:ln>
              <a:solidFill>
                <a:srgbClr val="000000"/>
              </a:solidFill>
              <a:effectLst/>
              <a:uLnTx/>
              <a:uFillTx/>
              <a:latin typeface="Segoe UI Semibold"/>
              <a:ea typeface="+mn-ea"/>
              <a:cs typeface="Segoe UI" pitchFamily="34" charset="0"/>
            </a:endParaRPr>
          </a:p>
        </p:txBody>
      </p:sp>
      <p:sp>
        <p:nvSpPr>
          <p:cNvPr id="13" name="Rectangle: Rounded Corners 12">
            <a:extLst>
              <a:ext uri="{FF2B5EF4-FFF2-40B4-BE49-F238E27FC236}">
                <a16:creationId xmlns:a16="http://schemas.microsoft.com/office/drawing/2014/main" id="{EB6DE411-F8A2-80A1-A76C-D2DB0097056E}"/>
              </a:ext>
              <a:ext uri="{C183D7F6-B498-43B3-948B-1728B52AA6E4}">
                <adec:decorative xmlns:adec="http://schemas.microsoft.com/office/drawing/2017/decorative" val="1"/>
              </a:ext>
            </a:extLst>
          </p:cNvPr>
          <p:cNvSpPr>
            <a:spLocks/>
          </p:cNvSpPr>
          <p:nvPr/>
        </p:nvSpPr>
        <p:spPr bwMode="auto">
          <a:xfrm>
            <a:off x="588963" y="1308433"/>
            <a:ext cx="3550496" cy="2388863"/>
          </a:xfrm>
          <a:prstGeom prst="roundRect">
            <a:avLst>
              <a:gd name="adj" fmla="val 55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noFill/>
              <a:effectLst/>
              <a:uLnTx/>
              <a:uFillTx/>
              <a:latin typeface="Segoe UI Variable Small Semibol" pitchFamily="2" charset="0"/>
              <a:ea typeface="+mn-ea"/>
              <a:cs typeface="+mn-cs"/>
            </a:endParaRPr>
          </a:p>
        </p:txBody>
      </p:sp>
      <p:sp>
        <p:nvSpPr>
          <p:cNvPr id="23" name="Rectangle: Rounded Corners 22">
            <a:extLst>
              <a:ext uri="{FF2B5EF4-FFF2-40B4-BE49-F238E27FC236}">
                <a16:creationId xmlns:a16="http://schemas.microsoft.com/office/drawing/2014/main" id="{B22B5326-F5A1-CE02-2ACA-60CB4B933B53}"/>
              </a:ext>
              <a:ext uri="{C183D7F6-B498-43B3-948B-1728B52AA6E4}">
                <adec:decorative xmlns:adec="http://schemas.microsoft.com/office/drawing/2017/decorative" val="1"/>
              </a:ext>
            </a:extLst>
          </p:cNvPr>
          <p:cNvSpPr>
            <a:spLocks/>
          </p:cNvSpPr>
          <p:nvPr/>
        </p:nvSpPr>
        <p:spPr bwMode="auto">
          <a:xfrm>
            <a:off x="4322338" y="1308433"/>
            <a:ext cx="3550496" cy="2388863"/>
          </a:xfrm>
          <a:prstGeom prst="roundRect">
            <a:avLst>
              <a:gd name="adj" fmla="val 55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noFill/>
              <a:effectLst/>
              <a:uLnTx/>
              <a:uFillTx/>
              <a:latin typeface="Segoe UI Variable Small Semibol" pitchFamily="2" charset="0"/>
              <a:ea typeface="+mn-ea"/>
              <a:cs typeface="+mn-cs"/>
            </a:endParaRPr>
          </a:p>
        </p:txBody>
      </p:sp>
      <p:sp>
        <p:nvSpPr>
          <p:cNvPr id="24" name="Rectangle: Rounded Corners 23">
            <a:extLst>
              <a:ext uri="{FF2B5EF4-FFF2-40B4-BE49-F238E27FC236}">
                <a16:creationId xmlns:a16="http://schemas.microsoft.com/office/drawing/2014/main" id="{DE89F53D-4894-2984-15D7-C2EBE21D6E43}"/>
              </a:ext>
              <a:ext uri="{C183D7F6-B498-43B3-948B-1728B52AA6E4}">
                <adec:decorative xmlns:adec="http://schemas.microsoft.com/office/drawing/2017/decorative" val="1"/>
              </a:ext>
            </a:extLst>
          </p:cNvPr>
          <p:cNvSpPr>
            <a:spLocks/>
          </p:cNvSpPr>
          <p:nvPr/>
        </p:nvSpPr>
        <p:spPr bwMode="auto">
          <a:xfrm>
            <a:off x="8055715" y="1308433"/>
            <a:ext cx="3550496" cy="2388863"/>
          </a:xfrm>
          <a:prstGeom prst="roundRect">
            <a:avLst>
              <a:gd name="adj" fmla="val 55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noFill/>
              <a:effectLst/>
              <a:uLnTx/>
              <a:uFillTx/>
              <a:latin typeface="Segoe UI Variable Small Semibol" pitchFamily="2" charset="0"/>
              <a:ea typeface="+mn-ea"/>
              <a:cs typeface="+mn-cs"/>
            </a:endParaRPr>
          </a:p>
        </p:txBody>
      </p:sp>
      <p:sp>
        <p:nvSpPr>
          <p:cNvPr id="26" name="Rectangle: Rounded Corners 25">
            <a:extLst>
              <a:ext uri="{FF2B5EF4-FFF2-40B4-BE49-F238E27FC236}">
                <a16:creationId xmlns:a16="http://schemas.microsoft.com/office/drawing/2014/main" id="{FD889EAB-13B0-630E-E5EB-9B173DB85306}"/>
              </a:ext>
              <a:ext uri="{C183D7F6-B498-43B3-948B-1728B52AA6E4}">
                <adec:decorative xmlns:adec="http://schemas.microsoft.com/office/drawing/2017/decorative" val="1"/>
              </a:ext>
            </a:extLst>
          </p:cNvPr>
          <p:cNvSpPr>
            <a:spLocks/>
          </p:cNvSpPr>
          <p:nvPr/>
        </p:nvSpPr>
        <p:spPr bwMode="auto">
          <a:xfrm>
            <a:off x="2451618" y="3880176"/>
            <a:ext cx="3550496" cy="2388863"/>
          </a:xfrm>
          <a:prstGeom prst="roundRect">
            <a:avLst>
              <a:gd name="adj" fmla="val 55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noFill/>
              <a:effectLst/>
              <a:uLnTx/>
              <a:uFillTx/>
              <a:latin typeface="Segoe UI Variable Small Semibol" pitchFamily="2" charset="0"/>
              <a:ea typeface="+mn-ea"/>
              <a:cs typeface="+mn-cs"/>
            </a:endParaRPr>
          </a:p>
        </p:txBody>
      </p:sp>
      <p:sp>
        <p:nvSpPr>
          <p:cNvPr id="27" name="Rectangle: Rounded Corners 26">
            <a:extLst>
              <a:ext uri="{FF2B5EF4-FFF2-40B4-BE49-F238E27FC236}">
                <a16:creationId xmlns:a16="http://schemas.microsoft.com/office/drawing/2014/main" id="{03AC0FCB-0657-A600-CDFD-68EF9C15BE7E}"/>
              </a:ext>
              <a:ext uri="{C183D7F6-B498-43B3-948B-1728B52AA6E4}">
                <adec:decorative xmlns:adec="http://schemas.microsoft.com/office/drawing/2017/decorative" val="1"/>
              </a:ext>
            </a:extLst>
          </p:cNvPr>
          <p:cNvSpPr>
            <a:spLocks/>
          </p:cNvSpPr>
          <p:nvPr/>
        </p:nvSpPr>
        <p:spPr bwMode="auto">
          <a:xfrm>
            <a:off x="6184994" y="3880176"/>
            <a:ext cx="3550496" cy="2388863"/>
          </a:xfrm>
          <a:prstGeom prst="roundRect">
            <a:avLst>
              <a:gd name="adj" fmla="val 55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noFill/>
              <a:effectLst/>
              <a:uLnTx/>
              <a:uFillTx/>
              <a:latin typeface="Segoe UI Variable Small Semibol" pitchFamily="2" charset="0"/>
              <a:ea typeface="+mn-ea"/>
              <a:cs typeface="+mn-cs"/>
            </a:endParaRPr>
          </a:p>
        </p:txBody>
      </p:sp>
      <p:pic>
        <p:nvPicPr>
          <p:cNvPr id="35" name="Picture 34">
            <a:extLst>
              <a:ext uri="{FF2B5EF4-FFF2-40B4-BE49-F238E27FC236}">
                <a16:creationId xmlns:a16="http://schemas.microsoft.com/office/drawing/2014/main" id="{54DD8ECA-20D5-9659-F222-8276B09A6D7C}"/>
              </a:ext>
              <a:ext uri="{C183D7F6-B498-43B3-948B-1728B52AA6E4}">
                <adec:decorative xmlns:adec="http://schemas.microsoft.com/office/drawing/2017/decorative" val="1"/>
              </a:ext>
            </a:extLst>
          </p:cNvPr>
          <p:cNvPicPr>
            <a:picLocks/>
          </p:cNvPicPr>
          <p:nvPr/>
        </p:nvPicPr>
        <p:blipFill rotWithShape="1">
          <a:blip r:embed="rId3"/>
          <a:srcRect t="-8879" b="-8879"/>
          <a:stretch/>
        </p:blipFill>
        <p:spPr>
          <a:xfrm>
            <a:off x="680404" y="1399872"/>
            <a:ext cx="3367616" cy="1556687"/>
          </a:xfrm>
          <a:prstGeom prst="roundRect">
            <a:avLst>
              <a:gd name="adj" fmla="val 4500"/>
            </a:avLst>
          </a:prstGeom>
          <a:solidFill>
            <a:schemeClr val="bg1"/>
          </a:solidFill>
          <a:effectLst>
            <a:outerShdw blurRad="38100" algn="ctr" rotWithShape="0">
              <a:schemeClr val="bg1">
                <a:lumMod val="50000"/>
                <a:alpha val="13000"/>
              </a:schemeClr>
            </a:outerShdw>
          </a:effectLst>
        </p:spPr>
      </p:pic>
      <p:sp>
        <p:nvSpPr>
          <p:cNvPr id="36" name="Rectangle: Rounded Corners 35">
            <a:extLst>
              <a:ext uri="{FF2B5EF4-FFF2-40B4-BE49-F238E27FC236}">
                <a16:creationId xmlns:a16="http://schemas.microsoft.com/office/drawing/2014/main" id="{9291F603-151A-3316-A1EA-3891687F75C1}"/>
              </a:ext>
              <a:ext uri="{C183D7F6-B498-43B3-948B-1728B52AA6E4}">
                <adec:decorative xmlns:adec="http://schemas.microsoft.com/office/drawing/2017/decorative" val="0"/>
              </a:ext>
            </a:extLst>
          </p:cNvPr>
          <p:cNvSpPr>
            <a:spLocks/>
          </p:cNvSpPr>
          <p:nvPr/>
        </p:nvSpPr>
        <p:spPr bwMode="auto">
          <a:xfrm>
            <a:off x="680403" y="3048000"/>
            <a:ext cx="3367616" cy="557856"/>
          </a:xfrm>
          <a:prstGeom prst="roundRect">
            <a:avLst>
              <a:gd name="adj" fmla="val 15168"/>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137160" tIns="45720" rIns="91440" bIns="45720" rtlCol="0" anchor="ctr" anchorCtr="0">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Site privacy set to public</a:t>
            </a:r>
          </a:p>
        </p:txBody>
      </p:sp>
      <p:pic>
        <p:nvPicPr>
          <p:cNvPr id="37" name="Picture 36">
            <a:extLst>
              <a:ext uri="{FF2B5EF4-FFF2-40B4-BE49-F238E27FC236}">
                <a16:creationId xmlns:a16="http://schemas.microsoft.com/office/drawing/2014/main" id="{06DB9541-8A47-79D3-25DA-FC5E65E55CAE}"/>
              </a:ext>
              <a:ext uri="{C183D7F6-B498-43B3-948B-1728B52AA6E4}">
                <adec:decorative xmlns:adec="http://schemas.microsoft.com/office/drawing/2017/decorative" val="1"/>
              </a:ext>
            </a:extLst>
          </p:cNvPr>
          <p:cNvPicPr>
            <a:picLocks/>
          </p:cNvPicPr>
          <p:nvPr/>
        </p:nvPicPr>
        <p:blipFill rotWithShape="1">
          <a:blip r:embed="rId4"/>
          <a:srcRect l="-29183" r="-29183"/>
          <a:stretch/>
        </p:blipFill>
        <p:spPr>
          <a:xfrm>
            <a:off x="4413778" y="1399872"/>
            <a:ext cx="3367616" cy="1556687"/>
          </a:xfrm>
          <a:prstGeom prst="roundRect">
            <a:avLst>
              <a:gd name="adj" fmla="val 4500"/>
            </a:avLst>
          </a:prstGeom>
          <a:solidFill>
            <a:schemeClr val="bg1"/>
          </a:solidFill>
          <a:effectLst>
            <a:outerShdw blurRad="38100" algn="ctr" rotWithShape="0">
              <a:schemeClr val="bg1">
                <a:lumMod val="50000"/>
                <a:alpha val="13000"/>
              </a:schemeClr>
            </a:outerShdw>
          </a:effectLst>
        </p:spPr>
      </p:pic>
      <p:sp>
        <p:nvSpPr>
          <p:cNvPr id="38" name="Rectangle: Rounded Corners 37">
            <a:extLst>
              <a:ext uri="{FF2B5EF4-FFF2-40B4-BE49-F238E27FC236}">
                <a16:creationId xmlns:a16="http://schemas.microsoft.com/office/drawing/2014/main" id="{93B320AF-859B-F6B9-0EF5-8C1099D7987D}"/>
              </a:ext>
              <a:ext uri="{C183D7F6-B498-43B3-948B-1728B52AA6E4}">
                <adec:decorative xmlns:adec="http://schemas.microsoft.com/office/drawing/2017/decorative" val="0"/>
              </a:ext>
            </a:extLst>
          </p:cNvPr>
          <p:cNvSpPr>
            <a:spLocks/>
          </p:cNvSpPr>
          <p:nvPr/>
        </p:nvSpPr>
        <p:spPr bwMode="auto">
          <a:xfrm>
            <a:off x="4413779" y="3048000"/>
            <a:ext cx="3367616" cy="557856"/>
          </a:xfrm>
          <a:prstGeom prst="roundRect">
            <a:avLst>
              <a:gd name="adj" fmla="val 15168"/>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137160" tIns="45720" rIns="91440" bIns="45720" rtlCol="0" anchor="ctr" anchorCtr="0">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Default sharing option is everyone</a:t>
            </a:r>
          </a:p>
        </p:txBody>
      </p:sp>
      <p:pic>
        <p:nvPicPr>
          <p:cNvPr id="39" name="Picture 38">
            <a:extLst>
              <a:ext uri="{FF2B5EF4-FFF2-40B4-BE49-F238E27FC236}">
                <a16:creationId xmlns:a16="http://schemas.microsoft.com/office/drawing/2014/main" id="{94316DF1-EA03-3DE4-415A-306058FC50E8}"/>
              </a:ext>
              <a:ext uri="{C183D7F6-B498-43B3-948B-1728B52AA6E4}">
                <adec:decorative xmlns:adec="http://schemas.microsoft.com/office/drawing/2017/decorative" val="1"/>
              </a:ext>
            </a:extLst>
          </p:cNvPr>
          <p:cNvPicPr>
            <a:picLocks/>
          </p:cNvPicPr>
          <p:nvPr/>
        </p:nvPicPr>
        <p:blipFill rotWithShape="1">
          <a:blip r:embed="rId5"/>
          <a:srcRect t="-15092" b="-15092"/>
          <a:stretch/>
        </p:blipFill>
        <p:spPr>
          <a:xfrm>
            <a:off x="8147155" y="1399872"/>
            <a:ext cx="3367616" cy="1556687"/>
          </a:xfrm>
          <a:prstGeom prst="roundRect">
            <a:avLst>
              <a:gd name="adj" fmla="val 4500"/>
            </a:avLst>
          </a:prstGeom>
          <a:solidFill>
            <a:srgbClr val="4A4A4A"/>
          </a:solidFill>
          <a:effectLst>
            <a:outerShdw blurRad="38100" algn="ctr" rotWithShape="0">
              <a:schemeClr val="bg1">
                <a:lumMod val="50000"/>
                <a:alpha val="13000"/>
              </a:schemeClr>
            </a:outerShdw>
          </a:effectLst>
        </p:spPr>
      </p:pic>
      <p:sp>
        <p:nvSpPr>
          <p:cNvPr id="40" name="Rectangle: Rounded Corners 39">
            <a:extLst>
              <a:ext uri="{FF2B5EF4-FFF2-40B4-BE49-F238E27FC236}">
                <a16:creationId xmlns:a16="http://schemas.microsoft.com/office/drawing/2014/main" id="{9009F130-7EF3-178E-DEAA-E45F5D51B849}"/>
              </a:ext>
              <a:ext uri="{C183D7F6-B498-43B3-948B-1728B52AA6E4}">
                <adec:decorative xmlns:adec="http://schemas.microsoft.com/office/drawing/2017/decorative" val="0"/>
              </a:ext>
            </a:extLst>
          </p:cNvPr>
          <p:cNvSpPr>
            <a:spLocks/>
          </p:cNvSpPr>
          <p:nvPr/>
        </p:nvSpPr>
        <p:spPr bwMode="auto">
          <a:xfrm>
            <a:off x="8147155" y="3048000"/>
            <a:ext cx="3367616" cy="557856"/>
          </a:xfrm>
          <a:prstGeom prst="roundRect">
            <a:avLst>
              <a:gd name="adj" fmla="val 15168"/>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137160" tIns="45720" rIns="91440" bIns="45720" rtlCol="0" anchor="ctr" anchorCtr="0">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Broken permission inheritance</a:t>
            </a:r>
          </a:p>
        </p:txBody>
      </p:sp>
      <p:pic>
        <p:nvPicPr>
          <p:cNvPr id="41" name="Picture 40">
            <a:extLst>
              <a:ext uri="{FF2B5EF4-FFF2-40B4-BE49-F238E27FC236}">
                <a16:creationId xmlns:a16="http://schemas.microsoft.com/office/drawing/2014/main" id="{9EFD8DD6-057E-F8AF-D21B-EA99FD819688}"/>
              </a:ext>
              <a:ext uri="{C183D7F6-B498-43B3-948B-1728B52AA6E4}">
                <adec:decorative xmlns:adec="http://schemas.microsoft.com/office/drawing/2017/decorative" val="1"/>
              </a:ext>
            </a:extLst>
          </p:cNvPr>
          <p:cNvPicPr>
            <a:picLocks/>
          </p:cNvPicPr>
          <p:nvPr/>
        </p:nvPicPr>
        <p:blipFill rotWithShape="1">
          <a:blip r:embed="rId6"/>
          <a:srcRect l="-74863" t="-2716" r="-74863" b="-2716"/>
          <a:stretch/>
        </p:blipFill>
        <p:spPr>
          <a:xfrm>
            <a:off x="2543058" y="3971616"/>
            <a:ext cx="3367616" cy="1556687"/>
          </a:xfrm>
          <a:prstGeom prst="roundRect">
            <a:avLst>
              <a:gd name="adj" fmla="val 4500"/>
            </a:avLst>
          </a:prstGeom>
          <a:solidFill>
            <a:schemeClr val="bg1"/>
          </a:solidFill>
          <a:effectLst>
            <a:outerShdw blurRad="38100" algn="ctr" rotWithShape="0">
              <a:schemeClr val="bg1">
                <a:lumMod val="50000"/>
                <a:alpha val="13000"/>
              </a:schemeClr>
            </a:outerShdw>
          </a:effectLst>
        </p:spPr>
      </p:pic>
      <p:sp>
        <p:nvSpPr>
          <p:cNvPr id="42" name="Rectangle: Rounded Corners 41">
            <a:extLst>
              <a:ext uri="{FF2B5EF4-FFF2-40B4-BE49-F238E27FC236}">
                <a16:creationId xmlns:a16="http://schemas.microsoft.com/office/drawing/2014/main" id="{B33EDCE9-F56C-B44A-6694-1B66C5979F50}"/>
              </a:ext>
              <a:ext uri="{C183D7F6-B498-43B3-948B-1728B52AA6E4}">
                <adec:decorative xmlns:adec="http://schemas.microsoft.com/office/drawing/2017/decorative" val="0"/>
              </a:ext>
            </a:extLst>
          </p:cNvPr>
          <p:cNvSpPr>
            <a:spLocks/>
          </p:cNvSpPr>
          <p:nvPr/>
        </p:nvSpPr>
        <p:spPr bwMode="auto">
          <a:xfrm>
            <a:off x="2543058" y="5619743"/>
            <a:ext cx="3367616" cy="557856"/>
          </a:xfrm>
          <a:prstGeom prst="roundRect">
            <a:avLst>
              <a:gd name="adj" fmla="val 15168"/>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137160" tIns="45720" rIns="91440" bIns="45720" rtlCol="0" anchor="ctr" anchorCtr="0">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Use of “everyone except external users” domain group</a:t>
            </a:r>
          </a:p>
        </p:txBody>
      </p:sp>
      <p:grpSp>
        <p:nvGrpSpPr>
          <p:cNvPr id="43" name="Group 42">
            <a:extLst>
              <a:ext uri="{FF2B5EF4-FFF2-40B4-BE49-F238E27FC236}">
                <a16:creationId xmlns:a16="http://schemas.microsoft.com/office/drawing/2014/main" id="{304F6E7D-B0E2-F763-02C0-8E6EF8D399C4}"/>
              </a:ext>
              <a:ext uri="{C183D7F6-B498-43B3-948B-1728B52AA6E4}">
                <adec:decorative xmlns:adec="http://schemas.microsoft.com/office/drawing/2017/decorative" val="1"/>
              </a:ext>
            </a:extLst>
          </p:cNvPr>
          <p:cNvGrpSpPr/>
          <p:nvPr/>
        </p:nvGrpSpPr>
        <p:grpSpPr>
          <a:xfrm>
            <a:off x="6276433" y="3971616"/>
            <a:ext cx="3367616" cy="1556687"/>
            <a:chOff x="4413778" y="3971616"/>
            <a:chExt cx="3367616" cy="1556687"/>
          </a:xfrm>
        </p:grpSpPr>
        <p:pic>
          <p:nvPicPr>
            <p:cNvPr id="44" name="Picture 43">
              <a:extLst>
                <a:ext uri="{FF2B5EF4-FFF2-40B4-BE49-F238E27FC236}">
                  <a16:creationId xmlns:a16="http://schemas.microsoft.com/office/drawing/2014/main" id="{A66B1172-517F-E8D8-F772-0F6551011BA7}"/>
                </a:ext>
              </a:extLst>
            </p:cNvPr>
            <p:cNvPicPr>
              <a:picLocks/>
            </p:cNvPicPr>
            <p:nvPr/>
          </p:nvPicPr>
          <p:blipFill rotWithShape="1">
            <a:blip r:embed="rId7"/>
            <a:srcRect l="-27128" r="-27128"/>
            <a:stretch/>
          </p:blipFill>
          <p:spPr>
            <a:xfrm>
              <a:off x="4413778" y="3971616"/>
              <a:ext cx="3367616" cy="1556687"/>
            </a:xfrm>
            <a:prstGeom prst="roundRect">
              <a:avLst>
                <a:gd name="adj" fmla="val 4500"/>
              </a:avLst>
            </a:prstGeom>
            <a:solidFill>
              <a:schemeClr val="bg1"/>
            </a:solidFill>
            <a:effectLst>
              <a:outerShdw blurRad="38100" algn="ctr" rotWithShape="0">
                <a:schemeClr val="bg1">
                  <a:lumMod val="50000"/>
                  <a:alpha val="13000"/>
                </a:schemeClr>
              </a:outerShdw>
            </a:effectLst>
          </p:spPr>
        </p:pic>
        <p:sp>
          <p:nvSpPr>
            <p:cNvPr id="45" name="Rectangle 44">
              <a:extLst>
                <a:ext uri="{FF2B5EF4-FFF2-40B4-BE49-F238E27FC236}">
                  <a16:creationId xmlns:a16="http://schemas.microsoft.com/office/drawing/2014/main" id="{49CBB059-A537-FD0C-5E04-DF5DFB0F52ED}"/>
                </a:ext>
              </a:extLst>
            </p:cNvPr>
            <p:cNvSpPr>
              <a:spLocks/>
            </p:cNvSpPr>
            <p:nvPr/>
          </p:nvSpPr>
          <p:spPr bwMode="auto">
            <a:xfrm>
              <a:off x="6858244" y="4559037"/>
              <a:ext cx="316462" cy="10833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6" name="Rectangle 45">
              <a:extLst>
                <a:ext uri="{FF2B5EF4-FFF2-40B4-BE49-F238E27FC236}">
                  <a16:creationId xmlns:a16="http://schemas.microsoft.com/office/drawing/2014/main" id="{A53067F6-08A0-1C9F-5CCF-E57037D964A6}"/>
                </a:ext>
              </a:extLst>
            </p:cNvPr>
            <p:cNvSpPr>
              <a:spLocks/>
            </p:cNvSpPr>
            <p:nvPr/>
          </p:nvSpPr>
          <p:spPr bwMode="auto">
            <a:xfrm>
              <a:off x="6858244" y="4887526"/>
              <a:ext cx="316462" cy="10833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47" name="Rectangle: Rounded Corners 46">
            <a:extLst>
              <a:ext uri="{FF2B5EF4-FFF2-40B4-BE49-F238E27FC236}">
                <a16:creationId xmlns:a16="http://schemas.microsoft.com/office/drawing/2014/main" id="{E5A3BCF2-B11C-2452-8AC1-A90176D0B2E2}"/>
              </a:ext>
              <a:ext uri="{C183D7F6-B498-43B3-948B-1728B52AA6E4}">
                <adec:decorative xmlns:adec="http://schemas.microsoft.com/office/drawing/2017/decorative" val="0"/>
              </a:ext>
            </a:extLst>
          </p:cNvPr>
          <p:cNvSpPr>
            <a:spLocks/>
          </p:cNvSpPr>
          <p:nvPr/>
        </p:nvSpPr>
        <p:spPr bwMode="auto">
          <a:xfrm>
            <a:off x="6276434" y="5619743"/>
            <a:ext cx="3367616" cy="557856"/>
          </a:xfrm>
          <a:prstGeom prst="roundRect">
            <a:avLst>
              <a:gd name="adj" fmla="val 15168"/>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137160" tIns="45720" rIns="91440" bIns="45720" rtlCol="0" anchor="ctr" anchorCtr="0">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Sites and files without </a:t>
            </a:r>
            <a:b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br>
            <a:r>
              <a:rPr kumimoji="0" lang="en-US" sz="14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sensitivity labels</a:t>
            </a:r>
          </a:p>
        </p:txBody>
      </p:sp>
    </p:spTree>
    <p:extLst>
      <p:ext uri="{BB962C8B-B14F-4D97-AF65-F5344CB8AC3E}">
        <p14:creationId xmlns:p14="http://schemas.microsoft.com/office/powerpoint/2010/main" val="3940477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6A745214-5836-D676-8C16-9C39F2DBA1E2}"/>
              </a:ext>
              <a:ext uri="{C183D7F6-B498-43B3-948B-1728B52AA6E4}">
                <adec:decorative xmlns:adec="http://schemas.microsoft.com/office/drawing/2017/decorative" val="1"/>
              </a:ext>
            </a:extLst>
          </p:cNvPr>
          <p:cNvSpPr>
            <a:spLocks/>
          </p:cNvSpPr>
          <p:nvPr/>
        </p:nvSpPr>
        <p:spPr bwMode="auto">
          <a:xfrm>
            <a:off x="585788" y="2309381"/>
            <a:ext cx="11020425" cy="3228088"/>
          </a:xfrm>
          <a:prstGeom prst="roundRect">
            <a:avLst>
              <a:gd name="adj" fmla="val 7585"/>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2" name="Rectangle: Rounded Corners 21">
            <a:extLst>
              <a:ext uri="{FF2B5EF4-FFF2-40B4-BE49-F238E27FC236}">
                <a16:creationId xmlns:a16="http://schemas.microsoft.com/office/drawing/2014/main" id="{F01DAA54-CC78-BFCF-F0EF-668EDBACBE05}"/>
              </a:ext>
              <a:ext uri="{C183D7F6-B498-43B3-948B-1728B52AA6E4}">
                <adec:decorative xmlns:adec="http://schemas.microsoft.com/office/drawing/2017/decorative" val="1"/>
              </a:ext>
            </a:extLst>
          </p:cNvPr>
          <p:cNvSpPr>
            <a:spLocks/>
          </p:cNvSpPr>
          <p:nvPr/>
        </p:nvSpPr>
        <p:spPr bwMode="auto">
          <a:xfrm>
            <a:off x="809549" y="3449012"/>
            <a:ext cx="5170565" cy="1863064"/>
          </a:xfrm>
          <a:prstGeom prst="roundRect">
            <a:avLst>
              <a:gd name="adj" fmla="val 96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3" name="Rectangle: Rounded Corners 22">
            <a:extLst>
              <a:ext uri="{FF2B5EF4-FFF2-40B4-BE49-F238E27FC236}">
                <a16:creationId xmlns:a16="http://schemas.microsoft.com/office/drawing/2014/main" id="{CCCDA068-87CA-9F27-781B-85ACA2DF1B26}"/>
              </a:ext>
              <a:ext uri="{C183D7F6-B498-43B3-948B-1728B52AA6E4}">
                <adec:decorative xmlns:adec="http://schemas.microsoft.com/office/drawing/2017/decorative" val="1"/>
              </a:ext>
            </a:extLst>
          </p:cNvPr>
          <p:cNvSpPr>
            <a:spLocks/>
          </p:cNvSpPr>
          <p:nvPr/>
        </p:nvSpPr>
        <p:spPr bwMode="auto">
          <a:xfrm>
            <a:off x="6208714" y="3449012"/>
            <a:ext cx="5170565" cy="1863064"/>
          </a:xfrm>
          <a:prstGeom prst="roundRect">
            <a:avLst>
              <a:gd name="adj" fmla="val 96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8" name="Rounded Rectangle 11">
            <a:extLst>
              <a:ext uri="{FF2B5EF4-FFF2-40B4-BE49-F238E27FC236}">
                <a16:creationId xmlns:a16="http://schemas.microsoft.com/office/drawing/2014/main" id="{828F2275-E40A-BF11-E576-F16DA124BC44}"/>
              </a:ext>
              <a:ext uri="{C183D7F6-B498-43B3-948B-1728B52AA6E4}">
                <adec:decorative xmlns:adec="http://schemas.microsoft.com/office/drawing/2017/decorative" val="1"/>
              </a:ext>
            </a:extLst>
          </p:cNvPr>
          <p:cNvSpPr>
            <a:spLocks/>
          </p:cNvSpPr>
          <p:nvPr/>
        </p:nvSpPr>
        <p:spPr bwMode="auto">
          <a:xfrm>
            <a:off x="2593234" y="1485900"/>
            <a:ext cx="1637792" cy="1637792"/>
          </a:xfrm>
          <a:prstGeom prst="flowChartConnector">
            <a:avLst/>
          </a:prstGeom>
          <a:solidFill>
            <a:schemeClr val="bg1"/>
          </a:solidFill>
          <a:ln>
            <a:gradFill flip="none" rotWithShape="1">
              <a:gsLst>
                <a:gs pos="0">
                  <a:srgbClr val="C03BC4"/>
                </a:gs>
                <a:gs pos="80000">
                  <a:srgbClr val="0078D4"/>
                </a:gs>
              </a:gsLst>
              <a:lin ang="13500000" scaled="1"/>
              <a:tileRect/>
            </a:gradFill>
          </a:ln>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p:txBody>
      </p:sp>
      <p:sp>
        <p:nvSpPr>
          <p:cNvPr id="29" name="Rounded Rectangle 11">
            <a:extLst>
              <a:ext uri="{FF2B5EF4-FFF2-40B4-BE49-F238E27FC236}">
                <a16:creationId xmlns:a16="http://schemas.microsoft.com/office/drawing/2014/main" id="{54BAA5B4-CD4D-5016-A74C-E2BB518BECA6}"/>
              </a:ext>
              <a:ext uri="{C183D7F6-B498-43B3-948B-1728B52AA6E4}">
                <adec:decorative xmlns:adec="http://schemas.microsoft.com/office/drawing/2017/decorative" val="1"/>
              </a:ext>
            </a:extLst>
          </p:cNvPr>
          <p:cNvSpPr>
            <a:spLocks/>
          </p:cNvSpPr>
          <p:nvPr/>
        </p:nvSpPr>
        <p:spPr bwMode="auto">
          <a:xfrm>
            <a:off x="7975100" y="1485900"/>
            <a:ext cx="1637792" cy="1637792"/>
          </a:xfrm>
          <a:prstGeom prst="flowChartConnector">
            <a:avLst/>
          </a:prstGeom>
          <a:solidFill>
            <a:schemeClr val="bg1"/>
          </a:solidFill>
          <a:ln>
            <a:gradFill flip="none" rotWithShape="1">
              <a:gsLst>
                <a:gs pos="0">
                  <a:srgbClr val="C03BC4"/>
                </a:gs>
                <a:gs pos="80000">
                  <a:srgbClr val="0078D4"/>
                </a:gs>
              </a:gsLst>
              <a:lin ang="13500000" scaled="1"/>
              <a:tileRect/>
            </a:gradFill>
          </a:ln>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p:txBody>
      </p:sp>
      <p:sp>
        <p:nvSpPr>
          <p:cNvPr id="2" name="Title 1">
            <a:extLst>
              <a:ext uri="{FF2B5EF4-FFF2-40B4-BE49-F238E27FC236}">
                <a16:creationId xmlns:a16="http://schemas.microsoft.com/office/drawing/2014/main" id="{D0221393-C91A-D396-F522-3747B82231B9}"/>
              </a:ext>
            </a:extLst>
          </p:cNvPr>
          <p:cNvSpPr>
            <a:spLocks noGrp="1"/>
          </p:cNvSpPr>
          <p:nvPr>
            <p:ph type="title"/>
          </p:nvPr>
        </p:nvSpPr>
        <p:spPr/>
        <p:txBody>
          <a:bodyPr/>
          <a:lstStyle/>
          <a:p>
            <a:r>
              <a:rPr lang="en-US"/>
              <a:t>Two powerful tools to oversharing  </a:t>
            </a:r>
          </a:p>
        </p:txBody>
      </p:sp>
      <p:pic>
        <p:nvPicPr>
          <p:cNvPr id="1026" name="Picture 2" descr="Copilot Logo">
            <a:extLst>
              <a:ext uri="{FF2B5EF4-FFF2-40B4-BE49-F238E27FC236}">
                <a16:creationId xmlns:a16="http://schemas.microsoft.com/office/drawing/2014/main" id="{6B5B5F24-4C4D-99DE-CE05-3EE0502D0A9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17" r="19289"/>
          <a:stretch/>
        </p:blipFill>
        <p:spPr bwMode="auto">
          <a:xfrm>
            <a:off x="2876052" y="1811220"/>
            <a:ext cx="1072156" cy="987152"/>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Rounded Corners 23">
            <a:extLst>
              <a:ext uri="{FF2B5EF4-FFF2-40B4-BE49-F238E27FC236}">
                <a16:creationId xmlns:a16="http://schemas.microsoft.com/office/drawing/2014/main" id="{DD62B6C7-F3C3-0630-3688-6CFE5BF1A5D6}"/>
              </a:ext>
            </a:extLst>
          </p:cNvPr>
          <p:cNvSpPr>
            <a:spLocks/>
          </p:cNvSpPr>
          <p:nvPr/>
        </p:nvSpPr>
        <p:spPr bwMode="auto">
          <a:xfrm>
            <a:off x="928421" y="3567881"/>
            <a:ext cx="4932820" cy="776901"/>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solidFill>
                  <a:srgbClr val="FFFFFF"/>
                </a:solidFill>
                <a:effectLst/>
                <a:uLnTx/>
                <a:uFillTx/>
                <a:latin typeface="Segoe UI Semibold"/>
                <a:ea typeface="+mn-ea"/>
                <a:cs typeface="+mn-cs"/>
              </a:rPr>
              <a:t>Microsoft 365 Copilot</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w="3175">
                  <a:noFill/>
                </a:ln>
                <a:solidFill>
                  <a:srgbClr val="FFFFFF"/>
                </a:solidFill>
                <a:effectLst/>
                <a:uLnTx/>
                <a:uFillTx/>
                <a:latin typeface="Segoe UI"/>
                <a:ea typeface="+mn-ea"/>
                <a:cs typeface="+mn-cs"/>
              </a:rPr>
              <a:t>Now powered by SharePoint Advanced Management </a:t>
            </a:r>
          </a:p>
        </p:txBody>
      </p:sp>
      <p:sp>
        <p:nvSpPr>
          <p:cNvPr id="25" name="TextBox 24">
            <a:extLst>
              <a:ext uri="{FF2B5EF4-FFF2-40B4-BE49-F238E27FC236}">
                <a16:creationId xmlns:a16="http://schemas.microsoft.com/office/drawing/2014/main" id="{426AF7C3-0537-638C-13F7-DFCD48D04267}"/>
              </a:ext>
            </a:extLst>
          </p:cNvPr>
          <p:cNvSpPr txBox="1"/>
          <p:nvPr/>
        </p:nvSpPr>
        <p:spPr>
          <a:xfrm>
            <a:off x="1370906" y="4556068"/>
            <a:ext cx="4047850" cy="492443"/>
          </a:xfrm>
          <a:prstGeom prst="rect">
            <a:avLst/>
          </a:prstGeom>
          <a:noFill/>
        </p:spPr>
        <p:txBody>
          <a:bodyPr wrap="square" lIns="0" tIns="0" rIns="0" bIns="0" rtlCol="0">
            <a:spAutoFit/>
          </a:bodyPr>
          <a:lstStyle/>
          <a:p>
            <a:pPr marL="0" marR="0" lvl="1" indent="0" algn="ctr" defTabSz="914367"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lt"/>
                <a:cs typeface="Segoe UI"/>
              </a:rPr>
              <a:t>Provides SharePoint site management and content governance capabilities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pic>
        <p:nvPicPr>
          <p:cNvPr id="5" name="Picture 4" descr="Microsoft Purview logo">
            <a:extLst>
              <a:ext uri="{FF2B5EF4-FFF2-40B4-BE49-F238E27FC236}">
                <a16:creationId xmlns:a16="http://schemas.microsoft.com/office/drawing/2014/main" id="{53042264-6CC3-329D-59E3-ECA7DE826E31}"/>
              </a:ext>
            </a:extLst>
          </p:cNvPr>
          <p:cNvPicPr>
            <a:picLocks noChangeAspect="1"/>
          </p:cNvPicPr>
          <p:nvPr/>
        </p:nvPicPr>
        <p:blipFill>
          <a:blip r:embed="rId4">
            <a:clrChange>
              <a:clrFrom>
                <a:srgbClr val="FFFFFF"/>
              </a:clrFrom>
              <a:clrTo>
                <a:srgbClr val="FFFFFF">
                  <a:alpha val="0"/>
                </a:srgbClr>
              </a:clrTo>
            </a:clrChange>
          </a:blip>
          <a:srcRect l="2865" t="3518" b="2715"/>
          <a:stretch/>
        </p:blipFill>
        <p:spPr>
          <a:xfrm>
            <a:off x="8274301" y="1799033"/>
            <a:ext cx="1039390" cy="930654"/>
          </a:xfrm>
          <a:prstGeom prst="rect">
            <a:avLst/>
          </a:prstGeom>
          <a:ln>
            <a:noFill/>
          </a:ln>
        </p:spPr>
      </p:pic>
      <p:sp>
        <p:nvSpPr>
          <p:cNvPr id="26" name="Rectangle: Rounded Corners 25">
            <a:extLst>
              <a:ext uri="{FF2B5EF4-FFF2-40B4-BE49-F238E27FC236}">
                <a16:creationId xmlns:a16="http://schemas.microsoft.com/office/drawing/2014/main" id="{FA53388C-A139-3E81-75C9-E13FB8E15C1C}"/>
              </a:ext>
            </a:extLst>
          </p:cNvPr>
          <p:cNvSpPr>
            <a:spLocks/>
          </p:cNvSpPr>
          <p:nvPr/>
        </p:nvSpPr>
        <p:spPr bwMode="auto">
          <a:xfrm>
            <a:off x="6327586" y="3567881"/>
            <a:ext cx="4932820" cy="776901"/>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solidFill>
                  <a:srgbClr val="FFFFFF"/>
                </a:solidFill>
                <a:effectLst/>
                <a:uLnTx/>
                <a:uFillTx/>
                <a:latin typeface="Segoe UI Semibold"/>
                <a:ea typeface="+mn-ea"/>
                <a:cs typeface="+mn-cs"/>
              </a:rPr>
              <a:t>Microsoft Purview</a:t>
            </a:r>
          </a:p>
        </p:txBody>
      </p:sp>
      <p:sp>
        <p:nvSpPr>
          <p:cNvPr id="27" name="TextBox 26">
            <a:extLst>
              <a:ext uri="{FF2B5EF4-FFF2-40B4-BE49-F238E27FC236}">
                <a16:creationId xmlns:a16="http://schemas.microsoft.com/office/drawing/2014/main" id="{EEF063DD-EA8B-7AA8-7967-DAD6EF19ED94}"/>
              </a:ext>
            </a:extLst>
          </p:cNvPr>
          <p:cNvSpPr txBox="1"/>
          <p:nvPr/>
        </p:nvSpPr>
        <p:spPr>
          <a:xfrm>
            <a:off x="6770071" y="4556068"/>
            <a:ext cx="4047850" cy="492443"/>
          </a:xfrm>
          <a:prstGeom prst="rect">
            <a:avLst/>
          </a:prstGeom>
          <a:noFill/>
        </p:spPr>
        <p:txBody>
          <a:bodyPr wrap="square" lIns="0" tIns="0" rIns="0" bIns="0" rtlCol="0">
            <a:spAutoFit/>
          </a:bodyPr>
          <a:lstStyle>
            <a:defPPr>
              <a:defRPr lang="en-US"/>
            </a:defPPr>
            <a:lvl2pPr marL="0" marR="0" lvl="1" algn="ctr" fontAlgn="auto">
              <a:lnSpc>
                <a:spcPct val="100000"/>
              </a:lnSpc>
              <a:spcBef>
                <a:spcPts val="0"/>
              </a:spcBef>
              <a:spcAft>
                <a:spcPts val="800"/>
              </a:spcAft>
              <a:buClrTx/>
              <a:buSzTx/>
              <a:buFontTx/>
              <a:buNone/>
              <a:tabLst/>
              <a:defRPr kumimoji="0" sz="2000" b="0" i="0" u="none" strike="noStrike" cap="none" spc="0" normalizeH="0" baseline="0">
                <a:ln>
                  <a:noFill/>
                </a:ln>
                <a:solidFill>
                  <a:srgbClr val="000000"/>
                </a:solidFill>
                <a:effectLst/>
                <a:uLnTx/>
                <a:uFillTx/>
              </a:defRPr>
            </a:lvl2pPr>
          </a:lstStyle>
          <a:p>
            <a:pPr marL="0" marR="0" lvl="1" indent="0" algn="ctr" defTabSz="914367"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lt"/>
                <a:cs typeface="Segoe UI"/>
              </a:rPr>
              <a:t>Provides security, compliance, and governance across data and files</a:t>
            </a:r>
          </a:p>
        </p:txBody>
      </p:sp>
    </p:spTree>
    <p:extLst>
      <p:ext uri="{BB962C8B-B14F-4D97-AF65-F5344CB8AC3E}">
        <p14:creationId xmlns:p14="http://schemas.microsoft.com/office/powerpoint/2010/main" val="184703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523DE-2984-BA4F-151A-118E858D8C99}"/>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DF4C1B5B-65FB-47DB-CD50-D2A625A8EAC4}"/>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DEF50661-A86A-F74E-07C6-7DEDB5ECBBD4}"/>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FC5ED725-21B3-7D58-45DA-806C5A16A234}"/>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539830DA-8307-5C7C-31D5-25C87376B30C}"/>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15083A32-D8ED-FB58-750E-A893878F9269}"/>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C7D9825E-C76E-A396-B425-02C36B001261}"/>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48ABB70-BB2C-0E36-6348-5A5FAF7CC8FF}"/>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D1DA2220-3D34-17A8-FD40-A11110D9F52F}"/>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Agenda</a:t>
            </a:r>
            <a:r>
              <a:rPr kumimoji="0" lang="en-US" sz="3200" b="0" i="0" u="none" strike="noStrike" kern="1200" cap="none" spc="-50" normalizeH="0" baseline="0" noProof="0" dirty="0">
                <a:ln w="3175">
                  <a:noFill/>
                </a:ln>
                <a:solidFill>
                  <a:schemeClr val="bg1"/>
                </a:solidFill>
                <a:effectLst/>
                <a:uLnTx/>
                <a:uFillTx/>
                <a:latin typeface="+mj-lt"/>
                <a:ea typeface="+mn-ea"/>
                <a:cs typeface="Segoe UI" pitchFamily="34" charset="0"/>
              </a:rPr>
              <a:t>  </a:t>
            </a:r>
          </a:p>
        </p:txBody>
      </p:sp>
      <p:sp>
        <p:nvSpPr>
          <p:cNvPr id="36" name="Freeform: Shape 35" descr="Icon of a person in front of a screen">
            <a:extLst>
              <a:ext uri="{FF2B5EF4-FFF2-40B4-BE49-F238E27FC236}">
                <a16:creationId xmlns:a16="http://schemas.microsoft.com/office/drawing/2014/main" id="{583EEF2A-38DA-14DE-918F-D5F350CBDDDE}"/>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501B1F34-0AF4-7C1A-C936-5A88F0D7569D}"/>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B63BD208-EE78-D77C-A47C-DFA633447074}"/>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E6083F12-1E68-8178-8918-1E45B8959305}"/>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E81CB20F-A9A8-903C-6BF1-FEB9FBD734C2}"/>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6D9C7562-AA35-6EAA-B3E1-A43E58634CD1}"/>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CFC36094-B171-09B8-60A5-0774EEC9211A}"/>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8380528D-9437-1F47-D31F-F7082E20D0A7}"/>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90170AB3-9E20-84D0-0F13-9E75C7DEADED}"/>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D29CA0F5-ACDB-EF1E-6734-1D16134AF4CC}"/>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87438AED-1B47-2C51-CEB5-FDF55EE8B1EB}"/>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5A252321-4B7B-6F12-A9F3-698CDFD0C425}"/>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pic>
        <p:nvPicPr>
          <p:cNvPr id="12" name="Picture 11">
            <a:extLst>
              <a:ext uri="{FF2B5EF4-FFF2-40B4-BE49-F238E27FC236}">
                <a16:creationId xmlns:a16="http://schemas.microsoft.com/office/drawing/2014/main" id="{4F44DAB1-EA09-148A-B81A-D327A6BB006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948477"/>
            <a:ext cx="6816901" cy="900482"/>
          </a:xfrm>
          <a:prstGeom prst="rect">
            <a:avLst/>
          </a:prstGeom>
        </p:spPr>
      </p:pic>
      <p:pic>
        <p:nvPicPr>
          <p:cNvPr id="14" name="Picture 13">
            <a:extLst>
              <a:ext uri="{FF2B5EF4-FFF2-40B4-BE49-F238E27FC236}">
                <a16:creationId xmlns:a16="http://schemas.microsoft.com/office/drawing/2014/main" id="{636D8F8E-4FD5-7ECE-7A65-C7A80D6690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2907694"/>
            <a:ext cx="6816901" cy="2829816"/>
          </a:xfrm>
          <a:prstGeom prst="rect">
            <a:avLst/>
          </a:prstGeom>
        </p:spPr>
      </p:pic>
    </p:spTree>
    <p:extLst>
      <p:ext uri="{BB962C8B-B14F-4D97-AF65-F5344CB8AC3E}">
        <p14:creationId xmlns:p14="http://schemas.microsoft.com/office/powerpoint/2010/main" val="2391685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ED66798-1E6F-D795-7E83-D6C1BA169420}"/>
              </a:ext>
              <a:ext uri="{C183D7F6-B498-43B3-948B-1728B52AA6E4}">
                <adec:decorative xmlns:adec="http://schemas.microsoft.com/office/drawing/2017/decorative" val="1"/>
              </a:ext>
            </a:extLst>
          </p:cNvPr>
          <p:cNvSpPr>
            <a:spLocks/>
          </p:cNvSpPr>
          <p:nvPr/>
        </p:nvSpPr>
        <p:spPr bwMode="auto">
          <a:xfrm>
            <a:off x="1508481" y="1479603"/>
            <a:ext cx="10084855" cy="4246662"/>
          </a:xfrm>
          <a:prstGeom prst="roundRect">
            <a:avLst>
              <a:gd name="adj" fmla="val 35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lIns="182880" tIns="182880" rIns="182880" bIns="182880" rtlCol="0" anchor="t">
            <a:noAutofit/>
          </a:bodyPr>
          <a:lstStyle/>
          <a:p>
            <a:pPr marL="0" marR="0" lvl="0" indent="0" algn="l" defTabSz="932742" rtl="0" eaLnBrk="1" fontAlgn="auto" latinLnBrk="0" hangingPunct="1">
              <a:lnSpc>
                <a:spcPct val="100000"/>
              </a:lnSpc>
              <a:spcBef>
                <a:spcPts val="24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endParaRPr>
          </a:p>
        </p:txBody>
      </p:sp>
      <p:cxnSp>
        <p:nvCxnSpPr>
          <p:cNvPr id="69" name="Straight Connector 68">
            <a:extLst>
              <a:ext uri="{FF2B5EF4-FFF2-40B4-BE49-F238E27FC236}">
                <a16:creationId xmlns:a16="http://schemas.microsoft.com/office/drawing/2014/main" id="{5AB9E3A4-0075-B2F0-6EFD-51B25606CF70}"/>
              </a:ext>
              <a:ext uri="{C183D7F6-B498-43B3-948B-1728B52AA6E4}">
                <adec:decorative xmlns:adec="http://schemas.microsoft.com/office/drawing/2017/decorative" val="1"/>
              </a:ext>
            </a:extLst>
          </p:cNvPr>
          <p:cNvCxnSpPr>
            <a:cxnSpLocks/>
          </p:cNvCxnSpPr>
          <p:nvPr/>
        </p:nvCxnSpPr>
        <p:spPr>
          <a:xfrm>
            <a:off x="4887492" y="2201512"/>
            <a:ext cx="0" cy="3429000"/>
          </a:xfrm>
          <a:prstGeom prst="line">
            <a:avLst/>
          </a:prstGeom>
          <a:ln w="3175" cap="rnd">
            <a:solidFill>
              <a:schemeClr val="bg1">
                <a:lumMod val="8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2432ABE-4733-EFB6-778A-175F57408AA6}"/>
              </a:ext>
              <a:ext uri="{C183D7F6-B498-43B3-948B-1728B52AA6E4}">
                <adec:decorative xmlns:adec="http://schemas.microsoft.com/office/drawing/2017/decorative" val="1"/>
              </a:ext>
            </a:extLst>
          </p:cNvPr>
          <p:cNvCxnSpPr>
            <a:cxnSpLocks/>
          </p:cNvCxnSpPr>
          <p:nvPr/>
        </p:nvCxnSpPr>
        <p:spPr>
          <a:xfrm>
            <a:off x="8214327" y="2201512"/>
            <a:ext cx="0" cy="3429000"/>
          </a:xfrm>
          <a:prstGeom prst="line">
            <a:avLst/>
          </a:prstGeom>
          <a:ln w="3175" cap="rnd">
            <a:solidFill>
              <a:schemeClr val="bg1">
                <a:lumMod val="8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6" name="!!line2">
            <a:extLst>
              <a:ext uri="{FF2B5EF4-FFF2-40B4-BE49-F238E27FC236}">
                <a16:creationId xmlns:a16="http://schemas.microsoft.com/office/drawing/2014/main" id="{91E77596-4E11-E0F8-2FA7-083591FD4BB2}"/>
              </a:ext>
              <a:ext uri="{C183D7F6-B498-43B3-948B-1728B52AA6E4}">
                <adec:decorative xmlns:adec="http://schemas.microsoft.com/office/drawing/2017/decorative" val="1"/>
              </a:ext>
            </a:extLst>
          </p:cNvPr>
          <p:cNvCxnSpPr>
            <a:cxnSpLocks/>
          </p:cNvCxnSpPr>
          <p:nvPr/>
        </p:nvCxnSpPr>
        <p:spPr>
          <a:xfrm>
            <a:off x="1606379" y="4008878"/>
            <a:ext cx="9889062" cy="0"/>
          </a:xfrm>
          <a:prstGeom prst="line">
            <a:avLst/>
          </a:prstGeom>
          <a:ln w="3175" cap="rnd">
            <a:solidFill>
              <a:schemeClr val="bg1">
                <a:lumMod val="85000"/>
              </a:schemeClr>
            </a:solidFill>
            <a:prstDash val="dash"/>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83" name="!!line2">
            <a:extLst>
              <a:ext uri="{FF2B5EF4-FFF2-40B4-BE49-F238E27FC236}">
                <a16:creationId xmlns:a16="http://schemas.microsoft.com/office/drawing/2014/main" id="{682FC1C0-95FF-1D85-2E89-A6D6702F2C71}"/>
              </a:ext>
              <a:ext uri="{C183D7F6-B498-43B3-948B-1728B52AA6E4}">
                <adec:decorative xmlns:adec="http://schemas.microsoft.com/office/drawing/2017/decorative" val="1"/>
              </a:ext>
            </a:extLst>
          </p:cNvPr>
          <p:cNvCxnSpPr>
            <a:cxnSpLocks/>
          </p:cNvCxnSpPr>
          <p:nvPr/>
        </p:nvCxnSpPr>
        <p:spPr>
          <a:xfrm>
            <a:off x="1606379" y="4963824"/>
            <a:ext cx="9889062" cy="0"/>
          </a:xfrm>
          <a:prstGeom prst="line">
            <a:avLst/>
          </a:prstGeom>
          <a:ln w="3175" cap="rnd">
            <a:solidFill>
              <a:schemeClr val="bg1">
                <a:lumMod val="85000"/>
              </a:schemeClr>
            </a:solidFill>
            <a:prstDash val="dash"/>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3091DB55-EB1A-F2C0-680A-B677E53A5F43}"/>
              </a:ext>
            </a:extLst>
          </p:cNvPr>
          <p:cNvSpPr>
            <a:spLocks noGrp="1"/>
          </p:cNvSpPr>
          <p:nvPr>
            <p:ph type="title"/>
          </p:nvPr>
        </p:nvSpPr>
        <p:spPr>
          <a:xfrm>
            <a:off x="574816" y="510988"/>
            <a:ext cx="11018520" cy="369332"/>
          </a:xfrm>
        </p:spPr>
        <p:txBody>
          <a:bodyPr>
            <a:normAutofit fontScale="90000"/>
          </a:bodyPr>
          <a:lstStyle/>
          <a:p>
            <a:r>
              <a:rPr lang="en-US" sz="2400" noProof="0"/>
              <a:t>Address </a:t>
            </a:r>
            <a:r>
              <a:rPr lang="en-US" sz="2400"/>
              <a:t>internal user oversharing</a:t>
            </a:r>
            <a:r>
              <a:rPr lang="en-US" sz="2400" noProof="0"/>
              <a:t> concerns for </a:t>
            </a:r>
            <a:r>
              <a:rPr lang="en-US" sz="2400"/>
              <a:t>M365 Copilot deployment</a:t>
            </a:r>
          </a:p>
        </p:txBody>
      </p:sp>
      <p:sp>
        <p:nvSpPr>
          <p:cNvPr id="57" name="TextBox 56">
            <a:extLst>
              <a:ext uri="{FF2B5EF4-FFF2-40B4-BE49-F238E27FC236}">
                <a16:creationId xmlns:a16="http://schemas.microsoft.com/office/drawing/2014/main" id="{9960CB4B-2821-7C85-64C9-D0161D31A8B6}"/>
              </a:ext>
              <a:ext uri="{C183D7F6-B498-43B3-948B-1728B52AA6E4}">
                <adec:decorative xmlns:adec="http://schemas.microsoft.com/office/drawing/2017/decorative" val="1"/>
              </a:ext>
            </a:extLst>
          </p:cNvPr>
          <p:cNvSpPr txBox="1">
            <a:spLocks/>
          </p:cNvSpPr>
          <p:nvPr/>
        </p:nvSpPr>
        <p:spPr>
          <a:xfrm>
            <a:off x="1606379" y="1563612"/>
            <a:ext cx="3235394" cy="530860"/>
          </a:xfrm>
          <a:prstGeom prst="roundRect">
            <a:avLst>
              <a:gd name="adj" fmla="val 19600"/>
            </a:avLst>
          </a:prstGeom>
          <a:solidFill>
            <a:schemeClr val="bg1">
              <a:lumMod val="95000"/>
            </a:schemeClr>
          </a:solidFill>
          <a:effectLst/>
        </p:spPr>
        <p:txBody>
          <a:bodyPr wrap="square" lIns="91440" tIns="45720" rIns="91440" bIns="45720" rtlCol="0" anchor="ctr" anchorCtr="0">
            <a:noAutofit/>
          </a:bodyPr>
          <a:lstStyle>
            <a:defPPr>
              <a:defRPr lang="en-US"/>
            </a:defPPr>
            <a:lvl1pPr algn="ctr" fontAlgn="base">
              <a:spcBef>
                <a:spcPct val="0"/>
              </a:spcBef>
              <a:spcAft>
                <a:spcPts val="1200"/>
              </a:spcAft>
              <a:buSzPct val="90000"/>
              <a:defRPr sz="1600" b="1">
                <a:solidFill>
                  <a:schemeClr val="bg1"/>
                </a:solidFill>
                <a:latin typeface="+mj-lt"/>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Pilot (optional)</a:t>
            </a:r>
          </a:p>
        </p:txBody>
      </p:sp>
      <p:sp>
        <p:nvSpPr>
          <p:cNvPr id="63" name="Graphic 39">
            <a:extLst>
              <a:ext uri="{FF2B5EF4-FFF2-40B4-BE49-F238E27FC236}">
                <a16:creationId xmlns:a16="http://schemas.microsoft.com/office/drawing/2014/main" id="{380336EA-F14D-C018-54E3-C90AFBDB2121}"/>
              </a:ext>
              <a:ext uri="{C183D7F6-B498-43B3-948B-1728B52AA6E4}">
                <adec:decorative xmlns:adec="http://schemas.microsoft.com/office/drawing/2017/decorative" val="1"/>
              </a:ext>
            </a:extLst>
          </p:cNvPr>
          <p:cNvSpPr>
            <a:spLocks/>
          </p:cNvSpPr>
          <p:nvPr/>
        </p:nvSpPr>
        <p:spPr>
          <a:xfrm>
            <a:off x="4435392" y="1683879"/>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rgbClr val="0078D4"/>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8" name="TextBox 57">
            <a:extLst>
              <a:ext uri="{FF2B5EF4-FFF2-40B4-BE49-F238E27FC236}">
                <a16:creationId xmlns:a16="http://schemas.microsoft.com/office/drawing/2014/main" id="{BB28A48D-A9C1-AE56-6458-68C9122E190F}"/>
              </a:ext>
              <a:ext uri="{C183D7F6-B498-43B3-948B-1728B52AA6E4}">
                <adec:decorative xmlns:adec="http://schemas.microsoft.com/office/drawing/2017/decorative" val="1"/>
              </a:ext>
            </a:extLst>
          </p:cNvPr>
          <p:cNvSpPr txBox="1">
            <a:spLocks/>
          </p:cNvSpPr>
          <p:nvPr/>
        </p:nvSpPr>
        <p:spPr>
          <a:xfrm>
            <a:off x="4933212" y="1563612"/>
            <a:ext cx="3235394" cy="530860"/>
          </a:xfrm>
          <a:prstGeom prst="roundRect">
            <a:avLst>
              <a:gd name="adj" fmla="val 19600"/>
            </a:avLst>
          </a:prstGeom>
          <a:solidFill>
            <a:schemeClr val="bg1">
              <a:lumMod val="95000"/>
            </a:schemeClr>
          </a:solidFill>
          <a:effectLst/>
        </p:spPr>
        <p:txBody>
          <a:bodyPr wrap="square" lIns="91440" tIns="45720" rIns="91440" bIns="45720" rtlCol="0" anchor="ctr" anchorCtr="0">
            <a:noAutofit/>
          </a:bodyPr>
          <a:lstStyle>
            <a:defPPr>
              <a:defRPr lang="en-US"/>
            </a:defPPr>
            <a:lvl1pPr algn="ctr" fontAlgn="base">
              <a:spcBef>
                <a:spcPct val="0"/>
              </a:spcBef>
              <a:spcAft>
                <a:spcPts val="1200"/>
              </a:spcAft>
              <a:buSzPct val="90000"/>
              <a:defRPr sz="1600" b="1">
                <a:solidFill>
                  <a:schemeClr val="bg1"/>
                </a:solidFill>
                <a:latin typeface="+mj-lt"/>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Deploy (at scale)</a:t>
            </a:r>
          </a:p>
        </p:txBody>
      </p:sp>
      <p:sp>
        <p:nvSpPr>
          <p:cNvPr id="64" name="Graphic 39">
            <a:extLst>
              <a:ext uri="{FF2B5EF4-FFF2-40B4-BE49-F238E27FC236}">
                <a16:creationId xmlns:a16="http://schemas.microsoft.com/office/drawing/2014/main" id="{5080895F-F9C5-5FB7-A8FC-2A373C827910}"/>
              </a:ext>
              <a:ext uri="{C183D7F6-B498-43B3-948B-1728B52AA6E4}">
                <adec:decorative xmlns:adec="http://schemas.microsoft.com/office/drawing/2017/decorative" val="1"/>
              </a:ext>
            </a:extLst>
          </p:cNvPr>
          <p:cNvSpPr>
            <a:spLocks/>
          </p:cNvSpPr>
          <p:nvPr/>
        </p:nvSpPr>
        <p:spPr>
          <a:xfrm>
            <a:off x="7762226" y="1683879"/>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rgbClr val="49C5B1"/>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9" name="TextBox 58">
            <a:extLst>
              <a:ext uri="{FF2B5EF4-FFF2-40B4-BE49-F238E27FC236}">
                <a16:creationId xmlns:a16="http://schemas.microsoft.com/office/drawing/2014/main" id="{BB667F55-AB29-B740-1E9B-A42E6A51AAEB}"/>
              </a:ext>
              <a:ext uri="{C183D7F6-B498-43B3-948B-1728B52AA6E4}">
                <adec:decorative xmlns:adec="http://schemas.microsoft.com/office/drawing/2017/decorative" val="1"/>
              </a:ext>
            </a:extLst>
          </p:cNvPr>
          <p:cNvSpPr txBox="1">
            <a:spLocks/>
          </p:cNvSpPr>
          <p:nvPr/>
        </p:nvSpPr>
        <p:spPr>
          <a:xfrm>
            <a:off x="8260047" y="1563612"/>
            <a:ext cx="3235394" cy="530860"/>
          </a:xfrm>
          <a:prstGeom prst="roundRect">
            <a:avLst>
              <a:gd name="adj" fmla="val 19600"/>
            </a:avLst>
          </a:prstGeom>
          <a:solidFill>
            <a:schemeClr val="bg1">
              <a:lumMod val="95000"/>
            </a:schemeClr>
          </a:solidFill>
          <a:effectLst/>
        </p:spPr>
        <p:txBody>
          <a:bodyPr wrap="square" lIns="91440" tIns="45720" rIns="91440" bIns="45720" rtlCol="0" anchor="ctr" anchorCtr="0">
            <a:noAutofit/>
          </a:bodyPr>
          <a:lstStyle>
            <a:defPPr>
              <a:defRPr lang="en-US"/>
            </a:defPPr>
            <a:lvl1pPr algn="ctr" fontAlgn="base">
              <a:spcBef>
                <a:spcPct val="0"/>
              </a:spcBef>
              <a:spcAft>
                <a:spcPts val="1200"/>
              </a:spcAft>
              <a:buSzPct val="90000"/>
              <a:defRPr sz="1600" b="1">
                <a:solidFill>
                  <a:schemeClr val="bg1"/>
                </a:solidFill>
                <a:latin typeface="+mj-lt"/>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Operate</a:t>
            </a:r>
          </a:p>
        </p:txBody>
      </p:sp>
      <p:sp>
        <p:nvSpPr>
          <p:cNvPr id="67" name="Graphic 39">
            <a:extLst>
              <a:ext uri="{FF2B5EF4-FFF2-40B4-BE49-F238E27FC236}">
                <a16:creationId xmlns:a16="http://schemas.microsoft.com/office/drawing/2014/main" id="{2CF83553-B6F0-1A16-23CD-9F5A4EE25BC7}"/>
              </a:ext>
              <a:ext uri="{C183D7F6-B498-43B3-948B-1728B52AA6E4}">
                <adec:decorative xmlns:adec="http://schemas.microsoft.com/office/drawing/2017/decorative" val="1"/>
              </a:ext>
            </a:extLst>
          </p:cNvPr>
          <p:cNvSpPr>
            <a:spLocks/>
          </p:cNvSpPr>
          <p:nvPr/>
        </p:nvSpPr>
        <p:spPr>
          <a:xfrm>
            <a:off x="11089060" y="1683879"/>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chemeClr val="accent2">
              <a:lumMod val="75000"/>
            </a:schemeClr>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Top Corners Rounded 10">
            <a:extLst>
              <a:ext uri="{FF2B5EF4-FFF2-40B4-BE49-F238E27FC236}">
                <a16:creationId xmlns:a16="http://schemas.microsoft.com/office/drawing/2014/main" id="{8B490448-F0B5-3327-81FF-06EB739A332D}"/>
              </a:ext>
              <a:ext uri="{C183D7F6-B498-43B3-948B-1728B52AA6E4}">
                <adec:decorative xmlns:adec="http://schemas.microsoft.com/office/drawing/2017/decorative" val="1"/>
              </a:ext>
            </a:extLst>
          </p:cNvPr>
          <p:cNvSpPr/>
          <p:nvPr/>
        </p:nvSpPr>
        <p:spPr bwMode="auto">
          <a:xfrm rot="16200000">
            <a:off x="174490" y="2595278"/>
            <a:ext cx="1734216" cy="946680"/>
          </a:xfrm>
          <a:prstGeom prst="round2SameRect">
            <a:avLst>
              <a:gd name="adj1" fmla="val 8800"/>
              <a:gd name="adj2" fmla="val 0"/>
            </a:avLst>
          </a:prstGeom>
          <a:solidFill>
            <a:schemeClr val="accent1">
              <a:lumMod val="20000"/>
              <a:lumOff val="80000"/>
              <a:alpha val="2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a:ea typeface="+mn-ea"/>
                <a:cs typeface="+mn-cs"/>
              </a:rPr>
              <a:t>Activities</a:t>
            </a:r>
          </a:p>
        </p:txBody>
      </p:sp>
      <p:sp>
        <p:nvSpPr>
          <p:cNvPr id="2" name="TextBox 1">
            <a:extLst>
              <a:ext uri="{FF2B5EF4-FFF2-40B4-BE49-F238E27FC236}">
                <a16:creationId xmlns:a16="http://schemas.microsoft.com/office/drawing/2014/main" id="{59C3CCE1-CB90-D573-7867-1B2EC6723442}"/>
              </a:ext>
              <a:ext uri="{C183D7F6-B498-43B3-948B-1728B52AA6E4}">
                <adec:decorative xmlns:adec="http://schemas.microsoft.com/office/drawing/2017/decorative" val="1"/>
              </a:ext>
            </a:extLst>
          </p:cNvPr>
          <p:cNvSpPr txBox="1"/>
          <p:nvPr/>
        </p:nvSpPr>
        <p:spPr>
          <a:xfrm>
            <a:off x="1685856" y="2201512"/>
            <a:ext cx="3076440" cy="15234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168275" indent="-168275">
              <a:buFont typeface="Arial" panose="020B0604020202020204" pitchFamily="34" charset="0"/>
              <a:buChar char="•"/>
              <a:defRPr sz="1400">
                <a:cs typeface="Segoe UI"/>
              </a:defRPr>
            </a:lvl1pPr>
          </a:lstStyle>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Identify most popular sites &amp; assess oversharing</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Grant Copilot access to popular, low risk sites</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Turn on proactive audit and protection</a:t>
            </a:r>
          </a:p>
        </p:txBody>
      </p:sp>
      <p:sp>
        <p:nvSpPr>
          <p:cNvPr id="3" name="TextBox 2">
            <a:extLst>
              <a:ext uri="{FF2B5EF4-FFF2-40B4-BE49-F238E27FC236}">
                <a16:creationId xmlns:a16="http://schemas.microsoft.com/office/drawing/2014/main" id="{978FAE5F-D4B1-B064-B9EB-44770EC1AE64}"/>
              </a:ext>
              <a:ext uri="{C183D7F6-B498-43B3-948B-1728B52AA6E4}">
                <adec:decorative xmlns:adec="http://schemas.microsoft.com/office/drawing/2017/decorative" val="1"/>
              </a:ext>
            </a:extLst>
          </p:cNvPr>
          <p:cNvSpPr txBox="1"/>
          <p:nvPr/>
        </p:nvSpPr>
        <p:spPr>
          <a:xfrm>
            <a:off x="5012689" y="2201512"/>
            <a:ext cx="3076440" cy="10669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168275" indent="-168275">
              <a:buFont typeface="Arial" panose="020B0604020202020204" pitchFamily="34" charset="0"/>
              <a:buChar char="•"/>
              <a:defRPr sz="1400">
                <a:cs typeface="Segoe UI"/>
              </a:defRPr>
            </a:lvl1pPr>
          </a:lstStyle>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Discover oversharing risks</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Restrict sensitive info from Copilot access and/or processing</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Increase site privacy</a:t>
            </a:r>
            <a:endParaRPr kumimoji="0" lang="en-US" sz="1400" b="0" i="0" u="none" strike="noStrike" kern="1200" cap="none" spc="0" normalizeH="0" baseline="0" noProof="0" err="1">
              <a:ln>
                <a:noFill/>
              </a:ln>
              <a:solidFill>
                <a:srgbClr val="000000"/>
              </a:solidFill>
              <a:effectLst/>
              <a:uLnTx/>
              <a:uFillTx/>
              <a:latin typeface="Segoe UI"/>
              <a:ea typeface="+mn-ea"/>
              <a:cs typeface="Segoe UI"/>
            </a:endParaRPr>
          </a:p>
        </p:txBody>
      </p:sp>
      <p:sp>
        <p:nvSpPr>
          <p:cNvPr id="5" name="TextBox 4">
            <a:extLst>
              <a:ext uri="{FF2B5EF4-FFF2-40B4-BE49-F238E27FC236}">
                <a16:creationId xmlns:a16="http://schemas.microsoft.com/office/drawing/2014/main" id="{1D997D63-5AA9-F374-5953-51C74451DFC8}"/>
              </a:ext>
              <a:ext uri="{C183D7F6-B498-43B3-948B-1728B52AA6E4}">
                <adec:decorative xmlns:adec="http://schemas.microsoft.com/office/drawing/2017/decorative" val="1"/>
              </a:ext>
            </a:extLst>
          </p:cNvPr>
          <p:cNvSpPr txBox="1"/>
          <p:nvPr/>
        </p:nvSpPr>
        <p:spPr>
          <a:xfrm>
            <a:off x="8339524" y="2201512"/>
            <a:ext cx="3076440" cy="10669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168275" indent="-168275">
              <a:buFont typeface="Arial" panose="020B0604020202020204" pitchFamily="34" charset="0"/>
              <a:buChar char="•"/>
              <a:defRPr sz="1400">
                <a:cs typeface="Segoe UI"/>
              </a:defRPr>
            </a:lvl1pPr>
          </a:lstStyle>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Further reduce risk and simplify oversight</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Further secure sensitive data</a:t>
            </a:r>
          </a:p>
          <a:p>
            <a:pPr marL="168275" marR="0" lvl="0" indent="-16827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Improve Copilot responses</a:t>
            </a:r>
          </a:p>
        </p:txBody>
      </p:sp>
      <p:grpSp>
        <p:nvGrpSpPr>
          <p:cNvPr id="15" name="Group 14">
            <a:extLst>
              <a:ext uri="{FF2B5EF4-FFF2-40B4-BE49-F238E27FC236}">
                <a16:creationId xmlns:a16="http://schemas.microsoft.com/office/drawing/2014/main" id="{E61BFD5E-5AB4-25AC-607C-BF733A5F85E5}"/>
              </a:ext>
              <a:ext uri="{C183D7F6-B498-43B3-948B-1728B52AA6E4}">
                <adec:decorative xmlns:adec="http://schemas.microsoft.com/office/drawing/2017/decorative" val="1"/>
              </a:ext>
            </a:extLst>
          </p:cNvPr>
          <p:cNvGrpSpPr/>
          <p:nvPr/>
        </p:nvGrpSpPr>
        <p:grpSpPr>
          <a:xfrm>
            <a:off x="3115430" y="3900232"/>
            <a:ext cx="217292" cy="217292"/>
            <a:chOff x="-220615" y="4760304"/>
            <a:chExt cx="217292" cy="217292"/>
          </a:xfrm>
        </p:grpSpPr>
        <p:sp>
          <p:nvSpPr>
            <p:cNvPr id="13" name="Oval 12">
              <a:extLst>
                <a:ext uri="{FF2B5EF4-FFF2-40B4-BE49-F238E27FC236}">
                  <a16:creationId xmlns:a16="http://schemas.microsoft.com/office/drawing/2014/main" id="{25DEEED7-55B6-86A5-EA23-F0D31AAF068E}"/>
                </a:ext>
                <a:ext uri="{C183D7F6-B498-43B3-948B-1728B52AA6E4}">
                  <adec:decorative xmlns:adec="http://schemas.microsoft.com/office/drawing/2017/decorative" val="1"/>
                </a:ext>
              </a:extLst>
            </p:cNvPr>
            <p:cNvSpPr/>
            <p:nvPr/>
          </p:nvSpPr>
          <p:spPr bwMode="auto">
            <a:xfrm rot="5400000">
              <a:off x="-220615" y="4760304"/>
              <a:ext cx="217292" cy="217292"/>
            </a:xfrm>
            <a:prstGeom prst="ellipse">
              <a:avLst/>
            </a:prstGeom>
            <a:solidFill>
              <a:srgbClr val="0078D4"/>
            </a:soli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1" i="0" u="none" strike="noStrike" kern="1200" cap="none" spc="0" normalizeH="0" baseline="0" noProof="0" err="1">
                <a:ln>
                  <a:noFill/>
                </a:ln>
                <a:solidFill>
                  <a:srgbClr val="000000"/>
                </a:solidFill>
                <a:effectLst/>
                <a:uLnTx/>
                <a:uFillTx/>
                <a:latin typeface="Segoe UI Semibold"/>
                <a:ea typeface="+mn-ea"/>
                <a:cs typeface="+mn-cs"/>
              </a:endParaRPr>
            </a:p>
          </p:txBody>
        </p:sp>
        <p:pic>
          <p:nvPicPr>
            <p:cNvPr id="14" name="Graphic 13" descr="Arrow pointing right">
              <a:extLst>
                <a:ext uri="{FF2B5EF4-FFF2-40B4-BE49-F238E27FC236}">
                  <a16:creationId xmlns:a16="http://schemas.microsoft.com/office/drawing/2014/main" id="{AE3179A0-224F-6CE1-159D-27502155B317}"/>
                </a:ext>
                <a:ext uri="{C183D7F6-B498-43B3-948B-1728B52AA6E4}">
                  <adec:decorative xmlns:adec="http://schemas.microsoft.com/office/drawing/2017/decorative" val="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218235" y="4762684"/>
              <a:ext cx="212532" cy="212532"/>
            </a:xfrm>
            <a:prstGeom prst="rect">
              <a:avLst/>
            </a:prstGeom>
          </p:spPr>
        </p:pic>
      </p:grpSp>
      <p:grpSp>
        <p:nvGrpSpPr>
          <p:cNvPr id="78" name="Group 77">
            <a:extLst>
              <a:ext uri="{FF2B5EF4-FFF2-40B4-BE49-F238E27FC236}">
                <a16:creationId xmlns:a16="http://schemas.microsoft.com/office/drawing/2014/main" id="{1F7C4E2A-2D54-D9CF-341F-D96051DA11C3}"/>
              </a:ext>
              <a:ext uri="{C183D7F6-B498-43B3-948B-1728B52AA6E4}">
                <adec:decorative xmlns:adec="http://schemas.microsoft.com/office/drawing/2017/decorative" val="1"/>
              </a:ext>
            </a:extLst>
          </p:cNvPr>
          <p:cNvGrpSpPr/>
          <p:nvPr/>
        </p:nvGrpSpPr>
        <p:grpSpPr>
          <a:xfrm>
            <a:off x="6442263" y="3900232"/>
            <a:ext cx="217292" cy="217292"/>
            <a:chOff x="6445507" y="4106284"/>
            <a:chExt cx="217292" cy="217292"/>
          </a:xfrm>
        </p:grpSpPr>
        <p:sp>
          <p:nvSpPr>
            <p:cNvPr id="73" name="Oval 72">
              <a:extLst>
                <a:ext uri="{FF2B5EF4-FFF2-40B4-BE49-F238E27FC236}">
                  <a16:creationId xmlns:a16="http://schemas.microsoft.com/office/drawing/2014/main" id="{FAABCAF3-D9C6-14CA-8794-BF3A8E60A518}"/>
                </a:ext>
                <a:ext uri="{C183D7F6-B498-43B3-948B-1728B52AA6E4}">
                  <adec:decorative xmlns:adec="http://schemas.microsoft.com/office/drawing/2017/decorative" val="1"/>
                </a:ext>
              </a:extLst>
            </p:cNvPr>
            <p:cNvSpPr/>
            <p:nvPr/>
          </p:nvSpPr>
          <p:spPr bwMode="auto">
            <a:xfrm rot="5400000">
              <a:off x="6445507" y="4106284"/>
              <a:ext cx="217292" cy="217292"/>
            </a:xfrm>
            <a:prstGeom prst="ellipse">
              <a:avLst/>
            </a:prstGeom>
            <a:solidFill>
              <a:srgbClr val="49C5B1"/>
            </a:soli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1" i="0" u="none" strike="noStrike" kern="1200" cap="none" spc="0" normalizeH="0" baseline="0" noProof="0" err="1">
                <a:ln>
                  <a:noFill/>
                </a:ln>
                <a:solidFill>
                  <a:srgbClr val="000000"/>
                </a:solidFill>
                <a:effectLst/>
                <a:uLnTx/>
                <a:uFillTx/>
                <a:latin typeface="Segoe UI Semibold"/>
                <a:ea typeface="+mn-ea"/>
                <a:cs typeface="+mn-cs"/>
              </a:endParaRPr>
            </a:p>
          </p:txBody>
        </p:sp>
        <p:pic>
          <p:nvPicPr>
            <p:cNvPr id="74" name="Graphic 73" descr="Arrow pointing right">
              <a:extLst>
                <a:ext uri="{FF2B5EF4-FFF2-40B4-BE49-F238E27FC236}">
                  <a16:creationId xmlns:a16="http://schemas.microsoft.com/office/drawing/2014/main" id="{FFA4523D-BC9F-997B-C050-3BDF53D69A90}"/>
                </a:ext>
                <a:ext uri="{C183D7F6-B498-43B3-948B-1728B52AA6E4}">
                  <adec:decorative xmlns:adec="http://schemas.microsoft.com/office/drawing/2017/decorative" val="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6447887" y="4108664"/>
              <a:ext cx="212532" cy="212532"/>
            </a:xfrm>
            <a:prstGeom prst="rect">
              <a:avLst/>
            </a:prstGeom>
          </p:spPr>
        </p:pic>
      </p:grpSp>
      <p:grpSp>
        <p:nvGrpSpPr>
          <p:cNvPr id="79" name="Group 78">
            <a:extLst>
              <a:ext uri="{FF2B5EF4-FFF2-40B4-BE49-F238E27FC236}">
                <a16:creationId xmlns:a16="http://schemas.microsoft.com/office/drawing/2014/main" id="{C69D4E8C-DE22-5011-EF4F-D6B19E402AA2}"/>
              </a:ext>
              <a:ext uri="{C183D7F6-B498-43B3-948B-1728B52AA6E4}">
                <adec:decorative xmlns:adec="http://schemas.microsoft.com/office/drawing/2017/decorative" val="1"/>
              </a:ext>
            </a:extLst>
          </p:cNvPr>
          <p:cNvGrpSpPr/>
          <p:nvPr/>
        </p:nvGrpSpPr>
        <p:grpSpPr>
          <a:xfrm>
            <a:off x="9769097" y="3900232"/>
            <a:ext cx="217292" cy="217292"/>
            <a:chOff x="9772341" y="4106284"/>
            <a:chExt cx="217292" cy="217292"/>
          </a:xfrm>
        </p:grpSpPr>
        <p:sp>
          <p:nvSpPr>
            <p:cNvPr id="76" name="Oval 75">
              <a:extLst>
                <a:ext uri="{FF2B5EF4-FFF2-40B4-BE49-F238E27FC236}">
                  <a16:creationId xmlns:a16="http://schemas.microsoft.com/office/drawing/2014/main" id="{811C6BE1-0C59-F40A-E1DD-3F5FAD53187D}"/>
                </a:ext>
                <a:ext uri="{C183D7F6-B498-43B3-948B-1728B52AA6E4}">
                  <adec:decorative xmlns:adec="http://schemas.microsoft.com/office/drawing/2017/decorative" val="1"/>
                </a:ext>
              </a:extLst>
            </p:cNvPr>
            <p:cNvSpPr/>
            <p:nvPr/>
          </p:nvSpPr>
          <p:spPr bwMode="auto">
            <a:xfrm rot="5400000">
              <a:off x="9772341" y="4106284"/>
              <a:ext cx="217292" cy="217292"/>
            </a:xfrm>
            <a:prstGeom prst="ellipse">
              <a:avLst/>
            </a:prstGeom>
            <a:solidFill>
              <a:schemeClr val="accent2">
                <a:lumMod val="75000"/>
              </a:schemeClr>
            </a:soli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1" i="0" u="none" strike="noStrike" kern="1200" cap="none" spc="0" normalizeH="0" baseline="0" noProof="0" err="1">
                <a:ln>
                  <a:noFill/>
                </a:ln>
                <a:solidFill>
                  <a:srgbClr val="000000"/>
                </a:solidFill>
                <a:effectLst/>
                <a:uLnTx/>
                <a:uFillTx/>
                <a:latin typeface="Segoe UI Semibold"/>
                <a:ea typeface="+mn-ea"/>
                <a:cs typeface="+mn-cs"/>
              </a:endParaRPr>
            </a:p>
          </p:txBody>
        </p:sp>
        <p:pic>
          <p:nvPicPr>
            <p:cNvPr id="77" name="Graphic 76" descr="Arrow pointing right">
              <a:extLst>
                <a:ext uri="{FF2B5EF4-FFF2-40B4-BE49-F238E27FC236}">
                  <a16:creationId xmlns:a16="http://schemas.microsoft.com/office/drawing/2014/main" id="{ACB5FAC6-178F-A103-09C7-B2983CE20578}"/>
                </a:ext>
                <a:ext uri="{C183D7F6-B498-43B3-948B-1728B52AA6E4}">
                  <adec:decorative xmlns:adec="http://schemas.microsoft.com/office/drawing/2017/decorative" val="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774721" y="4108664"/>
              <a:ext cx="212532" cy="212532"/>
            </a:xfrm>
            <a:prstGeom prst="rect">
              <a:avLst/>
            </a:prstGeom>
          </p:spPr>
        </p:pic>
      </p:grpSp>
      <p:sp>
        <p:nvSpPr>
          <p:cNvPr id="102" name="Rectangle: Top Corners Rounded 101">
            <a:extLst>
              <a:ext uri="{FF2B5EF4-FFF2-40B4-BE49-F238E27FC236}">
                <a16:creationId xmlns:a16="http://schemas.microsoft.com/office/drawing/2014/main" id="{66693B2C-01B9-5B06-15DC-75CE261A50ED}"/>
              </a:ext>
              <a:ext uri="{C183D7F6-B498-43B3-948B-1728B52AA6E4}">
                <adec:decorative xmlns:adec="http://schemas.microsoft.com/office/drawing/2017/decorative" val="1"/>
              </a:ext>
            </a:extLst>
          </p:cNvPr>
          <p:cNvSpPr/>
          <p:nvPr/>
        </p:nvSpPr>
        <p:spPr bwMode="auto">
          <a:xfrm rot="16200000">
            <a:off x="637274" y="4013012"/>
            <a:ext cx="808642" cy="946678"/>
          </a:xfrm>
          <a:prstGeom prst="round2SameRect">
            <a:avLst>
              <a:gd name="adj1" fmla="val 9800"/>
              <a:gd name="adj2" fmla="val 0"/>
            </a:avLst>
          </a:prstGeom>
          <a:solidFill>
            <a:schemeClr val="accent1">
              <a:lumMod val="20000"/>
              <a:lumOff val="80000"/>
              <a:alpha val="2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a:ea typeface="+mn-ea"/>
                <a:cs typeface="+mn-cs"/>
              </a:rPr>
              <a:t>Outcomes</a:t>
            </a:r>
          </a:p>
        </p:txBody>
      </p:sp>
      <p:sp>
        <p:nvSpPr>
          <p:cNvPr id="80" name="Graphic 39">
            <a:extLst>
              <a:ext uri="{FF2B5EF4-FFF2-40B4-BE49-F238E27FC236}">
                <a16:creationId xmlns:a16="http://schemas.microsoft.com/office/drawing/2014/main" id="{277448FE-AA6F-6E70-24EC-4920BCE29599}"/>
              </a:ext>
              <a:ext uri="{C183D7F6-B498-43B3-948B-1728B52AA6E4}">
                <adec:decorative xmlns:adec="http://schemas.microsoft.com/office/drawing/2017/decorative" val="1"/>
              </a:ext>
            </a:extLst>
          </p:cNvPr>
          <p:cNvSpPr>
            <a:spLocks/>
          </p:cNvSpPr>
          <p:nvPr/>
        </p:nvSpPr>
        <p:spPr>
          <a:xfrm>
            <a:off x="1685856" y="4341188"/>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rgbClr val="0078D4"/>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F84A569B-AC79-014F-93FF-AF85A6CC6A51}"/>
              </a:ext>
              <a:ext uri="{C183D7F6-B498-43B3-948B-1728B52AA6E4}">
                <adec:decorative xmlns:adec="http://schemas.microsoft.com/office/drawing/2017/decorative" val="1"/>
              </a:ext>
            </a:extLst>
          </p:cNvPr>
          <p:cNvSpPr txBox="1">
            <a:spLocks/>
          </p:cNvSpPr>
          <p:nvPr/>
        </p:nvSpPr>
        <p:spPr>
          <a:xfrm>
            <a:off x="2072344" y="4270907"/>
            <a:ext cx="2570751"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Deploy copilot to sub-set of users with up to 100 sites</a:t>
            </a:r>
          </a:p>
        </p:txBody>
      </p:sp>
      <p:sp>
        <p:nvSpPr>
          <p:cNvPr id="81" name="Graphic 39">
            <a:extLst>
              <a:ext uri="{FF2B5EF4-FFF2-40B4-BE49-F238E27FC236}">
                <a16:creationId xmlns:a16="http://schemas.microsoft.com/office/drawing/2014/main" id="{294ACD60-EABF-8667-6F0C-2C7D8662DC2A}"/>
              </a:ext>
              <a:ext uri="{C183D7F6-B498-43B3-948B-1728B52AA6E4}">
                <adec:decorative xmlns:adec="http://schemas.microsoft.com/office/drawing/2017/decorative" val="1"/>
              </a:ext>
            </a:extLst>
          </p:cNvPr>
          <p:cNvSpPr>
            <a:spLocks/>
          </p:cNvSpPr>
          <p:nvPr/>
        </p:nvSpPr>
        <p:spPr>
          <a:xfrm>
            <a:off x="5012689" y="4341188"/>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rgbClr val="49C5B1"/>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2" name="TextBox 61">
            <a:extLst>
              <a:ext uri="{FF2B5EF4-FFF2-40B4-BE49-F238E27FC236}">
                <a16:creationId xmlns:a16="http://schemas.microsoft.com/office/drawing/2014/main" id="{8CD66BF5-565E-2A8F-185C-0B37D048FED6}"/>
              </a:ext>
              <a:ext uri="{C183D7F6-B498-43B3-948B-1728B52AA6E4}">
                <adec:decorative xmlns:adec="http://schemas.microsoft.com/office/drawing/2017/decorative" val="1"/>
              </a:ext>
            </a:extLst>
          </p:cNvPr>
          <p:cNvSpPr txBox="1">
            <a:spLocks/>
          </p:cNvSpPr>
          <p:nvPr/>
        </p:nvSpPr>
        <p:spPr>
          <a:xfrm>
            <a:off x="5391995" y="4270907"/>
            <a:ext cx="2570751"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lt"/>
                <a:cs typeface="Segoe UI"/>
              </a:rPr>
              <a:t>Copilot fully deployed in your organization</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2" name="Graphic 39">
            <a:extLst>
              <a:ext uri="{FF2B5EF4-FFF2-40B4-BE49-F238E27FC236}">
                <a16:creationId xmlns:a16="http://schemas.microsoft.com/office/drawing/2014/main" id="{4D1F52C9-5942-1FEB-B3D5-BEDB4A75FF8F}"/>
              </a:ext>
              <a:ext uri="{C183D7F6-B498-43B3-948B-1728B52AA6E4}">
                <adec:decorative xmlns:adec="http://schemas.microsoft.com/office/drawing/2017/decorative" val="1"/>
              </a:ext>
            </a:extLst>
          </p:cNvPr>
          <p:cNvSpPr>
            <a:spLocks/>
          </p:cNvSpPr>
          <p:nvPr/>
        </p:nvSpPr>
        <p:spPr>
          <a:xfrm>
            <a:off x="8339524" y="4341188"/>
            <a:ext cx="261294" cy="290326"/>
          </a:xfrm>
          <a:custGeom>
            <a:avLst/>
            <a:gdLst>
              <a:gd name="connsiteX0" fmla="*/ 0 w 171450"/>
              <a:gd name="connsiteY0" fmla="*/ 35719 h 190501"/>
              <a:gd name="connsiteX1" fmla="*/ 7144 w 171450"/>
              <a:gd name="connsiteY1" fmla="*/ 28575 h 190501"/>
              <a:gd name="connsiteX2" fmla="*/ 81439 w 171450"/>
              <a:gd name="connsiteY2" fmla="*/ 1429 h 190501"/>
              <a:gd name="connsiteX3" fmla="*/ 90011 w 171450"/>
              <a:gd name="connsiteY3" fmla="*/ 1429 h 190501"/>
              <a:gd name="connsiteX4" fmla="*/ 164306 w 171450"/>
              <a:gd name="connsiteY4" fmla="*/ 28575 h 190501"/>
              <a:gd name="connsiteX5" fmla="*/ 171450 w 171450"/>
              <a:gd name="connsiteY5" fmla="*/ 35719 h 190501"/>
              <a:gd name="connsiteX6" fmla="*/ 171450 w 171450"/>
              <a:gd name="connsiteY6" fmla="*/ 85725 h 190501"/>
              <a:gd name="connsiteX7" fmla="*/ 88344 w 171450"/>
              <a:gd name="connsiteY7" fmla="*/ 190005 h 190501"/>
              <a:gd name="connsiteX8" fmla="*/ 83106 w 171450"/>
              <a:gd name="connsiteY8" fmla="*/ 190005 h 190501"/>
              <a:gd name="connsiteX9" fmla="*/ 0 w 171450"/>
              <a:gd name="connsiteY9" fmla="*/ 85725 h 190501"/>
              <a:gd name="connsiteX10" fmla="*/ 0 w 171450"/>
              <a:gd name="connsiteY10" fmla="*/ 35719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90501">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lose/>
              </a:path>
            </a:pathLst>
          </a:custGeom>
          <a:solidFill>
            <a:schemeClr val="accent2">
              <a:lumMod val="75000"/>
            </a:schemeClr>
          </a:solidFill>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1" name="TextBox 130">
            <a:extLst>
              <a:ext uri="{FF2B5EF4-FFF2-40B4-BE49-F238E27FC236}">
                <a16:creationId xmlns:a16="http://schemas.microsoft.com/office/drawing/2014/main" id="{8C81EDF9-0B24-D33B-1958-A287E139258D}"/>
              </a:ext>
              <a:ext uri="{C183D7F6-B498-43B3-948B-1728B52AA6E4}">
                <adec:decorative xmlns:adec="http://schemas.microsoft.com/office/drawing/2017/decorative" val="1"/>
              </a:ext>
            </a:extLst>
          </p:cNvPr>
          <p:cNvSpPr txBox="1">
            <a:spLocks/>
          </p:cNvSpPr>
          <p:nvPr/>
        </p:nvSpPr>
        <p:spPr>
          <a:xfrm>
            <a:off x="8710301" y="4270907"/>
            <a:ext cx="2570751" cy="430887"/>
          </a:xfrm>
          <a:prstGeom prst="rect">
            <a:avLst/>
          </a:prstGeom>
          <a:noFill/>
          <a:ln>
            <a:noFill/>
          </a:ln>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Continuous improvement of data security practices</a:t>
            </a:r>
          </a:p>
        </p:txBody>
      </p:sp>
      <p:sp>
        <p:nvSpPr>
          <p:cNvPr id="103" name="Rectangle: Top Corners Rounded 102">
            <a:extLst>
              <a:ext uri="{FF2B5EF4-FFF2-40B4-BE49-F238E27FC236}">
                <a16:creationId xmlns:a16="http://schemas.microsoft.com/office/drawing/2014/main" id="{808D9FD0-1032-A116-B97E-3ED024E3ECE7}"/>
              </a:ext>
              <a:ext uri="{C183D7F6-B498-43B3-948B-1728B52AA6E4}">
                <adec:decorative xmlns:adec="http://schemas.microsoft.com/office/drawing/2017/decorative" val="1"/>
              </a:ext>
            </a:extLst>
          </p:cNvPr>
          <p:cNvSpPr/>
          <p:nvPr/>
        </p:nvSpPr>
        <p:spPr bwMode="auto">
          <a:xfrm rot="16200000">
            <a:off x="744831" y="4860401"/>
            <a:ext cx="593534" cy="946681"/>
          </a:xfrm>
          <a:prstGeom prst="round2SameRect">
            <a:avLst>
              <a:gd name="adj1" fmla="val 13900"/>
              <a:gd name="adj2" fmla="val 0"/>
            </a:avLst>
          </a:prstGeom>
          <a:solidFill>
            <a:schemeClr val="accent1">
              <a:lumMod val="20000"/>
              <a:lumOff val="80000"/>
              <a:alpha val="2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a:ea typeface="+mn-ea"/>
                <a:cs typeface="+mn-cs"/>
              </a:rPr>
              <a:t>Effort*</a:t>
            </a:r>
          </a:p>
        </p:txBody>
      </p:sp>
      <p:pic>
        <p:nvPicPr>
          <p:cNvPr id="152" name="Graphic 151">
            <a:extLst>
              <a:ext uri="{FF2B5EF4-FFF2-40B4-BE49-F238E27FC236}">
                <a16:creationId xmlns:a16="http://schemas.microsoft.com/office/drawing/2014/main" id="{559AC23F-DA0E-03DA-DC8B-CF9A28D2915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5867" y="5200692"/>
            <a:ext cx="281272" cy="281272"/>
          </a:xfrm>
          <a:prstGeom prst="rect">
            <a:avLst/>
          </a:prstGeom>
          <a:effectLst/>
        </p:spPr>
      </p:pic>
      <p:sp>
        <p:nvSpPr>
          <p:cNvPr id="86" name="TextBox 85">
            <a:extLst>
              <a:ext uri="{FF2B5EF4-FFF2-40B4-BE49-F238E27FC236}">
                <a16:creationId xmlns:a16="http://schemas.microsoft.com/office/drawing/2014/main" id="{4EDDD061-1552-7025-2A45-DAA22C86F389}"/>
              </a:ext>
              <a:ext uri="{C183D7F6-B498-43B3-948B-1728B52AA6E4}">
                <adec:decorative xmlns:adec="http://schemas.microsoft.com/office/drawing/2017/decorative" val="1"/>
              </a:ext>
            </a:extLst>
          </p:cNvPr>
          <p:cNvSpPr txBox="1">
            <a:spLocks/>
          </p:cNvSpPr>
          <p:nvPr/>
        </p:nvSpPr>
        <p:spPr>
          <a:xfrm>
            <a:off x="2072344" y="5233606"/>
            <a:ext cx="2423160" cy="215444"/>
          </a:xfrm>
          <a:prstGeom prst="rect">
            <a:avLst/>
          </a:prstGeom>
          <a:noFill/>
        </p:spPr>
        <p:txBody>
          <a:bodyPr wrap="square" lIns="0" tIns="0" rIns="0" bIns="0" anchor="t">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2–4 days</a:t>
            </a:r>
          </a:p>
        </p:txBody>
      </p:sp>
      <p:pic>
        <p:nvPicPr>
          <p:cNvPr id="87" name="Graphic 86">
            <a:extLst>
              <a:ext uri="{FF2B5EF4-FFF2-40B4-BE49-F238E27FC236}">
                <a16:creationId xmlns:a16="http://schemas.microsoft.com/office/drawing/2014/main" id="{2B1CF3DD-1FAA-530C-C7B8-4B570503339C}"/>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12689" y="5200692"/>
            <a:ext cx="281272" cy="281272"/>
          </a:xfrm>
          <a:prstGeom prst="rect">
            <a:avLst/>
          </a:prstGeom>
          <a:effectLst/>
        </p:spPr>
      </p:pic>
      <p:sp>
        <p:nvSpPr>
          <p:cNvPr id="88" name="TextBox 87">
            <a:extLst>
              <a:ext uri="{FF2B5EF4-FFF2-40B4-BE49-F238E27FC236}">
                <a16:creationId xmlns:a16="http://schemas.microsoft.com/office/drawing/2014/main" id="{3C078B6C-CDCC-F06D-7B51-9E0DFCBE56AE}"/>
              </a:ext>
              <a:ext uri="{C183D7F6-B498-43B3-948B-1728B52AA6E4}">
                <adec:decorative xmlns:adec="http://schemas.microsoft.com/office/drawing/2017/decorative" val="1"/>
              </a:ext>
            </a:extLst>
          </p:cNvPr>
          <p:cNvSpPr txBox="1">
            <a:spLocks/>
          </p:cNvSpPr>
          <p:nvPr/>
        </p:nvSpPr>
        <p:spPr>
          <a:xfrm>
            <a:off x="5409166" y="5233606"/>
            <a:ext cx="2423160" cy="215444"/>
          </a:xfrm>
          <a:prstGeom prst="rect">
            <a:avLst/>
          </a:prstGeom>
          <a:noFill/>
        </p:spPr>
        <p:txBody>
          <a:bodyPr wrap="square" lIns="0" tIns="0" rIns="0" bIns="0" anchor="t">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2–4 weeks</a:t>
            </a:r>
          </a:p>
        </p:txBody>
      </p:sp>
      <p:pic>
        <p:nvPicPr>
          <p:cNvPr id="92" name="Graphic 91">
            <a:extLst>
              <a:ext uri="{FF2B5EF4-FFF2-40B4-BE49-F238E27FC236}">
                <a16:creationId xmlns:a16="http://schemas.microsoft.com/office/drawing/2014/main" id="{6A41D342-BE88-0437-3DDC-0F8A56A0A092}"/>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39524" y="5200692"/>
            <a:ext cx="281272" cy="281272"/>
          </a:xfrm>
          <a:prstGeom prst="rect">
            <a:avLst/>
          </a:prstGeom>
          <a:effectLst/>
        </p:spPr>
      </p:pic>
      <p:sp>
        <p:nvSpPr>
          <p:cNvPr id="93" name="TextBox 92">
            <a:extLst>
              <a:ext uri="{FF2B5EF4-FFF2-40B4-BE49-F238E27FC236}">
                <a16:creationId xmlns:a16="http://schemas.microsoft.com/office/drawing/2014/main" id="{676465CC-821C-1ED3-338E-6BFD57AA11EF}"/>
              </a:ext>
              <a:ext uri="{C183D7F6-B498-43B3-948B-1728B52AA6E4}">
                <adec:decorative xmlns:adec="http://schemas.microsoft.com/office/drawing/2017/decorative" val="1"/>
              </a:ext>
            </a:extLst>
          </p:cNvPr>
          <p:cNvSpPr txBox="1">
            <a:spLocks/>
          </p:cNvSpPr>
          <p:nvPr/>
        </p:nvSpPr>
        <p:spPr>
          <a:xfrm>
            <a:off x="8736001" y="5233606"/>
            <a:ext cx="2423160" cy="215444"/>
          </a:xfrm>
          <a:prstGeom prst="rect">
            <a:avLst/>
          </a:prstGeom>
          <a:noFill/>
        </p:spPr>
        <p:txBody>
          <a:bodyPr wrap="square" lIns="0" tIns="0" rIns="0" bIns="0" anchor="t">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More than one month</a:t>
            </a:r>
          </a:p>
        </p:txBody>
      </p:sp>
      <p:sp>
        <p:nvSpPr>
          <p:cNvPr id="84" name="TextBox 83">
            <a:extLst>
              <a:ext uri="{FF2B5EF4-FFF2-40B4-BE49-F238E27FC236}">
                <a16:creationId xmlns:a16="http://schemas.microsoft.com/office/drawing/2014/main" id="{FD1B3598-6D96-41CB-C4FF-3F2CBF64B587}"/>
              </a:ext>
              <a:ext uri="{C183D7F6-B498-43B3-948B-1728B52AA6E4}">
                <adec:decorative xmlns:adec="http://schemas.microsoft.com/office/drawing/2017/decorative" val="1"/>
              </a:ext>
            </a:extLst>
          </p:cNvPr>
          <p:cNvSpPr txBox="1"/>
          <p:nvPr/>
        </p:nvSpPr>
        <p:spPr>
          <a:xfrm>
            <a:off x="580956" y="5865860"/>
            <a:ext cx="788325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*Suggested efforts should be reviewed into timelines based on your tenant size and organizational complexity</a:t>
            </a:r>
          </a:p>
        </p:txBody>
      </p:sp>
      <p:sp>
        <p:nvSpPr>
          <p:cNvPr id="85" name="TextBox 84">
            <a:extLst>
              <a:ext uri="{FF2B5EF4-FFF2-40B4-BE49-F238E27FC236}">
                <a16:creationId xmlns:a16="http://schemas.microsoft.com/office/drawing/2014/main" id="{CB70179F-CE6E-4011-82B0-9B9F781F3F06}"/>
              </a:ext>
              <a:ext uri="{C183D7F6-B498-43B3-948B-1728B52AA6E4}">
                <adec:decorative xmlns:adec="http://schemas.microsoft.com/office/drawing/2017/decorative" val="1"/>
              </a:ext>
            </a:extLst>
          </p:cNvPr>
          <p:cNvSpPr txBox="1">
            <a:spLocks/>
          </p:cNvSpPr>
          <p:nvPr/>
        </p:nvSpPr>
        <p:spPr>
          <a:xfrm>
            <a:off x="9176634" y="5865860"/>
            <a:ext cx="2423160" cy="153888"/>
          </a:xfrm>
          <a:prstGeom prst="rect">
            <a:avLst/>
          </a:prstGeom>
          <a:noFill/>
        </p:spPr>
        <p:txBody>
          <a:bodyPr wrap="square" lIns="0" tIns="0" rIns="0" bIns="0">
            <a:spAutoFit/>
          </a:bodyPr>
          <a:lstStyle>
            <a:defPPr>
              <a:defRPr lang="en-US"/>
            </a:defPPr>
            <a:lvl1pPr>
              <a:defRPr sz="10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Last updated: Oct 24, 2024</a:t>
            </a:r>
          </a:p>
        </p:txBody>
      </p:sp>
      <p:grpSp>
        <p:nvGrpSpPr>
          <p:cNvPr id="6" name="Group 5">
            <a:extLst>
              <a:ext uri="{FF2B5EF4-FFF2-40B4-BE49-F238E27FC236}">
                <a16:creationId xmlns:a16="http://schemas.microsoft.com/office/drawing/2014/main" id="{41F9EC7B-6F9D-304F-F13D-F0F4A4D9B937}"/>
              </a:ext>
              <a:ext uri="{C183D7F6-B498-43B3-948B-1728B52AA6E4}">
                <adec:decorative xmlns:adec="http://schemas.microsoft.com/office/drawing/2017/decorative" val="1"/>
              </a:ext>
            </a:extLst>
          </p:cNvPr>
          <p:cNvGrpSpPr/>
          <p:nvPr/>
        </p:nvGrpSpPr>
        <p:grpSpPr>
          <a:xfrm>
            <a:off x="11422788" y="3831872"/>
            <a:ext cx="354012" cy="354012"/>
            <a:chOff x="11426032" y="4099601"/>
            <a:chExt cx="354012" cy="354012"/>
          </a:xfrm>
        </p:grpSpPr>
        <p:sp>
          <p:nvSpPr>
            <p:cNvPr id="10" name="Oval 9">
              <a:extLst>
                <a:ext uri="{FF2B5EF4-FFF2-40B4-BE49-F238E27FC236}">
                  <a16:creationId xmlns:a16="http://schemas.microsoft.com/office/drawing/2014/main" id="{DF61436D-2DA7-4953-1BC6-6BA476337823}"/>
                </a:ext>
                <a:ext uri="{C183D7F6-B498-43B3-948B-1728B52AA6E4}">
                  <adec:decorative xmlns:adec="http://schemas.microsoft.com/office/drawing/2017/decorative" val="1"/>
                </a:ext>
              </a:extLst>
            </p:cNvPr>
            <p:cNvSpPr/>
            <p:nvPr/>
          </p:nvSpPr>
          <p:spPr bwMode="auto">
            <a:xfrm>
              <a:off x="11426032" y="4099601"/>
              <a:ext cx="354012" cy="354012"/>
            </a:xfrm>
            <a:prstGeom prst="ellipse">
              <a:avLst/>
            </a:prstGeom>
            <a:solidFill>
              <a:schemeClr val="bg1"/>
            </a:solid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765" b="1" i="0" u="none" strike="noStrike" kern="1200" cap="none" spc="0" normalizeH="0" baseline="0" noProof="0">
                <a:ln>
                  <a:noFill/>
                </a:ln>
                <a:solidFill>
                  <a:srgbClr val="000000"/>
                </a:solidFill>
                <a:effectLst/>
                <a:uLnTx/>
                <a:uFillTx/>
                <a:latin typeface="Segoe UI"/>
                <a:ea typeface="+mn-ea"/>
                <a:cs typeface="+mn-cs"/>
              </a:endParaRPr>
            </a:p>
          </p:txBody>
        </p:sp>
        <p:sp>
          <p:nvSpPr>
            <p:cNvPr id="12" name="Graphic 20">
              <a:extLst>
                <a:ext uri="{FF2B5EF4-FFF2-40B4-BE49-F238E27FC236}">
                  <a16:creationId xmlns:a16="http://schemas.microsoft.com/office/drawing/2014/main" id="{FEEB0A3A-E5BE-66E0-5F7C-2F0616316F86}"/>
                </a:ext>
              </a:extLst>
            </p:cNvPr>
            <p:cNvSpPr/>
            <p:nvPr/>
          </p:nvSpPr>
          <p:spPr>
            <a:xfrm>
              <a:off x="11497470" y="4198933"/>
              <a:ext cx="211136" cy="155348"/>
            </a:xfrm>
            <a:custGeom>
              <a:avLst/>
              <a:gdLst>
                <a:gd name="connsiteX0" fmla="*/ 12014 w 161568"/>
                <a:gd name="connsiteY0" fmla="*/ 63830 h 118878"/>
                <a:gd name="connsiteX1" fmla="*/ 1917 w 161568"/>
                <a:gd name="connsiteY1" fmla="*/ 64186 h 118878"/>
                <a:gd name="connsiteX2" fmla="*/ 1917 w 161568"/>
                <a:gd name="connsiteY2" fmla="*/ 73926 h 118878"/>
                <a:gd name="connsiteX3" fmla="*/ 44780 w 161568"/>
                <a:gd name="connsiteY3" fmla="*/ 116789 h 118878"/>
                <a:gd name="connsiteX4" fmla="*/ 54876 w 161568"/>
                <a:gd name="connsiteY4" fmla="*/ 116789 h 118878"/>
                <a:gd name="connsiteX5" fmla="*/ 159651 w 161568"/>
                <a:gd name="connsiteY5" fmla="*/ 12014 h 118878"/>
                <a:gd name="connsiteX6" fmla="*/ 159295 w 161568"/>
                <a:gd name="connsiteY6" fmla="*/ 1917 h 118878"/>
                <a:gd name="connsiteX7" fmla="*/ 149555 w 161568"/>
                <a:gd name="connsiteY7" fmla="*/ 1917 h 118878"/>
                <a:gd name="connsiteX8" fmla="*/ 49828 w 161568"/>
                <a:gd name="connsiteY8" fmla="*/ 101644 h 118878"/>
                <a:gd name="connsiteX9" fmla="*/ 12014 w 161568"/>
                <a:gd name="connsiteY9" fmla="*/ 63830 h 118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68" h="118878">
                  <a:moveTo>
                    <a:pt x="12014" y="63830"/>
                  </a:moveTo>
                  <a:cubicBezTo>
                    <a:pt x="9127" y="61140"/>
                    <a:pt x="4607" y="61300"/>
                    <a:pt x="1917" y="64186"/>
                  </a:cubicBezTo>
                  <a:cubicBezTo>
                    <a:pt x="-639" y="66929"/>
                    <a:pt x="-639" y="71183"/>
                    <a:pt x="1917" y="73926"/>
                  </a:cubicBezTo>
                  <a:lnTo>
                    <a:pt x="44780" y="116789"/>
                  </a:lnTo>
                  <a:cubicBezTo>
                    <a:pt x="47569" y="119575"/>
                    <a:pt x="52087" y="119575"/>
                    <a:pt x="54876" y="116789"/>
                  </a:cubicBezTo>
                  <a:lnTo>
                    <a:pt x="159651" y="12014"/>
                  </a:lnTo>
                  <a:cubicBezTo>
                    <a:pt x="162341" y="9127"/>
                    <a:pt x="162181" y="4607"/>
                    <a:pt x="159295" y="1917"/>
                  </a:cubicBezTo>
                  <a:cubicBezTo>
                    <a:pt x="156552" y="-639"/>
                    <a:pt x="152298" y="-639"/>
                    <a:pt x="149555" y="1917"/>
                  </a:cubicBezTo>
                  <a:lnTo>
                    <a:pt x="49828" y="101644"/>
                  </a:lnTo>
                  <a:lnTo>
                    <a:pt x="12014" y="63830"/>
                  </a:lnTo>
                  <a:close/>
                </a:path>
              </a:pathLst>
            </a:custGeom>
            <a:solidFill>
              <a:srgbClr val="C03BC4"/>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234863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DB94-4972-3C56-1176-8B980F034D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405BCF-301C-3F1A-6CD8-ECC3C190CF4B}"/>
              </a:ext>
            </a:extLst>
          </p:cNvPr>
          <p:cNvSpPr>
            <a:spLocks noGrp="1"/>
          </p:cNvSpPr>
          <p:nvPr>
            <p:ph type="title"/>
          </p:nvPr>
        </p:nvSpPr>
        <p:spPr>
          <a:xfrm>
            <a:off x="588263" y="457200"/>
            <a:ext cx="11018520" cy="1107996"/>
          </a:xfrm>
        </p:spPr>
        <p:txBody>
          <a:bodyPr>
            <a:normAutofit fontScale="90000"/>
          </a:bodyPr>
          <a:lstStyle/>
          <a:p>
            <a:r>
              <a:rPr lang="en-US" dirty="0"/>
              <a:t>Microsoft deployment blueprint to address </a:t>
            </a:r>
            <a:br>
              <a:rPr lang="en-US" dirty="0"/>
            </a:br>
            <a:r>
              <a:rPr lang="en-US" dirty="0"/>
              <a:t>internal oversharing in Microsoft 365 Copilot</a:t>
            </a:r>
          </a:p>
        </p:txBody>
      </p:sp>
      <p:sp>
        <p:nvSpPr>
          <p:cNvPr id="10" name="TextBox 9">
            <a:extLst>
              <a:ext uri="{FF2B5EF4-FFF2-40B4-BE49-F238E27FC236}">
                <a16:creationId xmlns:a16="http://schemas.microsoft.com/office/drawing/2014/main" id="{90438488-1E73-D211-2218-C28300472434}"/>
              </a:ext>
            </a:extLst>
          </p:cNvPr>
          <p:cNvSpPr txBox="1"/>
          <p:nvPr/>
        </p:nvSpPr>
        <p:spPr>
          <a:xfrm>
            <a:off x="606415" y="5292319"/>
            <a:ext cx="11182927" cy="984885"/>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Segoe UI Semibold"/>
                <a:ea typeface="+mn-ea"/>
                <a:cs typeface="+mn-cs"/>
              </a:rPr>
              <a:t>Get the blueprint: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Segoe UI Semibold"/>
                <a:ea typeface="+mn-ea"/>
                <a:cs typeface="+mn-cs"/>
                <a:hlinkClick r:id="rId3"/>
              </a:rPr>
              <a:t>https://aka.ms/Copilot/OversharingBlueprintLearn</a:t>
            </a:r>
            <a:r>
              <a:rPr kumimoji="0" lang="en-US" sz="3200" b="0" i="0" u="none" strike="noStrike" kern="1200" cap="none" spc="0" normalizeH="0" baseline="0" noProof="0" dirty="0">
                <a:ln>
                  <a:noFill/>
                </a:ln>
                <a:solidFill>
                  <a:srgbClr val="000000"/>
                </a:solidFill>
                <a:effectLst/>
                <a:uLnTx/>
                <a:uFillTx/>
                <a:latin typeface="Segoe UI Semibold"/>
                <a:ea typeface="+mn-ea"/>
                <a:cs typeface="+mn-cs"/>
              </a:rPr>
              <a:t> </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19" name="Picture 18">
            <a:extLst>
              <a:ext uri="{FF2B5EF4-FFF2-40B4-BE49-F238E27FC236}">
                <a16:creationId xmlns:a16="http://schemas.microsoft.com/office/drawing/2014/main" id="{BADD2423-3619-78B8-F736-557E3A1B152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415" y="1850404"/>
            <a:ext cx="5482116" cy="3069090"/>
          </a:xfrm>
          <a:prstGeom prst="rect">
            <a:avLst/>
          </a:prstGeom>
          <a:ln>
            <a:solidFill>
              <a:schemeClr val="accent6"/>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EC5438AA-B553-8494-BC1A-B75E5542149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61071" y="1858012"/>
            <a:ext cx="5482117" cy="3093436"/>
          </a:xfrm>
          <a:prstGeom prst="rect">
            <a:avLst/>
          </a:prstGeom>
          <a:ln>
            <a:solidFill>
              <a:schemeClr val="accent6"/>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5154618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C22DA-F427-5C5D-C1D8-6A4EBD9D4AD2}"/>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FD6B507C-23C9-4CCF-7E39-EB8725506D1D}"/>
              </a:ext>
              <a:ext uri="{C183D7F6-B498-43B3-948B-1728B52AA6E4}">
                <adec:decorative xmlns:adec="http://schemas.microsoft.com/office/drawing/2017/decorative" val="1"/>
              </a:ext>
            </a:extLst>
          </p:cNvPr>
          <p:cNvSpPr>
            <a:spLocks/>
          </p:cNvSpPr>
          <p:nvPr/>
        </p:nvSpPr>
        <p:spPr bwMode="auto">
          <a:xfrm rot="16200000" flipV="1">
            <a:off x="1976113" y="-1755971"/>
            <a:ext cx="339966" cy="4045064"/>
          </a:xfrm>
          <a:prstGeom prst="round2SameRect">
            <a:avLst>
              <a:gd name="adj1" fmla="val 50000"/>
              <a:gd name="adj2" fmla="val 0"/>
            </a:avLst>
          </a:prstGeom>
          <a:solidFill>
            <a:srgbClr val="C03BC4"/>
          </a:solidFill>
          <a:ln>
            <a:noFill/>
            <a:prstDash/>
          </a:ln>
          <a:effectLst>
            <a:outerShdw blurRad="355600" algn="ctr" rotWithShape="0">
              <a:prstClr val="black">
                <a:alpha val="17000"/>
              </a:prstClr>
            </a:outerShdw>
          </a:effectLst>
        </p:spPr>
        <p:txBody>
          <a:bodyPr rot="0" spcFirstLastPara="0" vertOverflow="overflow" horzOverflow="overflow" vert="vert270" wrap="square" lIns="0" tIns="0" rIns="0" bIns="576072"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ts val="1200"/>
              </a:spcAft>
              <a:buClrTx/>
              <a:buSzPct val="90000"/>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0" name="Title 1">
            <a:extLst>
              <a:ext uri="{FF2B5EF4-FFF2-40B4-BE49-F238E27FC236}">
                <a16:creationId xmlns:a16="http://schemas.microsoft.com/office/drawing/2014/main" id="{13D18D65-2715-AC41-3439-A01BC4ABEA7C}"/>
              </a:ext>
            </a:extLst>
          </p:cNvPr>
          <p:cNvSpPr>
            <a:spLocks noGrp="1"/>
          </p:cNvSpPr>
          <p:nvPr>
            <p:ph type="title"/>
          </p:nvPr>
        </p:nvSpPr>
        <p:spPr>
          <a:xfrm>
            <a:off x="298451" y="585789"/>
            <a:ext cx="11599862" cy="430887"/>
          </a:xfrm>
        </p:spPr>
        <p:txBody>
          <a:bodyPr>
            <a:noAutofit/>
          </a:bodyPr>
          <a:lstStyle/>
          <a:p>
            <a:r>
              <a:rPr lang="en-AU" sz="2800"/>
              <a:t>Address internal oversharing concerns in Microsoft 365 Copilot </a:t>
            </a:r>
          </a:p>
        </p:txBody>
      </p:sp>
      <p:sp>
        <p:nvSpPr>
          <p:cNvPr id="5" name="TextBox 4">
            <a:extLst>
              <a:ext uri="{FF2B5EF4-FFF2-40B4-BE49-F238E27FC236}">
                <a16:creationId xmlns:a16="http://schemas.microsoft.com/office/drawing/2014/main" id="{746D6615-F8B0-2978-4BFB-D8BA4892ACBC}"/>
              </a:ext>
            </a:extLst>
          </p:cNvPr>
          <p:cNvSpPr txBox="1"/>
          <p:nvPr/>
        </p:nvSpPr>
        <p:spPr>
          <a:xfrm>
            <a:off x="298451" y="189407"/>
            <a:ext cx="2352152" cy="154724"/>
          </a:xfrm>
          <a:prstGeom prst="rect">
            <a:avLst/>
          </a:prstGeom>
          <a:noFill/>
        </p:spPr>
        <p:txBody>
          <a:bodyPr wrap="square" lIns="0" tIns="0" rIns="0" bIns="0" anchor="t">
            <a:spAutoFit/>
          </a:bodyPr>
          <a:lstStyle/>
          <a:p>
            <a:pPr fontAlgn="base">
              <a:spcBef>
                <a:spcPct val="0"/>
              </a:spcBef>
              <a:spcAft>
                <a:spcPts val="1200"/>
              </a:spcAft>
              <a:buSzPct val="90000"/>
              <a:defRPr/>
            </a:pPr>
            <a:r>
              <a:rPr kumimoji="0" lang="en-US" sz="1000" b="0" i="0" u="none" strike="noStrike" kern="1200" cap="none" spc="0" normalizeH="0" baseline="0" noProof="0">
                <a:ln>
                  <a:noFill/>
                </a:ln>
                <a:solidFill>
                  <a:srgbClr val="FFFFFF"/>
                </a:solidFill>
                <a:effectLst/>
                <a:uLnTx/>
                <a:uFillTx/>
                <a:latin typeface="Segoe UI Semibold"/>
                <a:ea typeface="+mn-ea"/>
                <a:cs typeface="+mn-cs"/>
              </a:rPr>
              <a:t>Customers with </a:t>
            </a:r>
            <a:r>
              <a:rPr lang="en-US" sz="1000">
                <a:solidFill>
                  <a:srgbClr val="FFFFFF"/>
                </a:solidFill>
                <a:latin typeface="Segoe UI Semibold"/>
              </a:rPr>
              <a:t>E3 or Business</a:t>
            </a:r>
            <a:r>
              <a:rPr kumimoji="0" lang="en-US" sz="1000" b="0" i="0" u="none" strike="noStrike" kern="1200" cap="none" spc="0" normalizeH="0" baseline="0" noProof="0">
                <a:ln>
                  <a:noFill/>
                </a:ln>
                <a:solidFill>
                  <a:srgbClr val="FFFFFF"/>
                </a:solidFill>
                <a:effectLst/>
                <a:uLnTx/>
                <a:uFillTx/>
                <a:latin typeface="Segoe UI Semibold"/>
                <a:ea typeface="+mn-ea"/>
                <a:cs typeface="+mn-cs"/>
              </a:rPr>
              <a:t> Premium</a:t>
            </a:r>
          </a:p>
        </p:txBody>
      </p:sp>
      <p:sp>
        <p:nvSpPr>
          <p:cNvPr id="4" name="Rectangle: Rounded Corners 3">
            <a:extLst>
              <a:ext uri="{FF2B5EF4-FFF2-40B4-BE49-F238E27FC236}">
                <a16:creationId xmlns:a16="http://schemas.microsoft.com/office/drawing/2014/main" id="{F9C14AF4-72DD-D2CF-E444-A7CE0FE96CB7}"/>
              </a:ext>
            </a:extLst>
          </p:cNvPr>
          <p:cNvSpPr/>
          <p:nvPr/>
        </p:nvSpPr>
        <p:spPr bwMode="auto">
          <a:xfrm>
            <a:off x="2778941" y="124358"/>
            <a:ext cx="1344331" cy="276424"/>
          </a:xfrm>
          <a:prstGeom prst="roundRect">
            <a:avLst>
              <a:gd name="adj" fmla="val 500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C03BC4"/>
                </a:solidFill>
                <a:effectLst/>
                <a:uLnTx/>
                <a:uFillTx/>
                <a:latin typeface="Segoe UI Semibold"/>
                <a:ea typeface="Segoe UI" pitchFamily="34" charset="0"/>
                <a:cs typeface="Segoe UI" pitchFamily="34" charset="0"/>
              </a:rPr>
              <a:t>Foundational</a:t>
            </a:r>
          </a:p>
        </p:txBody>
      </p:sp>
      <p:sp>
        <p:nvSpPr>
          <p:cNvPr id="12" name="TextBox 11">
            <a:extLst>
              <a:ext uri="{FF2B5EF4-FFF2-40B4-BE49-F238E27FC236}">
                <a16:creationId xmlns:a16="http://schemas.microsoft.com/office/drawing/2014/main" id="{FF485455-076D-AB32-7C41-EE7AC8EB2508}"/>
              </a:ext>
            </a:extLst>
          </p:cNvPr>
          <p:cNvSpPr txBox="1"/>
          <p:nvPr/>
        </p:nvSpPr>
        <p:spPr>
          <a:xfrm>
            <a:off x="8073023" y="219760"/>
            <a:ext cx="458202" cy="138499"/>
          </a:xfrm>
          <a:prstGeom prst="rect">
            <a:avLst/>
          </a:prstGeom>
          <a:solidFill>
            <a:srgbClr val="FDFDFD">
              <a:alpha val="99000"/>
            </a:srgbClr>
          </a:solidFill>
        </p:spPr>
        <p:txBody>
          <a:bodyPr wrap="square" lIns="0" tIns="0" rIns="0" bIns="0" anchor="ctr">
            <a:spAutoFit/>
          </a:bodyPr>
          <a:lstStyle>
            <a:defPPr>
              <a:defRPr lang="en-US"/>
            </a:defPPr>
            <a:lvl1pPr>
              <a:spcAft>
                <a:spcPts val="200"/>
              </a:spcAft>
              <a:defRPr sz="900" b="1">
                <a:solidFill>
                  <a:srgbClr val="0070C4"/>
                </a:solidFill>
              </a:defRPr>
            </a:lvl1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1200" cap="none" spc="0" normalizeH="0" baseline="0" noProof="0">
                <a:ln>
                  <a:noFill/>
                </a:ln>
                <a:solidFill>
                  <a:srgbClr val="C03BC4"/>
                </a:solidFill>
                <a:effectLst/>
                <a:uLnTx/>
                <a:uFillTx/>
                <a:latin typeface="Segoe UI"/>
                <a:ea typeface="+mn-ea"/>
                <a:cs typeface="+mn-cs"/>
              </a:rPr>
              <a:t>LEGEND</a:t>
            </a:r>
          </a:p>
        </p:txBody>
      </p:sp>
      <p:sp>
        <p:nvSpPr>
          <p:cNvPr id="15" name="TextBox 14">
            <a:extLst>
              <a:ext uri="{FF2B5EF4-FFF2-40B4-BE49-F238E27FC236}">
                <a16:creationId xmlns:a16="http://schemas.microsoft.com/office/drawing/2014/main" id="{5E86DF00-39DD-184C-DACC-D0DE35FBE950}"/>
              </a:ext>
            </a:extLst>
          </p:cNvPr>
          <p:cNvSpPr txBox="1"/>
          <p:nvPr/>
        </p:nvSpPr>
        <p:spPr>
          <a:xfrm>
            <a:off x="8631902" y="151771"/>
            <a:ext cx="1058608" cy="274476"/>
          </a:xfrm>
          <a:prstGeom prst="roundRect">
            <a:avLst>
              <a:gd name="adj" fmla="val 50000"/>
            </a:avLst>
          </a:prstGeom>
          <a:solidFill>
            <a:schemeClr val="bg1"/>
          </a:solidFill>
          <a:ln>
            <a:noFill/>
            <a:prstDash/>
          </a:ln>
          <a:effectLst>
            <a:outerShdw blurRad="50800" dist="38100" dir="2700000" algn="tl" rotWithShape="0">
              <a:schemeClr val="bg1">
                <a:lumMod val="65000"/>
                <a:alpha val="20000"/>
              </a:scheme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fontAlgn="base">
              <a:spcBef>
                <a:spcPct val="0"/>
              </a:spcBef>
              <a:spcAft>
                <a:spcPts val="1200"/>
              </a:spcAft>
              <a:buSzPct val="90000"/>
              <a:defRPr kumimoji="0" sz="1000" b="0" i="0" u="none" strike="noStrike" cap="none" spc="0" normalizeH="0" baseline="0">
                <a:ln>
                  <a:noFill/>
                </a:ln>
                <a:solidFill>
                  <a:schemeClr val="accent1"/>
                </a:solidFill>
                <a:uLnTx/>
                <a:uFillTx/>
                <a:latin typeface="+mj-lt"/>
              </a:defRPr>
            </a:lvl1pPr>
          </a:lstStyle>
          <a:p>
            <a:pPr marL="0" marR="0" lvl="0" indent="0" algn="ctr" defTabSz="914400" rtl="0" eaLnBrk="1" fontAlgn="base" latinLnBrk="0" hangingPunct="1">
              <a:lnSpc>
                <a:spcPct val="100000"/>
              </a:lnSpc>
              <a:spcBef>
                <a:spcPct val="0"/>
              </a:spcBef>
              <a:spcAft>
                <a:spcPts val="200"/>
              </a:spcAft>
              <a:buClrTx/>
              <a:buSzPct val="90000"/>
              <a:buFontTx/>
              <a:buNone/>
              <a:tabLst/>
              <a:defRPr/>
            </a:pPr>
            <a:r>
              <a:rPr kumimoji="0" lang="en-US" sz="700" b="1" i="0" u="none" strike="noStrike" kern="1200" cap="none" spc="0" normalizeH="0" baseline="0" noProof="0">
                <a:ln>
                  <a:noFill/>
                </a:ln>
                <a:solidFill>
                  <a:srgbClr val="000000"/>
                </a:solidFill>
                <a:effectLst/>
                <a:uLnTx/>
                <a:uFillTx/>
                <a:latin typeface="Segoe UI"/>
                <a:ea typeface="+mn-ea"/>
                <a:cs typeface="+mn-cs"/>
              </a:rPr>
              <a:t>1</a:t>
            </a:r>
            <a:r>
              <a:rPr kumimoji="0" lang="en-US" sz="700" b="0" i="0" u="none" strike="noStrike" kern="1200" cap="none" spc="0" normalizeH="0" baseline="0" noProof="0">
                <a:ln>
                  <a:noFill/>
                </a:ln>
                <a:solidFill>
                  <a:srgbClr val="000000"/>
                </a:solidFill>
                <a:effectLst/>
                <a:uLnTx/>
                <a:uFillTx/>
                <a:latin typeface="Segoe UI"/>
                <a:ea typeface="+mn-ea"/>
                <a:cs typeface="+mn-cs"/>
              </a:rPr>
              <a:t> – Microsoft 365 Copilot</a:t>
            </a:r>
          </a:p>
        </p:txBody>
      </p:sp>
      <p:sp>
        <p:nvSpPr>
          <p:cNvPr id="17" name="TextBox 16">
            <a:extLst>
              <a:ext uri="{FF2B5EF4-FFF2-40B4-BE49-F238E27FC236}">
                <a16:creationId xmlns:a16="http://schemas.microsoft.com/office/drawing/2014/main" id="{AE57B5AB-447C-24DB-D4C6-19FBE0539743}"/>
              </a:ext>
            </a:extLst>
          </p:cNvPr>
          <p:cNvSpPr txBox="1"/>
          <p:nvPr/>
        </p:nvSpPr>
        <p:spPr>
          <a:xfrm>
            <a:off x="9818181" y="172365"/>
            <a:ext cx="1511688" cy="274476"/>
          </a:xfrm>
          <a:prstGeom prst="roundRect">
            <a:avLst>
              <a:gd name="adj" fmla="val 50000"/>
            </a:avLst>
          </a:prstGeom>
          <a:solidFill>
            <a:schemeClr val="bg1"/>
          </a:solidFill>
          <a:ln>
            <a:noFill/>
            <a:prstDash/>
          </a:ln>
          <a:effectLst>
            <a:outerShdw blurRad="50800" dist="38100" dir="2700000" algn="tl" rotWithShape="0">
              <a:schemeClr val="bg1">
                <a:lumMod val="65000"/>
                <a:alpha val="20000"/>
              </a:scheme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fontAlgn="base">
              <a:spcBef>
                <a:spcPct val="0"/>
              </a:spcBef>
              <a:spcAft>
                <a:spcPts val="1200"/>
              </a:spcAft>
              <a:buSzPct val="90000"/>
              <a:defRPr kumimoji="0" sz="1000" b="0" i="0" u="none" strike="noStrike" cap="none" spc="0" normalizeH="0" baseline="0">
                <a:ln>
                  <a:noFill/>
                </a:ln>
                <a:solidFill>
                  <a:schemeClr val="accent1"/>
                </a:solidFill>
                <a:uLnTx/>
                <a:uFillTx/>
                <a:latin typeface="+mj-lt"/>
              </a:defRPr>
            </a:lvl1pPr>
          </a:lstStyle>
          <a:p>
            <a:pPr algn="ctr">
              <a:spcAft>
                <a:spcPts val="200"/>
              </a:spcAft>
              <a:defRPr/>
            </a:pPr>
            <a:r>
              <a:rPr kumimoji="0" lang="en-US" sz="700" b="1" i="0" u="none" strike="noStrike" kern="1200" cap="none" spc="0" normalizeH="0" baseline="0" noProof="0">
                <a:ln>
                  <a:noFill/>
                </a:ln>
                <a:solidFill>
                  <a:srgbClr val="000000"/>
                </a:solidFill>
                <a:effectLst/>
                <a:uLnTx/>
                <a:uFillTx/>
                <a:latin typeface="Segoe UI"/>
                <a:ea typeface="+mn-ea"/>
                <a:cs typeface="+mn-cs"/>
              </a:rPr>
              <a:t>2</a:t>
            </a:r>
            <a:r>
              <a:rPr kumimoji="0" lang="en-US" sz="700" b="0" i="0" u="none" strike="noStrike" kern="1200" cap="none" spc="0" normalizeH="0" baseline="0" noProof="0">
                <a:ln>
                  <a:noFill/>
                </a:ln>
                <a:solidFill>
                  <a:srgbClr val="000000"/>
                </a:solidFill>
                <a:effectLst/>
                <a:uLnTx/>
                <a:uFillTx/>
                <a:latin typeface="Segoe UI"/>
                <a:ea typeface="+mn-ea"/>
                <a:cs typeface="+mn-cs"/>
              </a:rPr>
              <a:t> – </a:t>
            </a:r>
            <a:r>
              <a:rPr lang="en-US" sz="700">
                <a:solidFill>
                  <a:srgbClr val="000000"/>
                </a:solidFill>
                <a:latin typeface="Segoe UI"/>
              </a:rPr>
              <a:t>Business Premium or E3</a:t>
            </a:r>
            <a:endParaRPr kumimoji="0" lang="en-US" sz="7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B98DFBD6-41CF-ABAA-65F6-C7C7821AACE8}"/>
              </a:ext>
            </a:extLst>
          </p:cNvPr>
          <p:cNvSpPr txBox="1">
            <a:spLocks/>
          </p:cNvSpPr>
          <p:nvPr/>
        </p:nvSpPr>
        <p:spPr>
          <a:xfrm>
            <a:off x="298451" y="1120915"/>
            <a:ext cx="11310937" cy="69762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Segoe UI"/>
              </a:rPr>
              <a:t>Realize value quickly with Copilot by reviewing potential content sharing risks and optionally enabling Restricted SharePoint Search to address risk to enable full Copilot deployment.</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Segoe UI"/>
              </a:rPr>
              <a:t>Select services are included in your FastTrack benefit. Other critical services are available thru Microsoft Unified or our Partner Ecosystem.</a:t>
            </a:r>
          </a:p>
        </p:txBody>
      </p:sp>
      <p:graphicFrame>
        <p:nvGraphicFramePr>
          <p:cNvPr id="2" name="Table 1">
            <a:extLst>
              <a:ext uri="{FF2B5EF4-FFF2-40B4-BE49-F238E27FC236}">
                <a16:creationId xmlns:a16="http://schemas.microsoft.com/office/drawing/2014/main" id="{A9DCB7EB-D769-445B-AFC2-27817035B8B2}"/>
              </a:ext>
            </a:extLst>
          </p:cNvPr>
          <p:cNvGraphicFramePr>
            <a:graphicFrameLocks noGrp="1"/>
          </p:cNvGraphicFramePr>
          <p:nvPr/>
        </p:nvGraphicFramePr>
        <p:xfrm>
          <a:off x="298449" y="1922782"/>
          <a:ext cx="11594592" cy="3558540"/>
        </p:xfrm>
        <a:graphic>
          <a:graphicData uri="http://schemas.openxmlformats.org/drawingml/2006/table">
            <a:tbl>
              <a:tblPr firstRow="1" bandRow="1">
                <a:effectLst>
                  <a:outerShdw blurRad="63500" algn="ctr" rotWithShape="0">
                    <a:prstClr val="black">
                      <a:alpha val="17000"/>
                    </a:prstClr>
                  </a:outerShdw>
                </a:effectLst>
                <a:tableStyleId>{5940675A-B579-460E-94D1-54222C63F5DA}</a:tableStyleId>
              </a:tblPr>
              <a:tblGrid>
                <a:gridCol w="914400">
                  <a:extLst>
                    <a:ext uri="{9D8B030D-6E8A-4147-A177-3AD203B41FA5}">
                      <a16:colId xmlns:a16="http://schemas.microsoft.com/office/drawing/2014/main" val="2545195864"/>
                    </a:ext>
                  </a:extLst>
                </a:gridCol>
                <a:gridCol w="2962656">
                  <a:extLst>
                    <a:ext uri="{9D8B030D-6E8A-4147-A177-3AD203B41FA5}">
                      <a16:colId xmlns:a16="http://schemas.microsoft.com/office/drawing/2014/main" val="755212729"/>
                    </a:ext>
                  </a:extLst>
                </a:gridCol>
                <a:gridCol w="3666744">
                  <a:extLst>
                    <a:ext uri="{9D8B030D-6E8A-4147-A177-3AD203B41FA5}">
                      <a16:colId xmlns:a16="http://schemas.microsoft.com/office/drawing/2014/main" val="2550281842"/>
                    </a:ext>
                  </a:extLst>
                </a:gridCol>
                <a:gridCol w="4050792">
                  <a:extLst>
                    <a:ext uri="{9D8B030D-6E8A-4147-A177-3AD203B41FA5}">
                      <a16:colId xmlns:a16="http://schemas.microsoft.com/office/drawing/2014/main" val="3692620053"/>
                    </a:ext>
                  </a:extLst>
                </a:gridCol>
              </a:tblGrid>
              <a:tr h="0">
                <a:tc>
                  <a:txBody>
                    <a:bodyPr/>
                    <a:lstStyle/>
                    <a:p>
                      <a:pPr>
                        <a:lnSpc>
                          <a:spcPct val="100000"/>
                        </a:lnSpc>
                      </a:pPr>
                      <a:r>
                        <a:rPr lang="en-US" sz="1100" b="0">
                          <a:solidFill>
                            <a:schemeClr val="bg1"/>
                          </a:solidFill>
                          <a:latin typeface="+mj-lt"/>
                          <a:ea typeface="+mj-ea"/>
                          <a:cs typeface="+mj-cs"/>
                        </a:rPr>
                        <a:t>Phase</a:t>
                      </a:r>
                    </a:p>
                  </a:txBody>
                  <a:tcPr marL="73152" marR="73152" anchor="ctr">
                    <a:lnL w="6350" cap="flat" cmpd="sng" algn="ctr">
                      <a:solidFill>
                        <a:schemeClr val="accent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a:gsLst>
                        <a:gs pos="11000">
                          <a:schemeClr val="accent1"/>
                        </a:gs>
                        <a:gs pos="90000">
                          <a:srgbClr val="505FCD"/>
                        </a:gs>
                      </a:gsLst>
                      <a:lin ang="0" scaled="1"/>
                    </a:gradFill>
                  </a:tcPr>
                </a:tc>
                <a:tc>
                  <a:txBody>
                    <a:bodyPr/>
                    <a:lstStyle/>
                    <a:p>
                      <a:pPr>
                        <a:lnSpc>
                          <a:spcPct val="100000"/>
                        </a:lnSpc>
                      </a:pPr>
                      <a:r>
                        <a:rPr lang="en-US" sz="1100" kern="1200" noProof="0">
                          <a:solidFill>
                            <a:schemeClr val="bg1"/>
                          </a:solidFill>
                          <a:latin typeface="+mj-lt"/>
                          <a:ea typeface="+mn-ea"/>
                          <a:cs typeface="+mn-cs"/>
                        </a:rPr>
                        <a:t>Pilot</a:t>
                      </a:r>
                      <a:endParaRPr lang="en-US" sz="1100">
                        <a:solidFill>
                          <a:schemeClr val="bg1"/>
                        </a:solidFill>
                        <a:latin typeface="+mj-lt"/>
                        <a:ea typeface="+mn-ea"/>
                        <a:cs typeface="+mn-cs"/>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a:gsLst>
                        <a:gs pos="11000">
                          <a:srgbClr val="505FCD"/>
                        </a:gs>
                        <a:gs pos="90000">
                          <a:srgbClr val="505FCD"/>
                        </a:gs>
                      </a:gsLst>
                      <a:lin ang="0" scaled="1"/>
                    </a:gradFill>
                  </a:tcPr>
                </a:tc>
                <a:tc>
                  <a:txBody>
                    <a:bodyPr/>
                    <a:lstStyle/>
                    <a:p>
                      <a:pPr>
                        <a:lnSpc>
                          <a:spcPct val="100000"/>
                        </a:lnSpc>
                      </a:pPr>
                      <a:r>
                        <a:rPr lang="en-US" sz="1100">
                          <a:solidFill>
                            <a:schemeClr val="bg1"/>
                          </a:solidFill>
                          <a:latin typeface="+mj-lt"/>
                          <a:ea typeface="+mn-ea"/>
                          <a:cs typeface="+mn-cs"/>
                        </a:rPr>
                        <a:t>Deploy </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a:gsLst>
                        <a:gs pos="11000">
                          <a:srgbClr val="505FCD"/>
                        </a:gs>
                        <a:gs pos="90000">
                          <a:srgbClr val="505FCD"/>
                        </a:gs>
                      </a:gsLst>
                      <a:lin ang="0" scaled="1"/>
                    </a:gradFill>
                  </a:tcPr>
                </a:tc>
                <a:tc>
                  <a:txBody>
                    <a:bodyPr/>
                    <a:lstStyle/>
                    <a:p>
                      <a:pPr>
                        <a:lnSpc>
                          <a:spcPct val="100000"/>
                        </a:lnSpc>
                      </a:pPr>
                      <a:r>
                        <a:rPr lang="en-US" sz="1100">
                          <a:solidFill>
                            <a:schemeClr val="bg1"/>
                          </a:solidFill>
                          <a:latin typeface="+mj-lt"/>
                          <a:ea typeface="+mn-ea"/>
                          <a:cs typeface="+mn-cs"/>
                        </a:rPr>
                        <a:t>Operate</a:t>
                      </a:r>
                    </a:p>
                  </a:txBody>
                  <a:tcPr marL="73152" marR="73152" anchor="ctr">
                    <a:lnL w="6350" cap="flat" cmpd="sng" algn="ctr">
                      <a:solidFill>
                        <a:schemeClr val="bg1"/>
                      </a:solidFill>
                      <a:prstDash val="solid"/>
                      <a:round/>
                      <a:headEnd type="none" w="med" len="med"/>
                      <a:tailEnd type="none" w="med" len="med"/>
                    </a:lnL>
                    <a:lnR w="6350" cap="flat" cmpd="sng" algn="ctr">
                      <a:solidFill>
                        <a:srgbClr val="C03BC4"/>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a:gsLst>
                        <a:gs pos="11000">
                          <a:srgbClr val="505FCD"/>
                        </a:gs>
                        <a:gs pos="90000">
                          <a:srgbClr val="C03BC4"/>
                        </a:gs>
                      </a:gsLst>
                      <a:lin ang="0" scaled="1"/>
                    </a:gradFill>
                  </a:tcPr>
                </a:tc>
                <a:extLst>
                  <a:ext uri="{0D108BD9-81ED-4DB2-BD59-A6C34878D82A}">
                    <a16:rowId xmlns:a16="http://schemas.microsoft.com/office/drawing/2014/main" val="4113847863"/>
                  </a:ext>
                </a:extLst>
              </a:tr>
              <a:tr h="0">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kern="1200" noProof="0">
                          <a:solidFill>
                            <a:schemeClr val="tx1"/>
                          </a:solidFill>
                          <a:latin typeface="+mj-lt"/>
                          <a:ea typeface="+mn-ea"/>
                          <a:cs typeface="+mn-cs"/>
                        </a:rPr>
                        <a:t>Effort</a:t>
                      </a:r>
                    </a:p>
                  </a:txBody>
                  <a:tcPr marL="73152" marR="7315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a:solidFill>
                            <a:schemeClr val="tx1"/>
                          </a:solidFill>
                          <a:latin typeface="+mn-lt"/>
                          <a:ea typeface="+mn-ea"/>
                          <a:cs typeface="Segoe UI"/>
                        </a:rPr>
                        <a:t>2–4 days</a:t>
                      </a:r>
                    </a:p>
                  </a:txBody>
                  <a:tcPr marL="73152" marR="73152"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a:solidFill>
                            <a:schemeClr val="tx1"/>
                          </a:solidFill>
                          <a:latin typeface="+mn-lt"/>
                          <a:ea typeface="+mn-ea"/>
                          <a:cs typeface="Segoe UI"/>
                        </a:rPr>
                        <a:t>2–4 weeks</a:t>
                      </a:r>
                    </a:p>
                  </a:txBody>
                  <a:tcPr marL="73152" marR="73152"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auto" latinLnBrk="0" hangingPunct="1">
                        <a:lnSpc>
                          <a:spcPct val="100000"/>
                        </a:lnSpc>
                        <a:buClrTx/>
                        <a:buSzTx/>
                        <a:buFont typeface="Arial" panose="020B0604020202020204" pitchFamily="34" charset="0"/>
                        <a:buNone/>
                      </a:pPr>
                      <a:r>
                        <a:rPr lang="en-US" sz="900" b="0" kern="1200">
                          <a:solidFill>
                            <a:schemeClr val="tx1"/>
                          </a:solidFill>
                          <a:latin typeface="+mn-lt"/>
                          <a:ea typeface="+mn-ea"/>
                          <a:cs typeface="Segoe UI"/>
                        </a:rPr>
                        <a:t>1+ months</a:t>
                      </a:r>
                    </a:p>
                  </a:txBody>
                  <a:tcPr marL="73152" marR="7315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898732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Deployment </a:t>
                      </a:r>
                      <a:br>
                        <a:rPr kumimoji="0" lang="en-US" sz="900" b="0" i="0" u="none" strike="noStrike" kern="1200" cap="none" spc="0" normalizeH="0" baseline="0" noProof="0">
                          <a:ln>
                            <a:noFill/>
                          </a:ln>
                          <a:solidFill>
                            <a:prstClr val="black"/>
                          </a:solidFill>
                          <a:effectLst/>
                          <a:uLnTx/>
                          <a:uFillTx/>
                          <a:latin typeface="+mj-lt"/>
                          <a:ea typeface="+mn-ea"/>
                          <a:cs typeface="+mn-cs"/>
                        </a:rPr>
                      </a:br>
                      <a:r>
                        <a:rPr kumimoji="0" lang="en-US" sz="900" b="0" i="0" u="none" strike="noStrike" kern="1200" cap="none" spc="0" normalizeH="0" baseline="0" noProof="0">
                          <a:ln>
                            <a:noFill/>
                          </a:ln>
                          <a:solidFill>
                            <a:prstClr val="black"/>
                          </a:solidFill>
                          <a:effectLst/>
                          <a:uLnTx/>
                          <a:uFillTx/>
                          <a:latin typeface="+mj-lt"/>
                          <a:ea typeface="+mn-ea"/>
                          <a:cs typeface="+mn-cs"/>
                        </a:rPr>
                        <a:t>steps</a:t>
                      </a:r>
                    </a:p>
                  </a:txBody>
                  <a:tcPr marL="73152" marR="7315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4300" marR="0" lvl="0" indent="-114300" algn="l">
                        <a:lnSpc>
                          <a:spcPct val="100000"/>
                        </a:lnSpc>
                        <a:spcBef>
                          <a:spcPts val="600"/>
                        </a:spcBef>
                        <a:spcAft>
                          <a:spcPts val="100"/>
                        </a:spcAft>
                        <a:buClrTx/>
                        <a:buSzTx/>
                        <a:buFont typeface="+mj-lt"/>
                        <a:buAutoNum type="arabicPeriod"/>
                      </a:pPr>
                      <a:r>
                        <a:rPr lang="en-US" sz="900" b="0" kern="1200">
                          <a:solidFill>
                            <a:schemeClr val="tx1"/>
                          </a:solidFill>
                          <a:latin typeface="+mj-lt"/>
                          <a:ea typeface="+mn-ea"/>
                          <a:cs typeface="Segoe UI"/>
                        </a:rPr>
                        <a:t>Identify the most popular sites &amp; assess oversharing</a:t>
                      </a:r>
                    </a:p>
                    <a:p>
                      <a:pPr marL="274320" marR="0" lvl="0" indent="-109728" algn="l">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Export the top 100 most used sites from SPO </a:t>
                      </a:r>
                      <a:br>
                        <a:rPr lang="en-US" sz="800" kern="1200">
                          <a:solidFill>
                            <a:schemeClr val="tx1"/>
                          </a:solidFill>
                          <a:latin typeface="+mn-lt"/>
                          <a:ea typeface="+mn-ea"/>
                          <a:cs typeface="Segoe UI"/>
                        </a:rPr>
                      </a:br>
                      <a:r>
                        <a:rPr lang="en-US" sz="800" kern="1200">
                          <a:solidFill>
                            <a:schemeClr val="tx1"/>
                          </a:solidFill>
                          <a:latin typeface="+mn-lt"/>
                          <a:ea typeface="+mn-ea"/>
                          <a:cs typeface="Segoe UI"/>
                        </a:rPr>
                        <a:t>admin center</a:t>
                      </a:r>
                    </a:p>
                    <a:p>
                      <a:pPr marL="274320" marR="0" lvl="0" indent="-109728" algn="l">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Run SAM permission state report</a:t>
                      </a:r>
                      <a:r>
                        <a:rPr lang="en-US" sz="800" kern="1200" baseline="30000">
                          <a:solidFill>
                            <a:schemeClr val="tx1"/>
                          </a:solidFill>
                          <a:latin typeface="+mn-lt"/>
                          <a:ea typeface="+mn-ea"/>
                          <a:cs typeface="Segoe UI"/>
                        </a:rPr>
                        <a:t>1</a:t>
                      </a:r>
                    </a:p>
                    <a:p>
                      <a:pPr marL="274320" marR="0" lvl="0" indent="-109728" algn="l">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Use Purview Content Explorer to view which sites contain sensitive information types (SITs)</a:t>
                      </a:r>
                      <a:r>
                        <a:rPr lang="en-US" sz="800" kern="1200" baseline="30000">
                          <a:solidFill>
                            <a:schemeClr val="tx1"/>
                          </a:solidFill>
                          <a:latin typeface="+mn-lt"/>
                          <a:ea typeface="+mn-ea"/>
                          <a:cs typeface="Segoe UI"/>
                        </a:rPr>
                        <a:t>2</a:t>
                      </a:r>
                    </a:p>
                    <a:p>
                      <a:pPr marL="114300" marR="0" lvl="0" indent="-114300" algn="l">
                        <a:lnSpc>
                          <a:spcPct val="100000"/>
                        </a:lnSpc>
                        <a:spcBef>
                          <a:spcPts val="600"/>
                        </a:spcBef>
                        <a:spcAft>
                          <a:spcPts val="100"/>
                        </a:spcAft>
                        <a:buClrTx/>
                        <a:buSzTx/>
                        <a:buFont typeface="+mj-lt"/>
                        <a:buAutoNum type="arabicPeriod" startAt="2"/>
                      </a:pPr>
                      <a:r>
                        <a:rPr lang="en-US" sz="900" b="0" kern="1200">
                          <a:solidFill>
                            <a:schemeClr val="tx1"/>
                          </a:solidFill>
                          <a:latin typeface="+mj-lt"/>
                          <a:ea typeface="+mn-ea"/>
                          <a:cs typeface="Segoe UI"/>
                        </a:rPr>
                        <a:t>Grant Copilot access to popular, low risk sites</a:t>
                      </a:r>
                    </a:p>
                    <a:p>
                      <a:pPr marL="274320" marR="0" lvl="0" indent="-109728" algn="l" defTabSz="932742" rtl="0" eaLnBrk="1" latinLnBrk="0" hangingPunct="1">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Cross reference the report results from SAM and Content Explorer with the top 100 used sites to identify up to 100 sites to be allowed for Copilot discovery</a:t>
                      </a:r>
                      <a:r>
                        <a:rPr lang="en-US" sz="800" kern="1200" baseline="30000">
                          <a:solidFill>
                            <a:schemeClr val="tx1"/>
                          </a:solidFill>
                          <a:latin typeface="+mn-lt"/>
                          <a:ea typeface="+mn-ea"/>
                          <a:cs typeface="Segoe UI"/>
                        </a:rPr>
                        <a:t>1,2</a:t>
                      </a:r>
                    </a:p>
                    <a:p>
                      <a:pPr marL="274320" marR="0" lvl="0" indent="-109728" algn="l" defTabSz="932742" rtl="0" eaLnBrk="1" latinLnBrk="0" hangingPunct="1">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Optionally enable Restricted SharePoint Search (RSS) for up to 100 sites identified</a:t>
                      </a:r>
                      <a:r>
                        <a:rPr lang="en-US" sz="800" kern="1200" baseline="30000">
                          <a:solidFill>
                            <a:schemeClr val="tx1"/>
                          </a:solidFill>
                          <a:latin typeface="+mn-lt"/>
                          <a:ea typeface="+mn-ea"/>
                          <a:cs typeface="Segoe UI"/>
                        </a:rPr>
                        <a:t>1</a:t>
                      </a:r>
                    </a:p>
                    <a:p>
                      <a:pPr marL="114300" marR="0" lvl="0" indent="-114300" algn="l" defTabSz="932742" rtl="0" eaLnBrk="1" fontAlgn="auto" latinLnBrk="0" hangingPunct="1">
                        <a:lnSpc>
                          <a:spcPct val="100000"/>
                        </a:lnSpc>
                        <a:spcBef>
                          <a:spcPts val="600"/>
                        </a:spcBef>
                        <a:spcAft>
                          <a:spcPts val="100"/>
                        </a:spcAft>
                        <a:buClrTx/>
                        <a:buSzTx/>
                        <a:buFont typeface="+mj-lt"/>
                        <a:buAutoNum type="arabicPeriod" startAt="3"/>
                        <a:tabLst/>
                        <a:defRPr/>
                      </a:pPr>
                      <a:r>
                        <a:rPr lang="en-US" sz="900" b="0" kern="1200">
                          <a:solidFill>
                            <a:schemeClr val="tx1"/>
                          </a:solidFill>
                          <a:latin typeface="+mj-lt"/>
                          <a:ea typeface="+mn-ea"/>
                          <a:cs typeface="Segoe UI"/>
                        </a:rPr>
                        <a:t>Turn on proactive audit and protection</a:t>
                      </a:r>
                    </a:p>
                    <a:p>
                      <a:pPr marL="274320" marR="0" lvl="0" indent="-109728" algn="l" defTabSz="932742" rtl="0" eaLnBrk="1" latinLnBrk="0" hangingPunct="1">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Turn Off EEEU (everyone except external users) at the tenant level</a:t>
                      </a:r>
                      <a:r>
                        <a:rPr lang="en-US" sz="800" kern="1200" baseline="30000">
                          <a:solidFill>
                            <a:schemeClr val="tx1"/>
                          </a:solidFill>
                          <a:latin typeface="+mn-lt"/>
                          <a:ea typeface="+mn-ea"/>
                          <a:cs typeface="Segoe UI"/>
                        </a:rPr>
                        <a:t>2</a:t>
                      </a:r>
                    </a:p>
                    <a:p>
                      <a:pPr marL="274320" marR="0" lvl="0" indent="-109728" algn="l" defTabSz="932742" rtl="0" eaLnBrk="1" latinLnBrk="0" hangingPunct="1">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Turn on Audit and view Copilot interaction activity reports and charts</a:t>
                      </a:r>
                      <a:r>
                        <a:rPr lang="en-US" sz="800" kern="1200" baseline="30000">
                          <a:solidFill>
                            <a:schemeClr val="tx1"/>
                          </a:solidFill>
                          <a:latin typeface="+mn-lt"/>
                          <a:ea typeface="+mn-ea"/>
                          <a:cs typeface="Segoe UI"/>
                        </a:rPr>
                        <a:t>1,2</a:t>
                      </a:r>
                    </a:p>
                    <a:p>
                      <a:pPr marL="274320" marR="0" lvl="0" indent="-109728" algn="l" defTabSz="932742" rtl="0" eaLnBrk="1" latinLnBrk="0" hangingPunct="1">
                        <a:lnSpc>
                          <a:spcPct val="100000"/>
                        </a:lnSpc>
                        <a:spcBef>
                          <a:spcPts val="0"/>
                        </a:spcBef>
                        <a:spcAft>
                          <a:spcPts val="200"/>
                        </a:spcAft>
                        <a:buClrTx/>
                        <a:buSzTx/>
                        <a:buFont typeface="Arial" panose="020B0604020202020204" pitchFamily="34" charset="0"/>
                        <a:buChar char="•"/>
                        <a:tabLst/>
                      </a:pPr>
                      <a:r>
                        <a:rPr lang="en-US" sz="800" kern="1200">
                          <a:solidFill>
                            <a:schemeClr val="tx1"/>
                          </a:solidFill>
                          <a:latin typeface="+mn-lt"/>
                          <a:ea typeface="+mn-ea"/>
                          <a:cs typeface="Segoe UI"/>
                        </a:rPr>
                        <a:t>Turn on audit-mode oversharing SPO DLP policy to detect anyone sharing links for labeled and </a:t>
                      </a:r>
                      <a:br>
                        <a:rPr lang="en-US" sz="800" kern="1200">
                          <a:solidFill>
                            <a:schemeClr val="tx1"/>
                          </a:solidFill>
                          <a:latin typeface="+mn-lt"/>
                          <a:ea typeface="+mn-ea"/>
                          <a:cs typeface="Segoe UI"/>
                        </a:rPr>
                      </a:br>
                      <a:r>
                        <a:rPr lang="en-US" sz="800" kern="1200">
                          <a:solidFill>
                            <a:schemeClr val="tx1"/>
                          </a:solidFill>
                          <a:latin typeface="+mn-lt"/>
                          <a:ea typeface="+mn-ea"/>
                          <a:cs typeface="Segoe UI"/>
                        </a:rPr>
                        <a:t>unlabeled data</a:t>
                      </a:r>
                      <a:r>
                        <a:rPr lang="en-US" sz="800" kern="1200" baseline="30000">
                          <a:solidFill>
                            <a:schemeClr val="tx1"/>
                          </a:solidFill>
                          <a:latin typeface="+mn-lt"/>
                          <a:ea typeface="+mn-ea"/>
                          <a:cs typeface="Segoe UI"/>
                        </a:rPr>
                        <a:t>2</a:t>
                      </a:r>
                    </a:p>
                  </a:txBody>
                  <a:tcPr marL="73152" marR="73152">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4300" marR="0" lvl="0" indent="-114300" algn="l" defTabSz="932742" rtl="0" eaLnBrk="1" fontAlgn="auto" latinLnBrk="0" hangingPunct="1">
                        <a:lnSpc>
                          <a:spcPct val="100000"/>
                        </a:lnSpc>
                        <a:spcBef>
                          <a:spcPts val="600"/>
                        </a:spcBef>
                        <a:spcAft>
                          <a:spcPts val="100"/>
                        </a:spcAft>
                        <a:buClrTx/>
                        <a:buSzTx/>
                        <a:buFont typeface="+mj-lt"/>
                        <a:buAutoNum type="arabicPeriod"/>
                        <a:tabLst/>
                        <a:defRPr/>
                      </a:pPr>
                      <a:r>
                        <a:rPr lang="en-US" sz="900" b="0" kern="1200">
                          <a:solidFill>
                            <a:schemeClr val="tx1"/>
                          </a:solidFill>
                          <a:latin typeface="+mj-lt"/>
                          <a:ea typeface="+mn-ea"/>
                          <a:cs typeface="Segoe UI"/>
                        </a:rPr>
                        <a:t>Discover oversharing risks</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a:solidFill>
                            <a:schemeClr val="tx1"/>
                          </a:solidFill>
                          <a:latin typeface="+mn-lt"/>
                          <a:ea typeface="+mn-ea"/>
                          <a:cs typeface="Segoe UI"/>
                        </a:rPr>
                        <a:t>Use permission state report with SITs to flag sites and files that are potentially overshared (Includes: EEEU, company shared links)</a:t>
                      </a:r>
                      <a:r>
                        <a:rPr lang="en-US" sz="800" kern="1200" baseline="30000">
                          <a:solidFill>
                            <a:schemeClr val="tx1"/>
                          </a:solidFill>
                          <a:latin typeface="+mn-lt"/>
                          <a:ea typeface="+mn-ea"/>
                          <a:cs typeface="Segoe UI"/>
                        </a:rPr>
                        <a:t>1</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a:solidFill>
                            <a:schemeClr val="tx1"/>
                          </a:solidFill>
                          <a:latin typeface="+mn-lt"/>
                          <a:ea typeface="+mn-ea"/>
                          <a:cs typeface="Segoe UI"/>
                        </a:rPr>
                        <a:t>Identify Copilot agent insights &amp; take actions</a:t>
                      </a:r>
                      <a:r>
                        <a:rPr lang="en-US" sz="800" kern="1200" baseline="30000">
                          <a:solidFill>
                            <a:schemeClr val="tx1"/>
                          </a:solidFill>
                          <a:latin typeface="+mn-lt"/>
                          <a:ea typeface="+mn-ea"/>
                          <a:cs typeface="Segoe UI"/>
                        </a:rPr>
                        <a:t>1</a:t>
                      </a:r>
                    </a:p>
                    <a:p>
                      <a:pPr marL="114300" marR="0" lvl="0" indent="-114300" algn="l" defTabSz="932742" rtl="0" eaLnBrk="1" fontAlgn="auto" latinLnBrk="0" hangingPunct="1">
                        <a:lnSpc>
                          <a:spcPct val="100000"/>
                        </a:lnSpc>
                        <a:spcBef>
                          <a:spcPts val="600"/>
                        </a:spcBef>
                        <a:spcAft>
                          <a:spcPts val="100"/>
                        </a:spcAft>
                        <a:buClrTx/>
                        <a:buSzTx/>
                        <a:buFont typeface="+mj-lt"/>
                        <a:buAutoNum type="arabicPeriod" startAt="2"/>
                        <a:tabLst/>
                        <a:defRPr/>
                      </a:pPr>
                      <a:r>
                        <a:rPr lang="en-US" sz="900" b="0" kern="1200" noProof="0">
                          <a:solidFill>
                            <a:schemeClr val="tx1"/>
                          </a:solidFill>
                          <a:latin typeface="+mj-lt"/>
                          <a:ea typeface="+mn-ea"/>
                          <a:cs typeface="Segoe UI"/>
                        </a:rPr>
                        <a:t>Restrict sensitive info from Copilot access and/or processing</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a:solidFill>
                            <a:schemeClr val="tx1"/>
                          </a:solidFill>
                          <a:latin typeface="+mn-lt"/>
                          <a:ea typeface="+mn-ea"/>
                          <a:cs typeface="Segoe UI"/>
                        </a:rPr>
                        <a:t>Initiate Access Review for all sites that are overshared</a:t>
                      </a:r>
                      <a:r>
                        <a:rPr lang="en-US" sz="800" kern="1200" baseline="30000">
                          <a:solidFill>
                            <a:schemeClr val="tx1"/>
                          </a:solidFill>
                          <a:latin typeface="+mn-lt"/>
                          <a:ea typeface="+mn-ea"/>
                          <a:cs typeface="Segoe UI"/>
                        </a:rPr>
                        <a:t>1</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a:solidFill>
                            <a:schemeClr val="tx1"/>
                          </a:solidFill>
                          <a:latin typeface="+mn-lt"/>
                          <a:ea typeface="+mn-ea"/>
                          <a:cs typeface="Segoe UI"/>
                        </a:rPr>
                        <a:t>Apply restricted access control (RAC) on business-critical sites</a:t>
                      </a:r>
                      <a:r>
                        <a:rPr lang="en-US" sz="800" kern="1200" baseline="30000">
                          <a:solidFill>
                            <a:schemeClr val="tx1"/>
                          </a:solidFill>
                          <a:latin typeface="+mn-lt"/>
                          <a:ea typeface="+mn-ea"/>
                          <a:cs typeface="Segoe UI"/>
                        </a:rPr>
                        <a:t>1</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a:solidFill>
                            <a:schemeClr val="tx1"/>
                          </a:solidFill>
                          <a:latin typeface="+mn-lt"/>
                          <a:ea typeface="+mn-ea"/>
                          <a:cs typeface="Segoe UI"/>
                        </a:rPr>
                        <a:t>Exclude critical sites from Copilot reasoning over them</a:t>
                      </a:r>
                      <a:r>
                        <a:rPr lang="en-US" sz="800" kern="1200" baseline="30000">
                          <a:solidFill>
                            <a:schemeClr val="tx1"/>
                          </a:solidFill>
                          <a:latin typeface="+mn-lt"/>
                          <a:ea typeface="+mn-ea"/>
                          <a:cs typeface="Segoe UI"/>
                        </a:rPr>
                        <a:t>1</a:t>
                      </a:r>
                    </a:p>
                    <a:p>
                      <a:pPr marL="114300" marR="0" lvl="0" indent="-114300" algn="l" defTabSz="932742" rtl="0" eaLnBrk="1" fontAlgn="auto" latinLnBrk="0" hangingPunct="1">
                        <a:lnSpc>
                          <a:spcPct val="100000"/>
                        </a:lnSpc>
                        <a:spcBef>
                          <a:spcPts val="600"/>
                        </a:spcBef>
                        <a:spcAft>
                          <a:spcPts val="100"/>
                        </a:spcAft>
                        <a:buClrTx/>
                        <a:buSzTx/>
                        <a:buFont typeface="+mj-lt"/>
                        <a:buAutoNum type="arabicPeriod" startAt="3"/>
                        <a:tabLst/>
                        <a:defRPr/>
                      </a:pPr>
                      <a:r>
                        <a:rPr lang="en-US" sz="900" b="0" kern="1200">
                          <a:solidFill>
                            <a:schemeClr val="tx1"/>
                          </a:solidFill>
                          <a:latin typeface="+mj-lt"/>
                          <a:ea typeface="+mn-ea"/>
                          <a:cs typeface="Segoe UI"/>
                        </a:rPr>
                        <a:t>Increase site privacy</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Publish labels to Office apps, Container/Sites, Outlook for manual data protection by user</a:t>
                      </a:r>
                      <a:r>
                        <a:rPr lang="en-US" sz="800" kern="1200" baseline="30000" noProof="0">
                          <a:solidFill>
                            <a:schemeClr val="tx1"/>
                          </a:solidFill>
                          <a:latin typeface="+mn-lt"/>
                          <a:ea typeface="+mn-ea"/>
                          <a:cs typeface="Segoe UI"/>
                        </a:rPr>
                        <a:t>2</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Use site labels to limit access to org-wide sharing by marking sites as ’Private’ and giving access only to site members</a:t>
                      </a:r>
                      <a:r>
                        <a:rPr lang="en-US" sz="800" kern="1200" baseline="30000" noProof="0">
                          <a:solidFill>
                            <a:schemeClr val="tx1"/>
                          </a:solidFill>
                          <a:latin typeface="+mn-lt"/>
                          <a:ea typeface="+mn-ea"/>
                          <a:cs typeface="Segoe UI"/>
                        </a:rPr>
                        <a:t>2</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Turn on enforce-mode oversharing SPO DLP policy to restrict access to sensitive data exposure &amp; starting remediating them</a:t>
                      </a:r>
                      <a:r>
                        <a:rPr lang="en-US" sz="800" kern="1200" baseline="30000" noProof="0">
                          <a:solidFill>
                            <a:schemeClr val="tx1"/>
                          </a:solidFill>
                          <a:latin typeface="+mn-lt"/>
                          <a:ea typeface="+mn-ea"/>
                          <a:cs typeface="Segoe UI"/>
                        </a:rPr>
                        <a:t>2</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Disable RSS (if enabled) to allow full Copilot experience</a:t>
                      </a:r>
                      <a:r>
                        <a:rPr lang="en-US" sz="800" kern="1200" baseline="30000" noProof="0">
                          <a:solidFill>
                            <a:schemeClr val="tx1"/>
                          </a:solidFill>
                          <a:latin typeface="+mn-lt"/>
                          <a:ea typeface="+mn-ea"/>
                          <a:cs typeface="Segoe UI"/>
                        </a:rPr>
                        <a:t>1</a:t>
                      </a:r>
                    </a:p>
                  </a:txBody>
                  <a:tcPr marL="73152" marR="73152">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4300" marR="0" lvl="0" indent="-114300" algn="l" defTabSz="932742" rtl="0" eaLnBrk="1" fontAlgn="auto" latinLnBrk="0" hangingPunct="1">
                        <a:lnSpc>
                          <a:spcPct val="100000"/>
                        </a:lnSpc>
                        <a:spcBef>
                          <a:spcPts val="600"/>
                        </a:spcBef>
                        <a:spcAft>
                          <a:spcPts val="100"/>
                        </a:spcAft>
                        <a:buClrTx/>
                        <a:buSzTx/>
                        <a:buFont typeface="+mj-lt"/>
                        <a:buAutoNum type="arabicPeriod"/>
                        <a:tabLst/>
                        <a:defRPr/>
                      </a:pPr>
                      <a:r>
                        <a:rPr lang="en-US" sz="900" b="0" kern="1200" noProof="0">
                          <a:solidFill>
                            <a:schemeClr val="tx1"/>
                          </a:solidFill>
                          <a:latin typeface="+mj-lt"/>
                          <a:ea typeface="+mn-ea"/>
                          <a:cs typeface="Segoe UI"/>
                        </a:rPr>
                        <a:t>Further reduce risk and simplify oversight</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Routinely run the SAM site lifecycle management policy’s site ownership policy and review the ownerless sites and assign owners</a:t>
                      </a:r>
                      <a:r>
                        <a:rPr lang="en-US" sz="800" kern="1200" baseline="30000" noProof="0">
                          <a:solidFill>
                            <a:schemeClr val="tx1"/>
                          </a:solidFill>
                          <a:latin typeface="+mn-lt"/>
                          <a:ea typeface="+mn-ea"/>
                          <a:cs typeface="Segoe UI"/>
                        </a:rPr>
                        <a:t>1</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Automate SAM permission state report to maintain permissions hygiene</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Automate permission reports and actions to maintain </a:t>
                      </a:r>
                      <a:br>
                        <a:rPr lang="en-US" sz="800" kern="1200" noProof="0">
                          <a:solidFill>
                            <a:schemeClr val="tx1"/>
                          </a:solidFill>
                          <a:latin typeface="+mn-lt"/>
                          <a:ea typeface="+mn-ea"/>
                          <a:cs typeface="Segoe UI"/>
                        </a:rPr>
                      </a:br>
                      <a:r>
                        <a:rPr lang="en-US" sz="800" kern="1200" noProof="0">
                          <a:solidFill>
                            <a:schemeClr val="tx1"/>
                          </a:solidFill>
                          <a:latin typeface="+mn-lt"/>
                          <a:ea typeface="+mn-ea"/>
                          <a:cs typeface="Segoe UI"/>
                        </a:rPr>
                        <a:t>permission hygiene</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Regularly review oversharing reports and restrict access as needed</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Proactively avoid oversharing by applying RAC at site provisioning</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Periodically review inactive sites and take necessary action</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Control site provisioning by allowing creation for users that </a:t>
                      </a:r>
                      <a:br>
                        <a:rPr lang="en-US" sz="800" kern="1200" noProof="0">
                          <a:solidFill>
                            <a:schemeClr val="tx1"/>
                          </a:solidFill>
                          <a:latin typeface="+mn-lt"/>
                          <a:ea typeface="+mn-ea"/>
                          <a:cs typeface="Segoe UI"/>
                        </a:rPr>
                      </a:br>
                      <a:r>
                        <a:rPr lang="en-US" sz="800" kern="1200" noProof="0">
                          <a:solidFill>
                            <a:schemeClr val="tx1"/>
                          </a:solidFill>
                          <a:latin typeface="+mn-lt"/>
                          <a:ea typeface="+mn-ea"/>
                          <a:cs typeface="Segoe UI"/>
                        </a:rPr>
                        <a:t>complete training</a:t>
                      </a:r>
                      <a:r>
                        <a:rPr lang="en-US" sz="800" kern="1200" baseline="30000" noProof="0">
                          <a:solidFill>
                            <a:schemeClr val="tx1"/>
                          </a:solidFill>
                          <a:latin typeface="+mn-lt"/>
                          <a:ea typeface="+mn-ea"/>
                          <a:cs typeface="Segoe UI"/>
                        </a:rPr>
                        <a:t>1</a:t>
                      </a:r>
                    </a:p>
                    <a:p>
                      <a:pPr marL="438912" marR="0" lvl="0" indent="-118872" algn="l" defTabSz="932742"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lang="en-US" sz="800" kern="1200" noProof="0">
                          <a:solidFill>
                            <a:schemeClr val="tx1"/>
                          </a:solidFill>
                          <a:latin typeface="+mn-lt"/>
                          <a:ea typeface="+mn-ea"/>
                          <a:cs typeface="Segoe UI"/>
                        </a:rPr>
                        <a:t>Use change history to identify site changes that may cause oversharing</a:t>
                      </a:r>
                      <a:r>
                        <a:rPr lang="en-US" sz="800" kern="1200" baseline="30000" noProof="0">
                          <a:solidFill>
                            <a:schemeClr val="tx1"/>
                          </a:solidFill>
                          <a:latin typeface="+mn-lt"/>
                          <a:ea typeface="+mn-ea"/>
                          <a:cs typeface="Segoe UI"/>
                        </a:rPr>
                        <a:t>1</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Continuously manage all your oversharing DLP alerts via the Microsoft Purview Portal</a:t>
                      </a:r>
                      <a:r>
                        <a:rPr lang="en-US" sz="800" kern="1200" baseline="30000" noProof="0">
                          <a:solidFill>
                            <a:schemeClr val="tx1"/>
                          </a:solidFill>
                          <a:latin typeface="+mn-lt"/>
                          <a:ea typeface="+mn-ea"/>
                          <a:cs typeface="Segoe UI"/>
                        </a:rPr>
                        <a:t>2</a:t>
                      </a:r>
                    </a:p>
                    <a:p>
                      <a:pPr marL="114300" marR="0" lvl="0" indent="-114300" algn="l" defTabSz="932742" rtl="0" eaLnBrk="1" fontAlgn="auto" latinLnBrk="0" hangingPunct="1">
                        <a:lnSpc>
                          <a:spcPct val="100000"/>
                        </a:lnSpc>
                        <a:spcBef>
                          <a:spcPts val="600"/>
                        </a:spcBef>
                        <a:spcAft>
                          <a:spcPts val="100"/>
                        </a:spcAft>
                        <a:buClrTx/>
                        <a:buSzTx/>
                        <a:buFont typeface="+mj-lt"/>
                        <a:buAutoNum type="arabicPeriod" startAt="2"/>
                        <a:tabLst/>
                        <a:defRPr/>
                      </a:pPr>
                      <a:r>
                        <a:rPr lang="en-US" sz="900" b="0" kern="1200" noProof="0">
                          <a:solidFill>
                            <a:schemeClr val="tx1"/>
                          </a:solidFill>
                          <a:latin typeface="+mj-lt"/>
                          <a:ea typeface="+mn-ea"/>
                          <a:cs typeface="Segoe UI"/>
                        </a:rPr>
                        <a:t>Further secure sensitive data</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Reduce risk by remediating alerts for overshared documents from the SPO DLP policy and applying sensitive labels</a:t>
                      </a:r>
                      <a:r>
                        <a:rPr lang="en-US" sz="800" kern="1200" baseline="30000" noProof="0">
                          <a:solidFill>
                            <a:schemeClr val="tx1"/>
                          </a:solidFill>
                          <a:latin typeface="+mn-lt"/>
                          <a:ea typeface="+mn-ea"/>
                          <a:cs typeface="Segoe UI"/>
                        </a:rPr>
                        <a:t>2</a:t>
                      </a:r>
                    </a:p>
                    <a:p>
                      <a:pPr marL="114300" marR="0" lvl="0" indent="-114300" algn="l" defTabSz="932742" rtl="0" eaLnBrk="1" fontAlgn="auto" latinLnBrk="0" hangingPunct="1">
                        <a:lnSpc>
                          <a:spcPct val="100000"/>
                        </a:lnSpc>
                        <a:spcBef>
                          <a:spcPts val="800"/>
                        </a:spcBef>
                        <a:spcAft>
                          <a:spcPts val="100"/>
                        </a:spcAft>
                        <a:buClrTx/>
                        <a:buSzTx/>
                        <a:buFont typeface="+mj-lt"/>
                        <a:buAutoNum type="arabicPeriod" startAt="3"/>
                        <a:tabLst/>
                        <a:defRPr/>
                      </a:pPr>
                      <a:r>
                        <a:rPr lang="en-US" sz="900" b="0" kern="1200" noProof="0">
                          <a:solidFill>
                            <a:schemeClr val="tx1"/>
                          </a:solidFill>
                          <a:latin typeface="+mj-lt"/>
                          <a:ea typeface="+mn-ea"/>
                          <a:cs typeface="Segoe UI"/>
                        </a:rPr>
                        <a:t>Improve Copilot responses</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Setup retention/deletion policies for SharePoint to reduce data surface</a:t>
                      </a:r>
                      <a:r>
                        <a:rPr lang="en-US" sz="800" kern="1200" baseline="30000" noProof="0">
                          <a:solidFill>
                            <a:schemeClr val="tx1"/>
                          </a:solidFill>
                          <a:latin typeface="+mn-lt"/>
                          <a:ea typeface="+mn-ea"/>
                          <a:cs typeface="Segoe UI"/>
                        </a:rPr>
                        <a:t>2</a:t>
                      </a:r>
                    </a:p>
                    <a:p>
                      <a:pPr marL="274320" marR="0" lvl="0" indent="-109728" algn="l" defTabSz="932742"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kern="1200" noProof="0">
                          <a:solidFill>
                            <a:schemeClr val="tx1"/>
                          </a:solidFill>
                          <a:latin typeface="+mn-lt"/>
                          <a:ea typeface="+mn-ea"/>
                          <a:cs typeface="Segoe UI"/>
                        </a:rPr>
                        <a:t>Identify inactive sites, then restrict access, archive or delete</a:t>
                      </a:r>
                      <a:r>
                        <a:rPr lang="en-US" sz="800" kern="1200" baseline="30000" noProof="0">
                          <a:solidFill>
                            <a:schemeClr val="tx1"/>
                          </a:solidFill>
                          <a:latin typeface="+mn-lt"/>
                          <a:ea typeface="+mn-ea"/>
                          <a:cs typeface="Segoe UI"/>
                        </a:rPr>
                        <a:t>1</a:t>
                      </a:r>
                    </a:p>
                  </a:txBody>
                  <a:tcPr marL="73152" marR="73152">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72818"/>
                  </a:ext>
                </a:extLst>
              </a:tr>
            </a:tbl>
          </a:graphicData>
        </a:graphic>
      </p:graphicFrame>
      <p:sp>
        <p:nvSpPr>
          <p:cNvPr id="16" name="TextBox 15">
            <a:extLst>
              <a:ext uri="{FF2B5EF4-FFF2-40B4-BE49-F238E27FC236}">
                <a16:creationId xmlns:a16="http://schemas.microsoft.com/office/drawing/2014/main" id="{E4E2118C-05D1-95ED-A08B-66AB3F35046B}"/>
              </a:ext>
            </a:extLst>
          </p:cNvPr>
          <p:cNvSpPr txBox="1"/>
          <p:nvPr/>
        </p:nvSpPr>
        <p:spPr>
          <a:xfrm>
            <a:off x="298451" y="6433279"/>
            <a:ext cx="11599862"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Guidance assumes Copilot technical prerequisites in place: Technical enablement of core services (Teams, SharePoint, Exchange), Office Applications deployed (modern Outlook recommended) and on current or monthly update channel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dirty="0">
                <a:ln>
                  <a:noFill/>
                </a:ln>
                <a:solidFill>
                  <a:srgbClr val="000000"/>
                </a:solidFill>
                <a:effectLst/>
                <a:uLnTx/>
                <a:uFillTx/>
                <a:latin typeface="Segoe UI"/>
                <a:ea typeface="+mn-ea"/>
                <a:cs typeface="Segoe UI"/>
              </a:rPr>
              <a:t>Learn how to use the features in the blueprint and how these features impact Microsoft 365 Copilot: </a:t>
            </a:r>
            <a:r>
              <a:rPr kumimoji="0" lang="en-AU" sz="800" b="1" i="0" u="none" strike="noStrike" kern="1200" cap="none" spc="0" normalizeH="0" baseline="0" noProof="0" dirty="0">
                <a:ln>
                  <a:noFill/>
                </a:ln>
                <a:solidFill>
                  <a:srgbClr val="000000"/>
                </a:solidFill>
                <a:effectLst/>
                <a:uLnTx/>
                <a:uFillTx/>
                <a:latin typeface="Segoe UI"/>
                <a:ea typeface="+mn-lt"/>
                <a:cs typeface="Segoe UI"/>
                <a:hlinkClick r:id="rId3"/>
              </a:rPr>
              <a:t>https://aka.ms/E3PrepareYourDataForCopilot</a:t>
            </a:r>
            <a:endParaRPr kumimoji="0" lang="en-AU" sz="800" b="1" i="0" u="none" strike="noStrike" kern="1200" cap="none" spc="0" normalizeH="0" baseline="0" noProof="0" dirty="0">
              <a:ln>
                <a:noFill/>
              </a:ln>
              <a:solidFill>
                <a:srgbClr val="000000"/>
              </a:solidFill>
              <a:effectLst/>
              <a:uLnTx/>
              <a:uFillTx/>
              <a:latin typeface="Segoe UI"/>
              <a:ea typeface="+mn-lt"/>
              <a:cs typeface="Segoe UI"/>
            </a:endParaRPr>
          </a:p>
        </p:txBody>
      </p:sp>
    </p:spTree>
    <p:extLst>
      <p:ext uri="{BB962C8B-B14F-4D97-AF65-F5344CB8AC3E}">
        <p14:creationId xmlns:p14="http://schemas.microsoft.com/office/powerpoint/2010/main" val="1203265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EB7B9-2860-F379-8C21-35EE2447EB36}"/>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7CA859A3-FCF3-AAB7-2EF1-DB052B8E13B5}"/>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72FD4DCF-89BF-F411-CEE5-FE61E3EA3277}"/>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992DC746-CE9C-FD42-E715-3C457B25E586}"/>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7C2663D9-C83A-0180-FC8C-030052E88A28}"/>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9A085FBF-BDA9-2EB3-0313-5459216F1FD3}"/>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3A07AB57-45F8-0BEC-5D2D-5CBF4EDC0ACF}"/>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C34AB96C-9A2E-0BF1-701B-31C018A94BD3}"/>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98924B40-C714-9232-B9C5-1C306C618F73}"/>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Agenda</a:t>
            </a:r>
            <a:r>
              <a:rPr kumimoji="0" lang="en-US" sz="3200" b="0" i="0" u="none" strike="noStrike" kern="1200" cap="none" spc="-50" normalizeH="0" baseline="0" noProof="0" dirty="0">
                <a:ln w="3175">
                  <a:noFill/>
                </a:ln>
                <a:solidFill>
                  <a:schemeClr val="bg1"/>
                </a:solidFill>
                <a:effectLst/>
                <a:uLnTx/>
                <a:uFillTx/>
                <a:latin typeface="+mj-lt"/>
                <a:ea typeface="+mn-ea"/>
                <a:cs typeface="Segoe UI" pitchFamily="34" charset="0"/>
              </a:rPr>
              <a:t>   </a:t>
            </a:r>
          </a:p>
        </p:txBody>
      </p:sp>
      <p:sp>
        <p:nvSpPr>
          <p:cNvPr id="36" name="Freeform: Shape 35" descr="Icon of a person in front of a screen">
            <a:extLst>
              <a:ext uri="{FF2B5EF4-FFF2-40B4-BE49-F238E27FC236}">
                <a16:creationId xmlns:a16="http://schemas.microsoft.com/office/drawing/2014/main" id="{E636055B-36AF-C00D-27E3-B3B6F5845CA9}"/>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82D68A14-DD74-CBD3-307A-0F2EB48D975A}"/>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A2F31EB6-5C40-AA20-AA53-392BE7E59930}"/>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1D4A47B6-6841-5129-9C0E-757B13FE3158}"/>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4CAB0C29-3D0C-AF18-941A-2A5DF9F976FF}"/>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1BE07B6E-E652-4A8F-413D-1C2700EEC080}"/>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82C524D2-56F5-704D-78FC-281C5C2B8F4C}"/>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A2099CA8-971E-8F60-CAE4-F627B0DB9F14}"/>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ABB1F776-E3B1-7D8A-F821-05ED35C0517E}"/>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6B98140B-6AC2-5831-2BF2-766406D644C1}"/>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95EA7953-6EDC-69ED-DCC7-836F56ABE3FF}"/>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1C63EA0E-CF23-0454-B0F4-E4238CBD2FCF}"/>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pic>
        <p:nvPicPr>
          <p:cNvPr id="12" name="Picture 11">
            <a:extLst>
              <a:ext uri="{FF2B5EF4-FFF2-40B4-BE49-F238E27FC236}">
                <a16:creationId xmlns:a16="http://schemas.microsoft.com/office/drawing/2014/main" id="{76851CEE-B348-2B2F-73B9-0537F2B4D0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948477"/>
            <a:ext cx="6816901" cy="1963250"/>
          </a:xfrm>
          <a:prstGeom prst="rect">
            <a:avLst/>
          </a:prstGeom>
        </p:spPr>
      </p:pic>
      <p:pic>
        <p:nvPicPr>
          <p:cNvPr id="14" name="Picture 13">
            <a:extLst>
              <a:ext uri="{FF2B5EF4-FFF2-40B4-BE49-F238E27FC236}">
                <a16:creationId xmlns:a16="http://schemas.microsoft.com/office/drawing/2014/main" id="{2C349DCD-2151-30F9-9D10-5F0736798C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3906412"/>
            <a:ext cx="6816901" cy="1831097"/>
          </a:xfrm>
          <a:prstGeom prst="rect">
            <a:avLst/>
          </a:prstGeom>
        </p:spPr>
      </p:pic>
    </p:spTree>
    <p:extLst>
      <p:ext uri="{BB962C8B-B14F-4D97-AF65-F5344CB8AC3E}">
        <p14:creationId xmlns:p14="http://schemas.microsoft.com/office/powerpoint/2010/main" val="140558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33C2A-EBA0-672F-6928-18CEA95726B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C7D65BB-F3F3-5A0E-9336-C2D4D0B902CE}"/>
              </a:ext>
              <a:ext uri="{C183D7F6-B498-43B3-948B-1728B52AA6E4}">
                <adec:decorative xmlns:adec="http://schemas.microsoft.com/office/drawing/2017/decorative" val="1"/>
              </a:ext>
            </a:extLst>
          </p:cNvPr>
          <p:cNvSpPr/>
          <p:nvPr/>
        </p:nvSpPr>
        <p:spPr bwMode="auto">
          <a:xfrm>
            <a:off x="0" y="6387864"/>
            <a:ext cx="12192000" cy="470136"/>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9EC59873-2ED2-2276-1450-4195A966E36C}"/>
              </a:ext>
              <a:ext uri="{C183D7F6-B498-43B3-948B-1728B52AA6E4}">
                <adec:decorative xmlns:adec="http://schemas.microsoft.com/office/drawing/2017/decorative" val="1"/>
              </a:ext>
            </a:extLst>
          </p:cNvPr>
          <p:cNvPicPr>
            <a:picLocks noChangeAspect="1"/>
          </p:cNvPicPr>
          <p:nvPr/>
        </p:nvPicPr>
        <p:blipFill rotWithShape="1">
          <a:blip r:embed="rId3"/>
          <a:srcRect r="3299" b="4025"/>
          <a:stretch/>
        </p:blipFill>
        <p:spPr>
          <a:xfrm>
            <a:off x="3527383" y="1193800"/>
            <a:ext cx="9680617" cy="5664534"/>
          </a:xfrm>
          <a:prstGeom prst="rect">
            <a:avLst/>
          </a:prstGeom>
        </p:spPr>
      </p:pic>
      <p:sp>
        <p:nvSpPr>
          <p:cNvPr id="2" name="Title 1">
            <a:extLst>
              <a:ext uri="{FF2B5EF4-FFF2-40B4-BE49-F238E27FC236}">
                <a16:creationId xmlns:a16="http://schemas.microsoft.com/office/drawing/2014/main" id="{B7C5A246-7632-274A-AFC4-4520D14D89D0}"/>
              </a:ext>
            </a:extLst>
          </p:cNvPr>
          <p:cNvSpPr>
            <a:spLocks noGrp="1"/>
          </p:cNvSpPr>
          <p:nvPr>
            <p:ph type="title"/>
          </p:nvPr>
        </p:nvSpPr>
        <p:spPr>
          <a:xfrm>
            <a:off x="574816" y="510988"/>
            <a:ext cx="11018520" cy="492443"/>
          </a:xfrm>
        </p:spPr>
        <p:txBody>
          <a:bodyPr>
            <a:normAutofit fontScale="90000"/>
          </a:bodyPr>
          <a:lstStyle/>
          <a:p>
            <a:r>
              <a:rPr lang="en-BE" sz="3200" spc="-90"/>
              <a:t>Restricted SharePoint Search</a:t>
            </a:r>
            <a:endParaRPr lang="en-US" sz="3200" spc="-90"/>
          </a:p>
        </p:txBody>
      </p:sp>
      <p:sp>
        <p:nvSpPr>
          <p:cNvPr id="4" name="Text Placeholder 3">
            <a:extLst>
              <a:ext uri="{FF2B5EF4-FFF2-40B4-BE49-F238E27FC236}">
                <a16:creationId xmlns:a16="http://schemas.microsoft.com/office/drawing/2014/main" id="{78BA0D26-AAA6-6315-32EB-7431BAFD653B}"/>
              </a:ext>
            </a:extLst>
          </p:cNvPr>
          <p:cNvSpPr>
            <a:spLocks noGrp="1"/>
          </p:cNvSpPr>
          <p:nvPr>
            <p:ph type="body" sz="quarter" idx="4294967295"/>
          </p:nvPr>
        </p:nvSpPr>
        <p:spPr>
          <a:xfrm>
            <a:off x="574816" y="1013928"/>
            <a:ext cx="10675938" cy="276999"/>
          </a:xfrm>
        </p:spPr>
        <p:txBody>
          <a:bodyPr>
            <a:normAutofit fontScale="55000" lnSpcReduction="20000"/>
          </a:bodyPr>
          <a:lstStyle/>
          <a:p>
            <a:pPr marL="0" indent="0">
              <a:buNone/>
            </a:pPr>
            <a:r>
              <a:rPr lang="en-BE">
                <a:latin typeface="+mn-lt"/>
              </a:rPr>
              <a:t>Temporary mitigation for customers where oversharing of data is a concern</a:t>
            </a:r>
            <a:endParaRPr lang="en-US">
              <a:latin typeface="+mn-lt"/>
            </a:endParaRPr>
          </a:p>
        </p:txBody>
      </p:sp>
      <p:sp>
        <p:nvSpPr>
          <p:cNvPr id="59" name="Oval 58">
            <a:extLst>
              <a:ext uri="{FF2B5EF4-FFF2-40B4-BE49-F238E27FC236}">
                <a16:creationId xmlns:a16="http://schemas.microsoft.com/office/drawing/2014/main" id="{54B74088-087B-572A-0094-62C2FB921289}"/>
              </a:ext>
              <a:ext uri="{C183D7F6-B498-43B3-948B-1728B52AA6E4}">
                <adec:decorative xmlns:adec="http://schemas.microsoft.com/office/drawing/2017/decorative" val="1"/>
              </a:ext>
            </a:extLst>
          </p:cNvPr>
          <p:cNvSpPr/>
          <p:nvPr/>
        </p:nvSpPr>
        <p:spPr bwMode="auto">
          <a:xfrm>
            <a:off x="588263" y="3899538"/>
            <a:ext cx="640080" cy="640080"/>
          </a:xfrm>
          <a:prstGeom prst="ellipse">
            <a:avLst/>
          </a:prstGeom>
          <a:solidFill>
            <a:srgbClr val="008A3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3" name="Oval 52">
            <a:extLst>
              <a:ext uri="{FF2B5EF4-FFF2-40B4-BE49-F238E27FC236}">
                <a16:creationId xmlns:a16="http://schemas.microsoft.com/office/drawing/2014/main" id="{3AC21F8A-B416-09BB-B07C-9DE2BB8B7B02}"/>
              </a:ext>
              <a:ext uri="{C183D7F6-B498-43B3-948B-1728B52AA6E4}">
                <adec:decorative xmlns:adec="http://schemas.microsoft.com/office/drawing/2017/decorative" val="1"/>
              </a:ext>
            </a:extLst>
          </p:cNvPr>
          <p:cNvSpPr/>
          <p:nvPr/>
        </p:nvSpPr>
        <p:spPr bwMode="auto">
          <a:xfrm>
            <a:off x="588263" y="2106279"/>
            <a:ext cx="640080" cy="640080"/>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6" name="Oval 55">
            <a:extLst>
              <a:ext uri="{FF2B5EF4-FFF2-40B4-BE49-F238E27FC236}">
                <a16:creationId xmlns:a16="http://schemas.microsoft.com/office/drawing/2014/main" id="{47F22021-A86E-AE37-0BF4-C6E69FACC8CC}"/>
              </a:ext>
              <a:ext uri="{C183D7F6-B498-43B3-948B-1728B52AA6E4}">
                <adec:decorative xmlns:adec="http://schemas.microsoft.com/office/drawing/2017/decorative" val="1"/>
              </a:ext>
            </a:extLst>
          </p:cNvPr>
          <p:cNvSpPr/>
          <p:nvPr/>
        </p:nvSpPr>
        <p:spPr bwMode="auto">
          <a:xfrm>
            <a:off x="588263" y="2992962"/>
            <a:ext cx="640080" cy="6400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1" name="!! Capability details">
            <a:extLst>
              <a:ext uri="{FF2B5EF4-FFF2-40B4-BE49-F238E27FC236}">
                <a16:creationId xmlns:a16="http://schemas.microsoft.com/office/drawing/2014/main" id="{56E07930-C9F3-76FA-05CD-1D7BA240B24E}"/>
              </a:ext>
            </a:extLst>
          </p:cNvPr>
          <p:cNvSpPr txBox="1"/>
          <p:nvPr/>
        </p:nvSpPr>
        <p:spPr>
          <a:xfrm>
            <a:off x="1495880" y="2288804"/>
            <a:ext cx="5022646" cy="206210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4800"/>
              </a:spcAft>
              <a:buClrTx/>
              <a:buSzTx/>
              <a:buFontTx/>
              <a:buNone/>
              <a:tabLst/>
              <a:defRPr/>
            </a:pP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Impacts Copilot </a:t>
            </a:r>
            <a:r>
              <a:rPr kumimoji="0" lang="en-BE" sz="180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and</a:t>
            </a: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 </a:t>
            </a:r>
            <a:r>
              <a:rPr kumimoji="0" lang="en-BE" sz="1800" b="1"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organization-wide</a:t>
            </a: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 Search</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4800"/>
              </a:spcAft>
              <a:buClrTx/>
              <a:buSzTx/>
              <a:buFontTx/>
              <a:buNone/>
              <a:tabLst/>
              <a:defRPr/>
            </a:pPr>
            <a:r>
              <a:rPr lang="en-BE" b="1">
                <a:gradFill>
                  <a:gsLst>
                    <a:gs pos="0">
                      <a:srgbClr val="282828"/>
                    </a:gs>
                    <a:gs pos="100000">
                      <a:srgbClr val="282828"/>
                    </a:gs>
                  </a:gsLst>
                  <a:lin ang="5400000" scaled="0"/>
                </a:gradFill>
                <a:latin typeface="Segoe UI"/>
                <a:cs typeface="Segoe UI Semibold" panose="020B0702040204020203" pitchFamily="34" charset="0"/>
              </a:rPr>
              <a:t>Restricts the scope </a:t>
            </a:r>
            <a:r>
              <a:rPr lang="en-BE">
                <a:gradFill>
                  <a:gsLst>
                    <a:gs pos="0">
                      <a:srgbClr val="282828"/>
                    </a:gs>
                    <a:gs pos="100000">
                      <a:srgbClr val="282828"/>
                    </a:gs>
                  </a:gsLst>
                  <a:lin ang="5400000" scaled="0"/>
                </a:gradFill>
                <a:latin typeface="Segoe UI"/>
                <a:cs typeface="Segoe UI Semibold" panose="020B0702040204020203" pitchFamily="34" charset="0"/>
              </a:rPr>
              <a:t>of search to site whitelist</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4800"/>
              </a:spcAft>
              <a:buClrTx/>
              <a:buSzTx/>
              <a:buFontTx/>
              <a:buNone/>
              <a:tabLst/>
              <a:defRPr/>
            </a:pPr>
            <a:r>
              <a:rPr lang="en-BE">
                <a:gradFill>
                  <a:gsLst>
                    <a:gs pos="0">
                      <a:srgbClr val="282828"/>
                    </a:gs>
                    <a:gs pos="100000">
                      <a:srgbClr val="282828"/>
                    </a:gs>
                  </a:gsLst>
                  <a:lin ang="5400000" scaled="0"/>
                </a:gradFill>
                <a:latin typeface="Segoe UI"/>
                <a:cs typeface="Segoe UI Semibold" panose="020B0702040204020203" pitchFamily="34" charset="0"/>
              </a:rPr>
              <a:t>Workaround to </a:t>
            </a:r>
            <a:r>
              <a:rPr lang="en-BE" b="1">
                <a:gradFill>
                  <a:gsLst>
                    <a:gs pos="0">
                      <a:srgbClr val="282828"/>
                    </a:gs>
                    <a:gs pos="100000">
                      <a:srgbClr val="282828"/>
                    </a:gs>
                  </a:gsLst>
                  <a:lin ang="5400000" scaled="0"/>
                </a:gradFill>
                <a:latin typeface="Segoe UI"/>
                <a:cs typeface="Segoe UI Semibold" panose="020B0702040204020203" pitchFamily="34" charset="0"/>
              </a:rPr>
              <a:t>unlock</a:t>
            </a:r>
            <a:r>
              <a:rPr lang="en-BE">
                <a:gradFill>
                  <a:gsLst>
                    <a:gs pos="0">
                      <a:srgbClr val="282828"/>
                    </a:gs>
                    <a:gs pos="100000">
                      <a:srgbClr val="282828"/>
                    </a:gs>
                  </a:gsLst>
                  <a:lin ang="5400000" scaled="0"/>
                </a:gradFill>
                <a:latin typeface="Segoe UI"/>
                <a:cs typeface="Segoe UI Semibold" panose="020B0702040204020203" pitchFamily="34" charset="0"/>
              </a:rPr>
              <a:t> </a:t>
            </a: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Copilot deployment</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p:txBody>
      </p:sp>
      <p:sp>
        <p:nvSpPr>
          <p:cNvPr id="3" name="Rectangle: Rounded Corners 2">
            <a:extLst>
              <a:ext uri="{FF2B5EF4-FFF2-40B4-BE49-F238E27FC236}">
                <a16:creationId xmlns:a16="http://schemas.microsoft.com/office/drawing/2014/main" id="{7E3DB360-B2BC-5D8E-49AE-99FEDF7E58BA}"/>
              </a:ext>
              <a:ext uri="{C183D7F6-B498-43B3-948B-1728B52AA6E4}">
                <adec:decorative xmlns:adec="http://schemas.microsoft.com/office/drawing/2017/decorative" val="1"/>
              </a:ext>
            </a:extLst>
          </p:cNvPr>
          <p:cNvSpPr/>
          <p:nvPr/>
        </p:nvSpPr>
        <p:spPr bwMode="auto">
          <a:xfrm>
            <a:off x="6874150" y="1518716"/>
            <a:ext cx="7643939" cy="4828296"/>
          </a:xfrm>
          <a:prstGeom prst="roundRect">
            <a:avLst>
              <a:gd name="adj" fmla="val 2491"/>
            </a:avLst>
          </a:prstGeom>
          <a:solidFill>
            <a:schemeClr val="tx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pic>
        <p:nvPicPr>
          <p:cNvPr id="12" name="Graphic 11">
            <a:extLst>
              <a:ext uri="{FF2B5EF4-FFF2-40B4-BE49-F238E27FC236}">
                <a16:creationId xmlns:a16="http://schemas.microsoft.com/office/drawing/2014/main" id="{6AF21555-48C3-55E2-66AC-75C6369141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8907" y="2217428"/>
            <a:ext cx="385178" cy="385178"/>
          </a:xfrm>
          <a:prstGeom prst="rect">
            <a:avLst/>
          </a:prstGeom>
        </p:spPr>
      </p:pic>
      <p:pic>
        <p:nvPicPr>
          <p:cNvPr id="14" name="Graphic 13">
            <a:extLst>
              <a:ext uri="{FF2B5EF4-FFF2-40B4-BE49-F238E27FC236}">
                <a16:creationId xmlns:a16="http://schemas.microsoft.com/office/drawing/2014/main" id="{D18600EB-63E1-21DC-66D4-412B445FD66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1042" y="3106439"/>
            <a:ext cx="392806" cy="392806"/>
          </a:xfrm>
          <a:prstGeom prst="rect">
            <a:avLst/>
          </a:prstGeom>
        </p:spPr>
      </p:pic>
      <p:pic>
        <p:nvPicPr>
          <p:cNvPr id="16" name="Graphic 15">
            <a:extLst>
              <a:ext uri="{FF2B5EF4-FFF2-40B4-BE49-F238E27FC236}">
                <a16:creationId xmlns:a16="http://schemas.microsoft.com/office/drawing/2014/main" id="{F93E35D3-795F-8854-58A9-E8BCDE0F2A8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8907" y="4024284"/>
            <a:ext cx="372062" cy="372062"/>
          </a:xfrm>
          <a:prstGeom prst="rect">
            <a:avLst/>
          </a:prstGeom>
        </p:spPr>
      </p:pic>
      <p:pic>
        <p:nvPicPr>
          <p:cNvPr id="18" name="Picture 17">
            <a:extLst>
              <a:ext uri="{FF2B5EF4-FFF2-40B4-BE49-F238E27FC236}">
                <a16:creationId xmlns:a16="http://schemas.microsoft.com/office/drawing/2014/main" id="{76F77438-7ADD-95FC-452A-477E3DECC557}"/>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7003681" y="1750588"/>
            <a:ext cx="7349865" cy="4459711"/>
          </a:xfrm>
          <a:prstGeom prst="rect">
            <a:avLst/>
          </a:prstGeom>
          <a:effectLst/>
        </p:spPr>
      </p:pic>
    </p:spTree>
    <p:extLst>
      <p:ext uri="{BB962C8B-B14F-4D97-AF65-F5344CB8AC3E}">
        <p14:creationId xmlns:p14="http://schemas.microsoft.com/office/powerpoint/2010/main" val="1659996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5601-8571-F061-D512-3BF797BDE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FE4FA-C124-9AA2-7D3F-F1A7954FE0EE}"/>
              </a:ext>
            </a:extLst>
          </p:cNvPr>
          <p:cNvSpPr>
            <a:spLocks noGrp="1"/>
          </p:cNvSpPr>
          <p:nvPr>
            <p:ph type="title"/>
          </p:nvPr>
        </p:nvSpPr>
        <p:spPr>
          <a:xfrm>
            <a:off x="574816" y="510988"/>
            <a:ext cx="11018520" cy="430887"/>
          </a:xfrm>
        </p:spPr>
        <p:txBody>
          <a:bodyPr>
            <a:normAutofit fontScale="90000"/>
          </a:bodyPr>
          <a:lstStyle/>
          <a:p>
            <a:r>
              <a:rPr lang="en-BE" spc="-90"/>
              <a:t>Which data can Copilot still retrieve &amp; use with RSS enabled? </a:t>
            </a:r>
            <a:endParaRPr lang="en-US" spc="-90"/>
          </a:p>
        </p:txBody>
      </p:sp>
      <p:sp>
        <p:nvSpPr>
          <p:cNvPr id="59" name="Oval 58">
            <a:extLst>
              <a:ext uri="{FF2B5EF4-FFF2-40B4-BE49-F238E27FC236}">
                <a16:creationId xmlns:a16="http://schemas.microsoft.com/office/drawing/2014/main" id="{D8B5CFB9-4049-B057-FF43-8AB704A31D58}"/>
              </a:ext>
              <a:ext uri="{C183D7F6-B498-43B3-948B-1728B52AA6E4}">
                <adec:decorative xmlns:adec="http://schemas.microsoft.com/office/drawing/2017/decorative" val="1"/>
              </a:ext>
            </a:extLst>
          </p:cNvPr>
          <p:cNvSpPr/>
          <p:nvPr/>
        </p:nvSpPr>
        <p:spPr bwMode="auto">
          <a:xfrm>
            <a:off x="588262" y="4264010"/>
            <a:ext cx="640080" cy="640080"/>
          </a:xfrm>
          <a:prstGeom prst="ellipse">
            <a:avLst/>
          </a:prstGeom>
          <a:solidFill>
            <a:srgbClr val="008A3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3" name="Oval 52">
            <a:extLst>
              <a:ext uri="{FF2B5EF4-FFF2-40B4-BE49-F238E27FC236}">
                <a16:creationId xmlns:a16="http://schemas.microsoft.com/office/drawing/2014/main" id="{293202D6-A985-0574-E2BF-ABD30E7F031D}"/>
              </a:ext>
              <a:ext uri="{C183D7F6-B498-43B3-948B-1728B52AA6E4}">
                <adec:decorative xmlns:adec="http://schemas.microsoft.com/office/drawing/2017/decorative" val="1"/>
              </a:ext>
            </a:extLst>
          </p:cNvPr>
          <p:cNvSpPr/>
          <p:nvPr/>
        </p:nvSpPr>
        <p:spPr bwMode="auto">
          <a:xfrm>
            <a:off x="588262" y="1941175"/>
            <a:ext cx="640080" cy="640080"/>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6" name="Oval 55">
            <a:extLst>
              <a:ext uri="{FF2B5EF4-FFF2-40B4-BE49-F238E27FC236}">
                <a16:creationId xmlns:a16="http://schemas.microsoft.com/office/drawing/2014/main" id="{B0DD82A8-0166-A7AE-7F5D-E169E876B0CF}"/>
              </a:ext>
              <a:ext uri="{C183D7F6-B498-43B3-948B-1728B52AA6E4}">
                <adec:decorative xmlns:adec="http://schemas.microsoft.com/office/drawing/2017/decorative" val="1"/>
              </a:ext>
            </a:extLst>
          </p:cNvPr>
          <p:cNvSpPr/>
          <p:nvPr/>
        </p:nvSpPr>
        <p:spPr bwMode="auto">
          <a:xfrm>
            <a:off x="588262" y="3133772"/>
            <a:ext cx="640080" cy="6400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sp>
        <p:nvSpPr>
          <p:cNvPr id="51" name="!! Capability details">
            <a:extLst>
              <a:ext uri="{FF2B5EF4-FFF2-40B4-BE49-F238E27FC236}">
                <a16:creationId xmlns:a16="http://schemas.microsoft.com/office/drawing/2014/main" id="{BC03DEC2-59DC-DC90-D397-A375B1EC5BE7}"/>
              </a:ext>
            </a:extLst>
          </p:cNvPr>
          <p:cNvSpPr txBox="1"/>
          <p:nvPr/>
        </p:nvSpPr>
        <p:spPr>
          <a:xfrm>
            <a:off x="1719615" y="1982450"/>
            <a:ext cx="3523593" cy="289310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4800"/>
              </a:spcAft>
              <a:buClrTx/>
              <a:buSzTx/>
              <a:buFontTx/>
              <a:buNone/>
              <a:tabLst/>
              <a:defRPr/>
            </a:pP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Allowed list of curated SharePoint sites setup by admin</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4800"/>
              </a:spcAft>
              <a:buClrTx/>
              <a:buSzTx/>
              <a:buFontTx/>
              <a:buNone/>
              <a:tabLst/>
              <a:defRPr/>
            </a:pPr>
            <a:r>
              <a:rPr lang="en-BE">
                <a:gradFill>
                  <a:gsLst>
                    <a:gs pos="0">
                      <a:srgbClr val="282828"/>
                    </a:gs>
                    <a:gs pos="100000">
                      <a:srgbClr val="282828"/>
                    </a:gs>
                  </a:gsLst>
                  <a:lin ang="5400000" scaled="0"/>
                </a:gradFill>
                <a:latin typeface="Segoe UI"/>
                <a:cs typeface="Segoe UI Semibold" panose="020B0702040204020203" pitchFamily="34" charset="0"/>
              </a:rPr>
              <a:t>User’s content such as OneDrive files, chats, emails and calendar</a:t>
            </a:r>
            <a:endParaRPr kumimoji="0" lang="en-US" sz="180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4800"/>
              </a:spcAft>
              <a:buClrTx/>
              <a:buSzTx/>
              <a:buFontTx/>
              <a:buNone/>
              <a:tabLst/>
              <a:defRPr/>
            </a:pPr>
            <a:r>
              <a:rPr lang="en-BE">
                <a:gradFill>
                  <a:gsLst>
                    <a:gs pos="0">
                      <a:srgbClr val="282828"/>
                    </a:gs>
                    <a:gs pos="100000">
                      <a:srgbClr val="282828"/>
                    </a:gs>
                  </a:gsLst>
                  <a:lin ang="5400000" scaled="0"/>
                </a:gradFill>
                <a:latin typeface="Segoe UI"/>
                <a:cs typeface="Segoe UI Semibold" panose="020B0702040204020203" pitchFamily="34" charset="0"/>
              </a:rPr>
              <a:t>Files from their frequently visited SharePoint sites</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p:txBody>
      </p:sp>
      <p:sp>
        <p:nvSpPr>
          <p:cNvPr id="6" name="Rectangle 5">
            <a:extLst>
              <a:ext uri="{FF2B5EF4-FFF2-40B4-BE49-F238E27FC236}">
                <a16:creationId xmlns:a16="http://schemas.microsoft.com/office/drawing/2014/main" id="{F16580E0-51E2-0359-0526-7E1A461F7BF2}"/>
              </a:ext>
              <a:ext uri="{C183D7F6-B498-43B3-948B-1728B52AA6E4}">
                <adec:decorative xmlns:adec="http://schemas.microsoft.com/office/drawing/2017/decorative" val="1"/>
              </a:ext>
            </a:extLst>
          </p:cNvPr>
          <p:cNvSpPr/>
          <p:nvPr/>
        </p:nvSpPr>
        <p:spPr bwMode="auto">
          <a:xfrm>
            <a:off x="0" y="6387864"/>
            <a:ext cx="12192000" cy="470136"/>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16" name="Graphic 15">
            <a:extLst>
              <a:ext uri="{FF2B5EF4-FFF2-40B4-BE49-F238E27FC236}">
                <a16:creationId xmlns:a16="http://schemas.microsoft.com/office/drawing/2014/main" id="{19AB7F0E-D109-8EE2-F7E6-246DCFE2421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8793" y="4546452"/>
            <a:ext cx="263588" cy="263588"/>
          </a:xfrm>
          <a:prstGeom prst="rect">
            <a:avLst/>
          </a:prstGeom>
        </p:spPr>
      </p:pic>
      <p:sp>
        <p:nvSpPr>
          <p:cNvPr id="5" name="!! Capability details">
            <a:extLst>
              <a:ext uri="{FF2B5EF4-FFF2-40B4-BE49-F238E27FC236}">
                <a16:creationId xmlns:a16="http://schemas.microsoft.com/office/drawing/2014/main" id="{0645C005-766E-93DE-7410-F46558723340}"/>
              </a:ext>
            </a:extLst>
          </p:cNvPr>
          <p:cNvSpPr txBox="1"/>
          <p:nvPr/>
        </p:nvSpPr>
        <p:spPr>
          <a:xfrm>
            <a:off x="7386518" y="1982450"/>
            <a:ext cx="3523593" cy="172354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4800"/>
              </a:spcAft>
              <a:buClrTx/>
              <a:buSzTx/>
              <a:buFontTx/>
              <a:buNone/>
              <a:tabLst/>
              <a:defRPr/>
            </a:pPr>
            <a:r>
              <a:rPr kumimoji="0" lang="en-BE"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rPr>
              <a:t>Files that were shared directly with the user</a:t>
            </a:r>
            <a:endParaRPr kumimoji="0" lang="en-US" sz="1800" b="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4800"/>
              </a:spcAft>
              <a:buClrTx/>
              <a:buSzTx/>
              <a:buFontTx/>
              <a:buNone/>
              <a:tabLst/>
              <a:defRPr/>
            </a:pPr>
            <a:r>
              <a:rPr lang="en-BE">
                <a:gradFill>
                  <a:gsLst>
                    <a:gs pos="0">
                      <a:srgbClr val="282828"/>
                    </a:gs>
                    <a:gs pos="100000">
                      <a:srgbClr val="282828"/>
                    </a:gs>
                  </a:gsLst>
                  <a:lin ang="5400000" scaled="0"/>
                </a:gradFill>
                <a:latin typeface="Segoe UI"/>
                <a:cs typeface="Segoe UI Semibold" panose="020B0702040204020203" pitchFamily="34" charset="0"/>
              </a:rPr>
              <a:t>Files that the users viewed, edited or created</a:t>
            </a:r>
            <a:endParaRPr kumimoji="0" lang="en-US" sz="1800" i="0" u="none" strike="noStrike" kern="1200" cap="none" spc="0" normalizeH="0" baseline="0" noProof="0">
              <a:ln>
                <a:noFill/>
              </a:ln>
              <a:gradFill>
                <a:gsLst>
                  <a:gs pos="0">
                    <a:srgbClr val="282828"/>
                  </a:gs>
                  <a:gs pos="100000">
                    <a:srgbClr val="282828"/>
                  </a:gs>
                </a:gsLst>
                <a:lin ang="5400000" scaled="0"/>
              </a:gradFill>
              <a:effectLst/>
              <a:uLnTx/>
              <a:uFillTx/>
              <a:latin typeface="Segoe UI"/>
              <a:ea typeface="+mn-ea"/>
              <a:cs typeface="Segoe UI Semibold" panose="020B0702040204020203" pitchFamily="34" charset="0"/>
            </a:endParaRPr>
          </a:p>
        </p:txBody>
      </p:sp>
      <p:pic>
        <p:nvPicPr>
          <p:cNvPr id="9" name="Graphic 8">
            <a:extLst>
              <a:ext uri="{FF2B5EF4-FFF2-40B4-BE49-F238E27FC236}">
                <a16:creationId xmlns:a16="http://schemas.microsoft.com/office/drawing/2014/main" id="{0FB1CF9D-CEAD-40D3-F1EF-A9DAD593ADD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8056" y="2053915"/>
            <a:ext cx="433761" cy="433761"/>
          </a:xfrm>
          <a:prstGeom prst="rect">
            <a:avLst/>
          </a:prstGeom>
        </p:spPr>
      </p:pic>
      <p:pic>
        <p:nvPicPr>
          <p:cNvPr id="11" name="Graphic 10">
            <a:extLst>
              <a:ext uri="{FF2B5EF4-FFF2-40B4-BE49-F238E27FC236}">
                <a16:creationId xmlns:a16="http://schemas.microsoft.com/office/drawing/2014/main" id="{207AB1B1-534F-EB34-2420-312129390227}"/>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4345" y="3210128"/>
            <a:ext cx="457200" cy="457200"/>
          </a:xfrm>
          <a:prstGeom prst="rect">
            <a:avLst/>
          </a:prstGeom>
        </p:spPr>
      </p:pic>
      <p:pic>
        <p:nvPicPr>
          <p:cNvPr id="15" name="Graphic 14">
            <a:extLst>
              <a:ext uri="{FF2B5EF4-FFF2-40B4-BE49-F238E27FC236}">
                <a16:creationId xmlns:a16="http://schemas.microsoft.com/office/drawing/2014/main" id="{9EF5734C-FB7A-0D45-FD6D-30744D00AE7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8056" y="4333999"/>
            <a:ext cx="362531" cy="362531"/>
          </a:xfrm>
          <a:prstGeom prst="rect">
            <a:avLst/>
          </a:prstGeom>
        </p:spPr>
      </p:pic>
      <p:sp>
        <p:nvSpPr>
          <p:cNvPr id="17" name="Oval 16">
            <a:extLst>
              <a:ext uri="{FF2B5EF4-FFF2-40B4-BE49-F238E27FC236}">
                <a16:creationId xmlns:a16="http://schemas.microsoft.com/office/drawing/2014/main" id="{D3ECF31D-7408-01F6-4AFB-2B9607964C8D}"/>
              </a:ext>
              <a:ext uri="{C183D7F6-B498-43B3-948B-1728B52AA6E4}">
                <adec:decorative xmlns:adec="http://schemas.microsoft.com/office/drawing/2017/decorative" val="1"/>
              </a:ext>
            </a:extLst>
          </p:cNvPr>
          <p:cNvSpPr/>
          <p:nvPr/>
        </p:nvSpPr>
        <p:spPr bwMode="auto">
          <a:xfrm>
            <a:off x="6298190" y="1935000"/>
            <a:ext cx="640080" cy="640080"/>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pic>
        <p:nvPicPr>
          <p:cNvPr id="20" name="Graphic 19">
            <a:extLst>
              <a:ext uri="{FF2B5EF4-FFF2-40B4-BE49-F238E27FC236}">
                <a16:creationId xmlns:a16="http://schemas.microsoft.com/office/drawing/2014/main" id="{EB95C23F-9AC8-E203-032D-6F34E4AAA7B4}"/>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97984" y="2004989"/>
            <a:ext cx="362531" cy="362531"/>
          </a:xfrm>
          <a:prstGeom prst="rect">
            <a:avLst/>
          </a:prstGeom>
        </p:spPr>
      </p:pic>
      <p:pic>
        <p:nvPicPr>
          <p:cNvPr id="22" name="Graphic 21">
            <a:extLst>
              <a:ext uri="{FF2B5EF4-FFF2-40B4-BE49-F238E27FC236}">
                <a16:creationId xmlns:a16="http://schemas.microsoft.com/office/drawing/2014/main" id="{22F013BD-FA29-C62C-2E57-238C10758AA0}"/>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5593912">
            <a:off x="6597857" y="2205223"/>
            <a:ext cx="295072" cy="295072"/>
          </a:xfrm>
          <a:prstGeom prst="rect">
            <a:avLst/>
          </a:prstGeom>
        </p:spPr>
      </p:pic>
      <p:sp>
        <p:nvSpPr>
          <p:cNvPr id="23" name="Oval 22">
            <a:extLst>
              <a:ext uri="{FF2B5EF4-FFF2-40B4-BE49-F238E27FC236}">
                <a16:creationId xmlns:a16="http://schemas.microsoft.com/office/drawing/2014/main" id="{13B41C81-57FF-217E-A74B-D00DCA928C82}"/>
              </a:ext>
              <a:ext uri="{C183D7F6-B498-43B3-948B-1728B52AA6E4}">
                <adec:decorative xmlns:adec="http://schemas.microsoft.com/office/drawing/2017/decorative" val="1"/>
              </a:ext>
            </a:extLst>
          </p:cNvPr>
          <p:cNvSpPr/>
          <p:nvPr/>
        </p:nvSpPr>
        <p:spPr bwMode="auto">
          <a:xfrm>
            <a:off x="6298190" y="3133772"/>
            <a:ext cx="640080" cy="640080"/>
          </a:xfrm>
          <a:prstGeom prst="ellipse">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gradFill>
                <a:gsLst>
                  <a:gs pos="0">
                    <a:srgbClr val="FFFFFF"/>
                  </a:gs>
                  <a:gs pos="100000">
                    <a:srgbClr val="FFFFFF"/>
                  </a:gs>
                </a:gsLst>
                <a:lin ang="5400000" scaled="1"/>
              </a:gradFill>
              <a:effectLst/>
              <a:uLnTx/>
              <a:uFillTx/>
              <a:latin typeface="Segoe UI Semibold"/>
              <a:ea typeface="+mn-ea"/>
              <a:cs typeface="Segoe UI" panose="020B0502040204020203" pitchFamily="34" charset="0"/>
            </a:endParaRPr>
          </a:p>
        </p:txBody>
      </p:sp>
      <p:pic>
        <p:nvPicPr>
          <p:cNvPr id="24" name="Graphic 23">
            <a:extLst>
              <a:ext uri="{FF2B5EF4-FFF2-40B4-BE49-F238E27FC236}">
                <a16:creationId xmlns:a16="http://schemas.microsoft.com/office/drawing/2014/main" id="{14F0858A-697F-EF85-FEB7-B30D4F7D62F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97984" y="3203761"/>
            <a:ext cx="362531" cy="362531"/>
          </a:xfrm>
          <a:prstGeom prst="rect">
            <a:avLst/>
          </a:prstGeom>
        </p:spPr>
      </p:pic>
      <p:pic>
        <p:nvPicPr>
          <p:cNvPr id="27" name="Graphic 26">
            <a:extLst>
              <a:ext uri="{FF2B5EF4-FFF2-40B4-BE49-F238E27FC236}">
                <a16:creationId xmlns:a16="http://schemas.microsoft.com/office/drawing/2014/main" id="{CC21894B-8C17-3E6C-F326-F6D2A855BEC8}"/>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8230" y="3402146"/>
            <a:ext cx="272258" cy="272258"/>
          </a:xfrm>
          <a:prstGeom prst="rect">
            <a:avLst/>
          </a:prstGeom>
        </p:spPr>
      </p:pic>
    </p:spTree>
    <p:extLst>
      <p:ext uri="{BB962C8B-B14F-4D97-AF65-F5344CB8AC3E}">
        <p14:creationId xmlns:p14="http://schemas.microsoft.com/office/powerpoint/2010/main" val="173467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288F-BEAF-73BA-F90B-7C9ACC776B4B}"/>
              </a:ext>
            </a:extLst>
          </p:cNvPr>
          <p:cNvSpPr>
            <a:spLocks noGrp="1"/>
          </p:cNvSpPr>
          <p:nvPr>
            <p:ph type="title"/>
          </p:nvPr>
        </p:nvSpPr>
        <p:spPr/>
        <p:txBody>
          <a:bodyPr/>
          <a:lstStyle/>
          <a:p>
            <a:r>
              <a:rPr lang="en-BE"/>
              <a:t>Enable SharePoint Restricted Search</a:t>
            </a:r>
            <a:endParaRPr lang="en-US"/>
          </a:p>
        </p:txBody>
      </p:sp>
      <p:graphicFrame>
        <p:nvGraphicFramePr>
          <p:cNvPr id="3" name="Table 2">
            <a:extLst>
              <a:ext uri="{FF2B5EF4-FFF2-40B4-BE49-F238E27FC236}">
                <a16:creationId xmlns:a16="http://schemas.microsoft.com/office/drawing/2014/main" id="{73187542-B446-24A2-A80E-13FE17719F32}"/>
              </a:ext>
            </a:extLst>
          </p:cNvPr>
          <p:cNvGraphicFramePr>
            <a:graphicFrameLocks noGrp="1"/>
          </p:cNvGraphicFramePr>
          <p:nvPr/>
        </p:nvGraphicFramePr>
        <p:xfrm>
          <a:off x="574816" y="1150168"/>
          <a:ext cx="11361022" cy="5093082"/>
        </p:xfrm>
        <a:graphic>
          <a:graphicData uri="http://schemas.openxmlformats.org/drawingml/2006/table">
            <a:tbl>
              <a:tblPr firstRow="1" bandRow="1"/>
              <a:tblGrid>
                <a:gridCol w="819022">
                  <a:extLst>
                    <a:ext uri="{9D8B030D-6E8A-4147-A177-3AD203B41FA5}">
                      <a16:colId xmlns:a16="http://schemas.microsoft.com/office/drawing/2014/main" val="20000"/>
                    </a:ext>
                  </a:extLst>
                </a:gridCol>
                <a:gridCol w="2701507">
                  <a:extLst>
                    <a:ext uri="{9D8B030D-6E8A-4147-A177-3AD203B41FA5}">
                      <a16:colId xmlns:a16="http://schemas.microsoft.com/office/drawing/2014/main" val="20001"/>
                    </a:ext>
                  </a:extLst>
                </a:gridCol>
                <a:gridCol w="7840493">
                  <a:extLst>
                    <a:ext uri="{9D8B030D-6E8A-4147-A177-3AD203B41FA5}">
                      <a16:colId xmlns:a16="http://schemas.microsoft.com/office/drawing/2014/main" val="20002"/>
                    </a:ext>
                  </a:extLst>
                </a:gridCol>
              </a:tblGrid>
              <a:tr h="465848">
                <a:tc>
                  <a:txBody>
                    <a:bodyPr/>
                    <a:lstStyle>
                      <a:lvl1pPr>
                        <a:defRPr b="1">
                          <a:solidFill>
                            <a:schemeClr val="lt1"/>
                          </a:solidFill>
                          <a:latin typeface="Segoe UI"/>
                        </a:defRPr>
                      </a:lvl1pPr>
                      <a:lvl2pPr>
                        <a:defRPr b="1">
                          <a:solidFill>
                            <a:schemeClr val="lt1"/>
                          </a:solidFill>
                          <a:latin typeface="Segoe UI"/>
                        </a:defRPr>
                      </a:lvl2pPr>
                      <a:lvl3pPr>
                        <a:defRPr b="1">
                          <a:solidFill>
                            <a:schemeClr val="lt1"/>
                          </a:solidFill>
                          <a:latin typeface="Segoe UI"/>
                        </a:defRPr>
                      </a:lvl3pPr>
                      <a:lvl4pPr>
                        <a:defRPr b="1">
                          <a:solidFill>
                            <a:schemeClr val="lt1"/>
                          </a:solidFill>
                          <a:latin typeface="Segoe UI"/>
                        </a:defRPr>
                      </a:lvl4pPr>
                      <a:lvl5pPr>
                        <a:defRPr b="1">
                          <a:solidFill>
                            <a:schemeClr val="lt1"/>
                          </a:solidFill>
                          <a:latin typeface="Segoe UI"/>
                        </a:defRPr>
                      </a:lvl5pPr>
                      <a:lvl6pPr>
                        <a:defRPr b="1">
                          <a:solidFill>
                            <a:schemeClr val="lt1"/>
                          </a:solidFill>
                          <a:latin typeface="Segoe UI"/>
                        </a:defRPr>
                      </a:lvl6pPr>
                      <a:lvl7pPr>
                        <a:defRPr b="1">
                          <a:solidFill>
                            <a:schemeClr val="lt1"/>
                          </a:solidFill>
                          <a:latin typeface="Segoe UI"/>
                        </a:defRPr>
                      </a:lvl7pPr>
                      <a:lvl8pPr>
                        <a:defRPr b="1">
                          <a:solidFill>
                            <a:schemeClr val="lt1"/>
                          </a:solidFill>
                          <a:latin typeface="Segoe UI"/>
                        </a:defRPr>
                      </a:lvl8pPr>
                      <a:lvl9pPr>
                        <a:defRPr b="1">
                          <a:solidFill>
                            <a:schemeClr val="lt1"/>
                          </a:solidFill>
                          <a:latin typeface="Segoe UI"/>
                        </a:defRPr>
                      </a:lvl9pPr>
                    </a:lstStyle>
                    <a:p>
                      <a:r>
                        <a:rPr lang="en-BE" sz="2400" b="0">
                          <a:latin typeface="Segoe UI "/>
                          <a:cs typeface="Segoe UI Light" panose="020B0502040204020203" pitchFamily="34" charset="0"/>
                        </a:rPr>
                        <a:t>Step</a:t>
                      </a:r>
                      <a:endParaRPr lang="en-AU" sz="2400" b="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A5BBA"/>
                    </a:solidFill>
                  </a:tcPr>
                </a:tc>
                <a:tc>
                  <a:txBody>
                    <a:bodyPr/>
                    <a:lstStyle>
                      <a:lvl1pPr>
                        <a:defRPr b="1">
                          <a:solidFill>
                            <a:schemeClr val="lt1"/>
                          </a:solidFill>
                          <a:latin typeface="Segoe UI"/>
                        </a:defRPr>
                      </a:lvl1pPr>
                      <a:lvl2pPr>
                        <a:defRPr b="1">
                          <a:solidFill>
                            <a:schemeClr val="lt1"/>
                          </a:solidFill>
                          <a:latin typeface="Segoe UI"/>
                        </a:defRPr>
                      </a:lvl2pPr>
                      <a:lvl3pPr>
                        <a:defRPr b="1">
                          <a:solidFill>
                            <a:schemeClr val="lt1"/>
                          </a:solidFill>
                          <a:latin typeface="Segoe UI"/>
                        </a:defRPr>
                      </a:lvl3pPr>
                      <a:lvl4pPr>
                        <a:defRPr b="1">
                          <a:solidFill>
                            <a:schemeClr val="lt1"/>
                          </a:solidFill>
                          <a:latin typeface="Segoe UI"/>
                        </a:defRPr>
                      </a:lvl4pPr>
                      <a:lvl5pPr>
                        <a:defRPr b="1">
                          <a:solidFill>
                            <a:schemeClr val="lt1"/>
                          </a:solidFill>
                          <a:latin typeface="Segoe UI"/>
                        </a:defRPr>
                      </a:lvl5pPr>
                      <a:lvl6pPr>
                        <a:defRPr b="1">
                          <a:solidFill>
                            <a:schemeClr val="lt1"/>
                          </a:solidFill>
                          <a:latin typeface="Segoe UI"/>
                        </a:defRPr>
                      </a:lvl6pPr>
                      <a:lvl7pPr>
                        <a:defRPr b="1">
                          <a:solidFill>
                            <a:schemeClr val="lt1"/>
                          </a:solidFill>
                          <a:latin typeface="Segoe UI"/>
                        </a:defRPr>
                      </a:lvl7pPr>
                      <a:lvl8pPr>
                        <a:defRPr b="1">
                          <a:solidFill>
                            <a:schemeClr val="lt1"/>
                          </a:solidFill>
                          <a:latin typeface="Segoe UI"/>
                        </a:defRPr>
                      </a:lvl8pPr>
                      <a:lvl9pPr>
                        <a:defRPr b="1">
                          <a:solidFill>
                            <a:schemeClr val="lt1"/>
                          </a:solidFill>
                          <a:latin typeface="Segoe UI"/>
                        </a:defRPr>
                      </a:lvl9pPr>
                    </a:lstStyle>
                    <a:p>
                      <a:r>
                        <a:rPr lang="en-AU" sz="2400" b="0">
                          <a:latin typeface="Segoe UI "/>
                          <a:cs typeface="Segoe UI Light" panose="020B0502040204020203" pitchFamily="34" charset="0"/>
                        </a:rPr>
                        <a:t>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A5BBA"/>
                    </a:solidFill>
                  </a:tcPr>
                </a:tc>
                <a:tc>
                  <a:txBody>
                    <a:bodyPr/>
                    <a:lstStyle>
                      <a:lvl1pPr>
                        <a:defRPr b="1">
                          <a:solidFill>
                            <a:schemeClr val="lt1"/>
                          </a:solidFill>
                          <a:latin typeface="Segoe UI"/>
                        </a:defRPr>
                      </a:lvl1pPr>
                      <a:lvl2pPr>
                        <a:defRPr b="1">
                          <a:solidFill>
                            <a:schemeClr val="lt1"/>
                          </a:solidFill>
                          <a:latin typeface="Segoe UI"/>
                        </a:defRPr>
                      </a:lvl2pPr>
                      <a:lvl3pPr>
                        <a:defRPr b="1">
                          <a:solidFill>
                            <a:schemeClr val="lt1"/>
                          </a:solidFill>
                          <a:latin typeface="Segoe UI"/>
                        </a:defRPr>
                      </a:lvl3pPr>
                      <a:lvl4pPr>
                        <a:defRPr b="1">
                          <a:solidFill>
                            <a:schemeClr val="lt1"/>
                          </a:solidFill>
                          <a:latin typeface="Segoe UI"/>
                        </a:defRPr>
                      </a:lvl4pPr>
                      <a:lvl5pPr>
                        <a:defRPr b="1">
                          <a:solidFill>
                            <a:schemeClr val="lt1"/>
                          </a:solidFill>
                          <a:latin typeface="Segoe UI"/>
                        </a:defRPr>
                      </a:lvl5pPr>
                      <a:lvl6pPr>
                        <a:defRPr b="1">
                          <a:solidFill>
                            <a:schemeClr val="lt1"/>
                          </a:solidFill>
                          <a:latin typeface="Segoe UI"/>
                        </a:defRPr>
                      </a:lvl6pPr>
                      <a:lvl7pPr>
                        <a:defRPr b="1">
                          <a:solidFill>
                            <a:schemeClr val="lt1"/>
                          </a:solidFill>
                          <a:latin typeface="Segoe UI"/>
                        </a:defRPr>
                      </a:lvl7pPr>
                      <a:lvl8pPr>
                        <a:defRPr b="1">
                          <a:solidFill>
                            <a:schemeClr val="lt1"/>
                          </a:solidFill>
                          <a:latin typeface="Segoe UI"/>
                        </a:defRPr>
                      </a:lvl8pPr>
                      <a:lvl9pPr>
                        <a:defRPr b="1">
                          <a:solidFill>
                            <a:schemeClr val="lt1"/>
                          </a:solidFill>
                          <a:latin typeface="Segoe UI"/>
                        </a:defRPr>
                      </a:lvl9pPr>
                    </a:lstStyle>
                    <a:p>
                      <a:r>
                        <a:rPr lang="en-AU" sz="2400" b="0">
                          <a:solidFill>
                            <a:srgbClr val="F5F5F5"/>
                          </a:solidFill>
                          <a:latin typeface="Lucida Console" panose="020B0609040504020204" pitchFamily="49" charset="0"/>
                        </a:rPr>
                        <a:t>Example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A5BBA"/>
                    </a:solidFill>
                  </a:tcPr>
                </a:tc>
                <a:extLst>
                  <a:ext uri="{0D108BD9-81ED-4DB2-BD59-A6C34878D82A}">
                    <a16:rowId xmlns:a16="http://schemas.microsoft.com/office/drawing/2014/main" val="10000"/>
                  </a:ext>
                </a:extLst>
              </a:tr>
              <a:tr h="815899">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BE" sz="1600">
                          <a:latin typeface="Segoe UI "/>
                          <a:cs typeface="Segoe UI Light" panose="020B0502040204020203" pitchFamily="34" charset="0"/>
                        </a:rPr>
                        <a:t>1</a:t>
                      </a:r>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A5BBA">
                        <a:tint val="4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BE" sz="1600">
                          <a:latin typeface="Segoe UI "/>
                          <a:cs typeface="Segoe UI Light" panose="020B0502040204020203" pitchFamily="34" charset="0"/>
                        </a:rPr>
                        <a:t>Get the current mode that is set for Restricted Search</a:t>
                      </a:r>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A5BBA">
                        <a:tint val="4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AU" sz="1800">
                          <a:solidFill>
                            <a:srgbClr val="F5F5F5"/>
                          </a:solidFill>
                          <a:latin typeface="Lucida Console" panose="020B0609040504020204" pitchFamily="49" charset="0"/>
                        </a:rPr>
                        <a:t>Get-</a:t>
                      </a:r>
                      <a:r>
                        <a:rPr lang="en-AU" sz="1800" err="1">
                          <a:solidFill>
                            <a:srgbClr val="F5F5F5"/>
                          </a:solidFill>
                          <a:latin typeface="Lucida Console" panose="020B0609040504020204" pitchFamily="49" charset="0"/>
                        </a:rPr>
                        <a:t>SPOTenantRestrictedSearchMode</a:t>
                      </a:r>
                      <a:endParaRPr lang="en-AU" sz="1800">
                        <a:solidFill>
                          <a:srgbClr val="F5F5F5"/>
                        </a:solidFill>
                        <a:latin typeface="Lucida Console" panose="020B06090405040202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0001"/>
                  </a:ext>
                </a:extLst>
              </a:tr>
              <a:tr h="771151">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BE" sz="1600">
                          <a:latin typeface="Segoe UI "/>
                          <a:cs typeface="Segoe UI Light" panose="020B0502040204020203" pitchFamily="34" charset="0"/>
                        </a:rPr>
                        <a:t>2</a:t>
                      </a:r>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A5BBA">
                        <a:tint val="2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Tx/>
                        <a:buNone/>
                        <a:tabLst/>
                        <a:defRPr/>
                      </a:pPr>
                      <a:r>
                        <a:rPr lang="en-BE" sz="1600">
                          <a:latin typeface="Segoe UI "/>
                          <a:cs typeface="Segoe UI Light" panose="020B0502040204020203" pitchFamily="34" charset="0"/>
                        </a:rPr>
                        <a:t>Enable Restricted Search</a:t>
                      </a:r>
                      <a:endParaRPr lang="en-AU" sz="1600" baseline="0">
                        <a:latin typeface="Segoe UI "/>
                        <a:cs typeface="Segoe UI Light" panose="020B0502040204020203" pitchFamily="34" charset="0"/>
                      </a:endParaRPr>
                    </a:p>
                    <a:p>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A5BBA">
                        <a:tint val="2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AU" sz="1800" baseline="0">
                          <a:solidFill>
                            <a:schemeClr val="bg1"/>
                          </a:solidFill>
                          <a:latin typeface="Lucida Console" panose="020B0609040504020204" pitchFamily="49" charset="0"/>
                        </a:rPr>
                        <a:t>Set-</a:t>
                      </a:r>
                      <a:r>
                        <a:rPr lang="en-AU" sz="1800" baseline="0" err="1">
                          <a:solidFill>
                            <a:schemeClr val="bg1"/>
                          </a:solidFill>
                          <a:latin typeface="Lucida Console" panose="020B0609040504020204" pitchFamily="49" charset="0"/>
                        </a:rPr>
                        <a:t>SPOTenantRestrictedSearchMode</a:t>
                      </a:r>
                      <a:r>
                        <a:rPr lang="en-AU" sz="1800" baseline="0">
                          <a:solidFill>
                            <a:srgbClr val="E0FFFF"/>
                          </a:solidFill>
                          <a:latin typeface="Lucida Console" panose="020B0609040504020204" pitchFamily="49" charset="0"/>
                        </a:rPr>
                        <a:t> </a:t>
                      </a:r>
                      <a:r>
                        <a:rPr lang="en-AU" sz="1800" baseline="0">
                          <a:solidFill>
                            <a:schemeClr val="accent1">
                              <a:lumMod val="40000"/>
                              <a:lumOff val="60000"/>
                            </a:schemeClr>
                          </a:solidFill>
                          <a:latin typeface="Lucida Console" panose="020B0609040504020204" pitchFamily="49" charset="0"/>
                        </a:rPr>
                        <a:t>-Mode </a:t>
                      </a:r>
                      <a:r>
                        <a:rPr lang="en-AU" sz="1800" baseline="0">
                          <a:solidFill>
                            <a:schemeClr val="bg1"/>
                          </a:solidFill>
                          <a:latin typeface="Lucida Console" panose="020B0609040504020204" pitchFamily="49" charset="0"/>
                        </a:rPr>
                        <a:t>Enabled</a:t>
                      </a:r>
                      <a:endParaRPr lang="en-AU" sz="1800">
                        <a:solidFill>
                          <a:schemeClr val="bg1"/>
                        </a:solidFill>
                        <a:latin typeface="Lucida Console" panose="020B06090405040202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0002"/>
                  </a:ext>
                </a:extLst>
              </a:tr>
              <a:tr h="1520092">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BE" sz="1600">
                          <a:latin typeface="Segoe UI "/>
                          <a:cs typeface="Segoe UI Light" panose="020B0502040204020203" pitchFamily="34" charset="0"/>
                        </a:rPr>
                        <a:t>3a</a:t>
                      </a:r>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A5BBA">
                        <a:tint val="4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Tx/>
                        <a:buNone/>
                        <a:tabLst/>
                        <a:defRPr/>
                      </a:pPr>
                      <a:r>
                        <a:rPr lang="en-BE" sz="1600">
                          <a:latin typeface="Segoe UI "/>
                          <a:cs typeface="Segoe UI Light" panose="020B0502040204020203" pitchFamily="34" charset="0"/>
                        </a:rPr>
                        <a:t>Add sites using a list</a:t>
                      </a:r>
                      <a:endParaRPr lang="en-AU" sz="1600" baseline="0">
                        <a:latin typeface="Segoe UI "/>
                        <a:cs typeface="Segoe UI Light" panose="020B0502040204020203" pitchFamily="34" charset="0"/>
                      </a:endParaRPr>
                    </a:p>
                    <a:p>
                      <a:endParaRPr lang="en-AU" sz="1600">
                        <a:latin typeface="Segoe UI "/>
                        <a:cs typeface="Segoe UI Light" panose="020B050204020402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A5BBA">
                        <a:tint val="40000"/>
                      </a:srgbClr>
                    </a:solidFill>
                  </a:tcPr>
                </a:tc>
                <a:tc>
                  <a:txBody>
                    <a:bodyPr/>
                    <a:lstStyle>
                      <a:lvl1pPr>
                        <a:defRPr>
                          <a:solidFill>
                            <a:schemeClr val="dk1"/>
                          </a:solidFill>
                          <a:latin typeface="Segoe UI"/>
                        </a:defRPr>
                      </a:lvl1pPr>
                      <a:lvl2pPr>
                        <a:defRPr>
                          <a:solidFill>
                            <a:schemeClr val="dk1"/>
                          </a:solidFill>
                          <a:latin typeface="Segoe UI"/>
                        </a:defRPr>
                      </a:lvl2pPr>
                      <a:lvl3pPr>
                        <a:defRPr>
                          <a:solidFill>
                            <a:schemeClr val="dk1"/>
                          </a:solidFill>
                          <a:latin typeface="Segoe UI"/>
                        </a:defRPr>
                      </a:lvl3pPr>
                      <a:lvl4pPr>
                        <a:defRPr>
                          <a:solidFill>
                            <a:schemeClr val="dk1"/>
                          </a:solidFill>
                          <a:latin typeface="Segoe UI"/>
                        </a:defRPr>
                      </a:lvl4pPr>
                      <a:lvl5pPr>
                        <a:defRPr>
                          <a:solidFill>
                            <a:schemeClr val="dk1"/>
                          </a:solidFill>
                          <a:latin typeface="Segoe UI"/>
                        </a:defRPr>
                      </a:lvl5pPr>
                      <a:lvl6pPr>
                        <a:defRPr>
                          <a:solidFill>
                            <a:schemeClr val="dk1"/>
                          </a:solidFill>
                          <a:latin typeface="Segoe UI"/>
                        </a:defRPr>
                      </a:lvl6pPr>
                      <a:lvl7pPr>
                        <a:defRPr>
                          <a:solidFill>
                            <a:schemeClr val="dk1"/>
                          </a:solidFill>
                          <a:latin typeface="Segoe UI"/>
                        </a:defRPr>
                      </a:lvl7pPr>
                      <a:lvl8pPr>
                        <a:defRPr>
                          <a:solidFill>
                            <a:schemeClr val="dk1"/>
                          </a:solidFill>
                          <a:latin typeface="Segoe UI"/>
                        </a:defRPr>
                      </a:lvl8pPr>
                      <a:lvl9pPr>
                        <a:defRPr>
                          <a:solidFill>
                            <a:schemeClr val="dk1"/>
                          </a:solidFill>
                          <a:latin typeface="Segoe UI"/>
                        </a:defRPr>
                      </a:lvl9pPr>
                    </a:lstStyle>
                    <a:p>
                      <a:r>
                        <a:rPr lang="en-US" sz="1800">
                          <a:solidFill>
                            <a:schemeClr val="bg1"/>
                          </a:solidFill>
                          <a:latin typeface="Lucida Console" panose="020B0609040504020204" pitchFamily="49" charset="0"/>
                          <a:ea typeface="+mn-ea"/>
                          <a:cs typeface="+mn-cs"/>
                        </a:rPr>
                        <a:t>Add-</a:t>
                      </a:r>
                      <a:r>
                        <a:rPr lang="en-US" sz="1800" err="1">
                          <a:solidFill>
                            <a:schemeClr val="bg1"/>
                          </a:solidFill>
                          <a:latin typeface="Lucida Console" panose="020B0609040504020204" pitchFamily="49" charset="0"/>
                          <a:ea typeface="+mn-ea"/>
                          <a:cs typeface="+mn-cs"/>
                        </a:rPr>
                        <a:t>SPOTenantRestrictedSearchAllowedList</a:t>
                      </a:r>
                      <a:r>
                        <a:rPr lang="en-US" sz="1800">
                          <a:solidFill>
                            <a:srgbClr val="FF4500"/>
                          </a:solidFill>
                          <a:latin typeface="Lucida Console" panose="020B0609040504020204" pitchFamily="49" charset="0"/>
                          <a:ea typeface="+mn-ea"/>
                          <a:cs typeface="+mn-cs"/>
                        </a:rPr>
                        <a:t> </a:t>
                      </a:r>
                      <a:r>
                        <a:rPr lang="en-US" sz="1800">
                          <a:solidFill>
                            <a:schemeClr val="accent1">
                              <a:lumMod val="40000"/>
                              <a:lumOff val="60000"/>
                            </a:schemeClr>
                          </a:solidFill>
                          <a:latin typeface="Lucida Console" panose="020B0609040504020204" pitchFamily="49" charset="0"/>
                          <a:ea typeface="+mn-ea"/>
                          <a:cs typeface="+mn-cs"/>
                        </a:rPr>
                        <a:t>-</a:t>
                      </a:r>
                      <a:r>
                        <a:rPr lang="en-US" sz="1800" err="1">
                          <a:solidFill>
                            <a:schemeClr val="accent1">
                              <a:lumMod val="40000"/>
                              <a:lumOff val="60000"/>
                            </a:schemeClr>
                          </a:solidFill>
                          <a:latin typeface="Lucida Console" panose="020B0609040504020204" pitchFamily="49" charset="0"/>
                          <a:ea typeface="+mn-ea"/>
                          <a:cs typeface="+mn-cs"/>
                        </a:rPr>
                        <a:t>SitesList</a:t>
                      </a:r>
                      <a:r>
                        <a:rPr lang="en-US" sz="1800">
                          <a:solidFill>
                            <a:srgbClr val="FF4500"/>
                          </a:solidFill>
                          <a:latin typeface="Lucida Console" panose="020B0609040504020204" pitchFamily="49" charset="0"/>
                          <a:ea typeface="+mn-ea"/>
                          <a:cs typeface="+mn-cs"/>
                        </a:rPr>
                        <a:t> </a:t>
                      </a:r>
                      <a:r>
                        <a:rPr lang="en-US" sz="1800">
                          <a:solidFill>
                            <a:schemeClr val="bg1"/>
                          </a:solidFill>
                          <a:latin typeface="Lucida Console" panose="020B0609040504020204" pitchFamily="49" charset="0"/>
                          <a:ea typeface="+mn-ea"/>
                          <a:cs typeface="+mn-cs"/>
                        </a:rPr>
                        <a:t>@(“[https://contoso.sharepoint.com/sites/Marketing](https://contoso.sharepoint.com/sites/Marketing)”, “[https://contoso.sharepoint.com/sites/Benefits](https://contoso.sharepoint.com/sites/Benefits)”)</a:t>
                      </a:r>
                      <a:endParaRPr lang="en-AU" sz="1800">
                        <a:solidFill>
                          <a:schemeClr val="bg1"/>
                        </a:solidFill>
                        <a:latin typeface="Lucida Console" panose="020B06090405040202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0003"/>
                  </a:ext>
                </a:extLst>
              </a:tr>
              <a:tr h="1520092">
                <a:tc>
                  <a:txBody>
                    <a:bodyPr/>
                    <a:lstStyle/>
                    <a:p>
                      <a:r>
                        <a:rPr lang="en-BE" sz="1600">
                          <a:latin typeface="Segoe UI "/>
                          <a:cs typeface="Segoe UI Light" panose="020B0502040204020203" pitchFamily="34" charset="0"/>
                        </a:rPr>
                        <a:t>3b</a:t>
                      </a:r>
                      <a:endParaRPr lang="en-AU" sz="1600">
                        <a:latin typeface="Segoe UI "/>
                        <a:cs typeface="Segoe UI Light" panose="020B0502040204020203" pitchFamily="34" charset="0"/>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A5BBA">
                        <a:tint val="40000"/>
                      </a:srgbClr>
                    </a:solidFill>
                  </a:tcPr>
                </a:tc>
                <a:tc>
                  <a:txBody>
                    <a:bodyPr/>
                    <a:lstStyle/>
                    <a:p>
                      <a:r>
                        <a:rPr lang="en-BE" sz="1600">
                          <a:latin typeface="Segoe UI "/>
                          <a:cs typeface="Segoe UI Light" panose="020B0502040204020203" pitchFamily="34" charset="0"/>
                        </a:rPr>
                        <a:t>Add sites using a CSV file</a:t>
                      </a:r>
                      <a:endParaRPr lang="en-AU" sz="1600">
                        <a:latin typeface="Segoe UI "/>
                        <a:cs typeface="Segoe UI Light" panose="020B0502040204020203"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A5BBA">
                        <a:tint val="40000"/>
                      </a:srgbClr>
                    </a:solidFill>
                  </a:tcPr>
                </a:tc>
                <a:tc>
                  <a:txBody>
                    <a:bodyPr/>
                    <a:lstStyle/>
                    <a:p>
                      <a:r>
                        <a:rPr lang="en-AU" sz="1800">
                          <a:solidFill>
                            <a:srgbClr val="F5F5F5"/>
                          </a:solidFill>
                          <a:latin typeface="Lucida Console" panose="020B0609040504020204" pitchFamily="49" charset="0"/>
                        </a:rPr>
                        <a:t>Add-</a:t>
                      </a:r>
                      <a:r>
                        <a:rPr lang="en-AU" sz="1800" err="1">
                          <a:solidFill>
                            <a:srgbClr val="F5F5F5"/>
                          </a:solidFill>
                          <a:latin typeface="Lucida Console" panose="020B0609040504020204" pitchFamily="49" charset="0"/>
                        </a:rPr>
                        <a:t>SPOTenantRestrictedSearchAllowedList</a:t>
                      </a:r>
                      <a:r>
                        <a:rPr lang="en-AU" sz="1800">
                          <a:solidFill>
                            <a:srgbClr val="F5F5F5"/>
                          </a:solidFill>
                          <a:latin typeface="Lucida Console" panose="020B0609040504020204" pitchFamily="49" charset="0"/>
                        </a:rPr>
                        <a:t>  </a:t>
                      </a:r>
                      <a:br>
                        <a:rPr lang="en-BE" sz="1800">
                          <a:solidFill>
                            <a:srgbClr val="F5F5F5"/>
                          </a:solidFill>
                          <a:latin typeface="Lucida Console" panose="020B0609040504020204" pitchFamily="49" charset="0"/>
                        </a:rPr>
                      </a:br>
                      <a:r>
                        <a:rPr lang="en-AU" sz="1800">
                          <a:solidFill>
                            <a:schemeClr val="accent1">
                              <a:lumMod val="40000"/>
                              <a:lumOff val="60000"/>
                            </a:schemeClr>
                          </a:solidFill>
                          <a:latin typeface="Lucida Console" panose="020B0609040504020204" pitchFamily="49" charset="0"/>
                        </a:rPr>
                        <a:t>-</a:t>
                      </a:r>
                      <a:r>
                        <a:rPr lang="en-AU" sz="1800" err="1">
                          <a:solidFill>
                            <a:schemeClr val="accent1">
                              <a:lumMod val="40000"/>
                              <a:lumOff val="60000"/>
                            </a:schemeClr>
                          </a:solidFill>
                          <a:latin typeface="Lucida Console" panose="020B0609040504020204" pitchFamily="49" charset="0"/>
                        </a:rPr>
                        <a:t>SitesListFileUrl</a:t>
                      </a:r>
                      <a:r>
                        <a:rPr lang="en-AU" sz="1800">
                          <a:solidFill>
                            <a:schemeClr val="accent1">
                              <a:lumMod val="40000"/>
                              <a:lumOff val="60000"/>
                            </a:schemeClr>
                          </a:solidFill>
                          <a:latin typeface="Lucida Console" panose="020B0609040504020204" pitchFamily="49" charset="0"/>
                        </a:rPr>
                        <a:t> </a:t>
                      </a:r>
                      <a:r>
                        <a:rPr lang="en-AU" sz="1800">
                          <a:solidFill>
                            <a:srgbClr val="F5F5F5"/>
                          </a:solidFill>
                          <a:latin typeface="Lucida Console" panose="020B0609040504020204" pitchFamily="49" charset="0"/>
                        </a:rPr>
                        <a:t>C:\Users\admin\Downloads\UrlList.csv</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704103181"/>
                  </a:ext>
                </a:extLst>
              </a:tr>
            </a:tbl>
          </a:graphicData>
        </a:graphic>
      </p:graphicFrame>
    </p:spTree>
    <p:extLst>
      <p:ext uri="{BB962C8B-B14F-4D97-AF65-F5344CB8AC3E}">
        <p14:creationId xmlns:p14="http://schemas.microsoft.com/office/powerpoint/2010/main" val="233297037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58F954E-E97F-C3AF-E9BA-DDF126036318}"/>
              </a:ext>
              <a:ext uri="{C183D7F6-B498-43B3-948B-1728B52AA6E4}">
                <adec:decorative xmlns:adec="http://schemas.microsoft.com/office/drawing/2017/decorative" val="1"/>
              </a:ext>
            </a:extLst>
          </p:cNvPr>
          <p:cNvSpPr/>
          <p:nvPr/>
        </p:nvSpPr>
        <p:spPr bwMode="auto">
          <a:xfrm>
            <a:off x="1026035" y="1601130"/>
            <a:ext cx="2052245" cy="4077807"/>
          </a:xfrm>
          <a:prstGeom prst="roundRect">
            <a:avLst>
              <a:gd name="adj" fmla="val 2491"/>
            </a:avLst>
          </a:prstGeom>
          <a:solidFill>
            <a:schemeClr val="tx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sp>
        <p:nvSpPr>
          <p:cNvPr id="2" name="Title 1">
            <a:extLst>
              <a:ext uri="{FF2B5EF4-FFF2-40B4-BE49-F238E27FC236}">
                <a16:creationId xmlns:a16="http://schemas.microsoft.com/office/drawing/2014/main" id="{D6AF07EB-F4EE-4FBC-1A28-A9ACEA034744}"/>
              </a:ext>
            </a:extLst>
          </p:cNvPr>
          <p:cNvSpPr>
            <a:spLocks noGrp="1"/>
          </p:cNvSpPr>
          <p:nvPr>
            <p:ph type="title"/>
          </p:nvPr>
        </p:nvSpPr>
        <p:spPr/>
        <p:txBody>
          <a:bodyPr/>
          <a:lstStyle/>
          <a:p>
            <a:r>
              <a:rPr lang="en-BE"/>
              <a:t>End-User Experience</a:t>
            </a:r>
            <a:endParaRPr lang="en-US"/>
          </a:p>
        </p:txBody>
      </p:sp>
      <p:sp>
        <p:nvSpPr>
          <p:cNvPr id="3" name="Rectangle: Rounded Corners 2">
            <a:extLst>
              <a:ext uri="{FF2B5EF4-FFF2-40B4-BE49-F238E27FC236}">
                <a16:creationId xmlns:a16="http://schemas.microsoft.com/office/drawing/2014/main" id="{D32D9A0D-5A6C-182C-5ACB-599228BF6877}"/>
              </a:ext>
              <a:ext uri="{C183D7F6-B498-43B3-948B-1728B52AA6E4}">
                <adec:decorative xmlns:adec="http://schemas.microsoft.com/office/drawing/2017/decorative" val="1"/>
              </a:ext>
            </a:extLst>
          </p:cNvPr>
          <p:cNvSpPr/>
          <p:nvPr/>
        </p:nvSpPr>
        <p:spPr bwMode="auto">
          <a:xfrm>
            <a:off x="4040984" y="1601130"/>
            <a:ext cx="6715684" cy="4077807"/>
          </a:xfrm>
          <a:prstGeom prst="roundRect">
            <a:avLst>
              <a:gd name="adj" fmla="val 2491"/>
            </a:avLst>
          </a:prstGeom>
          <a:solidFill>
            <a:schemeClr val="tx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pic>
        <p:nvPicPr>
          <p:cNvPr id="5" name="Picture 4">
            <a:extLst>
              <a:ext uri="{FF2B5EF4-FFF2-40B4-BE49-F238E27FC236}">
                <a16:creationId xmlns:a16="http://schemas.microsoft.com/office/drawing/2014/main" id="{E815BA0E-F98F-F1FE-D574-226A3720D2CE}"/>
              </a:ext>
              <a:ext uri="{C183D7F6-B498-43B3-948B-1728B52AA6E4}">
                <adec:decorative xmlns:adec="http://schemas.microsoft.com/office/drawing/2017/decorative" val="1"/>
              </a:ext>
            </a:extLst>
          </p:cNvPr>
          <p:cNvPicPr>
            <a:picLocks noChangeAspect="1"/>
          </p:cNvPicPr>
          <p:nvPr/>
        </p:nvPicPr>
        <p:blipFill>
          <a:blip r:embed="rId3"/>
          <a:srcRect l="12184" t="4326" r="30259" b="7752"/>
          <a:stretch/>
        </p:blipFill>
        <p:spPr>
          <a:xfrm>
            <a:off x="1166352" y="1738704"/>
            <a:ext cx="1778924" cy="3829398"/>
          </a:xfrm>
          <a:prstGeom prst="rect">
            <a:avLst/>
          </a:prstGeom>
          <a:ln>
            <a:noFill/>
          </a:ln>
          <a:effectLst/>
        </p:spPr>
      </p:pic>
      <p:pic>
        <p:nvPicPr>
          <p:cNvPr id="9" name="Picture 8">
            <a:extLst>
              <a:ext uri="{FF2B5EF4-FFF2-40B4-BE49-F238E27FC236}">
                <a16:creationId xmlns:a16="http://schemas.microsoft.com/office/drawing/2014/main" id="{665F58B6-6E3F-287B-B9E0-9EF1E387714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167821" y="1756043"/>
            <a:ext cx="6388830" cy="3718560"/>
          </a:xfrm>
          <a:prstGeom prst="rect">
            <a:avLst/>
          </a:prstGeom>
        </p:spPr>
      </p:pic>
      <p:sp>
        <p:nvSpPr>
          <p:cNvPr id="4" name="Rectangle 3">
            <a:extLst>
              <a:ext uri="{FF2B5EF4-FFF2-40B4-BE49-F238E27FC236}">
                <a16:creationId xmlns:a16="http://schemas.microsoft.com/office/drawing/2014/main" id="{38AA57C9-B9BF-C431-B8AE-894B407F5DB0}"/>
              </a:ext>
              <a:ext uri="{C183D7F6-B498-43B3-948B-1728B52AA6E4}">
                <adec:decorative xmlns:adec="http://schemas.microsoft.com/office/drawing/2017/decorative" val="1"/>
              </a:ext>
            </a:extLst>
          </p:cNvPr>
          <p:cNvSpPr/>
          <p:nvPr/>
        </p:nvSpPr>
        <p:spPr bwMode="auto">
          <a:xfrm>
            <a:off x="0" y="6387864"/>
            <a:ext cx="12192000" cy="470136"/>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2D2C16BB-D530-F6C7-B5EC-6BCD0664E348}"/>
              </a:ext>
              <a:ext uri="{C183D7F6-B498-43B3-948B-1728B52AA6E4}">
                <adec:decorative xmlns:adec="http://schemas.microsoft.com/office/drawing/2017/decorative" val="1"/>
              </a:ext>
            </a:extLst>
          </p:cNvPr>
          <p:cNvSpPr/>
          <p:nvPr/>
        </p:nvSpPr>
        <p:spPr bwMode="auto">
          <a:xfrm>
            <a:off x="1212233" y="2178885"/>
            <a:ext cx="1682496" cy="297833"/>
          </a:xfrm>
          <a:prstGeom prst="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1635609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E43EFE8D-413A-FB48-D947-56160110BD11}"/>
              </a:ext>
              <a:ext uri="{C183D7F6-B498-43B3-948B-1728B52AA6E4}">
                <adec:decorative xmlns:adec="http://schemas.microsoft.com/office/drawing/2017/decorative" val="1"/>
              </a:ext>
            </a:extLst>
          </p:cNvPr>
          <p:cNvSpPr/>
          <p:nvPr/>
        </p:nvSpPr>
        <p:spPr bwMode="auto">
          <a:xfrm>
            <a:off x="734646" y="1370282"/>
            <a:ext cx="10496062" cy="5179010"/>
          </a:xfrm>
          <a:prstGeom prst="roundRect">
            <a:avLst>
              <a:gd name="adj" fmla="val 4396"/>
            </a:avLst>
          </a:prstGeom>
          <a:solidFill>
            <a:schemeClr val="bg1">
              <a:lumMod val="85000"/>
              <a:lumOff val="15000"/>
              <a:alpha val="62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3" name="Rectangle: Rounded Corners 6">
            <a:extLst>
              <a:ext uri="{FF2B5EF4-FFF2-40B4-BE49-F238E27FC236}">
                <a16:creationId xmlns:a16="http://schemas.microsoft.com/office/drawing/2014/main" id="{770C55A4-D81C-945E-FD9B-20B287FE492B}"/>
              </a:ext>
              <a:ext uri="{C183D7F6-B498-43B3-948B-1728B52AA6E4}">
                <adec:decorative xmlns:adec="http://schemas.microsoft.com/office/drawing/2017/decorative" val="1"/>
              </a:ext>
            </a:extLst>
          </p:cNvPr>
          <p:cNvSpPr/>
          <p:nvPr/>
        </p:nvSpPr>
        <p:spPr bwMode="auto">
          <a:xfrm>
            <a:off x="1129163" y="1673889"/>
            <a:ext cx="9656068" cy="791325"/>
          </a:xfrm>
          <a:prstGeom prst="roundRect">
            <a:avLst>
              <a:gd name="adj" fmla="val 8425"/>
            </a:avLst>
          </a:prstGeom>
          <a:solidFill>
            <a:schemeClr val="bg1"/>
          </a:solidFill>
          <a:ln w="25400">
            <a:solidFill>
              <a:schemeClr val="accent1"/>
            </a:soli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2" name="Title 11">
            <a:extLst>
              <a:ext uri="{FF2B5EF4-FFF2-40B4-BE49-F238E27FC236}">
                <a16:creationId xmlns:a16="http://schemas.microsoft.com/office/drawing/2014/main" id="{2E8B4368-EB24-3F4F-A67B-221DF4472898}"/>
              </a:ext>
            </a:extLst>
          </p:cNvPr>
          <p:cNvSpPr>
            <a:spLocks noGrp="1"/>
          </p:cNvSpPr>
          <p:nvPr>
            <p:ph type="title"/>
          </p:nvPr>
        </p:nvSpPr>
        <p:spPr/>
        <p:txBody>
          <a:bodyPr/>
          <a:lstStyle/>
          <a:p>
            <a:r>
              <a:rPr kumimoji="0" lang="en-US" sz="2800" b="0" i="0" u="none" strike="noStrike" kern="1200" cap="none" spc="-50" normalizeH="0" baseline="0" noProof="0" dirty="0">
                <a:ln w="3175">
                  <a:noFill/>
                </a:ln>
                <a:solidFill>
                  <a:schemeClr val="tx1"/>
                </a:solidFill>
                <a:effectLst/>
                <a:uLnTx/>
                <a:uFillTx/>
                <a:latin typeface="Segoe UI Semibold"/>
                <a:ea typeface="+mn-ea"/>
                <a:cs typeface="Segoe UI" pitchFamily="34" charset="0"/>
              </a:rPr>
              <a:t>Restricted SharePoint Search - Key Takeaways</a:t>
            </a:r>
            <a:endParaRPr lang="en-US" dirty="0">
              <a:solidFill>
                <a:schemeClr val="tx1"/>
              </a:solidFill>
            </a:endParaRPr>
          </a:p>
        </p:txBody>
      </p:sp>
      <p:sp>
        <p:nvSpPr>
          <p:cNvPr id="4" name="TextBox 3">
            <a:extLst>
              <a:ext uri="{FF2B5EF4-FFF2-40B4-BE49-F238E27FC236}">
                <a16:creationId xmlns:a16="http://schemas.microsoft.com/office/drawing/2014/main" id="{F08563E8-FEF7-7EF7-27E2-7ECE462C1919}"/>
              </a:ext>
              <a:ext uri="{C183D7F6-B498-43B3-948B-1728B52AA6E4}">
                <adec:decorative xmlns:adec="http://schemas.microsoft.com/office/drawing/2017/decorative" val="0"/>
              </a:ext>
            </a:extLst>
          </p:cNvPr>
          <p:cNvSpPr txBox="1"/>
          <p:nvPr/>
        </p:nvSpPr>
        <p:spPr>
          <a:xfrm>
            <a:off x="1406769" y="1935837"/>
            <a:ext cx="7809334" cy="292452"/>
          </a:xfrm>
          <a:prstGeom prst="rect">
            <a:avLst/>
          </a:prstGeom>
          <a:noFill/>
        </p:spPr>
        <p:txBody>
          <a:bodyPr wrap="square" lIns="0" tIns="0" rIns="0" bIns="0">
            <a:spAutoFit/>
          </a:bodyPr>
          <a:lstStyle/>
          <a:p>
            <a:pPr marL="0" marR="0" lvl="0" indent="0" algn="l" defTabSz="932472" rtl="0" eaLnBrk="1" fontAlgn="base" latinLnBrk="0" hangingPunct="1">
              <a:lnSpc>
                <a:spcPct val="110000"/>
              </a:lnSpc>
              <a:spcBef>
                <a:spcPct val="0"/>
              </a:spcBef>
              <a:spcAft>
                <a:spcPts val="1200"/>
              </a:spcAft>
              <a:buClrTx/>
              <a:buSzTx/>
              <a:buFontTx/>
              <a:buNone/>
              <a:tabLst>
                <a:tab pos="457200" algn="l"/>
              </a:tabLst>
              <a:defRPr/>
            </a:pPr>
            <a:r>
              <a:rPr kumimoji="0" lang="en-US" sz="1800" b="1" i="0" u="none" strike="noStrike" kern="1200" cap="none" spc="0" normalizeH="0" baseline="0" noProof="0" dirty="0">
                <a:ln>
                  <a:noFill/>
                </a:ln>
                <a:solidFill>
                  <a:srgbClr val="283B5A"/>
                </a:solidFill>
                <a:effectLst/>
                <a:uLnTx/>
                <a:uFillTx/>
                <a:latin typeface="Aptos" panose="02110004020202020204"/>
                <a:ea typeface="+mn-ea"/>
                <a:cs typeface="Segoe UI Semibold"/>
              </a:rPr>
              <a:t>Not a “Copilot” Feature </a:t>
            </a:r>
          </a:p>
        </p:txBody>
      </p:sp>
      <p:sp>
        <p:nvSpPr>
          <p:cNvPr id="5" name="Rectangle: Rounded Corners 6">
            <a:extLst>
              <a:ext uri="{FF2B5EF4-FFF2-40B4-BE49-F238E27FC236}">
                <a16:creationId xmlns:a16="http://schemas.microsoft.com/office/drawing/2014/main" id="{4B803C27-6361-3E05-ECAF-2FE9B212ED03}"/>
              </a:ext>
              <a:ext uri="{C183D7F6-B498-43B3-948B-1728B52AA6E4}">
                <adec:decorative xmlns:adec="http://schemas.microsoft.com/office/drawing/2017/decorative" val="1"/>
              </a:ext>
            </a:extLst>
          </p:cNvPr>
          <p:cNvSpPr/>
          <p:nvPr/>
        </p:nvSpPr>
        <p:spPr bwMode="auto">
          <a:xfrm>
            <a:off x="1129163" y="2563412"/>
            <a:ext cx="9656068" cy="791325"/>
          </a:xfrm>
          <a:prstGeom prst="roundRect">
            <a:avLst>
              <a:gd name="adj" fmla="val 8425"/>
            </a:avLst>
          </a:prstGeom>
          <a:solidFill>
            <a:schemeClr val="bg1"/>
          </a:solidFill>
          <a:ln w="25400">
            <a:solidFill>
              <a:schemeClr val="accent1"/>
            </a:soli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0" name="TextBox 9">
            <a:extLst>
              <a:ext uri="{FF2B5EF4-FFF2-40B4-BE49-F238E27FC236}">
                <a16:creationId xmlns:a16="http://schemas.microsoft.com/office/drawing/2014/main" id="{3F205B34-AD97-0C9C-B048-1F3BF9C5D9DF}"/>
              </a:ext>
              <a:ext uri="{C183D7F6-B498-43B3-948B-1728B52AA6E4}">
                <adec:decorative xmlns:adec="http://schemas.microsoft.com/office/drawing/2017/decorative" val="0"/>
              </a:ext>
            </a:extLst>
          </p:cNvPr>
          <p:cNvSpPr txBox="1"/>
          <p:nvPr/>
        </p:nvSpPr>
        <p:spPr>
          <a:xfrm>
            <a:off x="1314857" y="2703288"/>
            <a:ext cx="8837327" cy="597151"/>
          </a:xfrm>
          <a:prstGeom prst="rect">
            <a:avLst/>
          </a:prstGeom>
          <a:noFill/>
        </p:spPr>
        <p:txBody>
          <a:bodyPr wrap="square" lIns="0" tIns="0" rIns="0" bIns="0">
            <a:spAutoFit/>
          </a:bodyPr>
          <a:lstStyle/>
          <a:p>
            <a:pPr marL="0" marR="0" lvl="0" indent="0" algn="l" defTabSz="932472" rtl="0" eaLnBrk="1" fontAlgn="base" latinLnBrk="0" hangingPunct="1">
              <a:lnSpc>
                <a:spcPct val="110000"/>
              </a:lnSpc>
              <a:spcBef>
                <a:spcPct val="0"/>
              </a:spcBef>
              <a:spcAft>
                <a:spcPts val="1200"/>
              </a:spcAft>
              <a:buClrTx/>
              <a:buSzTx/>
              <a:buFontTx/>
              <a:buNone/>
              <a:tabLst>
                <a:tab pos="457200" algn="l"/>
              </a:tabLst>
              <a:defRPr/>
            </a:pPr>
            <a:r>
              <a:rPr kumimoji="0" lang="en-US" sz="1800" b="1" i="0" u="none" strike="noStrike" kern="1200" cap="none" spc="0" normalizeH="0" baseline="0" noProof="0" dirty="0">
                <a:ln>
                  <a:noFill/>
                </a:ln>
                <a:solidFill>
                  <a:srgbClr val="283B5A"/>
                </a:solidFill>
                <a:effectLst/>
                <a:uLnTx/>
                <a:uFillTx/>
                <a:latin typeface="Aptos" panose="02110004020202020204"/>
                <a:ea typeface="+mn-ea"/>
                <a:cs typeface="Segoe UI Semibold"/>
              </a:rPr>
              <a:t>Should only be considered if your Copilot  deployment is blocked </a:t>
            </a:r>
            <a:r>
              <a:rPr kumimoji="0" lang="en-US" sz="1800" b="0" i="0" u="none" strike="noStrike" kern="1200" cap="none" spc="0" normalizeH="0" baseline="0" noProof="0" dirty="0">
                <a:ln>
                  <a:noFill/>
                </a:ln>
                <a:solidFill>
                  <a:srgbClr val="283B5A"/>
                </a:solidFill>
                <a:effectLst/>
                <a:uLnTx/>
                <a:uFillTx/>
                <a:latin typeface="Aptos" panose="02110004020202020204"/>
                <a:ea typeface="+mn-ea"/>
                <a:cs typeface="Segoe UI Semibold" panose="020B0702040204020203" pitchFamily="34" charset="0"/>
              </a:rPr>
              <a:t>due to file oversharing concerns </a:t>
            </a:r>
          </a:p>
        </p:txBody>
      </p:sp>
      <p:sp>
        <p:nvSpPr>
          <p:cNvPr id="6" name="Rectangle: Rounded Corners 6">
            <a:extLst>
              <a:ext uri="{FF2B5EF4-FFF2-40B4-BE49-F238E27FC236}">
                <a16:creationId xmlns:a16="http://schemas.microsoft.com/office/drawing/2014/main" id="{1C29DEC6-FF6E-0356-3BE1-CB1D870461D6}"/>
              </a:ext>
              <a:ext uri="{C183D7F6-B498-43B3-948B-1728B52AA6E4}">
                <adec:decorative xmlns:adec="http://schemas.microsoft.com/office/drawing/2017/decorative" val="0"/>
              </a:ext>
            </a:extLst>
          </p:cNvPr>
          <p:cNvSpPr/>
          <p:nvPr/>
        </p:nvSpPr>
        <p:spPr bwMode="auto">
          <a:xfrm>
            <a:off x="1131035" y="3470049"/>
            <a:ext cx="9656068" cy="791325"/>
          </a:xfrm>
          <a:prstGeom prst="roundRect">
            <a:avLst>
              <a:gd name="adj" fmla="val 8425"/>
            </a:avLst>
          </a:prstGeom>
          <a:solidFill>
            <a:schemeClr val="bg1"/>
          </a:solidFill>
          <a:ln w="25400">
            <a:solidFill>
              <a:schemeClr val="accent1"/>
            </a:soli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ts val="1000"/>
              </a:spcBef>
              <a:spcAft>
                <a:spcPts val="0"/>
              </a:spcAft>
              <a:buClrTx/>
              <a:buSzTx/>
              <a:buFontTx/>
              <a:buNone/>
              <a:tabLst>
                <a:tab pos="457200" algn="l"/>
              </a:tabLst>
              <a:defRPr/>
            </a:pPr>
            <a:r>
              <a:rPr kumimoji="0" lang="en-US" sz="1800" b="1" i="0" u="none" strike="noStrike" kern="1200" cap="none" spc="0" normalizeH="0" baseline="0" noProof="0" dirty="0">
                <a:ln>
                  <a:noFill/>
                </a:ln>
                <a:solidFill>
                  <a:srgbClr val="283B5A"/>
                </a:solidFill>
                <a:effectLst/>
                <a:uLnTx/>
                <a:uFillTx/>
                <a:latin typeface="Aptos" panose="02110004020202020204"/>
                <a:ea typeface="+mn-ea"/>
                <a:cs typeface="Segoe UI Semibold"/>
              </a:rPr>
              <a:t>A temporary solution: </a:t>
            </a:r>
            <a:r>
              <a:rPr kumimoji="0" lang="en-US" sz="1800" b="0" i="0" u="none" strike="noStrike" kern="1200" cap="none" spc="0" normalizeH="0" baseline="0" noProof="0" dirty="0">
                <a:ln>
                  <a:noFill/>
                </a:ln>
                <a:solidFill>
                  <a:srgbClr val="283B5A"/>
                </a:solidFill>
                <a:effectLst/>
                <a:uLnTx/>
                <a:uFillTx/>
                <a:latin typeface="Aptos" panose="02110004020202020204"/>
                <a:ea typeface="+mn-ea"/>
                <a:cs typeface="Segoe UI Semibold" panose="020B0702040204020203" pitchFamily="34" charset="0"/>
              </a:rPr>
              <a:t>allows full Copilot deployment, and in parallel, implementation of security controls as needed (SAM/Purview) to address oversharing concerns</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ectangle: Rounded Corners 6">
            <a:extLst>
              <a:ext uri="{FF2B5EF4-FFF2-40B4-BE49-F238E27FC236}">
                <a16:creationId xmlns:a16="http://schemas.microsoft.com/office/drawing/2014/main" id="{4EB9548B-49B4-EABC-6ABA-337D1550B7B0}"/>
              </a:ext>
              <a:ext uri="{C183D7F6-B498-43B3-948B-1728B52AA6E4}">
                <adec:decorative xmlns:adec="http://schemas.microsoft.com/office/drawing/2017/decorative" val="0"/>
              </a:ext>
            </a:extLst>
          </p:cNvPr>
          <p:cNvSpPr/>
          <p:nvPr/>
        </p:nvSpPr>
        <p:spPr bwMode="auto">
          <a:xfrm>
            <a:off x="1129163" y="4388339"/>
            <a:ext cx="9656068" cy="791325"/>
          </a:xfrm>
          <a:prstGeom prst="roundRect">
            <a:avLst>
              <a:gd name="adj" fmla="val 8425"/>
            </a:avLst>
          </a:prstGeom>
          <a:solidFill>
            <a:schemeClr val="bg1"/>
          </a:solidFill>
          <a:ln w="25400">
            <a:solidFill>
              <a:schemeClr val="accent1"/>
            </a:soli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ts val="1000"/>
              </a:spcBef>
              <a:spcAft>
                <a:spcPts val="0"/>
              </a:spcAft>
              <a:buClrTx/>
              <a:buSzTx/>
              <a:buFontTx/>
              <a:buNone/>
              <a:tabLst>
                <a:tab pos="457200" algn="l"/>
              </a:tabLst>
              <a:defRPr/>
            </a:pPr>
            <a:r>
              <a:rPr kumimoji="0" lang="en-US" sz="1800" b="1" i="0" u="none" strike="noStrike" kern="1200" cap="none" spc="0" normalizeH="0" baseline="0" noProof="0">
                <a:ln>
                  <a:noFill/>
                </a:ln>
                <a:solidFill>
                  <a:srgbClr val="283B5A"/>
                </a:solidFill>
                <a:effectLst/>
                <a:uLnTx/>
                <a:uFillTx/>
                <a:latin typeface="Aptos" panose="02110004020202020204"/>
                <a:ea typeface="+mn-ea"/>
                <a:cs typeface="Segoe UI Semibold"/>
              </a:rPr>
              <a:t>Does not modify permissions or sharing controls on content  </a:t>
            </a:r>
          </a:p>
          <a:p>
            <a:pPr marL="0" marR="0" lvl="0" indent="0" algn="l" defTabSz="932472" rtl="0" eaLnBrk="1" fontAlgn="base" latinLnBrk="0" hangingPunct="1">
              <a:lnSpc>
                <a:spcPct val="90000"/>
              </a:lnSpc>
              <a:spcBef>
                <a:spcPts val="1000"/>
              </a:spcBef>
              <a:spcAft>
                <a:spcPts val="0"/>
              </a:spcAft>
              <a:buClrTx/>
              <a:buSzTx/>
              <a:buFontTx/>
              <a:buNone/>
              <a:tabLst>
                <a:tab pos="457200" algn="l"/>
              </a:tabLst>
              <a:defRPr/>
            </a:pPr>
            <a:endParaRPr kumimoji="0" lang="en-US" sz="1800" b="1" i="0" u="none" strike="noStrike" kern="1200" cap="none" spc="0" normalizeH="0" baseline="0" noProof="0">
              <a:ln>
                <a:noFill/>
              </a:ln>
              <a:solidFill>
                <a:srgbClr val="283B5A"/>
              </a:solidFill>
              <a:effectLst/>
              <a:uLnTx/>
              <a:uFillTx/>
              <a:latin typeface="Aptos" panose="02110004020202020204"/>
              <a:ea typeface="+mn-ea"/>
              <a:cs typeface="Segoe UI Semibold"/>
            </a:endParaRPr>
          </a:p>
        </p:txBody>
      </p:sp>
      <p:sp>
        <p:nvSpPr>
          <p:cNvPr id="7" name="Rectangle: Rounded Corners 6">
            <a:extLst>
              <a:ext uri="{FF2B5EF4-FFF2-40B4-BE49-F238E27FC236}">
                <a16:creationId xmlns:a16="http://schemas.microsoft.com/office/drawing/2014/main" id="{7D2F2970-B157-E0AF-D596-A6B5CACA17BB}"/>
              </a:ext>
              <a:ext uri="{C183D7F6-B498-43B3-948B-1728B52AA6E4}">
                <adec:decorative xmlns:adec="http://schemas.microsoft.com/office/drawing/2017/decorative" val="0"/>
              </a:ext>
            </a:extLst>
          </p:cNvPr>
          <p:cNvSpPr/>
          <p:nvPr/>
        </p:nvSpPr>
        <p:spPr bwMode="auto">
          <a:xfrm>
            <a:off x="1129163" y="5335776"/>
            <a:ext cx="9656068" cy="791325"/>
          </a:xfrm>
          <a:prstGeom prst="roundRect">
            <a:avLst>
              <a:gd name="adj" fmla="val 8425"/>
            </a:avLst>
          </a:prstGeom>
          <a:solidFill>
            <a:schemeClr val="bg1"/>
          </a:solidFill>
          <a:ln w="25400">
            <a:solidFill>
              <a:schemeClr val="accent1"/>
            </a:soli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90000"/>
              </a:lnSpc>
              <a:spcBef>
                <a:spcPts val="1000"/>
              </a:spcBef>
              <a:spcAft>
                <a:spcPts val="0"/>
              </a:spcAft>
              <a:buClrTx/>
              <a:buSzTx/>
              <a:buFontTx/>
              <a:buNone/>
              <a:tabLst>
                <a:tab pos="457200" algn="l"/>
              </a:tabLst>
              <a:defRPr/>
            </a:pPr>
            <a:r>
              <a:rPr kumimoji="0" lang="en-US" sz="1800" b="1" i="0" u="none" strike="noStrike" kern="1200" cap="none" spc="0" normalizeH="0" baseline="0" noProof="0">
                <a:ln>
                  <a:noFill/>
                </a:ln>
                <a:solidFill>
                  <a:srgbClr val="283B5A"/>
                </a:solidFill>
                <a:effectLst/>
                <a:uLnTx/>
                <a:uFillTx/>
                <a:latin typeface="Aptos" panose="02110004020202020204"/>
                <a:ea typeface="+mn-ea"/>
                <a:cs typeface="Segoe UI Semibold"/>
              </a:rPr>
              <a:t>Will impact other org-wide search experiences in </a:t>
            </a:r>
            <a:r>
              <a:rPr kumimoji="0" lang="en-BE" sz="1800" b="1" i="0" u="none" strike="noStrike" kern="1200" cap="none" spc="0" normalizeH="0" baseline="0" noProof="0">
                <a:ln>
                  <a:noFill/>
                </a:ln>
                <a:solidFill>
                  <a:srgbClr val="283B5A"/>
                </a:solidFill>
                <a:effectLst/>
                <a:uLnTx/>
                <a:uFillTx/>
                <a:latin typeface="Aptos" panose="02110004020202020204"/>
                <a:ea typeface="+mn-ea"/>
                <a:cs typeface="Segoe UI Semibold"/>
              </a:rPr>
              <a:t>Microsoft 365</a:t>
            </a:r>
            <a:endParaRPr kumimoji="0" lang="en-US" sz="1800" b="1" i="0" u="none" strike="noStrike" kern="1200" cap="none" spc="0" normalizeH="0" baseline="0" noProof="0">
              <a:ln>
                <a:noFill/>
              </a:ln>
              <a:solidFill>
                <a:srgbClr val="283B5A"/>
              </a:solidFill>
              <a:effectLst/>
              <a:uLnTx/>
              <a:uFillTx/>
              <a:latin typeface="Aptos" panose="02110004020202020204"/>
              <a:ea typeface="+mn-ea"/>
              <a:cs typeface="Segoe UI Semibold"/>
            </a:endParaRPr>
          </a:p>
        </p:txBody>
      </p:sp>
      <p:pic>
        <p:nvPicPr>
          <p:cNvPr id="9" name="Picture 8">
            <a:extLst>
              <a:ext uri="{FF2B5EF4-FFF2-40B4-BE49-F238E27FC236}">
                <a16:creationId xmlns:a16="http://schemas.microsoft.com/office/drawing/2014/main" id="{B5A0761A-4525-38D6-7611-E20A950218ED}"/>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9416" y="161492"/>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94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523E8-DA30-18A9-558D-A4FAE2DE0577}"/>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7BE24B33-BFA1-F5A8-9240-9E156CE97D26}"/>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65E6376A-484E-3511-B4BA-94EA4C8AB712}"/>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79A4E579-619D-0592-04F2-D6B5C8D8F3AB}"/>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EF3DC6C6-4E4F-BDB6-90C7-D05439F1FE34}"/>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B639FC38-58B5-5149-A409-86C405D65A3D}"/>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7C12C518-C252-3338-65B4-8D4BFFA870F9}"/>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7A69930-8284-4DC4-427C-2946541A1F56}"/>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58E5002E-5A0C-B20F-6C26-46E32FCCB865}"/>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Agenda</a:t>
            </a:r>
            <a:r>
              <a:rPr kumimoji="0" lang="en-US" sz="3200" b="0" i="0" u="none" strike="noStrike" kern="1200" cap="none" spc="-50" normalizeH="0" baseline="0" noProof="0" dirty="0">
                <a:ln w="3175">
                  <a:noFill/>
                </a:ln>
                <a:solidFill>
                  <a:schemeClr val="bg1"/>
                </a:solidFill>
                <a:effectLst/>
                <a:uLnTx/>
                <a:uFillTx/>
                <a:latin typeface="+mj-lt"/>
                <a:ea typeface="+mn-ea"/>
                <a:cs typeface="Segoe UI" pitchFamily="34" charset="0"/>
              </a:rPr>
              <a:t>    </a:t>
            </a:r>
          </a:p>
        </p:txBody>
      </p:sp>
      <p:sp>
        <p:nvSpPr>
          <p:cNvPr id="36" name="Freeform: Shape 35" descr="Icon of a person in front of a screen">
            <a:extLst>
              <a:ext uri="{FF2B5EF4-FFF2-40B4-BE49-F238E27FC236}">
                <a16:creationId xmlns:a16="http://schemas.microsoft.com/office/drawing/2014/main" id="{73E8D16A-C1E1-210F-7AC4-FBD963711C30}"/>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B89B8489-C573-8131-0BF0-6A4F5F6DE96E}"/>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D7A4D1EF-841D-8198-9DA0-C1B30BBC615B}"/>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B51BD522-67DF-FCCD-176C-953C0E30D00E}"/>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5FB6ACFE-003B-EBBC-CDFB-21DB20D8EF57}"/>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34782F8E-5941-CF3B-6472-4A1CA2F717B3}"/>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2DAFDA9E-79D1-D570-210B-A90A9D98D7F6}"/>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39320CA1-B8C8-7E44-83DD-03E2B7EF1159}"/>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F71E4659-968F-3398-B084-254E1E342970}"/>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0F32DDA6-0A9D-7DB5-3A8F-EA6B1DA54501}"/>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54078BA5-8AC3-2BAF-B28F-20D36DD504EE}"/>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4A21FC9C-DAF3-AA5B-E7C2-5D13E52D3DE9}"/>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pic>
        <p:nvPicPr>
          <p:cNvPr id="12" name="Picture 11">
            <a:extLst>
              <a:ext uri="{FF2B5EF4-FFF2-40B4-BE49-F238E27FC236}">
                <a16:creationId xmlns:a16="http://schemas.microsoft.com/office/drawing/2014/main" id="{2E7EB716-8852-2B1F-916E-2F1308FF205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948477"/>
            <a:ext cx="6816901" cy="2957935"/>
          </a:xfrm>
          <a:prstGeom prst="rect">
            <a:avLst/>
          </a:prstGeom>
        </p:spPr>
      </p:pic>
      <p:pic>
        <p:nvPicPr>
          <p:cNvPr id="14" name="Picture 13">
            <a:extLst>
              <a:ext uri="{FF2B5EF4-FFF2-40B4-BE49-F238E27FC236}">
                <a16:creationId xmlns:a16="http://schemas.microsoft.com/office/drawing/2014/main" id="{D1658A8C-9FEB-308C-D7EB-20299BC5B3C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4998613"/>
            <a:ext cx="6816901" cy="738896"/>
          </a:xfrm>
          <a:prstGeom prst="rect">
            <a:avLst/>
          </a:prstGeom>
        </p:spPr>
      </p:pic>
    </p:spTree>
    <p:extLst>
      <p:ext uri="{BB962C8B-B14F-4D97-AF65-F5344CB8AC3E}">
        <p14:creationId xmlns:p14="http://schemas.microsoft.com/office/powerpoint/2010/main" val="278901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46860-5AC8-8C0F-951F-0D8C5799BD15}"/>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0EF395A5-DE25-0FB2-9DE0-DE1BB79DBA24}"/>
              </a:ext>
              <a:ext uri="{C183D7F6-B498-43B3-948B-1728B52AA6E4}">
                <adec:decorative xmlns:adec="http://schemas.microsoft.com/office/drawing/2017/decorative" val="1"/>
              </a:ext>
            </a:extLst>
          </p:cNvPr>
          <p:cNvSpPr>
            <a:spLocks/>
          </p:cNvSpPr>
          <p:nvPr/>
        </p:nvSpPr>
        <p:spPr bwMode="auto">
          <a:xfrm>
            <a:off x="584201" y="2419476"/>
            <a:ext cx="11020425" cy="2741420"/>
          </a:xfrm>
          <a:prstGeom prst="roundRect">
            <a:avLst>
              <a:gd name="adj" fmla="val 109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5" name="Rectangle: Rounded Corners 84">
            <a:extLst>
              <a:ext uri="{FF2B5EF4-FFF2-40B4-BE49-F238E27FC236}">
                <a16:creationId xmlns:a16="http://schemas.microsoft.com/office/drawing/2014/main" id="{ADD03FC7-6E37-DB4A-97A5-51FCA8D653E6}"/>
              </a:ext>
              <a:ext uri="{C183D7F6-B498-43B3-948B-1728B52AA6E4}">
                <adec:decorative xmlns:adec="http://schemas.microsoft.com/office/drawing/2017/decorative" val="1"/>
              </a:ext>
            </a:extLst>
          </p:cNvPr>
          <p:cNvSpPr>
            <a:spLocks/>
          </p:cNvSpPr>
          <p:nvPr/>
        </p:nvSpPr>
        <p:spPr bwMode="auto">
          <a:xfrm>
            <a:off x="809548" y="3097361"/>
            <a:ext cx="3443995" cy="1838187"/>
          </a:xfrm>
          <a:prstGeom prst="roundRect">
            <a:avLst>
              <a:gd name="adj" fmla="val 138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6" name="Rectangle: Rounded Corners 85">
            <a:extLst>
              <a:ext uri="{FF2B5EF4-FFF2-40B4-BE49-F238E27FC236}">
                <a16:creationId xmlns:a16="http://schemas.microsoft.com/office/drawing/2014/main" id="{CD929092-0E32-2E05-2723-27E2A714E9E3}"/>
              </a:ext>
              <a:ext uri="{C183D7F6-B498-43B3-948B-1728B52AA6E4}">
                <adec:decorative xmlns:adec="http://schemas.microsoft.com/office/drawing/2017/decorative" val="1"/>
              </a:ext>
            </a:extLst>
          </p:cNvPr>
          <p:cNvSpPr>
            <a:spLocks/>
          </p:cNvSpPr>
          <p:nvPr/>
        </p:nvSpPr>
        <p:spPr bwMode="auto">
          <a:xfrm>
            <a:off x="4372415" y="3097361"/>
            <a:ext cx="3443995" cy="1838187"/>
          </a:xfrm>
          <a:prstGeom prst="roundRect">
            <a:avLst>
              <a:gd name="adj" fmla="val 138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7" name="Rectangle: Rounded Corners 86">
            <a:extLst>
              <a:ext uri="{FF2B5EF4-FFF2-40B4-BE49-F238E27FC236}">
                <a16:creationId xmlns:a16="http://schemas.microsoft.com/office/drawing/2014/main" id="{CD62783B-A821-A48F-68C9-0F18D762AECF}"/>
              </a:ext>
              <a:ext uri="{C183D7F6-B498-43B3-948B-1728B52AA6E4}">
                <adec:decorative xmlns:adec="http://schemas.microsoft.com/office/drawing/2017/decorative" val="1"/>
              </a:ext>
            </a:extLst>
          </p:cNvPr>
          <p:cNvSpPr>
            <a:spLocks/>
          </p:cNvSpPr>
          <p:nvPr/>
        </p:nvSpPr>
        <p:spPr bwMode="auto">
          <a:xfrm>
            <a:off x="7935282" y="3097361"/>
            <a:ext cx="3443995" cy="1838187"/>
          </a:xfrm>
          <a:prstGeom prst="roundRect">
            <a:avLst>
              <a:gd name="adj" fmla="val 138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7" name="Rounded Rectangle 11">
            <a:extLst>
              <a:ext uri="{FF2B5EF4-FFF2-40B4-BE49-F238E27FC236}">
                <a16:creationId xmlns:a16="http://schemas.microsoft.com/office/drawing/2014/main" id="{BFD596F9-DF7E-7C99-033B-F12F3BA8982F}"/>
              </a:ext>
              <a:ext uri="{C183D7F6-B498-43B3-948B-1728B52AA6E4}">
                <adec:decorative xmlns:adec="http://schemas.microsoft.com/office/drawing/2017/decorative" val="1"/>
              </a:ext>
            </a:extLst>
          </p:cNvPr>
          <p:cNvSpPr>
            <a:spLocks/>
          </p:cNvSpPr>
          <p:nvPr/>
        </p:nvSpPr>
        <p:spPr bwMode="auto">
          <a:xfrm>
            <a:off x="2168179" y="2710563"/>
            <a:ext cx="726732" cy="726732"/>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p:txBody>
      </p:sp>
      <p:sp>
        <p:nvSpPr>
          <p:cNvPr id="38" name="Rounded Rectangle 11">
            <a:extLst>
              <a:ext uri="{FF2B5EF4-FFF2-40B4-BE49-F238E27FC236}">
                <a16:creationId xmlns:a16="http://schemas.microsoft.com/office/drawing/2014/main" id="{99809A9F-157D-C7D5-322B-291142C34F26}"/>
              </a:ext>
              <a:ext uri="{C183D7F6-B498-43B3-948B-1728B52AA6E4}">
                <adec:decorative xmlns:adec="http://schemas.microsoft.com/office/drawing/2017/decorative" val="1"/>
              </a:ext>
            </a:extLst>
          </p:cNvPr>
          <p:cNvSpPr>
            <a:spLocks/>
          </p:cNvSpPr>
          <p:nvPr/>
        </p:nvSpPr>
        <p:spPr bwMode="auto">
          <a:xfrm>
            <a:off x="5731046" y="2710563"/>
            <a:ext cx="726732" cy="726732"/>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p:txBody>
      </p:sp>
      <p:sp>
        <p:nvSpPr>
          <p:cNvPr id="83" name="Rounded Rectangle 11">
            <a:extLst>
              <a:ext uri="{FF2B5EF4-FFF2-40B4-BE49-F238E27FC236}">
                <a16:creationId xmlns:a16="http://schemas.microsoft.com/office/drawing/2014/main" id="{8E1AB4B6-F36B-23C2-C37E-F1FB81DBA0B2}"/>
              </a:ext>
              <a:ext uri="{C183D7F6-B498-43B3-948B-1728B52AA6E4}">
                <adec:decorative xmlns:adec="http://schemas.microsoft.com/office/drawing/2017/decorative" val="1"/>
              </a:ext>
            </a:extLst>
          </p:cNvPr>
          <p:cNvSpPr>
            <a:spLocks/>
          </p:cNvSpPr>
          <p:nvPr/>
        </p:nvSpPr>
        <p:spPr bwMode="auto">
          <a:xfrm>
            <a:off x="9293913" y="2733222"/>
            <a:ext cx="726732" cy="726732"/>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p:txBody>
      </p:sp>
      <p:sp>
        <p:nvSpPr>
          <p:cNvPr id="5" name="Title 1">
            <a:extLst>
              <a:ext uri="{FF2B5EF4-FFF2-40B4-BE49-F238E27FC236}">
                <a16:creationId xmlns:a16="http://schemas.microsoft.com/office/drawing/2014/main" id="{0F59282B-0D24-4D89-A685-86459F7B2716}"/>
              </a:ext>
            </a:extLst>
          </p:cNvPr>
          <p:cNvSpPr>
            <a:spLocks noGrp="1"/>
          </p:cNvSpPr>
          <p:nvPr>
            <p:ph type="title"/>
          </p:nvPr>
        </p:nvSpPr>
        <p:spPr>
          <a:xfrm>
            <a:off x="588263" y="457200"/>
            <a:ext cx="11018520" cy="553998"/>
          </a:xfrm>
        </p:spPr>
        <p:txBody>
          <a:bodyPr>
            <a:noAutofit/>
          </a:bodyPr>
          <a:lstStyle/>
          <a:p>
            <a:r>
              <a:rPr lang="en-US"/>
              <a:t>Govern Copilot content access and quality with SAM</a:t>
            </a:r>
          </a:p>
        </p:txBody>
      </p:sp>
      <p:sp>
        <p:nvSpPr>
          <p:cNvPr id="9" name="TextBox 8">
            <a:extLst>
              <a:ext uri="{FF2B5EF4-FFF2-40B4-BE49-F238E27FC236}">
                <a16:creationId xmlns:a16="http://schemas.microsoft.com/office/drawing/2014/main" id="{A7AD8282-07F0-5658-7410-F43E46942F43}"/>
              </a:ext>
            </a:extLst>
          </p:cNvPr>
          <p:cNvSpPr txBox="1">
            <a:spLocks/>
          </p:cNvSpPr>
          <p:nvPr/>
        </p:nvSpPr>
        <p:spPr>
          <a:xfrm>
            <a:off x="588963" y="1128911"/>
            <a:ext cx="11017250" cy="61555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SharePoint Advanced Management enhances content governance for SharePoint and OneDrive, streamlining content management and preventing content sprawl and oversharing</a:t>
            </a:r>
          </a:p>
        </p:txBody>
      </p:sp>
      <p:sp>
        <p:nvSpPr>
          <p:cNvPr id="88" name="Graphic 42" descr="Icon of a clipboard with a pen">
            <a:extLst>
              <a:ext uri="{FF2B5EF4-FFF2-40B4-BE49-F238E27FC236}">
                <a16:creationId xmlns:a16="http://schemas.microsoft.com/office/drawing/2014/main" id="{5BFAB2CF-23BA-396A-F301-4A640C7B308F}"/>
              </a:ext>
            </a:extLst>
          </p:cNvPr>
          <p:cNvSpPr>
            <a:spLocks/>
          </p:cNvSpPr>
          <p:nvPr/>
        </p:nvSpPr>
        <p:spPr>
          <a:xfrm>
            <a:off x="2374659" y="2883427"/>
            <a:ext cx="313772" cy="381004"/>
          </a:xfrm>
          <a:custGeom>
            <a:avLst/>
            <a:gdLst>
              <a:gd name="connsiteX0" fmla="*/ 42863 w 133366"/>
              <a:gd name="connsiteY0" fmla="*/ 0 h 161941"/>
              <a:gd name="connsiteX1" fmla="*/ 29388 w 133366"/>
              <a:gd name="connsiteY1" fmla="*/ 9525 h 161941"/>
              <a:gd name="connsiteX2" fmla="*/ 14288 w 133366"/>
              <a:gd name="connsiteY2" fmla="*/ 9525 h 161941"/>
              <a:gd name="connsiteX3" fmla="*/ 0 w 133366"/>
              <a:gd name="connsiteY3" fmla="*/ 23813 h 161941"/>
              <a:gd name="connsiteX4" fmla="*/ 0 w 133366"/>
              <a:gd name="connsiteY4" fmla="*/ 138113 h 161941"/>
              <a:gd name="connsiteX5" fmla="*/ 14288 w 133366"/>
              <a:gd name="connsiteY5" fmla="*/ 152400 h 161941"/>
              <a:gd name="connsiteX6" fmla="*/ 38136 w 133366"/>
              <a:gd name="connsiteY6" fmla="*/ 152400 h 161941"/>
              <a:gd name="connsiteX7" fmla="*/ 38654 w 133366"/>
              <a:gd name="connsiteY7" fmla="*/ 149097 h 161941"/>
              <a:gd name="connsiteX8" fmla="*/ 42221 w 133366"/>
              <a:gd name="connsiteY8" fmla="*/ 134830 h 161941"/>
              <a:gd name="connsiteX9" fmla="*/ 50231 w 133366"/>
              <a:gd name="connsiteY9" fmla="*/ 120683 h 161941"/>
              <a:gd name="connsiteX10" fmla="*/ 96231 w 133366"/>
              <a:gd name="connsiteY10" fmla="*/ 74682 h 161941"/>
              <a:gd name="connsiteX11" fmla="*/ 114300 w 133366"/>
              <a:gd name="connsiteY11" fmla="*/ 66704 h 161941"/>
              <a:gd name="connsiteX12" fmla="*/ 114300 w 133366"/>
              <a:gd name="connsiteY12" fmla="*/ 23813 h 161941"/>
              <a:gd name="connsiteX13" fmla="*/ 100013 w 133366"/>
              <a:gd name="connsiteY13" fmla="*/ 9525 h 161941"/>
              <a:gd name="connsiteX14" fmla="*/ 84912 w 133366"/>
              <a:gd name="connsiteY14" fmla="*/ 9525 h 161941"/>
              <a:gd name="connsiteX15" fmla="*/ 71438 w 133366"/>
              <a:gd name="connsiteY15" fmla="*/ 0 h 161941"/>
              <a:gd name="connsiteX16" fmla="*/ 42863 w 133366"/>
              <a:gd name="connsiteY16" fmla="*/ 0 h 161941"/>
              <a:gd name="connsiteX17" fmla="*/ 38100 w 133366"/>
              <a:gd name="connsiteY17" fmla="*/ 14288 h 161941"/>
              <a:gd name="connsiteX18" fmla="*/ 42863 w 133366"/>
              <a:gd name="connsiteY18" fmla="*/ 9525 h 161941"/>
              <a:gd name="connsiteX19" fmla="*/ 71438 w 133366"/>
              <a:gd name="connsiteY19" fmla="*/ 9525 h 161941"/>
              <a:gd name="connsiteX20" fmla="*/ 76200 w 133366"/>
              <a:gd name="connsiteY20" fmla="*/ 14288 h 161941"/>
              <a:gd name="connsiteX21" fmla="*/ 71438 w 133366"/>
              <a:gd name="connsiteY21" fmla="*/ 19050 h 161941"/>
              <a:gd name="connsiteX22" fmla="*/ 42863 w 133366"/>
              <a:gd name="connsiteY22" fmla="*/ 19050 h 161941"/>
              <a:gd name="connsiteX23" fmla="*/ 38100 w 133366"/>
              <a:gd name="connsiteY23" fmla="*/ 14288 h 161941"/>
              <a:gd name="connsiteX24" fmla="*/ 56957 w 133366"/>
              <a:gd name="connsiteY24" fmla="*/ 127418 h 161941"/>
              <a:gd name="connsiteX25" fmla="*/ 102958 w 133366"/>
              <a:gd name="connsiteY25" fmla="*/ 81418 h 161941"/>
              <a:gd name="connsiteX26" fmla="*/ 128149 w 133366"/>
              <a:gd name="connsiteY26" fmla="*/ 81418 h 161941"/>
              <a:gd name="connsiteX27" fmla="*/ 128149 w 133366"/>
              <a:gd name="connsiteY27" fmla="*/ 106610 h 161941"/>
              <a:gd name="connsiteX28" fmla="*/ 82149 w 133366"/>
              <a:gd name="connsiteY28" fmla="*/ 152610 h 161941"/>
              <a:gd name="connsiteX29" fmla="*/ 72427 w 133366"/>
              <a:gd name="connsiteY29" fmla="*/ 158114 h 161941"/>
              <a:gd name="connsiteX30" fmla="*/ 58160 w 133366"/>
              <a:gd name="connsiteY30" fmla="*/ 161681 h 161941"/>
              <a:gd name="connsiteX31" fmla="*/ 47886 w 133366"/>
              <a:gd name="connsiteY31" fmla="*/ 151407 h 161941"/>
              <a:gd name="connsiteX32" fmla="*/ 51453 w 133366"/>
              <a:gd name="connsiteY32" fmla="*/ 137140 h 161941"/>
              <a:gd name="connsiteX33" fmla="*/ 56957 w 133366"/>
              <a:gd name="connsiteY33" fmla="*/ 127418 h 16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3366" h="161941">
                <a:moveTo>
                  <a:pt x="42863" y="0"/>
                </a:moveTo>
                <a:cubicBezTo>
                  <a:pt x="36642" y="0"/>
                  <a:pt x="31349" y="3976"/>
                  <a:pt x="29388" y="9525"/>
                </a:cubicBezTo>
                <a:lnTo>
                  <a:pt x="14288" y="9525"/>
                </a:lnTo>
                <a:cubicBezTo>
                  <a:pt x="6397" y="9525"/>
                  <a:pt x="0" y="15922"/>
                  <a:pt x="0" y="23813"/>
                </a:cubicBezTo>
                <a:lnTo>
                  <a:pt x="0" y="138113"/>
                </a:lnTo>
                <a:cubicBezTo>
                  <a:pt x="0" y="146003"/>
                  <a:pt x="6397" y="152400"/>
                  <a:pt x="14288" y="152400"/>
                </a:cubicBezTo>
                <a:lnTo>
                  <a:pt x="38136" y="152400"/>
                </a:lnTo>
                <a:cubicBezTo>
                  <a:pt x="38206" y="151313"/>
                  <a:pt x="38376" y="150210"/>
                  <a:pt x="38654" y="149097"/>
                </a:cubicBezTo>
                <a:lnTo>
                  <a:pt x="42221" y="134830"/>
                </a:lnTo>
                <a:cubicBezTo>
                  <a:pt x="43559" y="129475"/>
                  <a:pt x="46328" y="124585"/>
                  <a:pt x="50231" y="120683"/>
                </a:cubicBezTo>
                <a:lnTo>
                  <a:pt x="96231" y="74682"/>
                </a:lnTo>
                <a:cubicBezTo>
                  <a:pt x="101248" y="69665"/>
                  <a:pt x="107730" y="67006"/>
                  <a:pt x="114300" y="66704"/>
                </a:cubicBezTo>
                <a:lnTo>
                  <a:pt x="114300" y="23813"/>
                </a:lnTo>
                <a:cubicBezTo>
                  <a:pt x="114300" y="15922"/>
                  <a:pt x="107903" y="9525"/>
                  <a:pt x="100013" y="9525"/>
                </a:cubicBezTo>
                <a:lnTo>
                  <a:pt x="84912" y="9525"/>
                </a:lnTo>
                <a:cubicBezTo>
                  <a:pt x="82950" y="3976"/>
                  <a:pt x="77658" y="0"/>
                  <a:pt x="71438" y="0"/>
                </a:cubicBezTo>
                <a:lnTo>
                  <a:pt x="42863" y="0"/>
                </a:lnTo>
                <a:close/>
                <a:moveTo>
                  <a:pt x="38100" y="14288"/>
                </a:moveTo>
                <a:cubicBezTo>
                  <a:pt x="38100" y="11657"/>
                  <a:pt x="40232" y="9525"/>
                  <a:pt x="42863" y="9525"/>
                </a:cubicBezTo>
                <a:lnTo>
                  <a:pt x="71438" y="9525"/>
                </a:lnTo>
                <a:cubicBezTo>
                  <a:pt x="74067" y="9525"/>
                  <a:pt x="76200" y="11657"/>
                  <a:pt x="76200" y="14288"/>
                </a:cubicBezTo>
                <a:cubicBezTo>
                  <a:pt x="76200" y="16918"/>
                  <a:pt x="74067" y="19050"/>
                  <a:pt x="71438" y="19050"/>
                </a:cubicBezTo>
                <a:lnTo>
                  <a:pt x="42863" y="19050"/>
                </a:lnTo>
                <a:cubicBezTo>
                  <a:pt x="40232" y="19050"/>
                  <a:pt x="38100" y="16918"/>
                  <a:pt x="38100" y="14288"/>
                </a:cubicBezTo>
                <a:close/>
                <a:moveTo>
                  <a:pt x="56957" y="127418"/>
                </a:moveTo>
                <a:lnTo>
                  <a:pt x="102958" y="81418"/>
                </a:lnTo>
                <a:cubicBezTo>
                  <a:pt x="109914" y="74461"/>
                  <a:pt x="121193" y="74461"/>
                  <a:pt x="128149" y="81418"/>
                </a:cubicBezTo>
                <a:cubicBezTo>
                  <a:pt x="135105" y="88374"/>
                  <a:pt x="135105" y="99652"/>
                  <a:pt x="128149" y="106610"/>
                </a:cubicBezTo>
                <a:lnTo>
                  <a:pt x="82149" y="152610"/>
                </a:lnTo>
                <a:cubicBezTo>
                  <a:pt x="79467" y="155292"/>
                  <a:pt x="76107" y="157194"/>
                  <a:pt x="72427" y="158114"/>
                </a:cubicBezTo>
                <a:lnTo>
                  <a:pt x="58160" y="161681"/>
                </a:lnTo>
                <a:cubicBezTo>
                  <a:pt x="51955" y="163232"/>
                  <a:pt x="46334" y="157612"/>
                  <a:pt x="47886" y="151407"/>
                </a:cubicBezTo>
                <a:lnTo>
                  <a:pt x="51453" y="137140"/>
                </a:lnTo>
                <a:cubicBezTo>
                  <a:pt x="52372" y="133461"/>
                  <a:pt x="54275" y="130100"/>
                  <a:pt x="56957" y="127418"/>
                </a:cubicBezTo>
                <a:close/>
              </a:path>
            </a:pathLst>
          </a:custGeom>
          <a:solidFill>
            <a:schemeClr val="bg1"/>
          </a:solidFill>
          <a:ln w="1508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Rectangle: Rounded Corners 79">
            <a:extLst>
              <a:ext uri="{FF2B5EF4-FFF2-40B4-BE49-F238E27FC236}">
                <a16:creationId xmlns:a16="http://schemas.microsoft.com/office/drawing/2014/main" id="{E7732FE6-9619-B2B1-D49B-CE5575D997A1}"/>
              </a:ext>
            </a:extLst>
          </p:cNvPr>
          <p:cNvSpPr>
            <a:spLocks/>
          </p:cNvSpPr>
          <p:nvPr/>
        </p:nvSpPr>
        <p:spPr bwMode="auto">
          <a:xfrm>
            <a:off x="900988" y="3860213"/>
            <a:ext cx="3261115" cy="983895"/>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w="3175">
                  <a:noFill/>
                </a:ln>
                <a:solidFill>
                  <a:srgbClr val="FFFFFF"/>
                </a:solidFill>
                <a:effectLst/>
                <a:uLnTx/>
                <a:uFillTx/>
                <a:latin typeface="Segoe UI Semibold"/>
                <a:ea typeface="+mn-ea"/>
                <a:cs typeface="+mn-cs"/>
              </a:rPr>
              <a:t>Content Sprawl</a:t>
            </a:r>
          </a:p>
        </p:txBody>
      </p:sp>
      <p:sp>
        <p:nvSpPr>
          <p:cNvPr id="89" name="Graphic 34" descr="Icon of a shield with a checkmark">
            <a:extLst>
              <a:ext uri="{FF2B5EF4-FFF2-40B4-BE49-F238E27FC236}">
                <a16:creationId xmlns:a16="http://schemas.microsoft.com/office/drawing/2014/main" id="{8B31DE6A-312B-A7F2-FABE-BD98AE6C6111}"/>
              </a:ext>
            </a:extLst>
          </p:cNvPr>
          <p:cNvSpPr>
            <a:spLocks/>
          </p:cNvSpPr>
          <p:nvPr/>
        </p:nvSpPr>
        <p:spPr>
          <a:xfrm>
            <a:off x="5918993" y="2879020"/>
            <a:ext cx="350838" cy="389818"/>
          </a:xfrm>
          <a:custGeom>
            <a:avLst/>
            <a:gdLst>
              <a:gd name="connsiteX0" fmla="*/ 164306 w 171450"/>
              <a:gd name="connsiteY0" fmla="*/ 28575 h 190501"/>
              <a:gd name="connsiteX1" fmla="*/ 90011 w 171450"/>
              <a:gd name="connsiteY1" fmla="*/ 1429 h 190501"/>
              <a:gd name="connsiteX2" fmla="*/ 81439 w 171450"/>
              <a:gd name="connsiteY2" fmla="*/ 1429 h 190501"/>
              <a:gd name="connsiteX3" fmla="*/ 7144 w 171450"/>
              <a:gd name="connsiteY3" fmla="*/ 28575 h 190501"/>
              <a:gd name="connsiteX4" fmla="*/ 0 w 171450"/>
              <a:gd name="connsiteY4" fmla="*/ 35719 h 190501"/>
              <a:gd name="connsiteX5" fmla="*/ 0 w 171450"/>
              <a:gd name="connsiteY5" fmla="*/ 85725 h 190501"/>
              <a:gd name="connsiteX6" fmla="*/ 83106 w 171450"/>
              <a:gd name="connsiteY6" fmla="*/ 190005 h 190501"/>
              <a:gd name="connsiteX7" fmla="*/ 88344 w 171450"/>
              <a:gd name="connsiteY7" fmla="*/ 190005 h 190501"/>
              <a:gd name="connsiteX8" fmla="*/ 171450 w 171450"/>
              <a:gd name="connsiteY8" fmla="*/ 85725 h 190501"/>
              <a:gd name="connsiteX9" fmla="*/ 171450 w 171450"/>
              <a:gd name="connsiteY9" fmla="*/ 35719 h 190501"/>
              <a:gd name="connsiteX10" fmla="*/ 164306 w 171450"/>
              <a:gd name="connsiteY10" fmla="*/ 28575 h 190501"/>
              <a:gd name="connsiteX11" fmla="*/ 131035 w 171450"/>
              <a:gd name="connsiteY11" fmla="*/ 69561 h 190501"/>
              <a:gd name="connsiteX12" fmla="*/ 73885 w 171450"/>
              <a:gd name="connsiteY12" fmla="*/ 121949 h 190501"/>
              <a:gd name="connsiteX13" fmla="*/ 64008 w 171450"/>
              <a:gd name="connsiteY13" fmla="*/ 121730 h 190501"/>
              <a:gd name="connsiteX14" fmla="*/ 40195 w 171450"/>
              <a:gd name="connsiteY14" fmla="*/ 97917 h 190501"/>
              <a:gd name="connsiteX15" fmla="*/ 39839 w 171450"/>
              <a:gd name="connsiteY15" fmla="*/ 87821 h 190501"/>
              <a:gd name="connsiteX16" fmla="*/ 49936 w 171450"/>
              <a:gd name="connsiteY16" fmla="*/ 87464 h 190501"/>
              <a:gd name="connsiteX17" fmla="*/ 50292 w 171450"/>
              <a:gd name="connsiteY17" fmla="*/ 87821 h 190501"/>
              <a:gd name="connsiteX18" fmla="*/ 69275 w 171450"/>
              <a:gd name="connsiteY18" fmla="*/ 106794 h 190501"/>
              <a:gd name="connsiteX19" fmla="*/ 121377 w 171450"/>
              <a:gd name="connsiteY19" fmla="*/ 59026 h 190501"/>
              <a:gd name="connsiteX20" fmla="*/ 131474 w 171450"/>
              <a:gd name="connsiteY20" fmla="*/ 59465 h 190501"/>
              <a:gd name="connsiteX21" fmla="*/ 131035 w 171450"/>
              <a:gd name="connsiteY21" fmla="*/ 69561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90501">
                <a:moveTo>
                  <a:pt x="164306" y="28575"/>
                </a:moveTo>
                <a:cubicBezTo>
                  <a:pt x="138941" y="28575"/>
                  <a:pt x="114224" y="19593"/>
                  <a:pt x="90011" y="1429"/>
                </a:cubicBezTo>
                <a:cubicBezTo>
                  <a:pt x="87471" y="-476"/>
                  <a:pt x="83979" y="-476"/>
                  <a:pt x="81439" y="1429"/>
                </a:cubicBezTo>
                <a:cubicBezTo>
                  <a:pt x="57226" y="19593"/>
                  <a:pt x="32509" y="28575"/>
                  <a:pt x="7144" y="28575"/>
                </a:cubicBezTo>
                <a:cubicBezTo>
                  <a:pt x="3198" y="28575"/>
                  <a:pt x="0" y="31773"/>
                  <a:pt x="0" y="35719"/>
                </a:cubicBezTo>
                <a:lnTo>
                  <a:pt x="0" y="85725"/>
                </a:lnTo>
                <a:cubicBezTo>
                  <a:pt x="0" y="133360"/>
                  <a:pt x="28175" y="168364"/>
                  <a:pt x="83106" y="190005"/>
                </a:cubicBezTo>
                <a:cubicBezTo>
                  <a:pt x="84789" y="190668"/>
                  <a:pt x="86661" y="190668"/>
                  <a:pt x="88344" y="190005"/>
                </a:cubicBezTo>
                <a:cubicBezTo>
                  <a:pt x="143275" y="168364"/>
                  <a:pt x="171450" y="133350"/>
                  <a:pt x="171450" y="85725"/>
                </a:cubicBezTo>
                <a:lnTo>
                  <a:pt x="171450" y="35719"/>
                </a:lnTo>
                <a:cubicBezTo>
                  <a:pt x="171450" y="31773"/>
                  <a:pt x="168252" y="28575"/>
                  <a:pt x="164306" y="28575"/>
                </a:cubicBezTo>
                <a:close/>
                <a:moveTo>
                  <a:pt x="131035" y="69561"/>
                </a:moveTo>
                <a:lnTo>
                  <a:pt x="73885" y="121949"/>
                </a:lnTo>
                <a:cubicBezTo>
                  <a:pt x="71065" y="124531"/>
                  <a:pt x="66711" y="124435"/>
                  <a:pt x="64008" y="121730"/>
                </a:cubicBezTo>
                <a:lnTo>
                  <a:pt x="40195" y="97917"/>
                </a:lnTo>
                <a:cubicBezTo>
                  <a:pt x="37309" y="95227"/>
                  <a:pt x="37149" y="90707"/>
                  <a:pt x="39839" y="87821"/>
                </a:cubicBezTo>
                <a:cubicBezTo>
                  <a:pt x="42529" y="84934"/>
                  <a:pt x="47049" y="84774"/>
                  <a:pt x="49936" y="87464"/>
                </a:cubicBezTo>
                <a:cubicBezTo>
                  <a:pt x="50059" y="87579"/>
                  <a:pt x="50177" y="87698"/>
                  <a:pt x="50292" y="87821"/>
                </a:cubicBezTo>
                <a:lnTo>
                  <a:pt x="69275" y="106794"/>
                </a:lnTo>
                <a:lnTo>
                  <a:pt x="121377" y="59026"/>
                </a:lnTo>
                <a:cubicBezTo>
                  <a:pt x="124286" y="56359"/>
                  <a:pt x="128807" y="56556"/>
                  <a:pt x="131474" y="59465"/>
                </a:cubicBezTo>
                <a:cubicBezTo>
                  <a:pt x="134141" y="62374"/>
                  <a:pt x="133944" y="66894"/>
                  <a:pt x="131035" y="69561"/>
                </a:cubicBezTo>
                <a:close/>
              </a:path>
            </a:pathLst>
          </a:custGeom>
          <a:solidFill>
            <a:schemeClr val="bg1"/>
          </a:solidFill>
          <a:ln w="1508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1" name="Rectangle: Rounded Corners 80">
            <a:extLst>
              <a:ext uri="{FF2B5EF4-FFF2-40B4-BE49-F238E27FC236}">
                <a16:creationId xmlns:a16="http://schemas.microsoft.com/office/drawing/2014/main" id="{84314CFD-B2AA-1044-265E-AD39349D1579}"/>
              </a:ext>
            </a:extLst>
          </p:cNvPr>
          <p:cNvSpPr>
            <a:spLocks/>
          </p:cNvSpPr>
          <p:nvPr/>
        </p:nvSpPr>
        <p:spPr bwMode="auto">
          <a:xfrm>
            <a:off x="4463855" y="3860213"/>
            <a:ext cx="3261115" cy="983895"/>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w="3175">
                  <a:noFill/>
                </a:ln>
                <a:solidFill>
                  <a:srgbClr val="FFFFFF"/>
                </a:solidFill>
                <a:effectLst/>
                <a:uLnTx/>
                <a:uFillTx/>
                <a:latin typeface="Segoe UI Semibold"/>
                <a:ea typeface="+mn-ea"/>
                <a:cs typeface="+mn-cs"/>
              </a:rPr>
              <a:t>Content Oversharing prevention</a:t>
            </a:r>
          </a:p>
        </p:txBody>
      </p:sp>
      <p:sp>
        <p:nvSpPr>
          <p:cNvPr id="90" name="Graphic 26" descr="Icon of a circle made of two curved arrows rotating clockwise inside a circle">
            <a:extLst>
              <a:ext uri="{FF2B5EF4-FFF2-40B4-BE49-F238E27FC236}">
                <a16:creationId xmlns:a16="http://schemas.microsoft.com/office/drawing/2014/main" id="{F8AD663D-49E7-3F1F-8859-F1480C3931AD}"/>
              </a:ext>
            </a:extLst>
          </p:cNvPr>
          <p:cNvSpPr/>
          <p:nvPr/>
        </p:nvSpPr>
        <p:spPr>
          <a:xfrm>
            <a:off x="9479997" y="2919305"/>
            <a:ext cx="354566" cy="354566"/>
          </a:xfrm>
          <a:custGeom>
            <a:avLst/>
            <a:gdLst>
              <a:gd name="connsiteX0" fmla="*/ 125463 w 250926"/>
              <a:gd name="connsiteY0" fmla="*/ 250927 h 250926"/>
              <a:gd name="connsiteX1" fmla="*/ 0 w 250926"/>
              <a:gd name="connsiteY1" fmla="*/ 125463 h 250926"/>
              <a:gd name="connsiteX2" fmla="*/ 125463 w 250926"/>
              <a:gd name="connsiteY2" fmla="*/ 0 h 250926"/>
              <a:gd name="connsiteX3" fmla="*/ 250927 w 250926"/>
              <a:gd name="connsiteY3" fmla="*/ 125463 h 250926"/>
              <a:gd name="connsiteX4" fmla="*/ 125463 w 250926"/>
              <a:gd name="connsiteY4" fmla="*/ 250927 h 250926"/>
              <a:gd name="connsiteX5" fmla="*/ 166490 w 250926"/>
              <a:gd name="connsiteY5" fmla="*/ 109780 h 250926"/>
              <a:gd name="connsiteX6" fmla="*/ 150556 w 250926"/>
              <a:gd name="connsiteY6" fmla="*/ 109780 h 250926"/>
              <a:gd name="connsiteX7" fmla="*/ 141146 w 250926"/>
              <a:gd name="connsiteY7" fmla="*/ 119190 h 250926"/>
              <a:gd name="connsiteX8" fmla="*/ 150556 w 250926"/>
              <a:gd name="connsiteY8" fmla="*/ 128600 h 250926"/>
              <a:gd name="connsiteX9" fmla="*/ 185058 w 250926"/>
              <a:gd name="connsiteY9" fmla="*/ 128600 h 250926"/>
              <a:gd name="connsiteX10" fmla="*/ 194468 w 250926"/>
              <a:gd name="connsiteY10" fmla="*/ 119190 h 250926"/>
              <a:gd name="connsiteX11" fmla="*/ 194468 w 250926"/>
              <a:gd name="connsiteY11" fmla="*/ 78415 h 250926"/>
              <a:gd name="connsiteX12" fmla="*/ 185058 w 250926"/>
              <a:gd name="connsiteY12" fmla="*/ 69005 h 250926"/>
              <a:gd name="connsiteX13" fmla="*/ 175649 w 250926"/>
              <a:gd name="connsiteY13" fmla="*/ 78415 h 250926"/>
              <a:gd name="connsiteX14" fmla="*/ 175649 w 250926"/>
              <a:gd name="connsiteY14" fmla="*/ 87824 h 250926"/>
              <a:gd name="connsiteX15" fmla="*/ 125463 w 250926"/>
              <a:gd name="connsiteY15" fmla="*/ 62732 h 250926"/>
              <a:gd name="connsiteX16" fmla="*/ 77449 w 250926"/>
              <a:gd name="connsiteY16" fmla="*/ 84939 h 250926"/>
              <a:gd name="connsiteX17" fmla="*/ 78666 w 250926"/>
              <a:gd name="connsiteY17" fmla="*/ 98200 h 250926"/>
              <a:gd name="connsiteX18" fmla="*/ 91927 w 250926"/>
              <a:gd name="connsiteY18" fmla="*/ 96983 h 250926"/>
              <a:gd name="connsiteX19" fmla="*/ 125463 w 250926"/>
              <a:gd name="connsiteY19" fmla="*/ 81551 h 250926"/>
              <a:gd name="connsiteX20" fmla="*/ 166490 w 250926"/>
              <a:gd name="connsiteY20" fmla="*/ 109780 h 250926"/>
              <a:gd name="connsiteX21" fmla="*/ 75278 w 250926"/>
              <a:gd name="connsiteY21" fmla="*/ 172512 h 250926"/>
              <a:gd name="connsiteX22" fmla="*/ 75278 w 250926"/>
              <a:gd name="connsiteY22" fmla="*/ 163102 h 250926"/>
              <a:gd name="connsiteX23" fmla="*/ 163351 w 250926"/>
              <a:gd name="connsiteY23" fmla="*/ 175536 h 250926"/>
              <a:gd name="connsiteX24" fmla="*/ 173403 w 250926"/>
              <a:gd name="connsiteY24" fmla="*/ 166076 h 250926"/>
              <a:gd name="connsiteX25" fmla="*/ 172624 w 250926"/>
              <a:gd name="connsiteY25" fmla="*/ 152792 h 250926"/>
              <a:gd name="connsiteX26" fmla="*/ 159338 w 250926"/>
              <a:gd name="connsiteY26" fmla="*/ 153571 h 250926"/>
              <a:gd name="connsiteX27" fmla="*/ 159075 w 250926"/>
              <a:gd name="connsiteY27" fmla="*/ 153881 h 250926"/>
              <a:gd name="connsiteX28" fmla="*/ 96938 w 250926"/>
              <a:gd name="connsiteY28" fmla="*/ 158804 h 250926"/>
              <a:gd name="connsiteX29" fmla="*/ 85779 w 250926"/>
              <a:gd name="connsiteY29" fmla="*/ 144283 h 250926"/>
              <a:gd name="connsiteX30" fmla="*/ 100371 w 250926"/>
              <a:gd name="connsiteY30" fmla="*/ 144283 h 250926"/>
              <a:gd name="connsiteX31" fmla="*/ 109780 w 250926"/>
              <a:gd name="connsiteY31" fmla="*/ 134873 h 250926"/>
              <a:gd name="connsiteX32" fmla="*/ 100371 w 250926"/>
              <a:gd name="connsiteY32" fmla="*/ 125463 h 250926"/>
              <a:gd name="connsiteX33" fmla="*/ 65868 w 250926"/>
              <a:gd name="connsiteY33" fmla="*/ 125463 h 250926"/>
              <a:gd name="connsiteX34" fmla="*/ 56459 w 250926"/>
              <a:gd name="connsiteY34" fmla="*/ 134873 h 250926"/>
              <a:gd name="connsiteX35" fmla="*/ 56459 w 250926"/>
              <a:gd name="connsiteY35" fmla="*/ 172512 h 250926"/>
              <a:gd name="connsiteX36" fmla="*/ 65868 w 250926"/>
              <a:gd name="connsiteY36" fmla="*/ 181922 h 250926"/>
              <a:gd name="connsiteX37" fmla="*/ 75278 w 250926"/>
              <a:gd name="connsiteY37" fmla="*/ 172512 h 25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0926" h="250926">
                <a:moveTo>
                  <a:pt x="125463" y="250927"/>
                </a:moveTo>
                <a:cubicBezTo>
                  <a:pt x="56170" y="250927"/>
                  <a:pt x="0" y="194757"/>
                  <a:pt x="0" y="125463"/>
                </a:cubicBezTo>
                <a:cubicBezTo>
                  <a:pt x="0" y="56170"/>
                  <a:pt x="56170" y="0"/>
                  <a:pt x="125463" y="0"/>
                </a:cubicBezTo>
                <a:cubicBezTo>
                  <a:pt x="194757" y="0"/>
                  <a:pt x="250927" y="56170"/>
                  <a:pt x="250927" y="125463"/>
                </a:cubicBezTo>
                <a:cubicBezTo>
                  <a:pt x="250927" y="194757"/>
                  <a:pt x="194757" y="250927"/>
                  <a:pt x="125463" y="250927"/>
                </a:cubicBezTo>
                <a:close/>
                <a:moveTo>
                  <a:pt x="166490" y="109780"/>
                </a:moveTo>
                <a:lnTo>
                  <a:pt x="150556" y="109780"/>
                </a:lnTo>
                <a:cubicBezTo>
                  <a:pt x="145359" y="109780"/>
                  <a:pt x="141146" y="113993"/>
                  <a:pt x="141146" y="119190"/>
                </a:cubicBezTo>
                <a:cubicBezTo>
                  <a:pt x="141146" y="124387"/>
                  <a:pt x="145359" y="128600"/>
                  <a:pt x="150556" y="128600"/>
                </a:cubicBezTo>
                <a:lnTo>
                  <a:pt x="185058" y="128600"/>
                </a:lnTo>
                <a:cubicBezTo>
                  <a:pt x="190255" y="128600"/>
                  <a:pt x="194468" y="124387"/>
                  <a:pt x="194468" y="119190"/>
                </a:cubicBezTo>
                <a:lnTo>
                  <a:pt x="194468" y="78415"/>
                </a:lnTo>
                <a:cubicBezTo>
                  <a:pt x="194468" y="73218"/>
                  <a:pt x="190255" y="69005"/>
                  <a:pt x="185058" y="69005"/>
                </a:cubicBezTo>
                <a:cubicBezTo>
                  <a:pt x="179862" y="69005"/>
                  <a:pt x="175649" y="73218"/>
                  <a:pt x="175649" y="78415"/>
                </a:cubicBezTo>
                <a:lnTo>
                  <a:pt x="175649" y="87824"/>
                </a:lnTo>
                <a:cubicBezTo>
                  <a:pt x="163814" y="72014"/>
                  <a:pt x="145213" y="62714"/>
                  <a:pt x="125463" y="62732"/>
                </a:cubicBezTo>
                <a:cubicBezTo>
                  <a:pt x="106180" y="62732"/>
                  <a:pt x="89029" y="71012"/>
                  <a:pt x="77449" y="84939"/>
                </a:cubicBezTo>
                <a:cubicBezTo>
                  <a:pt x="74122" y="88937"/>
                  <a:pt x="74667" y="94874"/>
                  <a:pt x="78666" y="98200"/>
                </a:cubicBezTo>
                <a:cubicBezTo>
                  <a:pt x="82664" y="101526"/>
                  <a:pt x="88601" y="100982"/>
                  <a:pt x="91927" y="96983"/>
                </a:cubicBezTo>
                <a:cubicBezTo>
                  <a:pt x="99906" y="87360"/>
                  <a:pt x="111750" y="81551"/>
                  <a:pt x="125463" y="81551"/>
                </a:cubicBezTo>
                <a:cubicBezTo>
                  <a:pt x="144182" y="81551"/>
                  <a:pt x="160179" y="93269"/>
                  <a:pt x="166490" y="109780"/>
                </a:cubicBezTo>
                <a:close/>
                <a:moveTo>
                  <a:pt x="75278" y="172512"/>
                </a:moveTo>
                <a:lnTo>
                  <a:pt x="75278" y="163102"/>
                </a:lnTo>
                <a:cubicBezTo>
                  <a:pt x="96165" y="190856"/>
                  <a:pt x="135597" y="196423"/>
                  <a:pt x="163351" y="175536"/>
                </a:cubicBezTo>
                <a:cubicBezTo>
                  <a:pt x="167039" y="172761"/>
                  <a:pt x="170409" y="169589"/>
                  <a:pt x="173403" y="166076"/>
                </a:cubicBezTo>
                <a:cubicBezTo>
                  <a:pt x="176856" y="162193"/>
                  <a:pt x="176507" y="156245"/>
                  <a:pt x="172624" y="152792"/>
                </a:cubicBezTo>
                <a:cubicBezTo>
                  <a:pt x="168739" y="149338"/>
                  <a:pt x="162792" y="149688"/>
                  <a:pt x="159338" y="153571"/>
                </a:cubicBezTo>
                <a:cubicBezTo>
                  <a:pt x="159248" y="153673"/>
                  <a:pt x="159160" y="153775"/>
                  <a:pt x="159075" y="153881"/>
                </a:cubicBezTo>
                <a:cubicBezTo>
                  <a:pt x="143275" y="172399"/>
                  <a:pt x="115456" y="174604"/>
                  <a:pt x="96938" y="158804"/>
                </a:cubicBezTo>
                <a:cubicBezTo>
                  <a:pt x="92243" y="154798"/>
                  <a:pt x="88441" y="149851"/>
                  <a:pt x="85779" y="144283"/>
                </a:cubicBezTo>
                <a:lnTo>
                  <a:pt x="100371" y="144283"/>
                </a:lnTo>
                <a:cubicBezTo>
                  <a:pt x="105567" y="144283"/>
                  <a:pt x="109780" y="140070"/>
                  <a:pt x="109780" y="134873"/>
                </a:cubicBezTo>
                <a:cubicBezTo>
                  <a:pt x="109780" y="129676"/>
                  <a:pt x="105567" y="125463"/>
                  <a:pt x="100371" y="125463"/>
                </a:cubicBezTo>
                <a:lnTo>
                  <a:pt x="65868" y="125463"/>
                </a:lnTo>
                <a:cubicBezTo>
                  <a:pt x="60671" y="125463"/>
                  <a:pt x="56459" y="129676"/>
                  <a:pt x="56459" y="134873"/>
                </a:cubicBezTo>
                <a:lnTo>
                  <a:pt x="56459" y="172512"/>
                </a:lnTo>
                <a:cubicBezTo>
                  <a:pt x="56459" y="177709"/>
                  <a:pt x="60671" y="181922"/>
                  <a:pt x="65868" y="181922"/>
                </a:cubicBezTo>
                <a:cubicBezTo>
                  <a:pt x="71065" y="181922"/>
                  <a:pt x="75278" y="177709"/>
                  <a:pt x="75278" y="172512"/>
                </a:cubicBezTo>
                <a:close/>
              </a:path>
            </a:pathLst>
          </a:custGeom>
          <a:solidFill>
            <a:schemeClr val="bg1"/>
          </a:solidFill>
          <a:ln w="1508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2" name="Rectangle: Rounded Corners 81">
            <a:extLst>
              <a:ext uri="{FF2B5EF4-FFF2-40B4-BE49-F238E27FC236}">
                <a16:creationId xmlns:a16="http://schemas.microsoft.com/office/drawing/2014/main" id="{2073216C-B6EB-5F99-34D9-26EB7A3DC6AD}"/>
              </a:ext>
            </a:extLst>
          </p:cNvPr>
          <p:cNvSpPr>
            <a:spLocks/>
          </p:cNvSpPr>
          <p:nvPr/>
        </p:nvSpPr>
        <p:spPr bwMode="auto">
          <a:xfrm>
            <a:off x="8026722" y="3860213"/>
            <a:ext cx="3261115" cy="983895"/>
          </a:xfrm>
          <a:prstGeom prst="roundRect">
            <a:avLst>
              <a:gd name="adj" fmla="val 2110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w="3175">
                  <a:noFill/>
                </a:ln>
                <a:solidFill>
                  <a:srgbClr val="FFFFFF"/>
                </a:solidFill>
                <a:effectLst/>
                <a:uLnTx/>
                <a:uFillTx/>
                <a:latin typeface="Segoe UI Semibold"/>
                <a:ea typeface="+mn-ea"/>
                <a:cs typeface="+mn-cs"/>
              </a:rPr>
              <a:t>Site Lifecycle</a:t>
            </a:r>
          </a:p>
        </p:txBody>
      </p:sp>
    </p:spTree>
    <p:extLst>
      <p:ext uri="{BB962C8B-B14F-4D97-AF65-F5344CB8AC3E}">
        <p14:creationId xmlns:p14="http://schemas.microsoft.com/office/powerpoint/2010/main" val="3528856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F0F6A-1FDF-0D5A-49A7-AC39853AA1A1}"/>
              </a:ext>
            </a:extLst>
          </p:cNvPr>
          <p:cNvSpPr>
            <a:spLocks noGrp="1"/>
          </p:cNvSpPr>
          <p:nvPr>
            <p:ph type="title"/>
          </p:nvPr>
        </p:nvSpPr>
        <p:spPr>
          <a:xfrm>
            <a:off x="584200" y="293687"/>
            <a:ext cx="11018520" cy="430887"/>
          </a:xfrm>
        </p:spPr>
        <p:txBody>
          <a:bodyPr>
            <a:normAutofit fontScale="90000"/>
          </a:bodyPr>
          <a:lstStyle/>
          <a:p>
            <a:r>
              <a:rPr lang="en-US"/>
              <a:t>SharePoint Advanced Management capabilities</a:t>
            </a:r>
          </a:p>
        </p:txBody>
      </p:sp>
      <p:graphicFrame>
        <p:nvGraphicFramePr>
          <p:cNvPr id="8" name="Table 7">
            <a:extLst>
              <a:ext uri="{FF2B5EF4-FFF2-40B4-BE49-F238E27FC236}">
                <a16:creationId xmlns:a16="http://schemas.microsoft.com/office/drawing/2014/main" id="{EFF4C571-52E8-16A8-3CE9-F1B9B3474824}"/>
              </a:ext>
            </a:extLst>
          </p:cNvPr>
          <p:cNvGraphicFramePr>
            <a:graphicFrameLocks noGrp="1"/>
          </p:cNvGraphicFramePr>
          <p:nvPr/>
        </p:nvGraphicFramePr>
        <p:xfrm>
          <a:off x="584200" y="943734"/>
          <a:ext cx="4556760" cy="5721226"/>
        </p:xfrm>
        <a:graphic>
          <a:graphicData uri="http://schemas.openxmlformats.org/drawingml/2006/table">
            <a:tbl>
              <a:tblPr firstRow="1" bandRow="1">
                <a:tableStyleId>{5C22544A-7EE6-4342-B048-85BDC9FD1C3A}</a:tableStyleId>
              </a:tblPr>
              <a:tblGrid>
                <a:gridCol w="4556760">
                  <a:extLst>
                    <a:ext uri="{9D8B030D-6E8A-4147-A177-3AD203B41FA5}">
                      <a16:colId xmlns:a16="http://schemas.microsoft.com/office/drawing/2014/main" val="3478115178"/>
                    </a:ext>
                  </a:extLst>
                </a:gridCol>
              </a:tblGrid>
              <a:tr h="366322">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73977404"/>
                  </a:ext>
                </a:extLst>
              </a:tr>
              <a:tr h="2266264">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dirty="0"/>
                        <a:t>Oversharing and accidental sharing</a:t>
                      </a:r>
                      <a:r>
                        <a:rPr lang="en-US" sz="1200" dirty="0"/>
                        <a:t> </a:t>
                      </a:r>
                      <a:br>
                        <a:rPr lang="en-US" sz="1200" dirty="0"/>
                      </a:br>
                      <a:r>
                        <a:rPr lang="en-US" sz="1200" dirty="0">
                          <a:solidFill>
                            <a:schemeClr val="tx1"/>
                          </a:solidFill>
                        </a:rPr>
                        <a:t>Lack of built-in tools and access policies puts content at risk. </a:t>
                      </a:r>
                      <a:endParaRPr lang="en-US" sz="1200" b="0" dirty="0">
                        <a:solidFill>
                          <a:schemeClr val="tx1"/>
                        </a:solidFill>
                        <a:latin typeface="+mn-lt"/>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T w="38100" cmpd="sng">
                      <a:noFill/>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53841946"/>
                  </a:ext>
                </a:extLst>
              </a:tr>
              <a:tr h="198120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dirty="0"/>
                        <a:t>Sprawl of SharePoint sites content</a:t>
                      </a:r>
                      <a:br>
                        <a:rPr lang="en-US" sz="1200" b="1" dirty="0"/>
                      </a:br>
                      <a:r>
                        <a:rPr lang="en-US" sz="1200" dirty="0">
                          <a:solidFill>
                            <a:schemeClr val="tx1"/>
                          </a:solidFill>
                        </a:rPr>
                        <a:t>Governing ever-increasing digital content is critical for every SharePoint or IT admins.</a:t>
                      </a:r>
                      <a:endParaRPr lang="en-US" sz="1200" b="0" baseline="0" dirty="0">
                        <a:solidFill>
                          <a:schemeClr val="tx1"/>
                        </a:solidFill>
                        <a:latin typeface="+mn-lt"/>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9680218"/>
                  </a:ext>
                </a:extLst>
              </a:tr>
              <a:tr h="1107440">
                <a:tc>
                  <a:txBody>
                    <a:bodyPr/>
                    <a:lstStyle/>
                    <a:p>
                      <a:pPr marL="60325" marR="0" lvl="0" indent="0" algn="l" rtl="0" eaLnBrk="1" fontAlgn="auto" latinLnBrk="0" hangingPunct="1">
                        <a:lnSpc>
                          <a:spcPct val="100000"/>
                        </a:lnSpc>
                        <a:spcBef>
                          <a:spcPts val="0"/>
                        </a:spcBef>
                        <a:spcAft>
                          <a:spcPts val="0"/>
                        </a:spcAft>
                        <a:buClrTx/>
                        <a:buSzTx/>
                        <a:buFontTx/>
                        <a:buNone/>
                      </a:pPr>
                      <a:r>
                        <a:rPr lang="en-US" sz="1200" b="1" dirty="0"/>
                        <a:t>Content lifecycle management </a:t>
                      </a:r>
                      <a:br>
                        <a:rPr lang="en-US" sz="1200" dirty="0"/>
                      </a:br>
                      <a:r>
                        <a:rPr lang="en-US" sz="1200" dirty="0">
                          <a:solidFill>
                            <a:schemeClr val="tx1"/>
                          </a:solidFill>
                        </a:rPr>
                        <a:t>Lack of advanced management tools to continuously monitor and govern inactive/active SharePoint sites content make it hard to meet various access and regulatory requirements, such as GDPR, FINRA.</a:t>
                      </a:r>
                      <a:endParaRPr lang="en-US" sz="1200" b="0" dirty="0">
                        <a:solidFill>
                          <a:schemeClr val="tx1"/>
                        </a:solidFill>
                        <a:latin typeface="+mn-lt"/>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6017116"/>
                  </a:ext>
                </a:extLst>
              </a:tr>
            </a:tbl>
          </a:graphicData>
        </a:graphic>
      </p:graphicFrame>
      <p:graphicFrame>
        <p:nvGraphicFramePr>
          <p:cNvPr id="9" name="Table 8">
            <a:extLst>
              <a:ext uri="{FF2B5EF4-FFF2-40B4-BE49-F238E27FC236}">
                <a16:creationId xmlns:a16="http://schemas.microsoft.com/office/drawing/2014/main" id="{E89B910C-646A-B9B5-498C-D17FF7C17F64}"/>
              </a:ext>
            </a:extLst>
          </p:cNvPr>
          <p:cNvGraphicFramePr>
            <a:graphicFrameLocks noGrp="1"/>
          </p:cNvGraphicFramePr>
          <p:nvPr/>
        </p:nvGraphicFramePr>
        <p:xfrm>
          <a:off x="5140960" y="943734"/>
          <a:ext cx="5991247" cy="5718600"/>
        </p:xfrm>
        <a:graphic>
          <a:graphicData uri="http://schemas.openxmlformats.org/drawingml/2006/table">
            <a:tbl>
              <a:tblPr firstRow="1" bandRow="1">
                <a:tableStyleId>{72833802-FEF1-4C79-8D5D-14CF1EAF98D9}</a:tableStyleId>
              </a:tblPr>
              <a:tblGrid>
                <a:gridCol w="5991247">
                  <a:extLst>
                    <a:ext uri="{9D8B030D-6E8A-4147-A177-3AD203B41FA5}">
                      <a16:colId xmlns:a16="http://schemas.microsoft.com/office/drawing/2014/main" val="1681208808"/>
                    </a:ext>
                  </a:extLst>
                </a:gridCol>
              </a:tblGrid>
              <a:tr h="3698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bg1"/>
                          </a:solidFill>
                        </a:rPr>
                        <a:t>SAM Capabilities</a:t>
                      </a:r>
                      <a:endParaRPr lang="en-US" sz="1400" b="1" kern="1200" dirty="0">
                        <a:solidFill>
                          <a:schemeClr val="bg1"/>
                        </a:solidFill>
                        <a:latin typeface="+mn-lt"/>
                        <a:ea typeface="Calibri" panose="020F0502020204030204" pitchFamily="34" charset="0"/>
                        <a:cs typeface="Calibri" panose="020F0502020204030204" pitchFamily="34" charset="0"/>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553848825"/>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 action="ppaction://noaction"/>
                        </a:rPr>
                        <a:t>SharePoint data access governance (DAG) insights </a:t>
                      </a:r>
                      <a:br>
                        <a:rPr lang="en-US" sz="900" b="0" dirty="0">
                          <a:solidFill>
                            <a:srgbClr val="000000"/>
                          </a:solidFill>
                        </a:rPr>
                      </a:br>
                      <a:r>
                        <a:rPr lang="en-US" sz="900" b="0" dirty="0">
                          <a:solidFill>
                            <a:schemeClr val="tx1"/>
                          </a:solidFill>
                        </a:rPr>
                        <a:t>Quickly identify overshared sites and request sites access review by site owners.</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9525" cap="flat" cmpd="sng" algn="ctr">
                      <a:noFill/>
                      <a:prstDash val="soli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90805663"/>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baseline="0" dirty="0">
                          <a:solidFill>
                            <a:schemeClr val="tx1"/>
                          </a:solidFill>
                          <a:hlinkClick r:id="rId3" action="ppaction://hlinksldjump"/>
                        </a:rPr>
                        <a:t>Restricted access control (RAC) for SharePoint sites</a:t>
                      </a:r>
                      <a:endParaRPr lang="en-US" sz="900" b="1" baseline="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baseline="0" dirty="0">
                          <a:solidFill>
                            <a:schemeClr val="tx1"/>
                          </a:solidFill>
                        </a:rPr>
                        <a:t>Limit access to specific SharePoint sites and stop oversharing in seconds.</a:t>
                      </a:r>
                      <a:endParaRPr lang="en-US" sz="900" b="0" baseline="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48307461"/>
                  </a:ext>
                </a:extLst>
              </a:tr>
              <a:tr h="369870">
                <a:tc>
                  <a:txBody>
                    <a:bodyPr/>
                    <a:lstStyle/>
                    <a:p>
                      <a:pPr marL="0" marR="0" lvl="0" indent="0" algn="l" rtl="0" eaLnBrk="1" fontAlgn="auto" latinLnBrk="0" hangingPunct="1">
                        <a:lnSpc>
                          <a:spcPct val="100000"/>
                        </a:lnSpc>
                        <a:spcBef>
                          <a:spcPts val="0"/>
                        </a:spcBef>
                        <a:spcAft>
                          <a:spcPts val="0"/>
                        </a:spcAft>
                        <a:buClrTx/>
                        <a:buSzTx/>
                        <a:buFontTx/>
                        <a:buNone/>
                      </a:pPr>
                      <a:r>
                        <a:rPr lang="en-US" sz="900" b="1" dirty="0">
                          <a:solidFill>
                            <a:schemeClr val="tx1"/>
                          </a:solidFill>
                          <a:hlinkClick r:id="" action="ppaction://noaction"/>
                        </a:rPr>
                        <a:t>Restricted access control (RAC) for </a:t>
                      </a:r>
                      <a:r>
                        <a:rPr lang="en-US" sz="900" b="1" dirty="0" err="1">
                          <a:solidFill>
                            <a:schemeClr val="tx1"/>
                          </a:solidFill>
                          <a:hlinkClick r:id="" action="ppaction://noaction"/>
                        </a:rPr>
                        <a:t>OneDrives</a:t>
                      </a:r>
                      <a:r>
                        <a:rPr lang="en-US" sz="900" b="1" dirty="0">
                          <a:solidFill>
                            <a:schemeClr val="tx1"/>
                          </a:solidFill>
                        </a:rPr>
                        <a:t> </a:t>
                      </a:r>
                    </a:p>
                    <a:p>
                      <a:pPr marL="0" marR="0" lvl="0" indent="0" algn="l" rtl="0" eaLnBrk="1" fontAlgn="auto" latinLnBrk="0" hangingPunct="1">
                        <a:lnSpc>
                          <a:spcPct val="100000"/>
                        </a:lnSpc>
                        <a:spcBef>
                          <a:spcPts val="0"/>
                        </a:spcBef>
                        <a:spcAft>
                          <a:spcPts val="0"/>
                        </a:spcAft>
                        <a:buClrTx/>
                        <a:buSzTx/>
                        <a:buFontTx/>
                        <a:buNone/>
                      </a:pPr>
                      <a:r>
                        <a:rPr lang="en-US" sz="900" b="0" dirty="0">
                          <a:solidFill>
                            <a:schemeClr val="tx1"/>
                          </a:solidFill>
                        </a:rPr>
                        <a:t>Limit access to OneDrive's across the tenant to specific users (e.g., full-time employees)  in seconds.</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67193262"/>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4" action="ppaction://hlinksldjump"/>
                        </a:rPr>
                        <a:t>Conditional access policies for SharePoint and OneDrive sites (CAPS)</a:t>
                      </a:r>
                      <a:endParaRPr lang="en-US" sz="9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rPr>
                        <a:t>Add conditions like MFA or Managed device to access sites with business-critical content.</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98004340"/>
                  </a:ext>
                </a:extLst>
              </a:tr>
              <a:tr h="752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5" action="ppaction://hlinksldjump"/>
                        </a:rPr>
                        <a:t>Block download policy for SharePoint and OneDrive sites</a:t>
                      </a:r>
                      <a:endParaRPr lang="en-US" sz="9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rPr>
                        <a:t>Block download of content to prevent accidental oversharing or data loss.</a:t>
                      </a:r>
                    </a:p>
                    <a:p>
                      <a:pPr marL="0" marR="0" lvl="0" indent="0" algn="l">
                        <a:lnSpc>
                          <a:spcPct val="100000"/>
                        </a:lnSpc>
                        <a:spcBef>
                          <a:spcPts val="0"/>
                        </a:spcBef>
                        <a:spcAft>
                          <a:spcPts val="0"/>
                        </a:spcAft>
                        <a:buClrTx/>
                        <a:buSzTx/>
                        <a:buFontTx/>
                        <a:buNone/>
                      </a:pPr>
                      <a:endParaRPr lang="en-US" sz="900" b="0" dirty="0">
                        <a:solidFill>
                          <a:schemeClr val="tx1"/>
                        </a:solidFill>
                      </a:endParaRPr>
                    </a:p>
                    <a:p>
                      <a:pPr marL="0" lvl="0" indent="0" algn="l">
                        <a:lnSpc>
                          <a:spcPct val="100000"/>
                        </a:lnSpc>
                        <a:buNone/>
                      </a:pPr>
                      <a:r>
                        <a:rPr lang="en-US" sz="900" b="1" kern="1200" noProof="0" dirty="0">
                          <a:solidFill>
                            <a:schemeClr val="tx1"/>
                          </a:solidFill>
                          <a:hlinkClick r:id="rId6"/>
                        </a:rPr>
                        <a:t>Block the download of Teams meeting recording files from SharePoint or OneDrive</a:t>
                      </a:r>
                    </a:p>
                    <a:p>
                      <a:pPr marL="0" lvl="0" indent="0" algn="l">
                        <a:lnSpc>
                          <a:spcPct val="100000"/>
                        </a:lnSpc>
                        <a:buNone/>
                      </a:pPr>
                      <a:r>
                        <a:rPr lang="en-US" sz="900" b="0" kern="1200" noProof="0" dirty="0">
                          <a:solidFill>
                            <a:schemeClr val="tx1"/>
                          </a:solidFill>
                        </a:rPr>
                        <a:t>Block download of Teams recording for anyone in the company</a:t>
                      </a:r>
                      <a:endParaRPr lang="en-US" sz="900" b="1" kern="1200" noProof="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19645327"/>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 action="ppaction://noaction"/>
                        </a:rPr>
                        <a:t>SharePoint data access governance (DAG) insights </a:t>
                      </a:r>
                      <a:br>
                        <a:rPr lang="en-US" sz="900" b="0" dirty="0">
                          <a:solidFill>
                            <a:srgbClr val="000000"/>
                          </a:solidFill>
                        </a:rPr>
                      </a:br>
                      <a:r>
                        <a:rPr lang="en-US" sz="900" b="0" dirty="0">
                          <a:solidFill>
                            <a:schemeClr val="tx1"/>
                          </a:solidFill>
                        </a:rPr>
                        <a:t>Quickly identify most important sites to your organization</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84917317"/>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7" action="ppaction://hlinksldjump"/>
                        </a:rPr>
                        <a:t>Inactive SharePoint sites policy </a:t>
                      </a:r>
                      <a:endParaRPr lang="en-US" sz="9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rPr>
                        <a:t>Automatically identify and take control of inactive sites.</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40316020"/>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8" action="ppaction://hlinksldjump"/>
                        </a:rPr>
                        <a:t>Recent admin actions</a:t>
                      </a:r>
                      <a:endParaRPr lang="en-US" sz="900" b="1" dirty="0">
                        <a:solidFill>
                          <a:schemeClr val="tx1"/>
                        </a:solidFill>
                      </a:endParaRPr>
                    </a:p>
                    <a:p>
                      <a:pPr marL="0" marR="0" lvl="0" indent="0" algn="l" rtl="0" eaLnBrk="1" fontAlgn="auto" latinLnBrk="0" hangingPunct="1">
                        <a:lnSpc>
                          <a:spcPct val="100000"/>
                        </a:lnSpc>
                        <a:spcBef>
                          <a:spcPts val="0"/>
                        </a:spcBef>
                        <a:spcAft>
                          <a:spcPts val="0"/>
                        </a:spcAft>
                        <a:buClrTx/>
                        <a:buSzTx/>
                        <a:buFontTx/>
                        <a:buNone/>
                      </a:pPr>
                      <a:r>
                        <a:rPr lang="en-US" sz="900" dirty="0">
                          <a:solidFill>
                            <a:schemeClr val="tx1"/>
                          </a:solidFill>
                        </a:rPr>
                        <a:t>Find a list of r</a:t>
                      </a:r>
                      <a:r>
                        <a:rPr lang="en-US" sz="900" kern="1200" dirty="0">
                          <a:solidFill>
                            <a:schemeClr val="accent2"/>
                          </a:solidFill>
                        </a:rPr>
                        <a:t>ecent site actions as well as status of those actions. </a:t>
                      </a:r>
                      <a:endParaRPr lang="en-US" sz="900" kern="1200" dirty="0">
                        <a:solidFill>
                          <a:schemeClr val="accent2"/>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4270623"/>
                  </a:ext>
                </a:extLst>
              </a:tr>
              <a:tr h="369870">
                <a:tc>
                  <a:txBody>
                    <a:bodyPr/>
                    <a:lstStyle/>
                    <a:p>
                      <a:pPr marL="0" marR="0" lvl="0" indent="0" algn="l" rtl="0" eaLnBrk="1" fontAlgn="auto" latinLnBrk="0" hangingPunct="1">
                        <a:lnSpc>
                          <a:spcPct val="100000"/>
                        </a:lnSpc>
                        <a:spcBef>
                          <a:spcPts val="0"/>
                        </a:spcBef>
                        <a:spcAft>
                          <a:spcPts val="0"/>
                        </a:spcAft>
                        <a:buClrTx/>
                        <a:buSzTx/>
                        <a:buFontTx/>
                        <a:buNone/>
                      </a:pPr>
                      <a:r>
                        <a:rPr lang="en-US" sz="900" b="1" dirty="0">
                          <a:solidFill>
                            <a:schemeClr val="tx1"/>
                          </a:solidFill>
                          <a:hlinkClick r:id="rId9" action="ppaction://hlinksldjump"/>
                        </a:rPr>
                        <a:t>Change history </a:t>
                      </a:r>
                      <a:br>
                        <a:rPr lang="en-US" sz="900" b="0" dirty="0">
                          <a:solidFill>
                            <a:srgbClr val="000000"/>
                          </a:solidFill>
                        </a:rPr>
                      </a:br>
                      <a:r>
                        <a:rPr lang="en-US" sz="900" b="0" dirty="0">
                          <a:solidFill>
                            <a:schemeClr val="tx1"/>
                          </a:solidFill>
                        </a:rPr>
                        <a:t>Audit / review changes to site settings by any anyone with access to SharePoint Admin Center. </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34974198"/>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10" action="ppaction://hlinksldjump"/>
                        </a:rPr>
                        <a:t>Collaboration Insights</a:t>
                      </a:r>
                      <a:br>
                        <a:rPr lang="en-US" sz="900" b="0" dirty="0">
                          <a:solidFill>
                            <a:schemeClr val="tx1"/>
                          </a:solidFill>
                        </a:rPr>
                      </a:br>
                      <a:r>
                        <a:rPr lang="en-US" sz="900" b="0" dirty="0">
                          <a:solidFill>
                            <a:srgbClr val="323130"/>
                          </a:solidFill>
                          <a:effectLst/>
                        </a:rPr>
                        <a:t>Optimize workflows, enhance communication, and drive data-driven decisions for increased productivity, efficiency, and success in your organization.</a:t>
                      </a:r>
                      <a:endParaRPr lang="en-US" sz="900" b="0" i="0" dirty="0">
                        <a:solidFill>
                          <a:srgbClr val="323130"/>
                        </a:solidFill>
                        <a:effectLst/>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64100751"/>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 action="ppaction://noaction"/>
                        </a:rPr>
                        <a:t>SharePoint data access governance (DAG) insights </a:t>
                      </a:r>
                      <a:br>
                        <a:rPr lang="en-US" sz="900" b="0" dirty="0">
                          <a:solidFill>
                            <a:srgbClr val="000000"/>
                          </a:solidFill>
                        </a:rPr>
                      </a:br>
                      <a:r>
                        <a:rPr lang="en-US" sz="900" b="0" dirty="0">
                          <a:solidFill>
                            <a:schemeClr val="tx1"/>
                          </a:solidFill>
                        </a:rPr>
                        <a:t>Quickly identify sites that need your attention.</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48525347"/>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5" action="ppaction://hlinksldjump"/>
                        </a:rPr>
                        <a:t>Block download policy for SharePoint and OneDrive sites</a:t>
                      </a:r>
                      <a:endParaRPr lang="en-US" sz="9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rPr>
                        <a:t>Block download of content to prevent accidental oversharing or data loss.</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16582951"/>
                  </a:ext>
                </a:extLst>
              </a:tr>
              <a:tr h="369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hlinkClick r:id="rId7" action="ppaction://hlinksldjump"/>
                        </a:rPr>
                        <a:t>Inactive SharePoint sites policy </a:t>
                      </a:r>
                      <a:endParaRPr lang="en-US" sz="9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rPr>
                        <a:t>Automatically handle stale sites.</a:t>
                      </a:r>
                      <a:endParaRPr lang="en-US" sz="9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44999330"/>
                  </a:ext>
                </a:extLst>
              </a:tr>
            </a:tbl>
          </a:graphicData>
        </a:graphic>
      </p:graphicFrame>
    </p:spTree>
    <p:extLst>
      <p:ext uri="{BB962C8B-B14F-4D97-AF65-F5344CB8AC3E}">
        <p14:creationId xmlns:p14="http://schemas.microsoft.com/office/powerpoint/2010/main" val="180965230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5787-F09B-4EF3-6DD7-B1CB569B426A}"/>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F2CEC247-2FC9-7CF9-0310-C13E32139A4D}"/>
              </a:ext>
              <a:ext uri="{C183D7F6-B498-43B3-948B-1728B52AA6E4}">
                <adec:decorative xmlns:adec="http://schemas.microsoft.com/office/drawing/2017/decorative" val="1"/>
              </a:ext>
            </a:extLst>
          </p:cNvPr>
          <p:cNvSpPr>
            <a:spLocks/>
          </p:cNvSpPr>
          <p:nvPr/>
        </p:nvSpPr>
        <p:spPr bwMode="auto">
          <a:xfrm rot="5400000">
            <a:off x="451612" y="4573178"/>
            <a:ext cx="265176" cy="60326"/>
          </a:xfrm>
          <a:prstGeom prst="roundRect">
            <a:avLst>
              <a:gd name="adj" fmla="val 50000"/>
            </a:avLst>
          </a:prstGeom>
          <a:gradFill>
            <a:gsLst>
              <a:gs pos="0">
                <a:srgbClr val="C03BC4"/>
              </a:gs>
              <a:gs pos="80000">
                <a:srgbClr val="0078D4"/>
              </a:gs>
            </a:gsLst>
            <a:path path="circle">
              <a:fillToRect l="100000" t="100000"/>
            </a:path>
          </a:gradFill>
        </p:spPr>
        <p:txBody>
          <a:bodyPr wrap="square" lIns="91440" tIns="45720" rIns="91440" bIns="45720" anchor="ctr">
            <a:noAutofit/>
          </a:bodyPr>
          <a:lstStyle/>
          <a:p>
            <a:pPr algn="ctr">
              <a:spcAft>
                <a:spcPts val="400"/>
              </a:spcAft>
            </a:pPr>
            <a:endParaRPr kumimoji="0" lang="en-US" sz="1600" b="0" i="1" u="none" strike="noStrike" kern="1200" cap="none" spc="0" normalizeH="0" baseline="0" noProof="0">
              <a:ln>
                <a:noFill/>
              </a:ln>
              <a:solidFill>
                <a:schemeClr val="bg1"/>
              </a:solidFill>
              <a:effectLst/>
              <a:uLnTx/>
              <a:uFillTx/>
              <a:ea typeface="+mn-ea"/>
              <a:cs typeface="+mn-cs"/>
            </a:endParaRPr>
          </a:p>
        </p:txBody>
      </p:sp>
      <p:sp>
        <p:nvSpPr>
          <p:cNvPr id="14" name="Rectangle: Rounded Corners 13">
            <a:extLst>
              <a:ext uri="{FF2B5EF4-FFF2-40B4-BE49-F238E27FC236}">
                <a16:creationId xmlns:a16="http://schemas.microsoft.com/office/drawing/2014/main" id="{36A7E7BF-1F38-2F1F-A298-62F923C47890}"/>
              </a:ext>
              <a:ext uri="{C183D7F6-B498-43B3-948B-1728B52AA6E4}">
                <adec:decorative xmlns:adec="http://schemas.microsoft.com/office/drawing/2017/decorative" val="1"/>
              </a:ext>
            </a:extLst>
          </p:cNvPr>
          <p:cNvSpPr>
            <a:spLocks/>
          </p:cNvSpPr>
          <p:nvPr/>
        </p:nvSpPr>
        <p:spPr bwMode="auto">
          <a:xfrm rot="5400000">
            <a:off x="453367" y="2067192"/>
            <a:ext cx="261666" cy="60326"/>
          </a:xfrm>
          <a:prstGeom prst="roundRect">
            <a:avLst>
              <a:gd name="adj" fmla="val 50000"/>
            </a:avLst>
          </a:prstGeom>
          <a:gradFill>
            <a:gsLst>
              <a:gs pos="0">
                <a:srgbClr val="C03BC4"/>
              </a:gs>
              <a:gs pos="80000">
                <a:srgbClr val="0078D4"/>
              </a:gs>
            </a:gsLst>
            <a:path path="circle">
              <a:fillToRect l="100000" t="100000"/>
            </a:path>
          </a:gradFill>
        </p:spPr>
        <p:txBody>
          <a:bodyPr wrap="square" lIns="91440" tIns="45720" rIns="91440" bIns="45720" anchor="ctr">
            <a:noAutofit/>
          </a:bodyPr>
          <a:lstStyle/>
          <a:p>
            <a:pPr algn="ctr">
              <a:spcAft>
                <a:spcPts val="400"/>
              </a:spcAft>
            </a:pPr>
            <a:endParaRPr kumimoji="0" lang="en-US" sz="1600" b="0" i="1" u="none" strike="noStrike" kern="1200" cap="none" spc="0" normalizeH="0" baseline="0" noProof="0">
              <a:ln>
                <a:noFill/>
              </a:ln>
              <a:solidFill>
                <a:schemeClr val="bg1"/>
              </a:solidFill>
              <a:effectLst/>
              <a:uLnTx/>
              <a:uFillTx/>
              <a:ea typeface="+mn-ea"/>
              <a:cs typeface="+mn-cs"/>
            </a:endParaRPr>
          </a:p>
        </p:txBody>
      </p:sp>
      <p:sp>
        <p:nvSpPr>
          <p:cNvPr id="15" name="Rectangle: Rounded Corners 14">
            <a:extLst>
              <a:ext uri="{FF2B5EF4-FFF2-40B4-BE49-F238E27FC236}">
                <a16:creationId xmlns:a16="http://schemas.microsoft.com/office/drawing/2014/main" id="{0C1372D8-57E4-BD05-AF41-E0042B6C5326}"/>
              </a:ext>
              <a:ext uri="{C183D7F6-B498-43B3-948B-1728B52AA6E4}">
                <adec:decorative xmlns:adec="http://schemas.microsoft.com/office/drawing/2017/decorative" val="1"/>
              </a:ext>
            </a:extLst>
          </p:cNvPr>
          <p:cNvSpPr>
            <a:spLocks/>
          </p:cNvSpPr>
          <p:nvPr/>
        </p:nvSpPr>
        <p:spPr bwMode="auto">
          <a:xfrm rot="16200000">
            <a:off x="1224719" y="1184417"/>
            <a:ext cx="4086303" cy="5367338"/>
          </a:xfrm>
          <a:prstGeom prst="roundRect">
            <a:avLst>
              <a:gd name="adj" fmla="val 38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sp>
        <p:nvSpPr>
          <p:cNvPr id="16" name="Rectangle: Rounded Corners 15">
            <a:extLst>
              <a:ext uri="{FF2B5EF4-FFF2-40B4-BE49-F238E27FC236}">
                <a16:creationId xmlns:a16="http://schemas.microsoft.com/office/drawing/2014/main" id="{BD0A2C0F-D962-7253-D76B-E4BCC22CFC57}"/>
              </a:ext>
              <a:ext uri="{C183D7F6-B498-43B3-948B-1728B52AA6E4}">
                <adec:decorative xmlns:adec="http://schemas.microsoft.com/office/drawing/2017/decorative" val="1"/>
              </a:ext>
            </a:extLst>
          </p:cNvPr>
          <p:cNvSpPr>
            <a:spLocks/>
          </p:cNvSpPr>
          <p:nvPr/>
        </p:nvSpPr>
        <p:spPr bwMode="auto">
          <a:xfrm>
            <a:off x="5660571" y="1665923"/>
            <a:ext cx="5944053" cy="4557395"/>
          </a:xfrm>
          <a:prstGeom prst="roundRect">
            <a:avLst>
              <a:gd name="adj" fmla="val 4500"/>
            </a:avLst>
          </a:prstGeom>
          <a:solidFill>
            <a:schemeClr val="bg1"/>
          </a:solidFill>
          <a:ln w="12700" cap="rnd">
            <a:noFill/>
            <a:headEnd type="none" w="med" len="med"/>
            <a:tailEnd type="none" w="med" len="med"/>
          </a:ln>
          <a:effectLst>
            <a:outerShdw blurRad="63500" algn="ctr"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cxnSp>
        <p:nvCxnSpPr>
          <p:cNvPr id="27" name="!!line2">
            <a:extLst>
              <a:ext uri="{FF2B5EF4-FFF2-40B4-BE49-F238E27FC236}">
                <a16:creationId xmlns:a16="http://schemas.microsoft.com/office/drawing/2014/main" id="{4F5BA2E5-7E0D-704D-9EC7-432738368CD4}"/>
              </a:ext>
              <a:ext uri="{C183D7F6-B498-43B3-948B-1728B52AA6E4}">
                <adec:decorative xmlns:adec="http://schemas.microsoft.com/office/drawing/2017/decorative" val="1"/>
              </a:ext>
            </a:extLst>
          </p:cNvPr>
          <p:cNvCxnSpPr>
            <a:cxnSpLocks/>
          </p:cNvCxnSpPr>
          <p:nvPr/>
        </p:nvCxnSpPr>
        <p:spPr>
          <a:xfrm>
            <a:off x="741919" y="4375917"/>
            <a:ext cx="4754880"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D82C817-9E03-45F6-7CE9-F3721744E060}"/>
              </a:ext>
            </a:extLst>
          </p:cNvPr>
          <p:cNvSpPr>
            <a:spLocks noGrp="1"/>
          </p:cNvSpPr>
          <p:nvPr>
            <p:ph type="title"/>
          </p:nvPr>
        </p:nvSpPr>
        <p:spPr>
          <a:xfrm>
            <a:off x="588963" y="457200"/>
            <a:ext cx="11017250" cy="492443"/>
          </a:xfrm>
        </p:spPr>
        <p:txBody>
          <a:bodyPr vert="horz" wrap="square" lIns="0" tIns="0" rIns="0" bIns="0" rtlCol="0" anchor="t">
            <a:spAutoFit/>
          </a:bodyPr>
          <a:lstStyle/>
          <a:p>
            <a:r>
              <a:rPr lang="en-US" sz="3200"/>
              <a:t>Oversharing control: Permission State Report with Actions</a:t>
            </a:r>
          </a:p>
        </p:txBody>
      </p:sp>
      <p:sp>
        <p:nvSpPr>
          <p:cNvPr id="13" name="TextBox 12">
            <a:extLst>
              <a:ext uri="{FF2B5EF4-FFF2-40B4-BE49-F238E27FC236}">
                <a16:creationId xmlns:a16="http://schemas.microsoft.com/office/drawing/2014/main" id="{082CA70C-15E3-9660-210C-F90316656E74}"/>
              </a:ext>
            </a:extLst>
          </p:cNvPr>
          <p:cNvSpPr txBox="1">
            <a:spLocks/>
          </p:cNvSpPr>
          <p:nvPr/>
        </p:nvSpPr>
        <p:spPr>
          <a:xfrm>
            <a:off x="588963" y="1128911"/>
            <a:ext cx="11017250" cy="307777"/>
          </a:xfrm>
          <a:prstGeom prst="rect">
            <a:avLst/>
          </a:prstGeom>
          <a:noFill/>
        </p:spPr>
        <p:txBody>
          <a:bodyPr wrap="square" lIns="0" tIns="0" rIns="0" bIns="0">
            <a:spAutoFit/>
          </a:bodyPr>
          <a:lstStyle/>
          <a:p>
            <a:r>
              <a:rPr lang="en-US" sz="2000"/>
              <a:t>Gain Control Over Site Permissions and Overshared Content</a:t>
            </a:r>
          </a:p>
        </p:txBody>
      </p:sp>
      <p:sp>
        <p:nvSpPr>
          <p:cNvPr id="21" name="TextBox 20">
            <a:extLst>
              <a:ext uri="{FF2B5EF4-FFF2-40B4-BE49-F238E27FC236}">
                <a16:creationId xmlns:a16="http://schemas.microsoft.com/office/drawing/2014/main" id="{4AC870DF-B1A3-B562-7A06-3047A1B40261}"/>
              </a:ext>
            </a:extLst>
          </p:cNvPr>
          <p:cNvSpPr txBox="1">
            <a:spLocks/>
          </p:cNvSpPr>
          <p:nvPr/>
        </p:nvSpPr>
        <p:spPr>
          <a:xfrm>
            <a:off x="714218" y="1952238"/>
            <a:ext cx="4810282" cy="2328843"/>
          </a:xfrm>
          <a:prstGeom prst="rect">
            <a:avLst/>
          </a:prstGeom>
          <a:noFill/>
        </p:spPr>
        <p:txBody>
          <a:bodyPr wrap="square" lIns="0" tIns="0" rIns="0" bIns="0">
            <a:spAutoFit/>
          </a:bodyPr>
          <a:lstStyle/>
          <a:p>
            <a:pPr lvl="0">
              <a:spcAft>
                <a:spcPts val="400"/>
              </a:spcAft>
              <a:defRPr/>
            </a:pPr>
            <a:r>
              <a:rPr lang="en-US" sz="1600">
                <a:solidFill>
                  <a:schemeClr val="accent1"/>
                </a:solidFill>
                <a:latin typeface="+mj-lt"/>
              </a:rPr>
              <a:t>Identify Overshared content:</a:t>
            </a:r>
          </a:p>
          <a:p>
            <a:pPr marL="220663" marR="0" lvl="0" indent="-1524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ea typeface="+mn-ea"/>
                <a:cs typeface="+mn-cs"/>
              </a:rPr>
              <a:t>Customizable and comprehensive permission reports across all sites</a:t>
            </a:r>
          </a:p>
          <a:p>
            <a:pPr marL="220663" marR="0" lvl="0" indent="-1524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ea typeface="+mn-ea"/>
                <a:cs typeface="+mn-cs"/>
              </a:rPr>
              <a:t>Detect root causes of oversharing (broken inheritance, sharing links, EEEUs, site privacy and more)</a:t>
            </a:r>
          </a:p>
          <a:p>
            <a:pPr marL="220663" marR="0" lvl="0" indent="-1524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ea typeface="+mn-ea"/>
                <a:cs typeface="+mn-cs"/>
              </a:rPr>
              <a:t>Focus on critical permissions by user count and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extended groups</a:t>
            </a:r>
          </a:p>
          <a:p>
            <a:pPr marL="220663" marR="0" lvl="0" indent="-1524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ea typeface="+mn-ea"/>
                <a:cs typeface="+mn-cs"/>
              </a:rPr>
              <a:t>Integrates with sensitivity labels for enhanced security</a:t>
            </a:r>
          </a:p>
          <a:p>
            <a:pPr marL="220663" marR="0" lvl="0" indent="-1524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ea typeface="+mn-ea"/>
                <a:cs typeface="+mn-cs"/>
              </a:rPr>
              <a:t>Downloadable, with insights from AI analytics</a:t>
            </a:r>
            <a:endParaRPr lang="en-US" sz="1400"/>
          </a:p>
        </p:txBody>
      </p:sp>
      <p:sp>
        <p:nvSpPr>
          <p:cNvPr id="4" name="TextBox 3">
            <a:extLst>
              <a:ext uri="{FF2B5EF4-FFF2-40B4-BE49-F238E27FC236}">
                <a16:creationId xmlns:a16="http://schemas.microsoft.com/office/drawing/2014/main" id="{E4978DC7-C7F0-F92B-56EE-16E5BAB8FB7E}"/>
              </a:ext>
            </a:extLst>
          </p:cNvPr>
          <p:cNvSpPr txBox="1">
            <a:spLocks/>
          </p:cNvSpPr>
          <p:nvPr/>
        </p:nvSpPr>
        <p:spPr>
          <a:xfrm>
            <a:off x="714217" y="4470753"/>
            <a:ext cx="4810282" cy="1313180"/>
          </a:xfrm>
          <a:prstGeom prst="rect">
            <a:avLst/>
          </a:prstGeom>
          <a:noFill/>
        </p:spPr>
        <p:txBody>
          <a:bodyPr wrap="square" lIns="0" tIns="0" rIns="0" bIns="0">
            <a:spAutoFit/>
          </a:bodyPr>
          <a:lstStyle>
            <a:defPPr>
              <a:defRPr lang="en-US"/>
            </a:defPPr>
            <a:lvl1pPr marR="0" lvl="0" indent="0" fontAlgn="auto">
              <a:spcBef>
                <a:spcPts val="0"/>
              </a:spcBef>
              <a:spcAft>
                <a:spcPts val="0"/>
              </a:spcAft>
              <a:buClrTx/>
              <a:buSzTx/>
              <a:buFontTx/>
              <a:buNone/>
              <a:tabLst/>
              <a:defRPr kumimoji="0" sz="1600" i="0" u="none" strike="noStrike" cap="none" spc="0" normalizeH="0" baseline="0">
                <a:ln>
                  <a:noFill/>
                </a:ln>
                <a:solidFill>
                  <a:schemeClr val="accent1"/>
                </a:solidFill>
                <a:effectLst/>
                <a:uLnTx/>
                <a:uFillTx/>
                <a:latin typeface="+mj-lt"/>
              </a:defRPr>
            </a:lvl1pPr>
          </a:lstStyle>
          <a:p>
            <a:pPr>
              <a:spcAft>
                <a:spcPts val="400"/>
              </a:spcAft>
              <a:defRPr/>
            </a:pPr>
            <a:r>
              <a:rPr lang="en-US"/>
              <a:t>Scalable Actions:</a:t>
            </a:r>
          </a:p>
          <a:p>
            <a:pPr marL="220663" indent="-152400">
              <a:spcAft>
                <a:spcPts val="600"/>
              </a:spcAft>
              <a:buFont typeface="Arial" panose="020B0604020202020204" pitchFamily="34" charset="0"/>
              <a:buChar char="•"/>
              <a:defRPr/>
            </a:pPr>
            <a:r>
              <a:rPr lang="en-US" sz="1400">
                <a:solidFill>
                  <a:schemeClr val="tx1"/>
                </a:solidFill>
                <a:latin typeface="+mn-lt"/>
              </a:rPr>
              <a:t>Site Access Review with site owner file review dashboard</a:t>
            </a:r>
          </a:p>
          <a:p>
            <a:pPr marL="220663" indent="-152400">
              <a:spcAft>
                <a:spcPts val="600"/>
              </a:spcAft>
              <a:buFont typeface="Arial" panose="020B0604020202020204" pitchFamily="34" charset="0"/>
              <a:buChar char="•"/>
              <a:defRPr/>
            </a:pPr>
            <a:r>
              <a:rPr lang="en-US" sz="1400">
                <a:solidFill>
                  <a:schemeClr val="tx1"/>
                </a:solidFill>
                <a:latin typeface="+mn-lt"/>
              </a:rPr>
              <a:t>Restricted Access Control – limit access to high-risk areas</a:t>
            </a:r>
          </a:p>
          <a:p>
            <a:pPr marL="220663" indent="-152400">
              <a:spcAft>
                <a:spcPts val="600"/>
              </a:spcAft>
              <a:buFont typeface="Arial" panose="020B0604020202020204" pitchFamily="34" charset="0"/>
              <a:buChar char="•"/>
              <a:defRPr/>
            </a:pPr>
            <a:r>
              <a:rPr lang="en-US" sz="1400">
                <a:solidFill>
                  <a:schemeClr val="tx1"/>
                </a:solidFill>
                <a:latin typeface="+mn-lt"/>
              </a:rPr>
              <a:t>Restricted Content Discovery – lock down content </a:t>
            </a:r>
            <a:br>
              <a:rPr lang="en-US" sz="1400">
                <a:solidFill>
                  <a:schemeClr val="tx1"/>
                </a:solidFill>
                <a:latin typeface="+mn-lt"/>
              </a:rPr>
            </a:br>
            <a:r>
              <a:rPr lang="en-US" sz="1400">
                <a:solidFill>
                  <a:schemeClr val="tx1"/>
                </a:solidFill>
                <a:latin typeface="+mn-lt"/>
              </a:rPr>
              <a:t>from Copilot</a:t>
            </a:r>
          </a:p>
        </p:txBody>
      </p:sp>
      <p:sp>
        <p:nvSpPr>
          <p:cNvPr id="18" name="Rounded Rectangle 11">
            <a:extLst>
              <a:ext uri="{FF2B5EF4-FFF2-40B4-BE49-F238E27FC236}">
                <a16:creationId xmlns:a16="http://schemas.microsoft.com/office/drawing/2014/main" id="{4089BF4C-3B08-F074-5362-8802FE9AD722}"/>
              </a:ext>
              <a:ext uri="{C183D7F6-B498-43B3-948B-1728B52AA6E4}">
                <adec:decorative xmlns:adec="http://schemas.microsoft.com/office/drawing/2017/decorative" val="0"/>
              </a:ext>
            </a:extLst>
          </p:cNvPr>
          <p:cNvSpPr/>
          <p:nvPr/>
        </p:nvSpPr>
        <p:spPr bwMode="auto">
          <a:xfrm>
            <a:off x="584201" y="6052826"/>
            <a:ext cx="4940298" cy="302254"/>
          </a:xfrm>
          <a:prstGeom prst="roundRect">
            <a:avLst>
              <a:gd name="adj" fmla="val 50000"/>
            </a:avLst>
          </a:prstGeom>
          <a:solidFill>
            <a:srgbClr val="00B050"/>
          </a:soli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kumimoji="0" lang="en-US" sz="1400" i="0" u="none" strike="noStrike" kern="1200" cap="none" spc="0" normalizeH="0" baseline="0" noProof="0">
                <a:ln>
                  <a:noFill/>
                </a:ln>
                <a:effectLst/>
                <a:uLnTx/>
                <a:uFillTx/>
                <a:latin typeface="+mj-lt"/>
                <a:ea typeface="+mn-ea"/>
                <a:cs typeface="Segoe UI"/>
              </a:rPr>
              <a:t>Generally available</a:t>
            </a:r>
          </a:p>
        </p:txBody>
      </p:sp>
      <p:pic>
        <p:nvPicPr>
          <p:cNvPr id="1029" name="Picture 1028" descr="A screen capture of a download detailed report &quot;Snapshot till March&quot;">
            <a:extLst>
              <a:ext uri="{FF2B5EF4-FFF2-40B4-BE49-F238E27FC236}">
                <a16:creationId xmlns:a16="http://schemas.microsoft.com/office/drawing/2014/main" id="{BA90919E-B5BE-39DE-6A88-AC43FB42760C}"/>
              </a:ext>
            </a:extLst>
          </p:cNvPr>
          <p:cNvPicPr>
            <a:picLocks noChangeAspect="1"/>
          </p:cNvPicPr>
          <p:nvPr/>
        </p:nvPicPr>
        <p:blipFill rotWithShape="1">
          <a:blip r:embed="rId3"/>
          <a:srcRect l="-7179" r="-7179"/>
          <a:stretch/>
        </p:blipFill>
        <p:spPr>
          <a:xfrm>
            <a:off x="7100115" y="1757363"/>
            <a:ext cx="4413069" cy="3401900"/>
          </a:xfrm>
          <a:prstGeom prst="roundRect">
            <a:avLst>
              <a:gd name="adj" fmla="val 3200"/>
            </a:avLst>
          </a:prstGeom>
          <a:solidFill>
            <a:schemeClr val="bg1"/>
          </a:solidFill>
          <a:ln w="12700" cap="rnd">
            <a:noFill/>
            <a:headEnd type="none" w="med" len="med"/>
            <a:tailEnd type="none" w="med" len="med"/>
          </a:ln>
          <a:effectLst>
            <a:outerShdw blurRad="63500" algn="ctr" rotWithShape="0">
              <a:prstClr val="black">
                <a:alpha val="17000"/>
              </a:prstClr>
            </a:outerShdw>
          </a:effectLst>
        </p:spPr>
      </p:pic>
      <p:pic>
        <p:nvPicPr>
          <p:cNvPr id="1032" name="Picture 1031" descr="A screen capture of Contoso Finance dashboard with a text stating &quot;Broken inheritance, sharing links, EEEU domain group&quot;">
            <a:extLst>
              <a:ext uri="{FF2B5EF4-FFF2-40B4-BE49-F238E27FC236}">
                <a16:creationId xmlns:a16="http://schemas.microsoft.com/office/drawing/2014/main" id="{CB33276A-17D0-2353-8653-C882FE67D5BB}"/>
              </a:ext>
            </a:extLst>
          </p:cNvPr>
          <p:cNvPicPr>
            <a:picLocks noChangeAspect="1"/>
          </p:cNvPicPr>
          <p:nvPr/>
        </p:nvPicPr>
        <p:blipFill rotWithShape="1">
          <a:blip r:embed="rId4"/>
          <a:srcRect t="-9665" b="-9665"/>
          <a:stretch/>
        </p:blipFill>
        <p:spPr>
          <a:xfrm>
            <a:off x="5752011" y="2613334"/>
            <a:ext cx="5170406" cy="3518544"/>
          </a:xfrm>
          <a:prstGeom prst="roundRect">
            <a:avLst>
              <a:gd name="adj" fmla="val 3200"/>
            </a:avLst>
          </a:prstGeom>
          <a:solidFill>
            <a:schemeClr val="bg1"/>
          </a:solidFill>
          <a:ln w="12700" cap="rnd">
            <a:noFill/>
            <a:headEnd type="none" w="med" len="med"/>
            <a:tailEnd type="none" w="med" len="med"/>
          </a:ln>
          <a:effectLst>
            <a:outerShdw blurRad="63500" algn="ctr" rotWithShape="0">
              <a:prstClr val="black">
                <a:alpha val="17000"/>
              </a:prstClr>
            </a:outerShdw>
          </a:effectLst>
        </p:spPr>
      </p:pic>
      <p:sp>
        <p:nvSpPr>
          <p:cNvPr id="3" name="Rectangle 2">
            <a:extLst>
              <a:ext uri="{FF2B5EF4-FFF2-40B4-BE49-F238E27FC236}">
                <a16:creationId xmlns:a16="http://schemas.microsoft.com/office/drawing/2014/main" id="{40200878-0FFE-CFAB-8F1C-E4DA30DF84A7}"/>
              </a:ext>
              <a:ext uri="{C183D7F6-B498-43B3-948B-1728B52AA6E4}">
                <adec:decorative xmlns:adec="http://schemas.microsoft.com/office/drawing/2017/decorative" val="1"/>
              </a:ext>
            </a:extLst>
          </p:cNvPr>
          <p:cNvSpPr/>
          <p:nvPr/>
        </p:nvSpPr>
        <p:spPr bwMode="auto">
          <a:xfrm>
            <a:off x="5881731" y="4975661"/>
            <a:ext cx="2138319" cy="45073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Segoe UI" pitchFamily="34" charset="0"/>
                <a:cs typeface="Segoe UI" pitchFamily="34" charset="0"/>
              </a:rPr>
              <a:t>Broken inheritance, Sharing links, EEEU domain group</a:t>
            </a:r>
          </a:p>
        </p:txBody>
      </p:sp>
    </p:spTree>
    <p:extLst>
      <p:ext uri="{BB962C8B-B14F-4D97-AF65-F5344CB8AC3E}">
        <p14:creationId xmlns:p14="http://schemas.microsoft.com/office/powerpoint/2010/main" val="356530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B7ED-6652-D9A4-ED56-EBF5574076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B4F4E2-0E90-4CE0-5D02-9A3B0F2B1C1C}"/>
              </a:ext>
            </a:extLst>
          </p:cNvPr>
          <p:cNvSpPr>
            <a:spLocks noGrp="1"/>
          </p:cNvSpPr>
          <p:nvPr>
            <p:ph type="title"/>
          </p:nvPr>
        </p:nvSpPr>
        <p:spPr>
          <a:xfrm>
            <a:off x="308989" y="60810"/>
            <a:ext cx="11018520" cy="553998"/>
          </a:xfrm>
        </p:spPr>
        <p:txBody>
          <a:bodyPr>
            <a:normAutofit fontScale="90000"/>
          </a:bodyPr>
          <a:lstStyle/>
          <a:p>
            <a:r>
              <a:rPr lang="en-US"/>
              <a:t>Permission State Report [DEMO]</a:t>
            </a:r>
          </a:p>
        </p:txBody>
      </p:sp>
      <p:sp>
        <p:nvSpPr>
          <p:cNvPr id="5" name="Content Placeholder 4">
            <a:extLst>
              <a:ext uri="{FF2B5EF4-FFF2-40B4-BE49-F238E27FC236}">
                <a16:creationId xmlns:a16="http://schemas.microsoft.com/office/drawing/2014/main" id="{39CC45A1-76A4-BB81-DE8C-E31BF034F403}"/>
              </a:ext>
            </a:extLst>
          </p:cNvPr>
          <p:cNvSpPr>
            <a:spLocks noGrp="1"/>
          </p:cNvSpPr>
          <p:nvPr>
            <p:ph sz="quarter" idx="10"/>
          </p:nvPr>
        </p:nvSpPr>
        <p:spPr>
          <a:xfrm>
            <a:off x="584200" y="1435100"/>
            <a:ext cx="11018838" cy="430887"/>
          </a:xfrm>
        </p:spPr>
        <p:txBody>
          <a:bodyPr>
            <a:normAutofit fontScale="92500" lnSpcReduction="10000"/>
          </a:bodyPr>
          <a:lstStyle/>
          <a:p>
            <a:r>
              <a:rPr lang="en-US"/>
              <a:t>SCREENSHOTS </a:t>
            </a:r>
          </a:p>
        </p:txBody>
      </p:sp>
      <p:pic>
        <p:nvPicPr>
          <p:cNvPr id="3" name="Picture 2">
            <a:extLst>
              <a:ext uri="{FF2B5EF4-FFF2-40B4-BE49-F238E27FC236}">
                <a16:creationId xmlns:a16="http://schemas.microsoft.com/office/drawing/2014/main" id="{E868C8F1-27FD-9621-F384-06F02956AD13}"/>
              </a:ext>
              <a:ext uri="{C183D7F6-B498-43B3-948B-1728B52AA6E4}">
                <adec:decorative xmlns:adec="http://schemas.microsoft.com/office/drawing/2017/decorative" val="1"/>
              </a:ext>
            </a:extLst>
          </p:cNvPr>
          <p:cNvPicPr>
            <a:picLocks noChangeAspect="1"/>
          </p:cNvPicPr>
          <p:nvPr/>
        </p:nvPicPr>
        <p:blipFill>
          <a:blip r:embed="rId3"/>
          <a:srcRect b="7224"/>
          <a:stretch/>
        </p:blipFill>
        <p:spPr>
          <a:xfrm>
            <a:off x="22799" y="0"/>
            <a:ext cx="12146402" cy="6362608"/>
          </a:xfrm>
          <a:prstGeom prst="rect">
            <a:avLst/>
          </a:prstGeom>
        </p:spPr>
      </p:pic>
    </p:spTree>
    <p:extLst>
      <p:ext uri="{BB962C8B-B14F-4D97-AF65-F5344CB8AC3E}">
        <p14:creationId xmlns:p14="http://schemas.microsoft.com/office/powerpoint/2010/main" val="26510668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C8EDC-2962-CFA9-BD7A-3D870B6EC1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1F6D86-F95A-2C5B-5C82-8EB42DBF8223}"/>
              </a:ext>
            </a:extLst>
          </p:cNvPr>
          <p:cNvSpPr>
            <a:spLocks noGrp="1"/>
          </p:cNvSpPr>
          <p:nvPr>
            <p:ph type="title"/>
          </p:nvPr>
        </p:nvSpPr>
        <p:spPr>
          <a:xfrm>
            <a:off x="308989" y="-553998"/>
            <a:ext cx="11018520" cy="430887"/>
          </a:xfrm>
        </p:spPr>
        <p:txBody>
          <a:bodyPr>
            <a:normAutofit fontScale="90000"/>
          </a:bodyPr>
          <a:lstStyle/>
          <a:p>
            <a:r>
              <a:rPr lang="en-US" dirty="0"/>
              <a:t>Permission State Report [DEMO]   </a:t>
            </a:r>
          </a:p>
        </p:txBody>
      </p:sp>
      <p:sp>
        <p:nvSpPr>
          <p:cNvPr id="5" name="Content Placeholder 4">
            <a:extLst>
              <a:ext uri="{FF2B5EF4-FFF2-40B4-BE49-F238E27FC236}">
                <a16:creationId xmlns:a16="http://schemas.microsoft.com/office/drawing/2014/main" id="{5675B93A-0E0D-00C6-7A6C-6CC4405946DB}"/>
              </a:ext>
            </a:extLst>
          </p:cNvPr>
          <p:cNvSpPr>
            <a:spLocks noGrp="1"/>
          </p:cNvSpPr>
          <p:nvPr>
            <p:ph sz="quarter" idx="10"/>
          </p:nvPr>
        </p:nvSpPr>
        <p:spPr>
          <a:xfrm>
            <a:off x="584200" y="1435100"/>
            <a:ext cx="11018838" cy="430887"/>
          </a:xfrm>
        </p:spPr>
        <p:txBody>
          <a:bodyPr>
            <a:normAutofit fontScale="92500" lnSpcReduction="10000"/>
          </a:bodyPr>
          <a:lstStyle/>
          <a:p>
            <a:r>
              <a:rPr lang="en-US"/>
              <a:t>SCREENSHOTS </a:t>
            </a:r>
          </a:p>
        </p:txBody>
      </p:sp>
      <p:pic>
        <p:nvPicPr>
          <p:cNvPr id="3" name="Picture 2">
            <a:extLst>
              <a:ext uri="{FF2B5EF4-FFF2-40B4-BE49-F238E27FC236}">
                <a16:creationId xmlns:a16="http://schemas.microsoft.com/office/drawing/2014/main" id="{BEE0BD59-59CD-13B3-9B6E-98B28AE87C8E}"/>
              </a:ext>
              <a:ext uri="{C183D7F6-B498-43B3-948B-1728B52AA6E4}">
                <adec:decorative xmlns:adec="http://schemas.microsoft.com/office/drawing/2017/decorative" val="1"/>
              </a:ext>
            </a:extLst>
          </p:cNvPr>
          <p:cNvPicPr>
            <a:picLocks noChangeAspect="1"/>
          </p:cNvPicPr>
          <p:nvPr/>
        </p:nvPicPr>
        <p:blipFill>
          <a:blip r:embed="rId3"/>
          <a:srcRect b="7224"/>
          <a:stretch/>
        </p:blipFill>
        <p:spPr>
          <a:xfrm>
            <a:off x="0" y="0"/>
            <a:ext cx="12191528" cy="6362608"/>
          </a:xfrm>
          <a:prstGeom prst="rect">
            <a:avLst/>
          </a:prstGeom>
        </p:spPr>
      </p:pic>
    </p:spTree>
    <p:extLst>
      <p:ext uri="{BB962C8B-B14F-4D97-AF65-F5344CB8AC3E}">
        <p14:creationId xmlns:p14="http://schemas.microsoft.com/office/powerpoint/2010/main" val="387634264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5AF2-5C13-5EF1-C504-9CFE10BB28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51050C-BA69-B2D4-01F8-C381119844B7}"/>
              </a:ext>
            </a:extLst>
          </p:cNvPr>
          <p:cNvSpPr>
            <a:spLocks noGrp="1"/>
          </p:cNvSpPr>
          <p:nvPr>
            <p:ph type="title"/>
          </p:nvPr>
        </p:nvSpPr>
        <p:spPr>
          <a:xfrm>
            <a:off x="341646" y="-668533"/>
            <a:ext cx="11018520" cy="430887"/>
          </a:xfrm>
        </p:spPr>
        <p:txBody>
          <a:bodyPr>
            <a:normAutofit fontScale="90000"/>
          </a:bodyPr>
          <a:lstStyle/>
          <a:p>
            <a:r>
              <a:rPr lang="en-US" dirty="0"/>
              <a:t>Permission State Report [DEMO] </a:t>
            </a:r>
          </a:p>
        </p:txBody>
      </p:sp>
      <p:grpSp>
        <p:nvGrpSpPr>
          <p:cNvPr id="12" name="Group 11">
            <a:extLst>
              <a:ext uri="{FF2B5EF4-FFF2-40B4-BE49-F238E27FC236}">
                <a16:creationId xmlns:a16="http://schemas.microsoft.com/office/drawing/2014/main" id="{4E1A0C17-FCBE-164B-69E1-837284C88E87}"/>
              </a:ext>
              <a:ext uri="{C183D7F6-B498-43B3-948B-1728B52AA6E4}">
                <adec:decorative xmlns:adec="http://schemas.microsoft.com/office/drawing/2017/decorative" val="1"/>
              </a:ext>
            </a:extLst>
          </p:cNvPr>
          <p:cNvGrpSpPr/>
          <p:nvPr/>
        </p:nvGrpSpPr>
        <p:grpSpPr>
          <a:xfrm>
            <a:off x="0" y="0"/>
            <a:ext cx="12192000" cy="6858000"/>
            <a:chOff x="0" y="1853"/>
            <a:chExt cx="12192000" cy="6858797"/>
          </a:xfrm>
        </p:grpSpPr>
        <p:pic>
          <p:nvPicPr>
            <p:cNvPr id="13" name="Picture 12">
              <a:extLst>
                <a:ext uri="{FF2B5EF4-FFF2-40B4-BE49-F238E27FC236}">
                  <a16:creationId xmlns:a16="http://schemas.microsoft.com/office/drawing/2014/main" id="{CB02D4DC-0FDE-C34C-5797-C26E0E751610}"/>
                </a:ext>
              </a:extLst>
            </p:cNvPr>
            <p:cNvPicPr>
              <a:picLocks noChangeAspect="1"/>
            </p:cNvPicPr>
            <p:nvPr/>
          </p:nvPicPr>
          <p:blipFill>
            <a:blip r:embed="rId3"/>
            <a:stretch>
              <a:fillRect/>
            </a:stretch>
          </p:blipFill>
          <p:spPr>
            <a:xfrm>
              <a:off x="0" y="1853"/>
              <a:ext cx="12192000" cy="6854293"/>
            </a:xfrm>
            <a:prstGeom prst="rect">
              <a:avLst/>
            </a:prstGeom>
          </p:spPr>
        </p:pic>
        <p:pic>
          <p:nvPicPr>
            <p:cNvPr id="14" name="Picture 13">
              <a:extLst>
                <a:ext uri="{FF2B5EF4-FFF2-40B4-BE49-F238E27FC236}">
                  <a16:creationId xmlns:a16="http://schemas.microsoft.com/office/drawing/2014/main" id="{5A8B98EC-E593-3D51-C8B1-7C09DBACD499}"/>
                </a:ext>
              </a:extLst>
            </p:cNvPr>
            <p:cNvPicPr>
              <a:picLocks noChangeAspect="1"/>
            </p:cNvPicPr>
            <p:nvPr/>
          </p:nvPicPr>
          <p:blipFill>
            <a:blip r:embed="rId4"/>
            <a:stretch>
              <a:fillRect/>
            </a:stretch>
          </p:blipFill>
          <p:spPr>
            <a:xfrm>
              <a:off x="8448045" y="299123"/>
              <a:ext cx="3743955" cy="6561527"/>
            </a:xfrm>
            <a:prstGeom prst="rect">
              <a:avLst/>
            </a:prstGeom>
          </p:spPr>
        </p:pic>
      </p:grpSp>
    </p:spTree>
    <p:extLst>
      <p:ext uri="{BB962C8B-B14F-4D97-AF65-F5344CB8AC3E}">
        <p14:creationId xmlns:p14="http://schemas.microsoft.com/office/powerpoint/2010/main" val="368923453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4466C-B34C-25DF-F80C-7B2337BDB4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40731F-52C0-C405-088C-51B6B8192C76}"/>
              </a:ext>
            </a:extLst>
          </p:cNvPr>
          <p:cNvSpPr>
            <a:spLocks noGrp="1"/>
          </p:cNvSpPr>
          <p:nvPr>
            <p:ph type="title"/>
          </p:nvPr>
        </p:nvSpPr>
        <p:spPr>
          <a:xfrm>
            <a:off x="308989" y="-553998"/>
            <a:ext cx="11018520" cy="430887"/>
          </a:xfrm>
        </p:spPr>
        <p:txBody>
          <a:bodyPr>
            <a:normAutofit fontScale="90000"/>
          </a:bodyPr>
          <a:lstStyle/>
          <a:p>
            <a:r>
              <a:rPr lang="en-US" dirty="0"/>
              <a:t>Permission State Report [DEMO]  </a:t>
            </a:r>
          </a:p>
        </p:txBody>
      </p:sp>
      <p:sp>
        <p:nvSpPr>
          <p:cNvPr id="5" name="Content Placeholder 4">
            <a:extLst>
              <a:ext uri="{FF2B5EF4-FFF2-40B4-BE49-F238E27FC236}">
                <a16:creationId xmlns:a16="http://schemas.microsoft.com/office/drawing/2014/main" id="{F4C2FD88-D6AD-5C71-9E2F-22433EEBDE19}"/>
              </a:ext>
            </a:extLst>
          </p:cNvPr>
          <p:cNvSpPr>
            <a:spLocks noGrp="1"/>
          </p:cNvSpPr>
          <p:nvPr>
            <p:ph sz="quarter" idx="10"/>
          </p:nvPr>
        </p:nvSpPr>
        <p:spPr>
          <a:xfrm>
            <a:off x="584200" y="1435100"/>
            <a:ext cx="11018838" cy="430887"/>
          </a:xfrm>
        </p:spPr>
        <p:txBody>
          <a:bodyPr>
            <a:normAutofit fontScale="92500" lnSpcReduction="10000"/>
          </a:bodyPr>
          <a:lstStyle/>
          <a:p>
            <a:r>
              <a:rPr lang="en-US"/>
              <a:t>SCREENSHOTS </a:t>
            </a:r>
          </a:p>
        </p:txBody>
      </p:sp>
      <p:pic>
        <p:nvPicPr>
          <p:cNvPr id="3" name="Picture 2">
            <a:extLst>
              <a:ext uri="{FF2B5EF4-FFF2-40B4-BE49-F238E27FC236}">
                <a16:creationId xmlns:a16="http://schemas.microsoft.com/office/drawing/2014/main" id="{2815B9B3-DF8F-0277-839A-238AE1A3EDB9}"/>
              </a:ext>
              <a:ext uri="{C183D7F6-B498-43B3-948B-1728B52AA6E4}">
                <adec:decorative xmlns:adec="http://schemas.microsoft.com/office/drawing/2017/decorative" val="1"/>
              </a:ext>
            </a:extLst>
          </p:cNvPr>
          <p:cNvPicPr>
            <a:picLocks noChangeAspect="1"/>
          </p:cNvPicPr>
          <p:nvPr/>
        </p:nvPicPr>
        <p:blipFill>
          <a:blip r:embed="rId3"/>
          <a:srcRect b="7211"/>
          <a:stretch/>
        </p:blipFill>
        <p:spPr>
          <a:xfrm>
            <a:off x="0" y="-1681"/>
            <a:ext cx="12192000" cy="6357571"/>
          </a:xfrm>
          <a:prstGeom prst="rect">
            <a:avLst/>
          </a:prstGeom>
        </p:spPr>
      </p:pic>
    </p:spTree>
    <p:extLst>
      <p:ext uri="{BB962C8B-B14F-4D97-AF65-F5344CB8AC3E}">
        <p14:creationId xmlns:p14="http://schemas.microsoft.com/office/powerpoint/2010/main" val="384778939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CD44-C3F0-E8E9-0F4D-F812FA72DAED}"/>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977F76D-23A0-3E80-B62D-A15553487468}"/>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6"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AA3B73A-5394-46C3-4B53-665AC4089FB7}"/>
              </a:ext>
            </a:extLst>
          </p:cNvPr>
          <p:cNvSpPr>
            <a:spLocks noGrp="1"/>
          </p:cNvSpPr>
          <p:nvPr>
            <p:ph type="title"/>
          </p:nvPr>
        </p:nvSpPr>
        <p:spPr>
          <a:xfrm>
            <a:off x="574816" y="-430887"/>
            <a:ext cx="11018520" cy="430887"/>
          </a:xfrm>
        </p:spPr>
        <p:txBody>
          <a:bodyPr vert="horz" wrap="square" lIns="0" tIns="0" rIns="0" bIns="0" rtlCol="0" anchor="b">
            <a:spAutoFit/>
          </a:bodyPr>
          <a:lstStyle/>
          <a:p>
            <a:r>
              <a:rPr lang="en-US" dirty="0"/>
              <a:t>5</a:t>
            </a:r>
          </a:p>
        </p:txBody>
      </p:sp>
    </p:spTree>
    <p:extLst>
      <p:ext uri="{BB962C8B-B14F-4D97-AF65-F5344CB8AC3E}">
        <p14:creationId xmlns:p14="http://schemas.microsoft.com/office/powerpoint/2010/main" val="50114556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A2941-96D6-60B9-4303-F5A969426122}"/>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BE23F7A-E310-E20F-A68E-2D6765840621}"/>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979730" cy="6377770"/>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EF306EF0-72C1-6459-68A5-7FE318F609D3}"/>
              </a:ext>
              <a:ext uri="{C183D7F6-B498-43B3-948B-1728B52AA6E4}">
                <adec:decorative xmlns:adec="http://schemas.microsoft.com/office/drawing/2017/decorative" val="1"/>
              </a:ext>
            </a:extLst>
          </p:cNvPr>
          <p:cNvSpPr/>
          <p:nvPr/>
        </p:nvSpPr>
        <p:spPr bwMode="auto">
          <a:xfrm>
            <a:off x="6844668" y="1268487"/>
            <a:ext cx="804889" cy="5026216"/>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10" name="Rectangle: Rounded Corners 9">
            <a:extLst>
              <a:ext uri="{FF2B5EF4-FFF2-40B4-BE49-F238E27FC236}">
                <a16:creationId xmlns:a16="http://schemas.microsoft.com/office/drawing/2014/main" id="{A981C8D8-A948-CB02-87FF-92E71A366191}"/>
              </a:ext>
              <a:ext uri="{C183D7F6-B498-43B3-948B-1728B52AA6E4}">
                <adec:decorative xmlns:adec="http://schemas.microsoft.com/office/drawing/2017/decorative" val="1"/>
              </a:ext>
            </a:extLst>
          </p:cNvPr>
          <p:cNvSpPr/>
          <p:nvPr/>
        </p:nvSpPr>
        <p:spPr bwMode="auto">
          <a:xfrm>
            <a:off x="7694746" y="1540132"/>
            <a:ext cx="1408600" cy="4754571"/>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2" name="Title 1">
            <a:extLst>
              <a:ext uri="{FF2B5EF4-FFF2-40B4-BE49-F238E27FC236}">
                <a16:creationId xmlns:a16="http://schemas.microsoft.com/office/drawing/2014/main" id="{3DCB6A84-1D43-B22E-39DC-B6BD6521996D}"/>
              </a:ext>
            </a:extLst>
          </p:cNvPr>
          <p:cNvSpPr>
            <a:spLocks noGrp="1"/>
          </p:cNvSpPr>
          <p:nvPr>
            <p:ph type="title"/>
          </p:nvPr>
        </p:nvSpPr>
        <p:spPr>
          <a:xfrm>
            <a:off x="574816" y="-430887"/>
            <a:ext cx="11018520" cy="430887"/>
          </a:xfrm>
        </p:spPr>
        <p:txBody>
          <a:bodyPr vert="horz" wrap="square" lIns="0" tIns="0" rIns="0" bIns="0" rtlCol="0" anchor="b">
            <a:spAutoFit/>
          </a:bodyPr>
          <a:lstStyle/>
          <a:p>
            <a:r>
              <a:rPr lang="en-US" dirty="0"/>
              <a:t>6</a:t>
            </a:r>
          </a:p>
        </p:txBody>
      </p:sp>
      <p:sp>
        <p:nvSpPr>
          <p:cNvPr id="11" name="Rectangle: Rounded Corners 10">
            <a:extLst>
              <a:ext uri="{FF2B5EF4-FFF2-40B4-BE49-F238E27FC236}">
                <a16:creationId xmlns:a16="http://schemas.microsoft.com/office/drawing/2014/main" id="{75C98AA2-8C58-A9D8-AC2F-2899C0C65630}"/>
              </a:ext>
              <a:ext uri="{C183D7F6-B498-43B3-948B-1728B52AA6E4}">
                <adec:decorative xmlns:adec="http://schemas.microsoft.com/office/drawing/2017/decorative" val="0"/>
              </a:ext>
            </a:extLst>
          </p:cNvPr>
          <p:cNvSpPr/>
          <p:nvPr/>
        </p:nvSpPr>
        <p:spPr bwMode="auto">
          <a:xfrm>
            <a:off x="4640722" y="1617511"/>
            <a:ext cx="1020460" cy="654882"/>
          </a:xfrm>
          <a:prstGeom prst="roundRect">
            <a:avLst>
              <a:gd name="adj" fmla="val 6593"/>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Files containing sensitive data</a:t>
            </a:r>
          </a:p>
        </p:txBody>
      </p:sp>
      <p:sp>
        <p:nvSpPr>
          <p:cNvPr id="16" name="Rectangle: Rounded Corners 15">
            <a:extLst>
              <a:ext uri="{FF2B5EF4-FFF2-40B4-BE49-F238E27FC236}">
                <a16:creationId xmlns:a16="http://schemas.microsoft.com/office/drawing/2014/main" id="{E01C7CCA-8A05-A2E9-1B50-AC8D91E0931A}"/>
              </a:ext>
              <a:ext uri="{C183D7F6-B498-43B3-948B-1728B52AA6E4}">
                <adec:decorative xmlns:adec="http://schemas.microsoft.com/office/drawing/2017/decorative" val="0"/>
              </a:ext>
            </a:extLst>
          </p:cNvPr>
          <p:cNvSpPr/>
          <p:nvPr/>
        </p:nvSpPr>
        <p:spPr bwMode="auto">
          <a:xfrm>
            <a:off x="5715192" y="1617511"/>
            <a:ext cx="1098242" cy="654882"/>
          </a:xfrm>
          <a:prstGeom prst="roundRect">
            <a:avLst>
              <a:gd name="adj" fmla="val 6593"/>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Broken permission inheritance</a:t>
            </a:r>
          </a:p>
        </p:txBody>
      </p:sp>
      <p:sp>
        <p:nvSpPr>
          <p:cNvPr id="8" name="Rectangle: Rounded Corners 7">
            <a:extLst>
              <a:ext uri="{FF2B5EF4-FFF2-40B4-BE49-F238E27FC236}">
                <a16:creationId xmlns:a16="http://schemas.microsoft.com/office/drawing/2014/main" id="{CE65FE2E-049F-4BCF-70F4-C5EE029CE73D}"/>
              </a:ext>
              <a:ext uri="{C183D7F6-B498-43B3-948B-1728B52AA6E4}">
                <adec:decorative xmlns:adec="http://schemas.microsoft.com/office/drawing/2017/decorative" val="0"/>
              </a:ext>
            </a:extLst>
          </p:cNvPr>
          <p:cNvSpPr/>
          <p:nvPr/>
        </p:nvSpPr>
        <p:spPr bwMode="auto">
          <a:xfrm>
            <a:off x="6844668" y="1268487"/>
            <a:ext cx="804889" cy="1173128"/>
          </a:xfrm>
          <a:prstGeom prst="roundRect">
            <a:avLst>
              <a:gd name="adj" fmla="val 4778"/>
            </a:avLst>
          </a:prstGeom>
          <a:gradFill flip="none" rotWithShape="1">
            <a:gsLst>
              <a:gs pos="0">
                <a:schemeClr val="accent2"/>
              </a:gs>
              <a:gs pos="80000">
                <a:srgbClr val="0078D4"/>
              </a:gs>
            </a:gsLst>
            <a:lin ang="10800000" scaled="1"/>
            <a:tileRect/>
          </a:gradFill>
        </p:spPr>
        <p:txBody>
          <a:bodyPr wrap="square" lIns="9144" tIns="45720" rIns="9144" bIns="45720" anchor="ctr">
            <a:noAutofit/>
          </a:bodyPr>
          <a:lstStyle/>
          <a:p>
            <a:pPr algn="ctr"/>
            <a:r>
              <a:rPr lang="en-US" sz="900">
                <a:ln w="3175">
                  <a:noFill/>
                </a:ln>
                <a:solidFill>
                  <a:srgbClr val="FFFFFF"/>
                </a:solidFill>
                <a:latin typeface="Segoe UI Semibold"/>
              </a:rPr>
              <a:t>Use of “everyone except </a:t>
            </a:r>
            <a:br>
              <a:rPr lang="en-US" sz="850">
                <a:ln w="3175">
                  <a:noFill/>
                </a:ln>
                <a:solidFill>
                  <a:srgbClr val="FFFFFF"/>
                </a:solidFill>
                <a:latin typeface="Segoe UI Semibold"/>
              </a:rPr>
            </a:br>
            <a:r>
              <a:rPr lang="en-US" sz="900">
                <a:ln w="3175">
                  <a:noFill/>
                </a:ln>
                <a:solidFill>
                  <a:srgbClr val="FFFFFF"/>
                </a:solidFill>
                <a:latin typeface="Segoe UI Semibold"/>
              </a:rPr>
              <a:t>external users” domain group</a:t>
            </a:r>
          </a:p>
        </p:txBody>
      </p:sp>
      <p:sp>
        <p:nvSpPr>
          <p:cNvPr id="7" name="Rectangle: Rounded Corners 6">
            <a:extLst>
              <a:ext uri="{FF2B5EF4-FFF2-40B4-BE49-F238E27FC236}">
                <a16:creationId xmlns:a16="http://schemas.microsoft.com/office/drawing/2014/main" id="{CBA56884-1960-1551-C564-B228D978CE88}"/>
              </a:ext>
              <a:ext uri="{C183D7F6-B498-43B3-948B-1728B52AA6E4}">
                <adec:decorative xmlns:adec="http://schemas.microsoft.com/office/drawing/2017/decorative" val="0"/>
              </a:ext>
            </a:extLst>
          </p:cNvPr>
          <p:cNvSpPr/>
          <p:nvPr/>
        </p:nvSpPr>
        <p:spPr bwMode="auto">
          <a:xfrm>
            <a:off x="7694746" y="1540131"/>
            <a:ext cx="1408601" cy="933510"/>
          </a:xfrm>
          <a:prstGeom prst="roundRect">
            <a:avLst>
              <a:gd name="adj" fmla="val 6593"/>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Default sharing option </a:t>
            </a:r>
          </a:p>
          <a:p>
            <a:pPr algn="ctr"/>
            <a:r>
              <a:rPr lang="en-US" sz="900">
                <a:ln w="3175">
                  <a:noFill/>
                </a:ln>
                <a:solidFill>
                  <a:srgbClr val="FFFFFF"/>
                </a:solidFill>
                <a:latin typeface="Segoe UI Semibold"/>
              </a:rPr>
              <a:t>is everyone</a:t>
            </a:r>
          </a:p>
        </p:txBody>
      </p:sp>
      <p:sp>
        <p:nvSpPr>
          <p:cNvPr id="6" name="Rectangle: Rounded Corners 5">
            <a:extLst>
              <a:ext uri="{FF2B5EF4-FFF2-40B4-BE49-F238E27FC236}">
                <a16:creationId xmlns:a16="http://schemas.microsoft.com/office/drawing/2014/main" id="{0E24DE6D-D19B-2F8A-FF56-B138C8C5D2B2}"/>
              </a:ext>
              <a:ext uri="{C183D7F6-B498-43B3-948B-1728B52AA6E4}">
                <adec:decorative xmlns:adec="http://schemas.microsoft.com/office/drawing/2017/decorative" val="0"/>
              </a:ext>
            </a:extLst>
          </p:cNvPr>
          <p:cNvSpPr/>
          <p:nvPr/>
        </p:nvSpPr>
        <p:spPr bwMode="auto">
          <a:xfrm>
            <a:off x="9173742" y="1554231"/>
            <a:ext cx="804889" cy="865749"/>
          </a:xfrm>
          <a:prstGeom prst="roundRect">
            <a:avLst>
              <a:gd name="adj" fmla="val 0"/>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Site privacy set to public</a:t>
            </a:r>
          </a:p>
        </p:txBody>
      </p:sp>
      <p:sp>
        <p:nvSpPr>
          <p:cNvPr id="15" name="Rectangle: Rounded Corners 14">
            <a:extLst>
              <a:ext uri="{FF2B5EF4-FFF2-40B4-BE49-F238E27FC236}">
                <a16:creationId xmlns:a16="http://schemas.microsoft.com/office/drawing/2014/main" id="{6F7E7D78-8EF3-198F-4BBE-6F997A5D326A}"/>
              </a:ext>
              <a:ext uri="{C183D7F6-B498-43B3-948B-1728B52AA6E4}">
                <adec:decorative xmlns:adec="http://schemas.microsoft.com/office/drawing/2017/decorative" val="1"/>
              </a:ext>
            </a:extLst>
          </p:cNvPr>
          <p:cNvSpPr/>
          <p:nvPr/>
        </p:nvSpPr>
        <p:spPr bwMode="auto">
          <a:xfrm>
            <a:off x="9173742" y="1554232"/>
            <a:ext cx="804889" cy="4740471"/>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12" name="Rectangle: Rounded Corners 11">
            <a:extLst>
              <a:ext uri="{FF2B5EF4-FFF2-40B4-BE49-F238E27FC236}">
                <a16:creationId xmlns:a16="http://schemas.microsoft.com/office/drawing/2014/main" id="{6AC8D63E-3B60-BA32-F262-D5240039F71F}"/>
              </a:ext>
              <a:ext uri="{C183D7F6-B498-43B3-948B-1728B52AA6E4}">
                <adec:decorative xmlns:adec="http://schemas.microsoft.com/office/drawing/2017/decorative" val="1"/>
              </a:ext>
            </a:extLst>
          </p:cNvPr>
          <p:cNvSpPr/>
          <p:nvPr/>
        </p:nvSpPr>
        <p:spPr bwMode="auto">
          <a:xfrm>
            <a:off x="4640721" y="1617512"/>
            <a:ext cx="1004076" cy="4677191"/>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prstClr val="white"/>
              </a:solidFill>
              <a:effectLst/>
              <a:uLnTx/>
              <a:uFillTx/>
              <a:latin typeface="Segoe UI"/>
              <a:ea typeface="Segoe UI" pitchFamily="34" charset="0"/>
              <a:cs typeface="Segoe UI" pitchFamily="34" charset="0"/>
            </a:endParaRPr>
          </a:p>
        </p:txBody>
      </p:sp>
      <p:sp>
        <p:nvSpPr>
          <p:cNvPr id="17" name="Rectangle: Rounded Corners 16">
            <a:extLst>
              <a:ext uri="{FF2B5EF4-FFF2-40B4-BE49-F238E27FC236}">
                <a16:creationId xmlns:a16="http://schemas.microsoft.com/office/drawing/2014/main" id="{5DC04DE1-FE6E-C876-FCE7-FC644E235BE4}"/>
              </a:ext>
              <a:ext uri="{C183D7F6-B498-43B3-948B-1728B52AA6E4}">
                <adec:decorative xmlns:adec="http://schemas.microsoft.com/office/drawing/2017/decorative" val="1"/>
              </a:ext>
            </a:extLst>
          </p:cNvPr>
          <p:cNvSpPr/>
          <p:nvPr/>
        </p:nvSpPr>
        <p:spPr bwMode="auto">
          <a:xfrm>
            <a:off x="5723384" y="1617510"/>
            <a:ext cx="1071369" cy="4677192"/>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Tree>
    <p:extLst>
      <p:ext uri="{BB962C8B-B14F-4D97-AF65-F5344CB8AC3E}">
        <p14:creationId xmlns:p14="http://schemas.microsoft.com/office/powerpoint/2010/main" val="405283540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1955A-CEE2-0873-E662-0A5A3CA9374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F6958D1-10B0-95E1-EA4E-DDC72603A1B3}"/>
              </a:ext>
            </a:extLst>
          </p:cNvPr>
          <p:cNvSpPr>
            <a:spLocks noGrp="1"/>
          </p:cNvSpPr>
          <p:nvPr>
            <p:ph type="title"/>
          </p:nvPr>
        </p:nvSpPr>
        <p:spPr>
          <a:xfrm>
            <a:off x="574816" y="-430887"/>
            <a:ext cx="11018520" cy="430887"/>
          </a:xfrm>
        </p:spPr>
        <p:txBody>
          <a:bodyPr>
            <a:normAutofit fontScale="90000"/>
          </a:bodyPr>
          <a:lstStyle/>
          <a:p>
            <a:r>
              <a:rPr lang="en-US" dirty="0"/>
              <a:t>7</a:t>
            </a:r>
          </a:p>
        </p:txBody>
      </p:sp>
      <p:sp>
        <p:nvSpPr>
          <p:cNvPr id="14" name="Content Placeholder 13">
            <a:extLst>
              <a:ext uri="{FF2B5EF4-FFF2-40B4-BE49-F238E27FC236}">
                <a16:creationId xmlns:a16="http://schemas.microsoft.com/office/drawing/2014/main" id="{7C441DBE-4175-A946-DC2B-AF6DBFD10A99}"/>
              </a:ext>
            </a:extLst>
          </p:cNvPr>
          <p:cNvSpPr>
            <a:spLocks noGrp="1"/>
          </p:cNvSpPr>
          <p:nvPr>
            <p:ph sz="quarter" idx="10"/>
          </p:nvPr>
        </p:nvSpPr>
        <p:spPr/>
        <p:txBody>
          <a:bodyPr/>
          <a:lstStyle/>
          <a:p>
            <a:endParaRPr lang="en-US"/>
          </a:p>
        </p:txBody>
      </p:sp>
      <p:pic>
        <p:nvPicPr>
          <p:cNvPr id="23" name="Picture 22">
            <a:extLst>
              <a:ext uri="{FF2B5EF4-FFF2-40B4-BE49-F238E27FC236}">
                <a16:creationId xmlns:a16="http://schemas.microsoft.com/office/drawing/2014/main" id="{BED26456-CF62-4C01-7E25-CB14539D5DE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305453" cy="6858000"/>
          </a:xfrm>
          <a:prstGeom prst="rect">
            <a:avLst/>
          </a:prstGeom>
        </p:spPr>
      </p:pic>
    </p:spTree>
    <p:extLst>
      <p:ext uri="{BB962C8B-B14F-4D97-AF65-F5344CB8AC3E}">
        <p14:creationId xmlns:p14="http://schemas.microsoft.com/office/powerpoint/2010/main" val="27791172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2DF00-459D-522A-1B54-4BF4DBA8D9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1955E9-014B-1238-391A-B1AFF9120C8C}"/>
              </a:ext>
            </a:extLst>
          </p:cNvPr>
          <p:cNvSpPr>
            <a:spLocks noGrp="1"/>
          </p:cNvSpPr>
          <p:nvPr>
            <p:ph type="title"/>
          </p:nvPr>
        </p:nvSpPr>
        <p:spPr>
          <a:xfrm>
            <a:off x="574816" y="-616772"/>
            <a:ext cx="11018520" cy="430887"/>
          </a:xfrm>
        </p:spPr>
        <p:txBody>
          <a:bodyPr>
            <a:normAutofit fontScale="90000"/>
          </a:bodyPr>
          <a:lstStyle/>
          <a:p>
            <a:r>
              <a:rPr lang="en-US" dirty="0"/>
              <a:t>Site Access Review [DEMO]    </a:t>
            </a:r>
          </a:p>
        </p:txBody>
      </p:sp>
      <p:pic>
        <p:nvPicPr>
          <p:cNvPr id="3" name="Picture 2">
            <a:extLst>
              <a:ext uri="{FF2B5EF4-FFF2-40B4-BE49-F238E27FC236}">
                <a16:creationId xmlns:a16="http://schemas.microsoft.com/office/drawing/2014/main" id="{79FA8862-427B-4F22-2CDF-D64B48EA3C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1345"/>
            <a:ext cx="12202290" cy="6859345"/>
          </a:xfrm>
          <a:prstGeom prst="rect">
            <a:avLst/>
          </a:prstGeom>
        </p:spPr>
      </p:pic>
    </p:spTree>
    <p:extLst>
      <p:ext uri="{BB962C8B-B14F-4D97-AF65-F5344CB8AC3E}">
        <p14:creationId xmlns:p14="http://schemas.microsoft.com/office/powerpoint/2010/main" val="312287961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C926-F1F8-C54A-984B-064BA95CD1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39A939-E611-FF83-35E4-E57081C3B694}"/>
              </a:ext>
            </a:extLst>
          </p:cNvPr>
          <p:cNvSpPr>
            <a:spLocks noGrp="1"/>
          </p:cNvSpPr>
          <p:nvPr>
            <p:ph type="title"/>
          </p:nvPr>
        </p:nvSpPr>
        <p:spPr/>
        <p:txBody>
          <a:bodyPr/>
          <a:lstStyle/>
          <a:p>
            <a:r>
              <a:rPr lang="en-US" dirty="0"/>
              <a:t>Site Access Review [DEMO]</a:t>
            </a:r>
          </a:p>
        </p:txBody>
      </p:sp>
      <p:sp>
        <p:nvSpPr>
          <p:cNvPr id="5" name="Content Placeholder 4">
            <a:extLst>
              <a:ext uri="{FF2B5EF4-FFF2-40B4-BE49-F238E27FC236}">
                <a16:creationId xmlns:a16="http://schemas.microsoft.com/office/drawing/2014/main" id="{28193277-0844-10F5-A1EE-BD085E652607}"/>
              </a:ext>
              <a:ext uri="{C183D7F6-B498-43B3-948B-1728B52AA6E4}">
                <adec:decorative xmlns:adec="http://schemas.microsoft.com/office/drawing/2017/decorative" val="1"/>
              </a:ext>
            </a:extLst>
          </p:cNvPr>
          <p:cNvSpPr>
            <a:spLocks noGrp="1"/>
          </p:cNvSpPr>
          <p:nvPr>
            <p:ph sz="quarter" idx="10"/>
          </p:nvPr>
        </p:nvSpPr>
        <p:spPr>
          <a:xfrm>
            <a:off x="584200" y="1435100"/>
            <a:ext cx="11018838" cy="430887"/>
          </a:xfrm>
        </p:spPr>
        <p:txBody>
          <a:bodyPr>
            <a:normAutofit fontScale="92500" lnSpcReduction="10000"/>
          </a:bodyPr>
          <a:lstStyle/>
          <a:p>
            <a:r>
              <a:rPr lang="en-US"/>
              <a:t> </a:t>
            </a:r>
          </a:p>
        </p:txBody>
      </p:sp>
      <p:pic>
        <p:nvPicPr>
          <p:cNvPr id="3" name="Picture 2">
            <a:extLst>
              <a:ext uri="{FF2B5EF4-FFF2-40B4-BE49-F238E27FC236}">
                <a16:creationId xmlns:a16="http://schemas.microsoft.com/office/drawing/2014/main" id="{E4D820D9-04AD-B7EA-DA48-9C924C1CB8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60" y="0"/>
            <a:ext cx="12199897" cy="6858000"/>
          </a:xfrm>
          <a:prstGeom prst="rect">
            <a:avLst/>
          </a:prstGeom>
          <a:noFill/>
          <a:ln w="25400">
            <a:noFill/>
            <a:prstDash val="solid"/>
            <a:headEnd type="none" w="med" len="med"/>
            <a:tailEnd type="none" w="med" len="med"/>
          </a:ln>
          <a:effectLst/>
        </p:spPr>
      </p:pic>
      <p:sp>
        <p:nvSpPr>
          <p:cNvPr id="7" name="Rectangle: Rounded Corners 6">
            <a:extLst>
              <a:ext uri="{FF2B5EF4-FFF2-40B4-BE49-F238E27FC236}">
                <a16:creationId xmlns:a16="http://schemas.microsoft.com/office/drawing/2014/main" id="{9C7AA8B9-2CC8-E294-9E5B-D100D3DCB7B5}"/>
              </a:ext>
              <a:ext uri="{C183D7F6-B498-43B3-948B-1728B52AA6E4}">
                <adec:decorative xmlns:adec="http://schemas.microsoft.com/office/drawing/2017/decorative" val="1"/>
              </a:ext>
            </a:extLst>
          </p:cNvPr>
          <p:cNvSpPr/>
          <p:nvPr/>
        </p:nvSpPr>
        <p:spPr bwMode="auto">
          <a:xfrm>
            <a:off x="3684350" y="2111763"/>
            <a:ext cx="991339" cy="2427864"/>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19" name="Oval 18">
            <a:extLst>
              <a:ext uri="{FF2B5EF4-FFF2-40B4-BE49-F238E27FC236}">
                <a16:creationId xmlns:a16="http://schemas.microsoft.com/office/drawing/2014/main" id="{39D1514F-AB01-F1DC-8F5D-7FAB64B56186}"/>
              </a:ext>
              <a:ext uri="{C183D7F6-B498-43B3-948B-1728B52AA6E4}">
                <adec:decorative xmlns:adec="http://schemas.microsoft.com/office/drawing/2017/decorative" val="1"/>
              </a:ext>
            </a:extLst>
          </p:cNvPr>
          <p:cNvSpPr/>
          <p:nvPr/>
        </p:nvSpPr>
        <p:spPr bwMode="auto">
          <a:xfrm>
            <a:off x="7746335" y="1407846"/>
            <a:ext cx="1734534" cy="485393"/>
          </a:xfrm>
          <a:prstGeom prst="ellipse">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Default sharing option is everyone</a:t>
            </a:r>
          </a:p>
        </p:txBody>
      </p:sp>
      <p:sp>
        <p:nvSpPr>
          <p:cNvPr id="20" name="Oval 19">
            <a:extLst>
              <a:ext uri="{FF2B5EF4-FFF2-40B4-BE49-F238E27FC236}">
                <a16:creationId xmlns:a16="http://schemas.microsoft.com/office/drawing/2014/main" id="{B6CC6CBA-5019-6C96-4D1D-1CCFB076F57C}"/>
              </a:ext>
              <a:ext uri="{C183D7F6-B498-43B3-948B-1728B52AA6E4}">
                <adec:decorative xmlns:adec="http://schemas.microsoft.com/office/drawing/2017/decorative" val="1"/>
              </a:ext>
            </a:extLst>
          </p:cNvPr>
          <p:cNvSpPr/>
          <p:nvPr/>
        </p:nvSpPr>
        <p:spPr bwMode="auto">
          <a:xfrm>
            <a:off x="9698907" y="5053506"/>
            <a:ext cx="1880262" cy="695314"/>
          </a:xfrm>
          <a:prstGeom prst="ellipse">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Use of “everyone except external users” domain group</a:t>
            </a:r>
          </a:p>
        </p:txBody>
      </p:sp>
      <p:sp>
        <p:nvSpPr>
          <p:cNvPr id="21" name="Rectangle: Rounded Corners 20">
            <a:extLst>
              <a:ext uri="{FF2B5EF4-FFF2-40B4-BE49-F238E27FC236}">
                <a16:creationId xmlns:a16="http://schemas.microsoft.com/office/drawing/2014/main" id="{A7C4C651-F06F-606E-D5EE-8776F0020150}"/>
              </a:ext>
              <a:ext uri="{C183D7F6-B498-43B3-948B-1728B52AA6E4}">
                <adec:decorative xmlns:adec="http://schemas.microsoft.com/office/drawing/2017/decorative" val="1"/>
              </a:ext>
            </a:extLst>
          </p:cNvPr>
          <p:cNvSpPr/>
          <p:nvPr/>
        </p:nvSpPr>
        <p:spPr bwMode="auto">
          <a:xfrm>
            <a:off x="9577199" y="2111763"/>
            <a:ext cx="545037" cy="2454710"/>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22" name="Rectangle: Rounded Corners 21">
            <a:extLst>
              <a:ext uri="{FF2B5EF4-FFF2-40B4-BE49-F238E27FC236}">
                <a16:creationId xmlns:a16="http://schemas.microsoft.com/office/drawing/2014/main" id="{EA971394-0BF2-E1D5-BF63-803B7894EB12}"/>
              </a:ext>
              <a:ext uri="{C183D7F6-B498-43B3-948B-1728B52AA6E4}">
                <adec:decorative xmlns:adec="http://schemas.microsoft.com/office/drawing/2017/decorative" val="1"/>
              </a:ext>
            </a:extLst>
          </p:cNvPr>
          <p:cNvSpPr/>
          <p:nvPr/>
        </p:nvSpPr>
        <p:spPr bwMode="auto">
          <a:xfrm>
            <a:off x="7586530" y="2111763"/>
            <a:ext cx="1990669" cy="2454710"/>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prstClr val="white"/>
              </a:solidFill>
              <a:effectLst/>
              <a:uLnTx/>
              <a:uFillTx/>
              <a:latin typeface="Segoe UI"/>
              <a:ea typeface="Segoe UI" pitchFamily="34" charset="0"/>
              <a:cs typeface="Segoe UI" pitchFamily="34" charset="0"/>
            </a:endParaRPr>
          </a:p>
        </p:txBody>
      </p:sp>
      <p:sp>
        <p:nvSpPr>
          <p:cNvPr id="23" name="Oval 22">
            <a:extLst>
              <a:ext uri="{FF2B5EF4-FFF2-40B4-BE49-F238E27FC236}">
                <a16:creationId xmlns:a16="http://schemas.microsoft.com/office/drawing/2014/main" id="{20958106-ADA6-AACD-1F15-D35164DA533A}"/>
              </a:ext>
              <a:ext uri="{C183D7F6-B498-43B3-948B-1728B52AA6E4}">
                <adec:decorative xmlns:adec="http://schemas.microsoft.com/office/drawing/2017/decorative" val="1"/>
              </a:ext>
            </a:extLst>
          </p:cNvPr>
          <p:cNvSpPr/>
          <p:nvPr/>
        </p:nvSpPr>
        <p:spPr bwMode="auto">
          <a:xfrm>
            <a:off x="5666962" y="5065619"/>
            <a:ext cx="1577647" cy="714563"/>
          </a:xfrm>
          <a:prstGeom prst="ellipse">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Files containing sensitive data</a:t>
            </a:r>
          </a:p>
        </p:txBody>
      </p:sp>
      <p:sp>
        <p:nvSpPr>
          <p:cNvPr id="24" name="Rectangle: Rounded Corners 23">
            <a:extLst>
              <a:ext uri="{FF2B5EF4-FFF2-40B4-BE49-F238E27FC236}">
                <a16:creationId xmlns:a16="http://schemas.microsoft.com/office/drawing/2014/main" id="{BEF741C6-532E-D5DB-4601-08A0D6670A46}"/>
              </a:ext>
              <a:ext uri="{C183D7F6-B498-43B3-948B-1728B52AA6E4}">
                <adec:decorative xmlns:adec="http://schemas.microsoft.com/office/drawing/2017/decorative" val="1"/>
              </a:ext>
            </a:extLst>
          </p:cNvPr>
          <p:cNvSpPr/>
          <p:nvPr/>
        </p:nvSpPr>
        <p:spPr bwMode="auto">
          <a:xfrm>
            <a:off x="4633569" y="2111763"/>
            <a:ext cx="1139910" cy="2430433"/>
          </a:xfrm>
          <a:prstGeom prst="roundRect">
            <a:avLst>
              <a:gd name="adj" fmla="val 2909"/>
            </a:avLst>
          </a:prstGeom>
          <a:noFill/>
          <a:ln w="25400">
            <a:gradFill>
              <a:gsLst>
                <a:gs pos="1000">
                  <a:schemeClr val="accent2"/>
                </a:gs>
                <a:gs pos="88000">
                  <a:schemeClr val="accent2"/>
                </a:gs>
                <a:gs pos="16000">
                  <a:srgbClr val="3B96DD"/>
                </a:gs>
                <a:gs pos="69000">
                  <a:srgbClr val="5671ED"/>
                </a:gs>
                <a:gs pos="100000">
                  <a:schemeClr val="accent2"/>
                </a:gs>
              </a:gsLst>
              <a:lin ang="5400000" scaled="1"/>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prstClr val="white"/>
              </a:solidFill>
              <a:latin typeface="Segoe UI"/>
              <a:cs typeface="Segoe UI" pitchFamily="34" charset="0"/>
            </a:endParaRPr>
          </a:p>
        </p:txBody>
      </p:sp>
      <p:sp>
        <p:nvSpPr>
          <p:cNvPr id="8" name="Rectangle: Rounded Corners 7">
            <a:extLst>
              <a:ext uri="{FF2B5EF4-FFF2-40B4-BE49-F238E27FC236}">
                <a16:creationId xmlns:a16="http://schemas.microsoft.com/office/drawing/2014/main" id="{90D34571-531E-2296-DA23-025ACEC48C87}"/>
              </a:ext>
              <a:ext uri="{C183D7F6-B498-43B3-948B-1728B52AA6E4}">
                <adec:decorative xmlns:adec="http://schemas.microsoft.com/office/drawing/2017/decorative" val="1"/>
              </a:ext>
            </a:extLst>
          </p:cNvPr>
          <p:cNvSpPr/>
          <p:nvPr/>
        </p:nvSpPr>
        <p:spPr bwMode="auto">
          <a:xfrm>
            <a:off x="9598465" y="469310"/>
            <a:ext cx="1159093" cy="317748"/>
          </a:xfrm>
          <a:prstGeom prst="roundRect">
            <a:avLst>
              <a:gd name="adj" fmla="val 2909"/>
            </a:avLst>
          </a:prstGeom>
          <a:noFill/>
          <a:ln w="25400">
            <a:gradFill flip="none" rotWithShape="1">
              <a:gsLst>
                <a:gs pos="18000">
                  <a:srgbClr val="C03BC4"/>
                </a:gs>
                <a:gs pos="100000">
                  <a:srgbClr val="C5B4E3"/>
                </a:gs>
                <a:gs pos="0">
                  <a:srgbClr val="C5B4E3"/>
                </a:gs>
                <a:gs pos="47000">
                  <a:srgbClr val="C5B4E3"/>
                </a:gs>
                <a:gs pos="69000">
                  <a:srgbClr val="C03BC4"/>
                </a:gs>
              </a:gsLst>
              <a:lin ang="2700000" scaled="1"/>
              <a:tileRect/>
            </a:gra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prstClr val="white"/>
              </a:solidFill>
              <a:effectLst/>
              <a:uLnTx/>
              <a:uFillTx/>
              <a:latin typeface="Segoe UI"/>
              <a:ea typeface="Segoe UI" pitchFamily="34" charset="0"/>
              <a:cs typeface="Segoe UI" pitchFamily="34" charset="0"/>
            </a:endParaRPr>
          </a:p>
        </p:txBody>
      </p:sp>
      <p:cxnSp>
        <p:nvCxnSpPr>
          <p:cNvPr id="12" name="Straight Arrow Connector 11">
            <a:extLst>
              <a:ext uri="{FF2B5EF4-FFF2-40B4-BE49-F238E27FC236}">
                <a16:creationId xmlns:a16="http://schemas.microsoft.com/office/drawing/2014/main" id="{849F8B67-47F6-991D-1EB7-7396FC99A83A}"/>
              </a:ext>
              <a:ext uri="{C183D7F6-B498-43B3-948B-1728B52AA6E4}">
                <adec:decorative xmlns:adec="http://schemas.microsoft.com/office/drawing/2017/decorative" val="1"/>
              </a:ext>
            </a:extLst>
          </p:cNvPr>
          <p:cNvCxnSpPr>
            <a:cxnSpLocks/>
          </p:cNvCxnSpPr>
          <p:nvPr/>
        </p:nvCxnSpPr>
        <p:spPr>
          <a:xfrm flipV="1">
            <a:off x="3472326" y="4539627"/>
            <a:ext cx="722382" cy="567955"/>
          </a:xfrm>
          <a:prstGeom prst="straightConnector1">
            <a:avLst/>
          </a:prstGeom>
          <a:noFill/>
          <a:ln w="25400">
            <a:gradFill>
              <a:gsLst>
                <a:gs pos="1000">
                  <a:srgbClr val="7D7ED5"/>
                </a:gs>
                <a:gs pos="88000">
                  <a:srgbClr val="BF65CD"/>
                </a:gs>
                <a:gs pos="16000">
                  <a:srgbClr val="3B96DD"/>
                </a:gs>
                <a:gs pos="69000">
                  <a:srgbClr val="5671ED"/>
                </a:gs>
                <a:gs pos="100000">
                  <a:srgbClr val="906EBD"/>
                </a:gs>
              </a:gsLst>
              <a:lin ang="5400000" scaled="1"/>
            </a:gra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16" name="Straight Arrow Connector 15">
            <a:extLst>
              <a:ext uri="{FF2B5EF4-FFF2-40B4-BE49-F238E27FC236}">
                <a16:creationId xmlns:a16="http://schemas.microsoft.com/office/drawing/2014/main" id="{70FE40C7-B5FC-E22D-5B6B-4AB7CC9E1B22}"/>
              </a:ext>
              <a:ext uri="{C183D7F6-B498-43B3-948B-1728B52AA6E4}">
                <adec:decorative xmlns:adec="http://schemas.microsoft.com/office/drawing/2017/decorative" val="1"/>
              </a:ext>
            </a:extLst>
          </p:cNvPr>
          <p:cNvCxnSpPr>
            <a:cxnSpLocks/>
          </p:cNvCxnSpPr>
          <p:nvPr/>
        </p:nvCxnSpPr>
        <p:spPr>
          <a:xfrm flipH="1" flipV="1">
            <a:off x="5500836" y="4535331"/>
            <a:ext cx="610110" cy="572251"/>
          </a:xfrm>
          <a:prstGeom prst="straightConnector1">
            <a:avLst/>
          </a:prstGeom>
          <a:noFill/>
          <a:ln w="25400">
            <a:gradFill>
              <a:gsLst>
                <a:gs pos="1000">
                  <a:srgbClr val="7D7ED5"/>
                </a:gs>
                <a:gs pos="88000">
                  <a:srgbClr val="BF65CD"/>
                </a:gs>
                <a:gs pos="16000">
                  <a:srgbClr val="3B96DD"/>
                </a:gs>
                <a:gs pos="69000">
                  <a:srgbClr val="5671ED"/>
                </a:gs>
                <a:gs pos="100000">
                  <a:srgbClr val="906EBD"/>
                </a:gs>
              </a:gsLst>
              <a:lin ang="5400000" scaled="1"/>
            </a:gra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6" name="Oval 5">
            <a:extLst>
              <a:ext uri="{FF2B5EF4-FFF2-40B4-BE49-F238E27FC236}">
                <a16:creationId xmlns:a16="http://schemas.microsoft.com/office/drawing/2014/main" id="{326B667E-BF91-EAF2-0ED2-04E5B2E2BB06}"/>
              </a:ext>
              <a:ext uri="{C183D7F6-B498-43B3-948B-1728B52AA6E4}">
                <adec:decorative xmlns:adec="http://schemas.microsoft.com/office/drawing/2017/decorative" val="1"/>
              </a:ext>
            </a:extLst>
          </p:cNvPr>
          <p:cNvSpPr/>
          <p:nvPr/>
        </p:nvSpPr>
        <p:spPr bwMode="auto">
          <a:xfrm>
            <a:off x="2418646" y="5065618"/>
            <a:ext cx="1577647" cy="714564"/>
          </a:xfrm>
          <a:prstGeom prst="ellipse">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Broken permission inheritance</a:t>
            </a:r>
          </a:p>
        </p:txBody>
      </p:sp>
      <p:cxnSp>
        <p:nvCxnSpPr>
          <p:cNvPr id="27" name="Straight Arrow Connector 26">
            <a:extLst>
              <a:ext uri="{FF2B5EF4-FFF2-40B4-BE49-F238E27FC236}">
                <a16:creationId xmlns:a16="http://schemas.microsoft.com/office/drawing/2014/main" id="{A605BC38-AF50-17B3-C88C-4B8CA8633B0D}"/>
              </a:ext>
              <a:ext uri="{C183D7F6-B498-43B3-948B-1728B52AA6E4}">
                <adec:decorative xmlns:adec="http://schemas.microsoft.com/office/drawing/2017/decorative" val="1"/>
              </a:ext>
            </a:extLst>
          </p:cNvPr>
          <p:cNvCxnSpPr>
            <a:cxnSpLocks/>
            <a:stCxn id="19" idx="4"/>
            <a:endCxn id="22" idx="0"/>
          </p:cNvCxnSpPr>
          <p:nvPr/>
        </p:nvCxnSpPr>
        <p:spPr>
          <a:xfrm flipH="1">
            <a:off x="8581865" y="1893239"/>
            <a:ext cx="31737" cy="218524"/>
          </a:xfrm>
          <a:prstGeom prst="straightConnector1">
            <a:avLst/>
          </a:prstGeom>
          <a:noFill/>
          <a:ln w="25400">
            <a:gradFill>
              <a:gsLst>
                <a:gs pos="1000">
                  <a:srgbClr val="7D7ED5"/>
                </a:gs>
                <a:gs pos="88000">
                  <a:srgbClr val="BF65CD"/>
                </a:gs>
                <a:gs pos="16000">
                  <a:srgbClr val="3B96DD"/>
                </a:gs>
                <a:gs pos="69000">
                  <a:srgbClr val="5671ED"/>
                </a:gs>
                <a:gs pos="100000">
                  <a:srgbClr val="906EBD"/>
                </a:gs>
              </a:gsLst>
              <a:lin ang="5400000" scaled="1"/>
            </a:gra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0" name="Straight Arrow Connector 29">
            <a:extLst>
              <a:ext uri="{FF2B5EF4-FFF2-40B4-BE49-F238E27FC236}">
                <a16:creationId xmlns:a16="http://schemas.microsoft.com/office/drawing/2014/main" id="{CD1445EB-63AF-DECC-C85E-1B5C7B2FCEE2}"/>
              </a:ext>
              <a:ext uri="{C183D7F6-B498-43B3-948B-1728B52AA6E4}">
                <adec:decorative xmlns:adec="http://schemas.microsoft.com/office/drawing/2017/decorative" val="1"/>
              </a:ext>
            </a:extLst>
          </p:cNvPr>
          <p:cNvCxnSpPr>
            <a:cxnSpLocks/>
          </p:cNvCxnSpPr>
          <p:nvPr/>
        </p:nvCxnSpPr>
        <p:spPr>
          <a:xfrm flipH="1" flipV="1">
            <a:off x="9674180" y="4554361"/>
            <a:ext cx="534009" cy="600971"/>
          </a:xfrm>
          <a:prstGeom prst="straightConnector1">
            <a:avLst/>
          </a:prstGeom>
          <a:noFill/>
          <a:ln w="25400">
            <a:gradFill>
              <a:gsLst>
                <a:gs pos="1000">
                  <a:srgbClr val="7D7ED5"/>
                </a:gs>
                <a:gs pos="88000">
                  <a:srgbClr val="BF65CD"/>
                </a:gs>
                <a:gs pos="16000">
                  <a:srgbClr val="3B96DD"/>
                </a:gs>
                <a:gs pos="69000">
                  <a:srgbClr val="5671ED"/>
                </a:gs>
                <a:gs pos="100000">
                  <a:srgbClr val="906EBD"/>
                </a:gs>
              </a:gsLst>
              <a:lin ang="5400000" scaled="1"/>
            </a:gra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7" name="Straight Arrow Connector 36">
            <a:extLst>
              <a:ext uri="{FF2B5EF4-FFF2-40B4-BE49-F238E27FC236}">
                <a16:creationId xmlns:a16="http://schemas.microsoft.com/office/drawing/2014/main" id="{616B5159-64EE-2D5B-9533-2F513663C96B}"/>
              </a:ext>
              <a:ext uri="{C183D7F6-B498-43B3-948B-1728B52AA6E4}">
                <adec:decorative xmlns:adec="http://schemas.microsoft.com/office/drawing/2017/decorative" val="1"/>
              </a:ext>
            </a:extLst>
          </p:cNvPr>
          <p:cNvCxnSpPr>
            <a:cxnSpLocks/>
          </p:cNvCxnSpPr>
          <p:nvPr/>
        </p:nvCxnSpPr>
        <p:spPr>
          <a:xfrm flipH="1" flipV="1">
            <a:off x="10166960" y="788823"/>
            <a:ext cx="420897" cy="497380"/>
          </a:xfrm>
          <a:prstGeom prst="straightConnector1">
            <a:avLst/>
          </a:prstGeom>
          <a:noFill/>
          <a:ln w="25400">
            <a:gradFill flip="none" rotWithShape="1">
              <a:gsLst>
                <a:gs pos="26000">
                  <a:srgbClr val="A9AEE2"/>
                </a:gs>
                <a:gs pos="1000">
                  <a:srgbClr val="C03BC4"/>
                </a:gs>
                <a:gs pos="88000">
                  <a:srgbClr val="BF65CD"/>
                </a:gs>
                <a:gs pos="46000">
                  <a:srgbClr val="3B96DD"/>
                </a:gs>
                <a:gs pos="100000">
                  <a:srgbClr val="C5B4E3"/>
                </a:gs>
              </a:gsLst>
              <a:lin ang="2700000" scaled="1"/>
              <a:tileRect/>
            </a:gra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18" name="Oval 17">
            <a:extLst>
              <a:ext uri="{FF2B5EF4-FFF2-40B4-BE49-F238E27FC236}">
                <a16:creationId xmlns:a16="http://schemas.microsoft.com/office/drawing/2014/main" id="{D6756DF1-6C58-2D3C-AF8C-D567052D5D56}"/>
              </a:ext>
              <a:ext uri="{C183D7F6-B498-43B3-948B-1728B52AA6E4}">
                <adec:decorative xmlns:adec="http://schemas.microsoft.com/office/drawing/2017/decorative" val="1"/>
              </a:ext>
            </a:extLst>
          </p:cNvPr>
          <p:cNvSpPr/>
          <p:nvPr/>
        </p:nvSpPr>
        <p:spPr bwMode="auto">
          <a:xfrm>
            <a:off x="10221005" y="1230125"/>
            <a:ext cx="1341762" cy="476545"/>
          </a:xfrm>
          <a:prstGeom prst="ellipse">
            <a:avLst/>
          </a:prstGeom>
          <a:gradFill flip="none" rotWithShape="1">
            <a:gsLst>
              <a:gs pos="0">
                <a:schemeClr val="accent2"/>
              </a:gs>
              <a:gs pos="80000">
                <a:srgbClr val="0078D4"/>
              </a:gs>
            </a:gsLst>
            <a:lin ang="10800000" scaled="1"/>
            <a:tileRect/>
          </a:gradFill>
        </p:spPr>
        <p:txBody>
          <a:bodyPr wrap="square" lIns="91440" tIns="45720" rIns="91440" bIns="45720" anchor="ctr">
            <a:noAutofit/>
          </a:bodyPr>
          <a:lstStyle/>
          <a:p>
            <a:pPr algn="ctr"/>
            <a:r>
              <a:rPr lang="en-US" sz="900">
                <a:ln w="3175">
                  <a:noFill/>
                </a:ln>
                <a:solidFill>
                  <a:srgbClr val="FFFFFF"/>
                </a:solidFill>
                <a:latin typeface="Segoe UI Semibold"/>
              </a:rPr>
              <a:t>Site privacy set to public</a:t>
            </a:r>
          </a:p>
        </p:txBody>
      </p:sp>
    </p:spTree>
    <p:extLst>
      <p:ext uri="{BB962C8B-B14F-4D97-AF65-F5344CB8AC3E}">
        <p14:creationId xmlns:p14="http://schemas.microsoft.com/office/powerpoint/2010/main" val="336182110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EF39C-FC06-7A20-11CF-4BAB8C8D14F9}"/>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D163511C-ABB3-8CE2-9218-B646666E0AEB}"/>
              </a:ext>
              <a:ext uri="{C183D7F6-B498-43B3-948B-1728B52AA6E4}">
                <adec:decorative xmlns:adec="http://schemas.microsoft.com/office/drawing/2017/decorative" val="1"/>
              </a:ext>
            </a:extLst>
          </p:cNvPr>
          <p:cNvSpPr>
            <a:spLocks/>
          </p:cNvSpPr>
          <p:nvPr/>
        </p:nvSpPr>
        <p:spPr bwMode="auto">
          <a:xfrm rot="5400000">
            <a:off x="451612" y="4940758"/>
            <a:ext cx="265176" cy="60326"/>
          </a:xfrm>
          <a:prstGeom prst="roundRect">
            <a:avLst>
              <a:gd name="adj" fmla="val 50000"/>
            </a:avLst>
          </a:prstGeom>
          <a:gradFill>
            <a:gsLst>
              <a:gs pos="0">
                <a:srgbClr val="C03BC4"/>
              </a:gs>
              <a:gs pos="80000">
                <a:srgbClr val="0078D4"/>
              </a:gs>
            </a:gsLst>
            <a:path path="circle">
              <a:fillToRect l="100000" t="100000"/>
            </a:path>
          </a:gradFill>
        </p:spPr>
        <p:txBody>
          <a:bodyPr wrap="square" lIns="91440" tIns="45720" rIns="91440" bIns="45720" anchor="ctr">
            <a:noAutofit/>
          </a:bodyPr>
          <a:lstStyle/>
          <a:p>
            <a:pPr algn="ctr">
              <a:spcAft>
                <a:spcPts val="400"/>
              </a:spcAft>
            </a:pPr>
            <a:endParaRPr kumimoji="0" lang="en-US" sz="1600" b="0" i="1" u="none" strike="noStrike" kern="1200" cap="none" spc="0" normalizeH="0" baseline="0" noProof="0">
              <a:ln>
                <a:noFill/>
              </a:ln>
              <a:solidFill>
                <a:schemeClr val="bg1"/>
              </a:solidFill>
              <a:effectLst/>
              <a:uLnTx/>
              <a:uFillTx/>
              <a:ea typeface="+mn-ea"/>
              <a:cs typeface="+mn-cs"/>
            </a:endParaRPr>
          </a:p>
        </p:txBody>
      </p:sp>
      <p:sp>
        <p:nvSpPr>
          <p:cNvPr id="13" name="Rectangle: Rounded Corners 12">
            <a:extLst>
              <a:ext uri="{FF2B5EF4-FFF2-40B4-BE49-F238E27FC236}">
                <a16:creationId xmlns:a16="http://schemas.microsoft.com/office/drawing/2014/main" id="{384BD6C9-68EE-5896-71FF-072321B0BD30}"/>
              </a:ext>
              <a:ext uri="{C183D7F6-B498-43B3-948B-1728B52AA6E4}">
                <adec:decorative xmlns:adec="http://schemas.microsoft.com/office/drawing/2017/decorative" val="1"/>
              </a:ext>
            </a:extLst>
          </p:cNvPr>
          <p:cNvSpPr>
            <a:spLocks/>
          </p:cNvSpPr>
          <p:nvPr/>
        </p:nvSpPr>
        <p:spPr bwMode="auto">
          <a:xfrm>
            <a:off x="746924" y="2478259"/>
            <a:ext cx="555620" cy="60326"/>
          </a:xfrm>
          <a:prstGeom prst="roundRect">
            <a:avLst>
              <a:gd name="adj" fmla="val 50000"/>
            </a:avLst>
          </a:prstGeom>
          <a:gradFill>
            <a:gsLst>
              <a:gs pos="0">
                <a:srgbClr val="C03BC4"/>
              </a:gs>
              <a:gs pos="80000">
                <a:srgbClr val="0078D4"/>
              </a:gs>
            </a:gsLst>
            <a:path path="circle">
              <a:fillToRect l="100000" t="100000"/>
            </a:path>
          </a:gradFill>
        </p:spPr>
        <p:txBody>
          <a:bodyPr wrap="square" lIns="91440" tIns="45720" rIns="91440" bIns="45720" anchor="ctr">
            <a:noAutofit/>
          </a:bodyPr>
          <a:lstStyle/>
          <a:p>
            <a:pPr algn="ctr">
              <a:spcAft>
                <a:spcPts val="400"/>
              </a:spcAft>
            </a:pPr>
            <a:endParaRPr kumimoji="0" lang="en-US" sz="1600" b="0" i="1" u="none" strike="noStrike" kern="1200" cap="none" spc="0" normalizeH="0" baseline="0" noProof="0">
              <a:ln>
                <a:noFill/>
              </a:ln>
              <a:solidFill>
                <a:schemeClr val="bg1"/>
              </a:solidFill>
              <a:effectLst/>
              <a:uLnTx/>
              <a:uFillTx/>
              <a:ea typeface="+mn-ea"/>
              <a:cs typeface="+mn-cs"/>
            </a:endParaRPr>
          </a:p>
        </p:txBody>
      </p:sp>
      <p:sp>
        <p:nvSpPr>
          <p:cNvPr id="15" name="Rectangle: Rounded Corners 14">
            <a:extLst>
              <a:ext uri="{FF2B5EF4-FFF2-40B4-BE49-F238E27FC236}">
                <a16:creationId xmlns:a16="http://schemas.microsoft.com/office/drawing/2014/main" id="{E65FF8A0-AADF-3712-525C-086E0DE6C36F}"/>
              </a:ext>
              <a:ext uri="{C183D7F6-B498-43B3-948B-1728B52AA6E4}">
                <adec:decorative xmlns:adec="http://schemas.microsoft.com/office/drawing/2017/decorative" val="1"/>
              </a:ext>
            </a:extLst>
          </p:cNvPr>
          <p:cNvSpPr>
            <a:spLocks/>
          </p:cNvSpPr>
          <p:nvPr/>
        </p:nvSpPr>
        <p:spPr bwMode="auto">
          <a:xfrm rot="16200000">
            <a:off x="1608759" y="1487119"/>
            <a:ext cx="3318224" cy="5367338"/>
          </a:xfrm>
          <a:prstGeom prst="roundRect">
            <a:avLst>
              <a:gd name="adj" fmla="val 38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sp>
        <p:nvSpPr>
          <p:cNvPr id="16" name="Rectangle: Rounded Corners 15">
            <a:extLst>
              <a:ext uri="{FF2B5EF4-FFF2-40B4-BE49-F238E27FC236}">
                <a16:creationId xmlns:a16="http://schemas.microsoft.com/office/drawing/2014/main" id="{E0B3FC78-0D77-AD15-FAA1-C1667E14B05C}"/>
              </a:ext>
              <a:ext uri="{C183D7F6-B498-43B3-948B-1728B52AA6E4}">
                <adec:decorative xmlns:adec="http://schemas.microsoft.com/office/drawing/2017/decorative" val="1"/>
              </a:ext>
            </a:extLst>
          </p:cNvPr>
          <p:cNvSpPr>
            <a:spLocks/>
          </p:cNvSpPr>
          <p:nvPr/>
        </p:nvSpPr>
        <p:spPr bwMode="auto">
          <a:xfrm>
            <a:off x="5660571" y="1656779"/>
            <a:ext cx="5944053" cy="4557395"/>
          </a:xfrm>
          <a:prstGeom prst="roundRect">
            <a:avLst>
              <a:gd name="adj" fmla="val 4500"/>
            </a:avLst>
          </a:prstGeom>
          <a:solidFill>
            <a:schemeClr val="bg1"/>
          </a:solidFill>
          <a:ln w="12700" cap="rnd">
            <a:noFill/>
            <a:headEnd type="none" w="med" len="med"/>
            <a:tailEnd type="none" w="med" len="med"/>
          </a:ln>
          <a:effectLst>
            <a:outerShdw blurRad="63500" algn="ctr"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cxnSp>
        <p:nvCxnSpPr>
          <p:cNvPr id="20" name="!!line2">
            <a:extLst>
              <a:ext uri="{FF2B5EF4-FFF2-40B4-BE49-F238E27FC236}">
                <a16:creationId xmlns:a16="http://schemas.microsoft.com/office/drawing/2014/main" id="{3A73913D-912C-E736-A66C-426E9C9B3DCB}"/>
              </a:ext>
              <a:ext uri="{C183D7F6-B498-43B3-948B-1728B52AA6E4}">
                <adec:decorative xmlns:adec="http://schemas.microsoft.com/office/drawing/2017/decorative" val="1"/>
              </a:ext>
            </a:extLst>
          </p:cNvPr>
          <p:cNvCxnSpPr>
            <a:cxnSpLocks/>
          </p:cNvCxnSpPr>
          <p:nvPr/>
        </p:nvCxnSpPr>
        <p:spPr>
          <a:xfrm>
            <a:off x="741919" y="4677760"/>
            <a:ext cx="4754880"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27" name="!!line2">
            <a:extLst>
              <a:ext uri="{FF2B5EF4-FFF2-40B4-BE49-F238E27FC236}">
                <a16:creationId xmlns:a16="http://schemas.microsoft.com/office/drawing/2014/main" id="{D6D13CDA-7A28-85ED-35D2-586BE3DDDE23}"/>
              </a:ext>
              <a:ext uri="{C183D7F6-B498-43B3-948B-1728B52AA6E4}">
                <adec:decorative xmlns:adec="http://schemas.microsoft.com/office/drawing/2017/decorative" val="1"/>
              </a:ext>
            </a:extLst>
          </p:cNvPr>
          <p:cNvCxnSpPr>
            <a:cxnSpLocks/>
          </p:cNvCxnSpPr>
          <p:nvPr/>
        </p:nvCxnSpPr>
        <p:spPr>
          <a:xfrm>
            <a:off x="741919" y="5829901"/>
            <a:ext cx="4754880"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43440E7C-DD14-1BA8-03B1-186D721928EE}"/>
              </a:ext>
              <a:ext uri="{C183D7F6-B498-43B3-948B-1728B52AA6E4}">
                <adec:decorative xmlns:adec="http://schemas.microsoft.com/office/drawing/2017/decorative" val="1"/>
              </a:ext>
            </a:extLst>
          </p:cNvPr>
          <p:cNvSpPr/>
          <p:nvPr/>
        </p:nvSpPr>
        <p:spPr bwMode="auto">
          <a:xfrm>
            <a:off x="761268" y="1839903"/>
            <a:ext cx="526932" cy="52693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fontAlgn="base">
              <a:spcBef>
                <a:spcPct val="0"/>
              </a:spcBef>
              <a:spcAft>
                <a:spcPts val="1200"/>
              </a:spcAft>
              <a:buSzPct val="90000"/>
            </a:pPr>
            <a:endParaRPr lang="en-US" sz="2800">
              <a:solidFill>
                <a:schemeClr val="bg1"/>
              </a:solidFill>
              <a:latin typeface="+mj-lt"/>
              <a:ea typeface="+mj-ea"/>
              <a:cs typeface="+mj-cs"/>
            </a:endParaRPr>
          </a:p>
        </p:txBody>
      </p:sp>
      <p:sp>
        <p:nvSpPr>
          <p:cNvPr id="2" name="Title 1">
            <a:extLst>
              <a:ext uri="{FF2B5EF4-FFF2-40B4-BE49-F238E27FC236}">
                <a16:creationId xmlns:a16="http://schemas.microsoft.com/office/drawing/2014/main" id="{A122F58A-07BB-F001-3596-C278D806AED8}"/>
              </a:ext>
            </a:extLst>
          </p:cNvPr>
          <p:cNvSpPr>
            <a:spLocks noGrp="1"/>
          </p:cNvSpPr>
          <p:nvPr>
            <p:ph type="title"/>
          </p:nvPr>
        </p:nvSpPr>
        <p:spPr>
          <a:xfrm>
            <a:off x="588263" y="457200"/>
            <a:ext cx="11018520" cy="553998"/>
          </a:xfrm>
        </p:spPr>
        <p:txBody>
          <a:bodyPr vert="horz" wrap="square" lIns="0" tIns="0" rIns="0" bIns="0" rtlCol="0" anchor="t">
            <a:noAutofit/>
          </a:bodyPr>
          <a:lstStyle/>
          <a:p>
            <a:r>
              <a:rPr lang="en-US"/>
              <a:t>Restricted Access Control (RAC)</a:t>
            </a:r>
          </a:p>
        </p:txBody>
      </p:sp>
      <p:sp>
        <p:nvSpPr>
          <p:cNvPr id="14" name="TextBox 13">
            <a:extLst>
              <a:ext uri="{FF2B5EF4-FFF2-40B4-BE49-F238E27FC236}">
                <a16:creationId xmlns:a16="http://schemas.microsoft.com/office/drawing/2014/main" id="{8D88BCFC-2DD0-C183-0730-E1026CAD3B15}"/>
              </a:ext>
            </a:extLst>
          </p:cNvPr>
          <p:cNvSpPr txBox="1">
            <a:spLocks/>
          </p:cNvSpPr>
          <p:nvPr/>
        </p:nvSpPr>
        <p:spPr>
          <a:xfrm>
            <a:off x="588963" y="1128911"/>
            <a:ext cx="11017250" cy="307777"/>
          </a:xfrm>
          <a:prstGeom prst="rect">
            <a:avLst/>
          </a:prstGeom>
          <a:noFill/>
        </p:spPr>
        <p:txBody>
          <a:bodyPr wrap="square" lIns="0" tIns="0" rIns="0" bIns="0">
            <a:spAutoFit/>
          </a:bodyPr>
          <a:lstStyle/>
          <a:p>
            <a:r>
              <a:rPr lang="en-US" sz="2000"/>
              <a:t>for SharePoint &amp; OneDrive</a:t>
            </a:r>
          </a:p>
        </p:txBody>
      </p:sp>
      <p:sp>
        <p:nvSpPr>
          <p:cNvPr id="34" name="Graphic 49" descr="Icon of a person with a closed padlock">
            <a:extLst>
              <a:ext uri="{FF2B5EF4-FFF2-40B4-BE49-F238E27FC236}">
                <a16:creationId xmlns:a16="http://schemas.microsoft.com/office/drawing/2014/main" id="{EB2C3F67-61DC-F878-5BD8-9C9E21C06026}"/>
              </a:ext>
            </a:extLst>
          </p:cNvPr>
          <p:cNvSpPr>
            <a:spLocks/>
          </p:cNvSpPr>
          <p:nvPr/>
        </p:nvSpPr>
        <p:spPr>
          <a:xfrm>
            <a:off x="892180" y="1964190"/>
            <a:ext cx="265108" cy="278356"/>
          </a:xfrm>
          <a:custGeom>
            <a:avLst/>
            <a:gdLst>
              <a:gd name="connsiteX0" fmla="*/ 114271 w 190471"/>
              <a:gd name="connsiteY0" fmla="*/ 114729 h 199977"/>
              <a:gd name="connsiteX1" fmla="*/ 114271 w 190471"/>
              <a:gd name="connsiteY1" fmla="*/ 114252 h 199977"/>
              <a:gd name="connsiteX2" fmla="*/ 21431 w 190471"/>
              <a:gd name="connsiteY2" fmla="*/ 114252 h 199977"/>
              <a:gd name="connsiteX3" fmla="*/ 0 w 190471"/>
              <a:gd name="connsiteY3" fmla="*/ 135665 h 199977"/>
              <a:gd name="connsiteX4" fmla="*/ 0 w 190471"/>
              <a:gd name="connsiteY4" fmla="*/ 135684 h 199977"/>
              <a:gd name="connsiteX5" fmla="*/ 0 w 190471"/>
              <a:gd name="connsiteY5" fmla="*/ 144437 h 199977"/>
              <a:gd name="connsiteX6" fmla="*/ 4867 w 190471"/>
              <a:gd name="connsiteY6" fmla="*/ 159639 h 199977"/>
              <a:gd name="connsiteX7" fmla="*/ 76171 w 190471"/>
              <a:gd name="connsiteY7" fmla="*/ 190452 h 199977"/>
              <a:gd name="connsiteX8" fmla="*/ 95469 w 190471"/>
              <a:gd name="connsiteY8" fmla="*/ 189119 h 199977"/>
              <a:gd name="connsiteX9" fmla="*/ 95221 w 190471"/>
              <a:gd name="connsiteY9" fmla="*/ 185690 h 199977"/>
              <a:gd name="connsiteX10" fmla="*/ 95221 w 190471"/>
              <a:gd name="connsiteY10" fmla="*/ 138065 h 199977"/>
              <a:gd name="connsiteX11" fmla="*/ 114271 w 190471"/>
              <a:gd name="connsiteY11" fmla="*/ 114729 h 199977"/>
              <a:gd name="connsiteX12" fmla="*/ 76171 w 190471"/>
              <a:gd name="connsiteY12" fmla="*/ 0 h 199977"/>
              <a:gd name="connsiteX13" fmla="*/ 123796 w 190471"/>
              <a:gd name="connsiteY13" fmla="*/ 47625 h 199977"/>
              <a:gd name="connsiteX14" fmla="*/ 76171 w 190471"/>
              <a:gd name="connsiteY14" fmla="*/ 95250 h 199977"/>
              <a:gd name="connsiteX15" fmla="*/ 28546 w 190471"/>
              <a:gd name="connsiteY15" fmla="*/ 47625 h 199977"/>
              <a:gd name="connsiteX16" fmla="*/ 76171 w 190471"/>
              <a:gd name="connsiteY16" fmla="*/ 0 h 199977"/>
              <a:gd name="connsiteX17" fmla="*/ 123796 w 190471"/>
              <a:gd name="connsiteY17" fmla="*/ 123777 h 199977"/>
              <a:gd name="connsiteX18" fmla="*/ 123796 w 190471"/>
              <a:gd name="connsiteY18" fmla="*/ 114252 h 199977"/>
              <a:gd name="connsiteX19" fmla="*/ 147609 w 190471"/>
              <a:gd name="connsiteY19" fmla="*/ 90440 h 199977"/>
              <a:gd name="connsiteX20" fmla="*/ 171421 w 190471"/>
              <a:gd name="connsiteY20" fmla="*/ 114252 h 199977"/>
              <a:gd name="connsiteX21" fmla="*/ 171421 w 190471"/>
              <a:gd name="connsiteY21" fmla="*/ 123777 h 199977"/>
              <a:gd name="connsiteX22" fmla="*/ 176184 w 190471"/>
              <a:gd name="connsiteY22" fmla="*/ 123777 h 199977"/>
              <a:gd name="connsiteX23" fmla="*/ 190471 w 190471"/>
              <a:gd name="connsiteY23" fmla="*/ 138065 h 199977"/>
              <a:gd name="connsiteX24" fmla="*/ 190471 w 190471"/>
              <a:gd name="connsiteY24" fmla="*/ 185690 h 199977"/>
              <a:gd name="connsiteX25" fmla="*/ 176184 w 190471"/>
              <a:gd name="connsiteY25" fmla="*/ 199977 h 199977"/>
              <a:gd name="connsiteX26" fmla="*/ 119034 w 190471"/>
              <a:gd name="connsiteY26" fmla="*/ 199977 h 199977"/>
              <a:gd name="connsiteX27" fmla="*/ 104746 w 190471"/>
              <a:gd name="connsiteY27" fmla="*/ 185690 h 199977"/>
              <a:gd name="connsiteX28" fmla="*/ 104746 w 190471"/>
              <a:gd name="connsiteY28" fmla="*/ 138065 h 199977"/>
              <a:gd name="connsiteX29" fmla="*/ 119034 w 190471"/>
              <a:gd name="connsiteY29" fmla="*/ 123777 h 199977"/>
              <a:gd name="connsiteX30" fmla="*/ 123796 w 190471"/>
              <a:gd name="connsiteY30" fmla="*/ 123777 h 199977"/>
              <a:gd name="connsiteX31" fmla="*/ 138084 w 190471"/>
              <a:gd name="connsiteY31" fmla="*/ 114252 h 199977"/>
              <a:gd name="connsiteX32" fmla="*/ 138084 w 190471"/>
              <a:gd name="connsiteY32" fmla="*/ 123777 h 199977"/>
              <a:gd name="connsiteX33" fmla="*/ 157134 w 190471"/>
              <a:gd name="connsiteY33" fmla="*/ 123777 h 199977"/>
              <a:gd name="connsiteX34" fmla="*/ 157134 w 190471"/>
              <a:gd name="connsiteY34" fmla="*/ 114252 h 199977"/>
              <a:gd name="connsiteX35" fmla="*/ 147609 w 190471"/>
              <a:gd name="connsiteY35" fmla="*/ 104727 h 199977"/>
              <a:gd name="connsiteX36" fmla="*/ 138084 w 190471"/>
              <a:gd name="connsiteY36" fmla="*/ 114252 h 199977"/>
              <a:gd name="connsiteX37" fmla="*/ 157134 w 190471"/>
              <a:gd name="connsiteY37" fmla="*/ 161877 h 199977"/>
              <a:gd name="connsiteX38" fmla="*/ 147609 w 190471"/>
              <a:gd name="connsiteY38" fmla="*/ 152352 h 199977"/>
              <a:gd name="connsiteX39" fmla="*/ 138084 w 190471"/>
              <a:gd name="connsiteY39" fmla="*/ 161877 h 199977"/>
              <a:gd name="connsiteX40" fmla="*/ 147609 w 190471"/>
              <a:gd name="connsiteY40" fmla="*/ 171402 h 199977"/>
              <a:gd name="connsiteX41" fmla="*/ 157134 w 190471"/>
              <a:gd name="connsiteY41" fmla="*/ 161877 h 19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90471" h="199977">
                <a:moveTo>
                  <a:pt x="114271" y="114729"/>
                </a:moveTo>
                <a:lnTo>
                  <a:pt x="114271" y="114252"/>
                </a:lnTo>
                <a:lnTo>
                  <a:pt x="21431" y="114252"/>
                </a:lnTo>
                <a:cubicBezTo>
                  <a:pt x="9600" y="114247"/>
                  <a:pt x="5" y="123834"/>
                  <a:pt x="0" y="135665"/>
                </a:cubicBezTo>
                <a:cubicBezTo>
                  <a:pt x="0" y="135671"/>
                  <a:pt x="0" y="135677"/>
                  <a:pt x="0" y="135684"/>
                </a:cubicBezTo>
                <a:lnTo>
                  <a:pt x="0" y="144437"/>
                </a:lnTo>
                <a:cubicBezTo>
                  <a:pt x="0" y="149885"/>
                  <a:pt x="1715" y="155200"/>
                  <a:pt x="4867" y="159639"/>
                </a:cubicBezTo>
                <a:cubicBezTo>
                  <a:pt x="19555" y="180251"/>
                  <a:pt x="43596" y="190452"/>
                  <a:pt x="76171" y="190452"/>
                </a:cubicBezTo>
                <a:cubicBezTo>
                  <a:pt x="82982" y="190452"/>
                  <a:pt x="89411" y="190014"/>
                  <a:pt x="95469" y="189119"/>
                </a:cubicBezTo>
                <a:cubicBezTo>
                  <a:pt x="95304" y="187984"/>
                  <a:pt x="95221" y="186838"/>
                  <a:pt x="95221" y="185690"/>
                </a:cubicBezTo>
                <a:lnTo>
                  <a:pt x="95221" y="138065"/>
                </a:lnTo>
                <a:cubicBezTo>
                  <a:pt x="95220" y="126747"/>
                  <a:pt x="103182" y="116992"/>
                  <a:pt x="114271" y="114729"/>
                </a:cubicBezTo>
                <a:close/>
                <a:moveTo>
                  <a:pt x="76171" y="0"/>
                </a:moveTo>
                <a:cubicBezTo>
                  <a:pt x="102474" y="0"/>
                  <a:pt x="123796" y="21322"/>
                  <a:pt x="123796" y="47625"/>
                </a:cubicBezTo>
                <a:cubicBezTo>
                  <a:pt x="123796" y="73928"/>
                  <a:pt x="102474" y="95250"/>
                  <a:pt x="76171" y="95250"/>
                </a:cubicBezTo>
                <a:cubicBezTo>
                  <a:pt x="49869" y="95250"/>
                  <a:pt x="28546" y="73928"/>
                  <a:pt x="28546" y="47625"/>
                </a:cubicBezTo>
                <a:cubicBezTo>
                  <a:pt x="28546" y="21322"/>
                  <a:pt x="49869" y="0"/>
                  <a:pt x="76171" y="0"/>
                </a:cubicBezTo>
                <a:close/>
                <a:moveTo>
                  <a:pt x="123796" y="123777"/>
                </a:moveTo>
                <a:lnTo>
                  <a:pt x="123796" y="114252"/>
                </a:lnTo>
                <a:cubicBezTo>
                  <a:pt x="123796" y="101101"/>
                  <a:pt x="134458" y="90440"/>
                  <a:pt x="147609" y="90440"/>
                </a:cubicBezTo>
                <a:cubicBezTo>
                  <a:pt x="160760" y="90440"/>
                  <a:pt x="171421" y="101101"/>
                  <a:pt x="171421" y="114252"/>
                </a:cubicBezTo>
                <a:lnTo>
                  <a:pt x="171421" y="123777"/>
                </a:lnTo>
                <a:lnTo>
                  <a:pt x="176184" y="123777"/>
                </a:lnTo>
                <a:cubicBezTo>
                  <a:pt x="184074" y="123777"/>
                  <a:pt x="190471" y="130174"/>
                  <a:pt x="190471" y="138065"/>
                </a:cubicBezTo>
                <a:lnTo>
                  <a:pt x="190471" y="185690"/>
                </a:lnTo>
                <a:cubicBezTo>
                  <a:pt x="190471" y="193580"/>
                  <a:pt x="184074" y="199977"/>
                  <a:pt x="176184" y="199977"/>
                </a:cubicBezTo>
                <a:lnTo>
                  <a:pt x="119034" y="199977"/>
                </a:lnTo>
                <a:cubicBezTo>
                  <a:pt x="111143" y="199977"/>
                  <a:pt x="104746" y="193580"/>
                  <a:pt x="104746" y="185690"/>
                </a:cubicBezTo>
                <a:lnTo>
                  <a:pt x="104746" y="138065"/>
                </a:lnTo>
                <a:cubicBezTo>
                  <a:pt x="104746" y="130174"/>
                  <a:pt x="111143" y="123777"/>
                  <a:pt x="119034" y="123777"/>
                </a:cubicBezTo>
                <a:lnTo>
                  <a:pt x="123796" y="123777"/>
                </a:lnTo>
                <a:close/>
                <a:moveTo>
                  <a:pt x="138084" y="114252"/>
                </a:moveTo>
                <a:lnTo>
                  <a:pt x="138084" y="123777"/>
                </a:lnTo>
                <a:lnTo>
                  <a:pt x="157134" y="123777"/>
                </a:lnTo>
                <a:lnTo>
                  <a:pt x="157134" y="114252"/>
                </a:lnTo>
                <a:cubicBezTo>
                  <a:pt x="157134" y="108992"/>
                  <a:pt x="152870" y="104727"/>
                  <a:pt x="147609" y="104727"/>
                </a:cubicBezTo>
                <a:cubicBezTo>
                  <a:pt x="142348" y="104727"/>
                  <a:pt x="138084" y="108992"/>
                  <a:pt x="138084" y="114252"/>
                </a:cubicBezTo>
                <a:close/>
                <a:moveTo>
                  <a:pt x="157134" y="161877"/>
                </a:moveTo>
                <a:cubicBezTo>
                  <a:pt x="157134" y="156617"/>
                  <a:pt x="152870" y="152352"/>
                  <a:pt x="147609" y="152352"/>
                </a:cubicBezTo>
                <a:cubicBezTo>
                  <a:pt x="142348" y="152352"/>
                  <a:pt x="138084" y="156617"/>
                  <a:pt x="138084" y="161877"/>
                </a:cubicBezTo>
                <a:cubicBezTo>
                  <a:pt x="138084" y="167138"/>
                  <a:pt x="142348" y="171402"/>
                  <a:pt x="147609" y="171402"/>
                </a:cubicBezTo>
                <a:cubicBezTo>
                  <a:pt x="152870" y="171402"/>
                  <a:pt x="157134" y="167138"/>
                  <a:pt x="157134" y="161877"/>
                </a:cubicBezTo>
                <a:close/>
              </a:path>
            </a:pathLst>
          </a:custGeom>
          <a:solidFill>
            <a:schemeClr val="bg1"/>
          </a:solidFill>
          <a:ln w="15081" cap="flat">
            <a:noFill/>
            <a:prstDash val="solid"/>
            <a:miter/>
          </a:ln>
        </p:spPr>
        <p:txBody>
          <a:bodyPr rtlCol="0" anchor="ctr"/>
          <a:lstStyle/>
          <a:p>
            <a:endParaRPr lang="en-US"/>
          </a:p>
        </p:txBody>
      </p:sp>
      <p:sp>
        <p:nvSpPr>
          <p:cNvPr id="18" name="TextBox 17">
            <a:extLst>
              <a:ext uri="{FF2B5EF4-FFF2-40B4-BE49-F238E27FC236}">
                <a16:creationId xmlns:a16="http://schemas.microsoft.com/office/drawing/2014/main" id="{676CF80A-9CBC-E4F6-7B64-90CB1A9F92D9}"/>
              </a:ext>
            </a:extLst>
          </p:cNvPr>
          <p:cNvSpPr txBox="1">
            <a:spLocks/>
          </p:cNvSpPr>
          <p:nvPr/>
        </p:nvSpPr>
        <p:spPr>
          <a:xfrm>
            <a:off x="741920" y="2650011"/>
            <a:ext cx="4612505" cy="1867178"/>
          </a:xfrm>
          <a:prstGeom prst="rect">
            <a:avLst/>
          </a:prstGeom>
          <a:noFill/>
        </p:spPr>
        <p:txBody>
          <a:bodyPr wrap="square" lIns="0" tIns="0" rIns="0" bIns="0">
            <a:spAutoFit/>
          </a:bodyPr>
          <a:lstStyle/>
          <a:p>
            <a:pPr lvl="0">
              <a:spcAft>
                <a:spcPts val="400"/>
              </a:spcAft>
              <a:defRPr/>
            </a:pPr>
            <a:r>
              <a:rPr lang="en-US" sz="1800">
                <a:solidFill>
                  <a:schemeClr val="accent1"/>
                </a:solidFill>
                <a:latin typeface="+mj-lt"/>
              </a:rPr>
              <a:t>RAC (Restricted access control) policy can be set at the site level. </a:t>
            </a:r>
            <a:r>
              <a:rPr lang="en-US" sz="1800"/>
              <a:t>Even if individual files/folders have broken </a:t>
            </a:r>
            <a:r>
              <a:rPr lang="en-US" sz="1800">
                <a:solidFill>
                  <a:schemeClr val="accent1"/>
                </a:solidFill>
                <a:latin typeface="+mj-lt"/>
              </a:rPr>
              <a:t>inheritance </a:t>
            </a:r>
            <a:r>
              <a:rPr lang="en-US" sz="1800"/>
              <a:t>and </a:t>
            </a:r>
            <a:br>
              <a:rPr lang="en-US" sz="1800"/>
            </a:br>
            <a:r>
              <a:rPr lang="en-US" sz="1800"/>
              <a:t>over-shared,</a:t>
            </a:r>
            <a:r>
              <a:rPr lang="en-US" sz="1800">
                <a:solidFill>
                  <a:schemeClr val="accent1"/>
                </a:solidFill>
                <a:latin typeface="+mj-lt"/>
              </a:rPr>
              <a:t> only RAC allowed users </a:t>
            </a:r>
            <a:br>
              <a:rPr lang="en-US" sz="1800">
                <a:solidFill>
                  <a:schemeClr val="accent1"/>
                </a:solidFill>
                <a:latin typeface="+mj-lt"/>
              </a:rPr>
            </a:br>
            <a:r>
              <a:rPr lang="en-US" sz="1800">
                <a:solidFill>
                  <a:schemeClr val="accent1"/>
                </a:solidFill>
                <a:latin typeface="+mj-lt"/>
              </a:rPr>
              <a:t>can access</a:t>
            </a:r>
          </a:p>
          <a:p>
            <a:pPr lvl="0">
              <a:spcBef>
                <a:spcPts val="1200"/>
              </a:spcBef>
              <a:spcAft>
                <a:spcPts val="400"/>
              </a:spcAft>
              <a:defRPr/>
            </a:pPr>
            <a:r>
              <a:rPr lang="en-US" sz="1800">
                <a:solidFill>
                  <a:schemeClr val="accent1"/>
                </a:solidFill>
                <a:latin typeface="+mj-lt"/>
              </a:rPr>
              <a:t>Copilot honors RAC policy!</a:t>
            </a:r>
          </a:p>
        </p:txBody>
      </p:sp>
      <p:sp>
        <p:nvSpPr>
          <p:cNvPr id="19" name="TextBox 18">
            <a:extLst>
              <a:ext uri="{FF2B5EF4-FFF2-40B4-BE49-F238E27FC236}">
                <a16:creationId xmlns:a16="http://schemas.microsoft.com/office/drawing/2014/main" id="{A4250187-880E-7E94-9DEA-FC217B29F7B2}"/>
              </a:ext>
            </a:extLst>
          </p:cNvPr>
          <p:cNvSpPr txBox="1">
            <a:spLocks/>
          </p:cNvSpPr>
          <p:nvPr/>
        </p:nvSpPr>
        <p:spPr>
          <a:xfrm>
            <a:off x="747853" y="4838331"/>
            <a:ext cx="4776646" cy="830997"/>
          </a:xfrm>
          <a:prstGeom prst="rect">
            <a:avLst/>
          </a:prstGeom>
          <a:noFill/>
        </p:spPr>
        <p:txBody>
          <a:bodyPr wrap="square" lIns="0" tIns="0" rIns="0" bIns="0">
            <a:spAutoFit/>
          </a:bodyPr>
          <a:lstStyle>
            <a:defPPr>
              <a:defRPr lang="en-US"/>
            </a:defPPr>
            <a:lvl1pPr marR="0" lvl="0" indent="0" fontAlgn="auto">
              <a:spcBef>
                <a:spcPts val="0"/>
              </a:spcBef>
              <a:spcAft>
                <a:spcPts val="0"/>
              </a:spcAft>
              <a:buClrTx/>
              <a:buSzTx/>
              <a:buFontTx/>
              <a:buNone/>
              <a:tabLst/>
              <a:defRPr kumimoji="0" sz="1600" i="0" u="none" strike="noStrike" cap="none" spc="0" normalizeH="0" baseline="0">
                <a:ln>
                  <a:noFill/>
                </a:ln>
                <a:solidFill>
                  <a:schemeClr val="accent1"/>
                </a:solidFill>
                <a:effectLst/>
                <a:uLnTx/>
                <a:uFillTx/>
                <a:latin typeface="+mj-lt"/>
              </a:defRPr>
            </a:lvl1pPr>
          </a:lstStyle>
          <a:p>
            <a:pPr>
              <a:spcAft>
                <a:spcPts val="400"/>
              </a:spcAft>
              <a:defRPr/>
            </a:pPr>
            <a:r>
              <a:rPr lang="en-US" sz="1800">
                <a:solidFill>
                  <a:schemeClr val="tx1"/>
                </a:solidFill>
                <a:latin typeface="+mn-lt"/>
              </a:rPr>
              <a:t>Microsoft 365 group-connected sites, </a:t>
            </a:r>
            <a:br>
              <a:rPr lang="en-US" sz="1800">
                <a:solidFill>
                  <a:schemeClr val="tx1"/>
                </a:solidFill>
                <a:latin typeface="+mn-lt"/>
              </a:rPr>
            </a:br>
            <a:r>
              <a:rPr lang="en-US" sz="1800">
                <a:solidFill>
                  <a:schemeClr val="tx1"/>
                </a:solidFill>
                <a:latin typeface="+mn-lt"/>
              </a:rPr>
              <a:t>Non-group SharePoint sites, Teams sites, Shared channel sites, OneDrive sites </a:t>
            </a:r>
          </a:p>
        </p:txBody>
      </p:sp>
      <p:sp>
        <p:nvSpPr>
          <p:cNvPr id="17" name="Rounded Rectangle 11">
            <a:extLst>
              <a:ext uri="{FF2B5EF4-FFF2-40B4-BE49-F238E27FC236}">
                <a16:creationId xmlns:a16="http://schemas.microsoft.com/office/drawing/2014/main" id="{9799A2B5-EB79-2E1C-E3EF-7E11FEC4B059}"/>
              </a:ext>
              <a:ext uri="{C183D7F6-B498-43B3-948B-1728B52AA6E4}">
                <adec:decorative xmlns:adec="http://schemas.microsoft.com/office/drawing/2017/decorative" val="0"/>
              </a:ext>
            </a:extLst>
          </p:cNvPr>
          <p:cNvSpPr/>
          <p:nvPr/>
        </p:nvSpPr>
        <p:spPr bwMode="auto">
          <a:xfrm>
            <a:off x="584201" y="6043682"/>
            <a:ext cx="4940298" cy="302254"/>
          </a:xfrm>
          <a:prstGeom prst="roundRect">
            <a:avLst>
              <a:gd name="adj" fmla="val 50000"/>
            </a:avLst>
          </a:prstGeom>
          <a:solidFill>
            <a:srgbClr val="00B050"/>
          </a:soli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kumimoji="0" lang="en-US" sz="1400" i="0" u="none" strike="noStrike" kern="1200" cap="none" spc="0" normalizeH="0" baseline="0" noProof="0">
                <a:ln>
                  <a:noFill/>
                </a:ln>
                <a:effectLst/>
                <a:uLnTx/>
                <a:uFillTx/>
                <a:latin typeface="+mj-lt"/>
                <a:ea typeface="+mn-ea"/>
                <a:cs typeface="Segoe UI"/>
              </a:rPr>
              <a:t>Generally available</a:t>
            </a:r>
          </a:p>
        </p:txBody>
      </p:sp>
      <p:pic>
        <p:nvPicPr>
          <p:cNvPr id="21" name="Picture 20" descr="A screen capture of an interface Contoso Energy for &quot;Snapshot till march&quot; displaying the download detailed report and on the right side &quot;Restricted site access&quot;">
            <a:extLst>
              <a:ext uri="{FF2B5EF4-FFF2-40B4-BE49-F238E27FC236}">
                <a16:creationId xmlns:a16="http://schemas.microsoft.com/office/drawing/2014/main" id="{8330450E-FE13-B5B1-A4B8-18E5EFD5F936}"/>
              </a:ext>
            </a:extLst>
          </p:cNvPr>
          <p:cNvPicPr>
            <a:picLocks noChangeAspect="1"/>
          </p:cNvPicPr>
          <p:nvPr/>
        </p:nvPicPr>
        <p:blipFill rotWithShape="1">
          <a:blip r:embed="rId3"/>
          <a:srcRect t="-7004" b="-7004"/>
          <a:stretch/>
        </p:blipFill>
        <p:spPr>
          <a:xfrm>
            <a:off x="5748566" y="1744774"/>
            <a:ext cx="5764618" cy="4381405"/>
          </a:xfrm>
          <a:prstGeom prst="roundRect">
            <a:avLst>
              <a:gd name="adj" fmla="val 3200"/>
            </a:avLst>
          </a:prstGeom>
          <a:solidFill>
            <a:schemeClr val="bg1"/>
          </a:solidFill>
          <a:ln w="12700" cap="rnd">
            <a:noFill/>
            <a:headEnd type="none" w="med" len="med"/>
            <a:tailEnd type="none" w="med" len="med"/>
          </a:ln>
          <a:effectLst>
            <a:outerShdw blurRad="63500" algn="ctr" rotWithShape="0">
              <a:prstClr val="black">
                <a:alpha val="17000"/>
              </a:prstClr>
            </a:outerShdw>
          </a:effectLst>
        </p:spPr>
      </p:pic>
    </p:spTree>
    <p:extLst>
      <p:ext uri="{BB962C8B-B14F-4D97-AF65-F5344CB8AC3E}">
        <p14:creationId xmlns:p14="http://schemas.microsoft.com/office/powerpoint/2010/main" val="484008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8B46-FDC1-774E-0F12-961B528EFF1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8EE0D59-A115-5E6E-DFDC-77CEF91D5F15}"/>
              </a:ext>
            </a:extLst>
          </p:cNvPr>
          <p:cNvSpPr>
            <a:spLocks noGrp="1"/>
          </p:cNvSpPr>
          <p:nvPr>
            <p:ph type="title"/>
          </p:nvPr>
        </p:nvSpPr>
        <p:spPr>
          <a:xfrm>
            <a:off x="574816" y="-539890"/>
            <a:ext cx="11018520" cy="430887"/>
          </a:xfrm>
        </p:spPr>
        <p:txBody>
          <a:bodyPr>
            <a:normAutofit fontScale="90000"/>
          </a:bodyPr>
          <a:lstStyle/>
          <a:p>
            <a:r>
              <a:rPr lang="en-US" dirty="0"/>
              <a:t>8 </a:t>
            </a:r>
          </a:p>
        </p:txBody>
      </p:sp>
      <p:sp>
        <p:nvSpPr>
          <p:cNvPr id="15" name="Content Placeholder 14">
            <a:extLst>
              <a:ext uri="{FF2B5EF4-FFF2-40B4-BE49-F238E27FC236}">
                <a16:creationId xmlns:a16="http://schemas.microsoft.com/office/drawing/2014/main" id="{803A6F7A-6AFD-DD5B-5B58-1C1AE719C899}"/>
              </a:ext>
            </a:extLst>
          </p:cNvPr>
          <p:cNvSpPr>
            <a:spLocks noGrp="1"/>
          </p:cNvSpPr>
          <p:nvPr>
            <p:ph sz="quarter" idx="10"/>
          </p:nvPr>
        </p:nvSpPr>
        <p:spPr/>
        <p:txBody>
          <a:bodyPr/>
          <a:lstStyle/>
          <a:p>
            <a:endParaRPr lang="en-US"/>
          </a:p>
        </p:txBody>
      </p:sp>
      <p:pic>
        <p:nvPicPr>
          <p:cNvPr id="17" name="Picture 16">
            <a:extLst>
              <a:ext uri="{FF2B5EF4-FFF2-40B4-BE49-F238E27FC236}">
                <a16:creationId xmlns:a16="http://schemas.microsoft.com/office/drawing/2014/main" id="{0BAD2FF0-F3DB-D51F-C0FF-B3A849F08E7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374787" cy="6858000"/>
          </a:xfrm>
          <a:prstGeom prst="rect">
            <a:avLst/>
          </a:prstGeom>
        </p:spPr>
      </p:pic>
    </p:spTree>
    <p:extLst>
      <p:ext uri="{BB962C8B-B14F-4D97-AF65-F5344CB8AC3E}">
        <p14:creationId xmlns:p14="http://schemas.microsoft.com/office/powerpoint/2010/main" val="221266597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2C9B-8755-C511-3C1C-8CD94AAD7DA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7BFB7F41-9B72-BE88-5975-3F3388117CE3}"/>
              </a:ext>
              <a:ext uri="{C183D7F6-B498-43B3-948B-1728B52AA6E4}">
                <adec:decorative xmlns:adec="http://schemas.microsoft.com/office/drawing/2017/decorative" val="1"/>
              </a:ext>
            </a:extLst>
          </p:cNvPr>
          <p:cNvSpPr>
            <a:spLocks/>
          </p:cNvSpPr>
          <p:nvPr/>
        </p:nvSpPr>
        <p:spPr bwMode="auto">
          <a:xfrm>
            <a:off x="584200" y="1758633"/>
            <a:ext cx="11020425" cy="3811587"/>
          </a:xfrm>
          <a:prstGeom prst="roundRect">
            <a:avLst>
              <a:gd name="adj" fmla="val 57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sp>
        <p:nvSpPr>
          <p:cNvPr id="21" name="TextBox 20">
            <a:extLst>
              <a:ext uri="{FF2B5EF4-FFF2-40B4-BE49-F238E27FC236}">
                <a16:creationId xmlns:a16="http://schemas.microsoft.com/office/drawing/2014/main" id="{2A3A0EAC-D271-5D0F-2B0B-2F5CE03E44E1}"/>
              </a:ext>
              <a:ext uri="{C183D7F6-B498-43B3-948B-1728B52AA6E4}">
                <adec:decorative xmlns:adec="http://schemas.microsoft.com/office/drawing/2017/decorative" val="1"/>
              </a:ext>
            </a:extLst>
          </p:cNvPr>
          <p:cNvSpPr txBox="1">
            <a:spLocks/>
          </p:cNvSpPr>
          <p:nvPr/>
        </p:nvSpPr>
        <p:spPr>
          <a:xfrm>
            <a:off x="1755210" y="2180365"/>
            <a:ext cx="550246" cy="70232"/>
          </a:xfrm>
          <a:prstGeom prst="roundRect">
            <a:avLst>
              <a:gd name="adj" fmla="val 50000"/>
            </a:avLst>
          </a:prstGeom>
          <a:gradFill flip="none" rotWithShape="1">
            <a:gsLst>
              <a:gs pos="0">
                <a:srgbClr val="C03BC4"/>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endParaRPr lang="en-US" sz="1800"/>
          </a:p>
        </p:txBody>
      </p:sp>
      <p:sp>
        <p:nvSpPr>
          <p:cNvPr id="22" name="TextBox 21">
            <a:extLst>
              <a:ext uri="{FF2B5EF4-FFF2-40B4-BE49-F238E27FC236}">
                <a16:creationId xmlns:a16="http://schemas.microsoft.com/office/drawing/2014/main" id="{07E08D7B-C788-62F3-8FE7-B3D8E0DC4EFE}"/>
              </a:ext>
              <a:ext uri="{C183D7F6-B498-43B3-948B-1728B52AA6E4}">
                <adec:decorative xmlns:adec="http://schemas.microsoft.com/office/drawing/2017/decorative" val="1"/>
              </a:ext>
            </a:extLst>
          </p:cNvPr>
          <p:cNvSpPr txBox="1">
            <a:spLocks/>
          </p:cNvSpPr>
          <p:nvPr/>
        </p:nvSpPr>
        <p:spPr>
          <a:xfrm>
            <a:off x="4464595" y="2180365"/>
            <a:ext cx="550246" cy="70232"/>
          </a:xfrm>
          <a:prstGeom prst="roundRect">
            <a:avLst>
              <a:gd name="adj" fmla="val 50000"/>
            </a:avLst>
          </a:prstGeom>
          <a:gradFill flip="none" rotWithShape="1">
            <a:gsLst>
              <a:gs pos="0">
                <a:srgbClr val="C03BC4"/>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endParaRPr lang="en-US" sz="1800"/>
          </a:p>
        </p:txBody>
      </p:sp>
      <p:sp>
        <p:nvSpPr>
          <p:cNvPr id="23" name="TextBox 22">
            <a:extLst>
              <a:ext uri="{FF2B5EF4-FFF2-40B4-BE49-F238E27FC236}">
                <a16:creationId xmlns:a16="http://schemas.microsoft.com/office/drawing/2014/main" id="{ED3571F7-123D-EED9-38BA-6FF14536AF02}"/>
              </a:ext>
              <a:ext uri="{C183D7F6-B498-43B3-948B-1728B52AA6E4}">
                <adec:decorative xmlns:adec="http://schemas.microsoft.com/office/drawing/2017/decorative" val="1"/>
              </a:ext>
            </a:extLst>
          </p:cNvPr>
          <p:cNvSpPr txBox="1">
            <a:spLocks/>
          </p:cNvSpPr>
          <p:nvPr/>
        </p:nvSpPr>
        <p:spPr>
          <a:xfrm>
            <a:off x="7173980" y="2180365"/>
            <a:ext cx="550246" cy="70232"/>
          </a:xfrm>
          <a:prstGeom prst="roundRect">
            <a:avLst>
              <a:gd name="adj" fmla="val 50000"/>
            </a:avLst>
          </a:prstGeom>
          <a:gradFill flip="none" rotWithShape="1">
            <a:gsLst>
              <a:gs pos="0">
                <a:srgbClr val="C03BC4"/>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endParaRPr lang="en-US" sz="1800"/>
          </a:p>
        </p:txBody>
      </p:sp>
      <p:sp>
        <p:nvSpPr>
          <p:cNvPr id="24" name="TextBox 23">
            <a:extLst>
              <a:ext uri="{FF2B5EF4-FFF2-40B4-BE49-F238E27FC236}">
                <a16:creationId xmlns:a16="http://schemas.microsoft.com/office/drawing/2014/main" id="{142A3CEA-5C9A-56EC-013E-52FBE7BBB43A}"/>
              </a:ext>
              <a:ext uri="{C183D7F6-B498-43B3-948B-1728B52AA6E4}">
                <adec:decorative xmlns:adec="http://schemas.microsoft.com/office/drawing/2017/decorative" val="1"/>
              </a:ext>
            </a:extLst>
          </p:cNvPr>
          <p:cNvSpPr txBox="1">
            <a:spLocks/>
          </p:cNvSpPr>
          <p:nvPr/>
        </p:nvSpPr>
        <p:spPr>
          <a:xfrm>
            <a:off x="9883365" y="2180365"/>
            <a:ext cx="550246" cy="70232"/>
          </a:xfrm>
          <a:prstGeom prst="roundRect">
            <a:avLst>
              <a:gd name="adj" fmla="val 50000"/>
            </a:avLst>
          </a:prstGeom>
          <a:gradFill flip="none" rotWithShape="1">
            <a:gsLst>
              <a:gs pos="0">
                <a:srgbClr val="C03BC4"/>
              </a:gs>
              <a:gs pos="80000">
                <a:srgbClr val="0078D4"/>
              </a:gs>
            </a:gsLst>
            <a:lin ang="10800000" scaled="1"/>
            <a:tileRect/>
          </a:gradFill>
        </p:spPr>
        <p:txBody>
          <a:bodyPr wrap="square" lIns="91440" tIns="45720" rIns="91440" bIns="45720" anchor="ctr">
            <a:noAutofit/>
          </a:bodyPr>
          <a:lstStyle>
            <a:defPPr>
              <a:defRPr lang="en-US"/>
            </a:defPPr>
            <a:lvl1pPr algn="ctr">
              <a:defRPr sz="1400">
                <a:ln w="3175">
                  <a:noFill/>
                </a:ln>
                <a:solidFill>
                  <a:schemeClr val="bg1"/>
                </a:solidFill>
                <a:latin typeface="+mj-lt"/>
                <a:ea typeface="+mj-ea"/>
                <a:cs typeface="+mj-cs"/>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endParaRPr lang="en-US" sz="1800"/>
          </a:p>
        </p:txBody>
      </p:sp>
      <p:sp>
        <p:nvSpPr>
          <p:cNvPr id="36" name="Rectangle: Rounded Corners 35">
            <a:extLst>
              <a:ext uri="{FF2B5EF4-FFF2-40B4-BE49-F238E27FC236}">
                <a16:creationId xmlns:a16="http://schemas.microsoft.com/office/drawing/2014/main" id="{C61D1BBF-2DA5-7702-64F9-E707922776AE}"/>
              </a:ext>
              <a:ext uri="{C183D7F6-B498-43B3-948B-1728B52AA6E4}">
                <adec:decorative xmlns:adec="http://schemas.microsoft.com/office/drawing/2017/decorative" val="1"/>
              </a:ext>
            </a:extLst>
          </p:cNvPr>
          <p:cNvSpPr>
            <a:spLocks/>
          </p:cNvSpPr>
          <p:nvPr/>
        </p:nvSpPr>
        <p:spPr bwMode="auto">
          <a:xfrm>
            <a:off x="767080" y="2215481"/>
            <a:ext cx="2526505" cy="2590834"/>
          </a:xfrm>
          <a:prstGeom prst="roundRect">
            <a:avLst>
              <a:gd name="adj" fmla="val 70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1800">
              <a:solidFill>
                <a:schemeClr val="tx1"/>
              </a:solidFill>
            </a:endParaRPr>
          </a:p>
        </p:txBody>
      </p:sp>
      <p:sp>
        <p:nvSpPr>
          <p:cNvPr id="37" name="Rectangle: Rounded Corners 36">
            <a:extLst>
              <a:ext uri="{FF2B5EF4-FFF2-40B4-BE49-F238E27FC236}">
                <a16:creationId xmlns:a16="http://schemas.microsoft.com/office/drawing/2014/main" id="{B1AF16D4-CA8E-53F5-87F1-B4A32ECB77B1}"/>
              </a:ext>
              <a:ext uri="{C183D7F6-B498-43B3-948B-1728B52AA6E4}">
                <adec:decorative xmlns:adec="http://schemas.microsoft.com/office/drawing/2017/decorative" val="1"/>
              </a:ext>
            </a:extLst>
          </p:cNvPr>
          <p:cNvSpPr>
            <a:spLocks/>
          </p:cNvSpPr>
          <p:nvPr/>
        </p:nvSpPr>
        <p:spPr bwMode="auto">
          <a:xfrm>
            <a:off x="3476465" y="2215481"/>
            <a:ext cx="2526505" cy="2590834"/>
          </a:xfrm>
          <a:prstGeom prst="roundRect">
            <a:avLst>
              <a:gd name="adj" fmla="val 70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1800">
              <a:solidFill>
                <a:schemeClr val="tx1"/>
              </a:solidFill>
            </a:endParaRPr>
          </a:p>
        </p:txBody>
      </p:sp>
      <p:sp>
        <p:nvSpPr>
          <p:cNvPr id="38" name="Rectangle: Rounded Corners 37">
            <a:extLst>
              <a:ext uri="{FF2B5EF4-FFF2-40B4-BE49-F238E27FC236}">
                <a16:creationId xmlns:a16="http://schemas.microsoft.com/office/drawing/2014/main" id="{AEC1C8FB-0B3E-FA3B-55A3-A7ECA1AD636A}"/>
              </a:ext>
              <a:ext uri="{C183D7F6-B498-43B3-948B-1728B52AA6E4}">
                <adec:decorative xmlns:adec="http://schemas.microsoft.com/office/drawing/2017/decorative" val="1"/>
              </a:ext>
            </a:extLst>
          </p:cNvPr>
          <p:cNvSpPr>
            <a:spLocks/>
          </p:cNvSpPr>
          <p:nvPr/>
        </p:nvSpPr>
        <p:spPr bwMode="auto">
          <a:xfrm>
            <a:off x="6185850" y="2215481"/>
            <a:ext cx="2526505" cy="2590834"/>
          </a:xfrm>
          <a:prstGeom prst="roundRect">
            <a:avLst>
              <a:gd name="adj" fmla="val 70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1800">
              <a:solidFill>
                <a:schemeClr val="tx1"/>
              </a:solidFill>
            </a:endParaRPr>
          </a:p>
        </p:txBody>
      </p:sp>
      <p:sp>
        <p:nvSpPr>
          <p:cNvPr id="39" name="Rectangle: Rounded Corners 38">
            <a:extLst>
              <a:ext uri="{FF2B5EF4-FFF2-40B4-BE49-F238E27FC236}">
                <a16:creationId xmlns:a16="http://schemas.microsoft.com/office/drawing/2014/main" id="{CFF6BF13-2F1A-3AC9-023D-0E427DF2AD84}"/>
              </a:ext>
              <a:ext uri="{C183D7F6-B498-43B3-948B-1728B52AA6E4}">
                <adec:decorative xmlns:adec="http://schemas.microsoft.com/office/drawing/2017/decorative" val="1"/>
              </a:ext>
            </a:extLst>
          </p:cNvPr>
          <p:cNvSpPr>
            <a:spLocks/>
          </p:cNvSpPr>
          <p:nvPr/>
        </p:nvSpPr>
        <p:spPr bwMode="auto">
          <a:xfrm>
            <a:off x="8895235" y="2215481"/>
            <a:ext cx="2526505" cy="2590834"/>
          </a:xfrm>
          <a:prstGeom prst="roundRect">
            <a:avLst>
              <a:gd name="adj" fmla="val 70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1800">
              <a:solidFill>
                <a:schemeClr val="tx1"/>
              </a:solidFill>
            </a:endParaRPr>
          </a:p>
        </p:txBody>
      </p:sp>
      <p:sp>
        <p:nvSpPr>
          <p:cNvPr id="2" name="Title 1">
            <a:extLst>
              <a:ext uri="{FF2B5EF4-FFF2-40B4-BE49-F238E27FC236}">
                <a16:creationId xmlns:a16="http://schemas.microsoft.com/office/drawing/2014/main" id="{36192139-CDB8-3C1F-1FB0-EED5445D3E18}"/>
              </a:ext>
            </a:extLst>
          </p:cNvPr>
          <p:cNvSpPr>
            <a:spLocks noGrp="1"/>
          </p:cNvSpPr>
          <p:nvPr>
            <p:ph type="title"/>
          </p:nvPr>
        </p:nvSpPr>
        <p:spPr>
          <a:xfrm>
            <a:off x="588963" y="457200"/>
            <a:ext cx="11017250" cy="554038"/>
          </a:xfrm>
        </p:spPr>
        <p:txBody>
          <a:bodyPr vert="horz" wrap="square" lIns="0" tIns="0" rIns="0" bIns="0" rtlCol="0" anchor="t">
            <a:noAutofit/>
          </a:bodyPr>
          <a:lstStyle/>
          <a:p>
            <a:r>
              <a:rPr lang="en-US"/>
              <a:t>Restricted Content Discovery (RCD)</a:t>
            </a:r>
          </a:p>
        </p:txBody>
      </p:sp>
      <p:sp>
        <p:nvSpPr>
          <p:cNvPr id="11" name="TextBox 10">
            <a:extLst>
              <a:ext uri="{FF2B5EF4-FFF2-40B4-BE49-F238E27FC236}">
                <a16:creationId xmlns:a16="http://schemas.microsoft.com/office/drawing/2014/main" id="{1ECA4E7A-F560-9F32-7AA6-BA024C8D9B51}"/>
              </a:ext>
            </a:extLst>
          </p:cNvPr>
          <p:cNvSpPr txBox="1">
            <a:spLocks/>
          </p:cNvSpPr>
          <p:nvPr/>
        </p:nvSpPr>
        <p:spPr>
          <a:xfrm>
            <a:off x="588963" y="1128911"/>
            <a:ext cx="11017250" cy="307777"/>
          </a:xfrm>
          <a:prstGeom prst="rect">
            <a:avLst/>
          </a:prstGeom>
          <a:noFill/>
        </p:spPr>
        <p:txBody>
          <a:bodyPr wrap="square" lIns="0" tIns="0" rIns="0" bIns="0">
            <a:spAutoFit/>
          </a:bodyPr>
          <a:lstStyle/>
          <a:p>
            <a:r>
              <a:rPr lang="en-US" sz="2000"/>
              <a:t>Advanced access control to exclude sites from Copilot </a:t>
            </a:r>
          </a:p>
        </p:txBody>
      </p:sp>
      <p:sp>
        <p:nvSpPr>
          <p:cNvPr id="16" name="Rounded Rectangle 11">
            <a:extLst>
              <a:ext uri="{FF2B5EF4-FFF2-40B4-BE49-F238E27FC236}">
                <a16:creationId xmlns:a16="http://schemas.microsoft.com/office/drawing/2014/main" id="{6CB45CAD-4A0C-3C5B-3D20-9689B29BB971}"/>
              </a:ext>
              <a:ext uri="{C183D7F6-B498-43B3-948B-1728B52AA6E4}">
                <adec:decorative xmlns:adec="http://schemas.microsoft.com/office/drawing/2017/decorative" val="1"/>
              </a:ext>
            </a:extLst>
          </p:cNvPr>
          <p:cNvSpPr/>
          <p:nvPr/>
        </p:nvSpPr>
        <p:spPr bwMode="auto">
          <a:xfrm>
            <a:off x="1755210" y="148235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lang="en-US" sz="2400" b="1">
                <a:solidFill>
                  <a:schemeClr val="bg1"/>
                </a:solidFill>
              </a:rPr>
              <a:t>1</a:t>
            </a:r>
          </a:p>
        </p:txBody>
      </p:sp>
      <p:sp>
        <p:nvSpPr>
          <p:cNvPr id="42" name="TextBox 41">
            <a:extLst>
              <a:ext uri="{FF2B5EF4-FFF2-40B4-BE49-F238E27FC236}">
                <a16:creationId xmlns:a16="http://schemas.microsoft.com/office/drawing/2014/main" id="{BA2072D4-F155-18F7-D154-7B356E44BA5F}"/>
              </a:ext>
            </a:extLst>
          </p:cNvPr>
          <p:cNvSpPr txBox="1"/>
          <p:nvPr/>
        </p:nvSpPr>
        <p:spPr>
          <a:xfrm>
            <a:off x="989806" y="2395769"/>
            <a:ext cx="2081054" cy="2215991"/>
          </a:xfrm>
          <a:prstGeom prst="rect">
            <a:avLst/>
          </a:prstGeom>
          <a:noFill/>
        </p:spPr>
        <p:txBody>
          <a:bodyPr wrap="square" lIns="0" tIns="0" rIns="0" bIns="0">
            <a:spAutoFit/>
          </a:bodyPr>
          <a:lstStyle/>
          <a:p>
            <a:pPr algn="ctr"/>
            <a:r>
              <a:rPr kumimoji="0" lang="en-US" sz="1800" b="0" i="0" u="none" strike="noStrike" kern="1200" cap="none" normalizeH="0" baseline="0" noProof="0">
                <a:ln>
                  <a:noFill/>
                </a:ln>
                <a:effectLst/>
                <a:uLnTx/>
                <a:uFillTx/>
                <a:ea typeface="+mn-ea"/>
                <a:cs typeface="+mn-cs"/>
              </a:rPr>
              <a:t>Use this </a:t>
            </a:r>
            <a:r>
              <a:rPr lang="en-US" sz="1800">
                <a:solidFill>
                  <a:schemeClr val="accent1"/>
                </a:solidFill>
                <a:latin typeface="+mj-lt"/>
              </a:rPr>
              <a:t>site-level</a:t>
            </a:r>
            <a:r>
              <a:rPr kumimoji="0" lang="en-US" sz="1800" b="0" i="0" u="none" strike="noStrike" kern="1200" cap="none" normalizeH="0" baseline="0" noProof="0">
                <a:ln>
                  <a:noFill/>
                </a:ln>
                <a:effectLst/>
                <a:uLnTx/>
                <a:uFillTx/>
                <a:ea typeface="+mn-ea"/>
                <a:cs typeface="+mn-cs"/>
              </a:rPr>
              <a:t> setting </a:t>
            </a:r>
            <a:r>
              <a:rPr lang="en-US" sz="1800">
                <a:solidFill>
                  <a:schemeClr val="accent1"/>
                </a:solidFill>
                <a:latin typeface="+mj-lt"/>
              </a:rPr>
              <a:t>Restricted Content Discoverability</a:t>
            </a:r>
            <a:r>
              <a:rPr kumimoji="0" lang="en-US" sz="1800" b="1" i="0" u="none" strike="noStrike" kern="1200" cap="none" normalizeH="0" baseline="0" noProof="0">
                <a:ln>
                  <a:noFill/>
                </a:ln>
                <a:effectLst/>
                <a:uLnTx/>
                <a:uFillTx/>
                <a:ea typeface="+mn-ea"/>
                <a:cs typeface="+mn-cs"/>
              </a:rPr>
              <a:t> </a:t>
            </a:r>
            <a:br>
              <a:rPr kumimoji="0" lang="en-US" sz="1800" b="1" i="0" u="none" strike="noStrike" kern="1200" cap="none" normalizeH="0" baseline="0" noProof="0">
                <a:ln>
                  <a:noFill/>
                </a:ln>
                <a:effectLst/>
                <a:uLnTx/>
                <a:uFillTx/>
                <a:ea typeface="+mn-ea"/>
                <a:cs typeface="+mn-cs"/>
              </a:rPr>
            </a:br>
            <a:r>
              <a:rPr kumimoji="0" lang="en-US" sz="1800" b="0" i="0" u="none" strike="noStrike" kern="1200" cap="none" normalizeH="0" baseline="0" noProof="0">
                <a:ln>
                  <a:noFill/>
                </a:ln>
                <a:effectLst/>
                <a:uLnTx/>
                <a:uFillTx/>
                <a:ea typeface="+mn-ea"/>
                <a:cs typeface="+mn-cs"/>
              </a:rPr>
              <a:t>to restrict content discoverability via Copilot and </a:t>
            </a:r>
            <a:br>
              <a:rPr kumimoji="0" lang="en-US" sz="1800" b="0" i="0" u="none" strike="noStrike" kern="1200" cap="none" normalizeH="0" baseline="0" noProof="0">
                <a:ln>
                  <a:noFill/>
                </a:ln>
                <a:effectLst/>
                <a:uLnTx/>
                <a:uFillTx/>
                <a:ea typeface="+mn-ea"/>
                <a:cs typeface="+mn-cs"/>
              </a:rPr>
            </a:br>
            <a:r>
              <a:rPr kumimoji="0" lang="en-US" sz="1800" b="0" i="0" u="none" strike="noStrike" kern="1200" cap="none" normalizeH="0" baseline="0" noProof="0">
                <a:ln>
                  <a:noFill/>
                </a:ln>
                <a:effectLst/>
                <a:uLnTx/>
                <a:uFillTx/>
                <a:ea typeface="+mn-ea"/>
                <a:cs typeface="+mn-cs"/>
              </a:rPr>
              <a:t>Org-wide search</a:t>
            </a:r>
            <a:endParaRPr lang="en-US" sz="1800"/>
          </a:p>
        </p:txBody>
      </p:sp>
      <p:sp>
        <p:nvSpPr>
          <p:cNvPr id="17" name="Rounded Rectangle 11">
            <a:extLst>
              <a:ext uri="{FF2B5EF4-FFF2-40B4-BE49-F238E27FC236}">
                <a16:creationId xmlns:a16="http://schemas.microsoft.com/office/drawing/2014/main" id="{56712009-7F58-7523-2521-AF4892547D1C}"/>
              </a:ext>
              <a:ext uri="{C183D7F6-B498-43B3-948B-1728B52AA6E4}">
                <adec:decorative xmlns:adec="http://schemas.microsoft.com/office/drawing/2017/decorative" val="1"/>
              </a:ext>
            </a:extLst>
          </p:cNvPr>
          <p:cNvSpPr/>
          <p:nvPr/>
        </p:nvSpPr>
        <p:spPr bwMode="auto">
          <a:xfrm>
            <a:off x="4464595" y="148235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lang="en-US" sz="2400" b="1">
                <a:solidFill>
                  <a:schemeClr val="bg1"/>
                </a:solidFill>
              </a:rPr>
              <a:t>2</a:t>
            </a:r>
          </a:p>
        </p:txBody>
      </p:sp>
      <p:sp>
        <p:nvSpPr>
          <p:cNvPr id="43" name="TextBox 42">
            <a:extLst>
              <a:ext uri="{FF2B5EF4-FFF2-40B4-BE49-F238E27FC236}">
                <a16:creationId xmlns:a16="http://schemas.microsoft.com/office/drawing/2014/main" id="{48AFD926-B5FF-7EF1-B76B-C89F031719E6}"/>
              </a:ext>
            </a:extLst>
          </p:cNvPr>
          <p:cNvSpPr txBox="1"/>
          <p:nvPr/>
        </p:nvSpPr>
        <p:spPr>
          <a:xfrm>
            <a:off x="3699190" y="2395769"/>
            <a:ext cx="2081054" cy="830997"/>
          </a:xfrm>
          <a:prstGeom prst="rect">
            <a:avLst/>
          </a:prstGeom>
          <a:noFill/>
        </p:spPr>
        <p:txBody>
          <a:bodyPr wrap="square" lIns="0" tIns="0" rIns="0" bIns="0">
            <a:spAutoFit/>
          </a:bodyPr>
          <a:lstStyle/>
          <a:p>
            <a:pPr algn="ctr"/>
            <a:r>
              <a:rPr kumimoji="0" lang="en-US" sz="1800" b="0" i="0" u="none" strike="noStrike" kern="1200" cap="none" normalizeH="0" baseline="0" noProof="0">
                <a:ln>
                  <a:noFill/>
                </a:ln>
                <a:effectLst/>
                <a:uLnTx/>
                <a:uFillTx/>
                <a:ea typeface="+mn-ea"/>
                <a:cs typeface="+mn-cs"/>
              </a:rPr>
              <a:t>SharePoint Admin sets this property to a site via PS cmdlet</a:t>
            </a:r>
          </a:p>
        </p:txBody>
      </p:sp>
      <p:sp>
        <p:nvSpPr>
          <p:cNvPr id="18" name="Rounded Rectangle 11">
            <a:extLst>
              <a:ext uri="{FF2B5EF4-FFF2-40B4-BE49-F238E27FC236}">
                <a16:creationId xmlns:a16="http://schemas.microsoft.com/office/drawing/2014/main" id="{B8C9461B-74B2-0C31-FCC5-6AAF9427301B}"/>
              </a:ext>
              <a:ext uri="{C183D7F6-B498-43B3-948B-1728B52AA6E4}">
                <adec:decorative xmlns:adec="http://schemas.microsoft.com/office/drawing/2017/decorative" val="1"/>
              </a:ext>
            </a:extLst>
          </p:cNvPr>
          <p:cNvSpPr/>
          <p:nvPr/>
        </p:nvSpPr>
        <p:spPr bwMode="auto">
          <a:xfrm>
            <a:off x="7173980" y="148235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lang="en-US" sz="2400" b="1">
                <a:solidFill>
                  <a:schemeClr val="bg1"/>
                </a:solidFill>
              </a:rPr>
              <a:t>3</a:t>
            </a:r>
          </a:p>
        </p:txBody>
      </p:sp>
      <p:sp>
        <p:nvSpPr>
          <p:cNvPr id="44" name="TextBox 43">
            <a:extLst>
              <a:ext uri="{FF2B5EF4-FFF2-40B4-BE49-F238E27FC236}">
                <a16:creationId xmlns:a16="http://schemas.microsoft.com/office/drawing/2014/main" id="{45910FF5-D15C-E23A-6448-29B1EBB3AE95}"/>
              </a:ext>
            </a:extLst>
          </p:cNvPr>
          <p:cNvSpPr txBox="1"/>
          <p:nvPr/>
        </p:nvSpPr>
        <p:spPr>
          <a:xfrm>
            <a:off x="6408575" y="2395769"/>
            <a:ext cx="2081054" cy="1384995"/>
          </a:xfrm>
          <a:prstGeom prst="rect">
            <a:avLst/>
          </a:prstGeom>
          <a:noFill/>
        </p:spPr>
        <p:txBody>
          <a:bodyPr wrap="square" lIns="0" tIns="0" rIns="0" bIns="0">
            <a:spAutoFit/>
          </a:bodyPr>
          <a:lstStyle/>
          <a:p>
            <a:pPr algn="ctr"/>
            <a:r>
              <a:rPr kumimoji="0" lang="en-US" sz="1800" b="0" i="0" u="none" strike="noStrike" kern="1200" cap="none" normalizeH="0" baseline="0" noProof="0">
                <a:ln>
                  <a:noFill/>
                </a:ln>
                <a:effectLst/>
                <a:uLnTx/>
                <a:uFillTx/>
                <a:ea typeface="+mn-ea"/>
                <a:cs typeface="+mn-cs"/>
              </a:rPr>
              <a:t>There is no change to the site’s permissions! &gt; Users continue to have physical access</a:t>
            </a:r>
          </a:p>
        </p:txBody>
      </p:sp>
      <p:sp>
        <p:nvSpPr>
          <p:cNvPr id="19" name="Rounded Rectangle 11">
            <a:extLst>
              <a:ext uri="{FF2B5EF4-FFF2-40B4-BE49-F238E27FC236}">
                <a16:creationId xmlns:a16="http://schemas.microsoft.com/office/drawing/2014/main" id="{90D18212-8E13-63D0-E8A9-1BEBF08C76D2}"/>
              </a:ext>
              <a:ext uri="{C183D7F6-B498-43B3-948B-1728B52AA6E4}">
                <adec:decorative xmlns:adec="http://schemas.microsoft.com/office/drawing/2017/decorative" val="1"/>
              </a:ext>
            </a:extLst>
          </p:cNvPr>
          <p:cNvSpPr/>
          <p:nvPr/>
        </p:nvSpPr>
        <p:spPr bwMode="auto">
          <a:xfrm>
            <a:off x="9883365" y="1482355"/>
            <a:ext cx="550246" cy="550246"/>
          </a:xfrm>
          <a:prstGeom prst="flowChartConnector">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lang="en-US" sz="2400" b="1">
                <a:solidFill>
                  <a:schemeClr val="bg1"/>
                </a:solidFill>
              </a:rPr>
              <a:t>4</a:t>
            </a:r>
          </a:p>
        </p:txBody>
      </p:sp>
      <p:sp>
        <p:nvSpPr>
          <p:cNvPr id="45" name="TextBox 44">
            <a:extLst>
              <a:ext uri="{FF2B5EF4-FFF2-40B4-BE49-F238E27FC236}">
                <a16:creationId xmlns:a16="http://schemas.microsoft.com/office/drawing/2014/main" id="{7E6C1CA2-F25B-7C58-BCD4-3D7E7560BD29}"/>
              </a:ext>
            </a:extLst>
          </p:cNvPr>
          <p:cNvSpPr txBox="1"/>
          <p:nvPr/>
        </p:nvSpPr>
        <p:spPr>
          <a:xfrm>
            <a:off x="9117961" y="2395769"/>
            <a:ext cx="2081054" cy="2215991"/>
          </a:xfrm>
          <a:prstGeom prst="rect">
            <a:avLst/>
          </a:prstGeom>
          <a:noFill/>
        </p:spPr>
        <p:txBody>
          <a:bodyPr wrap="square" lIns="0" tIns="0" rIns="0" bIns="0">
            <a:spAutoFit/>
          </a:bodyPr>
          <a:lstStyle/>
          <a:p>
            <a:pPr algn="ctr"/>
            <a:r>
              <a:rPr kumimoji="0" lang="en-US" sz="1800" b="0" i="0" u="none" strike="noStrike" kern="1200" cap="none" normalizeH="0" baseline="0" noProof="0">
                <a:ln>
                  <a:noFill/>
                </a:ln>
                <a:effectLst/>
                <a:uLnTx/>
                <a:uFillTx/>
                <a:ea typeface="+mn-ea"/>
                <a:cs typeface="+mn-cs"/>
              </a:rPr>
              <a:t>Contents of the site gets reindexed** – as a result contents are security </a:t>
            </a:r>
            <a:br>
              <a:rPr kumimoji="0" lang="en-US" sz="1800" b="0" i="0" u="none" strike="noStrike" kern="1200" cap="none" normalizeH="0" baseline="0" noProof="0">
                <a:ln>
                  <a:noFill/>
                </a:ln>
                <a:effectLst/>
                <a:uLnTx/>
                <a:uFillTx/>
                <a:ea typeface="+mn-ea"/>
                <a:cs typeface="+mn-cs"/>
              </a:rPr>
            </a:br>
            <a:r>
              <a:rPr kumimoji="0" lang="en-US" sz="1800" b="0" i="0" u="none" strike="noStrike" kern="1200" cap="none" normalizeH="0" baseline="0" noProof="0">
                <a:ln>
                  <a:noFill/>
                </a:ln>
                <a:effectLst/>
                <a:uLnTx/>
                <a:uFillTx/>
                <a:ea typeface="+mn-ea"/>
                <a:cs typeface="+mn-cs"/>
              </a:rPr>
              <a:t>trimmed and </a:t>
            </a:r>
            <a:r>
              <a:rPr lang="en-US" sz="1800">
                <a:solidFill>
                  <a:schemeClr val="accent1"/>
                </a:solidFill>
                <a:latin typeface="+mj-lt"/>
              </a:rPr>
              <a:t>not discoverable via Copilot and tenant-wide search</a:t>
            </a:r>
          </a:p>
        </p:txBody>
      </p:sp>
      <p:sp>
        <p:nvSpPr>
          <p:cNvPr id="13" name="Rounded Rectangle 11">
            <a:extLst>
              <a:ext uri="{FF2B5EF4-FFF2-40B4-BE49-F238E27FC236}">
                <a16:creationId xmlns:a16="http://schemas.microsoft.com/office/drawing/2014/main" id="{B3A539E1-058D-DF84-E0D2-EA56169091A2}"/>
              </a:ext>
              <a:ext uri="{C183D7F6-B498-43B3-948B-1728B52AA6E4}">
                <adec:decorative xmlns:adec="http://schemas.microsoft.com/office/drawing/2017/decorative" val="0"/>
              </a:ext>
            </a:extLst>
          </p:cNvPr>
          <p:cNvSpPr>
            <a:spLocks/>
          </p:cNvSpPr>
          <p:nvPr/>
        </p:nvSpPr>
        <p:spPr bwMode="auto">
          <a:xfrm>
            <a:off x="584200" y="5753100"/>
            <a:ext cx="11020425" cy="302254"/>
          </a:xfrm>
          <a:prstGeom prst="roundRect">
            <a:avLst>
              <a:gd name="adj" fmla="val 50000"/>
            </a:avLst>
          </a:prstGeom>
          <a:solidFill>
            <a:srgbClr val="49C5B1"/>
          </a:solidFill>
          <a:effectLst>
            <a:outerShdw blurRad="63500" algn="tl" rotWithShape="0">
              <a:srgbClr val="000000">
                <a:alpha val="20000"/>
              </a:srgbClr>
            </a:outerShdw>
          </a:effectLst>
        </p:spPr>
        <p:txBody>
          <a:bodyPr wrap="square" lIns="0" tIns="0" rIns="0" bIns="0" rtlCol="0" anchor="ctr" anchorCtr="0">
            <a:noAutofit/>
          </a:bodyPr>
          <a:lstStyle/>
          <a:p>
            <a:pPr algn="ctr" fontAlgn="base">
              <a:spcBef>
                <a:spcPct val="0"/>
              </a:spcBef>
              <a:spcAft>
                <a:spcPts val="1200"/>
              </a:spcAft>
              <a:buSzPct val="90000"/>
            </a:pPr>
            <a:r>
              <a:rPr kumimoji="0" lang="en-US" sz="1400" i="0" u="none" strike="noStrike" kern="1200" cap="none" normalizeH="0" baseline="0" noProof="0">
                <a:ln>
                  <a:noFill/>
                </a:ln>
                <a:solidFill>
                  <a:schemeClr val="tx2"/>
                </a:solidFill>
                <a:effectLst/>
                <a:uLnTx/>
                <a:uFillTx/>
                <a:latin typeface="+mj-lt"/>
                <a:ea typeface="+mn-ea"/>
                <a:cs typeface="Segoe UI"/>
              </a:rPr>
              <a:t>Public preview </a:t>
            </a:r>
          </a:p>
        </p:txBody>
      </p:sp>
      <p:sp>
        <p:nvSpPr>
          <p:cNvPr id="7" name="TextBox 6">
            <a:extLst>
              <a:ext uri="{FF2B5EF4-FFF2-40B4-BE49-F238E27FC236}">
                <a16:creationId xmlns:a16="http://schemas.microsoft.com/office/drawing/2014/main" id="{011F670F-5FBF-6C17-3DE5-EED451B2B495}"/>
              </a:ext>
            </a:extLst>
          </p:cNvPr>
          <p:cNvSpPr txBox="1">
            <a:spLocks/>
          </p:cNvSpPr>
          <p:nvPr/>
        </p:nvSpPr>
        <p:spPr>
          <a:xfrm>
            <a:off x="588962" y="6192844"/>
            <a:ext cx="5329985" cy="184666"/>
          </a:xfrm>
          <a:prstGeom prst="rect">
            <a:avLst/>
          </a:prstGeom>
          <a:noFill/>
        </p:spPr>
        <p:txBody>
          <a:bodyPr wrap="none" lIns="0" tIns="0" rIns="0" bIns="0">
            <a:spAutoFit/>
          </a:bodyPr>
          <a:lstStyle/>
          <a:p>
            <a:pPr marL="0" marR="0" lvl="0" indent="0" algn="l" defTabSz="914367" rtl="0" eaLnBrk="1" fontAlgn="auto" latinLnBrk="0" hangingPunct="1">
              <a:spcBef>
                <a:spcPts val="0"/>
              </a:spcBef>
              <a:spcAft>
                <a:spcPts val="0"/>
              </a:spcAft>
              <a:buClrTx/>
              <a:buSzTx/>
              <a:buFontTx/>
              <a:buNone/>
              <a:tabLst>
                <a:tab pos="457200" algn="l"/>
              </a:tabLst>
              <a:defRPr/>
            </a:pPr>
            <a:r>
              <a:rPr kumimoji="0" lang="en-US" sz="1200" b="1" i="0" u="none" strike="noStrike" kern="1200" cap="none" normalizeH="0" baseline="0" noProof="0">
                <a:ln>
                  <a:noFill/>
                </a:ln>
                <a:effectLst/>
                <a:uLnTx/>
                <a:uFillTx/>
                <a:ea typeface="+mn-ea"/>
                <a:cs typeface="+mn-cs"/>
              </a:rPr>
              <a:t>**</a:t>
            </a:r>
            <a:r>
              <a:rPr kumimoji="0" lang="en-US" sz="1200" b="0" i="1" u="none" strike="noStrike" kern="1200" cap="none" normalizeH="0" baseline="0" noProof="0">
                <a:ln>
                  <a:noFill/>
                </a:ln>
                <a:effectLst/>
                <a:uLnTx/>
                <a:uFillTx/>
                <a:ea typeface="+mn-ea"/>
                <a:cs typeface="+mn-cs"/>
              </a:rPr>
              <a:t>Standard indexing delays apply, especially with site with large number of files</a:t>
            </a:r>
            <a:endParaRPr kumimoji="0" lang="en-US" sz="1200" b="0" i="1" u="none" strike="noStrike" kern="1200" cap="none" normalizeH="0" baseline="0" noProof="0">
              <a:ln>
                <a:noFill/>
              </a:ln>
              <a:effectLst/>
              <a:uLnTx/>
              <a:uFillTx/>
              <a:ea typeface="Aptos" panose="020B0004020202020204" pitchFamily="34" charset="0"/>
              <a:cs typeface="Aptos" panose="020B0004020202020204" pitchFamily="34" charset="0"/>
            </a:endParaRPr>
          </a:p>
        </p:txBody>
      </p:sp>
      <p:graphicFrame>
        <p:nvGraphicFramePr>
          <p:cNvPr id="3" name="Table 2">
            <a:extLst>
              <a:ext uri="{FF2B5EF4-FFF2-40B4-BE49-F238E27FC236}">
                <a16:creationId xmlns:a16="http://schemas.microsoft.com/office/drawing/2014/main" id="{88CBF027-3F29-3C08-84A0-CA263B2CD438}"/>
              </a:ext>
              <a:ext uri="{C183D7F6-B498-43B3-948B-1728B52AA6E4}">
                <adec:decorative xmlns:adec="http://schemas.microsoft.com/office/drawing/2017/decorative" val="1"/>
              </a:ext>
            </a:extLst>
          </p:cNvPr>
          <p:cNvGraphicFramePr>
            <a:graphicFrameLocks noGrp="1"/>
          </p:cNvGraphicFramePr>
          <p:nvPr/>
        </p:nvGraphicFramePr>
        <p:xfrm>
          <a:off x="946804" y="4887299"/>
          <a:ext cx="10252211" cy="601936"/>
        </p:xfrm>
        <a:graphic>
          <a:graphicData uri="http://schemas.openxmlformats.org/drawingml/2006/table">
            <a:tbl>
              <a:tblPr firstRow="1" firstCol="1"/>
              <a:tblGrid>
                <a:gridCol w="10252211">
                  <a:extLst>
                    <a:ext uri="{9D8B030D-6E8A-4147-A177-3AD203B41FA5}">
                      <a16:colId xmlns:a16="http://schemas.microsoft.com/office/drawing/2014/main" val="2947987156"/>
                    </a:ext>
                  </a:extLst>
                </a:gridCol>
              </a:tblGrid>
              <a:tr h="601936">
                <a:tc>
                  <a:txBody>
                    <a:bodyPr/>
                    <a:lstStyle/>
                    <a:p>
                      <a:pPr marL="0" marR="0" indent="0" algn="l">
                        <a:lnSpc>
                          <a:spcPct val="115000"/>
                        </a:lnSpc>
                        <a:spcBef>
                          <a:spcPts val="0"/>
                        </a:spcBef>
                        <a:spcAft>
                          <a:spcPts val="0"/>
                        </a:spcAft>
                        <a:buFont typeface="Wingdings" panose="05000000000000000000" pitchFamily="2" charset="2"/>
                        <a:buNone/>
                      </a:pPr>
                      <a:r>
                        <a:rPr lang="en-US" sz="2000" b="0" kern="100">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&gt;Set-</a:t>
                      </a:r>
                      <a:r>
                        <a:rPr lang="en-US" sz="2000" b="0" kern="100" err="1">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SPOSite</a:t>
                      </a:r>
                      <a:r>
                        <a:rPr lang="en-US" sz="2000" b="1" kern="100">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 </a:t>
                      </a:r>
                      <a:r>
                        <a:rPr lang="en-US" sz="2000" kern="100">
                          <a:solidFill>
                            <a:srgbClr val="00B0F0"/>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–Identity</a:t>
                      </a:r>
                      <a:r>
                        <a:rPr lang="en-US" sz="2000" kern="100">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 </a:t>
                      </a:r>
                      <a:r>
                        <a:rPr lang="en-US" sz="2000" i="1" kern="100">
                          <a:solidFill>
                            <a:srgbClr val="D86DCB"/>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&lt;site-</a:t>
                      </a:r>
                      <a:r>
                        <a:rPr lang="en-US" sz="2000" i="1" kern="100" err="1">
                          <a:solidFill>
                            <a:srgbClr val="D86DCB"/>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url</a:t>
                      </a:r>
                      <a:r>
                        <a:rPr lang="en-US" sz="2000" i="1" kern="100">
                          <a:solidFill>
                            <a:srgbClr val="D86DCB"/>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&gt;</a:t>
                      </a:r>
                      <a:r>
                        <a:rPr lang="en-US" sz="2000" i="1" kern="100">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 </a:t>
                      </a:r>
                      <a:r>
                        <a:rPr lang="en-US" sz="2000" b="1" kern="100">
                          <a:solidFill>
                            <a:srgbClr val="FFFFFF"/>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a:t>
                      </a:r>
                      <a:r>
                        <a:rPr lang="en-US" sz="2000" b="1" kern="100" err="1">
                          <a:solidFill>
                            <a:srgbClr val="00B0F0"/>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RestrictContentOrgWideSearch</a:t>
                      </a:r>
                      <a:r>
                        <a:rPr lang="en-US" sz="2000" kern="100">
                          <a:solidFill>
                            <a:srgbClr val="00B0F0"/>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 </a:t>
                      </a:r>
                      <a:r>
                        <a:rPr lang="en-US" sz="2000" kern="100">
                          <a:solidFill>
                            <a:srgbClr val="D86DCB"/>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rPr>
                        <a:t>$true</a:t>
                      </a:r>
                      <a:endParaRPr lang="en-US" sz="2000" kern="100">
                        <a:effectLst/>
                        <a:highlight>
                          <a:srgbClr val="000000"/>
                        </a:highligh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2970140"/>
                  </a:ext>
                </a:extLst>
              </a:tr>
            </a:tbl>
          </a:graphicData>
        </a:graphic>
      </p:graphicFrame>
    </p:spTree>
    <p:extLst>
      <p:ext uri="{BB962C8B-B14F-4D97-AF65-F5344CB8AC3E}">
        <p14:creationId xmlns:p14="http://schemas.microsoft.com/office/powerpoint/2010/main" val="2165511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23AA0-9EB3-79C0-E8D8-647CAC7633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AF80C1-CE62-FB28-C625-5ED8F6141184}"/>
              </a:ext>
              <a:ext uri="{C183D7F6-B498-43B3-948B-1728B52AA6E4}">
                <adec:decorative xmlns:adec="http://schemas.microsoft.com/office/drawing/2017/decorative" val="1"/>
              </a:ext>
            </a:extLst>
          </p:cNvPr>
          <p:cNvSpPr>
            <a:spLocks noGrp="1"/>
          </p:cNvSpPr>
          <p:nvPr>
            <p:ph type="title"/>
          </p:nvPr>
        </p:nvSpPr>
        <p:spPr/>
        <p:txBody>
          <a:bodyPr>
            <a:normAutofit fontScale="90000"/>
          </a:bodyPr>
          <a:lstStyle/>
          <a:p>
            <a:r>
              <a:rPr lang="en-US"/>
              <a:t>RCD [DEMO]</a:t>
            </a:r>
          </a:p>
        </p:txBody>
      </p:sp>
      <p:sp>
        <p:nvSpPr>
          <p:cNvPr id="7" name="Text Placeholder 6">
            <a:extLst>
              <a:ext uri="{FF2B5EF4-FFF2-40B4-BE49-F238E27FC236}">
                <a16:creationId xmlns:a16="http://schemas.microsoft.com/office/drawing/2014/main" id="{8554591F-3C35-1AA8-E790-E9F36EE5CA04}"/>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709E5EB7-EE58-0099-4C83-2B221002AE14}"/>
              </a:ext>
              <a:ext uri="{C183D7F6-B498-43B3-948B-1728B52AA6E4}">
                <adec:decorative xmlns:adec="http://schemas.microsoft.com/office/drawing/2017/decorative" val="1"/>
              </a:ext>
            </a:extLst>
          </p:cNvPr>
          <p:cNvSpPr>
            <a:spLocks noGrp="1"/>
          </p:cNvSpPr>
          <p:nvPr>
            <p:ph type="body" sz="quarter" idx="11"/>
          </p:nvPr>
        </p:nvSpPr>
        <p:spPr/>
        <p:txBody>
          <a:bodyPr>
            <a:normAutofit fontScale="92500" lnSpcReduction="10000"/>
          </a:bodyPr>
          <a:lstStyle/>
          <a:p>
            <a:endParaRPr lang="en-US"/>
          </a:p>
        </p:txBody>
      </p:sp>
      <p:sp>
        <p:nvSpPr>
          <p:cNvPr id="5" name="Content Placeholder 4">
            <a:extLst>
              <a:ext uri="{FF2B5EF4-FFF2-40B4-BE49-F238E27FC236}">
                <a16:creationId xmlns:a16="http://schemas.microsoft.com/office/drawing/2014/main" id="{67A29D32-E7B9-6F37-CA6A-FBD8EE1432C5}"/>
              </a:ext>
              <a:ext uri="{C183D7F6-B498-43B3-948B-1728B52AA6E4}">
                <adec:decorative xmlns:adec="http://schemas.microsoft.com/office/drawing/2017/decorative" val="1"/>
              </a:ext>
            </a:extLst>
          </p:cNvPr>
          <p:cNvSpPr>
            <a:spLocks noGrp="1"/>
          </p:cNvSpPr>
          <p:nvPr>
            <p:ph type="body" sz="quarter" idx="10"/>
          </p:nvPr>
        </p:nvSpPr>
        <p:spPr/>
        <p:txBody>
          <a:bodyPr/>
          <a:lstStyle/>
          <a:p>
            <a:r>
              <a:rPr lang="en-US"/>
              <a:t> </a:t>
            </a:r>
          </a:p>
        </p:txBody>
      </p:sp>
      <p:pic>
        <p:nvPicPr>
          <p:cNvPr id="2" name="Picture 1">
            <a:extLst>
              <a:ext uri="{FF2B5EF4-FFF2-40B4-BE49-F238E27FC236}">
                <a16:creationId xmlns:a16="http://schemas.microsoft.com/office/drawing/2014/main" id="{08303228-D723-C8CA-7543-E1087543C2D8}"/>
              </a:ext>
              <a:ext uri="{C183D7F6-B498-43B3-948B-1728B52AA6E4}">
                <adec:decorative xmlns:adec="http://schemas.microsoft.com/office/drawing/2017/decorative" val="1"/>
              </a:ext>
            </a:extLst>
          </p:cNvPr>
          <p:cNvPicPr>
            <a:picLocks noChangeAspect="1"/>
          </p:cNvPicPr>
          <p:nvPr/>
        </p:nvPicPr>
        <p:blipFill>
          <a:blip r:embed="rId3"/>
          <a:srcRect b="8319"/>
          <a:stretch/>
        </p:blipFill>
        <p:spPr>
          <a:xfrm>
            <a:off x="0" y="0"/>
            <a:ext cx="12212846" cy="6858000"/>
          </a:xfrm>
          <a:prstGeom prst="rect">
            <a:avLst/>
          </a:prstGeom>
          <a:ln>
            <a:solidFill>
              <a:srgbClr val="E8E6DF"/>
            </a:solidFill>
          </a:ln>
        </p:spPr>
      </p:pic>
    </p:spTree>
    <p:extLst>
      <p:ext uri="{BB962C8B-B14F-4D97-AF65-F5344CB8AC3E}">
        <p14:creationId xmlns:p14="http://schemas.microsoft.com/office/powerpoint/2010/main" val="2949085656"/>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06246-4C12-7F70-E26D-67A2BDE20C9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732E52A4-A792-AC39-81F6-2282531114BF}"/>
              </a:ext>
              <a:ext uri="{C183D7F6-B498-43B3-948B-1728B52AA6E4}">
                <adec:decorative xmlns:adec="http://schemas.microsoft.com/office/drawing/2017/decorative" val="1"/>
              </a:ext>
            </a:extLst>
          </p:cNvPr>
          <p:cNvGrpSpPr/>
          <p:nvPr/>
        </p:nvGrpSpPr>
        <p:grpSpPr>
          <a:xfrm>
            <a:off x="535793" y="242316"/>
            <a:ext cx="11120415" cy="6138321"/>
            <a:chOff x="-16329" y="0"/>
            <a:chExt cx="11997871" cy="6858000"/>
          </a:xfrm>
        </p:grpSpPr>
        <p:pic>
          <p:nvPicPr>
            <p:cNvPr id="9" name="Picture 8">
              <a:extLst>
                <a:ext uri="{FF2B5EF4-FFF2-40B4-BE49-F238E27FC236}">
                  <a16:creationId xmlns:a16="http://schemas.microsoft.com/office/drawing/2014/main" id="{4FE48509-5918-F5AE-7A8D-593F3A4C291B}"/>
                </a:ext>
              </a:extLst>
            </p:cNvPr>
            <p:cNvPicPr>
              <a:picLocks noChangeAspect="1"/>
            </p:cNvPicPr>
            <p:nvPr/>
          </p:nvPicPr>
          <p:blipFill>
            <a:blip r:embed="rId3"/>
            <a:stretch>
              <a:fillRect/>
            </a:stretch>
          </p:blipFill>
          <p:spPr>
            <a:xfrm>
              <a:off x="-16329" y="0"/>
              <a:ext cx="11997871" cy="6858000"/>
            </a:xfrm>
            <a:prstGeom prst="rect">
              <a:avLst/>
            </a:prstGeom>
          </p:spPr>
        </p:pic>
        <p:grpSp>
          <p:nvGrpSpPr>
            <p:cNvPr id="4" name="Group 3">
              <a:extLst>
                <a:ext uri="{FF2B5EF4-FFF2-40B4-BE49-F238E27FC236}">
                  <a16:creationId xmlns:a16="http://schemas.microsoft.com/office/drawing/2014/main" id="{BEB81112-CF91-D60C-69FC-B2743D13EB21}"/>
                </a:ext>
              </a:extLst>
            </p:cNvPr>
            <p:cNvGrpSpPr/>
            <p:nvPr/>
          </p:nvGrpSpPr>
          <p:grpSpPr>
            <a:xfrm>
              <a:off x="1810316" y="928688"/>
              <a:ext cx="10135463" cy="4817688"/>
              <a:chOff x="1907380" y="928688"/>
              <a:chExt cx="10135463" cy="4817688"/>
            </a:xfrm>
          </p:grpSpPr>
          <p:sp>
            <p:nvSpPr>
              <p:cNvPr id="6" name="Rectangle 5">
                <a:extLst>
                  <a:ext uri="{FF2B5EF4-FFF2-40B4-BE49-F238E27FC236}">
                    <a16:creationId xmlns:a16="http://schemas.microsoft.com/office/drawing/2014/main" id="{3011E868-C7F1-BD87-CB88-311B1906FAF9}"/>
                  </a:ext>
                </a:extLst>
              </p:cNvPr>
              <p:cNvSpPr/>
              <p:nvPr/>
            </p:nvSpPr>
            <p:spPr>
              <a:xfrm>
                <a:off x="1907381" y="1293019"/>
                <a:ext cx="10135462" cy="422924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B838B76-6CDA-E5BB-2702-976DEFB0FCE5}"/>
                  </a:ext>
                </a:extLst>
              </p:cNvPr>
              <p:cNvPicPr>
                <a:picLocks noChangeAspect="1"/>
              </p:cNvPicPr>
              <p:nvPr/>
            </p:nvPicPr>
            <p:blipFill>
              <a:blip r:embed="rId4"/>
              <a:srcRect l="21792" t="19896" r="15707" b="20027"/>
              <a:stretch/>
            </p:blipFill>
            <p:spPr>
              <a:xfrm>
                <a:off x="1907380" y="928688"/>
                <a:ext cx="8779417" cy="4817688"/>
              </a:xfrm>
              <a:prstGeom prst="rect">
                <a:avLst/>
              </a:prstGeom>
            </p:spPr>
          </p:pic>
        </p:grpSp>
        <p:pic>
          <p:nvPicPr>
            <p:cNvPr id="11" name="Picture 10">
              <a:extLst>
                <a:ext uri="{FF2B5EF4-FFF2-40B4-BE49-F238E27FC236}">
                  <a16:creationId xmlns:a16="http://schemas.microsoft.com/office/drawing/2014/main" id="{16D28FDA-188D-5991-8A35-B3B1ED16F571}"/>
                </a:ext>
              </a:extLst>
            </p:cNvPr>
            <p:cNvPicPr>
              <a:picLocks noChangeAspect="1"/>
            </p:cNvPicPr>
            <p:nvPr/>
          </p:nvPicPr>
          <p:blipFill>
            <a:blip r:embed="rId5"/>
            <a:srcRect l="96811" t="9266" r="490" b="86009"/>
            <a:stretch/>
          </p:blipFill>
          <p:spPr>
            <a:xfrm>
              <a:off x="11605193" y="33051"/>
              <a:ext cx="330788" cy="330506"/>
            </a:xfrm>
            <a:prstGeom prst="rect">
              <a:avLst/>
            </a:prstGeom>
          </p:spPr>
        </p:pic>
        <p:cxnSp>
          <p:nvCxnSpPr>
            <p:cNvPr id="5" name="Straight Connector 4">
              <a:extLst>
                <a:ext uri="{FF2B5EF4-FFF2-40B4-BE49-F238E27FC236}">
                  <a16:creationId xmlns:a16="http://schemas.microsoft.com/office/drawing/2014/main" id="{90A352EE-A84D-DCCF-E4D4-D5752EF3EB64}"/>
                </a:ext>
              </a:extLst>
            </p:cNvPr>
            <p:cNvCxnSpPr/>
            <p:nvPr/>
          </p:nvCxnSpPr>
          <p:spPr>
            <a:xfrm>
              <a:off x="3558211" y="4134679"/>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A3F876-FFCD-C2AF-7FE5-EE047D91DC0F}"/>
                </a:ext>
              </a:extLst>
            </p:cNvPr>
            <p:cNvCxnSpPr/>
            <p:nvPr/>
          </p:nvCxnSpPr>
          <p:spPr>
            <a:xfrm>
              <a:off x="6758611" y="4943062"/>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 name="Title 7">
            <a:extLst>
              <a:ext uri="{FF2B5EF4-FFF2-40B4-BE49-F238E27FC236}">
                <a16:creationId xmlns:a16="http://schemas.microsoft.com/office/drawing/2014/main" id="{2633E5F7-FCC4-B939-2019-13E48E2D5C74}"/>
              </a:ext>
            </a:extLst>
          </p:cNvPr>
          <p:cNvSpPr>
            <a:spLocks noGrp="1"/>
          </p:cNvSpPr>
          <p:nvPr>
            <p:ph type="ctrTitle"/>
          </p:nvPr>
        </p:nvSpPr>
        <p:spPr>
          <a:xfrm>
            <a:off x="1524000" y="-923330"/>
            <a:ext cx="9144000" cy="923330"/>
          </a:xfrm>
        </p:spPr>
        <p:txBody>
          <a:bodyPr vert="horz" wrap="square" lIns="0" tIns="0" rIns="0" bIns="0" rtlCol="0" anchor="b">
            <a:spAutoFit/>
          </a:bodyPr>
          <a:lstStyle/>
          <a:p>
            <a:r>
              <a:rPr lang="en-US" dirty="0"/>
              <a:t>10</a:t>
            </a:r>
          </a:p>
        </p:txBody>
      </p:sp>
      <p:sp>
        <p:nvSpPr>
          <p:cNvPr id="2" name="Rectangle 1">
            <a:extLst>
              <a:ext uri="{FF2B5EF4-FFF2-40B4-BE49-F238E27FC236}">
                <a16:creationId xmlns:a16="http://schemas.microsoft.com/office/drawing/2014/main" id="{BCBAE7EB-6365-FDAB-AC9C-767D2E2C6470}"/>
              </a:ext>
            </a:extLst>
          </p:cNvPr>
          <p:cNvSpPr/>
          <p:nvPr/>
        </p:nvSpPr>
        <p:spPr bwMode="auto">
          <a:xfrm>
            <a:off x="940128" y="2851150"/>
            <a:ext cx="2413000" cy="5778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chemeClr val="bg1">
                    <a:lumMod val="50000"/>
                  </a:schemeClr>
                </a:solidFill>
                <a:ea typeface="Segoe UI" pitchFamily="34" charset="0"/>
                <a:cs typeface="Segoe UI" pitchFamily="34" charset="0"/>
              </a:rPr>
              <a:t>Without SAM</a:t>
            </a:r>
          </a:p>
        </p:txBody>
      </p:sp>
    </p:spTree>
    <p:extLst>
      <p:ext uri="{BB962C8B-B14F-4D97-AF65-F5344CB8AC3E}">
        <p14:creationId xmlns:p14="http://schemas.microsoft.com/office/powerpoint/2010/main" val="9366168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572C-7606-DE9D-27E3-28CB03977E7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244F63F-DF29-7B72-4711-C0A0A3F78484}"/>
              </a:ext>
              <a:ext uri="{C183D7F6-B498-43B3-948B-1728B52AA6E4}">
                <adec:decorative xmlns:adec="http://schemas.microsoft.com/office/drawing/2017/decorative" val="1"/>
              </a:ext>
            </a:extLst>
          </p:cNvPr>
          <p:cNvGrpSpPr/>
          <p:nvPr/>
        </p:nvGrpSpPr>
        <p:grpSpPr>
          <a:xfrm>
            <a:off x="702453" y="242317"/>
            <a:ext cx="11071971" cy="6138320"/>
            <a:chOff x="-16329" y="0"/>
            <a:chExt cx="11997871" cy="6858000"/>
          </a:xfrm>
        </p:grpSpPr>
        <p:pic>
          <p:nvPicPr>
            <p:cNvPr id="9" name="Picture 8">
              <a:extLst>
                <a:ext uri="{FF2B5EF4-FFF2-40B4-BE49-F238E27FC236}">
                  <a16:creationId xmlns:a16="http://schemas.microsoft.com/office/drawing/2014/main" id="{5808029F-1A7B-6595-BAF7-2A4EE8B29450}"/>
                </a:ext>
              </a:extLst>
            </p:cNvPr>
            <p:cNvPicPr>
              <a:picLocks noChangeAspect="1"/>
            </p:cNvPicPr>
            <p:nvPr/>
          </p:nvPicPr>
          <p:blipFill>
            <a:blip r:embed="rId3"/>
            <a:stretch>
              <a:fillRect/>
            </a:stretch>
          </p:blipFill>
          <p:spPr>
            <a:xfrm>
              <a:off x="-16329" y="0"/>
              <a:ext cx="11997871" cy="6858000"/>
            </a:xfrm>
            <a:prstGeom prst="rect">
              <a:avLst/>
            </a:prstGeom>
          </p:spPr>
        </p:pic>
        <p:sp>
          <p:nvSpPr>
            <p:cNvPr id="6" name="Rectangle 5">
              <a:extLst>
                <a:ext uri="{FF2B5EF4-FFF2-40B4-BE49-F238E27FC236}">
                  <a16:creationId xmlns:a16="http://schemas.microsoft.com/office/drawing/2014/main" id="{AF6D575C-E424-5CDC-5F4B-36E0321CECF2}"/>
                </a:ext>
              </a:extLst>
            </p:cNvPr>
            <p:cNvSpPr/>
            <p:nvPr/>
          </p:nvSpPr>
          <p:spPr>
            <a:xfrm>
              <a:off x="1810317" y="1293019"/>
              <a:ext cx="10135462" cy="422924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85D78F0-B0D6-73F1-6B43-EFF6BF34AC1A}"/>
                </a:ext>
              </a:extLst>
            </p:cNvPr>
            <p:cNvPicPr>
              <a:picLocks noChangeAspect="1"/>
            </p:cNvPicPr>
            <p:nvPr/>
          </p:nvPicPr>
          <p:blipFill>
            <a:blip r:embed="rId4"/>
            <a:srcRect l="96811" t="9266" r="490" b="86009"/>
            <a:stretch/>
          </p:blipFill>
          <p:spPr>
            <a:xfrm>
              <a:off x="11605193" y="33051"/>
              <a:ext cx="330788" cy="330506"/>
            </a:xfrm>
            <a:prstGeom prst="rect">
              <a:avLst/>
            </a:prstGeom>
          </p:spPr>
        </p:pic>
        <p:cxnSp>
          <p:nvCxnSpPr>
            <p:cNvPr id="5" name="Straight Connector 4">
              <a:extLst>
                <a:ext uri="{FF2B5EF4-FFF2-40B4-BE49-F238E27FC236}">
                  <a16:creationId xmlns:a16="http://schemas.microsoft.com/office/drawing/2014/main" id="{252CF043-2E26-84C5-69E6-5F7919685296}"/>
                </a:ext>
              </a:extLst>
            </p:cNvPr>
            <p:cNvCxnSpPr/>
            <p:nvPr/>
          </p:nvCxnSpPr>
          <p:spPr>
            <a:xfrm>
              <a:off x="3558211" y="4134679"/>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8A258A2-A4C9-2A45-6362-7B01C2126E52}"/>
                </a:ext>
              </a:extLst>
            </p:cNvPr>
            <p:cNvCxnSpPr/>
            <p:nvPr/>
          </p:nvCxnSpPr>
          <p:spPr>
            <a:xfrm>
              <a:off x="6758611" y="4943062"/>
              <a:ext cx="1795669" cy="0"/>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2" name="Picture 1">
            <a:extLst>
              <a:ext uri="{FF2B5EF4-FFF2-40B4-BE49-F238E27FC236}">
                <a16:creationId xmlns:a16="http://schemas.microsoft.com/office/drawing/2014/main" id="{6EEE103B-D998-38DC-DB97-63F37A543D1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066250" y="1004031"/>
            <a:ext cx="6344377" cy="4493414"/>
          </a:xfrm>
          <a:prstGeom prst="rect">
            <a:avLst/>
          </a:prstGeom>
        </p:spPr>
      </p:pic>
      <p:sp>
        <p:nvSpPr>
          <p:cNvPr id="3" name="Title 2">
            <a:extLst>
              <a:ext uri="{FF2B5EF4-FFF2-40B4-BE49-F238E27FC236}">
                <a16:creationId xmlns:a16="http://schemas.microsoft.com/office/drawing/2014/main" id="{5E2A9BC2-87D3-6D06-8933-23F6D289562E}"/>
              </a:ext>
            </a:extLst>
          </p:cNvPr>
          <p:cNvSpPr>
            <a:spLocks noGrp="1"/>
          </p:cNvSpPr>
          <p:nvPr>
            <p:ph type="ctrTitle"/>
          </p:nvPr>
        </p:nvSpPr>
        <p:spPr>
          <a:xfrm>
            <a:off x="1524000" y="-923330"/>
            <a:ext cx="9144000" cy="923330"/>
          </a:xfrm>
        </p:spPr>
        <p:txBody>
          <a:bodyPr vert="horz" wrap="square" lIns="0" tIns="0" rIns="0" bIns="0" rtlCol="0" anchor="b">
            <a:spAutoFit/>
          </a:bodyPr>
          <a:lstStyle/>
          <a:p>
            <a:r>
              <a:rPr lang="en-US" dirty="0"/>
              <a:t>11</a:t>
            </a:r>
          </a:p>
        </p:txBody>
      </p:sp>
      <p:sp>
        <p:nvSpPr>
          <p:cNvPr id="12" name="Rectangle 11">
            <a:extLst>
              <a:ext uri="{FF2B5EF4-FFF2-40B4-BE49-F238E27FC236}">
                <a16:creationId xmlns:a16="http://schemas.microsoft.com/office/drawing/2014/main" id="{57311882-5B8D-C4BB-3F2F-13ADFF777474}"/>
              </a:ext>
            </a:extLst>
          </p:cNvPr>
          <p:cNvSpPr/>
          <p:nvPr/>
        </p:nvSpPr>
        <p:spPr bwMode="auto">
          <a:xfrm>
            <a:off x="1000656" y="2851150"/>
            <a:ext cx="2352472" cy="55653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chemeClr val="bg1">
                    <a:lumMod val="50000"/>
                  </a:schemeClr>
                </a:solidFill>
                <a:ea typeface="Segoe UI" pitchFamily="34" charset="0"/>
                <a:cs typeface="Segoe UI" pitchFamily="34" charset="0"/>
              </a:rPr>
              <a:t>With SAM</a:t>
            </a:r>
          </a:p>
        </p:txBody>
      </p:sp>
    </p:spTree>
    <p:extLst>
      <p:ext uri="{BB962C8B-B14F-4D97-AF65-F5344CB8AC3E}">
        <p14:creationId xmlns:p14="http://schemas.microsoft.com/office/powerpoint/2010/main" val="509409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4C1F-A345-0D83-0C89-0DA480E33FF1}"/>
            </a:ext>
          </a:extLst>
        </p:cNvPr>
        <p:cNvGrpSpPr/>
        <p:nvPr/>
      </p:nvGrpSpPr>
      <p:grpSpPr>
        <a:xfrm>
          <a:off x="0" y="0"/>
          <a:ext cx="0" cy="0"/>
          <a:chOff x="0" y="0"/>
          <a:chExt cx="0" cy="0"/>
        </a:xfrm>
      </p:grpSpPr>
      <p:sp>
        <p:nvSpPr>
          <p:cNvPr id="3" name="Rectangle: Rounded Corners 18">
            <a:extLst>
              <a:ext uri="{FF2B5EF4-FFF2-40B4-BE49-F238E27FC236}">
                <a16:creationId xmlns:a16="http://schemas.microsoft.com/office/drawing/2014/main" id="{6E8F8424-6947-751F-0930-2535D72AE057}"/>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 name="Rounded Rectangle 64">
            <a:extLst>
              <a:ext uri="{FF2B5EF4-FFF2-40B4-BE49-F238E27FC236}">
                <a16:creationId xmlns:a16="http://schemas.microsoft.com/office/drawing/2014/main" id="{3A748CE7-D35A-9E24-F103-CDA91BF8D41A}"/>
              </a:ext>
              <a:ext uri="{C183D7F6-B498-43B3-948B-1728B52AA6E4}">
                <adec:decorative xmlns:adec="http://schemas.microsoft.com/office/drawing/2017/decorative" val="1"/>
              </a:ext>
            </a:extLst>
          </p:cNvPr>
          <p:cNvSpPr>
            <a:spLocks/>
          </p:cNvSpPr>
          <p:nvPr/>
        </p:nvSpPr>
        <p:spPr bwMode="auto">
          <a:xfrm>
            <a:off x="4165012" y="585788"/>
            <a:ext cx="7444375" cy="5491162"/>
          </a:xfrm>
          <a:prstGeom prst="roundRect">
            <a:avLst>
              <a:gd name="adj" fmla="val 5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7" name="Rectangle: Rounded Corners 6">
            <a:extLst>
              <a:ext uri="{FF2B5EF4-FFF2-40B4-BE49-F238E27FC236}">
                <a16:creationId xmlns:a16="http://schemas.microsoft.com/office/drawing/2014/main" id="{0FBE4F52-B067-528C-4950-1800F904D543}"/>
              </a:ext>
              <a:ext uri="{C183D7F6-B498-43B3-948B-1728B52AA6E4}">
                <adec:decorative xmlns:adec="http://schemas.microsoft.com/office/drawing/2017/decorative" val="1"/>
              </a:ext>
            </a:extLst>
          </p:cNvPr>
          <p:cNvSpPr/>
          <p:nvPr/>
        </p:nvSpPr>
        <p:spPr bwMode="auto">
          <a:xfrm>
            <a:off x="4347892" y="768668"/>
            <a:ext cx="7078615" cy="5125402"/>
          </a:xfrm>
          <a:prstGeom prst="roundRect">
            <a:avLst>
              <a:gd name="adj" fmla="val 3446"/>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8" name="!!line2">
            <a:extLst>
              <a:ext uri="{FF2B5EF4-FFF2-40B4-BE49-F238E27FC236}">
                <a16:creationId xmlns:a16="http://schemas.microsoft.com/office/drawing/2014/main" id="{524407CF-7626-4C39-D01C-9A3E6EBF0A0A}"/>
              </a:ext>
              <a:ext uri="{C183D7F6-B498-43B3-948B-1728B52AA6E4}">
                <adec:decorative xmlns:adec="http://schemas.microsoft.com/office/drawing/2017/decorative" val="1"/>
              </a:ext>
            </a:extLst>
          </p:cNvPr>
          <p:cNvCxnSpPr>
            <a:cxnSpLocks/>
          </p:cNvCxnSpPr>
          <p:nvPr/>
        </p:nvCxnSpPr>
        <p:spPr>
          <a:xfrm>
            <a:off x="5498655" y="2904620"/>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9" name="!!line2">
            <a:extLst>
              <a:ext uri="{FF2B5EF4-FFF2-40B4-BE49-F238E27FC236}">
                <a16:creationId xmlns:a16="http://schemas.microsoft.com/office/drawing/2014/main" id="{AD483C4E-3CEC-44CF-8F05-4D797AFA92BB}"/>
              </a:ext>
              <a:ext uri="{C183D7F6-B498-43B3-948B-1728B52AA6E4}">
                <adec:decorative xmlns:adec="http://schemas.microsoft.com/office/drawing/2017/decorative" val="1"/>
              </a:ext>
            </a:extLst>
          </p:cNvPr>
          <p:cNvCxnSpPr>
            <a:cxnSpLocks/>
          </p:cNvCxnSpPr>
          <p:nvPr/>
        </p:nvCxnSpPr>
        <p:spPr>
          <a:xfrm>
            <a:off x="5498655" y="1835107"/>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 name="!!line2">
            <a:extLst>
              <a:ext uri="{FF2B5EF4-FFF2-40B4-BE49-F238E27FC236}">
                <a16:creationId xmlns:a16="http://schemas.microsoft.com/office/drawing/2014/main" id="{CB8361F2-3CD0-6FCF-F5A4-8E250F9E7D12}"/>
              </a:ext>
              <a:ext uri="{C183D7F6-B498-43B3-948B-1728B52AA6E4}">
                <adec:decorative xmlns:adec="http://schemas.microsoft.com/office/drawing/2017/decorative" val="1"/>
              </a:ext>
            </a:extLst>
          </p:cNvPr>
          <p:cNvCxnSpPr>
            <a:cxnSpLocks/>
          </p:cNvCxnSpPr>
          <p:nvPr/>
        </p:nvCxnSpPr>
        <p:spPr>
          <a:xfrm>
            <a:off x="5491977" y="39064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6DBD0481-D69A-7BA1-FAFF-F731D26C9B56}"/>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itle 5">
            <a:extLst>
              <a:ext uri="{FF2B5EF4-FFF2-40B4-BE49-F238E27FC236}">
                <a16:creationId xmlns:a16="http://schemas.microsoft.com/office/drawing/2014/main" id="{EED7FAFA-0BA7-80B1-0C20-0ECB9196F10C}"/>
              </a:ext>
            </a:extLst>
          </p:cNvPr>
          <p:cNvSpPr>
            <a:spLocks noGrp="1"/>
          </p:cNvSpPr>
          <p:nvPr>
            <p:ph type="title" idx="4294967295"/>
          </p:nvPr>
        </p:nvSpPr>
        <p:spPr>
          <a:xfrm>
            <a:off x="582613" y="2197894"/>
            <a:ext cx="2546823"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Oversharing</a:t>
            </a:r>
            <a:b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br>
            <a:r>
              <a:rPr kumimoji="0" lang="en-BE" sz="3200" b="0" i="0" u="none" strike="noStrike" kern="1200" cap="none" spc="-50" normalizeH="0" baseline="0" noProof="0" dirty="0">
                <a:ln w="3175">
                  <a:noFill/>
                </a:ln>
                <a:solidFill>
                  <a:schemeClr val="bg1"/>
                </a:solidFill>
                <a:effectLst/>
                <a:uLnTx/>
                <a:uFillTx/>
                <a:latin typeface="+mj-lt"/>
                <a:ea typeface="+mn-ea"/>
                <a:cs typeface="Segoe UI" pitchFamily="34" charset="0"/>
              </a:rPr>
              <a:t>Agenda</a:t>
            </a:r>
            <a:r>
              <a:rPr kumimoji="0" lang="en-US" sz="3200" b="0" i="0" u="none" strike="noStrike" kern="1200" cap="none" spc="-50" normalizeH="0" baseline="0" noProof="0" dirty="0">
                <a:ln w="3175">
                  <a:noFill/>
                </a:ln>
                <a:solidFill>
                  <a:schemeClr val="bg1"/>
                </a:solidFill>
                <a:effectLst/>
                <a:uLnTx/>
                <a:uFillTx/>
                <a:latin typeface="+mj-lt"/>
                <a:ea typeface="+mn-ea"/>
                <a:cs typeface="Segoe UI" pitchFamily="34" charset="0"/>
              </a:rPr>
              <a:t>     </a:t>
            </a:r>
          </a:p>
        </p:txBody>
      </p:sp>
      <p:sp>
        <p:nvSpPr>
          <p:cNvPr id="36" name="Freeform: Shape 35" descr="Icon of a person in front of a screen">
            <a:extLst>
              <a:ext uri="{FF2B5EF4-FFF2-40B4-BE49-F238E27FC236}">
                <a16:creationId xmlns:a16="http://schemas.microsoft.com/office/drawing/2014/main" id="{E7C80A39-D873-DBF7-0367-72955BB88B82}"/>
              </a:ext>
            </a:extLst>
          </p:cNvPr>
          <p:cNvSpPr/>
          <p:nvPr/>
        </p:nvSpPr>
        <p:spPr>
          <a:xfrm>
            <a:off x="829470" y="1225673"/>
            <a:ext cx="363536" cy="363536"/>
          </a:xfrm>
          <a:custGeom>
            <a:avLst/>
            <a:gdLst>
              <a:gd name="connsiteX0" fmla="*/ 146050 w 254000"/>
              <a:gd name="connsiteY0" fmla="*/ 177800 h 254000"/>
              <a:gd name="connsiteX1" fmla="*/ 234950 w 254000"/>
              <a:gd name="connsiteY1" fmla="*/ 177800 h 254000"/>
              <a:gd name="connsiteX2" fmla="*/ 254000 w 254000"/>
              <a:gd name="connsiteY2" fmla="*/ 196850 h 254000"/>
              <a:gd name="connsiteX3" fmla="*/ 254000 w 254000"/>
              <a:gd name="connsiteY3" fmla="*/ 203200 h 254000"/>
              <a:gd name="connsiteX4" fmla="*/ 190500 w 254000"/>
              <a:gd name="connsiteY4" fmla="*/ 254000 h 254000"/>
              <a:gd name="connsiteX5" fmla="*/ 127000 w 254000"/>
              <a:gd name="connsiteY5" fmla="*/ 203200 h 254000"/>
              <a:gd name="connsiteX6" fmla="*/ 127000 w 254000"/>
              <a:gd name="connsiteY6" fmla="*/ 196850 h 254000"/>
              <a:gd name="connsiteX7" fmla="*/ 146050 w 254000"/>
              <a:gd name="connsiteY7" fmla="*/ 177800 h 254000"/>
              <a:gd name="connsiteX8" fmla="*/ 190500 w 254000"/>
              <a:gd name="connsiteY8" fmla="*/ 95250 h 254000"/>
              <a:gd name="connsiteX9" fmla="*/ 225425 w 254000"/>
              <a:gd name="connsiteY9" fmla="*/ 130175 h 254000"/>
              <a:gd name="connsiteX10" fmla="*/ 190500 w 254000"/>
              <a:gd name="connsiteY10" fmla="*/ 165100 h 254000"/>
              <a:gd name="connsiteX11" fmla="*/ 155575 w 254000"/>
              <a:gd name="connsiteY11" fmla="*/ 130175 h 254000"/>
              <a:gd name="connsiteX12" fmla="*/ 190500 w 254000"/>
              <a:gd name="connsiteY12" fmla="*/ 95250 h 254000"/>
              <a:gd name="connsiteX13" fmla="*/ 0 w 254000"/>
              <a:gd name="connsiteY13" fmla="*/ 69850 h 254000"/>
              <a:gd name="connsiteX14" fmla="*/ 228600 w 254000"/>
              <a:gd name="connsiteY14" fmla="*/ 69850 h 254000"/>
              <a:gd name="connsiteX15" fmla="*/ 228600 w 254000"/>
              <a:gd name="connsiteY15" fmla="*/ 101600 h 254000"/>
              <a:gd name="connsiteX16" fmla="*/ 161920 w 254000"/>
              <a:gd name="connsiteY16" fmla="*/ 92108 h 254000"/>
              <a:gd name="connsiteX17" fmla="*/ 152429 w 254000"/>
              <a:gd name="connsiteY17" fmla="*/ 158788 h 254000"/>
              <a:gd name="connsiteX18" fmla="*/ 158115 w 254000"/>
              <a:gd name="connsiteY18" fmla="*/ 165100 h 254000"/>
              <a:gd name="connsiteX19" fmla="*/ 146050 w 254000"/>
              <a:gd name="connsiteY19" fmla="*/ 165100 h 254000"/>
              <a:gd name="connsiteX20" fmla="*/ 114300 w 254000"/>
              <a:gd name="connsiteY20" fmla="*/ 196850 h 254000"/>
              <a:gd name="connsiteX21" fmla="*/ 114300 w 254000"/>
              <a:gd name="connsiteY21" fmla="*/ 203200 h 254000"/>
              <a:gd name="connsiteX22" fmla="*/ 120498 w 254000"/>
              <a:gd name="connsiteY22" fmla="*/ 228600 h 254000"/>
              <a:gd name="connsiteX23" fmla="*/ 41275 w 254000"/>
              <a:gd name="connsiteY23" fmla="*/ 228600 h 254000"/>
              <a:gd name="connsiteX24" fmla="*/ 0 w 254000"/>
              <a:gd name="connsiteY24" fmla="*/ 187325 h 254000"/>
              <a:gd name="connsiteX25" fmla="*/ 41275 w 254000"/>
              <a:gd name="connsiteY25" fmla="*/ 0 h 254000"/>
              <a:gd name="connsiteX26" fmla="*/ 187325 w 254000"/>
              <a:gd name="connsiteY26" fmla="*/ 0 h 254000"/>
              <a:gd name="connsiteX27" fmla="*/ 228600 w 254000"/>
              <a:gd name="connsiteY27" fmla="*/ 41275 h 254000"/>
              <a:gd name="connsiteX28" fmla="*/ 228600 w 254000"/>
              <a:gd name="connsiteY28" fmla="*/ 50800 h 254000"/>
              <a:gd name="connsiteX29" fmla="*/ 0 w 254000"/>
              <a:gd name="connsiteY29" fmla="*/ 50800 h 254000"/>
              <a:gd name="connsiteX30" fmla="*/ 0 w 254000"/>
              <a:gd name="connsiteY30" fmla="*/ 41275 h 254000"/>
              <a:gd name="connsiteX31" fmla="*/ 41275 w 254000"/>
              <a:gd name="connsiteY31"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000" h="254000">
                <a:moveTo>
                  <a:pt x="146050" y="177800"/>
                </a:moveTo>
                <a:lnTo>
                  <a:pt x="234950" y="177800"/>
                </a:lnTo>
                <a:cubicBezTo>
                  <a:pt x="245471" y="177800"/>
                  <a:pt x="254000" y="186329"/>
                  <a:pt x="254000" y="196850"/>
                </a:cubicBezTo>
                <a:lnTo>
                  <a:pt x="254000" y="203200"/>
                </a:lnTo>
                <a:cubicBezTo>
                  <a:pt x="254000" y="228232"/>
                  <a:pt x="230378" y="254000"/>
                  <a:pt x="190500" y="254000"/>
                </a:cubicBezTo>
                <a:cubicBezTo>
                  <a:pt x="150622" y="254000"/>
                  <a:pt x="127000" y="228232"/>
                  <a:pt x="127000" y="203200"/>
                </a:cubicBezTo>
                <a:lnTo>
                  <a:pt x="127000" y="196850"/>
                </a:lnTo>
                <a:cubicBezTo>
                  <a:pt x="127000" y="186329"/>
                  <a:pt x="135529" y="177800"/>
                  <a:pt x="146050" y="177800"/>
                </a:cubicBezTo>
                <a:close/>
                <a:moveTo>
                  <a:pt x="190500" y="95250"/>
                </a:moveTo>
                <a:cubicBezTo>
                  <a:pt x="209789" y="95250"/>
                  <a:pt x="225425" y="110886"/>
                  <a:pt x="225425" y="130175"/>
                </a:cubicBezTo>
                <a:cubicBezTo>
                  <a:pt x="225425" y="149464"/>
                  <a:pt x="209789" y="165100"/>
                  <a:pt x="190500" y="165100"/>
                </a:cubicBezTo>
                <a:cubicBezTo>
                  <a:pt x="171211" y="165100"/>
                  <a:pt x="155575" y="149464"/>
                  <a:pt x="155575" y="130175"/>
                </a:cubicBezTo>
                <a:cubicBezTo>
                  <a:pt x="155575" y="110886"/>
                  <a:pt x="171211" y="95250"/>
                  <a:pt x="190500" y="95250"/>
                </a:cubicBezTo>
                <a:close/>
                <a:moveTo>
                  <a:pt x="0" y="69850"/>
                </a:moveTo>
                <a:lnTo>
                  <a:pt x="228600" y="69850"/>
                </a:lnTo>
                <a:lnTo>
                  <a:pt x="228600" y="101600"/>
                </a:lnTo>
                <a:cubicBezTo>
                  <a:pt x="212808" y="80566"/>
                  <a:pt x="182954" y="76316"/>
                  <a:pt x="161920" y="92108"/>
                </a:cubicBezTo>
                <a:cubicBezTo>
                  <a:pt x="140886" y="107900"/>
                  <a:pt x="136636" y="137754"/>
                  <a:pt x="152429" y="158788"/>
                </a:cubicBezTo>
                <a:cubicBezTo>
                  <a:pt x="154132" y="161057"/>
                  <a:pt x="156035" y="163170"/>
                  <a:pt x="158115" y="165100"/>
                </a:cubicBezTo>
                <a:lnTo>
                  <a:pt x="146050" y="165100"/>
                </a:lnTo>
                <a:cubicBezTo>
                  <a:pt x="128515" y="165100"/>
                  <a:pt x="114300" y="179315"/>
                  <a:pt x="114300" y="196850"/>
                </a:cubicBezTo>
                <a:lnTo>
                  <a:pt x="114300" y="203200"/>
                </a:lnTo>
                <a:cubicBezTo>
                  <a:pt x="114300" y="212090"/>
                  <a:pt x="116459" y="220713"/>
                  <a:pt x="120498" y="228600"/>
                </a:cubicBezTo>
                <a:lnTo>
                  <a:pt x="41275" y="228600"/>
                </a:lnTo>
                <a:cubicBezTo>
                  <a:pt x="18479" y="228600"/>
                  <a:pt x="0" y="210121"/>
                  <a:pt x="0" y="187325"/>
                </a:cubicBezTo>
                <a:close/>
                <a:moveTo>
                  <a:pt x="41275" y="0"/>
                </a:moveTo>
                <a:lnTo>
                  <a:pt x="187325" y="0"/>
                </a:lnTo>
                <a:cubicBezTo>
                  <a:pt x="210121" y="0"/>
                  <a:pt x="228600" y="18479"/>
                  <a:pt x="228600" y="41275"/>
                </a:cubicBezTo>
                <a:lnTo>
                  <a:pt x="228600" y="50800"/>
                </a:lnTo>
                <a:lnTo>
                  <a:pt x="0" y="50800"/>
                </a:lnTo>
                <a:lnTo>
                  <a:pt x="0" y="41275"/>
                </a:lnTo>
                <a:cubicBezTo>
                  <a:pt x="0" y="18479"/>
                  <a:pt x="18479" y="0"/>
                  <a:pt x="41275" y="0"/>
                </a:cubicBezTo>
                <a:close/>
              </a:path>
            </a:pathLst>
          </a:cu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Oval 25">
            <a:extLst>
              <a:ext uri="{FF2B5EF4-FFF2-40B4-BE49-F238E27FC236}">
                <a16:creationId xmlns:a16="http://schemas.microsoft.com/office/drawing/2014/main" id="{CBFF3DD5-BBAA-1323-8602-233711FC9A69}"/>
              </a:ext>
            </a:extLst>
          </p:cNvPr>
          <p:cNvSpPr/>
          <p:nvPr/>
        </p:nvSpPr>
        <p:spPr bwMode="auto">
          <a:xfrm>
            <a:off x="4645898" y="1076457"/>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13" name="Text Placeholder 6">
            <a:extLst>
              <a:ext uri="{FF2B5EF4-FFF2-40B4-BE49-F238E27FC236}">
                <a16:creationId xmlns:a16="http://schemas.microsoft.com/office/drawing/2014/main" id="{F2A50F70-018C-C3CA-90DF-B78C0DCE12CE}"/>
              </a:ext>
            </a:extLst>
          </p:cNvPr>
          <p:cNvSpPr txBox="1">
            <a:spLocks/>
          </p:cNvSpPr>
          <p:nvPr/>
        </p:nvSpPr>
        <p:spPr>
          <a:xfrm>
            <a:off x="5475043" y="1123563"/>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Intro to O</a:t>
            </a:r>
            <a:r>
              <a:rPr kumimoji="0" lang="en-US" sz="2400" b="0" i="0" u="none" strike="noStrike" kern="1200" cap="none" spc="0" normalizeH="0" baseline="0" noProof="0" err="1">
                <a:ln>
                  <a:noFill/>
                </a:ln>
                <a:solidFill>
                  <a:srgbClr val="000000"/>
                </a:solidFill>
                <a:effectLst/>
                <a:uLnTx/>
                <a:uFillTx/>
                <a:latin typeface="Segoe UI"/>
                <a:ea typeface="+mn-ea"/>
                <a:cs typeface="+mn-cs"/>
              </a:rPr>
              <a:t>versharing</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Oval 23">
            <a:extLst>
              <a:ext uri="{FF2B5EF4-FFF2-40B4-BE49-F238E27FC236}">
                <a16:creationId xmlns:a16="http://schemas.microsoft.com/office/drawing/2014/main" id="{1E659509-898B-D3BC-74A5-3AFFB4D4BA61}"/>
              </a:ext>
            </a:extLst>
          </p:cNvPr>
          <p:cNvSpPr/>
          <p:nvPr/>
        </p:nvSpPr>
        <p:spPr bwMode="auto">
          <a:xfrm>
            <a:off x="4639220" y="21051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15" name="Text Placeholder 6">
            <a:extLst>
              <a:ext uri="{FF2B5EF4-FFF2-40B4-BE49-F238E27FC236}">
                <a16:creationId xmlns:a16="http://schemas.microsoft.com/office/drawing/2014/main" id="{0E024A91-E980-2250-D3C9-370DA2C99D4A}"/>
              </a:ext>
            </a:extLst>
          </p:cNvPr>
          <p:cNvSpPr txBox="1">
            <a:spLocks/>
          </p:cNvSpPr>
          <p:nvPr/>
        </p:nvSpPr>
        <p:spPr>
          <a:xfrm>
            <a:off x="5491977" y="2197894"/>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dirty="0">
                <a:ln>
                  <a:noFill/>
                </a:ln>
                <a:solidFill>
                  <a:srgbClr val="000000"/>
                </a:solidFill>
                <a:effectLst/>
                <a:uLnTx/>
                <a:uFillTx/>
                <a:latin typeface="Segoe UI"/>
                <a:ea typeface="+mn-ea"/>
                <a:cs typeface="+mn-cs"/>
              </a:rPr>
              <a:t>Oversharing Blueprint</a:t>
            </a:r>
            <a:endParaRPr kumimoji="0" lang="en-US" sz="2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2" name="Oval 21">
            <a:extLst>
              <a:ext uri="{FF2B5EF4-FFF2-40B4-BE49-F238E27FC236}">
                <a16:creationId xmlns:a16="http://schemas.microsoft.com/office/drawing/2014/main" id="{F08DD641-CA38-EFCB-ADE0-1DA6B3250BB3}"/>
              </a:ext>
            </a:extLst>
          </p:cNvPr>
          <p:cNvSpPr/>
          <p:nvPr/>
        </p:nvSpPr>
        <p:spPr bwMode="auto">
          <a:xfrm>
            <a:off x="4639220" y="3133913"/>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17" name="Text Placeholder 6">
            <a:extLst>
              <a:ext uri="{FF2B5EF4-FFF2-40B4-BE49-F238E27FC236}">
                <a16:creationId xmlns:a16="http://schemas.microsoft.com/office/drawing/2014/main" id="{D5EC56A3-5252-798A-72EE-290DC5609CF5}"/>
              </a:ext>
            </a:extLst>
          </p:cNvPr>
          <p:cNvSpPr txBox="1">
            <a:spLocks/>
          </p:cNvSpPr>
          <p:nvPr/>
        </p:nvSpPr>
        <p:spPr>
          <a:xfrm>
            <a:off x="5491977" y="3213341"/>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Restricted SharePoint Search (Temporary)</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Oval 19">
            <a:extLst>
              <a:ext uri="{FF2B5EF4-FFF2-40B4-BE49-F238E27FC236}">
                <a16:creationId xmlns:a16="http://schemas.microsoft.com/office/drawing/2014/main" id="{BC7538FB-0701-B407-4E2B-986726E13AB0}"/>
              </a:ext>
            </a:extLst>
          </p:cNvPr>
          <p:cNvSpPr/>
          <p:nvPr/>
        </p:nvSpPr>
        <p:spPr bwMode="auto">
          <a:xfrm>
            <a:off x="4649019" y="4162641"/>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4</a:t>
            </a:r>
          </a:p>
        </p:txBody>
      </p:sp>
      <p:sp>
        <p:nvSpPr>
          <p:cNvPr id="19" name="Text Placeholder 6">
            <a:extLst>
              <a:ext uri="{FF2B5EF4-FFF2-40B4-BE49-F238E27FC236}">
                <a16:creationId xmlns:a16="http://schemas.microsoft.com/office/drawing/2014/main" id="{157A2F1F-3E2D-11DD-F9BB-35AF134D1170}"/>
              </a:ext>
            </a:extLst>
          </p:cNvPr>
          <p:cNvSpPr txBox="1">
            <a:spLocks/>
          </p:cNvSpPr>
          <p:nvPr/>
        </p:nvSpPr>
        <p:spPr>
          <a:xfrm>
            <a:off x="5491977" y="4255350"/>
            <a:ext cx="5540819" cy="353943"/>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300" b="0" i="0" u="none" strike="noStrike" kern="1200" cap="none" spc="0" normalizeH="0" baseline="0" noProof="0">
                <a:ln>
                  <a:noFill/>
                </a:ln>
                <a:solidFill>
                  <a:srgbClr val="000000"/>
                </a:solidFill>
                <a:effectLst/>
                <a:uLnTx/>
                <a:uFillTx/>
                <a:latin typeface="Segoe UI"/>
                <a:ea typeface="+mn-ea"/>
                <a:cs typeface="+mn-cs"/>
              </a:rPr>
              <a:t>SharePoint Advanced Management (SAM)</a:t>
            </a:r>
            <a:endParaRPr kumimoji="0" lang="en-US" sz="23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 name="!!line2">
            <a:extLst>
              <a:ext uri="{FF2B5EF4-FFF2-40B4-BE49-F238E27FC236}">
                <a16:creationId xmlns:a16="http://schemas.microsoft.com/office/drawing/2014/main" id="{47C87FF0-2FB3-7D7C-5DBA-02E716BB6235}"/>
              </a:ext>
              <a:ext uri="{C183D7F6-B498-43B3-948B-1728B52AA6E4}">
                <adec:decorative xmlns:adec="http://schemas.microsoft.com/office/drawing/2017/decorative" val="1"/>
              </a:ext>
            </a:extLst>
          </p:cNvPr>
          <p:cNvCxnSpPr>
            <a:cxnSpLocks/>
          </p:cNvCxnSpPr>
          <p:nvPr/>
        </p:nvCxnSpPr>
        <p:spPr>
          <a:xfrm>
            <a:off x="5524359" y="4998613"/>
            <a:ext cx="5442186" cy="0"/>
          </a:xfrm>
          <a:prstGeom prst="line">
            <a:avLst/>
          </a:prstGeom>
          <a:ln w="6350" cap="rnd">
            <a:solidFill>
              <a:schemeClr val="bg1">
                <a:lumMod val="7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1466C066-D33E-E1D5-3341-FCD9FA6B3B75}"/>
              </a:ext>
            </a:extLst>
          </p:cNvPr>
          <p:cNvSpPr/>
          <p:nvPr/>
        </p:nvSpPr>
        <p:spPr bwMode="auto">
          <a:xfrm>
            <a:off x="4645898" y="5153385"/>
            <a:ext cx="554752" cy="554750"/>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BE" sz="2800" b="0" i="0" u="none" strike="noStrike" kern="1200" cap="none" spc="0" normalizeH="0" baseline="0" noProof="0">
                <a:ln>
                  <a:noFill/>
                </a:ln>
                <a:solidFill>
                  <a:srgbClr val="FFFFFF"/>
                </a:solidFill>
                <a:effectLst/>
                <a:uLnTx/>
                <a:uFillTx/>
                <a:latin typeface="Segoe UI Semibold"/>
                <a:ea typeface="+mn-ea"/>
                <a:cs typeface="+mn-cs"/>
              </a:rPr>
              <a:t>5</a:t>
            </a:r>
            <a:endParaRPr kumimoji="0" lang="en-US" sz="2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 name="Text Placeholder 6">
            <a:extLst>
              <a:ext uri="{FF2B5EF4-FFF2-40B4-BE49-F238E27FC236}">
                <a16:creationId xmlns:a16="http://schemas.microsoft.com/office/drawing/2014/main" id="{54F7E682-D7E5-E774-E6A1-1D7EFFB71185}"/>
              </a:ext>
            </a:extLst>
          </p:cNvPr>
          <p:cNvSpPr txBox="1">
            <a:spLocks/>
          </p:cNvSpPr>
          <p:nvPr/>
        </p:nvSpPr>
        <p:spPr>
          <a:xfrm>
            <a:off x="5498655" y="5220800"/>
            <a:ext cx="5540819" cy="369332"/>
          </a:xfrm>
          <a:prstGeom prst="rect">
            <a:avLst/>
          </a:prstGeom>
        </p:spPr>
        <p:txBody>
          <a:bodyPr vert="horz"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ts val="600"/>
              </a:spcBef>
              <a:spcAft>
                <a:spcPts val="600"/>
              </a:spcAft>
              <a:buClrTx/>
              <a:buSzTx/>
              <a:buFont typeface="Wingdings" panose="05000000000000000000" pitchFamily="2" charset="2"/>
              <a:buNone/>
              <a:tabLst/>
              <a:defRPr/>
            </a:pPr>
            <a:r>
              <a:rPr kumimoji="0" lang="en-BE" sz="2400" b="0" i="0" u="none" strike="noStrike" kern="1200" cap="none" spc="0" normalizeH="0" baseline="0" noProof="0">
                <a:ln>
                  <a:noFill/>
                </a:ln>
                <a:solidFill>
                  <a:srgbClr val="000000"/>
                </a:solidFill>
                <a:effectLst/>
                <a:uLnTx/>
                <a:uFillTx/>
                <a:latin typeface="Segoe UI"/>
                <a:ea typeface="+mn-ea"/>
                <a:cs typeface="+mn-cs"/>
              </a:rPr>
              <a:t>Microsoft Purview</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pic>
        <p:nvPicPr>
          <p:cNvPr id="12" name="Picture 11">
            <a:extLst>
              <a:ext uri="{FF2B5EF4-FFF2-40B4-BE49-F238E27FC236}">
                <a16:creationId xmlns:a16="http://schemas.microsoft.com/office/drawing/2014/main" id="{7171222B-4887-7E0D-23EA-564A347F2D2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74722" y="948477"/>
            <a:ext cx="6816901" cy="4089443"/>
          </a:xfrm>
          <a:prstGeom prst="rect">
            <a:avLst/>
          </a:prstGeom>
        </p:spPr>
      </p:pic>
    </p:spTree>
    <p:extLst>
      <p:ext uri="{BB962C8B-B14F-4D97-AF65-F5344CB8AC3E}">
        <p14:creationId xmlns:p14="http://schemas.microsoft.com/office/powerpoint/2010/main" val="189039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5F5B4-62B6-83F2-BF53-27D2C3321FBA}"/>
            </a:ext>
          </a:extLst>
        </p:cNvPr>
        <p:cNvGrpSpPr/>
        <p:nvPr/>
      </p:nvGrpSpPr>
      <p:grpSpPr>
        <a:xfrm>
          <a:off x="0" y="0"/>
          <a:ext cx="0" cy="0"/>
          <a:chOff x="0" y="0"/>
          <a:chExt cx="0" cy="0"/>
        </a:xfrm>
      </p:grpSpPr>
      <p:sp>
        <p:nvSpPr>
          <p:cNvPr id="2" name="Rectangle: Rounded Corners 28">
            <a:extLst>
              <a:ext uri="{FF2B5EF4-FFF2-40B4-BE49-F238E27FC236}">
                <a16:creationId xmlns:a16="http://schemas.microsoft.com/office/drawing/2014/main" id="{2D380ABA-1264-454C-C262-5D3E60DE0378}"/>
              </a:ext>
              <a:ext uri="{C183D7F6-B498-43B3-948B-1728B52AA6E4}">
                <adec:decorative xmlns:adec="http://schemas.microsoft.com/office/drawing/2017/decorative" val="1"/>
              </a:ext>
            </a:extLst>
          </p:cNvPr>
          <p:cNvSpPr>
            <a:spLocks/>
          </p:cNvSpPr>
          <p:nvPr/>
        </p:nvSpPr>
        <p:spPr bwMode="auto">
          <a:xfrm>
            <a:off x="339091" y="2036751"/>
            <a:ext cx="11513819" cy="204263"/>
          </a:xfrm>
          <a:prstGeom prst="roundRect">
            <a:avLst>
              <a:gd name="adj" fmla="val 50000"/>
            </a:avLst>
          </a:prstGeom>
          <a:gradFill flip="none" rotWithShape="1">
            <a:gsLst>
              <a:gs pos="0">
                <a:srgbClr val="FF5C39"/>
              </a:gs>
              <a:gs pos="20000">
                <a:srgbClr val="C03BC4"/>
              </a:gs>
              <a:gs pos="40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86" rtl="0" eaLnBrk="1" fontAlgn="base" latinLnBrk="0" hangingPunct="1">
              <a:lnSpc>
                <a:spcPct val="100000"/>
              </a:lnSpc>
              <a:spcBef>
                <a:spcPts val="600"/>
              </a:spcBef>
              <a:spcAft>
                <a:spcPct val="0"/>
              </a:spcAft>
              <a:buClrTx/>
              <a:buSzTx/>
              <a:buFontTx/>
              <a:buNone/>
              <a:tabLst>
                <a:tab pos="1487158" algn="l"/>
              </a:tabLst>
              <a:defRPr/>
            </a:pPr>
            <a:endParaRPr kumimoji="0" lang="en-GB" sz="800" b="1" i="0" u="none" strike="noStrike" kern="1200" cap="none" spc="0" normalizeH="0" baseline="0" noProof="0" err="1">
              <a:ln>
                <a:noFill/>
              </a:ln>
              <a:gradFill>
                <a:gsLst>
                  <a:gs pos="70629">
                    <a:srgbClr val="FFFFFF"/>
                  </a:gs>
                  <a:gs pos="48951">
                    <a:srgbClr val="FFFFFF"/>
                  </a:gs>
                </a:gsLst>
                <a:path path="circle">
                  <a:fillToRect l="100000" t="100000"/>
                </a:path>
              </a:gradFill>
              <a:effectLst/>
              <a:uLnTx/>
              <a:uFillTx/>
              <a:latin typeface="Segoe UI Semibold"/>
              <a:ea typeface="+mn-ea"/>
              <a:cs typeface="+mn-cs"/>
            </a:endParaRPr>
          </a:p>
        </p:txBody>
      </p:sp>
      <p:sp>
        <p:nvSpPr>
          <p:cNvPr id="5" name="Freeform: Shape 30">
            <a:extLst>
              <a:ext uri="{FF2B5EF4-FFF2-40B4-BE49-F238E27FC236}">
                <a16:creationId xmlns:a16="http://schemas.microsoft.com/office/drawing/2014/main" id="{421D3A38-9096-F36E-DBE3-36377040CD24}"/>
              </a:ext>
              <a:ext uri="{C183D7F6-B498-43B3-948B-1728B52AA6E4}">
                <adec:decorative xmlns:adec="http://schemas.microsoft.com/office/drawing/2017/decorative" val="1"/>
              </a:ext>
            </a:extLst>
          </p:cNvPr>
          <p:cNvSpPr>
            <a:spLocks/>
          </p:cNvSpPr>
          <p:nvPr/>
        </p:nvSpPr>
        <p:spPr>
          <a:xfrm>
            <a:off x="588963" y="2590845"/>
            <a:ext cx="6320022" cy="3446699"/>
          </a:xfrm>
          <a:prstGeom prst="roundRect">
            <a:avLst>
              <a:gd name="adj" fmla="val 3972"/>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cxnSp>
        <p:nvCxnSpPr>
          <p:cNvPr id="22" name="Straight Connector 21">
            <a:extLst>
              <a:ext uri="{FF2B5EF4-FFF2-40B4-BE49-F238E27FC236}">
                <a16:creationId xmlns:a16="http://schemas.microsoft.com/office/drawing/2014/main" id="{BA521A6F-B49A-6DED-FFF5-CE9CEB630908}"/>
              </a:ext>
              <a:ext uri="{C183D7F6-B498-43B3-948B-1728B52AA6E4}">
                <adec:decorative xmlns:adec="http://schemas.microsoft.com/office/drawing/2017/decorative" val="1"/>
              </a:ext>
            </a:extLst>
          </p:cNvPr>
          <p:cNvCxnSpPr>
            <a:cxnSpLocks/>
          </p:cNvCxnSpPr>
          <p:nvPr/>
        </p:nvCxnSpPr>
        <p:spPr>
          <a:xfrm>
            <a:off x="3166711" y="3518678"/>
            <a:ext cx="0" cy="1565496"/>
          </a:xfrm>
          <a:prstGeom prst="line">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9" name="Title 1">
            <a:extLst>
              <a:ext uri="{FF2B5EF4-FFF2-40B4-BE49-F238E27FC236}">
                <a16:creationId xmlns:a16="http://schemas.microsoft.com/office/drawing/2014/main" id="{AAEC436F-3736-CD05-C348-54BD42EC8C77}"/>
              </a:ext>
            </a:extLst>
          </p:cNvPr>
          <p:cNvSpPr>
            <a:spLocks noGrp="1"/>
          </p:cNvSpPr>
          <p:nvPr>
            <p:ph type="title"/>
          </p:nvPr>
        </p:nvSpPr>
        <p:spPr>
          <a:xfrm>
            <a:off x="588963" y="457200"/>
            <a:ext cx="10767076" cy="861774"/>
          </a:xfrm>
        </p:spPr>
        <p:txBody>
          <a:bodyPr>
            <a:normAutofit fontScale="90000"/>
          </a:bodyPr>
          <a:lstStyle/>
          <a:p>
            <a:pPr algn="ctr"/>
            <a:r>
              <a:rPr lang="en-US">
                <a:solidFill>
                  <a:schemeClr val="accent2"/>
                </a:solidFill>
              </a:rPr>
              <a:t>Microsoft Purview’s solutions </a:t>
            </a:r>
            <a:br>
              <a:rPr lang="en-US">
                <a:solidFill>
                  <a:schemeClr val="bg1">
                    <a:lumMod val="25000"/>
                    <a:lumOff val="75000"/>
                  </a:schemeClr>
                </a:solidFill>
              </a:rPr>
            </a:br>
            <a:r>
              <a:rPr lang="en-US"/>
              <a:t>help you secure your AI data like never before </a:t>
            </a:r>
          </a:p>
        </p:txBody>
      </p:sp>
      <p:sp>
        <p:nvSpPr>
          <p:cNvPr id="30" name="Rectangle 29" descr="&quot;Microsoft Purview’s solutions&quot; highlighted in blue color font from the title">
            <a:extLst>
              <a:ext uri="{FF2B5EF4-FFF2-40B4-BE49-F238E27FC236}">
                <a16:creationId xmlns:a16="http://schemas.microsoft.com/office/drawing/2014/main" id="{BCAAE473-1EF9-3B2B-4250-32807CA56C38}"/>
              </a:ext>
            </a:extLst>
          </p:cNvPr>
          <p:cNvSpPr/>
          <p:nvPr/>
        </p:nvSpPr>
        <p:spPr bwMode="auto">
          <a:xfrm>
            <a:off x="9222377" y="1240971"/>
            <a:ext cx="52252" cy="13436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Box 5">
            <a:extLst>
              <a:ext uri="{FF2B5EF4-FFF2-40B4-BE49-F238E27FC236}">
                <a16:creationId xmlns:a16="http://schemas.microsoft.com/office/drawing/2014/main" id="{A837124F-E741-AA6F-03E7-3E8DBDF3E9F9}"/>
              </a:ext>
              <a:ext uri="{C183D7F6-B498-43B3-948B-1728B52AA6E4}">
                <adec:decorative xmlns:adec="http://schemas.microsoft.com/office/drawing/2017/decorative" val="0"/>
              </a:ext>
            </a:extLst>
          </p:cNvPr>
          <p:cNvSpPr txBox="1">
            <a:spLocks/>
          </p:cNvSpPr>
          <p:nvPr/>
        </p:nvSpPr>
        <p:spPr>
          <a:xfrm>
            <a:off x="639186" y="2641569"/>
            <a:ext cx="6217200" cy="579123"/>
          </a:xfrm>
          <a:prstGeom prst="roundRect">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sym typeface="Helvetica Neue"/>
              </a:rPr>
              <a:t>November 2023</a:t>
            </a:r>
          </a:p>
        </p:txBody>
      </p:sp>
      <p:pic>
        <p:nvPicPr>
          <p:cNvPr id="16" name="Picture 15" descr="Copilot logo">
            <a:extLst>
              <a:ext uri="{FF2B5EF4-FFF2-40B4-BE49-F238E27FC236}">
                <a16:creationId xmlns:a16="http://schemas.microsoft.com/office/drawing/2014/main" id="{EAC1450A-0F3C-0CE0-BED1-E883D1D6F321}"/>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580753" y="3518678"/>
            <a:ext cx="586024" cy="522200"/>
          </a:xfrm>
          <a:prstGeom prst="rect">
            <a:avLst/>
          </a:prstGeom>
        </p:spPr>
      </p:pic>
      <p:sp>
        <p:nvSpPr>
          <p:cNvPr id="21" name="TextBox 20">
            <a:extLst>
              <a:ext uri="{FF2B5EF4-FFF2-40B4-BE49-F238E27FC236}">
                <a16:creationId xmlns:a16="http://schemas.microsoft.com/office/drawing/2014/main" id="{1709FBC0-CB50-AA13-DCF3-028590C79B5A}"/>
              </a:ext>
              <a:ext uri="{C183D7F6-B498-43B3-948B-1728B52AA6E4}">
                <adec:decorative xmlns:adec="http://schemas.microsoft.com/office/drawing/2017/decorative" val="0"/>
              </a:ext>
            </a:extLst>
          </p:cNvPr>
          <p:cNvSpPr txBox="1"/>
          <p:nvPr/>
        </p:nvSpPr>
        <p:spPr>
          <a:xfrm>
            <a:off x="910888" y="4243810"/>
            <a:ext cx="1925754" cy="69249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M365 Copilot</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Generally Available</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Nov 2023</a:t>
            </a:r>
          </a:p>
        </p:txBody>
      </p:sp>
      <p:sp>
        <p:nvSpPr>
          <p:cNvPr id="15" name="Rounded Rectangle 14">
            <a:extLst>
              <a:ext uri="{FF2B5EF4-FFF2-40B4-BE49-F238E27FC236}">
                <a16:creationId xmlns:a16="http://schemas.microsoft.com/office/drawing/2014/main" id="{2423D292-59A6-E4BB-E9D1-123ADFD2D287}"/>
              </a:ext>
              <a:ext uri="{C183D7F6-B498-43B3-948B-1728B52AA6E4}">
                <adec:decorative xmlns:adec="http://schemas.microsoft.com/office/drawing/2017/decorative" val="0"/>
              </a:ext>
            </a:extLst>
          </p:cNvPr>
          <p:cNvSpPr>
            <a:spLocks/>
          </p:cNvSpPr>
          <p:nvPr/>
        </p:nvSpPr>
        <p:spPr>
          <a:xfrm>
            <a:off x="3483548" y="3598072"/>
            <a:ext cx="3101136" cy="1323439"/>
          </a:xfrm>
          <a:prstGeom prst="rect">
            <a:avLst/>
          </a:prstGeom>
          <a:no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Audit </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eDiscovery</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Data Lifecycle Management</a:t>
            </a:r>
          </a:p>
          <a:p>
            <a:pPr marL="171450" indent="-171450">
              <a:spcBef>
                <a:spcPts val="600"/>
              </a:spcBef>
              <a:buFont typeface="Arial" panose="020B0604020202020204" pitchFamily="34" charset="0"/>
              <a:buChar char="•"/>
              <a:defRPr/>
            </a:pPr>
            <a:r>
              <a:rPr lang="en-US" sz="1200">
                <a:solidFill>
                  <a:schemeClr val="accent2"/>
                </a:solidFill>
              </a:rPr>
              <a:t>Communication Compliance</a:t>
            </a:r>
          </a:p>
          <a:p>
            <a:pPr marL="171450" indent="-171450">
              <a:spcBef>
                <a:spcPts val="600"/>
              </a:spcBef>
              <a:buFont typeface="Arial" panose="020B0604020202020204" pitchFamily="34" charset="0"/>
              <a:buChar char="•"/>
              <a:defRPr/>
            </a:pPr>
            <a:r>
              <a:rPr lang="en-US" sz="1200">
                <a:solidFill>
                  <a:schemeClr val="accent2"/>
                </a:solidFill>
              </a:rPr>
              <a:t>Information Protection</a:t>
            </a:r>
          </a:p>
        </p:txBody>
      </p:sp>
      <p:sp>
        <p:nvSpPr>
          <p:cNvPr id="25" name="Rectangle: Rounded Corners 38">
            <a:extLst>
              <a:ext uri="{FF2B5EF4-FFF2-40B4-BE49-F238E27FC236}">
                <a16:creationId xmlns:a16="http://schemas.microsoft.com/office/drawing/2014/main" id="{D4F36BAB-61F0-F308-6E0C-D86516F8061B}"/>
              </a:ext>
              <a:ext uri="{C183D7F6-B498-43B3-948B-1728B52AA6E4}">
                <adec:decorative xmlns:adec="http://schemas.microsoft.com/office/drawing/2017/decorative" val="0"/>
              </a:ext>
            </a:extLst>
          </p:cNvPr>
          <p:cNvSpPr/>
          <p:nvPr/>
        </p:nvSpPr>
        <p:spPr bwMode="auto">
          <a:xfrm>
            <a:off x="660065" y="5406713"/>
            <a:ext cx="6177819" cy="519883"/>
          </a:xfrm>
          <a:prstGeom prst="roundRect">
            <a:avLst/>
          </a:prstGeom>
          <a:ln w="12700" cap="rnd">
            <a:gradFill flip="none" rotWithShape="1">
              <a:gsLst>
                <a:gs pos="0">
                  <a:srgbClr val="0078D4"/>
                </a:gs>
                <a:gs pos="79000">
                  <a:srgbClr val="399A91"/>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accent2"/>
                </a:solidFill>
                <a:effectLst/>
                <a:uLnTx/>
                <a:uFillTx/>
                <a:latin typeface="Segoe UI Semibold"/>
                <a:ea typeface="+mn-ea"/>
                <a:cs typeface="Segoe UI" pitchFamily="34" charset="0"/>
              </a:rPr>
              <a:t>Enterprise-ready on day 0 vs. competitors</a:t>
            </a:r>
          </a:p>
        </p:txBody>
      </p:sp>
      <p:sp>
        <p:nvSpPr>
          <p:cNvPr id="7" name="TextBox 6">
            <a:extLst>
              <a:ext uri="{FF2B5EF4-FFF2-40B4-BE49-F238E27FC236}">
                <a16:creationId xmlns:a16="http://schemas.microsoft.com/office/drawing/2014/main" id="{4D561064-9AAA-A7B5-66C0-D06707E8F3D7}"/>
              </a:ext>
              <a:ext uri="{C183D7F6-B498-43B3-948B-1728B52AA6E4}">
                <adec:decorative xmlns:adec="http://schemas.microsoft.com/office/drawing/2017/decorative" val="1"/>
              </a:ext>
            </a:extLst>
          </p:cNvPr>
          <p:cNvSpPr txBox="1">
            <a:spLocks/>
          </p:cNvSpPr>
          <p:nvPr/>
        </p:nvSpPr>
        <p:spPr>
          <a:xfrm>
            <a:off x="6993282" y="2641569"/>
            <a:ext cx="2362555" cy="579123"/>
          </a:xfrm>
          <a:prstGeom prst="roundRect">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defPPr>
              <a:defRPr lang="en-US"/>
            </a:defPPr>
            <a:lvl1pPr algn="ctr" defTabSz="1219170">
              <a:buClr>
                <a:srgbClr val="BFE8F6"/>
              </a:buClr>
              <a:buSzPts val="1000"/>
              <a:defRPr sz="1800" b="1" kern="0">
                <a:latin typeface="+mj-lt"/>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rgbClr val="FFFFFF"/>
                </a:solidFill>
                <a:effectLst/>
                <a:uLnTx/>
                <a:uFillTx/>
                <a:latin typeface="Segoe UI Semibold"/>
                <a:ea typeface="+mn-ea"/>
                <a:cs typeface="+mn-cs"/>
                <a:sym typeface="Helvetica Neue"/>
              </a:rPr>
              <a:t>May 2024</a:t>
            </a:r>
          </a:p>
        </p:txBody>
      </p:sp>
      <p:sp>
        <p:nvSpPr>
          <p:cNvPr id="10" name="TextBox 9">
            <a:extLst>
              <a:ext uri="{FF2B5EF4-FFF2-40B4-BE49-F238E27FC236}">
                <a16:creationId xmlns:a16="http://schemas.microsoft.com/office/drawing/2014/main" id="{C944870C-A80C-A45D-4323-7A35EF406525}"/>
              </a:ext>
              <a:ext uri="{C183D7F6-B498-43B3-948B-1728B52AA6E4}">
                <adec:decorative xmlns:adec="http://schemas.microsoft.com/office/drawing/2017/decorative" val="1"/>
              </a:ext>
            </a:extLst>
          </p:cNvPr>
          <p:cNvSpPr txBox="1">
            <a:spLocks/>
          </p:cNvSpPr>
          <p:nvPr/>
        </p:nvSpPr>
        <p:spPr>
          <a:xfrm>
            <a:off x="9490354" y="2641569"/>
            <a:ext cx="2362555" cy="579123"/>
          </a:xfrm>
          <a:prstGeom prst="roundRect">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rgbClr val="FFFFFF"/>
                </a:solidFill>
                <a:effectLst/>
                <a:uLnTx/>
                <a:uFillTx/>
                <a:latin typeface="Segoe UI Semibold"/>
                <a:ea typeface="+mn-ea"/>
                <a:cs typeface="+mn-cs"/>
                <a:sym typeface="Helvetica Neue"/>
              </a:rPr>
              <a:t>November 2024</a:t>
            </a:r>
          </a:p>
        </p:txBody>
      </p:sp>
      <p:sp>
        <p:nvSpPr>
          <p:cNvPr id="3" name="Oval 10_1">
            <a:extLst>
              <a:ext uri="{FF2B5EF4-FFF2-40B4-BE49-F238E27FC236}">
                <a16:creationId xmlns:a16="http://schemas.microsoft.com/office/drawing/2014/main" id="{B56E6033-9471-8386-9197-49E084AD23B5}"/>
              </a:ext>
              <a:ext uri="{C183D7F6-B498-43B3-948B-1728B52AA6E4}">
                <adec:decorative xmlns:adec="http://schemas.microsoft.com/office/drawing/2017/decorative" val="1"/>
              </a:ext>
            </a:extLst>
          </p:cNvPr>
          <p:cNvSpPr/>
          <p:nvPr/>
        </p:nvSpPr>
        <p:spPr>
          <a:xfrm>
            <a:off x="3434078"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4" name="Oval 3">
            <a:extLst>
              <a:ext uri="{FF2B5EF4-FFF2-40B4-BE49-F238E27FC236}">
                <a16:creationId xmlns:a16="http://schemas.microsoft.com/office/drawing/2014/main" id="{C5B7392C-77A0-4E13-06B7-BE4D90A88C5D}"/>
              </a:ext>
              <a:ext uri="{C183D7F6-B498-43B3-948B-1728B52AA6E4}">
                <adec:decorative xmlns:adec="http://schemas.microsoft.com/office/drawing/2017/decorative" val="1"/>
              </a:ext>
            </a:extLst>
          </p:cNvPr>
          <p:cNvSpPr/>
          <p:nvPr/>
        </p:nvSpPr>
        <p:spPr>
          <a:xfrm>
            <a:off x="3622653" y="2018357"/>
            <a:ext cx="252645" cy="252645"/>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8" name="Oval 10_1">
            <a:extLst>
              <a:ext uri="{FF2B5EF4-FFF2-40B4-BE49-F238E27FC236}">
                <a16:creationId xmlns:a16="http://schemas.microsoft.com/office/drawing/2014/main" id="{3F9A38A9-3FB0-3418-6C6A-98150D10B162}"/>
              </a:ext>
              <a:ext uri="{C183D7F6-B498-43B3-948B-1728B52AA6E4}">
                <adec:decorative xmlns:adec="http://schemas.microsoft.com/office/drawing/2017/decorative" val="1"/>
              </a:ext>
            </a:extLst>
          </p:cNvPr>
          <p:cNvSpPr/>
          <p:nvPr/>
        </p:nvSpPr>
        <p:spPr>
          <a:xfrm>
            <a:off x="7859662"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9" name="Oval 8">
            <a:extLst>
              <a:ext uri="{FF2B5EF4-FFF2-40B4-BE49-F238E27FC236}">
                <a16:creationId xmlns:a16="http://schemas.microsoft.com/office/drawing/2014/main" id="{0BC491DD-50E1-A71F-21FD-482A0CCF5414}"/>
              </a:ext>
              <a:ext uri="{C183D7F6-B498-43B3-948B-1728B52AA6E4}">
                <adec:decorative xmlns:adec="http://schemas.microsoft.com/office/drawing/2017/decorative" val="1"/>
              </a:ext>
            </a:extLst>
          </p:cNvPr>
          <p:cNvSpPr/>
          <p:nvPr/>
        </p:nvSpPr>
        <p:spPr>
          <a:xfrm>
            <a:off x="8048237" y="2018357"/>
            <a:ext cx="252645" cy="252645"/>
          </a:xfrm>
          <a:prstGeom prst="ellipse">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1" name="Oval 10_1">
            <a:extLst>
              <a:ext uri="{FF2B5EF4-FFF2-40B4-BE49-F238E27FC236}">
                <a16:creationId xmlns:a16="http://schemas.microsoft.com/office/drawing/2014/main" id="{AA83575E-A57E-ED04-B09D-D4156F9BB96D}"/>
              </a:ext>
              <a:ext uri="{C183D7F6-B498-43B3-948B-1728B52AA6E4}">
                <adec:decorative xmlns:adec="http://schemas.microsoft.com/office/drawing/2017/decorative" val="1"/>
              </a:ext>
            </a:extLst>
          </p:cNvPr>
          <p:cNvSpPr/>
          <p:nvPr/>
        </p:nvSpPr>
        <p:spPr>
          <a:xfrm>
            <a:off x="10356734"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2" name="Oval 11">
            <a:extLst>
              <a:ext uri="{FF2B5EF4-FFF2-40B4-BE49-F238E27FC236}">
                <a16:creationId xmlns:a16="http://schemas.microsoft.com/office/drawing/2014/main" id="{6E02A747-EB20-2FD3-BC6B-7A7AADBFAC8A}"/>
              </a:ext>
              <a:ext uri="{C183D7F6-B498-43B3-948B-1728B52AA6E4}">
                <adec:decorative xmlns:adec="http://schemas.microsoft.com/office/drawing/2017/decorative" val="1"/>
              </a:ext>
            </a:extLst>
          </p:cNvPr>
          <p:cNvSpPr/>
          <p:nvPr/>
        </p:nvSpPr>
        <p:spPr>
          <a:xfrm>
            <a:off x="10545309" y="2018357"/>
            <a:ext cx="252645" cy="252645"/>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cxnSp>
        <p:nvCxnSpPr>
          <p:cNvPr id="13" name="!!line1">
            <a:extLst>
              <a:ext uri="{FF2B5EF4-FFF2-40B4-BE49-F238E27FC236}">
                <a16:creationId xmlns:a16="http://schemas.microsoft.com/office/drawing/2014/main" id="{124023F5-568B-586F-DA11-98EA5334B35B}"/>
              </a:ext>
              <a:ext uri="{C183D7F6-B498-43B3-948B-1728B52AA6E4}">
                <adec:decorative xmlns:adec="http://schemas.microsoft.com/office/drawing/2017/decorative" val="1"/>
              </a:ext>
            </a:extLst>
          </p:cNvPr>
          <p:cNvCxnSpPr>
            <a:cxnSpLocks/>
            <a:stCxn id="4" idx="4"/>
            <a:endCxn id="14" idx="0"/>
          </p:cNvCxnSpPr>
          <p:nvPr/>
        </p:nvCxnSpPr>
        <p:spPr>
          <a:xfrm flipH="1">
            <a:off x="3748975"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line2">
            <a:extLst>
              <a:ext uri="{FF2B5EF4-FFF2-40B4-BE49-F238E27FC236}">
                <a16:creationId xmlns:a16="http://schemas.microsoft.com/office/drawing/2014/main" id="{89A43128-F98A-D8FE-A793-BD59CDE692AC}"/>
              </a:ext>
              <a:ext uri="{C183D7F6-B498-43B3-948B-1728B52AA6E4}">
                <adec:decorative xmlns:adec="http://schemas.microsoft.com/office/drawing/2017/decorative" val="1"/>
              </a:ext>
            </a:extLst>
          </p:cNvPr>
          <p:cNvCxnSpPr>
            <a:cxnSpLocks/>
          </p:cNvCxnSpPr>
          <p:nvPr/>
        </p:nvCxnSpPr>
        <p:spPr>
          <a:xfrm flipH="1">
            <a:off x="8174559"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4007363-DCD7-77AF-DF1A-62F31E790DF8}"/>
              </a:ext>
              <a:ext uri="{C183D7F6-B498-43B3-948B-1728B52AA6E4}">
                <adec:decorative xmlns:adec="http://schemas.microsoft.com/office/drawing/2017/decorative" val="1"/>
              </a:ext>
            </a:extLst>
          </p:cNvPr>
          <p:cNvSpPr/>
          <p:nvPr/>
        </p:nvSpPr>
        <p:spPr>
          <a:xfrm>
            <a:off x="8096123" y="2556977"/>
            <a:ext cx="156872" cy="156872"/>
          </a:xfrm>
          <a:prstGeom prst="ellipse">
            <a:avLst/>
          </a:prstGeom>
          <a:gradFill>
            <a:gsLst>
              <a:gs pos="0">
                <a:srgbClr val="C03BC4"/>
              </a:gs>
              <a:gs pos="80000">
                <a:srgbClr val="0078D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cxnSp>
        <p:nvCxnSpPr>
          <p:cNvPr id="19" name="!!line3">
            <a:extLst>
              <a:ext uri="{FF2B5EF4-FFF2-40B4-BE49-F238E27FC236}">
                <a16:creationId xmlns:a16="http://schemas.microsoft.com/office/drawing/2014/main" id="{1831C7D2-EF6C-7E8C-A889-0D301EF36603}"/>
              </a:ext>
              <a:ext uri="{C183D7F6-B498-43B3-948B-1728B52AA6E4}">
                <adec:decorative xmlns:adec="http://schemas.microsoft.com/office/drawing/2017/decorative" val="1"/>
              </a:ext>
            </a:extLst>
          </p:cNvPr>
          <p:cNvCxnSpPr>
            <a:cxnSpLocks/>
          </p:cNvCxnSpPr>
          <p:nvPr/>
        </p:nvCxnSpPr>
        <p:spPr>
          <a:xfrm flipH="1">
            <a:off x="10671631"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D2A5D96-E926-2CE7-5169-2643B09D74FB}"/>
              </a:ext>
              <a:ext uri="{C183D7F6-B498-43B3-948B-1728B52AA6E4}">
                <adec:decorative xmlns:adec="http://schemas.microsoft.com/office/drawing/2017/decorative" val="1"/>
              </a:ext>
            </a:extLst>
          </p:cNvPr>
          <p:cNvSpPr/>
          <p:nvPr/>
        </p:nvSpPr>
        <p:spPr>
          <a:xfrm>
            <a:off x="10593195" y="2556977"/>
            <a:ext cx="156872" cy="156872"/>
          </a:xfrm>
          <a:prstGeom prst="ellipse">
            <a:avLst/>
          </a:prstGeom>
          <a:gradFill>
            <a:gsLst>
              <a:gs pos="0">
                <a:srgbClr val="FF5C39"/>
              </a:gs>
              <a:gs pos="80000">
                <a:srgbClr val="C03BC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14" name="Oval 13">
            <a:extLst>
              <a:ext uri="{FF2B5EF4-FFF2-40B4-BE49-F238E27FC236}">
                <a16:creationId xmlns:a16="http://schemas.microsoft.com/office/drawing/2014/main" id="{3A6831D8-14BB-EA90-FEA5-AED09804DD9B}"/>
              </a:ext>
              <a:ext uri="{C183D7F6-B498-43B3-948B-1728B52AA6E4}">
                <adec:decorative xmlns:adec="http://schemas.microsoft.com/office/drawing/2017/decorative" val="1"/>
              </a:ext>
            </a:extLst>
          </p:cNvPr>
          <p:cNvSpPr/>
          <p:nvPr/>
        </p:nvSpPr>
        <p:spPr>
          <a:xfrm>
            <a:off x="3670539" y="2556977"/>
            <a:ext cx="156872" cy="156872"/>
          </a:xfrm>
          <a:prstGeom prst="ellipse">
            <a:avLst/>
          </a:prstGeom>
          <a:gradFill flip="none" rotWithShape="1">
            <a:gsLst>
              <a:gs pos="0">
                <a:srgbClr val="0078D4"/>
              </a:gs>
              <a:gs pos="80000">
                <a:srgbClr val="399A91"/>
              </a:gs>
            </a:gsLst>
            <a:path path="circle">
              <a:fillToRect l="100000" t="100000"/>
            </a:path>
            <a:tileRect r="-100000" b="-100000"/>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grpSp>
        <p:nvGrpSpPr>
          <p:cNvPr id="23" name="Group 22">
            <a:extLst>
              <a:ext uri="{FF2B5EF4-FFF2-40B4-BE49-F238E27FC236}">
                <a16:creationId xmlns:a16="http://schemas.microsoft.com/office/drawing/2014/main" id="{F07430AC-5E74-2793-C079-49BDDF8D345C}"/>
              </a:ext>
              <a:ext uri="{C183D7F6-B498-43B3-948B-1728B52AA6E4}">
                <adec:decorative xmlns:adec="http://schemas.microsoft.com/office/drawing/2017/decorative" val="1"/>
              </a:ext>
            </a:extLst>
          </p:cNvPr>
          <p:cNvGrpSpPr/>
          <p:nvPr/>
        </p:nvGrpSpPr>
        <p:grpSpPr>
          <a:xfrm rot="5400000" flipH="1" flipV="1">
            <a:off x="11613493" y="2039427"/>
            <a:ext cx="149292" cy="198910"/>
            <a:chOff x="6667356" y="2954907"/>
            <a:chExt cx="594920" cy="721978"/>
          </a:xfrm>
          <a:solidFill>
            <a:schemeClr val="tx1"/>
          </a:solidFill>
        </p:grpSpPr>
        <p:sp>
          <p:nvSpPr>
            <p:cNvPr id="24" name="Graphic 9">
              <a:extLst>
                <a:ext uri="{FF2B5EF4-FFF2-40B4-BE49-F238E27FC236}">
                  <a16:creationId xmlns:a16="http://schemas.microsoft.com/office/drawing/2014/main" id="{197AF32F-3A9D-AD48-2C98-01A93EF552D8}"/>
                </a:ext>
              </a:extLst>
            </p:cNvPr>
            <p:cNvSpPr/>
            <p:nvPr/>
          </p:nvSpPr>
          <p:spPr>
            <a:xfrm rot="5400000">
              <a:off x="6784802" y="2837461"/>
              <a:ext cx="360028" cy="594920"/>
            </a:xfrm>
            <a:custGeom>
              <a:avLst/>
              <a:gdLst>
                <a:gd name="connsiteX0" fmla="*/ 763036 w 1308282"/>
                <a:gd name="connsiteY0" fmla="*/ 1084040 h 2161841"/>
                <a:gd name="connsiteX1" fmla="*/ 732841 w 1308282"/>
                <a:gd name="connsiteY1" fmla="*/ 1059275 h 2161841"/>
                <a:gd name="connsiteX2" fmla="*/ 69330 w 1308282"/>
                <a:gd name="connsiteY2" fmla="*/ 396335 h 2161841"/>
                <a:gd name="connsiteX3" fmla="*/ 107525 w 1308282"/>
                <a:gd name="connsiteY3" fmla="*/ 34862 h 2161841"/>
                <a:gd name="connsiteX4" fmla="*/ 389275 w 1308282"/>
                <a:gd name="connsiteY4" fmla="*/ 66199 h 2161841"/>
                <a:gd name="connsiteX5" fmla="*/ 556057 w 1308282"/>
                <a:gd name="connsiteY5" fmla="*/ 232791 h 2161841"/>
                <a:gd name="connsiteX6" fmla="*/ 1234047 w 1308282"/>
                <a:gd name="connsiteY6" fmla="*/ 914972 h 2161841"/>
                <a:gd name="connsiteX7" fmla="*/ 1233856 w 1308282"/>
                <a:gd name="connsiteY7" fmla="*/ 1252157 h 2161841"/>
                <a:gd name="connsiteX8" fmla="*/ 396799 w 1308282"/>
                <a:gd name="connsiteY8" fmla="*/ 2088737 h 2161841"/>
                <a:gd name="connsiteX9" fmla="*/ 163151 w 1308282"/>
                <a:gd name="connsiteY9" fmla="*/ 2151317 h 2161841"/>
                <a:gd name="connsiteX10" fmla="*/ 4465 w 1308282"/>
                <a:gd name="connsiteY10" fmla="*/ 1972818 h 2161841"/>
                <a:gd name="connsiteX11" fmla="*/ 69235 w 1308282"/>
                <a:gd name="connsiteY11" fmla="*/ 1770983 h 2161841"/>
                <a:gd name="connsiteX12" fmla="*/ 734651 w 1308282"/>
                <a:gd name="connsiteY12" fmla="*/ 1106424 h 2161841"/>
                <a:gd name="connsiteX13" fmla="*/ 763036 w 1308282"/>
                <a:gd name="connsiteY13" fmla="*/ 1084136 h 216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8282" h="2161841">
                  <a:moveTo>
                    <a:pt x="763036" y="1084040"/>
                  </a:moveTo>
                  <a:cubicBezTo>
                    <a:pt x="749129" y="1072706"/>
                    <a:pt x="740271" y="1066705"/>
                    <a:pt x="732841" y="1059275"/>
                  </a:cubicBezTo>
                  <a:cubicBezTo>
                    <a:pt x="511576" y="838391"/>
                    <a:pt x="290215" y="617601"/>
                    <a:pt x="69330" y="396335"/>
                  </a:cubicBezTo>
                  <a:cubicBezTo>
                    <a:pt x="-37160" y="289560"/>
                    <a:pt x="-18300" y="114872"/>
                    <a:pt x="107525" y="34862"/>
                  </a:cubicBezTo>
                  <a:cubicBezTo>
                    <a:pt x="196012" y="-21336"/>
                    <a:pt x="313170" y="-8668"/>
                    <a:pt x="389275" y="66199"/>
                  </a:cubicBezTo>
                  <a:cubicBezTo>
                    <a:pt x="445282" y="121349"/>
                    <a:pt x="500717" y="177070"/>
                    <a:pt x="556057" y="232791"/>
                  </a:cubicBezTo>
                  <a:cubicBezTo>
                    <a:pt x="782086" y="460153"/>
                    <a:pt x="1007923" y="687705"/>
                    <a:pt x="1234047" y="914972"/>
                  </a:cubicBezTo>
                  <a:cubicBezTo>
                    <a:pt x="1332821" y="1014222"/>
                    <a:pt x="1333297" y="1152716"/>
                    <a:pt x="1233856" y="1252157"/>
                  </a:cubicBezTo>
                  <a:cubicBezTo>
                    <a:pt x="954964" y="1531144"/>
                    <a:pt x="675787" y="1809845"/>
                    <a:pt x="396799" y="2088737"/>
                  </a:cubicBezTo>
                  <a:cubicBezTo>
                    <a:pt x="330886" y="2154651"/>
                    <a:pt x="252115" y="2177320"/>
                    <a:pt x="163151" y="2151317"/>
                  </a:cubicBezTo>
                  <a:cubicBezTo>
                    <a:pt x="74664" y="2125409"/>
                    <a:pt x="20562" y="2063306"/>
                    <a:pt x="4465" y="1972818"/>
                  </a:cubicBezTo>
                  <a:cubicBezTo>
                    <a:pt x="-9347" y="1895475"/>
                    <a:pt x="12847" y="1827276"/>
                    <a:pt x="69235" y="1770983"/>
                  </a:cubicBezTo>
                  <a:cubicBezTo>
                    <a:pt x="291072" y="1549527"/>
                    <a:pt x="512719" y="1327880"/>
                    <a:pt x="734651" y="1106424"/>
                  </a:cubicBezTo>
                  <a:cubicBezTo>
                    <a:pt x="741509" y="1099661"/>
                    <a:pt x="749891" y="1094423"/>
                    <a:pt x="763036" y="10841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Graphic 9">
              <a:extLst>
                <a:ext uri="{FF2B5EF4-FFF2-40B4-BE49-F238E27FC236}">
                  <a16:creationId xmlns:a16="http://schemas.microsoft.com/office/drawing/2014/main" id="{B99F3FAD-C9E1-610D-0509-478531BE03CE}"/>
                </a:ext>
              </a:extLst>
            </p:cNvPr>
            <p:cNvSpPr/>
            <p:nvPr/>
          </p:nvSpPr>
          <p:spPr>
            <a:xfrm rot="5400000">
              <a:off x="6784802" y="3199411"/>
              <a:ext cx="360028" cy="594920"/>
            </a:xfrm>
            <a:custGeom>
              <a:avLst/>
              <a:gdLst>
                <a:gd name="connsiteX0" fmla="*/ 763036 w 1308282"/>
                <a:gd name="connsiteY0" fmla="*/ 1084040 h 2161841"/>
                <a:gd name="connsiteX1" fmla="*/ 732841 w 1308282"/>
                <a:gd name="connsiteY1" fmla="*/ 1059275 h 2161841"/>
                <a:gd name="connsiteX2" fmla="*/ 69330 w 1308282"/>
                <a:gd name="connsiteY2" fmla="*/ 396335 h 2161841"/>
                <a:gd name="connsiteX3" fmla="*/ 107525 w 1308282"/>
                <a:gd name="connsiteY3" fmla="*/ 34862 h 2161841"/>
                <a:gd name="connsiteX4" fmla="*/ 389275 w 1308282"/>
                <a:gd name="connsiteY4" fmla="*/ 66199 h 2161841"/>
                <a:gd name="connsiteX5" fmla="*/ 556057 w 1308282"/>
                <a:gd name="connsiteY5" fmla="*/ 232791 h 2161841"/>
                <a:gd name="connsiteX6" fmla="*/ 1234047 w 1308282"/>
                <a:gd name="connsiteY6" fmla="*/ 914972 h 2161841"/>
                <a:gd name="connsiteX7" fmla="*/ 1233856 w 1308282"/>
                <a:gd name="connsiteY7" fmla="*/ 1252157 h 2161841"/>
                <a:gd name="connsiteX8" fmla="*/ 396799 w 1308282"/>
                <a:gd name="connsiteY8" fmla="*/ 2088737 h 2161841"/>
                <a:gd name="connsiteX9" fmla="*/ 163151 w 1308282"/>
                <a:gd name="connsiteY9" fmla="*/ 2151317 h 2161841"/>
                <a:gd name="connsiteX10" fmla="*/ 4465 w 1308282"/>
                <a:gd name="connsiteY10" fmla="*/ 1972818 h 2161841"/>
                <a:gd name="connsiteX11" fmla="*/ 69235 w 1308282"/>
                <a:gd name="connsiteY11" fmla="*/ 1770983 h 2161841"/>
                <a:gd name="connsiteX12" fmla="*/ 734651 w 1308282"/>
                <a:gd name="connsiteY12" fmla="*/ 1106424 h 2161841"/>
                <a:gd name="connsiteX13" fmla="*/ 763036 w 1308282"/>
                <a:gd name="connsiteY13" fmla="*/ 1084136 h 216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8282" h="2161841">
                  <a:moveTo>
                    <a:pt x="763036" y="1084040"/>
                  </a:moveTo>
                  <a:cubicBezTo>
                    <a:pt x="749129" y="1072706"/>
                    <a:pt x="740271" y="1066705"/>
                    <a:pt x="732841" y="1059275"/>
                  </a:cubicBezTo>
                  <a:cubicBezTo>
                    <a:pt x="511576" y="838391"/>
                    <a:pt x="290215" y="617601"/>
                    <a:pt x="69330" y="396335"/>
                  </a:cubicBezTo>
                  <a:cubicBezTo>
                    <a:pt x="-37160" y="289560"/>
                    <a:pt x="-18300" y="114872"/>
                    <a:pt x="107525" y="34862"/>
                  </a:cubicBezTo>
                  <a:cubicBezTo>
                    <a:pt x="196012" y="-21336"/>
                    <a:pt x="313170" y="-8668"/>
                    <a:pt x="389275" y="66199"/>
                  </a:cubicBezTo>
                  <a:cubicBezTo>
                    <a:pt x="445282" y="121349"/>
                    <a:pt x="500717" y="177070"/>
                    <a:pt x="556057" y="232791"/>
                  </a:cubicBezTo>
                  <a:cubicBezTo>
                    <a:pt x="782086" y="460153"/>
                    <a:pt x="1007923" y="687705"/>
                    <a:pt x="1234047" y="914972"/>
                  </a:cubicBezTo>
                  <a:cubicBezTo>
                    <a:pt x="1332821" y="1014222"/>
                    <a:pt x="1333297" y="1152716"/>
                    <a:pt x="1233856" y="1252157"/>
                  </a:cubicBezTo>
                  <a:cubicBezTo>
                    <a:pt x="954964" y="1531144"/>
                    <a:pt x="675787" y="1809845"/>
                    <a:pt x="396799" y="2088737"/>
                  </a:cubicBezTo>
                  <a:cubicBezTo>
                    <a:pt x="330886" y="2154651"/>
                    <a:pt x="252115" y="2177320"/>
                    <a:pt x="163151" y="2151317"/>
                  </a:cubicBezTo>
                  <a:cubicBezTo>
                    <a:pt x="74664" y="2125409"/>
                    <a:pt x="20562" y="2063306"/>
                    <a:pt x="4465" y="1972818"/>
                  </a:cubicBezTo>
                  <a:cubicBezTo>
                    <a:pt x="-9347" y="1895475"/>
                    <a:pt x="12847" y="1827276"/>
                    <a:pt x="69235" y="1770983"/>
                  </a:cubicBezTo>
                  <a:cubicBezTo>
                    <a:pt x="291072" y="1549527"/>
                    <a:pt x="512719" y="1327880"/>
                    <a:pt x="734651" y="1106424"/>
                  </a:cubicBezTo>
                  <a:cubicBezTo>
                    <a:pt x="741509" y="1099661"/>
                    <a:pt x="749891" y="1094423"/>
                    <a:pt x="763036" y="10841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18479863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60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path" presetSubtype="0" decel="100000" fill="hold" nodeType="withEffect">
                                  <p:stCondLst>
                                    <p:cond delay="600"/>
                                  </p:stCondLst>
                                  <p:childTnLst>
                                    <p:animMotion origin="layout" path="M 4.375E-6 -3.33333E-6 L 4.375E-6 0.03542 " pathEditMode="relative" rAng="0" ptsTypes="AA">
                                      <p:cBhvr>
                                        <p:cTn id="21" dur="700" spd="-100000" fill="hold"/>
                                        <p:tgtEl>
                                          <p:spTgt spid="22"/>
                                        </p:tgtEl>
                                        <p:attrNameLst>
                                          <p:attrName>ppt_x</p:attrName>
                                          <p:attrName>ppt_y</p:attrName>
                                        </p:attrNameLst>
                                      </p:cBhvr>
                                      <p:rCtr x="0" y="1759"/>
                                    </p:animMotion>
                                  </p:childTnLst>
                                </p:cTn>
                              </p:par>
                              <p:par>
                                <p:cTn id="22" presetID="10"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p:bldP spid="15" grpId="0"/>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1C942-E345-75C7-392F-C7A9EEB922B9}"/>
            </a:ext>
          </a:extLst>
        </p:cNvPr>
        <p:cNvGrpSpPr/>
        <p:nvPr/>
      </p:nvGrpSpPr>
      <p:grpSpPr>
        <a:xfrm>
          <a:off x="0" y="0"/>
          <a:ext cx="0" cy="0"/>
          <a:chOff x="0" y="0"/>
          <a:chExt cx="0" cy="0"/>
        </a:xfrm>
      </p:grpSpPr>
      <p:sp>
        <p:nvSpPr>
          <p:cNvPr id="23" name="Freeform: Shape 30">
            <a:extLst>
              <a:ext uri="{FF2B5EF4-FFF2-40B4-BE49-F238E27FC236}">
                <a16:creationId xmlns:a16="http://schemas.microsoft.com/office/drawing/2014/main" id="{6E258CE7-CA3E-9549-3552-EC2A830C0648}"/>
              </a:ext>
              <a:ext uri="{C183D7F6-B498-43B3-948B-1728B52AA6E4}">
                <adec:decorative xmlns:adec="http://schemas.microsoft.com/office/drawing/2017/decorative" val="1"/>
              </a:ext>
            </a:extLst>
          </p:cNvPr>
          <p:cNvSpPr>
            <a:spLocks/>
          </p:cNvSpPr>
          <p:nvPr/>
        </p:nvSpPr>
        <p:spPr>
          <a:xfrm>
            <a:off x="3083759" y="2590846"/>
            <a:ext cx="6320022" cy="3446698"/>
          </a:xfrm>
          <a:prstGeom prst="roundRect">
            <a:avLst>
              <a:gd name="adj" fmla="val 3972"/>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endParaRPr>
          </a:p>
        </p:txBody>
      </p:sp>
      <p:sp>
        <p:nvSpPr>
          <p:cNvPr id="2" name="Rectangle: Rounded Corners 28">
            <a:extLst>
              <a:ext uri="{FF2B5EF4-FFF2-40B4-BE49-F238E27FC236}">
                <a16:creationId xmlns:a16="http://schemas.microsoft.com/office/drawing/2014/main" id="{F339ECE8-4189-C872-E0B0-AE1BAA52CC31}"/>
              </a:ext>
              <a:ext uri="{C183D7F6-B498-43B3-948B-1728B52AA6E4}">
                <adec:decorative xmlns:adec="http://schemas.microsoft.com/office/drawing/2017/decorative" val="1"/>
              </a:ext>
            </a:extLst>
          </p:cNvPr>
          <p:cNvSpPr>
            <a:spLocks/>
          </p:cNvSpPr>
          <p:nvPr/>
        </p:nvSpPr>
        <p:spPr bwMode="auto">
          <a:xfrm>
            <a:off x="339091" y="2036751"/>
            <a:ext cx="11513819" cy="204263"/>
          </a:xfrm>
          <a:prstGeom prst="roundRect">
            <a:avLst>
              <a:gd name="adj" fmla="val 50000"/>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86" rtl="0" eaLnBrk="1" fontAlgn="base" latinLnBrk="0" hangingPunct="1">
              <a:lnSpc>
                <a:spcPct val="100000"/>
              </a:lnSpc>
              <a:spcBef>
                <a:spcPts val="600"/>
              </a:spcBef>
              <a:spcAft>
                <a:spcPct val="0"/>
              </a:spcAft>
              <a:buClrTx/>
              <a:buSzTx/>
              <a:buFontTx/>
              <a:buNone/>
              <a:tabLst>
                <a:tab pos="1487158" algn="l"/>
              </a:tabLst>
              <a:defRPr/>
            </a:pPr>
            <a:endParaRPr kumimoji="0" lang="en-GB" sz="800" b="1" i="0" u="none" strike="noStrike" kern="1200" cap="none" spc="0" normalizeH="0" baseline="0" noProof="0" err="1">
              <a:ln>
                <a:noFill/>
              </a:ln>
              <a:gradFill>
                <a:gsLst>
                  <a:gs pos="70629">
                    <a:srgbClr val="FFFFFF"/>
                  </a:gs>
                  <a:gs pos="48951">
                    <a:srgbClr val="FFFFFF"/>
                  </a:gs>
                </a:gsLst>
                <a:path path="circle">
                  <a:fillToRect l="100000" t="100000"/>
                </a:path>
              </a:gradFill>
              <a:effectLst/>
              <a:uLnTx/>
              <a:uFillTx/>
              <a:latin typeface="Segoe UI Semibold"/>
              <a:ea typeface="+mn-ea"/>
              <a:cs typeface="+mn-cs"/>
            </a:endParaRPr>
          </a:p>
        </p:txBody>
      </p:sp>
      <p:cxnSp>
        <p:nvCxnSpPr>
          <p:cNvPr id="35" name="Straight Connector 34">
            <a:extLst>
              <a:ext uri="{FF2B5EF4-FFF2-40B4-BE49-F238E27FC236}">
                <a16:creationId xmlns:a16="http://schemas.microsoft.com/office/drawing/2014/main" id="{78FE4BE5-3576-4425-4812-885B9068A43E}"/>
              </a:ext>
              <a:ext uri="{C183D7F6-B498-43B3-948B-1728B52AA6E4}">
                <adec:decorative xmlns:adec="http://schemas.microsoft.com/office/drawing/2017/decorative" val="1"/>
              </a:ext>
            </a:extLst>
          </p:cNvPr>
          <p:cNvCxnSpPr>
            <a:cxnSpLocks/>
          </p:cNvCxnSpPr>
          <p:nvPr/>
        </p:nvCxnSpPr>
        <p:spPr>
          <a:xfrm>
            <a:off x="5182430" y="3518678"/>
            <a:ext cx="0" cy="1565496"/>
          </a:xfrm>
          <a:prstGeom prst="line">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9" name="Title 1">
            <a:extLst>
              <a:ext uri="{FF2B5EF4-FFF2-40B4-BE49-F238E27FC236}">
                <a16:creationId xmlns:a16="http://schemas.microsoft.com/office/drawing/2014/main" id="{5DEED903-3310-AE68-EABD-71D40275E92A}"/>
              </a:ext>
            </a:extLst>
          </p:cNvPr>
          <p:cNvSpPr>
            <a:spLocks noGrp="1"/>
          </p:cNvSpPr>
          <p:nvPr>
            <p:ph type="title"/>
          </p:nvPr>
        </p:nvSpPr>
        <p:spPr>
          <a:xfrm>
            <a:off x="588963" y="457200"/>
            <a:ext cx="10767076" cy="861774"/>
          </a:xfrm>
        </p:spPr>
        <p:txBody>
          <a:bodyPr>
            <a:normAutofit fontScale="90000"/>
          </a:bodyPr>
          <a:lstStyle/>
          <a:p>
            <a:pPr algn="ctr"/>
            <a:r>
              <a:rPr lang="en-US">
                <a:solidFill>
                  <a:schemeClr val="accent2"/>
                </a:solidFill>
              </a:rPr>
              <a:t>Microsoft Purview’s solutions </a:t>
            </a:r>
            <a:br>
              <a:rPr lang="en-US">
                <a:solidFill>
                  <a:schemeClr val="accent2"/>
                </a:solidFill>
              </a:rPr>
            </a:br>
            <a:r>
              <a:rPr lang="en-US"/>
              <a:t>help you secure your AI data like never before</a:t>
            </a:r>
          </a:p>
        </p:txBody>
      </p:sp>
      <p:sp>
        <p:nvSpPr>
          <p:cNvPr id="30" name="Rectangle 29" descr="&quot;Microsoft Purview’s solutions&quot; highlighted in blue color font from the title">
            <a:extLst>
              <a:ext uri="{FF2B5EF4-FFF2-40B4-BE49-F238E27FC236}">
                <a16:creationId xmlns:a16="http://schemas.microsoft.com/office/drawing/2014/main" id="{E0725056-F074-6FE2-B3F5-B948D9570DEB}"/>
              </a:ext>
            </a:extLst>
          </p:cNvPr>
          <p:cNvSpPr/>
          <p:nvPr/>
        </p:nvSpPr>
        <p:spPr bwMode="auto">
          <a:xfrm>
            <a:off x="9222377" y="1240971"/>
            <a:ext cx="52252" cy="13436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Box 5">
            <a:extLst>
              <a:ext uri="{FF2B5EF4-FFF2-40B4-BE49-F238E27FC236}">
                <a16:creationId xmlns:a16="http://schemas.microsoft.com/office/drawing/2014/main" id="{281A1C7A-F466-5FDE-1766-4897422CF320}"/>
              </a:ext>
              <a:ext uri="{C183D7F6-B498-43B3-948B-1728B52AA6E4}">
                <adec:decorative xmlns:adec="http://schemas.microsoft.com/office/drawing/2017/decorative" val="0"/>
              </a:ext>
            </a:extLst>
          </p:cNvPr>
          <p:cNvSpPr txBox="1">
            <a:spLocks/>
          </p:cNvSpPr>
          <p:nvPr/>
        </p:nvSpPr>
        <p:spPr>
          <a:xfrm>
            <a:off x="639186" y="2641569"/>
            <a:ext cx="2358000" cy="579123"/>
          </a:xfrm>
          <a:prstGeom prst="roundRect">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sym typeface="Helvetica Neue"/>
              </a:rPr>
              <a:t>November 2023</a:t>
            </a:r>
          </a:p>
        </p:txBody>
      </p:sp>
      <p:sp>
        <p:nvSpPr>
          <p:cNvPr id="7" name="TextBox 6">
            <a:extLst>
              <a:ext uri="{FF2B5EF4-FFF2-40B4-BE49-F238E27FC236}">
                <a16:creationId xmlns:a16="http://schemas.microsoft.com/office/drawing/2014/main" id="{09D74DB9-A625-F90D-10E3-72E642BC60AA}"/>
              </a:ext>
              <a:ext uri="{C183D7F6-B498-43B3-948B-1728B52AA6E4}">
                <adec:decorative xmlns:adec="http://schemas.microsoft.com/office/drawing/2017/decorative" val="0"/>
              </a:ext>
            </a:extLst>
          </p:cNvPr>
          <p:cNvSpPr txBox="1">
            <a:spLocks/>
          </p:cNvSpPr>
          <p:nvPr/>
        </p:nvSpPr>
        <p:spPr>
          <a:xfrm>
            <a:off x="3135170" y="2641569"/>
            <a:ext cx="6217200" cy="579123"/>
          </a:xfrm>
          <a:prstGeom prst="roundRect">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defPPr>
              <a:defRPr lang="en-US"/>
            </a:defPPr>
            <a:lvl1pPr algn="ctr" defTabSz="1219170">
              <a:buClr>
                <a:srgbClr val="BFE8F6"/>
              </a:buClr>
              <a:buSzPts val="1000"/>
              <a:defRPr sz="1800" b="1" kern="0">
                <a:latin typeface="+mj-lt"/>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chemeClr val="bg1"/>
                </a:solidFill>
                <a:effectLst/>
                <a:uLnTx/>
                <a:uFillTx/>
                <a:latin typeface="Segoe UI Semibold"/>
                <a:ea typeface="+mn-ea"/>
                <a:cs typeface="+mn-cs"/>
                <a:sym typeface="Helvetica Neue"/>
              </a:rPr>
              <a:t>May 2024</a:t>
            </a:r>
          </a:p>
        </p:txBody>
      </p:sp>
      <p:pic>
        <p:nvPicPr>
          <p:cNvPr id="32" name="Picture 31" descr="Microsoft Purview logo">
            <a:extLst>
              <a:ext uri="{FF2B5EF4-FFF2-40B4-BE49-F238E27FC236}">
                <a16:creationId xmlns:a16="http://schemas.microsoft.com/office/drawing/2014/main" id="{627176AE-93EA-EE66-4C17-E390A6F63EA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1354" y="3584368"/>
            <a:ext cx="433385" cy="433385"/>
          </a:xfrm>
          <a:prstGeom prst="rect">
            <a:avLst/>
          </a:prstGeom>
        </p:spPr>
      </p:pic>
      <p:sp>
        <p:nvSpPr>
          <p:cNvPr id="33" name="TextBox 32">
            <a:extLst>
              <a:ext uri="{FF2B5EF4-FFF2-40B4-BE49-F238E27FC236}">
                <a16:creationId xmlns:a16="http://schemas.microsoft.com/office/drawing/2014/main" id="{1BAF542A-3E55-F469-B837-CA45D5125E05}"/>
              </a:ext>
              <a:ext uri="{C183D7F6-B498-43B3-948B-1728B52AA6E4}">
                <adec:decorative xmlns:adec="http://schemas.microsoft.com/office/drawing/2017/decorative" val="0"/>
              </a:ext>
            </a:extLst>
          </p:cNvPr>
          <p:cNvSpPr txBox="1"/>
          <p:nvPr/>
        </p:nvSpPr>
        <p:spPr>
          <a:xfrm>
            <a:off x="3213100" y="4096202"/>
            <a:ext cx="1769894" cy="69249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DSPM for AI</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Public Preview</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May 2024</a:t>
            </a:r>
          </a:p>
        </p:txBody>
      </p:sp>
      <p:sp>
        <p:nvSpPr>
          <p:cNvPr id="31" name="Rounded Rectangle 14">
            <a:extLst>
              <a:ext uri="{FF2B5EF4-FFF2-40B4-BE49-F238E27FC236}">
                <a16:creationId xmlns:a16="http://schemas.microsoft.com/office/drawing/2014/main" id="{8217AB11-6814-2D67-59E1-0ED7AB92951F}"/>
              </a:ext>
              <a:ext uri="{C183D7F6-B498-43B3-948B-1728B52AA6E4}">
                <adec:decorative xmlns:adec="http://schemas.microsoft.com/office/drawing/2017/decorative" val="0"/>
              </a:ext>
            </a:extLst>
          </p:cNvPr>
          <p:cNvSpPr/>
          <p:nvPr/>
        </p:nvSpPr>
        <p:spPr>
          <a:xfrm>
            <a:off x="5381866" y="3521552"/>
            <a:ext cx="3892763" cy="1508105"/>
          </a:xfrm>
          <a:prstGeom prst="rect">
            <a:avLst/>
          </a:prstGeom>
          <a:no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Reports on security and compliance for M365 Copilot activity</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Recommendations for a better data security posture</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AI-focused policy management</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Insider Risk signals </a:t>
            </a:r>
          </a:p>
          <a:p>
            <a:pPr marL="171450" marR="0" lvl="0" indent="-171450" algn="l" defTabSz="914367"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accent2"/>
                </a:solidFill>
                <a:effectLst/>
                <a:uLnTx/>
                <a:uFillTx/>
                <a:latin typeface="Segoe UI"/>
                <a:ea typeface="+mn-ea"/>
                <a:cs typeface="+mn-cs"/>
              </a:rPr>
              <a:t>AI regulations coverage with Compliance Manager</a:t>
            </a:r>
          </a:p>
        </p:txBody>
      </p:sp>
      <p:sp>
        <p:nvSpPr>
          <p:cNvPr id="34" name="Rectangle: Rounded Corners 64">
            <a:extLst>
              <a:ext uri="{FF2B5EF4-FFF2-40B4-BE49-F238E27FC236}">
                <a16:creationId xmlns:a16="http://schemas.microsoft.com/office/drawing/2014/main" id="{63DF778B-D77D-AC2A-E56E-660A7A22895D}"/>
              </a:ext>
              <a:ext uri="{C183D7F6-B498-43B3-948B-1728B52AA6E4}">
                <adec:decorative xmlns:adec="http://schemas.microsoft.com/office/drawing/2017/decorative" val="0"/>
              </a:ext>
            </a:extLst>
          </p:cNvPr>
          <p:cNvSpPr/>
          <p:nvPr/>
        </p:nvSpPr>
        <p:spPr bwMode="auto">
          <a:xfrm>
            <a:off x="3164283" y="5434006"/>
            <a:ext cx="6110337" cy="519883"/>
          </a:xfrm>
          <a:prstGeom prst="roundRect">
            <a:avLst/>
          </a:prstGeom>
          <a:ln w="12700" cap="rnd">
            <a:gradFill flip="none" rotWithShape="1">
              <a:gsLst>
                <a:gs pos="0">
                  <a:srgbClr val="C03BC4"/>
                </a:gs>
                <a:gs pos="80000">
                  <a:srgbClr val="0078D4"/>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accent2"/>
                </a:solidFill>
                <a:effectLst/>
                <a:uLnTx/>
                <a:uFillTx/>
                <a:latin typeface="Segoe UI Semibold"/>
                <a:ea typeface="+mn-ea"/>
                <a:cs typeface="Segoe UI" pitchFamily="34" charset="0"/>
              </a:rPr>
              <a:t>Unlock visibility into AI usage and data security posture</a:t>
            </a:r>
          </a:p>
        </p:txBody>
      </p:sp>
      <p:sp>
        <p:nvSpPr>
          <p:cNvPr id="5" name="TextBox 4">
            <a:extLst>
              <a:ext uri="{FF2B5EF4-FFF2-40B4-BE49-F238E27FC236}">
                <a16:creationId xmlns:a16="http://schemas.microsoft.com/office/drawing/2014/main" id="{9D2CA6FF-05C7-9E47-C760-C34FB8BA1C9A}"/>
              </a:ext>
              <a:ext uri="{C183D7F6-B498-43B3-948B-1728B52AA6E4}">
                <adec:decorative xmlns:adec="http://schemas.microsoft.com/office/drawing/2017/decorative" val="0"/>
              </a:ext>
            </a:extLst>
          </p:cNvPr>
          <p:cNvSpPr txBox="1">
            <a:spLocks/>
          </p:cNvSpPr>
          <p:nvPr/>
        </p:nvSpPr>
        <p:spPr>
          <a:xfrm>
            <a:off x="9490354" y="2641569"/>
            <a:ext cx="2358000" cy="579123"/>
          </a:xfrm>
          <a:prstGeom prst="roundRect">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rgbClr val="FFFFFF"/>
                </a:solidFill>
                <a:effectLst/>
                <a:uLnTx/>
                <a:uFillTx/>
                <a:latin typeface="Segoe UI Semibold"/>
                <a:ea typeface="+mn-ea"/>
                <a:cs typeface="+mn-cs"/>
                <a:sym typeface="Helvetica Neue"/>
              </a:rPr>
              <a:t>November 2024</a:t>
            </a:r>
          </a:p>
        </p:txBody>
      </p:sp>
      <p:sp>
        <p:nvSpPr>
          <p:cNvPr id="3" name="Oval 10_1">
            <a:extLst>
              <a:ext uri="{FF2B5EF4-FFF2-40B4-BE49-F238E27FC236}">
                <a16:creationId xmlns:a16="http://schemas.microsoft.com/office/drawing/2014/main" id="{2AF7E66F-7618-6737-D091-DBD20DD2B314}"/>
              </a:ext>
              <a:ext uri="{C183D7F6-B498-43B3-948B-1728B52AA6E4}">
                <adec:decorative xmlns:adec="http://schemas.microsoft.com/office/drawing/2017/decorative" val="1"/>
              </a:ext>
            </a:extLst>
          </p:cNvPr>
          <p:cNvSpPr/>
          <p:nvPr/>
        </p:nvSpPr>
        <p:spPr>
          <a:xfrm>
            <a:off x="1503289"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4" name="Oval 3">
            <a:extLst>
              <a:ext uri="{FF2B5EF4-FFF2-40B4-BE49-F238E27FC236}">
                <a16:creationId xmlns:a16="http://schemas.microsoft.com/office/drawing/2014/main" id="{4EDFD08A-054B-FC30-D098-5504960F6419}"/>
              </a:ext>
              <a:ext uri="{C183D7F6-B498-43B3-948B-1728B52AA6E4}">
                <adec:decorative xmlns:adec="http://schemas.microsoft.com/office/drawing/2017/decorative" val="1"/>
              </a:ext>
            </a:extLst>
          </p:cNvPr>
          <p:cNvSpPr/>
          <p:nvPr/>
        </p:nvSpPr>
        <p:spPr>
          <a:xfrm>
            <a:off x="1691864" y="2018357"/>
            <a:ext cx="252645" cy="252645"/>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8" name="Oval 10_1">
            <a:extLst>
              <a:ext uri="{FF2B5EF4-FFF2-40B4-BE49-F238E27FC236}">
                <a16:creationId xmlns:a16="http://schemas.microsoft.com/office/drawing/2014/main" id="{D4C08CC2-B76F-E8C1-680A-4D71160652AD}"/>
              </a:ext>
              <a:ext uri="{C183D7F6-B498-43B3-948B-1728B52AA6E4}">
                <adec:decorative xmlns:adec="http://schemas.microsoft.com/office/drawing/2017/decorative" val="1"/>
              </a:ext>
            </a:extLst>
          </p:cNvPr>
          <p:cNvSpPr/>
          <p:nvPr/>
        </p:nvSpPr>
        <p:spPr>
          <a:xfrm>
            <a:off x="5928873"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9" name="Oval 8">
            <a:extLst>
              <a:ext uri="{FF2B5EF4-FFF2-40B4-BE49-F238E27FC236}">
                <a16:creationId xmlns:a16="http://schemas.microsoft.com/office/drawing/2014/main" id="{65766B8C-0FED-7D92-1942-7402072C3FEB}"/>
              </a:ext>
              <a:ext uri="{C183D7F6-B498-43B3-948B-1728B52AA6E4}">
                <adec:decorative xmlns:adec="http://schemas.microsoft.com/office/drawing/2017/decorative" val="1"/>
              </a:ext>
            </a:extLst>
          </p:cNvPr>
          <p:cNvSpPr/>
          <p:nvPr/>
        </p:nvSpPr>
        <p:spPr>
          <a:xfrm>
            <a:off x="6117448" y="2018357"/>
            <a:ext cx="252645" cy="252645"/>
          </a:xfrm>
          <a:prstGeom prst="ellipse">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cxnSp>
        <p:nvCxnSpPr>
          <p:cNvPr id="13" name="!!line1">
            <a:extLst>
              <a:ext uri="{FF2B5EF4-FFF2-40B4-BE49-F238E27FC236}">
                <a16:creationId xmlns:a16="http://schemas.microsoft.com/office/drawing/2014/main" id="{75E9C6AB-D782-BA33-CD52-72361763A41E}"/>
              </a:ext>
              <a:ext uri="{C183D7F6-B498-43B3-948B-1728B52AA6E4}">
                <adec:decorative xmlns:adec="http://schemas.microsoft.com/office/drawing/2017/decorative" val="1"/>
              </a:ext>
            </a:extLst>
          </p:cNvPr>
          <p:cNvCxnSpPr>
            <a:cxnSpLocks/>
            <a:stCxn id="4" idx="4"/>
            <a:endCxn id="14" idx="0"/>
          </p:cNvCxnSpPr>
          <p:nvPr/>
        </p:nvCxnSpPr>
        <p:spPr>
          <a:xfrm flipH="1">
            <a:off x="1818186"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43BCAAE-CCC7-4B36-9A91-F2967530514A}"/>
              </a:ext>
              <a:ext uri="{C183D7F6-B498-43B3-948B-1728B52AA6E4}">
                <adec:decorative xmlns:adec="http://schemas.microsoft.com/office/drawing/2017/decorative" val="1"/>
              </a:ext>
            </a:extLst>
          </p:cNvPr>
          <p:cNvSpPr/>
          <p:nvPr/>
        </p:nvSpPr>
        <p:spPr>
          <a:xfrm>
            <a:off x="1739750" y="2556977"/>
            <a:ext cx="156872" cy="156872"/>
          </a:xfrm>
          <a:prstGeom prst="ellipse">
            <a:avLst/>
          </a:prstGeom>
          <a:gradFill flip="none" rotWithShape="1">
            <a:gsLst>
              <a:gs pos="0">
                <a:srgbClr val="0078D4"/>
              </a:gs>
              <a:gs pos="80000">
                <a:srgbClr val="399A91"/>
              </a:gs>
            </a:gsLst>
            <a:path path="circle">
              <a:fillToRect l="100000" t="100000"/>
            </a:path>
            <a:tileRect r="-100000" b="-100000"/>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15" name="Oval 10_1">
            <a:extLst>
              <a:ext uri="{FF2B5EF4-FFF2-40B4-BE49-F238E27FC236}">
                <a16:creationId xmlns:a16="http://schemas.microsoft.com/office/drawing/2014/main" id="{7266818E-517A-F30B-7607-0DB23725D356}"/>
              </a:ext>
              <a:ext uri="{C183D7F6-B498-43B3-948B-1728B52AA6E4}">
                <adec:decorative xmlns:adec="http://schemas.microsoft.com/office/drawing/2017/decorative" val="1"/>
              </a:ext>
            </a:extLst>
          </p:cNvPr>
          <p:cNvSpPr/>
          <p:nvPr/>
        </p:nvSpPr>
        <p:spPr>
          <a:xfrm>
            <a:off x="10356734"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6" name="Oval 15">
            <a:extLst>
              <a:ext uri="{FF2B5EF4-FFF2-40B4-BE49-F238E27FC236}">
                <a16:creationId xmlns:a16="http://schemas.microsoft.com/office/drawing/2014/main" id="{562A95E5-9E92-5E0C-F02D-CCD02D963D16}"/>
              </a:ext>
              <a:ext uri="{C183D7F6-B498-43B3-948B-1728B52AA6E4}">
                <adec:decorative xmlns:adec="http://schemas.microsoft.com/office/drawing/2017/decorative" val="1"/>
              </a:ext>
            </a:extLst>
          </p:cNvPr>
          <p:cNvSpPr/>
          <p:nvPr/>
        </p:nvSpPr>
        <p:spPr>
          <a:xfrm>
            <a:off x="10545309" y="2018357"/>
            <a:ext cx="252645" cy="252645"/>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cxnSp>
        <p:nvCxnSpPr>
          <p:cNvPr id="21" name="!!line3">
            <a:extLst>
              <a:ext uri="{FF2B5EF4-FFF2-40B4-BE49-F238E27FC236}">
                <a16:creationId xmlns:a16="http://schemas.microsoft.com/office/drawing/2014/main" id="{567C0365-FAC9-F9D5-BDE7-DDB77CC593B4}"/>
              </a:ext>
              <a:ext uri="{C183D7F6-B498-43B3-948B-1728B52AA6E4}">
                <adec:decorative xmlns:adec="http://schemas.microsoft.com/office/drawing/2017/decorative" val="1"/>
              </a:ext>
            </a:extLst>
          </p:cNvPr>
          <p:cNvCxnSpPr>
            <a:cxnSpLocks/>
          </p:cNvCxnSpPr>
          <p:nvPr/>
        </p:nvCxnSpPr>
        <p:spPr>
          <a:xfrm flipH="1">
            <a:off x="10671631"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F632CD0-30C3-2FD7-9D7A-460318B168EB}"/>
              </a:ext>
              <a:ext uri="{C183D7F6-B498-43B3-948B-1728B52AA6E4}">
                <adec:decorative xmlns:adec="http://schemas.microsoft.com/office/drawing/2017/decorative" val="1"/>
              </a:ext>
            </a:extLst>
          </p:cNvPr>
          <p:cNvSpPr/>
          <p:nvPr/>
        </p:nvSpPr>
        <p:spPr>
          <a:xfrm>
            <a:off x="10593195" y="2556977"/>
            <a:ext cx="156872" cy="156872"/>
          </a:xfrm>
          <a:prstGeom prst="ellipse">
            <a:avLst/>
          </a:prstGeom>
          <a:gradFill>
            <a:gsLst>
              <a:gs pos="0">
                <a:srgbClr val="FF5C39"/>
              </a:gs>
              <a:gs pos="80000">
                <a:srgbClr val="C03BC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grpSp>
        <p:nvGrpSpPr>
          <p:cNvPr id="10" name="Group 9">
            <a:extLst>
              <a:ext uri="{FF2B5EF4-FFF2-40B4-BE49-F238E27FC236}">
                <a16:creationId xmlns:a16="http://schemas.microsoft.com/office/drawing/2014/main" id="{CB345C61-A5A3-4074-7942-35BD08AC48EA}"/>
              </a:ext>
              <a:ext uri="{C183D7F6-B498-43B3-948B-1728B52AA6E4}">
                <adec:decorative xmlns:adec="http://schemas.microsoft.com/office/drawing/2017/decorative" val="1"/>
              </a:ext>
            </a:extLst>
          </p:cNvPr>
          <p:cNvGrpSpPr/>
          <p:nvPr/>
        </p:nvGrpSpPr>
        <p:grpSpPr>
          <a:xfrm rot="5400000" flipH="1" flipV="1">
            <a:off x="11613493" y="2039427"/>
            <a:ext cx="149292" cy="198910"/>
            <a:chOff x="6667356" y="2954907"/>
            <a:chExt cx="594920" cy="721978"/>
          </a:xfrm>
          <a:solidFill>
            <a:schemeClr val="tx1"/>
          </a:solidFill>
        </p:grpSpPr>
        <p:sp>
          <p:nvSpPr>
            <p:cNvPr id="11" name="Graphic 9">
              <a:extLst>
                <a:ext uri="{FF2B5EF4-FFF2-40B4-BE49-F238E27FC236}">
                  <a16:creationId xmlns:a16="http://schemas.microsoft.com/office/drawing/2014/main" id="{3EC77381-D96E-AC3C-0B5E-CF5C2EE10DD2}"/>
                </a:ext>
              </a:extLst>
            </p:cNvPr>
            <p:cNvSpPr/>
            <p:nvPr/>
          </p:nvSpPr>
          <p:spPr>
            <a:xfrm rot="5400000">
              <a:off x="6784802" y="2837461"/>
              <a:ext cx="360028" cy="594920"/>
            </a:xfrm>
            <a:custGeom>
              <a:avLst/>
              <a:gdLst>
                <a:gd name="connsiteX0" fmla="*/ 763036 w 1308282"/>
                <a:gd name="connsiteY0" fmla="*/ 1084040 h 2161841"/>
                <a:gd name="connsiteX1" fmla="*/ 732841 w 1308282"/>
                <a:gd name="connsiteY1" fmla="*/ 1059275 h 2161841"/>
                <a:gd name="connsiteX2" fmla="*/ 69330 w 1308282"/>
                <a:gd name="connsiteY2" fmla="*/ 396335 h 2161841"/>
                <a:gd name="connsiteX3" fmla="*/ 107525 w 1308282"/>
                <a:gd name="connsiteY3" fmla="*/ 34862 h 2161841"/>
                <a:gd name="connsiteX4" fmla="*/ 389275 w 1308282"/>
                <a:gd name="connsiteY4" fmla="*/ 66199 h 2161841"/>
                <a:gd name="connsiteX5" fmla="*/ 556057 w 1308282"/>
                <a:gd name="connsiteY5" fmla="*/ 232791 h 2161841"/>
                <a:gd name="connsiteX6" fmla="*/ 1234047 w 1308282"/>
                <a:gd name="connsiteY6" fmla="*/ 914972 h 2161841"/>
                <a:gd name="connsiteX7" fmla="*/ 1233856 w 1308282"/>
                <a:gd name="connsiteY7" fmla="*/ 1252157 h 2161841"/>
                <a:gd name="connsiteX8" fmla="*/ 396799 w 1308282"/>
                <a:gd name="connsiteY8" fmla="*/ 2088737 h 2161841"/>
                <a:gd name="connsiteX9" fmla="*/ 163151 w 1308282"/>
                <a:gd name="connsiteY9" fmla="*/ 2151317 h 2161841"/>
                <a:gd name="connsiteX10" fmla="*/ 4465 w 1308282"/>
                <a:gd name="connsiteY10" fmla="*/ 1972818 h 2161841"/>
                <a:gd name="connsiteX11" fmla="*/ 69235 w 1308282"/>
                <a:gd name="connsiteY11" fmla="*/ 1770983 h 2161841"/>
                <a:gd name="connsiteX12" fmla="*/ 734651 w 1308282"/>
                <a:gd name="connsiteY12" fmla="*/ 1106424 h 2161841"/>
                <a:gd name="connsiteX13" fmla="*/ 763036 w 1308282"/>
                <a:gd name="connsiteY13" fmla="*/ 1084136 h 216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8282" h="2161841">
                  <a:moveTo>
                    <a:pt x="763036" y="1084040"/>
                  </a:moveTo>
                  <a:cubicBezTo>
                    <a:pt x="749129" y="1072706"/>
                    <a:pt x="740271" y="1066705"/>
                    <a:pt x="732841" y="1059275"/>
                  </a:cubicBezTo>
                  <a:cubicBezTo>
                    <a:pt x="511576" y="838391"/>
                    <a:pt x="290215" y="617601"/>
                    <a:pt x="69330" y="396335"/>
                  </a:cubicBezTo>
                  <a:cubicBezTo>
                    <a:pt x="-37160" y="289560"/>
                    <a:pt x="-18300" y="114872"/>
                    <a:pt x="107525" y="34862"/>
                  </a:cubicBezTo>
                  <a:cubicBezTo>
                    <a:pt x="196012" y="-21336"/>
                    <a:pt x="313170" y="-8668"/>
                    <a:pt x="389275" y="66199"/>
                  </a:cubicBezTo>
                  <a:cubicBezTo>
                    <a:pt x="445282" y="121349"/>
                    <a:pt x="500717" y="177070"/>
                    <a:pt x="556057" y="232791"/>
                  </a:cubicBezTo>
                  <a:cubicBezTo>
                    <a:pt x="782086" y="460153"/>
                    <a:pt x="1007923" y="687705"/>
                    <a:pt x="1234047" y="914972"/>
                  </a:cubicBezTo>
                  <a:cubicBezTo>
                    <a:pt x="1332821" y="1014222"/>
                    <a:pt x="1333297" y="1152716"/>
                    <a:pt x="1233856" y="1252157"/>
                  </a:cubicBezTo>
                  <a:cubicBezTo>
                    <a:pt x="954964" y="1531144"/>
                    <a:pt x="675787" y="1809845"/>
                    <a:pt x="396799" y="2088737"/>
                  </a:cubicBezTo>
                  <a:cubicBezTo>
                    <a:pt x="330886" y="2154651"/>
                    <a:pt x="252115" y="2177320"/>
                    <a:pt x="163151" y="2151317"/>
                  </a:cubicBezTo>
                  <a:cubicBezTo>
                    <a:pt x="74664" y="2125409"/>
                    <a:pt x="20562" y="2063306"/>
                    <a:pt x="4465" y="1972818"/>
                  </a:cubicBezTo>
                  <a:cubicBezTo>
                    <a:pt x="-9347" y="1895475"/>
                    <a:pt x="12847" y="1827276"/>
                    <a:pt x="69235" y="1770983"/>
                  </a:cubicBezTo>
                  <a:cubicBezTo>
                    <a:pt x="291072" y="1549527"/>
                    <a:pt x="512719" y="1327880"/>
                    <a:pt x="734651" y="1106424"/>
                  </a:cubicBezTo>
                  <a:cubicBezTo>
                    <a:pt x="741509" y="1099661"/>
                    <a:pt x="749891" y="1094423"/>
                    <a:pt x="763036" y="10841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Graphic 9">
              <a:extLst>
                <a:ext uri="{FF2B5EF4-FFF2-40B4-BE49-F238E27FC236}">
                  <a16:creationId xmlns:a16="http://schemas.microsoft.com/office/drawing/2014/main" id="{43E14506-9484-3A03-5CB8-D02E8A2A5999}"/>
                </a:ext>
              </a:extLst>
            </p:cNvPr>
            <p:cNvSpPr/>
            <p:nvPr/>
          </p:nvSpPr>
          <p:spPr>
            <a:xfrm rot="5400000">
              <a:off x="6784802" y="3199411"/>
              <a:ext cx="360028" cy="594920"/>
            </a:xfrm>
            <a:custGeom>
              <a:avLst/>
              <a:gdLst>
                <a:gd name="connsiteX0" fmla="*/ 763036 w 1308282"/>
                <a:gd name="connsiteY0" fmla="*/ 1084040 h 2161841"/>
                <a:gd name="connsiteX1" fmla="*/ 732841 w 1308282"/>
                <a:gd name="connsiteY1" fmla="*/ 1059275 h 2161841"/>
                <a:gd name="connsiteX2" fmla="*/ 69330 w 1308282"/>
                <a:gd name="connsiteY2" fmla="*/ 396335 h 2161841"/>
                <a:gd name="connsiteX3" fmla="*/ 107525 w 1308282"/>
                <a:gd name="connsiteY3" fmla="*/ 34862 h 2161841"/>
                <a:gd name="connsiteX4" fmla="*/ 389275 w 1308282"/>
                <a:gd name="connsiteY4" fmla="*/ 66199 h 2161841"/>
                <a:gd name="connsiteX5" fmla="*/ 556057 w 1308282"/>
                <a:gd name="connsiteY5" fmla="*/ 232791 h 2161841"/>
                <a:gd name="connsiteX6" fmla="*/ 1234047 w 1308282"/>
                <a:gd name="connsiteY6" fmla="*/ 914972 h 2161841"/>
                <a:gd name="connsiteX7" fmla="*/ 1233856 w 1308282"/>
                <a:gd name="connsiteY7" fmla="*/ 1252157 h 2161841"/>
                <a:gd name="connsiteX8" fmla="*/ 396799 w 1308282"/>
                <a:gd name="connsiteY8" fmla="*/ 2088737 h 2161841"/>
                <a:gd name="connsiteX9" fmla="*/ 163151 w 1308282"/>
                <a:gd name="connsiteY9" fmla="*/ 2151317 h 2161841"/>
                <a:gd name="connsiteX10" fmla="*/ 4465 w 1308282"/>
                <a:gd name="connsiteY10" fmla="*/ 1972818 h 2161841"/>
                <a:gd name="connsiteX11" fmla="*/ 69235 w 1308282"/>
                <a:gd name="connsiteY11" fmla="*/ 1770983 h 2161841"/>
                <a:gd name="connsiteX12" fmla="*/ 734651 w 1308282"/>
                <a:gd name="connsiteY12" fmla="*/ 1106424 h 2161841"/>
                <a:gd name="connsiteX13" fmla="*/ 763036 w 1308282"/>
                <a:gd name="connsiteY13" fmla="*/ 1084136 h 216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8282" h="2161841">
                  <a:moveTo>
                    <a:pt x="763036" y="1084040"/>
                  </a:moveTo>
                  <a:cubicBezTo>
                    <a:pt x="749129" y="1072706"/>
                    <a:pt x="740271" y="1066705"/>
                    <a:pt x="732841" y="1059275"/>
                  </a:cubicBezTo>
                  <a:cubicBezTo>
                    <a:pt x="511576" y="838391"/>
                    <a:pt x="290215" y="617601"/>
                    <a:pt x="69330" y="396335"/>
                  </a:cubicBezTo>
                  <a:cubicBezTo>
                    <a:pt x="-37160" y="289560"/>
                    <a:pt x="-18300" y="114872"/>
                    <a:pt x="107525" y="34862"/>
                  </a:cubicBezTo>
                  <a:cubicBezTo>
                    <a:pt x="196012" y="-21336"/>
                    <a:pt x="313170" y="-8668"/>
                    <a:pt x="389275" y="66199"/>
                  </a:cubicBezTo>
                  <a:cubicBezTo>
                    <a:pt x="445282" y="121349"/>
                    <a:pt x="500717" y="177070"/>
                    <a:pt x="556057" y="232791"/>
                  </a:cubicBezTo>
                  <a:cubicBezTo>
                    <a:pt x="782086" y="460153"/>
                    <a:pt x="1007923" y="687705"/>
                    <a:pt x="1234047" y="914972"/>
                  </a:cubicBezTo>
                  <a:cubicBezTo>
                    <a:pt x="1332821" y="1014222"/>
                    <a:pt x="1333297" y="1152716"/>
                    <a:pt x="1233856" y="1252157"/>
                  </a:cubicBezTo>
                  <a:cubicBezTo>
                    <a:pt x="954964" y="1531144"/>
                    <a:pt x="675787" y="1809845"/>
                    <a:pt x="396799" y="2088737"/>
                  </a:cubicBezTo>
                  <a:cubicBezTo>
                    <a:pt x="330886" y="2154651"/>
                    <a:pt x="252115" y="2177320"/>
                    <a:pt x="163151" y="2151317"/>
                  </a:cubicBezTo>
                  <a:cubicBezTo>
                    <a:pt x="74664" y="2125409"/>
                    <a:pt x="20562" y="2063306"/>
                    <a:pt x="4465" y="1972818"/>
                  </a:cubicBezTo>
                  <a:cubicBezTo>
                    <a:pt x="-9347" y="1895475"/>
                    <a:pt x="12847" y="1827276"/>
                    <a:pt x="69235" y="1770983"/>
                  </a:cubicBezTo>
                  <a:cubicBezTo>
                    <a:pt x="291072" y="1549527"/>
                    <a:pt x="512719" y="1327880"/>
                    <a:pt x="734651" y="1106424"/>
                  </a:cubicBezTo>
                  <a:cubicBezTo>
                    <a:pt x="741509" y="1099661"/>
                    <a:pt x="749891" y="1094423"/>
                    <a:pt x="763036" y="10841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19" name="!!line2">
            <a:extLst>
              <a:ext uri="{FF2B5EF4-FFF2-40B4-BE49-F238E27FC236}">
                <a16:creationId xmlns:a16="http://schemas.microsoft.com/office/drawing/2014/main" id="{93C55A07-686B-8D55-FCCE-3E403A348199}"/>
              </a:ext>
              <a:ext uri="{C183D7F6-B498-43B3-948B-1728B52AA6E4}">
                <adec:decorative xmlns:adec="http://schemas.microsoft.com/office/drawing/2017/decorative" val="1"/>
              </a:ext>
            </a:extLst>
          </p:cNvPr>
          <p:cNvCxnSpPr>
            <a:cxnSpLocks/>
          </p:cNvCxnSpPr>
          <p:nvPr/>
        </p:nvCxnSpPr>
        <p:spPr>
          <a:xfrm flipH="1">
            <a:off x="6243770"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EF8B5173-ED22-09CD-51E0-68D91BB9DEC6}"/>
              </a:ext>
              <a:ext uri="{C183D7F6-B498-43B3-948B-1728B52AA6E4}">
                <adec:decorative xmlns:adec="http://schemas.microsoft.com/office/drawing/2017/decorative" val="1"/>
              </a:ext>
            </a:extLst>
          </p:cNvPr>
          <p:cNvSpPr/>
          <p:nvPr/>
        </p:nvSpPr>
        <p:spPr>
          <a:xfrm>
            <a:off x="6165334" y="2556977"/>
            <a:ext cx="156872" cy="156872"/>
          </a:xfrm>
          <a:prstGeom prst="ellipse">
            <a:avLst/>
          </a:prstGeom>
          <a:gradFill>
            <a:gsLst>
              <a:gs pos="0">
                <a:srgbClr val="C03BC4"/>
              </a:gs>
              <a:gs pos="80000">
                <a:srgbClr val="0078D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chemeClr val="accent2"/>
              </a:solidFill>
              <a:effectLst/>
              <a:uLnTx/>
              <a:uFillTx/>
              <a:latin typeface="Segoe UI Semibold"/>
              <a:ea typeface="+mn-ea"/>
              <a:cs typeface="Segoe UI" pitchFamily="34" charset="0"/>
            </a:endParaRPr>
          </a:p>
        </p:txBody>
      </p:sp>
    </p:spTree>
    <p:extLst>
      <p:ext uri="{BB962C8B-B14F-4D97-AF65-F5344CB8AC3E}">
        <p14:creationId xmlns:p14="http://schemas.microsoft.com/office/powerpoint/2010/main" val="16814109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nodeType="withEffect">
                                  <p:stCondLst>
                                    <p:cond delay="60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42" presetClass="path" presetSubtype="0" decel="100000" fill="hold" nodeType="withEffect">
                                  <p:stCondLst>
                                    <p:cond delay="600"/>
                                  </p:stCondLst>
                                  <p:childTnLst>
                                    <p:animMotion origin="layout" path="M -2.08333E-7 -3.33333E-6 L -2.08333E-7 0.03542 " pathEditMode="relative" rAng="0" ptsTypes="AA">
                                      <p:cBhvr>
                                        <p:cTn id="24" dur="700" spd="-100000" fill="hold"/>
                                        <p:tgtEl>
                                          <p:spTgt spid="3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3" grpId="0"/>
      <p:bldP spid="31" grpId="0"/>
      <p:bldP spid="3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4A3C-62F0-2F9C-8BB0-741F3EF11E6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A379AD2-5E83-19F8-BFDB-8A00D7B847A0}"/>
              </a:ext>
            </a:extLst>
          </p:cNvPr>
          <p:cNvSpPr>
            <a:spLocks noGrp="1"/>
          </p:cNvSpPr>
          <p:nvPr>
            <p:ph type="title"/>
          </p:nvPr>
        </p:nvSpPr>
        <p:spPr>
          <a:xfrm>
            <a:off x="586740" y="457200"/>
            <a:ext cx="11018520" cy="861774"/>
          </a:xfrm>
        </p:spPr>
        <p:txBody>
          <a:bodyPr>
            <a:normAutofit fontScale="90000"/>
          </a:bodyPr>
          <a:lstStyle/>
          <a:p>
            <a:pPr algn="ctr"/>
            <a:r>
              <a:rPr lang="en-US">
                <a:solidFill>
                  <a:schemeClr val="accent2"/>
                </a:solidFill>
              </a:rPr>
              <a:t>Microsoft Purview’s solutions </a:t>
            </a:r>
            <a:br>
              <a:rPr lang="en-US">
                <a:solidFill>
                  <a:schemeClr val="bg1">
                    <a:lumMod val="25000"/>
                    <a:lumOff val="75000"/>
                  </a:schemeClr>
                </a:solidFill>
              </a:rPr>
            </a:br>
            <a:r>
              <a:rPr lang="en-US"/>
              <a:t>help you secure your AI data like never before  </a:t>
            </a:r>
          </a:p>
        </p:txBody>
      </p:sp>
      <p:sp>
        <p:nvSpPr>
          <p:cNvPr id="2" name="Rectangle: Rounded Corners 28" descr="Timeline with 3 key dates:&#10;November 2023&#10;May 2024&#10;November 2024">
            <a:extLst>
              <a:ext uri="{FF2B5EF4-FFF2-40B4-BE49-F238E27FC236}">
                <a16:creationId xmlns:a16="http://schemas.microsoft.com/office/drawing/2014/main" id="{896E8B94-14C8-A836-89EC-0D9B2641E0A3}"/>
              </a:ext>
              <a:ext uri="{C183D7F6-B498-43B3-948B-1728B52AA6E4}">
                <adec:decorative xmlns:adec="http://schemas.microsoft.com/office/drawing/2017/decorative" val="0"/>
              </a:ext>
            </a:extLst>
          </p:cNvPr>
          <p:cNvSpPr>
            <a:spLocks/>
          </p:cNvSpPr>
          <p:nvPr/>
        </p:nvSpPr>
        <p:spPr bwMode="auto">
          <a:xfrm>
            <a:off x="339091" y="2036751"/>
            <a:ext cx="11513819" cy="204263"/>
          </a:xfrm>
          <a:prstGeom prst="roundRect">
            <a:avLst>
              <a:gd name="adj" fmla="val 50000"/>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86" rtl="0" eaLnBrk="1" fontAlgn="base" latinLnBrk="0" hangingPunct="1">
              <a:lnSpc>
                <a:spcPct val="100000"/>
              </a:lnSpc>
              <a:spcBef>
                <a:spcPts val="600"/>
              </a:spcBef>
              <a:spcAft>
                <a:spcPct val="0"/>
              </a:spcAft>
              <a:buClrTx/>
              <a:buSzTx/>
              <a:buFontTx/>
              <a:buNone/>
              <a:tabLst>
                <a:tab pos="1487158" algn="l"/>
              </a:tabLst>
              <a:defRPr/>
            </a:pPr>
            <a:endParaRPr kumimoji="0" lang="en-GB" sz="800" b="1" i="0" u="none" strike="noStrike" kern="1200" cap="none" spc="0" normalizeH="0" baseline="0" noProof="0" err="1">
              <a:ln>
                <a:noFill/>
              </a:ln>
              <a:gradFill>
                <a:gsLst>
                  <a:gs pos="70629">
                    <a:srgbClr val="FFFFFF"/>
                  </a:gs>
                  <a:gs pos="48951">
                    <a:srgbClr val="FFFFFF"/>
                  </a:gs>
                </a:gsLst>
                <a:path path="circle">
                  <a:fillToRect l="100000" t="100000"/>
                </a:path>
              </a:gradFill>
              <a:effectLst/>
              <a:uLnTx/>
              <a:uFillTx/>
              <a:latin typeface="Segoe UI Semibold"/>
              <a:ea typeface="+mn-ea"/>
              <a:cs typeface="+mn-cs"/>
            </a:endParaRPr>
          </a:p>
        </p:txBody>
      </p:sp>
      <p:sp>
        <p:nvSpPr>
          <p:cNvPr id="28" name="TextBox 27">
            <a:extLst>
              <a:ext uri="{FF2B5EF4-FFF2-40B4-BE49-F238E27FC236}">
                <a16:creationId xmlns:a16="http://schemas.microsoft.com/office/drawing/2014/main" id="{FFAE473C-1BC1-04EE-951E-E56B0944672B}"/>
              </a:ext>
              <a:ext uri="{C183D7F6-B498-43B3-948B-1728B52AA6E4}">
                <adec:decorative xmlns:adec="http://schemas.microsoft.com/office/drawing/2017/decorative" val="0"/>
              </a:ext>
            </a:extLst>
          </p:cNvPr>
          <p:cNvSpPr txBox="1">
            <a:spLocks/>
          </p:cNvSpPr>
          <p:nvPr/>
        </p:nvSpPr>
        <p:spPr>
          <a:xfrm>
            <a:off x="645212" y="2641569"/>
            <a:ext cx="2358000" cy="579123"/>
          </a:xfrm>
          <a:prstGeom prst="roundRect">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sym typeface="Helvetica Neue"/>
              </a:rPr>
              <a:t>November 2023</a:t>
            </a:r>
          </a:p>
        </p:txBody>
      </p:sp>
      <p:pic>
        <p:nvPicPr>
          <p:cNvPr id="52" name="Picture 51">
            <a:extLst>
              <a:ext uri="{FF2B5EF4-FFF2-40B4-BE49-F238E27FC236}">
                <a16:creationId xmlns:a16="http://schemas.microsoft.com/office/drawing/2014/main" id="{07197B5D-6A31-0B86-0685-730D4B462800}"/>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588643" y="3444668"/>
            <a:ext cx="471138" cy="419826"/>
          </a:xfrm>
          <a:prstGeom prst="rect">
            <a:avLst/>
          </a:prstGeom>
        </p:spPr>
      </p:pic>
      <p:sp>
        <p:nvSpPr>
          <p:cNvPr id="59" name="TextBox 58">
            <a:extLst>
              <a:ext uri="{FF2B5EF4-FFF2-40B4-BE49-F238E27FC236}">
                <a16:creationId xmlns:a16="http://schemas.microsoft.com/office/drawing/2014/main" id="{89289F0F-9B4B-3DEB-0819-06A5047D8B7F}"/>
              </a:ext>
            </a:extLst>
          </p:cNvPr>
          <p:cNvSpPr txBox="1"/>
          <p:nvPr/>
        </p:nvSpPr>
        <p:spPr>
          <a:xfrm>
            <a:off x="1199864" y="3956502"/>
            <a:ext cx="1248696" cy="60016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M365 Copilot</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Generally available</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Nov 2023</a:t>
            </a:r>
          </a:p>
        </p:txBody>
      </p:sp>
      <p:pic>
        <p:nvPicPr>
          <p:cNvPr id="39" name="Picture 38">
            <a:extLst>
              <a:ext uri="{FF2B5EF4-FFF2-40B4-BE49-F238E27FC236}">
                <a16:creationId xmlns:a16="http://schemas.microsoft.com/office/drawing/2014/main" id="{115751FB-8EDD-86DA-4749-1A5ECE61F15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7519" y="4814160"/>
            <a:ext cx="433385" cy="433385"/>
          </a:xfrm>
          <a:prstGeom prst="rect">
            <a:avLst/>
          </a:prstGeom>
        </p:spPr>
      </p:pic>
      <p:sp>
        <p:nvSpPr>
          <p:cNvPr id="60" name="TextBox 59">
            <a:extLst>
              <a:ext uri="{FF2B5EF4-FFF2-40B4-BE49-F238E27FC236}">
                <a16:creationId xmlns:a16="http://schemas.microsoft.com/office/drawing/2014/main" id="{933E09D3-55ED-1A5D-FA80-B451D731B4BB}"/>
              </a:ext>
            </a:extLst>
          </p:cNvPr>
          <p:cNvSpPr txBox="1"/>
          <p:nvPr/>
        </p:nvSpPr>
        <p:spPr>
          <a:xfrm>
            <a:off x="1280231" y="5325994"/>
            <a:ext cx="1087962" cy="5693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Purview</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chemeClr val="accent2"/>
                </a:solidFill>
                <a:effectLst/>
                <a:uLnTx/>
                <a:uFillTx/>
                <a:latin typeface="Segoe UI"/>
                <a:ea typeface="+mn-ea"/>
                <a:cs typeface="+mn-cs"/>
              </a:rPr>
              <a:t>Generally available</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chemeClr val="accent2"/>
                </a:solidFill>
                <a:effectLst/>
                <a:uLnTx/>
                <a:uFillTx/>
                <a:latin typeface="Segoe UI"/>
                <a:ea typeface="+mn-ea"/>
                <a:cs typeface="+mn-cs"/>
              </a:rPr>
              <a:t>Nov 2023</a:t>
            </a:r>
          </a:p>
        </p:txBody>
      </p:sp>
      <p:sp>
        <p:nvSpPr>
          <p:cNvPr id="9" name="TextBox 8">
            <a:extLst>
              <a:ext uri="{FF2B5EF4-FFF2-40B4-BE49-F238E27FC236}">
                <a16:creationId xmlns:a16="http://schemas.microsoft.com/office/drawing/2014/main" id="{52728ACF-F545-BC29-B2C2-6AAC433E4BDC}"/>
              </a:ext>
              <a:ext uri="{C183D7F6-B498-43B3-948B-1728B52AA6E4}">
                <adec:decorative xmlns:adec="http://schemas.microsoft.com/office/drawing/2017/decorative" val="0"/>
              </a:ext>
            </a:extLst>
          </p:cNvPr>
          <p:cNvSpPr txBox="1">
            <a:spLocks/>
          </p:cNvSpPr>
          <p:nvPr/>
        </p:nvSpPr>
        <p:spPr>
          <a:xfrm>
            <a:off x="3252191" y="2641569"/>
            <a:ext cx="2358000" cy="579123"/>
          </a:xfrm>
          <a:prstGeom prst="roundRect">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defPPr>
              <a:defRPr lang="en-US"/>
            </a:defPPr>
            <a:lvl1pPr algn="ctr" defTabSz="1219170">
              <a:buClr>
                <a:srgbClr val="BFE8F6"/>
              </a:buClr>
              <a:buSzPts val="1000"/>
              <a:defRPr sz="1800" b="1" kern="0">
                <a:latin typeface="+mj-lt"/>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rgbClr val="FFFFFF"/>
                </a:solidFill>
                <a:effectLst/>
                <a:uLnTx/>
                <a:uFillTx/>
                <a:latin typeface="Segoe UI Semibold"/>
                <a:ea typeface="+mn-ea"/>
                <a:cs typeface="+mn-cs"/>
                <a:sym typeface="Helvetica Neue"/>
              </a:rPr>
              <a:t>May 2024</a:t>
            </a:r>
          </a:p>
        </p:txBody>
      </p:sp>
      <p:pic>
        <p:nvPicPr>
          <p:cNvPr id="53" name="Picture 52">
            <a:extLst>
              <a:ext uri="{FF2B5EF4-FFF2-40B4-BE49-F238E27FC236}">
                <a16:creationId xmlns:a16="http://schemas.microsoft.com/office/drawing/2014/main" id="{23A51544-9867-F8F4-26AE-164A9C5024BA}"/>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4498" y="3444668"/>
            <a:ext cx="433385" cy="433385"/>
          </a:xfrm>
          <a:prstGeom prst="rect">
            <a:avLst/>
          </a:prstGeom>
        </p:spPr>
      </p:pic>
      <p:sp>
        <p:nvSpPr>
          <p:cNvPr id="62" name="TextBox 61">
            <a:extLst>
              <a:ext uri="{FF2B5EF4-FFF2-40B4-BE49-F238E27FC236}">
                <a16:creationId xmlns:a16="http://schemas.microsoft.com/office/drawing/2014/main" id="{A5D5C939-4798-918D-CCDB-BD38DEC08A52}"/>
              </a:ext>
            </a:extLst>
          </p:cNvPr>
          <p:cNvSpPr txBox="1"/>
          <p:nvPr/>
        </p:nvSpPr>
        <p:spPr>
          <a:xfrm>
            <a:off x="3887210" y="3956502"/>
            <a:ext cx="1087962" cy="60016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DSPM for AI</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Public preview</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May 2024</a:t>
            </a:r>
          </a:p>
        </p:txBody>
      </p:sp>
      <p:sp>
        <p:nvSpPr>
          <p:cNvPr id="12" name="TextBox 11">
            <a:extLst>
              <a:ext uri="{FF2B5EF4-FFF2-40B4-BE49-F238E27FC236}">
                <a16:creationId xmlns:a16="http://schemas.microsoft.com/office/drawing/2014/main" id="{EE3B9278-AB9D-3CF5-AF78-C6C7082D7E1A}"/>
              </a:ext>
              <a:ext uri="{C183D7F6-B498-43B3-948B-1728B52AA6E4}">
                <adec:decorative xmlns:adec="http://schemas.microsoft.com/office/drawing/2017/decorative" val="0"/>
              </a:ext>
            </a:extLst>
          </p:cNvPr>
          <p:cNvSpPr txBox="1">
            <a:spLocks/>
          </p:cNvSpPr>
          <p:nvPr/>
        </p:nvSpPr>
        <p:spPr>
          <a:xfrm>
            <a:off x="5864091" y="2641569"/>
            <a:ext cx="5677775" cy="579123"/>
          </a:xfrm>
          <a:prstGeom prst="roundRect">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srgbClr val="000000">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defTabSz="914400">
              <a:defRPr sz="700">
                <a:solidFill>
                  <a:srgbClr val="FFFFFF"/>
                </a:solidFill>
                <a:latin typeface="Segoe UI"/>
              </a:defRPr>
            </a:lvl1p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r>
              <a:rPr kumimoji="0" lang="en-US" sz="2000" b="1" i="0" u="none" strike="noStrike" kern="1200" cap="none" spc="0" normalizeH="0" baseline="0" noProof="0">
                <a:ln>
                  <a:noFill/>
                </a:ln>
                <a:solidFill>
                  <a:srgbClr val="FFFFFF"/>
                </a:solidFill>
                <a:effectLst/>
                <a:uLnTx/>
                <a:uFillTx/>
                <a:latin typeface="Segoe UI Semibold"/>
                <a:ea typeface="+mn-ea"/>
                <a:cs typeface="+mn-cs"/>
                <a:sym typeface="Helvetica Neue"/>
              </a:rPr>
              <a:t>November 2024</a:t>
            </a:r>
          </a:p>
        </p:txBody>
      </p:sp>
      <p:pic>
        <p:nvPicPr>
          <p:cNvPr id="65" name="Picture 64">
            <a:extLst>
              <a:ext uri="{FF2B5EF4-FFF2-40B4-BE49-F238E27FC236}">
                <a16:creationId xmlns:a16="http://schemas.microsoft.com/office/drawing/2014/main" id="{BA374258-E69B-31A8-A9FF-5E58A4C2D753}"/>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2455" y="3444668"/>
            <a:ext cx="433385" cy="433385"/>
          </a:xfrm>
          <a:prstGeom prst="rect">
            <a:avLst/>
          </a:prstGeom>
        </p:spPr>
      </p:pic>
      <p:sp>
        <p:nvSpPr>
          <p:cNvPr id="66" name="TextBox 65">
            <a:extLst>
              <a:ext uri="{FF2B5EF4-FFF2-40B4-BE49-F238E27FC236}">
                <a16:creationId xmlns:a16="http://schemas.microsoft.com/office/drawing/2014/main" id="{A95BE992-F966-7299-D740-F76116DBCDE1}"/>
              </a:ext>
            </a:extLst>
          </p:cNvPr>
          <p:cNvSpPr txBox="1"/>
          <p:nvPr/>
        </p:nvSpPr>
        <p:spPr>
          <a:xfrm>
            <a:off x="5892616" y="3956502"/>
            <a:ext cx="1453064" cy="60016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Segoe UI Semibold"/>
                <a:ea typeface="+mn-ea"/>
                <a:cs typeface="Segoe UI Semibold" panose="020B0702040204020203" pitchFamily="34" charset="0"/>
              </a:rPr>
              <a:t>DSPM for AI</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Generally Available</a:t>
            </a:r>
          </a:p>
          <a:p>
            <a:pPr marL="0" marR="0" lvl="0" indent="0" algn="ctr" defTabSz="914367"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Segoe UI"/>
                <a:ea typeface="+mn-ea"/>
                <a:cs typeface="+mn-cs"/>
              </a:rPr>
              <a:t>Nov 2024</a:t>
            </a:r>
          </a:p>
        </p:txBody>
      </p:sp>
      <p:cxnSp>
        <p:nvCxnSpPr>
          <p:cNvPr id="71" name="Straight Connector 70">
            <a:extLst>
              <a:ext uri="{FF2B5EF4-FFF2-40B4-BE49-F238E27FC236}">
                <a16:creationId xmlns:a16="http://schemas.microsoft.com/office/drawing/2014/main" id="{FC928B3E-A0A2-AF5C-10B7-C225ED4FC5E0}"/>
              </a:ext>
              <a:ext uri="{C183D7F6-B498-43B3-948B-1728B52AA6E4}">
                <adec:decorative xmlns:adec="http://schemas.microsoft.com/office/drawing/2017/decorative" val="1"/>
              </a:ext>
            </a:extLst>
          </p:cNvPr>
          <p:cNvCxnSpPr>
            <a:cxnSpLocks/>
          </p:cNvCxnSpPr>
          <p:nvPr/>
        </p:nvCxnSpPr>
        <p:spPr>
          <a:xfrm>
            <a:off x="7548154" y="3429000"/>
            <a:ext cx="0" cy="1820333"/>
          </a:xfrm>
          <a:prstGeom prst="line">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67" name="Rounded Rectangle 14">
            <a:extLst>
              <a:ext uri="{FF2B5EF4-FFF2-40B4-BE49-F238E27FC236}">
                <a16:creationId xmlns:a16="http://schemas.microsoft.com/office/drawing/2014/main" id="{955A4126-6E7C-F2EA-453C-26B564B91E99}"/>
              </a:ext>
              <a:ext uri="{C183D7F6-B498-43B3-948B-1728B52AA6E4}">
                <adec:decorative xmlns:adec="http://schemas.microsoft.com/office/drawing/2017/decorative" val="0"/>
              </a:ext>
            </a:extLst>
          </p:cNvPr>
          <p:cNvSpPr>
            <a:spLocks/>
          </p:cNvSpPr>
          <p:nvPr/>
        </p:nvSpPr>
        <p:spPr>
          <a:xfrm>
            <a:off x="7750629" y="3617304"/>
            <a:ext cx="3762803" cy="981776"/>
          </a:xfrm>
          <a:prstGeom prst="rect">
            <a:avLst/>
          </a:prstGeom>
          <a:no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accent2"/>
                </a:solidFill>
                <a:effectLst/>
                <a:uLnTx/>
                <a:uFillTx/>
                <a:latin typeface="Segoe UI"/>
                <a:ea typeface="+mn-ea"/>
                <a:cs typeface="+mn-cs"/>
              </a:rPr>
              <a:t>Data Security Posture Management for AI </a:t>
            </a:r>
          </a:p>
          <a:p>
            <a:pPr marL="171450" marR="0" lvl="0" indent="-171450" algn="l" defTabSz="914367"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accent2"/>
                </a:solidFill>
                <a:effectLst/>
                <a:uLnTx/>
                <a:uFillTx/>
                <a:latin typeface="Segoe UI"/>
                <a:ea typeface="+mn-ea"/>
                <a:cs typeface="+mn-cs"/>
              </a:rPr>
              <a:t>Oversharing assessments in public preview</a:t>
            </a:r>
          </a:p>
          <a:p>
            <a:pPr marL="171450" marR="0" lvl="0" indent="-171450" algn="l" defTabSz="914367"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accent2"/>
                </a:solidFill>
                <a:effectLst/>
                <a:uLnTx/>
                <a:uFillTx/>
                <a:latin typeface="Segoe UI"/>
                <a:ea typeface="+mn-ea"/>
                <a:cs typeface="+mn-cs"/>
              </a:rPr>
              <a:t>DLP for Copilot in public preview</a:t>
            </a:r>
          </a:p>
          <a:p>
            <a:pPr marL="171450" marR="0" lvl="0" indent="-171450" algn="l" defTabSz="914367"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BE" sz="1200" b="0" i="0" u="none" strike="noStrike" kern="1200" cap="none" spc="0" normalizeH="0" baseline="0" noProof="0" dirty="0">
                <a:ln>
                  <a:noFill/>
                </a:ln>
                <a:solidFill>
                  <a:schemeClr val="accent2"/>
                </a:solidFill>
                <a:effectLst/>
                <a:uLnTx/>
                <a:uFillTx/>
                <a:latin typeface="Segoe UI"/>
                <a:ea typeface="+mn-ea"/>
                <a:cs typeface="+mn-cs"/>
              </a:rPr>
              <a:t>Purview </a:t>
            </a:r>
            <a:r>
              <a:rPr kumimoji="0" lang="en-US" sz="1200" b="0" i="0" u="none" strike="noStrike" kern="1200" cap="none" spc="0" normalizeH="0" baseline="0" noProof="0" dirty="0">
                <a:ln>
                  <a:noFill/>
                </a:ln>
                <a:solidFill>
                  <a:schemeClr val="accent2"/>
                </a:solidFill>
                <a:effectLst/>
                <a:uLnTx/>
                <a:uFillTx/>
                <a:latin typeface="Segoe UI"/>
                <a:ea typeface="+mn-ea"/>
                <a:cs typeface="+mn-cs"/>
              </a:rPr>
              <a:t>Blueprint</a:t>
            </a:r>
          </a:p>
        </p:txBody>
      </p:sp>
      <p:sp>
        <p:nvSpPr>
          <p:cNvPr id="70" name="Rectangle: Rounded Corners 77">
            <a:extLst>
              <a:ext uri="{FF2B5EF4-FFF2-40B4-BE49-F238E27FC236}">
                <a16:creationId xmlns:a16="http://schemas.microsoft.com/office/drawing/2014/main" id="{7CCB7295-63A8-475E-09D5-42BF98E98702}"/>
              </a:ext>
            </a:extLst>
          </p:cNvPr>
          <p:cNvSpPr/>
          <p:nvPr/>
        </p:nvSpPr>
        <p:spPr bwMode="auto">
          <a:xfrm>
            <a:off x="5886450" y="5434006"/>
            <a:ext cx="5633058" cy="519883"/>
          </a:xfrm>
          <a:prstGeom prst="roundRect">
            <a:avLst/>
          </a:prstGeom>
          <a:ln w="12700" cap="rnd">
            <a:gradFill flip="none" rotWithShape="1">
              <a:gsLst>
                <a:gs pos="0">
                  <a:srgbClr val="F4364C"/>
                </a:gs>
                <a:gs pos="80000">
                  <a:srgbClr val="C03BC4"/>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chemeClr val="accent2"/>
                </a:solidFill>
                <a:effectLst/>
                <a:uLnTx/>
                <a:uFillTx/>
                <a:latin typeface="Segoe UI Semibold"/>
                <a:ea typeface="+mn-ea"/>
                <a:cs typeface="Segoe UI" pitchFamily="34" charset="0"/>
              </a:rPr>
              <a:t>Rapid Copilot deployment and adoption</a:t>
            </a:r>
          </a:p>
        </p:txBody>
      </p:sp>
      <p:sp>
        <p:nvSpPr>
          <p:cNvPr id="38" name="Freeform: Shape 30">
            <a:extLst>
              <a:ext uri="{FF2B5EF4-FFF2-40B4-BE49-F238E27FC236}">
                <a16:creationId xmlns:a16="http://schemas.microsoft.com/office/drawing/2014/main" id="{E10CE5AD-EEB8-6F0E-7180-1F3C2DCC6C9C}"/>
              </a:ext>
              <a:ext uri="{C183D7F6-B498-43B3-948B-1728B52AA6E4}">
                <adec:decorative xmlns:adec="http://schemas.microsoft.com/office/drawing/2017/decorative" val="1"/>
              </a:ext>
            </a:extLst>
          </p:cNvPr>
          <p:cNvSpPr>
            <a:spLocks/>
          </p:cNvSpPr>
          <p:nvPr/>
        </p:nvSpPr>
        <p:spPr>
          <a:xfrm>
            <a:off x="5802923" y="2590845"/>
            <a:ext cx="5800113" cy="3446699"/>
          </a:xfrm>
          <a:prstGeom prst="roundRect">
            <a:avLst>
              <a:gd name="adj" fmla="val 3972"/>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7" name="Freeform: Shape 30">
            <a:extLst>
              <a:ext uri="{FF2B5EF4-FFF2-40B4-BE49-F238E27FC236}">
                <a16:creationId xmlns:a16="http://schemas.microsoft.com/office/drawing/2014/main" id="{C56A1B70-A44F-16DE-0B4F-00550EA79382}"/>
              </a:ext>
              <a:ext uri="{C183D7F6-B498-43B3-948B-1728B52AA6E4}">
                <adec:decorative xmlns:adec="http://schemas.microsoft.com/office/drawing/2017/decorative" val="1"/>
              </a:ext>
            </a:extLst>
          </p:cNvPr>
          <p:cNvSpPr>
            <a:spLocks/>
          </p:cNvSpPr>
          <p:nvPr/>
        </p:nvSpPr>
        <p:spPr>
          <a:xfrm>
            <a:off x="3195943" y="2590845"/>
            <a:ext cx="2470496" cy="3446699"/>
          </a:xfrm>
          <a:prstGeom prst="roundRect">
            <a:avLst>
              <a:gd name="adj" fmla="val 5000"/>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6" name="Freeform: Shape 30">
            <a:extLst>
              <a:ext uri="{FF2B5EF4-FFF2-40B4-BE49-F238E27FC236}">
                <a16:creationId xmlns:a16="http://schemas.microsoft.com/office/drawing/2014/main" id="{D9ACAACF-A0B6-6D0D-241E-F99B888E47C3}"/>
              </a:ext>
              <a:ext uri="{C183D7F6-B498-43B3-948B-1728B52AA6E4}">
                <adec:decorative xmlns:adec="http://schemas.microsoft.com/office/drawing/2017/decorative" val="1"/>
              </a:ext>
            </a:extLst>
          </p:cNvPr>
          <p:cNvSpPr>
            <a:spLocks/>
          </p:cNvSpPr>
          <p:nvPr/>
        </p:nvSpPr>
        <p:spPr>
          <a:xfrm>
            <a:off x="588964" y="2590845"/>
            <a:ext cx="2470496" cy="3446699"/>
          </a:xfrm>
          <a:prstGeom prst="roundRect">
            <a:avLst>
              <a:gd name="adj" fmla="val 5000"/>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554765B3-A3D9-AEED-8298-4786BBF98AE3}"/>
              </a:ext>
              <a:ext uri="{C183D7F6-B498-43B3-948B-1728B52AA6E4}">
                <adec:decorative xmlns:adec="http://schemas.microsoft.com/office/drawing/2017/decorative" val="1"/>
              </a:ext>
            </a:extLst>
          </p:cNvPr>
          <p:cNvSpPr/>
          <p:nvPr/>
        </p:nvSpPr>
        <p:spPr bwMode="auto">
          <a:xfrm>
            <a:off x="9222377" y="1240971"/>
            <a:ext cx="52252" cy="13436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Oval 10_1">
            <a:extLst>
              <a:ext uri="{FF2B5EF4-FFF2-40B4-BE49-F238E27FC236}">
                <a16:creationId xmlns:a16="http://schemas.microsoft.com/office/drawing/2014/main" id="{3589599F-2B4C-8700-FB78-58E572B37B32}"/>
              </a:ext>
              <a:ext uri="{C183D7F6-B498-43B3-948B-1728B52AA6E4}">
                <adec:decorative xmlns:adec="http://schemas.microsoft.com/office/drawing/2017/decorative" val="1"/>
              </a:ext>
            </a:extLst>
          </p:cNvPr>
          <p:cNvSpPr/>
          <p:nvPr/>
        </p:nvSpPr>
        <p:spPr>
          <a:xfrm>
            <a:off x="4116294"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1" name="Oval 10">
            <a:extLst>
              <a:ext uri="{FF2B5EF4-FFF2-40B4-BE49-F238E27FC236}">
                <a16:creationId xmlns:a16="http://schemas.microsoft.com/office/drawing/2014/main" id="{FE4F0E83-591E-9CAF-B32B-9226D7AD5E07}"/>
              </a:ext>
              <a:ext uri="{C183D7F6-B498-43B3-948B-1728B52AA6E4}">
                <adec:decorative xmlns:adec="http://schemas.microsoft.com/office/drawing/2017/decorative" val="1"/>
              </a:ext>
            </a:extLst>
          </p:cNvPr>
          <p:cNvSpPr/>
          <p:nvPr/>
        </p:nvSpPr>
        <p:spPr>
          <a:xfrm>
            <a:off x="4304869" y="2018357"/>
            <a:ext cx="252645" cy="252645"/>
          </a:xfrm>
          <a:prstGeom prst="ellipse">
            <a:avLst/>
          </a:prstGeom>
          <a:gradFill flip="none" rotWithShape="1">
            <a:gsLst>
              <a:gs pos="0">
                <a:srgbClr val="C03BC4"/>
              </a:gs>
              <a:gs pos="80000">
                <a:srgbClr val="0078D4"/>
              </a:gs>
            </a:gsLst>
            <a:path path="circle">
              <a:fillToRect l="100000" t="100000"/>
            </a:path>
            <a:tileRect r="-100000" b="-100000"/>
          </a:gradFill>
          <a:effectLst>
            <a:outerShdw blurRad="63500" dist="63500" dir="2700000" algn="tl" rotWithShape="0">
              <a:srgbClr val="000000">
                <a:alpha val="20000"/>
              </a:srgbClr>
            </a:outerShdw>
          </a:effectLst>
        </p:spPr>
        <p:txBody>
          <a:bodyPr wrap="square" lIns="91440" tIns="45720" rIns="91440" bIns="45720" rtlCol="0" anchor="ctr" anchorCtr="0">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3" name="Oval 10_1">
            <a:extLst>
              <a:ext uri="{FF2B5EF4-FFF2-40B4-BE49-F238E27FC236}">
                <a16:creationId xmlns:a16="http://schemas.microsoft.com/office/drawing/2014/main" id="{95DE5FC2-765B-0EA2-150B-02017043946F}"/>
              </a:ext>
              <a:ext uri="{C183D7F6-B498-43B3-948B-1728B52AA6E4}">
                <adec:decorative xmlns:adec="http://schemas.microsoft.com/office/drawing/2017/decorative" val="1"/>
              </a:ext>
            </a:extLst>
          </p:cNvPr>
          <p:cNvSpPr/>
          <p:nvPr/>
        </p:nvSpPr>
        <p:spPr>
          <a:xfrm>
            <a:off x="8388082"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14" name="Oval 13">
            <a:extLst>
              <a:ext uri="{FF2B5EF4-FFF2-40B4-BE49-F238E27FC236}">
                <a16:creationId xmlns:a16="http://schemas.microsoft.com/office/drawing/2014/main" id="{E94192E6-C7AE-E296-3163-1C1CB3F82CEF}"/>
              </a:ext>
              <a:ext uri="{C183D7F6-B498-43B3-948B-1728B52AA6E4}">
                <adec:decorative xmlns:adec="http://schemas.microsoft.com/office/drawing/2017/decorative" val="1"/>
              </a:ext>
            </a:extLst>
          </p:cNvPr>
          <p:cNvSpPr/>
          <p:nvPr/>
        </p:nvSpPr>
        <p:spPr>
          <a:xfrm>
            <a:off x="8576656" y="2018357"/>
            <a:ext cx="252645" cy="252645"/>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BFE8F6"/>
              </a:buClr>
              <a:buSzPts val="1000"/>
              <a:buFontTx/>
              <a:buNone/>
              <a:tabLst/>
              <a:defRPr/>
            </a:pPr>
            <a:endParaRPr kumimoji="0" lang="en-US" sz="2000" b="1" i="0" u="none" strike="noStrike" kern="1200" cap="none" spc="0" normalizeH="0" baseline="0" noProof="0" err="1">
              <a:ln>
                <a:noFill/>
              </a:ln>
              <a:solidFill>
                <a:srgbClr val="FFFFFF"/>
              </a:solidFill>
              <a:effectLst/>
              <a:uLnTx/>
              <a:uFillTx/>
              <a:latin typeface="Segoe UI Semibold"/>
              <a:ea typeface="+mn-ea"/>
              <a:cs typeface="+mn-cs"/>
            </a:endParaRPr>
          </a:p>
        </p:txBody>
      </p:sp>
      <p:cxnSp>
        <p:nvCxnSpPr>
          <p:cNvPr id="17" name="!!line2">
            <a:extLst>
              <a:ext uri="{FF2B5EF4-FFF2-40B4-BE49-F238E27FC236}">
                <a16:creationId xmlns:a16="http://schemas.microsoft.com/office/drawing/2014/main" id="{C5A59C58-4A5C-F063-AA7E-58EED8B78450}"/>
              </a:ext>
              <a:ext uri="{C183D7F6-B498-43B3-948B-1728B52AA6E4}">
                <adec:decorative xmlns:adec="http://schemas.microsoft.com/office/drawing/2017/decorative" val="1"/>
              </a:ext>
            </a:extLst>
          </p:cNvPr>
          <p:cNvCxnSpPr>
            <a:cxnSpLocks/>
          </p:cNvCxnSpPr>
          <p:nvPr/>
        </p:nvCxnSpPr>
        <p:spPr>
          <a:xfrm flipH="1">
            <a:off x="4431191"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021F0F19-7B8A-F896-3D28-6A0619D7FF25}"/>
              </a:ext>
              <a:ext uri="{C183D7F6-B498-43B3-948B-1728B52AA6E4}">
                <adec:decorative xmlns:adec="http://schemas.microsoft.com/office/drawing/2017/decorative" val="1"/>
              </a:ext>
            </a:extLst>
          </p:cNvPr>
          <p:cNvSpPr/>
          <p:nvPr/>
        </p:nvSpPr>
        <p:spPr>
          <a:xfrm>
            <a:off x="4352755" y="2556977"/>
            <a:ext cx="156872" cy="156872"/>
          </a:xfrm>
          <a:prstGeom prst="ellipse">
            <a:avLst/>
          </a:prstGeom>
          <a:gradFill>
            <a:gsLst>
              <a:gs pos="0">
                <a:srgbClr val="C03BC4"/>
              </a:gs>
              <a:gs pos="80000">
                <a:srgbClr val="0078D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cxnSp>
        <p:nvCxnSpPr>
          <p:cNvPr id="19" name="!!line3">
            <a:extLst>
              <a:ext uri="{FF2B5EF4-FFF2-40B4-BE49-F238E27FC236}">
                <a16:creationId xmlns:a16="http://schemas.microsoft.com/office/drawing/2014/main" id="{D6ADA821-A7BF-3060-C84B-852259B43F9C}"/>
              </a:ext>
              <a:ext uri="{C183D7F6-B498-43B3-948B-1728B52AA6E4}">
                <adec:decorative xmlns:adec="http://schemas.microsoft.com/office/drawing/2017/decorative" val="1"/>
              </a:ext>
            </a:extLst>
          </p:cNvPr>
          <p:cNvCxnSpPr>
            <a:cxnSpLocks/>
          </p:cNvCxnSpPr>
          <p:nvPr/>
        </p:nvCxnSpPr>
        <p:spPr>
          <a:xfrm flipH="1">
            <a:off x="8702978"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75854DE-1563-782A-FFF2-F86436F6E26C}"/>
              </a:ext>
              <a:ext uri="{C183D7F6-B498-43B3-948B-1728B52AA6E4}">
                <adec:decorative xmlns:adec="http://schemas.microsoft.com/office/drawing/2017/decorative" val="1"/>
              </a:ext>
            </a:extLst>
          </p:cNvPr>
          <p:cNvSpPr/>
          <p:nvPr/>
        </p:nvSpPr>
        <p:spPr>
          <a:xfrm>
            <a:off x="8624543" y="2556977"/>
            <a:ext cx="156872" cy="156872"/>
          </a:xfrm>
          <a:prstGeom prst="ellipse">
            <a:avLst/>
          </a:prstGeom>
          <a:gradFill>
            <a:gsLst>
              <a:gs pos="0">
                <a:srgbClr val="FF5C39"/>
              </a:gs>
              <a:gs pos="80000">
                <a:srgbClr val="C03BC4"/>
              </a:gs>
            </a:gsLst>
            <a:path path="circle">
              <a:fillToRect l="100000" t="100000"/>
            </a:path>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
        <p:nvSpPr>
          <p:cNvPr id="22" name="Oval 10_1">
            <a:extLst>
              <a:ext uri="{FF2B5EF4-FFF2-40B4-BE49-F238E27FC236}">
                <a16:creationId xmlns:a16="http://schemas.microsoft.com/office/drawing/2014/main" id="{785ADB91-1AF4-519D-0221-61FB3D66AE06}"/>
              </a:ext>
              <a:ext uri="{C183D7F6-B498-43B3-948B-1728B52AA6E4}">
                <adec:decorative xmlns:adec="http://schemas.microsoft.com/office/drawing/2017/decorative" val="1"/>
              </a:ext>
            </a:extLst>
          </p:cNvPr>
          <p:cNvSpPr/>
          <p:nvPr/>
        </p:nvSpPr>
        <p:spPr>
          <a:xfrm>
            <a:off x="1509315" y="1829782"/>
            <a:ext cx="629794" cy="629794"/>
          </a:xfrm>
          <a:prstGeom prst="ellipse">
            <a:avLst/>
          </a:prstGeom>
          <a:solidFill>
            <a:srgbClr val="091F2C"/>
          </a:solidFill>
          <a:effectLst/>
        </p:spPr>
        <p:txBody>
          <a:bodyPr wrap="square" lIns="0" tIns="0" rIns="0" bIns="0" rtlCol="0" anchor="ctr" anchorCtr="0">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0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23" name="Oval 22">
            <a:extLst>
              <a:ext uri="{FF2B5EF4-FFF2-40B4-BE49-F238E27FC236}">
                <a16:creationId xmlns:a16="http://schemas.microsoft.com/office/drawing/2014/main" id="{7586BAF7-6CAA-2929-C409-F3E19713C0FF}"/>
              </a:ext>
              <a:ext uri="{C183D7F6-B498-43B3-948B-1728B52AA6E4}">
                <adec:decorative xmlns:adec="http://schemas.microsoft.com/office/drawing/2017/decorative" val="1"/>
              </a:ext>
            </a:extLst>
          </p:cNvPr>
          <p:cNvSpPr/>
          <p:nvPr/>
        </p:nvSpPr>
        <p:spPr>
          <a:xfrm>
            <a:off x="1697890" y="2018357"/>
            <a:ext cx="252645" cy="252645"/>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cxnSp>
        <p:nvCxnSpPr>
          <p:cNvPr id="32" name="!!line1">
            <a:extLst>
              <a:ext uri="{FF2B5EF4-FFF2-40B4-BE49-F238E27FC236}">
                <a16:creationId xmlns:a16="http://schemas.microsoft.com/office/drawing/2014/main" id="{4828F11B-D7CB-AB95-CA98-457F895F5D00}"/>
              </a:ext>
              <a:ext uri="{C183D7F6-B498-43B3-948B-1728B52AA6E4}">
                <adec:decorative xmlns:adec="http://schemas.microsoft.com/office/drawing/2017/decorative" val="1"/>
              </a:ext>
            </a:extLst>
          </p:cNvPr>
          <p:cNvCxnSpPr>
            <a:cxnSpLocks/>
          </p:cNvCxnSpPr>
          <p:nvPr/>
        </p:nvCxnSpPr>
        <p:spPr>
          <a:xfrm flipH="1">
            <a:off x="1824212" y="2271002"/>
            <a:ext cx="1" cy="285975"/>
          </a:xfrm>
          <a:prstGeom prst="line">
            <a:avLst/>
          </a:prstGeom>
          <a:ln cap="rnd">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03E3A42F-3944-F263-3813-2E34808BFDEE}"/>
              </a:ext>
              <a:ext uri="{C183D7F6-B498-43B3-948B-1728B52AA6E4}">
                <adec:decorative xmlns:adec="http://schemas.microsoft.com/office/drawing/2017/decorative" val="1"/>
              </a:ext>
            </a:extLst>
          </p:cNvPr>
          <p:cNvSpPr/>
          <p:nvPr/>
        </p:nvSpPr>
        <p:spPr>
          <a:xfrm>
            <a:off x="1745776" y="2556977"/>
            <a:ext cx="156872" cy="156872"/>
          </a:xfrm>
          <a:prstGeom prst="ellipse">
            <a:avLst/>
          </a:prstGeom>
          <a:gradFill flip="none" rotWithShape="1">
            <a:gsLst>
              <a:gs pos="0">
                <a:srgbClr val="0078D4"/>
              </a:gs>
              <a:gs pos="80000">
                <a:srgbClr val="399A91"/>
              </a:gs>
            </a:gsLst>
            <a:path path="circle">
              <a:fillToRect l="100000" t="100000"/>
            </a:path>
            <a:tileRect r="-100000" b="-100000"/>
          </a:gradFill>
          <a:ln w="47625" cap="flat">
            <a:solidFill>
              <a:schemeClr val="bg1"/>
            </a:solid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mn-ea"/>
              <a:cs typeface="Segoe UI" pitchFamily="34" charset="0"/>
            </a:endParaRPr>
          </a:p>
        </p:txBody>
      </p:sp>
    </p:spTree>
    <p:extLst>
      <p:ext uri="{BB962C8B-B14F-4D97-AF65-F5344CB8AC3E}">
        <p14:creationId xmlns:p14="http://schemas.microsoft.com/office/powerpoint/2010/main" val="68259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42" presetClass="path" presetSubtype="0" decel="100000" fill="hold" grpId="1" nodeType="withEffect">
                                  <p:stCondLst>
                                    <p:cond delay="0"/>
                                  </p:stCondLst>
                                  <p:childTnLst>
                                    <p:animMotion origin="layout" path="M -1.45833E-6 -0.03472 L -1.45833E-6 -1.48148E-6 " pathEditMode="relative" rAng="0" ptsTypes="AA">
                                      <p:cBhvr>
                                        <p:cTn id="20" dur="750" fill="hold"/>
                                        <p:tgtEl>
                                          <p:spTgt spid="11"/>
                                        </p:tgtEl>
                                        <p:attrNameLst>
                                          <p:attrName>ppt_x</p:attrName>
                                          <p:attrName>ppt_y</p:attrName>
                                        </p:attrNameLst>
                                      </p:cBhvr>
                                      <p:rCtr x="0" y="1736"/>
                                    </p:animMotion>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42" presetClass="path" presetSubtype="0" decel="100000" fill="hold" grpId="1" nodeType="withEffect">
                                  <p:stCondLst>
                                    <p:cond delay="0"/>
                                  </p:stCondLst>
                                  <p:childTnLst>
                                    <p:animMotion origin="layout" path="M -2.08333E-6 -0.03472 L -2.08333E-6 -1.48148E-6 " pathEditMode="relative" rAng="0" ptsTypes="AA">
                                      <p:cBhvr>
                                        <p:cTn id="33" dur="750" fill="hold"/>
                                        <p:tgtEl>
                                          <p:spTgt spid="14"/>
                                        </p:tgtEl>
                                        <p:attrNameLst>
                                          <p:attrName>ppt_x</p:attrName>
                                          <p:attrName>ppt_y</p:attrName>
                                        </p:attrNameLst>
                                      </p:cBhvr>
                                      <p:rCtr x="0" y="1736"/>
                                    </p:animMotion>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42" presetClass="path" presetSubtype="0" decel="100000" fill="hold" grpId="1" nodeType="withEffect">
                                  <p:stCondLst>
                                    <p:cond delay="0"/>
                                  </p:stCondLst>
                                  <p:childTnLst>
                                    <p:animMotion origin="layout" path="M -1.45833E-6 -0.03472 L -1.45833E-6 7.40741E-7 " pathEditMode="relative" rAng="0" ptsTypes="AA">
                                      <p:cBhvr>
                                        <p:cTn id="38" dur="750" fill="hold"/>
                                        <p:tgtEl>
                                          <p:spTgt spid="18"/>
                                        </p:tgtEl>
                                        <p:attrNameLst>
                                          <p:attrName>ppt_x</p:attrName>
                                          <p:attrName>ppt_y</p:attrName>
                                        </p:attrNameLst>
                                      </p:cBhvr>
                                      <p:rCtr x="0" y="1736"/>
                                    </p:animMotion>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42" presetClass="path" presetSubtype="0" decel="100000" fill="hold" grpId="1" nodeType="withEffect">
                                  <p:stCondLst>
                                    <p:cond delay="0"/>
                                  </p:stCondLst>
                                  <p:childTnLst>
                                    <p:animMotion origin="layout" path="M -2.08333E-6 -0.03472 L -2.08333E-6 7.40741E-7 " pathEditMode="relative" rAng="0" ptsTypes="AA">
                                      <p:cBhvr>
                                        <p:cTn id="43" dur="750" fill="hold"/>
                                        <p:tgtEl>
                                          <p:spTgt spid="21"/>
                                        </p:tgtEl>
                                        <p:attrNameLst>
                                          <p:attrName>ppt_x</p:attrName>
                                          <p:attrName>ppt_y</p:attrName>
                                        </p:attrNameLst>
                                      </p:cBhvr>
                                      <p:rCtr x="0" y="1736"/>
                                    </p:animMotion>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42" presetClass="path" presetSubtype="0" decel="100000" fill="hold" nodeType="withEffect">
                                  <p:stCondLst>
                                    <p:cond delay="0"/>
                                  </p:stCondLst>
                                  <p:childTnLst>
                                    <p:animMotion origin="layout" path="M -1.45833E-6 -0.03472 L -1.45833E-6 -3.33333E-6 " pathEditMode="relative" rAng="0" ptsTypes="AA">
                                      <p:cBhvr>
                                        <p:cTn id="48" dur="750" fill="hold"/>
                                        <p:tgtEl>
                                          <p:spTgt spid="17"/>
                                        </p:tgtEl>
                                        <p:attrNameLst>
                                          <p:attrName>ppt_x</p:attrName>
                                          <p:attrName>ppt_y</p:attrName>
                                        </p:attrNameLst>
                                      </p:cBhvr>
                                      <p:rCtr x="0" y="1736"/>
                                    </p:animMotion>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42" presetClass="path" presetSubtype="0" decel="100000" fill="hold" nodeType="withEffect">
                                  <p:stCondLst>
                                    <p:cond delay="0"/>
                                  </p:stCondLst>
                                  <p:childTnLst>
                                    <p:animMotion origin="layout" path="M -2.08333E-6 -0.03472 L -2.08333E-6 -3.33333E-6 " pathEditMode="relative" rAng="0" ptsTypes="AA">
                                      <p:cBhvr>
                                        <p:cTn id="53" dur="750" fill="hold"/>
                                        <p:tgtEl>
                                          <p:spTgt spid="19"/>
                                        </p:tgtEl>
                                        <p:attrNameLst>
                                          <p:attrName>ppt_x</p:attrName>
                                          <p:attrName>ppt_y</p:attrName>
                                        </p:attrNameLst>
                                      </p:cBhvr>
                                      <p:rCtr x="0" y="1736"/>
                                    </p:animMotion>
                                  </p:childTnLst>
                                </p:cTn>
                              </p:par>
                              <p:par>
                                <p:cTn id="54" presetID="22" presetClass="entr" presetSubtype="1"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up)">
                                      <p:cBhvr>
                                        <p:cTn id="56" dur="500"/>
                                        <p:tgtEl>
                                          <p:spTgt spid="36"/>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ipe(up)">
                                      <p:cBhvr>
                                        <p:cTn id="59" dur="500"/>
                                        <p:tgtEl>
                                          <p:spTgt spid="37"/>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ipe(up)">
                                      <p:cBhvr>
                                        <p:cTn id="62" dur="500"/>
                                        <p:tgtEl>
                                          <p:spTgt spid="38"/>
                                        </p:tgtEl>
                                      </p:cBhvr>
                                    </p:animEffect>
                                  </p:childTnLst>
                                </p:cTn>
                              </p:par>
                              <p:par>
                                <p:cTn id="63" presetID="10" presetClass="entr" presetSubtype="0" fill="hold"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500"/>
                                        <p:tgtEl>
                                          <p:spTgt spid="39"/>
                                        </p:tgtEl>
                                      </p:cBhvr>
                                    </p:animEffect>
                                  </p:childTnLst>
                                </p:cTn>
                              </p:par>
                              <p:par>
                                <p:cTn id="66" presetID="10" presetClass="entr" presetSubtype="0" fill="hold" nodeType="withEffect">
                                  <p:stCondLst>
                                    <p:cond delay="0"/>
                                  </p:stCondLst>
                                  <p:childTnLst>
                                    <p:set>
                                      <p:cBhvr>
                                        <p:cTn id="67" dur="1" fill="hold">
                                          <p:stCondLst>
                                            <p:cond delay="0"/>
                                          </p:stCondLst>
                                        </p:cTn>
                                        <p:tgtEl>
                                          <p:spTgt spid="52"/>
                                        </p:tgtEl>
                                        <p:attrNameLst>
                                          <p:attrName>style.visibility</p:attrName>
                                        </p:attrNameLst>
                                      </p:cBhvr>
                                      <p:to>
                                        <p:strVal val="visible"/>
                                      </p:to>
                                    </p:set>
                                    <p:animEffect transition="in" filter="fade">
                                      <p:cBhvr>
                                        <p:cTn id="68" dur="500"/>
                                        <p:tgtEl>
                                          <p:spTgt spid="5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fade">
                                      <p:cBhvr>
                                        <p:cTn id="71" dur="500"/>
                                        <p:tgtEl>
                                          <p:spTgt spid="5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500"/>
                                        <p:tgtEl>
                                          <p:spTgt spid="60"/>
                                        </p:tgtEl>
                                      </p:cBhvr>
                                    </p:animEffect>
                                  </p:childTnLst>
                                </p:cTn>
                              </p:par>
                              <p:par>
                                <p:cTn id="75" presetID="10" presetClass="entr" presetSubtype="0" fill="hold" nodeType="with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fade">
                                      <p:cBhvr>
                                        <p:cTn id="77" dur="500"/>
                                        <p:tgtEl>
                                          <p:spTgt spid="5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fade">
                                      <p:cBhvr>
                                        <p:cTn id="80" dur="500"/>
                                        <p:tgtEl>
                                          <p:spTgt spid="6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7"/>
                                        </p:tgtEl>
                                        <p:attrNameLst>
                                          <p:attrName>style.visibility</p:attrName>
                                        </p:attrNameLst>
                                      </p:cBhvr>
                                      <p:to>
                                        <p:strVal val="visible"/>
                                      </p:to>
                                    </p:set>
                                    <p:animEffect transition="in" filter="fade">
                                      <p:cBhvr>
                                        <p:cTn id="83" dur="500"/>
                                        <p:tgtEl>
                                          <p:spTgt spid="67"/>
                                        </p:tgtEl>
                                      </p:cBhvr>
                                    </p:animEffect>
                                  </p:childTnLst>
                                </p:cTn>
                              </p:par>
                              <p:par>
                                <p:cTn id="84" presetID="10" presetClass="entr" presetSubtype="0" fill="hold" nodeType="withEffect">
                                  <p:stCondLst>
                                    <p:cond delay="0"/>
                                  </p:stCondLst>
                                  <p:childTnLst>
                                    <p:set>
                                      <p:cBhvr>
                                        <p:cTn id="85" dur="1" fill="hold">
                                          <p:stCondLst>
                                            <p:cond delay="0"/>
                                          </p:stCondLst>
                                        </p:cTn>
                                        <p:tgtEl>
                                          <p:spTgt spid="65"/>
                                        </p:tgtEl>
                                        <p:attrNameLst>
                                          <p:attrName>style.visibility</p:attrName>
                                        </p:attrNameLst>
                                      </p:cBhvr>
                                      <p:to>
                                        <p:strVal val="visible"/>
                                      </p:to>
                                    </p:set>
                                    <p:animEffect transition="in" filter="fade">
                                      <p:cBhvr>
                                        <p:cTn id="86" dur="500"/>
                                        <p:tgtEl>
                                          <p:spTgt spid="6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6"/>
                                        </p:tgtEl>
                                        <p:attrNameLst>
                                          <p:attrName>style.visibility</p:attrName>
                                        </p:attrNameLst>
                                      </p:cBhvr>
                                      <p:to>
                                        <p:strVal val="visible"/>
                                      </p:to>
                                    </p:set>
                                    <p:animEffect transition="in" filter="fade">
                                      <p:cBhvr>
                                        <p:cTn id="89" dur="500"/>
                                        <p:tgtEl>
                                          <p:spTgt spid="6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0"/>
                                        </p:tgtEl>
                                        <p:attrNameLst>
                                          <p:attrName>style.visibility</p:attrName>
                                        </p:attrNameLst>
                                      </p:cBhvr>
                                      <p:to>
                                        <p:strVal val="visible"/>
                                      </p:to>
                                    </p:set>
                                    <p:animEffect transition="in" filter="fade">
                                      <p:cBhvr>
                                        <p:cTn id="92" dur="500"/>
                                        <p:tgtEl>
                                          <p:spTgt spid="7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par>
                                <p:cTn id="96" presetID="10" presetClass="entr" presetSubtype="0" fill="hold" nodeType="withEffect">
                                  <p:stCondLst>
                                    <p:cond delay="0"/>
                                  </p:stCondLst>
                                  <p:childTnLst>
                                    <p:set>
                                      <p:cBhvr>
                                        <p:cTn id="97" dur="1" fill="hold">
                                          <p:stCondLst>
                                            <p:cond delay="0"/>
                                          </p:stCondLst>
                                        </p:cTn>
                                        <p:tgtEl>
                                          <p:spTgt spid="71"/>
                                        </p:tgtEl>
                                        <p:attrNameLst>
                                          <p:attrName>style.visibility</p:attrName>
                                        </p:attrNameLst>
                                      </p:cBhvr>
                                      <p:to>
                                        <p:strVal val="visible"/>
                                      </p:to>
                                    </p:set>
                                    <p:animEffect transition="in" filter="fade">
                                      <p:cBhvr>
                                        <p:cTn id="98" dur="500"/>
                                        <p:tgtEl>
                                          <p:spTgt spid="7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500"/>
                                        <p:tgtEl>
                                          <p:spTgt spid="23"/>
                                        </p:tgtEl>
                                      </p:cBhvr>
                                    </p:animEffect>
                                  </p:childTnLst>
                                </p:cTn>
                              </p:par>
                              <p:par>
                                <p:cTn id="102" presetID="42" presetClass="path" presetSubtype="0" decel="100000" fill="hold" grpId="1" nodeType="withEffect">
                                  <p:stCondLst>
                                    <p:cond delay="0"/>
                                  </p:stCondLst>
                                  <p:childTnLst>
                                    <p:animMotion origin="layout" path="M 6.25E-7 -0.03472 L 6.25E-7 -1.48148E-6 " pathEditMode="relative" rAng="0" ptsTypes="AA">
                                      <p:cBhvr>
                                        <p:cTn id="103" dur="750" fill="hold"/>
                                        <p:tgtEl>
                                          <p:spTgt spid="23"/>
                                        </p:tgtEl>
                                        <p:attrNameLst>
                                          <p:attrName>ppt_x</p:attrName>
                                          <p:attrName>ppt_y</p:attrName>
                                        </p:attrNameLst>
                                      </p:cBhvr>
                                      <p:rCtr x="0" y="1736"/>
                                    </p:animMotion>
                                  </p:childTnLst>
                                </p:cTn>
                              </p:par>
                              <p:par>
                                <p:cTn id="104" presetID="10" presetClass="entr" presetSubtype="0" fill="hold" nodeType="with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par>
                                <p:cTn id="107" presetID="42" presetClass="path" presetSubtype="0" decel="100000" fill="hold" nodeType="withEffect">
                                  <p:stCondLst>
                                    <p:cond delay="0"/>
                                  </p:stCondLst>
                                  <p:childTnLst>
                                    <p:animMotion origin="layout" path="M 6.25E-7 -0.03472 L 6.25E-7 -3.33333E-6 " pathEditMode="relative" rAng="0" ptsTypes="AA">
                                      <p:cBhvr>
                                        <p:cTn id="108" dur="750" fill="hold"/>
                                        <p:tgtEl>
                                          <p:spTgt spid="32"/>
                                        </p:tgtEl>
                                        <p:attrNameLst>
                                          <p:attrName>ppt_x</p:attrName>
                                          <p:attrName>ppt_y</p:attrName>
                                        </p:attrNameLst>
                                      </p:cBhvr>
                                      <p:rCtr x="0" y="1736"/>
                                    </p:animMotion>
                                  </p:childTnLst>
                                </p:cTn>
                              </p:par>
                              <p:par>
                                <p:cTn id="109" presetID="10" presetClass="entr" presetSubtype="0"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500"/>
                                        <p:tgtEl>
                                          <p:spTgt spid="34"/>
                                        </p:tgtEl>
                                      </p:cBhvr>
                                    </p:animEffect>
                                  </p:childTnLst>
                                </p:cTn>
                              </p:par>
                              <p:par>
                                <p:cTn id="112" presetID="42" presetClass="path" presetSubtype="0" decel="100000" fill="hold" grpId="1" nodeType="withEffect">
                                  <p:stCondLst>
                                    <p:cond delay="0"/>
                                  </p:stCondLst>
                                  <p:childTnLst>
                                    <p:animMotion origin="layout" path="M 6.25E-7 -0.03472 L 6.25E-7 7.40741E-7 " pathEditMode="relative" rAng="0" ptsTypes="AA">
                                      <p:cBhvr>
                                        <p:cTn id="113" dur="750" fill="hold"/>
                                        <p:tgtEl>
                                          <p:spTgt spid="34"/>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P spid="59" grpId="0"/>
      <p:bldP spid="60" grpId="0"/>
      <p:bldP spid="9" grpId="0" animBg="1"/>
      <p:bldP spid="62" grpId="0"/>
      <p:bldP spid="12" grpId="0" animBg="1"/>
      <p:bldP spid="66" grpId="0"/>
      <p:bldP spid="67" grpId="0"/>
      <p:bldP spid="70" grpId="0" animBg="1"/>
      <p:bldP spid="38" grpId="0" animBg="1"/>
      <p:bldP spid="37" grpId="0" animBg="1"/>
      <p:bldP spid="36" grpId="0" animBg="1"/>
      <p:bldP spid="10" grpId="0" animBg="1"/>
      <p:bldP spid="11" grpId="0" animBg="1"/>
      <p:bldP spid="11" grpId="1" animBg="1"/>
      <p:bldP spid="13" grpId="0" animBg="1"/>
      <p:bldP spid="14" grpId="0" animBg="1"/>
      <p:bldP spid="14" grpId="1" animBg="1"/>
      <p:bldP spid="18" grpId="0" animBg="1"/>
      <p:bldP spid="18" grpId="1" animBg="1"/>
      <p:bldP spid="21" grpId="0" animBg="1"/>
      <p:bldP spid="21" grpId="1" animBg="1"/>
      <p:bldP spid="23" grpId="0" animBg="1"/>
      <p:bldP spid="23" grpId="1" animBg="1"/>
      <p:bldP spid="34" grpId="0" animBg="1"/>
      <p:bldP spid="34"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39E0C-9AEC-1ABB-3212-31F3F027B53B}"/>
            </a:ext>
          </a:extLst>
        </p:cNvPr>
        <p:cNvGrpSpPr/>
        <p:nvPr/>
      </p:nvGrpSpPr>
      <p:grpSpPr>
        <a:xfrm>
          <a:off x="0" y="0"/>
          <a:ext cx="0" cy="0"/>
          <a:chOff x="0" y="0"/>
          <a:chExt cx="0" cy="0"/>
        </a:xfrm>
      </p:grpSpPr>
      <p:sp>
        <p:nvSpPr>
          <p:cNvPr id="8" name="Rectangle: Rounded Corners 18">
            <a:extLst>
              <a:ext uri="{FF2B5EF4-FFF2-40B4-BE49-F238E27FC236}">
                <a16:creationId xmlns:a16="http://schemas.microsoft.com/office/drawing/2014/main" id="{7DFA68D6-C7BD-0C8A-A715-4172ABEAD0C9}"/>
              </a:ext>
              <a:ext uri="{C183D7F6-B498-43B3-948B-1728B52AA6E4}">
                <adec:decorative xmlns:adec="http://schemas.microsoft.com/office/drawing/2017/decorative" val="1"/>
              </a:ext>
            </a:extLst>
          </p:cNvPr>
          <p:cNvSpPr>
            <a:spLocks/>
          </p:cNvSpPr>
          <p:nvPr/>
        </p:nvSpPr>
        <p:spPr bwMode="auto">
          <a:xfrm flipV="1">
            <a:off x="0" y="0"/>
            <a:ext cx="3616984" cy="6076950"/>
          </a:xfrm>
          <a:prstGeom prst="round1Rect">
            <a:avLst>
              <a:gd name="adj" fmla="val 9421"/>
            </a:avLst>
          </a:prstGeom>
          <a:gradFill flip="none" rotWithShape="1">
            <a:gsLst>
              <a:gs pos="0">
                <a:schemeClr val="accent2"/>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36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0" name="Rounded Rectangle 64">
            <a:extLst>
              <a:ext uri="{FF2B5EF4-FFF2-40B4-BE49-F238E27FC236}">
                <a16:creationId xmlns:a16="http://schemas.microsoft.com/office/drawing/2014/main" id="{EEE75659-EF84-8DBF-61F1-AA7B2FD5C793}"/>
              </a:ext>
              <a:ext uri="{C183D7F6-B498-43B3-948B-1728B52AA6E4}">
                <adec:decorative xmlns:adec="http://schemas.microsoft.com/office/drawing/2017/decorative" val="1"/>
              </a:ext>
            </a:extLst>
          </p:cNvPr>
          <p:cNvSpPr>
            <a:spLocks/>
          </p:cNvSpPr>
          <p:nvPr/>
        </p:nvSpPr>
        <p:spPr bwMode="auto">
          <a:xfrm>
            <a:off x="4165012" y="1561452"/>
            <a:ext cx="7444375" cy="3735097"/>
          </a:xfrm>
          <a:prstGeom prst="roundRect">
            <a:avLst>
              <a:gd name="adj" fmla="val 4200"/>
            </a:avLst>
          </a:prstGeom>
          <a:solidFill>
            <a:schemeClr val="bg1"/>
          </a:solidFill>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noFill/>
              <a:effectLst/>
              <a:uLnTx/>
              <a:uFillTx/>
              <a:latin typeface="Segoe UI Variable Small Semibol" pitchFamily="2" charset="0"/>
              <a:ea typeface="+mn-ea"/>
              <a:cs typeface="+mn-cs"/>
            </a:endParaRPr>
          </a:p>
        </p:txBody>
      </p:sp>
      <p:sp>
        <p:nvSpPr>
          <p:cNvPr id="12" name="Oval 11">
            <a:extLst>
              <a:ext uri="{FF2B5EF4-FFF2-40B4-BE49-F238E27FC236}">
                <a16:creationId xmlns:a16="http://schemas.microsoft.com/office/drawing/2014/main" id="{D114A7E4-535E-DD20-825E-975D0B9DBB09}"/>
              </a:ext>
              <a:ext uri="{C183D7F6-B498-43B3-948B-1728B52AA6E4}">
                <adec:decorative xmlns:adec="http://schemas.microsoft.com/office/drawing/2017/decorative" val="1"/>
              </a:ext>
            </a:extLst>
          </p:cNvPr>
          <p:cNvSpPr/>
          <p:nvPr/>
        </p:nvSpPr>
        <p:spPr bwMode="auto">
          <a:xfrm>
            <a:off x="588963" y="985166"/>
            <a:ext cx="844550" cy="8445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7" name="Rectangle: Rounded Corners 26">
            <a:extLst>
              <a:ext uri="{FF2B5EF4-FFF2-40B4-BE49-F238E27FC236}">
                <a16:creationId xmlns:a16="http://schemas.microsoft.com/office/drawing/2014/main" id="{C3C0ADF8-E54D-B3D8-2A0E-04D1DD439B2A}"/>
              </a:ext>
              <a:ext uri="{C183D7F6-B498-43B3-948B-1728B52AA6E4}">
                <adec:decorative xmlns:adec="http://schemas.microsoft.com/office/drawing/2017/decorative" val="1"/>
              </a:ext>
            </a:extLst>
          </p:cNvPr>
          <p:cNvSpPr>
            <a:spLocks/>
          </p:cNvSpPr>
          <p:nvPr/>
        </p:nvSpPr>
        <p:spPr bwMode="auto">
          <a:xfrm>
            <a:off x="4347891" y="1763285"/>
            <a:ext cx="7078614" cy="1586547"/>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0" rIns="137160" bIns="457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endParaRPr>
          </a:p>
        </p:txBody>
      </p:sp>
      <p:sp>
        <p:nvSpPr>
          <p:cNvPr id="29" name="Rectangle: Rounded Corners 28">
            <a:extLst>
              <a:ext uri="{FF2B5EF4-FFF2-40B4-BE49-F238E27FC236}">
                <a16:creationId xmlns:a16="http://schemas.microsoft.com/office/drawing/2014/main" id="{CD645046-1F5D-8DD4-96B8-82F23DB89555}"/>
              </a:ext>
              <a:ext uri="{C183D7F6-B498-43B3-948B-1728B52AA6E4}">
                <adec:decorative xmlns:adec="http://schemas.microsoft.com/office/drawing/2017/decorative" val="1"/>
              </a:ext>
            </a:extLst>
          </p:cNvPr>
          <p:cNvSpPr>
            <a:spLocks/>
          </p:cNvSpPr>
          <p:nvPr/>
        </p:nvSpPr>
        <p:spPr bwMode="auto">
          <a:xfrm>
            <a:off x="4347891" y="3529269"/>
            <a:ext cx="7078614" cy="1586547"/>
          </a:xfrm>
          <a:prstGeom prst="roundRect">
            <a:avLst>
              <a:gd name="adj" fmla="val 91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0" rIns="137160" bIns="457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endParaRPr>
          </a:p>
        </p:txBody>
      </p:sp>
      <p:sp>
        <p:nvSpPr>
          <p:cNvPr id="2" name="Title 5">
            <a:extLst>
              <a:ext uri="{FF2B5EF4-FFF2-40B4-BE49-F238E27FC236}">
                <a16:creationId xmlns:a16="http://schemas.microsoft.com/office/drawing/2014/main" id="{7CABAF7B-0986-826F-BBF8-65B17F2D41D4}"/>
              </a:ext>
            </a:extLst>
          </p:cNvPr>
          <p:cNvSpPr txBox="1">
            <a:spLocks noGrp="1"/>
          </p:cNvSpPr>
          <p:nvPr>
            <p:ph type="title" idx="4294967295"/>
          </p:nvPr>
        </p:nvSpPr>
        <p:spPr>
          <a:xfrm>
            <a:off x="582613" y="2197894"/>
            <a:ext cx="2712380" cy="221599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dirty="0">
                <a:ln w="3175">
                  <a:noFill/>
                </a:ln>
                <a:solidFill>
                  <a:srgbClr val="FFFFFF"/>
                </a:solidFill>
                <a:effectLst/>
                <a:uLnTx/>
                <a:uFillTx/>
                <a:latin typeface="Segoe UI Semibold"/>
                <a:ea typeface="+mn-ea"/>
                <a:cs typeface="Segoe UI" pitchFamily="34" charset="0"/>
              </a:rPr>
              <a:t>Addressing oversharing at file level </a:t>
            </a:r>
            <a:r>
              <a:rPr kumimoji="0" lang="en-BE" sz="3600" b="0" i="0" u="none" strike="noStrike" kern="1200" cap="none" spc="-50" normalizeH="0" baseline="0" noProof="0" dirty="0">
                <a:ln w="3175">
                  <a:noFill/>
                </a:ln>
                <a:solidFill>
                  <a:srgbClr val="FFFFFF"/>
                </a:solidFill>
                <a:effectLst/>
                <a:uLnTx/>
                <a:uFillTx/>
                <a:latin typeface="Segoe UI Semibold"/>
                <a:ea typeface="+mn-ea"/>
                <a:cs typeface="Segoe UI" pitchFamily="34" charset="0"/>
              </a:rPr>
              <a:t>with Purview</a:t>
            </a:r>
            <a:endParaRPr kumimoji="0" lang="en-US" sz="3600" b="0" i="0" u="none" strike="noStrike" kern="1200" cap="none" spc="-50" normalizeH="0" baseline="0" noProof="0" dirty="0">
              <a:ln w="3175">
                <a:noFill/>
              </a:ln>
              <a:solidFill>
                <a:srgbClr val="FFFFFF"/>
              </a:solidFill>
              <a:effectLst/>
              <a:uLnTx/>
              <a:uFillTx/>
              <a:latin typeface="Segoe UI Semibold"/>
              <a:ea typeface="+mn-ea"/>
              <a:cs typeface="Segoe UI" pitchFamily="34" charset="0"/>
            </a:endParaRPr>
          </a:p>
        </p:txBody>
      </p:sp>
      <p:sp>
        <p:nvSpPr>
          <p:cNvPr id="37" name="Graphic 44">
            <a:extLst>
              <a:ext uri="{FF2B5EF4-FFF2-40B4-BE49-F238E27FC236}">
                <a16:creationId xmlns:a16="http://schemas.microsoft.com/office/drawing/2014/main" id="{FEC4972D-5E57-1970-1367-266DCA688C53}"/>
              </a:ext>
              <a:ext uri="{C183D7F6-B498-43B3-948B-1728B52AA6E4}">
                <adec:decorative xmlns:adec="http://schemas.microsoft.com/office/drawing/2017/decorative" val="1"/>
              </a:ext>
            </a:extLst>
          </p:cNvPr>
          <p:cNvSpPr>
            <a:spLocks/>
          </p:cNvSpPr>
          <p:nvPr/>
        </p:nvSpPr>
        <p:spPr>
          <a:xfrm>
            <a:off x="808038" y="1174275"/>
            <a:ext cx="406400" cy="466332"/>
          </a:xfrm>
          <a:custGeom>
            <a:avLst/>
            <a:gdLst>
              <a:gd name="connsiteX0" fmla="*/ 1101175 w 1290086"/>
              <a:gd name="connsiteY0" fmla="*/ 1101142 h 1480335"/>
              <a:gd name="connsiteX1" fmla="*/ 1013238 w 1290086"/>
              <a:gd name="connsiteY1" fmla="*/ 1188116 h 1480335"/>
              <a:gd name="connsiteX2" fmla="*/ 760910 w 1290086"/>
              <a:gd name="connsiteY2" fmla="*/ 1433480 h 1480335"/>
              <a:gd name="connsiteX3" fmla="*/ 529177 w 1290086"/>
              <a:gd name="connsiteY3" fmla="*/ 1433480 h 1480335"/>
              <a:gd name="connsiteX4" fmla="*/ 270552 w 1290086"/>
              <a:gd name="connsiteY4" fmla="*/ 1181893 h 1480335"/>
              <a:gd name="connsiteX5" fmla="*/ 188912 w 1290086"/>
              <a:gd name="connsiteY5" fmla="*/ 1101142 h 1480335"/>
              <a:gd name="connsiteX6" fmla="*/ 188945 w 1290086"/>
              <a:gd name="connsiteY6" fmla="*/ 188912 h 1480335"/>
              <a:gd name="connsiteX7" fmla="*/ 1101175 w 1290086"/>
              <a:gd name="connsiteY7" fmla="*/ 188945 h 1480335"/>
              <a:gd name="connsiteX8" fmla="*/ 1101175 w 1290086"/>
              <a:gd name="connsiteY8" fmla="*/ 1101142 h 1480335"/>
              <a:gd name="connsiteX9" fmla="*/ 830252 w 1290086"/>
              <a:gd name="connsiteY9" fmla="*/ 665384 h 1480335"/>
              <a:gd name="connsiteX10" fmla="*/ 645043 w 1290086"/>
              <a:gd name="connsiteY10" fmla="*/ 480175 h 1480335"/>
              <a:gd name="connsiteX11" fmla="*/ 459835 w 1290086"/>
              <a:gd name="connsiteY11" fmla="*/ 665384 h 1480335"/>
              <a:gd name="connsiteX12" fmla="*/ 645043 w 1290086"/>
              <a:gd name="connsiteY12" fmla="*/ 850592 h 1480335"/>
              <a:gd name="connsiteX13" fmla="*/ 830252 w 1290086"/>
              <a:gd name="connsiteY13" fmla="*/ 665384 h 148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0086" h="1480335">
                <a:moveTo>
                  <a:pt x="1101175" y="1101142"/>
                </a:moveTo>
                <a:lnTo>
                  <a:pt x="1013238" y="1188116"/>
                </a:lnTo>
                <a:cubicBezTo>
                  <a:pt x="948415" y="1251679"/>
                  <a:pt x="864330" y="1333467"/>
                  <a:pt x="760910" y="1433480"/>
                </a:cubicBezTo>
                <a:cubicBezTo>
                  <a:pt x="696294" y="1495954"/>
                  <a:pt x="593793" y="1495954"/>
                  <a:pt x="529177" y="1433480"/>
                </a:cubicBezTo>
                <a:lnTo>
                  <a:pt x="270552" y="1181893"/>
                </a:lnTo>
                <a:cubicBezTo>
                  <a:pt x="238030" y="1149963"/>
                  <a:pt x="210841" y="1123071"/>
                  <a:pt x="188912" y="1101142"/>
                </a:cubicBezTo>
                <a:cubicBezTo>
                  <a:pt x="-62984" y="849229"/>
                  <a:pt x="-62969" y="440809"/>
                  <a:pt x="188945" y="188912"/>
                </a:cubicBezTo>
                <a:cubicBezTo>
                  <a:pt x="440859" y="-62984"/>
                  <a:pt x="849276" y="-62969"/>
                  <a:pt x="1101175" y="188945"/>
                </a:cubicBezTo>
                <a:cubicBezTo>
                  <a:pt x="1353058" y="440847"/>
                  <a:pt x="1353058" y="849244"/>
                  <a:pt x="1101175" y="1101142"/>
                </a:cubicBezTo>
                <a:close/>
                <a:moveTo>
                  <a:pt x="830252" y="665384"/>
                </a:moveTo>
                <a:cubicBezTo>
                  <a:pt x="830252" y="563096"/>
                  <a:pt x="747330" y="480175"/>
                  <a:pt x="645043" y="480175"/>
                </a:cubicBezTo>
                <a:cubicBezTo>
                  <a:pt x="542757" y="480175"/>
                  <a:pt x="459835" y="563096"/>
                  <a:pt x="459835" y="665384"/>
                </a:cubicBezTo>
                <a:cubicBezTo>
                  <a:pt x="459835" y="767671"/>
                  <a:pt x="542757" y="850592"/>
                  <a:pt x="645043" y="850592"/>
                </a:cubicBezTo>
                <a:cubicBezTo>
                  <a:pt x="747330" y="850592"/>
                  <a:pt x="830252" y="767671"/>
                  <a:pt x="830252" y="665384"/>
                </a:cubicBezTo>
                <a:close/>
              </a:path>
            </a:pathLst>
          </a:custGeom>
          <a:gradFill flip="none" rotWithShape="1">
            <a:gsLst>
              <a:gs pos="0">
                <a:srgbClr val="C03BC4"/>
              </a:gs>
              <a:gs pos="80000">
                <a:srgbClr val="0078D4"/>
              </a:gs>
            </a:gsLst>
            <a:path path="circle">
              <a:fillToRect l="100000" t="100000"/>
            </a:path>
            <a:tileRect r="-100000" b="-100000"/>
          </a:gradFill>
          <a:ln>
            <a:noFill/>
            <a:prstDash/>
          </a:ln>
          <a:effectLst>
            <a:outerShdw blurRad="88900" dist="38100" dir="2700000" algn="tl" rotWithShape="0">
              <a:srgbClr val="000000">
                <a:alpha val="11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endParaRPr kumimoji="0" lang="en-US" sz="24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7" name="Oval 16">
            <a:extLst>
              <a:ext uri="{FF2B5EF4-FFF2-40B4-BE49-F238E27FC236}">
                <a16:creationId xmlns:a16="http://schemas.microsoft.com/office/drawing/2014/main" id="{F687904F-8B60-E4B6-5B47-A3B7CF3E64DA}"/>
              </a:ext>
              <a:ext uri="{C183D7F6-B498-43B3-948B-1728B52AA6E4}">
                <adec:decorative xmlns:adec="http://schemas.microsoft.com/office/drawing/2017/decorative" val="1"/>
              </a:ext>
            </a:extLst>
          </p:cNvPr>
          <p:cNvSpPr/>
          <p:nvPr/>
        </p:nvSpPr>
        <p:spPr bwMode="auto">
          <a:xfrm>
            <a:off x="4629622" y="2246042"/>
            <a:ext cx="621034" cy="621032"/>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33" name="TextBox 32">
            <a:extLst>
              <a:ext uri="{FF2B5EF4-FFF2-40B4-BE49-F238E27FC236}">
                <a16:creationId xmlns:a16="http://schemas.microsoft.com/office/drawing/2014/main" id="{FE79C014-BC7F-C9E3-A4E8-286446F06B87}"/>
              </a:ext>
            </a:extLst>
          </p:cNvPr>
          <p:cNvSpPr txBox="1"/>
          <p:nvPr/>
        </p:nvSpPr>
        <p:spPr>
          <a:xfrm>
            <a:off x="5471635" y="2094893"/>
            <a:ext cx="5710715" cy="923330"/>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a:rPr>
              <a:t>Identify overshared files and sites with new </a:t>
            </a:r>
            <a:r>
              <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rPr>
              <a:t>Oversharing assessments </a:t>
            </a:r>
            <a:r>
              <a:rPr kumimoji="0" lang="en-US" sz="2000" b="0" i="0" u="none" strike="noStrike" kern="1200" cap="none" spc="0" normalizeH="0" baseline="0" noProof="0">
                <a:ln>
                  <a:noFill/>
                </a:ln>
                <a:solidFill>
                  <a:srgbClr val="000000"/>
                </a:solidFill>
                <a:effectLst/>
                <a:uLnTx/>
                <a:uFillTx/>
                <a:latin typeface="Segoe UI"/>
                <a:ea typeface="+mn-lt"/>
                <a:cs typeface="Segoe UI"/>
              </a:rPr>
              <a:t>surfaced in </a:t>
            </a:r>
            <a:r>
              <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rPr>
              <a:t>Data Security Posture Management for AI</a:t>
            </a:r>
          </a:p>
        </p:txBody>
      </p:sp>
      <p:sp>
        <p:nvSpPr>
          <p:cNvPr id="31" name="Oval 30">
            <a:extLst>
              <a:ext uri="{FF2B5EF4-FFF2-40B4-BE49-F238E27FC236}">
                <a16:creationId xmlns:a16="http://schemas.microsoft.com/office/drawing/2014/main" id="{5681603C-3F09-1B13-18D9-635C147049D9}"/>
              </a:ext>
              <a:ext uri="{C183D7F6-B498-43B3-948B-1728B52AA6E4}">
                <adec:decorative xmlns:adec="http://schemas.microsoft.com/office/drawing/2017/decorative" val="1"/>
              </a:ext>
            </a:extLst>
          </p:cNvPr>
          <p:cNvSpPr/>
          <p:nvPr/>
        </p:nvSpPr>
        <p:spPr bwMode="auto">
          <a:xfrm>
            <a:off x="4629622" y="4012026"/>
            <a:ext cx="621034" cy="621032"/>
          </a:xfrm>
          <a:prstGeom prst="ellipse">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chemeClr val="bg1">
                <a:lumMod val="50000"/>
                <a:alpha val="30000"/>
              </a:schemeClr>
            </a:outerShdw>
          </a:effectLst>
        </p:spPr>
        <p:txBody>
          <a:bodyPr wrap="square" lIns="0" tIns="0" rIns="0" bIns="0" rtlCol="0" anchor="ctr" anchorCtr="0">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35" name="TextBox 34">
            <a:extLst>
              <a:ext uri="{FF2B5EF4-FFF2-40B4-BE49-F238E27FC236}">
                <a16:creationId xmlns:a16="http://schemas.microsoft.com/office/drawing/2014/main" id="{5ADE0661-A04E-AEE3-585B-B94CD39B1423}"/>
              </a:ext>
            </a:extLst>
          </p:cNvPr>
          <p:cNvSpPr txBox="1"/>
          <p:nvPr/>
        </p:nvSpPr>
        <p:spPr>
          <a:xfrm>
            <a:off x="5471635" y="3860878"/>
            <a:ext cx="5710715" cy="1231106"/>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a:rPr>
              <a:t>Keep Copilot from using labeled files in prompts responses with </a:t>
            </a:r>
            <a:r>
              <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rPr>
              <a:t>Data Loss Prevention for M365 Copilot and Information Protection sensitivity labels</a:t>
            </a:r>
          </a:p>
        </p:txBody>
      </p:sp>
    </p:spTree>
    <p:extLst>
      <p:ext uri="{BB962C8B-B14F-4D97-AF65-F5344CB8AC3E}">
        <p14:creationId xmlns:p14="http://schemas.microsoft.com/office/powerpoint/2010/main" val="2535900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6BBE9-5D3A-C1B8-0836-2BBC11B5B08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60B6398-CA46-BF41-41A0-9A994CC85465}"/>
              </a:ext>
              <a:ext uri="{C183D7F6-B498-43B3-948B-1728B52AA6E4}">
                <adec:decorative xmlns:adec="http://schemas.microsoft.com/office/drawing/2017/decorative" val="1"/>
              </a:ext>
            </a:extLst>
          </p:cNvPr>
          <p:cNvSpPr>
            <a:spLocks/>
          </p:cNvSpPr>
          <p:nvPr/>
        </p:nvSpPr>
        <p:spPr bwMode="auto">
          <a:xfrm>
            <a:off x="584200" y="1266356"/>
            <a:ext cx="11020425" cy="4680354"/>
          </a:xfrm>
          <a:prstGeom prst="roundRect">
            <a:avLst>
              <a:gd name="adj" fmla="val 47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4" name="Rectangle: Rounded Corners 33">
            <a:extLst>
              <a:ext uri="{FF2B5EF4-FFF2-40B4-BE49-F238E27FC236}">
                <a16:creationId xmlns:a16="http://schemas.microsoft.com/office/drawing/2014/main" id="{B71CC7E4-7C7B-ED41-FF3C-304E8A48A4DC}"/>
              </a:ext>
              <a:ext uri="{C183D7F6-B498-43B3-948B-1728B52AA6E4}">
                <adec:decorative xmlns:adec="http://schemas.microsoft.com/office/drawing/2017/decorative" val="1"/>
              </a:ext>
            </a:extLst>
          </p:cNvPr>
          <p:cNvSpPr>
            <a:spLocks/>
          </p:cNvSpPr>
          <p:nvPr/>
        </p:nvSpPr>
        <p:spPr bwMode="auto">
          <a:xfrm>
            <a:off x="767080" y="2486616"/>
            <a:ext cx="3429635" cy="3341906"/>
          </a:xfrm>
          <a:prstGeom prst="roundRect">
            <a:avLst>
              <a:gd name="adj" fmla="val 39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5" name="Rectangle: Rounded Corners 34">
            <a:extLst>
              <a:ext uri="{FF2B5EF4-FFF2-40B4-BE49-F238E27FC236}">
                <a16:creationId xmlns:a16="http://schemas.microsoft.com/office/drawing/2014/main" id="{482EDA0D-95B1-1D3C-5065-C61C05D360D1}"/>
              </a:ext>
              <a:ext uri="{C183D7F6-B498-43B3-948B-1728B52AA6E4}">
                <adec:decorative xmlns:adec="http://schemas.microsoft.com/office/drawing/2017/decorative" val="1"/>
              </a:ext>
            </a:extLst>
          </p:cNvPr>
          <p:cNvSpPr>
            <a:spLocks/>
          </p:cNvSpPr>
          <p:nvPr/>
        </p:nvSpPr>
        <p:spPr bwMode="auto">
          <a:xfrm>
            <a:off x="4379595" y="2486616"/>
            <a:ext cx="3429635" cy="3341906"/>
          </a:xfrm>
          <a:prstGeom prst="roundRect">
            <a:avLst>
              <a:gd name="adj" fmla="val 39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Rectangle: Rounded Corners 35">
            <a:extLst>
              <a:ext uri="{FF2B5EF4-FFF2-40B4-BE49-F238E27FC236}">
                <a16:creationId xmlns:a16="http://schemas.microsoft.com/office/drawing/2014/main" id="{F51DB2C3-82DD-F7E3-F5FC-46FDB92EDAF7}"/>
              </a:ext>
              <a:ext uri="{C183D7F6-B498-43B3-948B-1728B52AA6E4}">
                <adec:decorative xmlns:adec="http://schemas.microsoft.com/office/drawing/2017/decorative" val="1"/>
              </a:ext>
            </a:extLst>
          </p:cNvPr>
          <p:cNvSpPr>
            <a:spLocks/>
          </p:cNvSpPr>
          <p:nvPr/>
        </p:nvSpPr>
        <p:spPr bwMode="auto">
          <a:xfrm>
            <a:off x="7992109" y="2486616"/>
            <a:ext cx="3429635" cy="3341906"/>
          </a:xfrm>
          <a:prstGeom prst="roundRect">
            <a:avLst>
              <a:gd name="adj" fmla="val 39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Title 11">
            <a:extLst>
              <a:ext uri="{FF2B5EF4-FFF2-40B4-BE49-F238E27FC236}">
                <a16:creationId xmlns:a16="http://schemas.microsoft.com/office/drawing/2014/main" id="{38B32D4B-7776-D0E4-CDF3-893DA62AEF8B}"/>
              </a:ext>
            </a:extLst>
          </p:cNvPr>
          <p:cNvSpPr>
            <a:spLocks noGrp="1"/>
          </p:cNvSpPr>
          <p:nvPr>
            <p:ph type="title"/>
          </p:nvPr>
        </p:nvSpPr>
        <p:spPr>
          <a:xfrm>
            <a:off x="588263" y="457200"/>
            <a:ext cx="11018520" cy="553998"/>
          </a:xfrm>
        </p:spPr>
        <p:txBody>
          <a:bodyPr>
            <a:normAutofit fontScale="90000"/>
          </a:bodyPr>
          <a:lstStyle/>
          <a:p>
            <a:r>
              <a:rPr lang="en-US" noProof="0"/>
              <a:t>Identify and mitigate risks related to AI usage</a:t>
            </a:r>
            <a:endParaRPr lang="en-US"/>
          </a:p>
        </p:txBody>
      </p:sp>
      <p:sp>
        <p:nvSpPr>
          <p:cNvPr id="18" name="Rounded Rectangle 11">
            <a:extLst>
              <a:ext uri="{FF2B5EF4-FFF2-40B4-BE49-F238E27FC236}">
                <a16:creationId xmlns:a16="http://schemas.microsoft.com/office/drawing/2014/main" id="{487FAA1B-3466-EA62-5593-E8D2579DC518}"/>
              </a:ext>
              <a:ext uri="{C183D7F6-B498-43B3-948B-1728B52AA6E4}">
                <adec:decorative xmlns:adec="http://schemas.microsoft.com/office/drawing/2017/decorative" val="0"/>
              </a:ext>
            </a:extLst>
          </p:cNvPr>
          <p:cNvSpPr>
            <a:spLocks/>
          </p:cNvSpPr>
          <p:nvPr/>
        </p:nvSpPr>
        <p:spPr bwMode="auto">
          <a:xfrm>
            <a:off x="767080" y="1449236"/>
            <a:ext cx="10654665" cy="873550"/>
          </a:xfrm>
          <a:prstGeom prst="roundRect">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600"/>
              </a:spcAft>
              <a:buClrTx/>
              <a:buSzPct val="90000"/>
              <a:buFontTx/>
              <a:buNone/>
              <a:tabLst/>
              <a:defRPr/>
            </a:pPr>
            <a:r>
              <a:rPr kumimoji="0" lang="en-US" sz="1800" b="0" i="0" u="none" strike="noStrike" kern="1200" cap="none" spc="0" normalizeH="0" baseline="0" noProof="0">
                <a:ln w="3175">
                  <a:noFill/>
                </a:ln>
                <a:solidFill>
                  <a:srgbClr val="FFFFFF"/>
                </a:solidFill>
                <a:effectLst/>
                <a:uLnTx/>
                <a:uFillTx/>
                <a:latin typeface="Segoe UI Semibold"/>
                <a:ea typeface="+mn-ea"/>
                <a:cs typeface="Segoe Sans Display Semibold"/>
              </a:rPr>
              <a:t>Oversharing assessment in Data Security Posture Management (DSPM) for AI</a:t>
            </a:r>
          </a:p>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1400" b="0" i="1" u="none" strike="noStrike" kern="1200" cap="none" spc="0" normalizeH="0" baseline="0" noProof="0">
                <a:ln>
                  <a:noFill/>
                </a:ln>
                <a:solidFill>
                  <a:srgbClr val="FFFFFF"/>
                </a:solidFill>
                <a:effectLst/>
                <a:uLnTx/>
                <a:uFillTx/>
                <a:latin typeface="Segoe UI"/>
                <a:ea typeface="+mn-ea"/>
                <a:cs typeface="Segoe UI Semibold"/>
              </a:rPr>
              <a:t>Proactively strengthen data security to help prevent incidents like data oversharing, leakage, or unethical use</a:t>
            </a:r>
          </a:p>
        </p:txBody>
      </p:sp>
      <p:sp>
        <p:nvSpPr>
          <p:cNvPr id="5" name="TextBox 4">
            <a:extLst>
              <a:ext uri="{FF2B5EF4-FFF2-40B4-BE49-F238E27FC236}">
                <a16:creationId xmlns:a16="http://schemas.microsoft.com/office/drawing/2014/main" id="{087678B7-CA47-AC35-6FE7-4EC969A251F2}"/>
              </a:ext>
            </a:extLst>
          </p:cNvPr>
          <p:cNvSpPr txBox="1">
            <a:spLocks/>
          </p:cNvSpPr>
          <p:nvPr/>
        </p:nvSpPr>
        <p:spPr>
          <a:xfrm>
            <a:off x="927417" y="4561585"/>
            <a:ext cx="3108960" cy="1030059"/>
          </a:xfrm>
          <a:prstGeom prst="roundRect">
            <a:avLst>
              <a:gd name="adj" fmla="val 8900"/>
            </a:avLst>
          </a:prstGeom>
          <a:solidFill>
            <a:schemeClr val="bg1"/>
          </a:solidFill>
          <a:effectLst/>
        </p:spPr>
        <p:txBody>
          <a:bodyPr wrap="square" lIns="91440" tIns="45720" rIns="91440" bIns="45720" rtlCol="0" anchor="ctr">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1" i="0" u="none" strike="noStrike" cap="none" spc="0" normalizeH="0" baseline="0">
                <a:ln w="3175">
                  <a:noFill/>
                </a:ln>
                <a:effectLst/>
                <a:uLnTx/>
                <a:uFillTx/>
                <a:latin typeface="+mj-lt"/>
                <a:cs typeface="Segoe Sans Display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w="3175">
                  <a:noFill/>
                </a:ln>
                <a:solidFill>
                  <a:srgbClr val="0078D4"/>
                </a:solidFill>
                <a:effectLst/>
                <a:uLnTx/>
                <a:uFillTx/>
                <a:latin typeface="Segoe UI Semibold"/>
                <a:ea typeface="+mn-ea"/>
                <a:cs typeface="Segoe Sans Display Semibold"/>
              </a:rPr>
              <a:t>Discover</a:t>
            </a:r>
            <a:r>
              <a:rPr kumimoji="0" lang="en-US" sz="1400" b="1" i="0" u="none" strike="noStrike" kern="1200" cap="none" spc="0" normalizeH="0" baseline="0" noProof="0">
                <a:ln w="3175">
                  <a:noFill/>
                </a:ln>
                <a:solidFill>
                  <a:srgbClr val="000000"/>
                </a:solidFill>
                <a:effectLst/>
                <a:uLnTx/>
                <a:uFillTx/>
                <a:latin typeface="Segoe UI Semibold"/>
                <a:ea typeface="+mn-ea"/>
                <a:cs typeface="Segoe Sans Display Semibold"/>
              </a:rPr>
              <a:t> </a:t>
            </a: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data security, safety, and compliance risks in </a:t>
            </a:r>
            <a:r>
              <a:rPr kumimoji="0" lang="en-US" sz="1400" b="0" i="0" u="none" strike="noStrike" kern="1200" cap="none" spc="0" normalizeH="0" baseline="0" noProof="0">
                <a:ln w="3175">
                  <a:noFill/>
                </a:ln>
                <a:solidFill>
                  <a:srgbClr val="000000"/>
                </a:solidFill>
                <a:effectLst/>
                <a:uLnTx/>
                <a:uFillTx/>
                <a:latin typeface="Segoe UI Semibold"/>
                <a:ea typeface="+mn-ea"/>
                <a:cs typeface="Segoe Sans Display Semibold"/>
              </a:rPr>
              <a:t>reports and oversharing assessments</a:t>
            </a:r>
          </a:p>
        </p:txBody>
      </p:sp>
      <p:sp>
        <p:nvSpPr>
          <p:cNvPr id="14" name="TextBox 13">
            <a:extLst>
              <a:ext uri="{FF2B5EF4-FFF2-40B4-BE49-F238E27FC236}">
                <a16:creationId xmlns:a16="http://schemas.microsoft.com/office/drawing/2014/main" id="{46A51E4C-64F2-AED0-C0C7-4D980CC67776}"/>
              </a:ext>
            </a:extLst>
          </p:cNvPr>
          <p:cNvSpPr txBox="1">
            <a:spLocks/>
          </p:cNvSpPr>
          <p:nvPr/>
        </p:nvSpPr>
        <p:spPr>
          <a:xfrm>
            <a:off x="4611095" y="4561585"/>
            <a:ext cx="2966631" cy="1030059"/>
          </a:xfrm>
          <a:prstGeom prst="roundRect">
            <a:avLst>
              <a:gd name="adj" fmla="val 8900"/>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w="3175">
                  <a:noFill/>
                </a:ln>
                <a:solidFill>
                  <a:srgbClr val="0078D4"/>
                </a:solidFill>
                <a:effectLst/>
                <a:uLnTx/>
                <a:uFillTx/>
                <a:latin typeface="Segoe UI Semibold"/>
                <a:ea typeface="+mn-ea"/>
                <a:cs typeface="Segoe Sans Display Semibold"/>
              </a:rPr>
              <a:t>Protect</a:t>
            </a:r>
            <a:r>
              <a:rPr kumimoji="0" lang="en-US" sz="1400" b="1" i="0" u="none" strike="noStrike" kern="1200" cap="none" spc="0" normalizeH="0" baseline="0" noProof="0">
                <a:ln w="3175">
                  <a:noFill/>
                </a:ln>
                <a:solidFill>
                  <a:srgbClr val="000000"/>
                </a:solidFill>
                <a:effectLst/>
                <a:uLnTx/>
                <a:uFillTx/>
                <a:latin typeface="Segoe UI Semibold"/>
                <a:ea typeface="+mn-ea"/>
                <a:cs typeface="Segoe Sans Display Semibold"/>
              </a:rPr>
              <a:t> </a:t>
            </a: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sensitive data from overexposure with suggested policies and</a:t>
            </a:r>
            <a:r>
              <a:rPr kumimoji="0" lang="en-US" sz="1400" b="0" i="0" u="none" strike="noStrike" kern="1200" cap="none" spc="0" normalizeH="0" baseline="0" noProof="0">
                <a:ln>
                  <a:noFill/>
                </a:ln>
                <a:solidFill>
                  <a:srgbClr val="000000"/>
                </a:solidFill>
                <a:effectLst/>
                <a:uLnTx/>
                <a:uFillTx/>
                <a:latin typeface="Segoe UI Semibold"/>
                <a:ea typeface="+mn-ea"/>
                <a:cs typeface="+mn-cs"/>
              </a:rPr>
              <a:t> </a:t>
            </a:r>
            <a:r>
              <a:rPr kumimoji="0" lang="en-US" sz="1400" b="1" i="0" u="none" strike="noStrike" kern="1200" cap="none" spc="0" normalizeH="0" baseline="0" noProof="0">
                <a:ln>
                  <a:noFill/>
                </a:ln>
                <a:solidFill>
                  <a:srgbClr val="000000"/>
                </a:solidFill>
                <a:effectLst/>
                <a:uLnTx/>
                <a:uFillTx/>
                <a:latin typeface="Segoe UI Semibold"/>
                <a:ea typeface="+mn-ea"/>
                <a:cs typeface="+mn-cs"/>
              </a:rPr>
              <a:t>one click application </a:t>
            </a:r>
            <a:br>
              <a:rPr kumimoji="0" lang="en-US" sz="1400" b="1" i="0" u="none" strike="noStrike" kern="1200" cap="none" spc="0" normalizeH="0" baseline="0" noProof="0">
                <a:ln>
                  <a:noFill/>
                </a:ln>
                <a:solidFill>
                  <a:srgbClr val="000000"/>
                </a:solidFill>
                <a:effectLst/>
                <a:uLnTx/>
                <a:uFillTx/>
                <a:latin typeface="Segoe UI Semibold"/>
                <a:ea typeface="+mn-ea"/>
                <a:cs typeface="+mn-cs"/>
              </a:rPr>
            </a:br>
            <a:r>
              <a:rPr kumimoji="0" lang="en-US" sz="1400" b="1" i="0" u="none" strike="noStrike" kern="1200" cap="none" spc="0" normalizeH="0" baseline="0" noProof="0">
                <a:ln>
                  <a:noFill/>
                </a:ln>
                <a:solidFill>
                  <a:srgbClr val="000000"/>
                </a:solidFill>
                <a:effectLst/>
                <a:uLnTx/>
                <a:uFillTx/>
                <a:latin typeface="Segoe UI Semibold"/>
                <a:ea typeface="+mn-ea"/>
                <a:cs typeface="+mn-cs"/>
              </a:rPr>
              <a:t>of sensitivity labels </a:t>
            </a:r>
          </a:p>
        </p:txBody>
      </p:sp>
      <p:sp>
        <p:nvSpPr>
          <p:cNvPr id="19" name="TextBox 18">
            <a:extLst>
              <a:ext uri="{FF2B5EF4-FFF2-40B4-BE49-F238E27FC236}">
                <a16:creationId xmlns:a16="http://schemas.microsoft.com/office/drawing/2014/main" id="{EA33D0BD-6791-44F4-5504-FB6E8ED29713}"/>
              </a:ext>
            </a:extLst>
          </p:cNvPr>
          <p:cNvSpPr txBox="1">
            <a:spLocks/>
          </p:cNvSpPr>
          <p:nvPr/>
        </p:nvSpPr>
        <p:spPr>
          <a:xfrm>
            <a:off x="8223737" y="4561585"/>
            <a:ext cx="2966377" cy="1030059"/>
          </a:xfrm>
          <a:prstGeom prst="roundRect">
            <a:avLst>
              <a:gd name="adj" fmla="val 8900"/>
            </a:avLst>
          </a:prstGeom>
          <a:solidFill>
            <a:schemeClr val="bg1"/>
          </a:solidFill>
        </p:spPr>
        <p:txBody>
          <a:bodyPr wrap="square" lIns="91440" tIns="45720" rIns="91440" bIns="45720" rtlCol="0" anchor="ctr">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1" i="0" u="none" strike="noStrike" cap="none" spc="0" normalizeH="0" baseline="0">
                <a:ln w="3175">
                  <a:noFill/>
                </a:ln>
                <a:effectLst/>
                <a:uLnTx/>
                <a:uFillTx/>
                <a:latin typeface="+mj-lt"/>
                <a:cs typeface="Segoe Sans Display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w="3175">
                  <a:noFill/>
                </a:ln>
                <a:solidFill>
                  <a:srgbClr val="0078D4"/>
                </a:solidFill>
                <a:effectLst/>
                <a:uLnTx/>
                <a:uFillTx/>
                <a:latin typeface="Segoe UI Semibold"/>
                <a:ea typeface="+mn-ea"/>
                <a:cs typeface="Segoe Sans Display Semibold"/>
              </a:rPr>
              <a:t>Govern</a:t>
            </a:r>
            <a:r>
              <a:rPr kumimoji="0" lang="en-US" sz="1400" b="1" i="0" u="none" strike="noStrike" kern="1200" cap="none" spc="0" normalizeH="0" baseline="0" noProof="0">
                <a:ln w="3175">
                  <a:noFill/>
                </a:ln>
                <a:solidFill>
                  <a:srgbClr val="000000"/>
                </a:solidFill>
                <a:effectLst/>
                <a:uLnTx/>
                <a:uFillTx/>
                <a:latin typeface="Segoe UI Semibold"/>
                <a:ea typeface="+mn-ea"/>
                <a:cs typeface="Segoe Sans Display Semibold"/>
              </a:rPr>
              <a:t> </a:t>
            </a: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AI usage for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br>
            <a:r>
              <a:rPr kumimoji="0" lang="en-US" sz="1400" b="1" i="0" u="none" strike="noStrike" kern="1200" cap="none" spc="0" normalizeH="0" baseline="0" noProof="0">
                <a:ln w="3175">
                  <a:noFill/>
                </a:ln>
                <a:solidFill>
                  <a:srgbClr val="000000"/>
                </a:solidFill>
                <a:effectLst/>
                <a:uLnTx/>
                <a:uFillTx/>
                <a:latin typeface="Segoe UI"/>
                <a:ea typeface="+mn-ea"/>
                <a:cs typeface="Segoe Sans Display Semibold"/>
              </a:rPr>
              <a:t>non-compliant or unethical usage </a:t>
            </a: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and get recommendations on enforcing compliance policies</a:t>
            </a:r>
          </a:p>
        </p:txBody>
      </p:sp>
      <p:pic>
        <p:nvPicPr>
          <p:cNvPr id="10" name="Picture 2">
            <a:extLst>
              <a:ext uri="{FF2B5EF4-FFF2-40B4-BE49-F238E27FC236}">
                <a16:creationId xmlns:a16="http://schemas.microsoft.com/office/drawing/2014/main" id="{1B44C134-BD6B-4C74-A9AD-2805FD81032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19" b="2419"/>
          <a:stretch/>
        </p:blipFill>
        <p:spPr bwMode="auto">
          <a:xfrm>
            <a:off x="927417" y="2700752"/>
            <a:ext cx="3108960" cy="1665983"/>
          </a:xfrm>
          <a:prstGeom prst="rect">
            <a:avLst/>
          </a:prstGeom>
          <a:ln w="76200">
            <a:noFill/>
          </a:ln>
          <a:effectLst>
            <a:outerShdw blurRad="292100" dist="38100" dir="2700000" algn="tl" rotWithShape="0">
              <a:srgbClr val="333333">
                <a:alpha val="30000"/>
              </a:srgbClr>
            </a:outerShdw>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3018563-9209-ECD2-9597-962B5FE9CBFC}"/>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4611095" y="2700752"/>
            <a:ext cx="2966631" cy="1664208"/>
          </a:xfrm>
          <a:prstGeom prst="rect">
            <a:avLst/>
          </a:prstGeom>
          <a:ln w="76200">
            <a:noFill/>
          </a:ln>
          <a:effectLst>
            <a:outerShdw blurRad="292100" dist="38100" dir="2700000" algn="tl" rotWithShape="0">
              <a:srgbClr val="333333">
                <a:alpha val="30000"/>
              </a:srgbClr>
            </a:outerShdw>
          </a:effectLst>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98D073D1-4984-C7E1-1276-7F9B2296ACA0}"/>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8223737" y="2700752"/>
            <a:ext cx="2966377" cy="1664208"/>
          </a:xfrm>
          <a:prstGeom prst="rect">
            <a:avLst/>
          </a:prstGeom>
          <a:ln w="76200">
            <a:noFill/>
          </a:ln>
          <a:effectLst>
            <a:outerShdw blurRad="292100" dist="38100" dir="2700000" algn="tl" rotWithShape="0">
              <a:srgbClr val="333333">
                <a:alpha val="30000"/>
              </a:srgbClr>
            </a:outerShdw>
          </a:effectLst>
          <a:extLst>
            <a:ext uri="{909E8E84-426E-40DD-AFC4-6F175D3DCCD1}">
              <a14:hiddenFill xmlns:a14="http://schemas.microsoft.com/office/drawing/2010/main">
                <a:solidFill>
                  <a:srgbClr val="FFFFFF"/>
                </a:solidFill>
              </a14:hiddenFill>
            </a:ext>
          </a:extLst>
        </p:spPr>
      </p:pic>
      <p:sp>
        <p:nvSpPr>
          <p:cNvPr id="16" name="Rounded Rectangle 11">
            <a:extLst>
              <a:ext uri="{FF2B5EF4-FFF2-40B4-BE49-F238E27FC236}">
                <a16:creationId xmlns:a16="http://schemas.microsoft.com/office/drawing/2014/main" id="{D7F5CBDF-4BB7-544C-5D44-972FEA1B2671}"/>
              </a:ext>
              <a:ext uri="{C183D7F6-B498-43B3-948B-1728B52AA6E4}">
                <adec:decorative xmlns:adec="http://schemas.microsoft.com/office/drawing/2017/decorative" val="0"/>
              </a:ext>
            </a:extLst>
          </p:cNvPr>
          <p:cNvSpPr>
            <a:spLocks/>
          </p:cNvSpPr>
          <p:nvPr/>
        </p:nvSpPr>
        <p:spPr bwMode="auto">
          <a:xfrm>
            <a:off x="584200" y="6054134"/>
            <a:ext cx="11020425" cy="302254"/>
          </a:xfrm>
          <a:prstGeom prst="roundRect">
            <a:avLst>
              <a:gd name="adj" fmla="val 50000"/>
            </a:avLst>
          </a:prstGeom>
          <a:solidFill>
            <a:srgbClr val="49C5B1"/>
          </a:soli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1400" b="0" i="0" u="none" strike="noStrike" kern="1200" cap="none" spc="0" normalizeH="0" baseline="0" noProof="0">
                <a:ln>
                  <a:noFill/>
                </a:ln>
                <a:solidFill>
                  <a:srgbClr val="121212"/>
                </a:solidFill>
                <a:effectLst/>
                <a:uLnTx/>
                <a:uFillTx/>
                <a:latin typeface="Segoe UI Semibold"/>
                <a:ea typeface="+mn-ea"/>
                <a:cs typeface="Segoe UI"/>
              </a:rPr>
              <a:t>Now in public preview </a:t>
            </a:r>
          </a:p>
        </p:txBody>
      </p:sp>
    </p:spTree>
    <p:extLst>
      <p:ext uri="{BB962C8B-B14F-4D97-AF65-F5344CB8AC3E}">
        <p14:creationId xmlns:p14="http://schemas.microsoft.com/office/powerpoint/2010/main" val="2488044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8CBB4-D546-587B-AE91-A60BF012A187}"/>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88CA1798-BA1A-1A64-F5C6-50F62BE8BF19}"/>
              </a:ext>
              <a:ext uri="{C183D7F6-B498-43B3-948B-1728B52AA6E4}">
                <adec:decorative xmlns:adec="http://schemas.microsoft.com/office/drawing/2017/decorative" val="1"/>
              </a:ext>
            </a:extLst>
          </p:cNvPr>
          <p:cNvSpPr>
            <a:spLocks/>
          </p:cNvSpPr>
          <p:nvPr/>
        </p:nvSpPr>
        <p:spPr bwMode="auto">
          <a:xfrm>
            <a:off x="584200" y="1266356"/>
            <a:ext cx="11020425" cy="5002682"/>
          </a:xfrm>
          <a:prstGeom prst="roundRect">
            <a:avLst>
              <a:gd name="adj" fmla="val 47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2" name="Rectangle: Rounded Corners 31">
            <a:extLst>
              <a:ext uri="{FF2B5EF4-FFF2-40B4-BE49-F238E27FC236}">
                <a16:creationId xmlns:a16="http://schemas.microsoft.com/office/drawing/2014/main" id="{6D7EADE1-256D-967B-4D81-BB89A99D3786}"/>
              </a:ext>
              <a:ext uri="{C183D7F6-B498-43B3-948B-1728B52AA6E4}">
                <adec:decorative xmlns:adec="http://schemas.microsoft.com/office/drawing/2017/decorative" val="1"/>
              </a:ext>
            </a:extLst>
          </p:cNvPr>
          <p:cNvSpPr>
            <a:spLocks/>
          </p:cNvSpPr>
          <p:nvPr/>
        </p:nvSpPr>
        <p:spPr bwMode="auto">
          <a:xfrm>
            <a:off x="767079" y="2486616"/>
            <a:ext cx="5235892" cy="3599542"/>
          </a:xfrm>
          <a:prstGeom prst="roundRect">
            <a:avLst>
              <a:gd name="adj" fmla="val 39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Rectangle: Rounded Corners 32">
            <a:extLst>
              <a:ext uri="{FF2B5EF4-FFF2-40B4-BE49-F238E27FC236}">
                <a16:creationId xmlns:a16="http://schemas.microsoft.com/office/drawing/2014/main" id="{F7209EC6-F57D-7955-1EEA-87A13D6C647C}"/>
              </a:ext>
              <a:ext uri="{C183D7F6-B498-43B3-948B-1728B52AA6E4}">
                <adec:decorative xmlns:adec="http://schemas.microsoft.com/office/drawing/2017/decorative" val="1"/>
              </a:ext>
            </a:extLst>
          </p:cNvPr>
          <p:cNvSpPr>
            <a:spLocks/>
          </p:cNvSpPr>
          <p:nvPr/>
        </p:nvSpPr>
        <p:spPr bwMode="auto">
          <a:xfrm>
            <a:off x="6185851" y="2486616"/>
            <a:ext cx="5235892" cy="3599542"/>
          </a:xfrm>
          <a:prstGeom prst="roundRect">
            <a:avLst>
              <a:gd name="adj" fmla="val 39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Title 6">
            <a:extLst>
              <a:ext uri="{FF2B5EF4-FFF2-40B4-BE49-F238E27FC236}">
                <a16:creationId xmlns:a16="http://schemas.microsoft.com/office/drawing/2014/main" id="{0FB3D5D2-BA7D-D21D-522C-4DA56E36BD86}"/>
              </a:ext>
            </a:extLst>
          </p:cNvPr>
          <p:cNvSpPr>
            <a:spLocks noGrp="1"/>
          </p:cNvSpPr>
          <p:nvPr>
            <p:ph type="title"/>
          </p:nvPr>
        </p:nvSpPr>
        <p:spPr>
          <a:xfrm>
            <a:off x="588263" y="457200"/>
            <a:ext cx="11018520" cy="553998"/>
          </a:xfrm>
        </p:spPr>
        <p:txBody>
          <a:bodyPr>
            <a:normAutofit fontScale="90000"/>
          </a:bodyPr>
          <a:lstStyle/>
          <a:p>
            <a:r>
              <a:rPr lang="en-US"/>
              <a:t>Exclude sensitive files from Copilot processing</a:t>
            </a:r>
          </a:p>
        </p:txBody>
      </p:sp>
      <p:sp>
        <p:nvSpPr>
          <p:cNvPr id="17" name="Rounded Rectangle 11">
            <a:extLst>
              <a:ext uri="{FF2B5EF4-FFF2-40B4-BE49-F238E27FC236}">
                <a16:creationId xmlns:a16="http://schemas.microsoft.com/office/drawing/2014/main" id="{2C603074-842B-78DA-6F17-547312A0FAC9}"/>
              </a:ext>
              <a:ext uri="{C183D7F6-B498-43B3-948B-1728B52AA6E4}">
                <adec:decorative xmlns:adec="http://schemas.microsoft.com/office/drawing/2017/decorative" val="0"/>
              </a:ext>
            </a:extLst>
          </p:cNvPr>
          <p:cNvSpPr>
            <a:spLocks/>
          </p:cNvSpPr>
          <p:nvPr/>
        </p:nvSpPr>
        <p:spPr bwMode="auto">
          <a:xfrm>
            <a:off x="767080" y="1449236"/>
            <a:ext cx="10654665" cy="873550"/>
          </a:xfrm>
          <a:prstGeom prst="roundRect">
            <a:avLst/>
          </a:prstGeom>
          <a:gradFill flip="none" rotWithShape="1">
            <a:gsLst>
              <a:gs pos="0">
                <a:schemeClr val="accent2"/>
              </a:gs>
              <a:gs pos="80000">
                <a:srgbClr val="0078D4"/>
              </a:gs>
            </a:gsLst>
            <a:path path="circle">
              <a:fillToRect l="100000" t="100000"/>
            </a:path>
            <a:tileRect r="-100000" b="-100000"/>
          </a:gradFill>
          <a:effectLst>
            <a:outerShdw blurRad="63500" algn="tl" rotWithShape="0">
              <a:srgbClr val="000000">
                <a:alpha val="20000"/>
              </a:srgbClr>
            </a:outerShdw>
          </a:effectLst>
        </p:spPr>
        <p:txBody>
          <a:bodyPr wrap="square" lIns="0" tIns="0" rIns="0" bIns="0" rtlCol="0" anchor="ctr" anchorCtr="0">
            <a:noAutofit/>
          </a:bodyPr>
          <a:lstStyle/>
          <a:p>
            <a:pPr marL="0" marR="0" lvl="0" indent="0" algn="ctr" defTabSz="914367" rtl="0" eaLnBrk="1" fontAlgn="base" latinLnBrk="0" hangingPunct="1">
              <a:lnSpc>
                <a:spcPct val="100000"/>
              </a:lnSpc>
              <a:spcBef>
                <a:spcPct val="0"/>
              </a:spcBef>
              <a:spcAft>
                <a:spcPts val="600"/>
              </a:spcAft>
              <a:buClrTx/>
              <a:buSzPct val="90000"/>
              <a:buFontTx/>
              <a:buNone/>
              <a:tabLst/>
              <a:defRPr/>
            </a:pPr>
            <a:r>
              <a:rPr kumimoji="0" lang="en-US" sz="1800" b="0" i="0" u="none" strike="noStrike" kern="1200" cap="none" spc="0" normalizeH="0" baseline="0" noProof="0">
                <a:ln w="3175">
                  <a:noFill/>
                </a:ln>
                <a:solidFill>
                  <a:srgbClr val="FFFFFF"/>
                </a:solidFill>
                <a:effectLst/>
                <a:uLnTx/>
                <a:uFillTx/>
                <a:latin typeface="Segoe UI Semibold"/>
                <a:ea typeface="+mn-ea"/>
                <a:cs typeface="Segoe Sans Display Semibold"/>
              </a:rPr>
              <a:t>Microsoft Purview Data Loss Prevention (DLP) for Microsoft 365 Copilot</a:t>
            </a:r>
          </a:p>
          <a:p>
            <a:pPr marL="0" marR="0" lvl="0" indent="0" algn="ctr" defTabSz="914367" rtl="0" eaLnBrk="1" fontAlgn="base" latinLnBrk="0" hangingPunct="1">
              <a:lnSpc>
                <a:spcPct val="100000"/>
              </a:lnSpc>
              <a:spcBef>
                <a:spcPct val="0"/>
              </a:spcBef>
              <a:spcAft>
                <a:spcPts val="1200"/>
              </a:spcAft>
              <a:buClrTx/>
              <a:buSzPct val="90000"/>
              <a:buFontTx/>
              <a:buNone/>
              <a:tabLst/>
              <a:defRPr/>
            </a:pPr>
            <a:r>
              <a:rPr kumimoji="0" lang="en-US" sz="1400" b="0" i="1" u="none" strike="noStrike" kern="1200" cap="none" spc="0" normalizeH="0" baseline="0" noProof="0">
                <a:ln>
                  <a:noFill/>
                </a:ln>
                <a:solidFill>
                  <a:srgbClr val="FFFFFF"/>
                </a:solidFill>
                <a:effectLst/>
                <a:uLnTx/>
                <a:uFillTx/>
                <a:latin typeface="Segoe UI"/>
                <a:ea typeface="+mn-ea"/>
                <a:cs typeface="Segoe UI Semibold"/>
              </a:rPr>
              <a:t>Prevent Microsoft 365 Copilot Business Chat from creating summaries or responses for Office or PDF files with specified sensitivity labels</a:t>
            </a:r>
          </a:p>
        </p:txBody>
      </p:sp>
      <p:pic>
        <p:nvPicPr>
          <p:cNvPr id="13" name="Picture 12" descr="A screen capture with titled &quot;Choose where to apply the policy&quot; highlighting Microsoft 365 Copilot: All users &amp; groups ">
            <a:extLst>
              <a:ext uri="{FF2B5EF4-FFF2-40B4-BE49-F238E27FC236}">
                <a16:creationId xmlns:a16="http://schemas.microsoft.com/office/drawing/2014/main" id="{3DA23517-1F46-7544-674D-F1D84A8C73AE}"/>
              </a:ext>
            </a:extLst>
          </p:cNvPr>
          <p:cNvPicPr>
            <a:picLocks/>
          </p:cNvPicPr>
          <p:nvPr/>
        </p:nvPicPr>
        <p:blipFill rotWithShape="1">
          <a:blip r:embed="rId3" cstate="print">
            <a:extLst>
              <a:ext uri="{28A0092B-C50C-407E-A947-70E740481C1C}">
                <a14:useLocalDpi xmlns:a14="http://schemas.microsoft.com/office/drawing/2010/main" val="0"/>
              </a:ext>
            </a:extLst>
          </a:blip>
          <a:srcRect l="-13128" r="-13128"/>
          <a:stretch/>
        </p:blipFill>
        <p:spPr>
          <a:xfrm>
            <a:off x="858519" y="2578057"/>
            <a:ext cx="5053012" cy="2223812"/>
          </a:xfrm>
          <a:prstGeom prst="roundRect">
            <a:avLst>
              <a:gd name="adj" fmla="val 4300"/>
            </a:avLst>
          </a:prstGeom>
          <a:solidFill>
            <a:schemeClr val="bg1"/>
          </a:solidFill>
          <a:ln w="12700" cap="rnd">
            <a:noFill/>
            <a:headEnd type="none" w="med" len="med"/>
            <a:tailEnd type="none" w="med" len="med"/>
          </a:ln>
          <a:effectLst>
            <a:outerShdw blurRad="63500" algn="ctr" rotWithShape="0">
              <a:prstClr val="black">
                <a:alpha val="17000"/>
              </a:prstClr>
            </a:outerShdw>
          </a:effectLst>
        </p:spPr>
      </p:pic>
      <p:sp>
        <p:nvSpPr>
          <p:cNvPr id="25" name="TextBox 24">
            <a:extLst>
              <a:ext uri="{FF2B5EF4-FFF2-40B4-BE49-F238E27FC236}">
                <a16:creationId xmlns:a16="http://schemas.microsoft.com/office/drawing/2014/main" id="{1E5218B2-45A9-7EA7-0F64-ACF172197D60}"/>
              </a:ext>
            </a:extLst>
          </p:cNvPr>
          <p:cNvSpPr txBox="1">
            <a:spLocks/>
          </p:cNvSpPr>
          <p:nvPr/>
        </p:nvSpPr>
        <p:spPr>
          <a:xfrm>
            <a:off x="858518" y="4893310"/>
            <a:ext cx="5053012" cy="1101408"/>
          </a:xfrm>
          <a:prstGeom prst="roundRect">
            <a:avLst>
              <a:gd name="adj" fmla="val 8900"/>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Sans Display Semibold"/>
              </a:rPr>
              <a:t>Granular options for policy targeting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Configure restrictions at an item level, group/site level,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or for specific Entra user groups.</a:t>
            </a:r>
          </a:p>
        </p:txBody>
      </p:sp>
      <p:pic>
        <p:nvPicPr>
          <p:cNvPr id="15" name="Picture 14" descr="A screen capture of Copilot actions highlighting the actions, &quot;Prevent Copilot from processing content&quot;">
            <a:extLst>
              <a:ext uri="{FF2B5EF4-FFF2-40B4-BE49-F238E27FC236}">
                <a16:creationId xmlns:a16="http://schemas.microsoft.com/office/drawing/2014/main" id="{EB3090A2-5081-7436-8C3D-454F1BEFF6B1}"/>
              </a:ext>
            </a:extLst>
          </p:cNvPr>
          <p:cNvPicPr>
            <a:picLocks/>
          </p:cNvPicPr>
          <p:nvPr/>
        </p:nvPicPr>
        <p:blipFill rotWithShape="1">
          <a:blip r:embed="rId4">
            <a:extLst>
              <a:ext uri="{28A0092B-C50C-407E-A947-70E740481C1C}">
                <a14:useLocalDpi xmlns:a14="http://schemas.microsoft.com/office/drawing/2010/main" val="0"/>
              </a:ext>
            </a:extLst>
          </a:blip>
          <a:srcRect l="-13876" r="-13876"/>
          <a:stretch/>
        </p:blipFill>
        <p:spPr>
          <a:xfrm>
            <a:off x="6277290" y="2578057"/>
            <a:ext cx="5053012" cy="2223812"/>
          </a:xfrm>
          <a:prstGeom prst="roundRect">
            <a:avLst>
              <a:gd name="adj" fmla="val 4300"/>
            </a:avLst>
          </a:prstGeom>
          <a:solidFill>
            <a:schemeClr val="bg1"/>
          </a:solidFill>
          <a:ln w="12700" cap="rnd">
            <a:noFill/>
            <a:headEnd type="none" w="med" len="med"/>
            <a:tailEnd type="none" w="med" len="med"/>
          </a:ln>
          <a:effectLst>
            <a:outerShdw blurRad="63500" algn="ctr" rotWithShape="0">
              <a:prstClr val="black">
                <a:alpha val="17000"/>
              </a:prstClr>
            </a:outerShdw>
          </a:effectLst>
        </p:spPr>
      </p:pic>
      <p:sp>
        <p:nvSpPr>
          <p:cNvPr id="35" name="TextBox 34">
            <a:extLst>
              <a:ext uri="{FF2B5EF4-FFF2-40B4-BE49-F238E27FC236}">
                <a16:creationId xmlns:a16="http://schemas.microsoft.com/office/drawing/2014/main" id="{406C283D-10ED-79D0-98DA-B33DAF607006}"/>
              </a:ext>
            </a:extLst>
          </p:cNvPr>
          <p:cNvSpPr txBox="1">
            <a:spLocks/>
          </p:cNvSpPr>
          <p:nvPr/>
        </p:nvSpPr>
        <p:spPr>
          <a:xfrm>
            <a:off x="6277290" y="4893310"/>
            <a:ext cx="5053012" cy="1101408"/>
          </a:xfrm>
          <a:prstGeom prst="roundRect">
            <a:avLst>
              <a:gd name="adj" fmla="val 8900"/>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Sans Display Semibold"/>
              </a:rPr>
              <a:t>Prevent Copilot from processing file contents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Ensure that sensitive content within labeled documents is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not processed and responses are not available to copy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Semibold"/>
              </a:rPr>
              <a:t>and paste into other applications</a:t>
            </a:r>
          </a:p>
        </p:txBody>
      </p:sp>
    </p:spTree>
    <p:extLst>
      <p:ext uri="{BB962C8B-B14F-4D97-AF65-F5344CB8AC3E}">
        <p14:creationId xmlns:p14="http://schemas.microsoft.com/office/powerpoint/2010/main" val="7471748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99F1F-2856-0FB6-3166-795CFB937C50}"/>
              </a:ext>
            </a:extLst>
          </p:cNvPr>
          <p:cNvSpPr>
            <a:spLocks noGrp="1"/>
          </p:cNvSpPr>
          <p:nvPr>
            <p:ph type="title"/>
          </p:nvPr>
        </p:nvSpPr>
        <p:spPr>
          <a:xfrm>
            <a:off x="574816" y="-430887"/>
            <a:ext cx="11018520" cy="430887"/>
          </a:xfrm>
        </p:spPr>
        <p:txBody>
          <a:bodyPr>
            <a:normAutofit fontScale="90000"/>
          </a:bodyPr>
          <a:lstStyle/>
          <a:p>
            <a:r>
              <a:rPr lang="en-US" dirty="0"/>
              <a:t>12</a:t>
            </a:r>
          </a:p>
        </p:txBody>
      </p:sp>
      <p:pic>
        <p:nvPicPr>
          <p:cNvPr id="5" name="Picture 4" descr="Microsoft Purview dashboard displaying Data assessments (preview) in the DSPM for AI (preview) tab with Create assessment option.">
            <a:extLst>
              <a:ext uri="{FF2B5EF4-FFF2-40B4-BE49-F238E27FC236}">
                <a16:creationId xmlns:a16="http://schemas.microsoft.com/office/drawing/2014/main" id="{D61D5F79-DA92-95C7-887D-C782BB20E38F}"/>
              </a:ext>
            </a:extLst>
          </p:cNvPr>
          <p:cNvPicPr>
            <a:picLocks noChangeAspect="1"/>
          </p:cNvPicPr>
          <p:nvPr/>
        </p:nvPicPr>
        <p:blipFill>
          <a:blip r:embed="rId3"/>
          <a:srcRect/>
          <a:stretch/>
        </p:blipFill>
        <p:spPr>
          <a:xfrm>
            <a:off x="0" y="0"/>
            <a:ext cx="12192000" cy="6858000"/>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11714518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6BCA8-D270-57FB-40F9-8B7110C8B82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06CEB29-6FBC-D803-4795-074139018AF4}"/>
              </a:ext>
            </a:extLst>
          </p:cNvPr>
          <p:cNvSpPr>
            <a:spLocks noGrp="1"/>
          </p:cNvSpPr>
          <p:nvPr>
            <p:ph type="title"/>
          </p:nvPr>
        </p:nvSpPr>
        <p:spPr>
          <a:xfrm>
            <a:off x="574816" y="-430887"/>
            <a:ext cx="11018520" cy="430887"/>
          </a:xfrm>
        </p:spPr>
        <p:txBody>
          <a:bodyPr>
            <a:normAutofit fontScale="90000"/>
          </a:bodyPr>
          <a:lstStyle/>
          <a:p>
            <a:r>
              <a:rPr lang="en-US" dirty="0"/>
              <a:t>13</a:t>
            </a:r>
          </a:p>
        </p:txBody>
      </p:sp>
      <p:pic>
        <p:nvPicPr>
          <p:cNvPr id="3" name="Picture 2" descr="Microsoft Purview dashboard displaying Oversharing assessments for the week of November 4, 2024 in the DSPM for AI (preview) ">
            <a:extLst>
              <a:ext uri="{FF2B5EF4-FFF2-40B4-BE49-F238E27FC236}">
                <a16:creationId xmlns:a16="http://schemas.microsoft.com/office/drawing/2014/main" id="{4A837D50-BEFD-307E-9931-3C6F84E11B03}"/>
              </a:ext>
            </a:extLst>
          </p:cNvPr>
          <p:cNvPicPr>
            <a:picLocks noChangeAspect="1"/>
          </p:cNvPicPr>
          <p:nvPr/>
        </p:nvPicPr>
        <p:blipFill>
          <a:blip r:embed="rId3"/>
          <a:srcRect r="-48" b="-48"/>
          <a:stretch/>
        </p:blipFill>
        <p:spPr>
          <a:xfrm>
            <a:off x="0" y="0"/>
            <a:ext cx="12192005" cy="6858000"/>
          </a:xfrm>
          <a:prstGeom prst="rect">
            <a:avLst/>
          </a:prstGeom>
          <a:noFill/>
        </p:spPr>
      </p:pic>
    </p:spTree>
    <p:extLst>
      <p:ext uri="{BB962C8B-B14F-4D97-AF65-F5344CB8AC3E}">
        <p14:creationId xmlns:p14="http://schemas.microsoft.com/office/powerpoint/2010/main" val="420808703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28FC-21E7-3D0E-8860-487C3B136B3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8356BA1-5CAB-DCC7-7750-9ED2C37BC1B7}"/>
              </a:ext>
            </a:extLst>
          </p:cNvPr>
          <p:cNvSpPr>
            <a:spLocks noGrp="1"/>
          </p:cNvSpPr>
          <p:nvPr>
            <p:ph type="title"/>
          </p:nvPr>
        </p:nvSpPr>
        <p:spPr>
          <a:xfrm>
            <a:off x="574816" y="-430887"/>
            <a:ext cx="11018520" cy="430887"/>
          </a:xfrm>
        </p:spPr>
        <p:txBody>
          <a:bodyPr>
            <a:normAutofit fontScale="90000"/>
          </a:bodyPr>
          <a:lstStyle/>
          <a:p>
            <a:r>
              <a:rPr lang="en-US" dirty="0"/>
              <a:t>14</a:t>
            </a:r>
          </a:p>
        </p:txBody>
      </p:sp>
      <p:pic>
        <p:nvPicPr>
          <p:cNvPr id="2" name="Picture 1">
            <a:extLst>
              <a:ext uri="{FF2B5EF4-FFF2-40B4-BE49-F238E27FC236}">
                <a16:creationId xmlns:a16="http://schemas.microsoft.com/office/drawing/2014/main" id="{CFEAA1EF-B870-A3B5-3870-CADC3DE116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864"/>
            <a:ext cx="12191998" cy="6856270"/>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93030547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34BC5-570B-D7FD-E147-3B6BB4B2313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ACB45355-795B-EBA8-94F6-DCFBD2382C78}"/>
              </a:ext>
            </a:extLst>
          </p:cNvPr>
          <p:cNvSpPr>
            <a:spLocks noGrp="1"/>
          </p:cNvSpPr>
          <p:nvPr>
            <p:ph type="title"/>
          </p:nvPr>
        </p:nvSpPr>
        <p:spPr>
          <a:xfrm>
            <a:off x="574816" y="-567186"/>
            <a:ext cx="11018520" cy="430887"/>
          </a:xfrm>
        </p:spPr>
        <p:txBody>
          <a:bodyPr>
            <a:normAutofit fontScale="90000"/>
          </a:bodyPr>
          <a:lstStyle/>
          <a:p>
            <a:r>
              <a:rPr lang="en-US" dirty="0"/>
              <a:t>15</a:t>
            </a:r>
          </a:p>
        </p:txBody>
      </p:sp>
      <p:pic>
        <p:nvPicPr>
          <p:cNvPr id="2" name="Picture 1" descr="Microsoft Purview dashboard with an extension displaying the actions to protect the site active in the Restrict access by label option">
            <a:extLst>
              <a:ext uri="{FF2B5EF4-FFF2-40B4-BE49-F238E27FC236}">
                <a16:creationId xmlns:a16="http://schemas.microsoft.com/office/drawing/2014/main" id="{A5C74D76-B098-82B3-5557-DDD09F5D6C51}"/>
              </a:ext>
            </a:extLst>
          </p:cNvPr>
          <p:cNvPicPr>
            <a:picLocks noChangeAspect="1"/>
          </p:cNvPicPr>
          <p:nvPr/>
        </p:nvPicPr>
        <p:blipFill>
          <a:blip r:embed="rId3"/>
          <a:srcRect/>
          <a:stretch/>
        </p:blipFill>
        <p:spPr>
          <a:xfrm>
            <a:off x="0" y="0"/>
            <a:ext cx="12192000" cy="6858000"/>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2679043939"/>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35EC-6006-65C9-338C-58C4F8499E9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DC295E1-FC84-2B1C-A4B9-BE6D6503765C}"/>
              </a:ext>
            </a:extLst>
          </p:cNvPr>
          <p:cNvSpPr>
            <a:spLocks noGrp="1"/>
          </p:cNvSpPr>
          <p:nvPr>
            <p:ph type="title"/>
          </p:nvPr>
        </p:nvSpPr>
        <p:spPr>
          <a:xfrm>
            <a:off x="574816" y="-567186"/>
            <a:ext cx="11018520" cy="430887"/>
          </a:xfrm>
        </p:spPr>
        <p:txBody>
          <a:bodyPr>
            <a:normAutofit fontScale="90000"/>
          </a:bodyPr>
          <a:lstStyle/>
          <a:p>
            <a:r>
              <a:rPr lang="en-US" dirty="0"/>
              <a:t>16</a:t>
            </a:r>
          </a:p>
        </p:txBody>
      </p:sp>
      <p:pic>
        <p:nvPicPr>
          <p:cNvPr id="2" name="Picture 1">
            <a:extLst>
              <a:ext uri="{FF2B5EF4-FFF2-40B4-BE49-F238E27FC236}">
                <a16:creationId xmlns:a16="http://schemas.microsoft.com/office/drawing/2014/main" id="{FFD54EAF-CEEE-503A-2303-9B549B15D38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864"/>
            <a:ext cx="12192000" cy="6856271"/>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425732500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3E631-D520-43F4-7DC5-968B1AD9E76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CF25558-376F-7369-E44F-CE47B5F657F2}"/>
              </a:ext>
            </a:extLst>
          </p:cNvPr>
          <p:cNvSpPr>
            <a:spLocks noGrp="1"/>
          </p:cNvSpPr>
          <p:nvPr>
            <p:ph type="title"/>
          </p:nvPr>
        </p:nvSpPr>
        <p:spPr>
          <a:xfrm>
            <a:off x="574816" y="-430887"/>
            <a:ext cx="11018520" cy="430887"/>
          </a:xfrm>
        </p:spPr>
        <p:txBody>
          <a:bodyPr>
            <a:normAutofit fontScale="90000"/>
          </a:bodyPr>
          <a:lstStyle/>
          <a:p>
            <a:r>
              <a:rPr lang="en-US" dirty="0"/>
              <a:t>18</a:t>
            </a:r>
          </a:p>
        </p:txBody>
      </p:sp>
      <p:pic>
        <p:nvPicPr>
          <p:cNvPr id="2" name="Picture 1">
            <a:extLst>
              <a:ext uri="{FF2B5EF4-FFF2-40B4-BE49-F238E27FC236}">
                <a16:creationId xmlns:a16="http://schemas.microsoft.com/office/drawing/2014/main" id="{2B213833-B84F-B1B4-5D0C-FD365F54A23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 y="864"/>
            <a:ext cx="12191996" cy="6856270"/>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401963123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6A298-C713-CCE4-BA65-E1180A643DB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AF2FEFD2-8EAB-3C96-CB45-D1C2AC4D16FC}"/>
              </a:ext>
            </a:extLst>
          </p:cNvPr>
          <p:cNvSpPr>
            <a:spLocks noGrp="1"/>
          </p:cNvSpPr>
          <p:nvPr>
            <p:ph type="title"/>
          </p:nvPr>
        </p:nvSpPr>
        <p:spPr>
          <a:xfrm>
            <a:off x="574816" y="-430887"/>
            <a:ext cx="11018520" cy="430887"/>
          </a:xfrm>
        </p:spPr>
        <p:txBody>
          <a:bodyPr>
            <a:normAutofit fontScale="90000"/>
          </a:bodyPr>
          <a:lstStyle/>
          <a:p>
            <a:r>
              <a:rPr lang="en-US" dirty="0"/>
              <a:t>20</a:t>
            </a:r>
          </a:p>
        </p:txBody>
      </p:sp>
      <p:pic>
        <p:nvPicPr>
          <p:cNvPr id="2" name="Picture 1">
            <a:extLst>
              <a:ext uri="{FF2B5EF4-FFF2-40B4-BE49-F238E27FC236}">
                <a16:creationId xmlns:a16="http://schemas.microsoft.com/office/drawing/2014/main" id="{BC5F13A9-F556-7230-267C-5EDDC7A04A0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864"/>
            <a:ext cx="12191998" cy="6856270"/>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11564770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2910-3485-BCC8-4035-79C2CB3B4DF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9425323-A794-0B6A-6805-3DA6C7FE7597}"/>
              </a:ext>
            </a:extLst>
          </p:cNvPr>
          <p:cNvSpPr>
            <a:spLocks noGrp="1"/>
          </p:cNvSpPr>
          <p:nvPr>
            <p:ph type="title"/>
          </p:nvPr>
        </p:nvSpPr>
        <p:spPr>
          <a:xfrm>
            <a:off x="574816" y="-430887"/>
            <a:ext cx="11018520" cy="430887"/>
          </a:xfrm>
        </p:spPr>
        <p:txBody>
          <a:bodyPr>
            <a:normAutofit fontScale="90000"/>
          </a:bodyPr>
          <a:lstStyle/>
          <a:p>
            <a:r>
              <a:rPr lang="en-US" dirty="0"/>
              <a:t>23</a:t>
            </a:r>
          </a:p>
        </p:txBody>
      </p:sp>
      <p:pic>
        <p:nvPicPr>
          <p:cNvPr id="2" name="Picture 1">
            <a:extLst>
              <a:ext uri="{FF2B5EF4-FFF2-40B4-BE49-F238E27FC236}">
                <a16:creationId xmlns:a16="http://schemas.microsoft.com/office/drawing/2014/main" id="{6B1A8A9E-B21C-D4D0-05C2-D687F24663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 y="864"/>
            <a:ext cx="12191994" cy="6856269"/>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2038862928"/>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1E55-2A11-0C10-7B9E-CC6B5898AD7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10B8CB4-8232-45E8-2E6A-A18E372CC19B}"/>
              </a:ext>
            </a:extLst>
          </p:cNvPr>
          <p:cNvSpPr>
            <a:spLocks noGrp="1"/>
          </p:cNvSpPr>
          <p:nvPr>
            <p:ph type="title"/>
          </p:nvPr>
        </p:nvSpPr>
        <p:spPr>
          <a:xfrm>
            <a:off x="574816" y="-430887"/>
            <a:ext cx="11018520" cy="430887"/>
          </a:xfrm>
        </p:spPr>
        <p:txBody>
          <a:bodyPr>
            <a:normAutofit fontScale="90000"/>
          </a:bodyPr>
          <a:lstStyle/>
          <a:p>
            <a:r>
              <a:rPr lang="en-US" dirty="0"/>
              <a:t>24</a:t>
            </a:r>
          </a:p>
        </p:txBody>
      </p:sp>
      <p:pic>
        <p:nvPicPr>
          <p:cNvPr id="2" name="Picture 1">
            <a:extLst>
              <a:ext uri="{FF2B5EF4-FFF2-40B4-BE49-F238E27FC236}">
                <a16:creationId xmlns:a16="http://schemas.microsoft.com/office/drawing/2014/main" id="{77C7297B-7BCC-75BD-A83A-ACC4F1ECBD4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 y="864"/>
            <a:ext cx="12191994" cy="6856268"/>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260150684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CCD4-33E9-0312-7D0B-118DD4CF3F2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ABA74C77-27CA-F534-E436-64FB9C919C3A}"/>
              </a:ext>
            </a:extLst>
          </p:cNvPr>
          <p:cNvSpPr>
            <a:spLocks noGrp="1"/>
          </p:cNvSpPr>
          <p:nvPr>
            <p:ph type="title"/>
          </p:nvPr>
        </p:nvSpPr>
        <p:spPr>
          <a:xfrm>
            <a:off x="574816" y="510988"/>
            <a:ext cx="11018520" cy="430887"/>
          </a:xfrm>
        </p:spPr>
        <p:txBody>
          <a:bodyPr>
            <a:normAutofit fontScale="90000"/>
          </a:bodyPr>
          <a:lstStyle/>
          <a:p>
            <a:r>
              <a:rPr lang="en-US" dirty="0"/>
              <a:t>25</a:t>
            </a:r>
          </a:p>
        </p:txBody>
      </p:sp>
      <p:pic>
        <p:nvPicPr>
          <p:cNvPr id="2" name="Picture 1">
            <a:extLst>
              <a:ext uri="{FF2B5EF4-FFF2-40B4-BE49-F238E27FC236}">
                <a16:creationId xmlns:a16="http://schemas.microsoft.com/office/drawing/2014/main" id="{8C548163-2D36-E5D3-0EE5-E1E0984DE73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 y="864"/>
            <a:ext cx="12191992" cy="6856268"/>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130867361"/>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9340-F140-A3B7-339E-B18D63E6318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2D695D9-A220-89D3-F93C-3824EC006869}"/>
              </a:ext>
            </a:extLst>
          </p:cNvPr>
          <p:cNvSpPr>
            <a:spLocks noGrp="1"/>
          </p:cNvSpPr>
          <p:nvPr>
            <p:ph type="title"/>
          </p:nvPr>
        </p:nvSpPr>
        <p:spPr>
          <a:xfrm>
            <a:off x="574816" y="-430887"/>
            <a:ext cx="11018520" cy="430887"/>
          </a:xfrm>
        </p:spPr>
        <p:txBody>
          <a:bodyPr>
            <a:normAutofit fontScale="90000"/>
          </a:bodyPr>
          <a:lstStyle/>
          <a:p>
            <a:r>
              <a:rPr lang="en-US" dirty="0"/>
              <a:t>26</a:t>
            </a:r>
          </a:p>
        </p:txBody>
      </p:sp>
      <p:pic>
        <p:nvPicPr>
          <p:cNvPr id="2" name="Picture 1">
            <a:extLst>
              <a:ext uri="{FF2B5EF4-FFF2-40B4-BE49-F238E27FC236}">
                <a16:creationId xmlns:a16="http://schemas.microsoft.com/office/drawing/2014/main" id="{1A6CD90A-B770-16DF-2947-998E9178BEF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 y="864"/>
            <a:ext cx="12191992" cy="6856267"/>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3798136310"/>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DF0BA-9E2E-9314-8B41-7CABBF8A179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AFB0675-7ED6-F214-988C-EC63CAF1ED3C}"/>
              </a:ext>
            </a:extLst>
          </p:cNvPr>
          <p:cNvSpPr>
            <a:spLocks noGrp="1"/>
          </p:cNvSpPr>
          <p:nvPr>
            <p:ph type="title"/>
          </p:nvPr>
        </p:nvSpPr>
        <p:spPr>
          <a:xfrm>
            <a:off x="574816" y="-430887"/>
            <a:ext cx="11018520" cy="430887"/>
          </a:xfrm>
        </p:spPr>
        <p:txBody>
          <a:bodyPr>
            <a:normAutofit fontScale="90000"/>
          </a:bodyPr>
          <a:lstStyle/>
          <a:p>
            <a:r>
              <a:rPr lang="en-US" dirty="0"/>
              <a:t>27</a:t>
            </a:r>
          </a:p>
        </p:txBody>
      </p:sp>
      <p:pic>
        <p:nvPicPr>
          <p:cNvPr id="2" name="Picture 1">
            <a:extLst>
              <a:ext uri="{FF2B5EF4-FFF2-40B4-BE49-F238E27FC236}">
                <a16:creationId xmlns:a16="http://schemas.microsoft.com/office/drawing/2014/main" id="{8B8CE21A-AEBE-A7EA-2C1F-EB352F48FF2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 y="864"/>
            <a:ext cx="12191991" cy="6856267"/>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3745247623"/>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E13D-D397-CB05-CEFC-B6859532CB4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A6DE6B5-82BF-5611-F689-B29FBF7216F6}"/>
              </a:ext>
            </a:extLst>
          </p:cNvPr>
          <p:cNvSpPr>
            <a:spLocks noGrp="1"/>
          </p:cNvSpPr>
          <p:nvPr>
            <p:ph type="title"/>
          </p:nvPr>
        </p:nvSpPr>
        <p:spPr>
          <a:xfrm>
            <a:off x="574816" y="-430887"/>
            <a:ext cx="11018520" cy="430887"/>
          </a:xfrm>
        </p:spPr>
        <p:txBody>
          <a:bodyPr>
            <a:normAutofit fontScale="90000"/>
          </a:bodyPr>
          <a:lstStyle/>
          <a:p>
            <a:r>
              <a:rPr lang="en-US" dirty="0"/>
              <a:t>28</a:t>
            </a:r>
          </a:p>
        </p:txBody>
      </p:sp>
      <p:pic>
        <p:nvPicPr>
          <p:cNvPr id="2" name="Picture 1">
            <a:extLst>
              <a:ext uri="{FF2B5EF4-FFF2-40B4-BE49-F238E27FC236}">
                <a16:creationId xmlns:a16="http://schemas.microsoft.com/office/drawing/2014/main" id="{72F08868-892E-3645-EB06-F74A4E269FC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 y="864"/>
            <a:ext cx="12191991" cy="6856266"/>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1135308834"/>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ED3F-C2BE-DCBE-06DD-965372FE561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823EA2F-DBA2-4EB6-6821-0547D4F8B883}"/>
              </a:ext>
            </a:extLst>
          </p:cNvPr>
          <p:cNvSpPr>
            <a:spLocks noGrp="1"/>
          </p:cNvSpPr>
          <p:nvPr>
            <p:ph type="title"/>
          </p:nvPr>
        </p:nvSpPr>
        <p:spPr>
          <a:xfrm>
            <a:off x="574816" y="-430887"/>
            <a:ext cx="11018520" cy="430887"/>
          </a:xfrm>
        </p:spPr>
        <p:txBody>
          <a:bodyPr>
            <a:normAutofit fontScale="90000"/>
          </a:bodyPr>
          <a:lstStyle/>
          <a:p>
            <a:r>
              <a:rPr lang="en-US" dirty="0"/>
              <a:t>30</a:t>
            </a:r>
          </a:p>
        </p:txBody>
      </p:sp>
      <p:pic>
        <p:nvPicPr>
          <p:cNvPr id="2" name="Picture 1">
            <a:extLst>
              <a:ext uri="{FF2B5EF4-FFF2-40B4-BE49-F238E27FC236}">
                <a16:creationId xmlns:a16="http://schemas.microsoft.com/office/drawing/2014/main" id="{0ED6C98B-573B-F7E0-3821-855DEDC2430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 y="864"/>
            <a:ext cx="12191989" cy="6856265"/>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Tree>
    <p:extLst>
      <p:ext uri="{BB962C8B-B14F-4D97-AF65-F5344CB8AC3E}">
        <p14:creationId xmlns:p14="http://schemas.microsoft.com/office/powerpoint/2010/main" val="3229065589"/>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55669-BF7C-75CC-4808-07767229CD9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E956A78-6942-19FB-A498-27738A3C7EE0}"/>
              </a:ext>
            </a:extLst>
          </p:cNvPr>
          <p:cNvSpPr>
            <a:spLocks noGrp="1"/>
          </p:cNvSpPr>
          <p:nvPr>
            <p:ph type="title"/>
          </p:nvPr>
        </p:nvSpPr>
        <p:spPr>
          <a:xfrm>
            <a:off x="574816" y="-430887"/>
            <a:ext cx="11018520" cy="430887"/>
          </a:xfrm>
        </p:spPr>
        <p:txBody>
          <a:bodyPr>
            <a:normAutofit fontScale="90000"/>
          </a:bodyPr>
          <a:lstStyle/>
          <a:p>
            <a:r>
              <a:rPr lang="en-US" dirty="0"/>
              <a:t>32</a:t>
            </a:r>
          </a:p>
        </p:txBody>
      </p:sp>
      <p:pic>
        <p:nvPicPr>
          <p:cNvPr id="2" name="Picture 1">
            <a:extLst>
              <a:ext uri="{FF2B5EF4-FFF2-40B4-BE49-F238E27FC236}">
                <a16:creationId xmlns:a16="http://schemas.microsoft.com/office/drawing/2014/main" id="{8B71D9EF-5473-9122-F1BA-62382F3BB1C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 y="864"/>
            <a:ext cx="12191985" cy="6856264"/>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
        <p:nvSpPr>
          <p:cNvPr id="3" name="TextBox 2">
            <a:extLst>
              <a:ext uri="{FF2B5EF4-FFF2-40B4-BE49-F238E27FC236}">
                <a16:creationId xmlns:a16="http://schemas.microsoft.com/office/drawing/2014/main" id="{408573EC-B172-6A1F-3A68-DD0D5CC48D82}"/>
              </a:ext>
            </a:extLst>
          </p:cNvPr>
          <p:cNvSpPr txBox="1"/>
          <p:nvPr/>
        </p:nvSpPr>
        <p:spPr>
          <a:xfrm>
            <a:off x="9570720" y="6347012"/>
            <a:ext cx="2440861" cy="307777"/>
          </a:xfrm>
          <a:prstGeom prst="rect">
            <a:avLst/>
          </a:prstGeom>
          <a:noFill/>
        </p:spPr>
        <p:txBody>
          <a:bodyPr wrap="none" lIns="0" tIns="0" rIns="0" bIns="0" rtlCol="0">
            <a:spAutoFit/>
          </a:bodyPr>
          <a:lstStyle/>
          <a:p>
            <a:pPr algn="l"/>
            <a:r>
              <a:rPr lang="en-BE" sz="2000">
                <a:solidFill>
                  <a:srgbClr val="C00000"/>
                </a:solidFill>
              </a:rPr>
              <a:t>User not in DLP Policy</a:t>
            </a:r>
            <a:endParaRPr lang="en-US" sz="2000" err="1">
              <a:solidFill>
                <a:srgbClr val="C00000"/>
              </a:solidFill>
            </a:endParaRPr>
          </a:p>
        </p:txBody>
      </p:sp>
    </p:spTree>
    <p:extLst>
      <p:ext uri="{BB962C8B-B14F-4D97-AF65-F5344CB8AC3E}">
        <p14:creationId xmlns:p14="http://schemas.microsoft.com/office/powerpoint/2010/main" val="34849021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30FF-7E1F-2E85-987D-CD8B643E333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08A50D5-5C3C-4BEF-BFC8-D8612B4D98BE}"/>
              </a:ext>
            </a:extLst>
          </p:cNvPr>
          <p:cNvSpPr>
            <a:spLocks noGrp="1"/>
          </p:cNvSpPr>
          <p:nvPr>
            <p:ph type="title"/>
          </p:nvPr>
        </p:nvSpPr>
        <p:spPr>
          <a:xfrm>
            <a:off x="574816" y="-430887"/>
            <a:ext cx="11018520" cy="430887"/>
          </a:xfrm>
        </p:spPr>
        <p:txBody>
          <a:bodyPr>
            <a:normAutofit fontScale="90000"/>
          </a:bodyPr>
          <a:lstStyle/>
          <a:p>
            <a:r>
              <a:rPr lang="en-US" dirty="0"/>
              <a:t>33</a:t>
            </a:r>
          </a:p>
        </p:txBody>
      </p:sp>
      <p:pic>
        <p:nvPicPr>
          <p:cNvPr id="2" name="Picture 1">
            <a:extLst>
              <a:ext uri="{FF2B5EF4-FFF2-40B4-BE49-F238E27FC236}">
                <a16:creationId xmlns:a16="http://schemas.microsoft.com/office/drawing/2014/main" id="{B6D17885-9883-1166-0935-3B182052502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 y="864"/>
            <a:ext cx="12191987" cy="6856264"/>
          </a:xfrm>
          <a:custGeom>
            <a:avLst/>
            <a:gdLst>
              <a:gd name="connsiteX0" fmla="*/ 79362 w 10754511"/>
              <a:gd name="connsiteY0" fmla="*/ 0 h 6049412"/>
              <a:gd name="connsiteX1" fmla="*/ 10675148 w 10754511"/>
              <a:gd name="connsiteY1" fmla="*/ 0 h 6049412"/>
              <a:gd name="connsiteX2" fmla="*/ 10706037 w 10754511"/>
              <a:gd name="connsiteY2" fmla="*/ 6236 h 6049412"/>
              <a:gd name="connsiteX3" fmla="*/ 10754511 w 10754511"/>
              <a:gd name="connsiteY3" fmla="*/ 79367 h 6049412"/>
              <a:gd name="connsiteX4" fmla="*/ 10754511 w 10754511"/>
              <a:gd name="connsiteY4" fmla="*/ 5970044 h 6049412"/>
              <a:gd name="connsiteX5" fmla="*/ 10675143 w 10754511"/>
              <a:gd name="connsiteY5" fmla="*/ 6049412 h 6049412"/>
              <a:gd name="connsiteX6" fmla="*/ 79367 w 10754511"/>
              <a:gd name="connsiteY6" fmla="*/ 6049412 h 6049412"/>
              <a:gd name="connsiteX7" fmla="*/ 6236 w 10754511"/>
              <a:gd name="connsiteY7" fmla="*/ 6000938 h 6049412"/>
              <a:gd name="connsiteX8" fmla="*/ 0 w 10754511"/>
              <a:gd name="connsiteY8" fmla="*/ 5970049 h 6049412"/>
              <a:gd name="connsiteX9" fmla="*/ 0 w 10754511"/>
              <a:gd name="connsiteY9" fmla="*/ 79362 h 6049412"/>
              <a:gd name="connsiteX10" fmla="*/ 6236 w 10754511"/>
              <a:gd name="connsiteY10" fmla="*/ 48473 h 6049412"/>
              <a:gd name="connsiteX11" fmla="*/ 48474 w 10754511"/>
              <a:gd name="connsiteY11" fmla="*/ 6236 h 60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54511" h="6049412">
                <a:moveTo>
                  <a:pt x="79362" y="0"/>
                </a:moveTo>
                <a:lnTo>
                  <a:pt x="10675148" y="0"/>
                </a:lnTo>
                <a:lnTo>
                  <a:pt x="10706037" y="6236"/>
                </a:lnTo>
                <a:cubicBezTo>
                  <a:pt x="10734523" y="18285"/>
                  <a:pt x="10754511" y="46492"/>
                  <a:pt x="10754511" y="79367"/>
                </a:cubicBezTo>
                <a:lnTo>
                  <a:pt x="10754511" y="5970044"/>
                </a:lnTo>
                <a:cubicBezTo>
                  <a:pt x="10754511" y="6013878"/>
                  <a:pt x="10718977" y="6049412"/>
                  <a:pt x="10675143" y="6049412"/>
                </a:cubicBezTo>
                <a:lnTo>
                  <a:pt x="79367" y="6049412"/>
                </a:lnTo>
                <a:cubicBezTo>
                  <a:pt x="46492" y="6049412"/>
                  <a:pt x="18285" y="6029424"/>
                  <a:pt x="6236" y="6000938"/>
                </a:cubicBezTo>
                <a:lnTo>
                  <a:pt x="0" y="5970049"/>
                </a:lnTo>
                <a:lnTo>
                  <a:pt x="0" y="79362"/>
                </a:lnTo>
                <a:lnTo>
                  <a:pt x="6236" y="48473"/>
                </a:lnTo>
                <a:cubicBezTo>
                  <a:pt x="14269" y="29482"/>
                  <a:pt x="29483" y="14269"/>
                  <a:pt x="48474" y="6236"/>
                </a:cubicBezTo>
                <a:close/>
              </a:path>
            </a:pathLst>
          </a:custGeom>
        </p:spPr>
      </p:pic>
      <p:sp>
        <p:nvSpPr>
          <p:cNvPr id="3" name="TextBox 2">
            <a:extLst>
              <a:ext uri="{FF2B5EF4-FFF2-40B4-BE49-F238E27FC236}">
                <a16:creationId xmlns:a16="http://schemas.microsoft.com/office/drawing/2014/main" id="{54AA5765-80BA-9810-8965-1511AFE1DAEC}"/>
              </a:ext>
            </a:extLst>
          </p:cNvPr>
          <p:cNvSpPr txBox="1"/>
          <p:nvPr/>
        </p:nvSpPr>
        <p:spPr>
          <a:xfrm>
            <a:off x="10014752" y="6347012"/>
            <a:ext cx="1996829" cy="307777"/>
          </a:xfrm>
          <a:prstGeom prst="rect">
            <a:avLst/>
          </a:prstGeom>
          <a:noFill/>
        </p:spPr>
        <p:txBody>
          <a:bodyPr wrap="none" lIns="0" tIns="0" rIns="0" bIns="0" rtlCol="0">
            <a:spAutoFit/>
          </a:bodyPr>
          <a:lstStyle/>
          <a:p>
            <a:pPr algn="r"/>
            <a:r>
              <a:rPr lang="en-BE" sz="2000">
                <a:solidFill>
                  <a:srgbClr val="00B050"/>
                </a:solidFill>
              </a:rPr>
              <a:t>User in DLP Policy</a:t>
            </a:r>
            <a:endParaRPr lang="en-US" sz="2000" err="1">
              <a:solidFill>
                <a:srgbClr val="00B050"/>
              </a:solidFill>
            </a:endParaRPr>
          </a:p>
        </p:txBody>
      </p:sp>
    </p:spTree>
    <p:extLst>
      <p:ext uri="{BB962C8B-B14F-4D97-AF65-F5344CB8AC3E}">
        <p14:creationId xmlns:p14="http://schemas.microsoft.com/office/powerpoint/2010/main" val="410777694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4F6B-B638-9A16-E791-BF5E9D8146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4BBE54-CB64-D8BA-76CF-E0B0BC776C5A}"/>
              </a:ext>
            </a:extLst>
          </p:cNvPr>
          <p:cNvSpPr>
            <a:spLocks noGrp="1"/>
          </p:cNvSpPr>
          <p:nvPr>
            <p:ph type="title"/>
          </p:nvPr>
        </p:nvSpPr>
        <p:spPr>
          <a:xfrm>
            <a:off x="588263" y="457200"/>
            <a:ext cx="11018520" cy="861774"/>
          </a:xfrm>
        </p:spPr>
        <p:txBody>
          <a:bodyPr>
            <a:normAutofit fontScale="90000"/>
          </a:bodyPr>
          <a:lstStyle/>
          <a:p>
            <a:r>
              <a:rPr lang="en-US" dirty="0"/>
              <a:t>Microsoft deployment blueprint to address </a:t>
            </a:r>
            <a:br>
              <a:rPr lang="en-US" dirty="0"/>
            </a:br>
            <a:r>
              <a:rPr lang="en-US" dirty="0"/>
              <a:t>internal oversharing in Microsoft 365 Copilot </a:t>
            </a:r>
          </a:p>
        </p:txBody>
      </p:sp>
      <p:sp>
        <p:nvSpPr>
          <p:cNvPr id="10" name="TextBox 9">
            <a:extLst>
              <a:ext uri="{FF2B5EF4-FFF2-40B4-BE49-F238E27FC236}">
                <a16:creationId xmlns:a16="http://schemas.microsoft.com/office/drawing/2014/main" id="{A5CBA756-3845-1425-700B-5F6279A23A9F}"/>
              </a:ext>
            </a:extLst>
          </p:cNvPr>
          <p:cNvSpPr txBox="1"/>
          <p:nvPr/>
        </p:nvSpPr>
        <p:spPr>
          <a:xfrm>
            <a:off x="606415" y="5292319"/>
            <a:ext cx="11182927" cy="984885"/>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Segoe UI Semibold"/>
                <a:ea typeface="+mn-ea"/>
                <a:cs typeface="+mn-cs"/>
              </a:rPr>
              <a:t>Get the blueprint: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Segoe UI Semibold"/>
                <a:ea typeface="+mn-ea"/>
                <a:cs typeface="+mn-cs"/>
                <a:hlinkClick r:id="rId3"/>
              </a:rPr>
              <a:t>https://aka.ms/Copilot/OversharingBlueprintLearn</a:t>
            </a:r>
            <a:r>
              <a:rPr kumimoji="0" lang="en-US" sz="3200" b="0" i="0" u="none" strike="noStrike" kern="1200" cap="none" spc="0" normalizeH="0" baseline="0" noProof="0" dirty="0">
                <a:ln>
                  <a:noFill/>
                </a:ln>
                <a:solidFill>
                  <a:srgbClr val="000000"/>
                </a:solidFill>
                <a:effectLst/>
                <a:uLnTx/>
                <a:uFillTx/>
                <a:latin typeface="Segoe UI Semibold"/>
                <a:ea typeface="+mn-ea"/>
                <a:cs typeface="+mn-cs"/>
              </a:rPr>
              <a:t> </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19" name="Picture 18">
            <a:extLst>
              <a:ext uri="{FF2B5EF4-FFF2-40B4-BE49-F238E27FC236}">
                <a16:creationId xmlns:a16="http://schemas.microsoft.com/office/drawing/2014/main" id="{91C60D71-8950-0D9B-7D0C-78A0E7EDC68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415" y="1850404"/>
            <a:ext cx="5482116" cy="3069090"/>
          </a:xfrm>
          <a:prstGeom prst="rect">
            <a:avLst/>
          </a:prstGeom>
          <a:ln>
            <a:solidFill>
              <a:schemeClr val="accent6"/>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67392229-F29C-F282-C08F-9EE1317E164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61071" y="1858012"/>
            <a:ext cx="5482117" cy="3093436"/>
          </a:xfrm>
          <a:prstGeom prst="rect">
            <a:avLst/>
          </a:prstGeom>
          <a:ln>
            <a:solidFill>
              <a:schemeClr val="accent6"/>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088783"/>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6F1BE-C9E2-D326-F7AD-E6792981FF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A5B9DC-99F5-B5BF-D341-C4E34C9C7D05}"/>
              </a:ext>
            </a:extLst>
          </p:cNvPr>
          <p:cNvSpPr>
            <a:spLocks noGrp="1"/>
          </p:cNvSpPr>
          <p:nvPr>
            <p:ph type="title"/>
          </p:nvPr>
        </p:nvSpPr>
        <p:spPr>
          <a:xfrm>
            <a:off x="585216" y="3035808"/>
            <a:ext cx="5038344" cy="498598"/>
          </a:xfr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en-US"/>
              <a:t>Become Copilot Ready</a:t>
            </a:r>
            <a:endParaRPr lang="en-US" noProof="0"/>
          </a:p>
        </p:txBody>
      </p:sp>
    </p:spTree>
    <p:extLst>
      <p:ext uri="{BB962C8B-B14F-4D97-AF65-F5344CB8AC3E}">
        <p14:creationId xmlns:p14="http://schemas.microsoft.com/office/powerpoint/2010/main" val="1319362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D279-F642-03AF-C76C-CDD9CDFE1C5B}"/>
            </a:ext>
          </a:extLst>
        </p:cNvPr>
        <p:cNvGrpSpPr/>
        <p:nvPr/>
      </p:nvGrpSpPr>
      <p:grpSpPr>
        <a:xfrm>
          <a:off x="0" y="0"/>
          <a:ext cx="0" cy="0"/>
          <a:chOff x="0" y="0"/>
          <a:chExt cx="0" cy="0"/>
        </a:xfrm>
      </p:grpSpPr>
      <p:sp>
        <p:nvSpPr>
          <p:cNvPr id="72" name="Arc 71">
            <a:extLst>
              <a:ext uri="{FF2B5EF4-FFF2-40B4-BE49-F238E27FC236}">
                <a16:creationId xmlns:a16="http://schemas.microsoft.com/office/drawing/2014/main" id="{193C7EE7-6301-E7AF-39D3-C52E884F7453}"/>
              </a:ext>
              <a:ext uri="{C183D7F6-B498-43B3-948B-1728B52AA6E4}">
                <adec:decorative xmlns:adec="http://schemas.microsoft.com/office/drawing/2017/decorative" val="1"/>
              </a:ext>
            </a:extLst>
          </p:cNvPr>
          <p:cNvSpPr/>
          <p:nvPr/>
        </p:nvSpPr>
        <p:spPr>
          <a:xfrm flipH="1">
            <a:off x="717782" y="4246721"/>
            <a:ext cx="1466574" cy="1676402"/>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E7558632-DC52-9FCA-0FCC-7CD00063E6B6}"/>
              </a:ext>
              <a:ext uri="{C183D7F6-B498-43B3-948B-1728B52AA6E4}">
                <adec:decorative xmlns:adec="http://schemas.microsoft.com/office/drawing/2017/decorative" val="1"/>
              </a:ext>
            </a:extLst>
          </p:cNvPr>
          <p:cNvSpPr/>
          <p:nvPr/>
        </p:nvSpPr>
        <p:spPr bwMode="auto">
          <a:xfrm>
            <a:off x="1958281" y="1757297"/>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76" name="Rectangle 75">
            <a:extLst>
              <a:ext uri="{FF2B5EF4-FFF2-40B4-BE49-F238E27FC236}">
                <a16:creationId xmlns:a16="http://schemas.microsoft.com/office/drawing/2014/main" id="{1D0B4F7C-212F-D470-C78E-E67047BB854E}"/>
              </a:ext>
              <a:ext uri="{C183D7F6-B498-43B3-948B-1728B52AA6E4}">
                <adec:decorative xmlns:adec="http://schemas.microsoft.com/office/drawing/2017/decorative" val="1"/>
              </a:ext>
            </a:extLst>
          </p:cNvPr>
          <p:cNvSpPr/>
          <p:nvPr/>
        </p:nvSpPr>
        <p:spPr bwMode="auto">
          <a:xfrm>
            <a:off x="1958281" y="3423093"/>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2" name="Rectangle 81">
            <a:extLst>
              <a:ext uri="{FF2B5EF4-FFF2-40B4-BE49-F238E27FC236}">
                <a16:creationId xmlns:a16="http://schemas.microsoft.com/office/drawing/2014/main" id="{EE35EF76-19E4-BC94-BC95-25ED187CFF7B}"/>
              </a:ext>
              <a:ext uri="{C183D7F6-B498-43B3-948B-1728B52AA6E4}">
                <adec:decorative xmlns:adec="http://schemas.microsoft.com/office/drawing/2017/decorative" val="1"/>
              </a:ext>
            </a:extLst>
          </p:cNvPr>
          <p:cNvSpPr/>
          <p:nvPr/>
        </p:nvSpPr>
        <p:spPr bwMode="auto">
          <a:xfrm>
            <a:off x="1958281" y="5114990"/>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8" name="Arc 87">
            <a:extLst>
              <a:ext uri="{FF2B5EF4-FFF2-40B4-BE49-F238E27FC236}">
                <a16:creationId xmlns:a16="http://schemas.microsoft.com/office/drawing/2014/main" id="{EEBEA8FB-7165-4341-CA80-BD25BC72F747}"/>
              </a:ext>
              <a:ext uri="{C183D7F6-B498-43B3-948B-1728B52AA6E4}">
                <adec:decorative xmlns:adec="http://schemas.microsoft.com/office/drawing/2017/decorative" val="1"/>
              </a:ext>
            </a:extLst>
          </p:cNvPr>
          <p:cNvSpPr/>
          <p:nvPr/>
        </p:nvSpPr>
        <p:spPr>
          <a:xfrm>
            <a:off x="9989848" y="2584068"/>
            <a:ext cx="1466574" cy="1662653"/>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5" name="Straight Connector 94">
            <a:extLst>
              <a:ext uri="{FF2B5EF4-FFF2-40B4-BE49-F238E27FC236}">
                <a16:creationId xmlns:a16="http://schemas.microsoft.com/office/drawing/2014/main" id="{2158D6AC-301D-5878-9403-0C691FDD6BCB}"/>
              </a:ext>
              <a:ext uri="{C183D7F6-B498-43B3-948B-1728B52AA6E4}">
                <adec:decorative xmlns:adec="http://schemas.microsoft.com/office/drawing/2017/decorative" val="1"/>
              </a:ext>
            </a:extLst>
          </p:cNvPr>
          <p:cNvCxnSpPr>
            <a:cxnSpLocks/>
          </p:cNvCxnSpPr>
          <p:nvPr/>
        </p:nvCxnSpPr>
        <p:spPr>
          <a:xfrm>
            <a:off x="584200" y="2583268"/>
            <a:ext cx="1013409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B31DCC8-9171-B19E-823E-1021DAF244B9}"/>
              </a:ext>
              <a:ext uri="{C183D7F6-B498-43B3-948B-1728B52AA6E4}">
                <adec:decorative xmlns:adec="http://schemas.microsoft.com/office/drawing/2017/decorative" val="1"/>
              </a:ext>
            </a:extLst>
          </p:cNvPr>
          <p:cNvCxnSpPr>
            <a:cxnSpLocks/>
          </p:cNvCxnSpPr>
          <p:nvPr/>
        </p:nvCxnSpPr>
        <p:spPr>
          <a:xfrm>
            <a:off x="1457670" y="4247958"/>
            <a:ext cx="926062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5725EDF-AC8B-5564-D214-36EF79232AE8}"/>
              </a:ext>
              <a:ext uri="{C183D7F6-B498-43B3-948B-1728B52AA6E4}">
                <adec:decorative xmlns:adec="http://schemas.microsoft.com/office/drawing/2017/decorative" val="1"/>
              </a:ext>
            </a:extLst>
          </p:cNvPr>
          <p:cNvCxnSpPr>
            <a:cxnSpLocks/>
          </p:cNvCxnSpPr>
          <p:nvPr/>
        </p:nvCxnSpPr>
        <p:spPr>
          <a:xfrm>
            <a:off x="1443147" y="5923123"/>
            <a:ext cx="9021653"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5" name="Title 25">
            <a:extLst>
              <a:ext uri="{FF2B5EF4-FFF2-40B4-BE49-F238E27FC236}">
                <a16:creationId xmlns:a16="http://schemas.microsoft.com/office/drawing/2014/main" id="{8265F8DF-E294-9D58-1C1B-9E301125ED83}"/>
              </a:ext>
            </a:extLst>
          </p:cNvPr>
          <p:cNvSpPr txBox="1">
            <a:spLocks noGrp="1"/>
          </p:cNvSpPr>
          <p:nvPr>
            <p:ph type="title"/>
          </p:nvPr>
        </p:nvSpPr>
        <p:spPr>
          <a:xfrm>
            <a:off x="574816" y="510988"/>
            <a:ext cx="11018520"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Microsoft 365 Security Features BP, E3, &amp; Add-ons</a:t>
            </a:r>
            <a:b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br>
            <a:r>
              <a:rPr kumimoji="0" lang="en-US" sz="32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Building a Secure Foundation for Microsoft Copilot </a:t>
            </a:r>
          </a:p>
        </p:txBody>
      </p:sp>
      <p:sp>
        <p:nvSpPr>
          <p:cNvPr id="2" name="Rectangle 1">
            <a:hlinkClick r:id="" action="ppaction://noaction"/>
            <a:extLst>
              <a:ext uri="{FF2B5EF4-FFF2-40B4-BE49-F238E27FC236}">
                <a16:creationId xmlns:a16="http://schemas.microsoft.com/office/drawing/2014/main" id="{D243EEC3-1FBD-F56F-AFD5-19DC5E381A60}"/>
              </a:ext>
              <a:ext uri="{C183D7F6-B498-43B3-948B-1728B52AA6E4}">
                <adec:decorative xmlns:adec="http://schemas.microsoft.com/office/drawing/2017/decorative" val="1"/>
              </a:ext>
            </a:extLst>
          </p:cNvPr>
          <p:cNvSpPr/>
          <p:nvPr/>
        </p:nvSpPr>
        <p:spPr bwMode="auto">
          <a:xfrm>
            <a:off x="1950290" y="1440212"/>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01: Securing Against Internal Threats</a:t>
            </a:r>
          </a:p>
        </p:txBody>
      </p:sp>
      <p:sp>
        <p:nvSpPr>
          <p:cNvPr id="107" name="Rectangle 106">
            <a:extLst>
              <a:ext uri="{FF2B5EF4-FFF2-40B4-BE49-F238E27FC236}">
                <a16:creationId xmlns:a16="http://schemas.microsoft.com/office/drawing/2014/main" id="{3E5B4927-8FBB-0969-A582-5C429FA39B72}"/>
              </a:ext>
              <a:ext uri="{C183D7F6-B498-43B3-948B-1728B52AA6E4}">
                <adec:decorative xmlns:adec="http://schemas.microsoft.com/office/drawing/2017/decorative" val="1"/>
              </a:ext>
            </a:extLst>
          </p:cNvPr>
          <p:cNvSpPr/>
          <p:nvPr/>
        </p:nvSpPr>
        <p:spPr>
          <a:xfrm>
            <a:off x="3137962"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Fortify Access</a:t>
            </a:r>
          </a:p>
        </p:txBody>
      </p:sp>
      <p:sp>
        <p:nvSpPr>
          <p:cNvPr id="108" name="Oval 107">
            <a:extLst>
              <a:ext uri="{FF2B5EF4-FFF2-40B4-BE49-F238E27FC236}">
                <a16:creationId xmlns:a16="http://schemas.microsoft.com/office/drawing/2014/main" id="{6301867F-27A6-F6AC-1A75-B6C5E13044C4}"/>
              </a:ext>
              <a:ext uri="{C183D7F6-B498-43B3-948B-1728B52AA6E4}">
                <adec:decorative xmlns:adec="http://schemas.microsoft.com/office/drawing/2017/decorative" val="1"/>
              </a:ext>
            </a:extLst>
          </p:cNvPr>
          <p:cNvSpPr/>
          <p:nvPr/>
        </p:nvSpPr>
        <p:spPr>
          <a:xfrm>
            <a:off x="3869482"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09" name="Rectangle 108">
            <a:extLst>
              <a:ext uri="{FF2B5EF4-FFF2-40B4-BE49-F238E27FC236}">
                <a16:creationId xmlns:a16="http://schemas.microsoft.com/office/drawing/2014/main" id="{F183EA86-7F21-A1E0-989A-C969A212D9EE}"/>
              </a:ext>
              <a:ext uri="{C183D7F6-B498-43B3-948B-1728B52AA6E4}">
                <adec:decorative xmlns:adec="http://schemas.microsoft.com/office/drawing/2017/decorative" val="1"/>
              </a:ext>
            </a:extLst>
          </p:cNvPr>
          <p:cNvSpPr/>
          <p:nvPr/>
        </p:nvSpPr>
        <p:spPr>
          <a:xfrm>
            <a:off x="5334800"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a:t>
            </a:r>
            <a:r>
              <a:rPr lang="en-US" sz="1400" err="1">
                <a:solidFill>
                  <a:srgbClr val="505050"/>
                </a:solidFill>
                <a:latin typeface="Segoe UI Semibold"/>
                <a:cs typeface="Segoe UI Semibold"/>
              </a:rPr>
              <a:t>ecure</a:t>
            </a:r>
            <a:r>
              <a:rPr lang="en-US" sz="1400">
                <a:solidFill>
                  <a:srgbClr val="505050"/>
                </a:solidFill>
                <a:latin typeface="Segoe UI Semibold"/>
                <a:cs typeface="Segoe UI Semibold"/>
              </a:rPr>
              <a:t> Data</a:t>
            </a:r>
            <a:endParaRPr kumimoji="0" lang="en-US" sz="1400" b="0" i="0" u="none" strike="noStrike" kern="1200" cap="none" spc="0" normalizeH="0" baseline="0" noProof="0">
              <a:ln>
                <a:noFill/>
              </a:ln>
              <a:solidFill>
                <a:srgbClr val="505050"/>
              </a:solidFill>
              <a:effectLst/>
              <a:uLnTx/>
              <a:uFillTx/>
              <a:latin typeface="Segoe UI Semibold"/>
              <a:ea typeface="+mn-ea"/>
              <a:cs typeface="Segoe UI Semibold"/>
            </a:endParaRPr>
          </a:p>
        </p:txBody>
      </p:sp>
      <p:sp>
        <p:nvSpPr>
          <p:cNvPr id="113" name="Oval 112">
            <a:extLst>
              <a:ext uri="{FF2B5EF4-FFF2-40B4-BE49-F238E27FC236}">
                <a16:creationId xmlns:a16="http://schemas.microsoft.com/office/drawing/2014/main" id="{1349C74E-A1D3-9DC9-8983-A7467AC7E6DE}"/>
              </a:ext>
              <a:ext uri="{C183D7F6-B498-43B3-948B-1728B52AA6E4}">
                <adec:decorative xmlns:adec="http://schemas.microsoft.com/office/drawing/2017/decorative" val="1"/>
              </a:ext>
            </a:extLst>
          </p:cNvPr>
          <p:cNvSpPr/>
          <p:nvPr/>
        </p:nvSpPr>
        <p:spPr>
          <a:xfrm>
            <a:off x="606632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16" name="Rectangle 115">
            <a:extLst>
              <a:ext uri="{FF2B5EF4-FFF2-40B4-BE49-F238E27FC236}">
                <a16:creationId xmlns:a16="http://schemas.microsoft.com/office/drawing/2014/main" id="{748FB75E-1AD4-0466-08EA-0D26D6258ACF}"/>
              </a:ext>
              <a:ext uri="{C183D7F6-B498-43B3-948B-1728B52AA6E4}">
                <adec:decorative xmlns:adec="http://schemas.microsoft.com/office/drawing/2017/decorative" val="1"/>
              </a:ext>
            </a:extLst>
          </p:cNvPr>
          <p:cNvSpPr/>
          <p:nvPr/>
        </p:nvSpPr>
        <p:spPr>
          <a:xfrm>
            <a:off x="7299974" y="2006317"/>
            <a:ext cx="2367672"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Shield Endpoints</a:t>
            </a:r>
            <a:endParaRPr kumimoji="0" lang="en-US"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val 116">
            <a:extLst>
              <a:ext uri="{FF2B5EF4-FFF2-40B4-BE49-F238E27FC236}">
                <a16:creationId xmlns:a16="http://schemas.microsoft.com/office/drawing/2014/main" id="{4A493660-8B63-B080-4D6C-427467CB061A}"/>
              </a:ext>
              <a:ext uri="{C183D7F6-B498-43B3-948B-1728B52AA6E4}">
                <adec:decorative xmlns:adec="http://schemas.microsoft.com/office/drawing/2017/decorative" val="1"/>
              </a:ext>
            </a:extLst>
          </p:cNvPr>
          <p:cNvSpPr/>
          <p:nvPr/>
        </p:nvSpPr>
        <p:spPr>
          <a:xfrm>
            <a:off x="830093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 name="Rectangle 2">
            <a:hlinkClick r:id="rId3" action="ppaction://hlinksldjump"/>
            <a:extLst>
              <a:ext uri="{FF2B5EF4-FFF2-40B4-BE49-F238E27FC236}">
                <a16:creationId xmlns:a16="http://schemas.microsoft.com/office/drawing/2014/main" id="{98B2A1C2-9D0E-1CD2-2BFC-5F89FEA0CDD0}"/>
              </a:ext>
              <a:ext uri="{C183D7F6-B498-43B3-948B-1728B52AA6E4}">
                <adec:decorative xmlns:adec="http://schemas.microsoft.com/office/drawing/2017/decorative" val="1"/>
              </a:ext>
            </a:extLst>
          </p:cNvPr>
          <p:cNvSpPr/>
          <p:nvPr/>
        </p:nvSpPr>
        <p:spPr bwMode="auto">
          <a:xfrm>
            <a:off x="1950290" y="3112665"/>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8661C5"/>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02: Securing Against External Threats</a:t>
            </a:r>
          </a:p>
        </p:txBody>
      </p:sp>
      <p:sp>
        <p:nvSpPr>
          <p:cNvPr id="127" name="Rectangle 126">
            <a:extLst>
              <a:ext uri="{FF2B5EF4-FFF2-40B4-BE49-F238E27FC236}">
                <a16:creationId xmlns:a16="http://schemas.microsoft.com/office/drawing/2014/main" id="{AD9DD2DF-F8B1-32BE-9C7D-1E6AB7614F7B}"/>
              </a:ext>
              <a:ext uri="{C183D7F6-B498-43B3-948B-1728B52AA6E4}">
                <adec:decorative xmlns:adec="http://schemas.microsoft.com/office/drawing/2017/decorative" val="1"/>
              </a:ext>
            </a:extLst>
          </p:cNvPr>
          <p:cNvSpPr/>
          <p:nvPr/>
        </p:nvSpPr>
        <p:spPr>
          <a:xfrm>
            <a:off x="4300055" y="3661002"/>
            <a:ext cx="1995610"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Defend Users</a:t>
            </a:r>
          </a:p>
        </p:txBody>
      </p:sp>
      <p:sp>
        <p:nvSpPr>
          <p:cNvPr id="122" name="Graphic 4">
            <a:extLst>
              <a:ext uri="{FF2B5EF4-FFF2-40B4-BE49-F238E27FC236}">
                <a16:creationId xmlns:a16="http://schemas.microsoft.com/office/drawing/2014/main" id="{A10AC29F-C9A1-DFB1-3216-A0827F76EE42}"/>
              </a:ext>
              <a:ext uri="{C183D7F6-B498-43B3-948B-1728B52AA6E4}">
                <adec:decorative xmlns:adec="http://schemas.microsoft.com/office/drawing/2017/decorative" val="1"/>
              </a:ext>
            </a:extLst>
          </p:cNvPr>
          <p:cNvSpPr/>
          <p:nvPr/>
        </p:nvSpPr>
        <p:spPr>
          <a:xfrm rot="5400000">
            <a:off x="11315138" y="3210311"/>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8" name="Oval 127">
            <a:extLst>
              <a:ext uri="{FF2B5EF4-FFF2-40B4-BE49-F238E27FC236}">
                <a16:creationId xmlns:a16="http://schemas.microsoft.com/office/drawing/2014/main" id="{6B2E4D7D-31DC-8E2D-E973-EE828DB272C5}"/>
              </a:ext>
              <a:ext uri="{C183D7F6-B498-43B3-948B-1728B52AA6E4}">
                <adec:decorative xmlns:adec="http://schemas.microsoft.com/office/drawing/2017/decorative" val="1"/>
              </a:ext>
            </a:extLst>
          </p:cNvPr>
          <p:cNvSpPr/>
          <p:nvPr/>
        </p:nvSpPr>
        <p:spPr>
          <a:xfrm>
            <a:off x="5012381" y="4044796"/>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29" name="Rectangle 128">
            <a:extLst>
              <a:ext uri="{FF2B5EF4-FFF2-40B4-BE49-F238E27FC236}">
                <a16:creationId xmlns:a16="http://schemas.microsoft.com/office/drawing/2014/main" id="{5420B880-05BF-966A-85DA-53AC77D4A802}"/>
              </a:ext>
              <a:ext uri="{C183D7F6-B498-43B3-948B-1728B52AA6E4}">
                <adec:decorative xmlns:adec="http://schemas.microsoft.com/office/drawing/2017/decorative" val="1"/>
              </a:ext>
            </a:extLst>
          </p:cNvPr>
          <p:cNvSpPr/>
          <p:nvPr/>
        </p:nvSpPr>
        <p:spPr>
          <a:xfrm>
            <a:off x="6394294" y="3661002"/>
            <a:ext cx="1995611"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Protect Devices</a:t>
            </a:r>
          </a:p>
        </p:txBody>
      </p:sp>
      <p:sp>
        <p:nvSpPr>
          <p:cNvPr id="130" name="Oval 129">
            <a:extLst>
              <a:ext uri="{FF2B5EF4-FFF2-40B4-BE49-F238E27FC236}">
                <a16:creationId xmlns:a16="http://schemas.microsoft.com/office/drawing/2014/main" id="{3B376F8D-0D2B-5C51-CA94-039D1AFF9EF9}"/>
              </a:ext>
              <a:ext uri="{C183D7F6-B498-43B3-948B-1728B52AA6E4}">
                <adec:decorative xmlns:adec="http://schemas.microsoft.com/office/drawing/2017/decorative" val="1"/>
              </a:ext>
            </a:extLst>
          </p:cNvPr>
          <p:cNvSpPr/>
          <p:nvPr/>
        </p:nvSpPr>
        <p:spPr>
          <a:xfrm>
            <a:off x="7209219" y="4044796"/>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23" name="Graphic 4">
            <a:extLst>
              <a:ext uri="{FF2B5EF4-FFF2-40B4-BE49-F238E27FC236}">
                <a16:creationId xmlns:a16="http://schemas.microsoft.com/office/drawing/2014/main" id="{99624D08-19B8-8A8C-B38B-E98560DCD919}"/>
              </a:ext>
              <a:ext uri="{C183D7F6-B498-43B3-948B-1728B52AA6E4}">
                <adec:decorative xmlns:adec="http://schemas.microsoft.com/office/drawing/2017/decorative" val="1"/>
              </a:ext>
            </a:extLst>
          </p:cNvPr>
          <p:cNvSpPr/>
          <p:nvPr/>
        </p:nvSpPr>
        <p:spPr>
          <a:xfrm rot="5400000">
            <a:off x="569972" y="4885664"/>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9" name="Oval 138">
            <a:extLst>
              <a:ext uri="{FF2B5EF4-FFF2-40B4-BE49-F238E27FC236}">
                <a16:creationId xmlns:a16="http://schemas.microsoft.com/office/drawing/2014/main" id="{A2FFE04F-1D9E-CE26-11A7-AD19CF490424}"/>
              </a:ext>
              <a:ext uri="{C183D7F6-B498-43B3-948B-1728B52AA6E4}">
                <adec:decorative xmlns:adec="http://schemas.microsoft.com/office/drawing/2017/decorative" val="1"/>
              </a:ext>
            </a:extLst>
          </p:cNvPr>
          <p:cNvSpPr/>
          <p:nvPr/>
        </p:nvSpPr>
        <p:spPr>
          <a:xfrm>
            <a:off x="3934295"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33" name="Isosceles Triangle 132">
            <a:extLst>
              <a:ext uri="{FF2B5EF4-FFF2-40B4-BE49-F238E27FC236}">
                <a16:creationId xmlns:a16="http://schemas.microsoft.com/office/drawing/2014/main" id="{0836C051-50CE-FEC2-2CE5-BC59227D2A08}"/>
              </a:ext>
              <a:ext uri="{C183D7F6-B498-43B3-948B-1728B52AA6E4}">
                <adec:decorative xmlns:adec="http://schemas.microsoft.com/office/drawing/2017/decorative" val="1"/>
              </a:ext>
            </a:extLst>
          </p:cNvPr>
          <p:cNvSpPr/>
          <p:nvPr/>
        </p:nvSpPr>
        <p:spPr>
          <a:xfrm rot="5400000">
            <a:off x="10324000" y="5808254"/>
            <a:ext cx="423079" cy="229738"/>
          </a:xfrm>
          <a:prstGeom prs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0465F0A-57AA-A55A-4CFF-7E1A07DD00C0}"/>
              </a:ext>
              <a:ext uri="{C183D7F6-B498-43B3-948B-1728B52AA6E4}">
                <adec:decorative xmlns:adec="http://schemas.microsoft.com/office/drawing/2017/decorative" val="1"/>
              </a:ext>
            </a:extLst>
          </p:cNvPr>
          <p:cNvSpPr/>
          <p:nvPr/>
        </p:nvSpPr>
        <p:spPr bwMode="auto">
          <a:xfrm>
            <a:off x="567465"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Become Copilot Ready</a:t>
            </a:r>
          </a:p>
        </p:txBody>
      </p:sp>
      <p:sp>
        <p:nvSpPr>
          <p:cNvPr id="8" name="Oval 7">
            <a:extLst>
              <a:ext uri="{FF2B5EF4-FFF2-40B4-BE49-F238E27FC236}">
                <a16:creationId xmlns:a16="http://schemas.microsoft.com/office/drawing/2014/main" id="{DD317125-65CC-F95A-22AB-636959D8FB6F}"/>
              </a:ext>
              <a:ext uri="{C183D7F6-B498-43B3-948B-1728B52AA6E4}">
                <adec:decorative xmlns:adec="http://schemas.microsoft.com/office/drawing/2017/decorative" val="1"/>
              </a:ext>
            </a:extLst>
          </p:cNvPr>
          <p:cNvSpPr/>
          <p:nvPr/>
        </p:nvSpPr>
        <p:spPr>
          <a:xfrm>
            <a:off x="7950714"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9" name="Rectangle 8">
            <a:extLst>
              <a:ext uri="{FF2B5EF4-FFF2-40B4-BE49-F238E27FC236}">
                <a16:creationId xmlns:a16="http://schemas.microsoft.com/office/drawing/2014/main" id="{069744FF-A3D1-F490-B385-698E6E4DD6AD}"/>
              </a:ext>
              <a:ext uri="{C183D7F6-B498-43B3-948B-1728B52AA6E4}">
                <adec:decorative xmlns:adec="http://schemas.microsoft.com/office/drawing/2017/decorative" val="1"/>
              </a:ext>
            </a:extLst>
          </p:cNvPr>
          <p:cNvSpPr/>
          <p:nvPr/>
        </p:nvSpPr>
        <p:spPr bwMode="auto">
          <a:xfrm>
            <a:off x="4583884"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BE"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Handling Oversharing</a:t>
            </a:r>
            <a:endPar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endParaRPr>
          </a:p>
        </p:txBody>
      </p:sp>
    </p:spTree>
    <p:extLst>
      <p:ext uri="{BB962C8B-B14F-4D97-AF65-F5344CB8AC3E}">
        <p14:creationId xmlns:p14="http://schemas.microsoft.com/office/powerpoint/2010/main" val="17592088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AD6B-DBC8-F9E8-5BD1-58BDBC756F1D}"/>
            </a:ext>
          </a:extLst>
        </p:cNvPr>
        <p:cNvGrpSpPr/>
        <p:nvPr/>
      </p:nvGrpSpPr>
      <p:grpSpPr>
        <a:xfrm>
          <a:off x="0" y="0"/>
          <a:ext cx="0" cy="0"/>
          <a:chOff x="0" y="0"/>
          <a:chExt cx="0" cy="0"/>
        </a:xfrm>
      </p:grpSpPr>
      <p:sp>
        <p:nvSpPr>
          <p:cNvPr id="72" name="Arc 71">
            <a:extLst>
              <a:ext uri="{FF2B5EF4-FFF2-40B4-BE49-F238E27FC236}">
                <a16:creationId xmlns:a16="http://schemas.microsoft.com/office/drawing/2014/main" id="{7838E490-0235-6BB7-DC6F-2BA3F04A44C3}"/>
              </a:ext>
              <a:ext uri="{C183D7F6-B498-43B3-948B-1728B52AA6E4}">
                <adec:decorative xmlns:adec="http://schemas.microsoft.com/office/drawing/2017/decorative" val="1"/>
              </a:ext>
            </a:extLst>
          </p:cNvPr>
          <p:cNvSpPr/>
          <p:nvPr/>
        </p:nvSpPr>
        <p:spPr>
          <a:xfrm flipH="1">
            <a:off x="717782" y="4246721"/>
            <a:ext cx="1466574" cy="1676402"/>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D20C53A-3280-4CE9-82E2-D2C608F2263A}"/>
              </a:ext>
              <a:ext uri="{C183D7F6-B498-43B3-948B-1728B52AA6E4}">
                <adec:decorative xmlns:adec="http://schemas.microsoft.com/office/drawing/2017/decorative" val="1"/>
              </a:ext>
            </a:extLst>
          </p:cNvPr>
          <p:cNvSpPr/>
          <p:nvPr/>
        </p:nvSpPr>
        <p:spPr bwMode="auto">
          <a:xfrm>
            <a:off x="1958281" y="1757297"/>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76" name="Rectangle 75">
            <a:extLst>
              <a:ext uri="{FF2B5EF4-FFF2-40B4-BE49-F238E27FC236}">
                <a16:creationId xmlns:a16="http://schemas.microsoft.com/office/drawing/2014/main" id="{E0756BE7-D7CE-D5F5-6E27-3A33E1D4FBC7}"/>
              </a:ext>
              <a:ext uri="{C183D7F6-B498-43B3-948B-1728B52AA6E4}">
                <adec:decorative xmlns:adec="http://schemas.microsoft.com/office/drawing/2017/decorative" val="1"/>
              </a:ext>
            </a:extLst>
          </p:cNvPr>
          <p:cNvSpPr/>
          <p:nvPr/>
        </p:nvSpPr>
        <p:spPr bwMode="auto">
          <a:xfrm>
            <a:off x="1958281" y="3423093"/>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2" name="Rectangle 81">
            <a:extLst>
              <a:ext uri="{FF2B5EF4-FFF2-40B4-BE49-F238E27FC236}">
                <a16:creationId xmlns:a16="http://schemas.microsoft.com/office/drawing/2014/main" id="{AA53C980-D5CB-F227-4B17-B75B6B940313}"/>
              </a:ext>
              <a:ext uri="{C183D7F6-B498-43B3-948B-1728B52AA6E4}">
                <adec:decorative xmlns:adec="http://schemas.microsoft.com/office/drawing/2017/decorative" val="1"/>
              </a:ext>
            </a:extLst>
          </p:cNvPr>
          <p:cNvSpPr/>
          <p:nvPr/>
        </p:nvSpPr>
        <p:spPr bwMode="auto">
          <a:xfrm>
            <a:off x="1958281" y="5114990"/>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8" name="Arc 87">
            <a:extLst>
              <a:ext uri="{FF2B5EF4-FFF2-40B4-BE49-F238E27FC236}">
                <a16:creationId xmlns:a16="http://schemas.microsoft.com/office/drawing/2014/main" id="{930AF5B6-5E5F-4931-051E-AFEA1EB26F3E}"/>
              </a:ext>
              <a:ext uri="{C183D7F6-B498-43B3-948B-1728B52AA6E4}">
                <adec:decorative xmlns:adec="http://schemas.microsoft.com/office/drawing/2017/decorative" val="1"/>
              </a:ext>
            </a:extLst>
          </p:cNvPr>
          <p:cNvSpPr/>
          <p:nvPr/>
        </p:nvSpPr>
        <p:spPr>
          <a:xfrm>
            <a:off x="9989848" y="2584068"/>
            <a:ext cx="1466574" cy="1662653"/>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5" name="Straight Connector 94">
            <a:extLst>
              <a:ext uri="{FF2B5EF4-FFF2-40B4-BE49-F238E27FC236}">
                <a16:creationId xmlns:a16="http://schemas.microsoft.com/office/drawing/2014/main" id="{BE97275E-9806-F274-1C5A-FB31E1FAFCC3}"/>
              </a:ext>
              <a:ext uri="{C183D7F6-B498-43B3-948B-1728B52AA6E4}">
                <adec:decorative xmlns:adec="http://schemas.microsoft.com/office/drawing/2017/decorative" val="1"/>
              </a:ext>
            </a:extLst>
          </p:cNvPr>
          <p:cNvCxnSpPr>
            <a:cxnSpLocks/>
          </p:cNvCxnSpPr>
          <p:nvPr/>
        </p:nvCxnSpPr>
        <p:spPr>
          <a:xfrm>
            <a:off x="584200" y="2583268"/>
            <a:ext cx="1013409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439AC186-A209-8D16-1D98-C9C15268577C}"/>
              </a:ext>
              <a:ext uri="{C183D7F6-B498-43B3-948B-1728B52AA6E4}">
                <adec:decorative xmlns:adec="http://schemas.microsoft.com/office/drawing/2017/decorative" val="1"/>
              </a:ext>
            </a:extLst>
          </p:cNvPr>
          <p:cNvCxnSpPr>
            <a:cxnSpLocks/>
          </p:cNvCxnSpPr>
          <p:nvPr/>
        </p:nvCxnSpPr>
        <p:spPr>
          <a:xfrm>
            <a:off x="1457670" y="4247958"/>
            <a:ext cx="926062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9DB263A-1AD9-D061-A23B-D6A09F9CC3D9}"/>
              </a:ext>
              <a:ext uri="{C183D7F6-B498-43B3-948B-1728B52AA6E4}">
                <adec:decorative xmlns:adec="http://schemas.microsoft.com/office/drawing/2017/decorative" val="1"/>
              </a:ext>
            </a:extLst>
          </p:cNvPr>
          <p:cNvCxnSpPr>
            <a:cxnSpLocks/>
          </p:cNvCxnSpPr>
          <p:nvPr/>
        </p:nvCxnSpPr>
        <p:spPr>
          <a:xfrm>
            <a:off x="1443147" y="5923123"/>
            <a:ext cx="9021653"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5" name="Title 25">
            <a:extLst>
              <a:ext uri="{FF2B5EF4-FFF2-40B4-BE49-F238E27FC236}">
                <a16:creationId xmlns:a16="http://schemas.microsoft.com/office/drawing/2014/main" id="{D0F159B8-D751-5912-C5BF-686E9DF50684}"/>
              </a:ext>
            </a:extLst>
          </p:cNvPr>
          <p:cNvSpPr txBox="1">
            <a:spLocks noGrp="1"/>
          </p:cNvSpPr>
          <p:nvPr>
            <p:ph type="title"/>
          </p:nvPr>
        </p:nvSpPr>
        <p:spPr>
          <a:xfrm>
            <a:off x="574816" y="510988"/>
            <a:ext cx="11018520"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Microsoft 365 Security Features BP, E3, &amp; Add-ons</a:t>
            </a:r>
            <a:b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br>
            <a:r>
              <a:rPr kumimoji="0" lang="en-US" sz="32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Building a Secure Foundation for Microsoft Copilot  </a:t>
            </a:r>
          </a:p>
        </p:txBody>
      </p:sp>
      <p:sp>
        <p:nvSpPr>
          <p:cNvPr id="2" name="Rectangle 1">
            <a:hlinkClick r:id="" action="ppaction://noaction"/>
            <a:extLst>
              <a:ext uri="{FF2B5EF4-FFF2-40B4-BE49-F238E27FC236}">
                <a16:creationId xmlns:a16="http://schemas.microsoft.com/office/drawing/2014/main" id="{40221FCA-BE2B-F868-D28B-4C799A942EDA}"/>
              </a:ext>
              <a:ext uri="{C183D7F6-B498-43B3-948B-1728B52AA6E4}">
                <adec:decorative xmlns:adec="http://schemas.microsoft.com/office/drawing/2017/decorative" val="1"/>
              </a:ext>
            </a:extLst>
          </p:cNvPr>
          <p:cNvSpPr/>
          <p:nvPr/>
        </p:nvSpPr>
        <p:spPr bwMode="auto">
          <a:xfrm>
            <a:off x="1950290" y="1440212"/>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01: Securing Against Internal Threats</a:t>
            </a:r>
          </a:p>
        </p:txBody>
      </p:sp>
      <p:sp>
        <p:nvSpPr>
          <p:cNvPr id="107" name="Rectangle 106">
            <a:extLst>
              <a:ext uri="{FF2B5EF4-FFF2-40B4-BE49-F238E27FC236}">
                <a16:creationId xmlns:a16="http://schemas.microsoft.com/office/drawing/2014/main" id="{1B3C9F0E-5099-8435-AD3B-8B6EEE4686E8}"/>
              </a:ext>
              <a:ext uri="{C183D7F6-B498-43B3-948B-1728B52AA6E4}">
                <adec:decorative xmlns:adec="http://schemas.microsoft.com/office/drawing/2017/decorative" val="1"/>
              </a:ext>
            </a:extLst>
          </p:cNvPr>
          <p:cNvSpPr/>
          <p:nvPr/>
        </p:nvSpPr>
        <p:spPr>
          <a:xfrm>
            <a:off x="3137962"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Fortify Access</a:t>
            </a:r>
          </a:p>
        </p:txBody>
      </p:sp>
      <p:sp>
        <p:nvSpPr>
          <p:cNvPr id="108" name="Oval 107">
            <a:extLst>
              <a:ext uri="{FF2B5EF4-FFF2-40B4-BE49-F238E27FC236}">
                <a16:creationId xmlns:a16="http://schemas.microsoft.com/office/drawing/2014/main" id="{5A7FDE1F-11BD-413C-060B-FD5FF6D7D64A}"/>
              </a:ext>
              <a:ext uri="{C183D7F6-B498-43B3-948B-1728B52AA6E4}">
                <adec:decorative xmlns:adec="http://schemas.microsoft.com/office/drawing/2017/decorative" val="1"/>
              </a:ext>
            </a:extLst>
          </p:cNvPr>
          <p:cNvSpPr/>
          <p:nvPr/>
        </p:nvSpPr>
        <p:spPr>
          <a:xfrm>
            <a:off x="3869482"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09" name="Rectangle 108">
            <a:extLst>
              <a:ext uri="{FF2B5EF4-FFF2-40B4-BE49-F238E27FC236}">
                <a16:creationId xmlns:a16="http://schemas.microsoft.com/office/drawing/2014/main" id="{74FAB581-20BA-6B32-C563-9B3B440663B1}"/>
              </a:ext>
              <a:ext uri="{C183D7F6-B498-43B3-948B-1728B52AA6E4}">
                <adec:decorative xmlns:adec="http://schemas.microsoft.com/office/drawing/2017/decorative" val="1"/>
              </a:ext>
            </a:extLst>
          </p:cNvPr>
          <p:cNvSpPr/>
          <p:nvPr/>
        </p:nvSpPr>
        <p:spPr>
          <a:xfrm>
            <a:off x="5334800"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Secure Data I</a:t>
            </a:r>
          </a:p>
        </p:txBody>
      </p:sp>
      <p:sp>
        <p:nvSpPr>
          <p:cNvPr id="113" name="Oval 112">
            <a:extLst>
              <a:ext uri="{FF2B5EF4-FFF2-40B4-BE49-F238E27FC236}">
                <a16:creationId xmlns:a16="http://schemas.microsoft.com/office/drawing/2014/main" id="{68F2F715-4F2B-932D-0704-A47FE850E1FE}"/>
              </a:ext>
              <a:ext uri="{C183D7F6-B498-43B3-948B-1728B52AA6E4}">
                <adec:decorative xmlns:adec="http://schemas.microsoft.com/office/drawing/2017/decorative" val="1"/>
              </a:ext>
            </a:extLst>
          </p:cNvPr>
          <p:cNvSpPr/>
          <p:nvPr/>
        </p:nvSpPr>
        <p:spPr>
          <a:xfrm>
            <a:off x="606632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16" name="Rectangle 115">
            <a:extLst>
              <a:ext uri="{FF2B5EF4-FFF2-40B4-BE49-F238E27FC236}">
                <a16:creationId xmlns:a16="http://schemas.microsoft.com/office/drawing/2014/main" id="{7D5F00FD-2A68-FD6A-5CE1-DB045120F3FE}"/>
              </a:ext>
              <a:ext uri="{C183D7F6-B498-43B3-948B-1728B52AA6E4}">
                <adec:decorative xmlns:adec="http://schemas.microsoft.com/office/drawing/2017/decorative" val="1"/>
              </a:ext>
            </a:extLst>
          </p:cNvPr>
          <p:cNvSpPr/>
          <p:nvPr/>
        </p:nvSpPr>
        <p:spPr>
          <a:xfrm>
            <a:off x="7299974" y="2006317"/>
            <a:ext cx="2367672"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Shield Endpoints</a:t>
            </a:r>
            <a:endParaRPr kumimoji="0" lang="en-US"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val 116">
            <a:extLst>
              <a:ext uri="{FF2B5EF4-FFF2-40B4-BE49-F238E27FC236}">
                <a16:creationId xmlns:a16="http://schemas.microsoft.com/office/drawing/2014/main" id="{DAC00E55-7FF0-25C3-4E81-3CEDA37A9829}"/>
              </a:ext>
              <a:ext uri="{C183D7F6-B498-43B3-948B-1728B52AA6E4}">
                <adec:decorative xmlns:adec="http://schemas.microsoft.com/office/drawing/2017/decorative" val="1"/>
              </a:ext>
            </a:extLst>
          </p:cNvPr>
          <p:cNvSpPr/>
          <p:nvPr/>
        </p:nvSpPr>
        <p:spPr>
          <a:xfrm>
            <a:off x="830093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 name="Rectangle 2">
            <a:hlinkClick r:id="rId3" action="ppaction://hlinksldjump"/>
            <a:extLst>
              <a:ext uri="{FF2B5EF4-FFF2-40B4-BE49-F238E27FC236}">
                <a16:creationId xmlns:a16="http://schemas.microsoft.com/office/drawing/2014/main" id="{D61F1673-9E9B-0924-EC39-595E41F3CD4F}"/>
              </a:ext>
              <a:ext uri="{C183D7F6-B498-43B3-948B-1728B52AA6E4}">
                <adec:decorative xmlns:adec="http://schemas.microsoft.com/office/drawing/2017/decorative" val="1"/>
              </a:ext>
            </a:extLst>
          </p:cNvPr>
          <p:cNvSpPr/>
          <p:nvPr/>
        </p:nvSpPr>
        <p:spPr bwMode="auto">
          <a:xfrm>
            <a:off x="1950290" y="3112665"/>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8661C5"/>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02: Securing Against External Threats</a:t>
            </a:r>
          </a:p>
        </p:txBody>
      </p:sp>
      <p:sp>
        <p:nvSpPr>
          <p:cNvPr id="122" name="Graphic 4">
            <a:extLst>
              <a:ext uri="{FF2B5EF4-FFF2-40B4-BE49-F238E27FC236}">
                <a16:creationId xmlns:a16="http://schemas.microsoft.com/office/drawing/2014/main" id="{197E3D5A-1923-BF99-2105-537EFEB2910C}"/>
              </a:ext>
              <a:ext uri="{C183D7F6-B498-43B3-948B-1728B52AA6E4}">
                <adec:decorative xmlns:adec="http://schemas.microsoft.com/office/drawing/2017/decorative" val="1"/>
              </a:ext>
            </a:extLst>
          </p:cNvPr>
          <p:cNvSpPr/>
          <p:nvPr/>
        </p:nvSpPr>
        <p:spPr>
          <a:xfrm rot="5400000">
            <a:off x="11315138" y="3210311"/>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3" name="Graphic 4">
            <a:extLst>
              <a:ext uri="{FF2B5EF4-FFF2-40B4-BE49-F238E27FC236}">
                <a16:creationId xmlns:a16="http://schemas.microsoft.com/office/drawing/2014/main" id="{09094EE9-A4D0-A447-D5F3-DEAFEEF924C5}"/>
              </a:ext>
              <a:ext uri="{C183D7F6-B498-43B3-948B-1728B52AA6E4}">
                <adec:decorative xmlns:adec="http://schemas.microsoft.com/office/drawing/2017/decorative" val="1"/>
              </a:ext>
            </a:extLst>
          </p:cNvPr>
          <p:cNvSpPr/>
          <p:nvPr/>
        </p:nvSpPr>
        <p:spPr>
          <a:xfrm rot="5400000">
            <a:off x="569972" y="4885664"/>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3" name="Isosceles Triangle 132">
            <a:extLst>
              <a:ext uri="{FF2B5EF4-FFF2-40B4-BE49-F238E27FC236}">
                <a16:creationId xmlns:a16="http://schemas.microsoft.com/office/drawing/2014/main" id="{453C7A0E-F28B-CC74-211D-A01CBE0868FD}"/>
              </a:ext>
              <a:ext uri="{C183D7F6-B498-43B3-948B-1728B52AA6E4}">
                <adec:decorative xmlns:adec="http://schemas.microsoft.com/office/drawing/2017/decorative" val="1"/>
              </a:ext>
            </a:extLst>
          </p:cNvPr>
          <p:cNvSpPr/>
          <p:nvPr/>
        </p:nvSpPr>
        <p:spPr>
          <a:xfrm rot="5400000">
            <a:off x="10324000" y="5808254"/>
            <a:ext cx="423079" cy="229738"/>
          </a:xfrm>
          <a:prstGeom prs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3AE25B4-1F73-42E8-172D-7B997F7AB734}"/>
              </a:ext>
              <a:ext uri="{C183D7F6-B498-43B3-948B-1728B52AA6E4}">
                <adec:decorative xmlns:adec="http://schemas.microsoft.com/office/drawing/2017/decorative" val="1"/>
              </a:ext>
            </a:extLst>
          </p:cNvPr>
          <p:cNvSpPr/>
          <p:nvPr/>
        </p:nvSpPr>
        <p:spPr>
          <a:xfrm>
            <a:off x="4300055" y="3661002"/>
            <a:ext cx="1995610"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Defend Users</a:t>
            </a:r>
          </a:p>
        </p:txBody>
      </p:sp>
      <p:sp>
        <p:nvSpPr>
          <p:cNvPr id="12" name="Oval 11">
            <a:extLst>
              <a:ext uri="{FF2B5EF4-FFF2-40B4-BE49-F238E27FC236}">
                <a16:creationId xmlns:a16="http://schemas.microsoft.com/office/drawing/2014/main" id="{910765C6-6D82-9580-8B83-4E6E9DFAC63C}"/>
              </a:ext>
              <a:ext uri="{C183D7F6-B498-43B3-948B-1728B52AA6E4}">
                <adec:decorative xmlns:adec="http://schemas.microsoft.com/office/drawing/2017/decorative" val="1"/>
              </a:ext>
            </a:extLst>
          </p:cNvPr>
          <p:cNvSpPr/>
          <p:nvPr/>
        </p:nvSpPr>
        <p:spPr>
          <a:xfrm>
            <a:off x="5012381" y="4044796"/>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3" name="Rectangle 12">
            <a:extLst>
              <a:ext uri="{FF2B5EF4-FFF2-40B4-BE49-F238E27FC236}">
                <a16:creationId xmlns:a16="http://schemas.microsoft.com/office/drawing/2014/main" id="{17FF49DF-6682-BED5-FAF1-CF83DE9F02D4}"/>
              </a:ext>
              <a:ext uri="{C183D7F6-B498-43B3-948B-1728B52AA6E4}">
                <adec:decorative xmlns:adec="http://schemas.microsoft.com/office/drawing/2017/decorative" val="1"/>
              </a:ext>
            </a:extLst>
          </p:cNvPr>
          <p:cNvSpPr/>
          <p:nvPr/>
        </p:nvSpPr>
        <p:spPr>
          <a:xfrm>
            <a:off x="6394294" y="3661002"/>
            <a:ext cx="1995611"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Protect Devices</a:t>
            </a:r>
          </a:p>
        </p:txBody>
      </p:sp>
      <p:sp>
        <p:nvSpPr>
          <p:cNvPr id="14" name="Oval 13">
            <a:extLst>
              <a:ext uri="{FF2B5EF4-FFF2-40B4-BE49-F238E27FC236}">
                <a16:creationId xmlns:a16="http://schemas.microsoft.com/office/drawing/2014/main" id="{C34BB5AC-6F08-51FE-A76C-19A0CE770B47}"/>
              </a:ext>
              <a:ext uri="{C183D7F6-B498-43B3-948B-1728B52AA6E4}">
                <adec:decorative xmlns:adec="http://schemas.microsoft.com/office/drawing/2017/decorative" val="1"/>
              </a:ext>
            </a:extLst>
          </p:cNvPr>
          <p:cNvSpPr/>
          <p:nvPr/>
        </p:nvSpPr>
        <p:spPr>
          <a:xfrm>
            <a:off x="7209219" y="4044796"/>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pic>
        <p:nvPicPr>
          <p:cNvPr id="4" name="Picture 3">
            <a:extLst>
              <a:ext uri="{FF2B5EF4-FFF2-40B4-BE49-F238E27FC236}">
                <a16:creationId xmlns:a16="http://schemas.microsoft.com/office/drawing/2014/main" id="{FC6AD617-49E3-D029-53D9-941F094BCDA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30513" y="1402143"/>
            <a:ext cx="8271613" cy="3578434"/>
          </a:xfrm>
          <a:prstGeom prst="rect">
            <a:avLst/>
          </a:prstGeom>
        </p:spPr>
      </p:pic>
      <p:cxnSp>
        <p:nvCxnSpPr>
          <p:cNvPr id="16" name="Straight Connector 15">
            <a:extLst>
              <a:ext uri="{FF2B5EF4-FFF2-40B4-BE49-F238E27FC236}">
                <a16:creationId xmlns:a16="http://schemas.microsoft.com/office/drawing/2014/main" id="{86804420-7381-C1E6-4CA3-E05EA6EB341B}"/>
              </a:ext>
              <a:ext uri="{C183D7F6-B498-43B3-948B-1728B52AA6E4}">
                <adec:decorative xmlns:adec="http://schemas.microsoft.com/office/drawing/2017/decorative" val="1"/>
              </a:ext>
            </a:extLst>
          </p:cNvPr>
          <p:cNvCxnSpPr>
            <a:cxnSpLocks/>
          </p:cNvCxnSpPr>
          <p:nvPr/>
        </p:nvCxnSpPr>
        <p:spPr>
          <a:xfrm>
            <a:off x="1443147" y="5923123"/>
            <a:ext cx="9021653"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E736548B-FDD7-4ABB-1EEA-84B08003EEFF}"/>
              </a:ext>
              <a:ext uri="{C183D7F6-B498-43B3-948B-1728B52AA6E4}">
                <adec:decorative xmlns:adec="http://schemas.microsoft.com/office/drawing/2017/decorative" val="1"/>
              </a:ext>
            </a:extLst>
          </p:cNvPr>
          <p:cNvSpPr/>
          <p:nvPr/>
        </p:nvSpPr>
        <p:spPr>
          <a:xfrm>
            <a:off x="3934295"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8" name="Rectangle 17">
            <a:extLst>
              <a:ext uri="{FF2B5EF4-FFF2-40B4-BE49-F238E27FC236}">
                <a16:creationId xmlns:a16="http://schemas.microsoft.com/office/drawing/2014/main" id="{A5DC26B2-E524-8B4C-BA6D-2DB8F1508480}"/>
              </a:ext>
              <a:ext uri="{C183D7F6-B498-43B3-948B-1728B52AA6E4}">
                <adec:decorative xmlns:adec="http://schemas.microsoft.com/office/drawing/2017/decorative" val="1"/>
              </a:ext>
            </a:extLst>
          </p:cNvPr>
          <p:cNvSpPr/>
          <p:nvPr/>
        </p:nvSpPr>
        <p:spPr bwMode="auto">
          <a:xfrm>
            <a:off x="567465"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Become Copilot Ready</a:t>
            </a:r>
          </a:p>
        </p:txBody>
      </p:sp>
      <p:sp>
        <p:nvSpPr>
          <p:cNvPr id="19" name="Oval 18">
            <a:extLst>
              <a:ext uri="{FF2B5EF4-FFF2-40B4-BE49-F238E27FC236}">
                <a16:creationId xmlns:a16="http://schemas.microsoft.com/office/drawing/2014/main" id="{ACF5FD80-1119-A83B-5D4F-CBDA88966D51}"/>
              </a:ext>
              <a:ext uri="{C183D7F6-B498-43B3-948B-1728B52AA6E4}">
                <adec:decorative xmlns:adec="http://schemas.microsoft.com/office/drawing/2017/decorative" val="1"/>
              </a:ext>
            </a:extLst>
          </p:cNvPr>
          <p:cNvSpPr/>
          <p:nvPr/>
        </p:nvSpPr>
        <p:spPr>
          <a:xfrm>
            <a:off x="7950714"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0" name="Rectangle 19">
            <a:extLst>
              <a:ext uri="{FF2B5EF4-FFF2-40B4-BE49-F238E27FC236}">
                <a16:creationId xmlns:a16="http://schemas.microsoft.com/office/drawing/2014/main" id="{69F7E8F6-8217-3314-45D1-5E0E6EDD298C}"/>
              </a:ext>
              <a:ext uri="{C183D7F6-B498-43B3-948B-1728B52AA6E4}">
                <adec:decorative xmlns:adec="http://schemas.microsoft.com/office/drawing/2017/decorative" val="1"/>
              </a:ext>
            </a:extLst>
          </p:cNvPr>
          <p:cNvSpPr/>
          <p:nvPr/>
        </p:nvSpPr>
        <p:spPr bwMode="auto">
          <a:xfrm>
            <a:off x="4583884"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BE"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Handling Oversharing</a:t>
            </a:r>
            <a:endPar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endParaRPr>
          </a:p>
        </p:txBody>
      </p:sp>
    </p:spTree>
    <p:extLst>
      <p:ext uri="{BB962C8B-B14F-4D97-AF65-F5344CB8AC3E}">
        <p14:creationId xmlns:p14="http://schemas.microsoft.com/office/powerpoint/2010/main" val="3523755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A5C4-F395-1331-706D-43E5118942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937CEC-48F2-26A1-1DD2-5D981F8A25E1}"/>
              </a:ext>
              <a:ext uri="{C183D7F6-B498-43B3-948B-1728B52AA6E4}">
                <adec:decorative xmlns:adec="http://schemas.microsoft.com/office/drawing/2017/decorative" val="1"/>
              </a:ext>
            </a:extLst>
          </p:cNvPr>
          <p:cNvSpPr/>
          <p:nvPr/>
        </p:nvSpPr>
        <p:spPr bwMode="auto">
          <a:xfrm>
            <a:off x="0" y="6387864"/>
            <a:ext cx="12192000" cy="470136"/>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1" name="Title 25">
            <a:extLst>
              <a:ext uri="{FF2B5EF4-FFF2-40B4-BE49-F238E27FC236}">
                <a16:creationId xmlns:a16="http://schemas.microsoft.com/office/drawing/2014/main" id="{B5D32E60-55C4-3290-0758-3B08DF8ECFF7}"/>
              </a:ext>
            </a:extLst>
          </p:cNvPr>
          <p:cNvSpPr txBox="1">
            <a:spLocks noGrp="1"/>
          </p:cNvSpPr>
          <p:nvPr>
            <p:ph type="title"/>
          </p:nvPr>
        </p:nvSpPr>
        <p:spPr>
          <a:xfrm>
            <a:off x="574816" y="510988"/>
            <a:ext cx="11018520" cy="70788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BE"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Deploy Copilot</a:t>
            </a:r>
            <a:br>
              <a:rPr kumimoji="0" lang="en-US"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br>
            <a:r>
              <a:rPr kumimoji="0" lang="en-BE" sz="18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Blueprint and tools to deploy Copilot with your customers</a:t>
            </a:r>
            <a:endParaRPr kumimoji="0" lang="en-US" sz="1800" b="0" i="0" u="none" strike="noStrike" kern="1200" cap="none" spc="-50" normalizeH="0" baseline="0" noProof="0" dirty="0">
              <a:ln w="3175">
                <a:noFill/>
              </a:ln>
              <a:solidFill>
                <a:srgbClr val="000000"/>
              </a:solidFill>
              <a:effectLst/>
              <a:uLnTx/>
              <a:uFillTx/>
              <a:latin typeface="Segoe UI Semibold"/>
              <a:ea typeface="+mn-ea"/>
              <a:cs typeface="Segoe UI" pitchFamily="34" charset="0"/>
            </a:endParaRPr>
          </a:p>
        </p:txBody>
      </p:sp>
      <p:grpSp>
        <p:nvGrpSpPr>
          <p:cNvPr id="11" name="Group 10">
            <a:extLst>
              <a:ext uri="{FF2B5EF4-FFF2-40B4-BE49-F238E27FC236}">
                <a16:creationId xmlns:a16="http://schemas.microsoft.com/office/drawing/2014/main" id="{B9439ADD-4EEF-1CD3-48B1-64A5F076B05E}"/>
              </a:ext>
              <a:ext uri="{C183D7F6-B498-43B3-948B-1728B52AA6E4}">
                <adec:decorative xmlns:adec="http://schemas.microsoft.com/office/drawing/2017/decorative" val="1"/>
              </a:ext>
            </a:extLst>
          </p:cNvPr>
          <p:cNvGrpSpPr/>
          <p:nvPr/>
        </p:nvGrpSpPr>
        <p:grpSpPr>
          <a:xfrm>
            <a:off x="0" y="1684421"/>
            <a:ext cx="12192000" cy="2719138"/>
            <a:chOff x="0" y="1684421"/>
            <a:chExt cx="12192000" cy="2719138"/>
          </a:xfrm>
        </p:grpSpPr>
        <p:sp>
          <p:nvSpPr>
            <p:cNvPr id="18" name="Rectangle 17">
              <a:extLst>
                <a:ext uri="{FF2B5EF4-FFF2-40B4-BE49-F238E27FC236}">
                  <a16:creationId xmlns:a16="http://schemas.microsoft.com/office/drawing/2014/main" id="{00853BCE-6A97-A547-39B4-CA93B07B08F7}"/>
                </a:ext>
              </a:extLst>
            </p:cNvPr>
            <p:cNvSpPr/>
            <p:nvPr/>
          </p:nvSpPr>
          <p:spPr bwMode="auto">
            <a:xfrm>
              <a:off x="0" y="1684421"/>
              <a:ext cx="12192000" cy="2719138"/>
            </a:xfrm>
            <a:prstGeom prst="rect">
              <a:avLst/>
            </a:prstGeom>
            <a:solidFill>
              <a:srgbClr val="F2F2F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8661C5"/>
                </a:solidFill>
                <a:effectLst/>
                <a:uLnTx/>
                <a:uFillTx/>
                <a:latin typeface="Calibri" panose="020F0502020204030204"/>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112BA320-3B35-B377-5C11-7CBFF51B2D12}"/>
                </a:ext>
              </a:extLst>
            </p:cNvPr>
            <p:cNvCxnSpPr/>
            <p:nvPr/>
          </p:nvCxnSpPr>
          <p:spPr>
            <a:xfrm>
              <a:off x="0" y="3417293"/>
              <a:ext cx="11092852"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A87ACBC2-1535-A17E-0B32-4ED848F7AFAB}"/>
                </a:ext>
              </a:extLst>
            </p:cNvPr>
            <p:cNvSpPr/>
            <p:nvPr/>
          </p:nvSpPr>
          <p:spPr>
            <a:xfrm rot="5400000">
              <a:off x="10996181" y="3301781"/>
              <a:ext cx="423079" cy="229738"/>
            </a:xfrm>
            <a:prstGeom prs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 name="Oval 21">
            <a:extLst>
              <a:ext uri="{FF2B5EF4-FFF2-40B4-BE49-F238E27FC236}">
                <a16:creationId xmlns:a16="http://schemas.microsoft.com/office/drawing/2014/main" id="{D3C8E03F-020B-50E4-8360-875C75DED5B2}"/>
              </a:ext>
              <a:ext uri="{C183D7F6-B498-43B3-948B-1728B52AA6E4}">
                <adec:decorative xmlns:adec="http://schemas.microsoft.com/office/drawing/2017/decorative" val="1"/>
              </a:ext>
            </a:extLst>
          </p:cNvPr>
          <p:cNvSpPr/>
          <p:nvPr/>
        </p:nvSpPr>
        <p:spPr>
          <a:xfrm>
            <a:off x="5546426" y="3233770"/>
            <a:ext cx="365760" cy="365760"/>
          </a:xfrm>
          <a:prstGeom prst="ellipse">
            <a:avLst/>
          </a:prstGeom>
          <a:gradFill>
            <a:gsLst>
              <a:gs pos="0">
                <a:schemeClr val="tx1"/>
              </a:gs>
              <a:gs pos="100000">
                <a:srgbClr val="9900FF"/>
              </a:gs>
            </a:gsLst>
            <a:lin ang="2700000" scaled="1"/>
          </a:gradFill>
          <a:ln w="28575">
            <a:solidFill>
              <a:schemeClr val="bg1"/>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b="1">
              <a:solidFill>
                <a:srgbClr val="FFFFFF"/>
              </a:solidFill>
              <a:latin typeface="Segoe UI"/>
              <a:cs typeface="Segoe UI" pitchFamily="34" charset="0"/>
            </a:endParaRPr>
          </a:p>
        </p:txBody>
      </p:sp>
      <p:sp>
        <p:nvSpPr>
          <p:cNvPr id="4" name="Rectangle 3">
            <a:extLst>
              <a:ext uri="{FF2B5EF4-FFF2-40B4-BE49-F238E27FC236}">
                <a16:creationId xmlns:a16="http://schemas.microsoft.com/office/drawing/2014/main" id="{20EF769F-86CB-E1CF-0EB1-3375B36BE466}"/>
              </a:ext>
            </a:extLst>
          </p:cNvPr>
          <p:cNvSpPr/>
          <p:nvPr/>
        </p:nvSpPr>
        <p:spPr>
          <a:xfrm>
            <a:off x="4259232" y="2261319"/>
            <a:ext cx="2940147" cy="880690"/>
          </a:xfrm>
          <a:prstGeom prst="rect">
            <a:avLst/>
          </a:prstGeom>
        </p:spPr>
        <p:txBody>
          <a:bodyPr wrap="square" anchor="b">
            <a:spAutoFit/>
          </a:bodyPr>
          <a:lstStyle/>
          <a:p>
            <a:pPr marL="0" marR="0" lvl="0" indent="0" algn="ctr" defTabSz="932418" rtl="0" eaLnBrk="1" fontAlgn="auto" latinLnBrk="0" hangingPunct="1">
              <a:lnSpc>
                <a:spcPct val="110000"/>
              </a:lnSpc>
              <a:spcBef>
                <a:spcPts val="0"/>
              </a:spcBef>
              <a:spcAft>
                <a:spcPts val="0"/>
              </a:spcAft>
              <a:buClrTx/>
              <a:buSzTx/>
              <a:buFontTx/>
              <a:buNone/>
              <a:tabLst/>
              <a:defRPr/>
            </a:pPr>
            <a:r>
              <a:rPr lang="en-BE" sz="1600">
                <a:solidFill>
                  <a:srgbClr val="9900FF"/>
                </a:solidFill>
                <a:latin typeface="Segoe UI Semibold" panose="020B0702040204020203" pitchFamily="34" charset="0"/>
                <a:cs typeface="Segoe UI Semibold" panose="020B0702040204020203" pitchFamily="34" charset="0"/>
              </a:rPr>
              <a:t>Become Copilot Ready</a:t>
            </a:r>
            <a:r>
              <a:rPr lang="en-US" sz="1600">
                <a:solidFill>
                  <a:srgbClr val="9900FF"/>
                </a:solidFill>
                <a:latin typeface="Segoe UI Semibold" panose="020B0702040204020203" pitchFamily="34" charset="0"/>
                <a:cs typeface="Segoe UI Semibold" panose="020B0702040204020203" pitchFamily="34" charset="0"/>
              </a:rPr>
              <a:t> </a:t>
            </a:r>
            <a:br>
              <a:rPr kumimoji="0" lang="en-US" sz="1600" b="0" i="0" u="none" strike="noStrike" kern="1200" cap="none" spc="0" normalizeH="0" baseline="0" noProof="0">
                <a:ln>
                  <a:noFill/>
                </a:ln>
                <a:solidFill>
                  <a:schemeClr val="bg2">
                    <a:lumMod val="90000"/>
                  </a:schemeClr>
                </a:solidFill>
                <a:effectLst/>
                <a:highlight>
                  <a:srgbClr val="F2F2F2"/>
                </a:highlight>
                <a:uLnTx/>
                <a:uFillTx/>
                <a:latin typeface="Segoe UI Semibold" panose="020B0702040204020203" pitchFamily="34" charset="0"/>
                <a:ea typeface="+mn-ea"/>
                <a:cs typeface="Segoe UI Semibold" panose="020B0702040204020203" pitchFamily="34" charset="0"/>
              </a:rPr>
            </a:br>
            <a:r>
              <a:rPr lang="en-BE" sz="1600">
                <a:solidFill>
                  <a:srgbClr val="505050"/>
                </a:solidFill>
                <a:latin typeface="Segoe Sans Display" pitchFamily="2" charset="0"/>
                <a:cs typeface="Segoe Sans Display" pitchFamily="2" charset="0"/>
              </a:rPr>
              <a:t>Tools and guidance to implement Microsoft Security</a:t>
            </a:r>
            <a:endParaRPr lang="en-US" sz="1600">
              <a:solidFill>
                <a:srgbClr val="505050"/>
              </a:solidFill>
              <a:latin typeface="Segoe Sans Display" pitchFamily="2" charset="0"/>
              <a:cs typeface="Segoe Sans Display" pitchFamily="2" charset="0"/>
            </a:endParaRPr>
          </a:p>
        </p:txBody>
      </p:sp>
      <p:sp>
        <p:nvSpPr>
          <p:cNvPr id="19" name="TextBox 18">
            <a:extLst>
              <a:ext uri="{FF2B5EF4-FFF2-40B4-BE49-F238E27FC236}">
                <a16:creationId xmlns:a16="http://schemas.microsoft.com/office/drawing/2014/main" id="{CC63FEF3-F661-496C-5224-55C713F7DFEA}"/>
              </a:ext>
            </a:extLst>
          </p:cNvPr>
          <p:cNvSpPr txBox="1"/>
          <p:nvPr/>
        </p:nvSpPr>
        <p:spPr>
          <a:xfrm>
            <a:off x="1615451" y="4890903"/>
            <a:ext cx="4091622" cy="883640"/>
          </a:xfrm>
          <a:prstGeom prst="rect">
            <a:avLst/>
          </a:prstGeom>
          <a:noFill/>
        </p:spPr>
        <p:txBody>
          <a:bodyPr wrap="square" anchor="ctr">
            <a:spAutoFit/>
          </a:bodyPr>
          <a:lstStyle/>
          <a:p>
            <a:pPr marL="0" marR="0" lvl="0" indent="0" algn="ctr" defTabSz="914102" rtl="0" eaLnBrk="1" fontAlgn="base" latinLnBrk="0" hangingPunct="1">
              <a:lnSpc>
                <a:spcPct val="110000"/>
              </a:lnSpc>
              <a:spcBef>
                <a:spcPts val="0"/>
              </a:spcBef>
              <a:spcAft>
                <a:spcPct val="0"/>
              </a:spcAft>
              <a:buClrTx/>
              <a:buSzTx/>
              <a:buFontTx/>
              <a:buNone/>
              <a:tabLst/>
              <a:defRPr/>
            </a:pPr>
            <a:r>
              <a:rPr kumimoji="0" lang="en-US" sz="1600" b="0" i="1" u="none" strike="noStrike" kern="0" cap="none" spc="0" normalizeH="0" baseline="0" noProof="0">
                <a:ln>
                  <a:noFill/>
                </a:ln>
                <a:solidFill>
                  <a:schemeClr val="accent2"/>
                </a:solidFill>
                <a:effectLst/>
                <a:uLnTx/>
                <a:uFillTx/>
                <a:latin typeface="Segoe UI Semibold" panose="020B0702040204020203" pitchFamily="34" charset="0"/>
                <a:ea typeface="+mn-ea"/>
                <a:cs typeface="Segoe UI Semibold" panose="020B0702040204020203" pitchFamily="34" charset="0"/>
              </a:rPr>
              <a:t>"External threats are becoming more sophisticated, targeting not just users but entire systems and infrastructures."</a:t>
            </a:r>
            <a:endParaRPr lang="en-US" sz="1600" i="1">
              <a:solidFill>
                <a:schemeClr val="accent2"/>
              </a:solidFill>
              <a:latin typeface="Segoe UI"/>
            </a:endParaRPr>
          </a:p>
        </p:txBody>
      </p:sp>
      <p:cxnSp>
        <p:nvCxnSpPr>
          <p:cNvPr id="25" name="Straight Connector 24">
            <a:extLst>
              <a:ext uri="{FF2B5EF4-FFF2-40B4-BE49-F238E27FC236}">
                <a16:creationId xmlns:a16="http://schemas.microsoft.com/office/drawing/2014/main" id="{9A4A91C5-5C24-6D8C-F9D6-BDC436213ADB}"/>
              </a:ext>
              <a:ext uri="{C183D7F6-B498-43B3-948B-1728B52AA6E4}">
                <adec:decorative xmlns:adec="http://schemas.microsoft.com/office/drawing/2017/decorative" val="1"/>
              </a:ext>
            </a:extLst>
          </p:cNvPr>
          <p:cNvCxnSpPr>
            <a:cxnSpLocks/>
          </p:cNvCxnSpPr>
          <p:nvPr/>
        </p:nvCxnSpPr>
        <p:spPr>
          <a:xfrm>
            <a:off x="6096000" y="5016880"/>
            <a:ext cx="0" cy="6316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7034172-6504-03FF-624D-5160CCEA381A}"/>
              </a:ext>
            </a:extLst>
          </p:cNvPr>
          <p:cNvSpPr txBox="1"/>
          <p:nvPr/>
        </p:nvSpPr>
        <p:spPr>
          <a:xfrm>
            <a:off x="6484928" y="4755483"/>
            <a:ext cx="3331027" cy="1154483"/>
          </a:xfrm>
          <a:prstGeom prst="rect">
            <a:avLst/>
          </a:prstGeom>
          <a:noFill/>
        </p:spPr>
        <p:txBody>
          <a:bodyPr wrap="square" anchor="ctr">
            <a:spAutoFit/>
          </a:bodyPr>
          <a:lstStyle/>
          <a:p>
            <a:pPr marL="0" marR="0" lvl="0" indent="0" algn="ctr" defTabSz="914102" rtl="0" eaLnBrk="1" fontAlgn="base" latinLnBrk="0" hangingPunct="1">
              <a:lnSpc>
                <a:spcPct val="110000"/>
              </a:lnSpc>
              <a:spcBef>
                <a:spcPts val="0"/>
              </a:spcBef>
              <a:spcAft>
                <a:spcPct val="0"/>
              </a:spcAft>
              <a:buClrTx/>
              <a:buSzTx/>
              <a:buFontTx/>
              <a:buNone/>
              <a:tabLst/>
              <a:defRPr/>
            </a:pPr>
            <a:r>
              <a:rPr kumimoji="0" lang="en-US" sz="1600" b="0" i="1" u="none" strike="noStrike" kern="0" cap="none" spc="0" normalizeH="0" baseline="0" noProof="0">
                <a:ln>
                  <a:noFill/>
                </a:ln>
                <a:solidFill>
                  <a:schemeClr val="accent1">
                    <a:lumMod val="50000"/>
                  </a:schemeClr>
                </a:solidFill>
                <a:effectLst/>
                <a:uLnTx/>
                <a:uFillTx/>
                <a:latin typeface="Segoe UI Semibold" panose="020B0702040204020203" pitchFamily="34" charset="0"/>
                <a:ea typeface="+mn-ea"/>
                <a:cs typeface="Segoe UI Semibold" panose="020B0702040204020203" pitchFamily="34" charset="0"/>
              </a:rPr>
              <a:t>"With comprehensive external protection, organizations can confidently adopt AI-driven tools and foster collaboration."</a:t>
            </a:r>
            <a:endParaRPr kumimoji="0" lang="en-US" sz="1600" b="0" i="1" u="none" strike="noStrike" kern="0" cap="none" spc="0" normalizeH="0" baseline="30000" noProof="0">
              <a:ln>
                <a:noFill/>
              </a:ln>
              <a:solidFill>
                <a:schemeClr val="accent1">
                  <a:lumMod val="50000"/>
                </a:schemeClr>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181207829"/>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rc 71">
            <a:extLst>
              <a:ext uri="{FF2B5EF4-FFF2-40B4-BE49-F238E27FC236}">
                <a16:creationId xmlns:a16="http://schemas.microsoft.com/office/drawing/2014/main" id="{3CD54B6A-2012-C177-4AC1-1A6D5060287F}"/>
              </a:ext>
              <a:ext uri="{C183D7F6-B498-43B3-948B-1728B52AA6E4}">
                <adec:decorative xmlns:adec="http://schemas.microsoft.com/office/drawing/2017/decorative" val="1"/>
              </a:ext>
            </a:extLst>
          </p:cNvPr>
          <p:cNvSpPr/>
          <p:nvPr/>
        </p:nvSpPr>
        <p:spPr>
          <a:xfrm flipH="1">
            <a:off x="717782" y="4246721"/>
            <a:ext cx="1466574" cy="1676402"/>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9679AA5A-D50F-7327-8F58-BA12F49C4F64}"/>
              </a:ext>
              <a:ext uri="{C183D7F6-B498-43B3-948B-1728B52AA6E4}">
                <adec:decorative xmlns:adec="http://schemas.microsoft.com/office/drawing/2017/decorative" val="1"/>
              </a:ext>
            </a:extLst>
          </p:cNvPr>
          <p:cNvSpPr/>
          <p:nvPr/>
        </p:nvSpPr>
        <p:spPr bwMode="auto">
          <a:xfrm>
            <a:off x="1958281" y="1757297"/>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76" name="Rectangle 75">
            <a:extLst>
              <a:ext uri="{FF2B5EF4-FFF2-40B4-BE49-F238E27FC236}">
                <a16:creationId xmlns:a16="http://schemas.microsoft.com/office/drawing/2014/main" id="{F7323E43-4F09-DC8C-EF04-52E5F59FA1EC}"/>
              </a:ext>
              <a:ext uri="{C183D7F6-B498-43B3-948B-1728B52AA6E4}">
                <adec:decorative xmlns:adec="http://schemas.microsoft.com/office/drawing/2017/decorative" val="1"/>
              </a:ext>
            </a:extLst>
          </p:cNvPr>
          <p:cNvSpPr/>
          <p:nvPr/>
        </p:nvSpPr>
        <p:spPr bwMode="auto">
          <a:xfrm>
            <a:off x="1958281" y="3423093"/>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2" name="Rectangle 81">
            <a:extLst>
              <a:ext uri="{FF2B5EF4-FFF2-40B4-BE49-F238E27FC236}">
                <a16:creationId xmlns:a16="http://schemas.microsoft.com/office/drawing/2014/main" id="{F6B8AEAB-C2A1-2AEC-C948-351DCFD33364}"/>
              </a:ext>
              <a:ext uri="{C183D7F6-B498-43B3-948B-1728B52AA6E4}">
                <adec:decorative xmlns:adec="http://schemas.microsoft.com/office/drawing/2017/decorative" val="1"/>
              </a:ext>
            </a:extLst>
          </p:cNvPr>
          <p:cNvSpPr/>
          <p:nvPr/>
        </p:nvSpPr>
        <p:spPr bwMode="auto">
          <a:xfrm>
            <a:off x="1958281" y="5114990"/>
            <a:ext cx="8263622" cy="1165130"/>
          </a:xfrm>
          <a:prstGeom prst="rect">
            <a:avLst/>
          </a:prstGeom>
          <a:solidFill>
            <a:schemeClr val="bg1">
              <a:lumMod val="9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88" name="Arc 87">
            <a:extLst>
              <a:ext uri="{FF2B5EF4-FFF2-40B4-BE49-F238E27FC236}">
                <a16:creationId xmlns:a16="http://schemas.microsoft.com/office/drawing/2014/main" id="{6156B84A-1604-665D-3F03-F59C54A1BE69}"/>
              </a:ext>
              <a:ext uri="{C183D7F6-B498-43B3-948B-1728B52AA6E4}">
                <adec:decorative xmlns:adec="http://schemas.microsoft.com/office/drawing/2017/decorative" val="1"/>
              </a:ext>
            </a:extLst>
          </p:cNvPr>
          <p:cNvSpPr/>
          <p:nvPr/>
        </p:nvSpPr>
        <p:spPr>
          <a:xfrm>
            <a:off x="9989848" y="2584068"/>
            <a:ext cx="1466574" cy="1662653"/>
          </a:xfrm>
          <a:prstGeom prst="arc">
            <a:avLst>
              <a:gd name="adj1" fmla="val 16152225"/>
              <a:gd name="adj2" fmla="val 5479984"/>
            </a:avLst>
          </a:prstGeom>
          <a:ln w="153670">
            <a:solidFill>
              <a:srgbClr val="D0CEC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5" name="Straight Connector 94">
            <a:extLst>
              <a:ext uri="{FF2B5EF4-FFF2-40B4-BE49-F238E27FC236}">
                <a16:creationId xmlns:a16="http://schemas.microsoft.com/office/drawing/2014/main" id="{A95B6E09-9160-2C6C-E97A-FA3FA9347566}"/>
              </a:ext>
              <a:ext uri="{C183D7F6-B498-43B3-948B-1728B52AA6E4}">
                <adec:decorative xmlns:adec="http://schemas.microsoft.com/office/drawing/2017/decorative" val="1"/>
              </a:ext>
            </a:extLst>
          </p:cNvPr>
          <p:cNvCxnSpPr>
            <a:cxnSpLocks/>
          </p:cNvCxnSpPr>
          <p:nvPr/>
        </p:nvCxnSpPr>
        <p:spPr>
          <a:xfrm>
            <a:off x="584200" y="2583268"/>
            <a:ext cx="1013409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EB94CF0-1008-BDE8-06EA-7C15F7E0CC24}"/>
              </a:ext>
              <a:ext uri="{C183D7F6-B498-43B3-948B-1728B52AA6E4}">
                <adec:decorative xmlns:adec="http://schemas.microsoft.com/office/drawing/2017/decorative" val="1"/>
              </a:ext>
            </a:extLst>
          </p:cNvPr>
          <p:cNvCxnSpPr>
            <a:cxnSpLocks/>
          </p:cNvCxnSpPr>
          <p:nvPr/>
        </p:nvCxnSpPr>
        <p:spPr>
          <a:xfrm>
            <a:off x="1457670" y="4247958"/>
            <a:ext cx="9260624"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F0D3CE6-5EF5-78C4-9E45-67834BE8096F}"/>
              </a:ext>
              <a:ext uri="{C183D7F6-B498-43B3-948B-1728B52AA6E4}">
                <adec:decorative xmlns:adec="http://schemas.microsoft.com/office/drawing/2017/decorative" val="1"/>
              </a:ext>
            </a:extLst>
          </p:cNvPr>
          <p:cNvCxnSpPr>
            <a:cxnSpLocks/>
          </p:cNvCxnSpPr>
          <p:nvPr/>
        </p:nvCxnSpPr>
        <p:spPr>
          <a:xfrm>
            <a:off x="1457670" y="5923123"/>
            <a:ext cx="9021653"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5" name="Title 25">
            <a:extLst>
              <a:ext uri="{FF2B5EF4-FFF2-40B4-BE49-F238E27FC236}">
                <a16:creationId xmlns:a16="http://schemas.microsoft.com/office/drawing/2014/main" id="{E670BCD3-F69F-B459-60C5-05CDFC90A0E9}"/>
              </a:ext>
            </a:extLst>
          </p:cNvPr>
          <p:cNvSpPr txBox="1">
            <a:spLocks noGrp="1"/>
          </p:cNvSpPr>
          <p:nvPr>
            <p:ph type="title"/>
          </p:nvPr>
        </p:nvSpPr>
        <p:spPr>
          <a:xfrm>
            <a:off x="473963" y="353161"/>
            <a:ext cx="11018520"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Microsoft 365 Security Features BP, E3, &amp; Add-ons</a:t>
            </a:r>
            <a:br>
              <a:rPr kumimoji="0" lang="en-US" sz="18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br>
            <a:r>
              <a:rPr kumimoji="0" lang="en-US" sz="32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Building a Secure Foundation for Microsoft Copilot   </a:t>
            </a:r>
          </a:p>
        </p:txBody>
      </p:sp>
      <p:sp>
        <p:nvSpPr>
          <p:cNvPr id="2" name="Rectangle 1">
            <a:hlinkClick r:id="rId3" action="ppaction://hlinksldjump"/>
            <a:extLst>
              <a:ext uri="{FF2B5EF4-FFF2-40B4-BE49-F238E27FC236}">
                <a16:creationId xmlns:a16="http://schemas.microsoft.com/office/drawing/2014/main" id="{59AF1AD2-C1A3-72F5-1004-02A0521B4965}"/>
              </a:ext>
              <a:ext uri="{C183D7F6-B498-43B3-948B-1728B52AA6E4}">
                <adec:decorative xmlns:adec="http://schemas.microsoft.com/office/drawing/2017/decorative" val="1"/>
              </a:ext>
            </a:extLst>
          </p:cNvPr>
          <p:cNvSpPr/>
          <p:nvPr/>
        </p:nvSpPr>
        <p:spPr bwMode="auto">
          <a:xfrm>
            <a:off x="1950290" y="1440212"/>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01: Securing Against Internal Threats</a:t>
            </a:r>
          </a:p>
        </p:txBody>
      </p:sp>
      <p:sp>
        <p:nvSpPr>
          <p:cNvPr id="107" name="Rectangle 106">
            <a:extLst>
              <a:ext uri="{FF2B5EF4-FFF2-40B4-BE49-F238E27FC236}">
                <a16:creationId xmlns:a16="http://schemas.microsoft.com/office/drawing/2014/main" id="{97B86BD9-CF08-52A5-820D-D24D0DF0C02D}"/>
              </a:ext>
              <a:ext uri="{C183D7F6-B498-43B3-948B-1728B52AA6E4}">
                <adec:decorative xmlns:adec="http://schemas.microsoft.com/office/drawing/2017/decorative" val="1"/>
              </a:ext>
            </a:extLst>
          </p:cNvPr>
          <p:cNvSpPr/>
          <p:nvPr/>
        </p:nvSpPr>
        <p:spPr>
          <a:xfrm>
            <a:off x="3137962"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Fortify Access</a:t>
            </a:r>
          </a:p>
        </p:txBody>
      </p:sp>
      <p:sp>
        <p:nvSpPr>
          <p:cNvPr id="108" name="Oval 107">
            <a:extLst>
              <a:ext uri="{FF2B5EF4-FFF2-40B4-BE49-F238E27FC236}">
                <a16:creationId xmlns:a16="http://schemas.microsoft.com/office/drawing/2014/main" id="{AF9310C5-4168-E0BD-E292-1C924AB71F0D}"/>
              </a:ext>
              <a:ext uri="{C183D7F6-B498-43B3-948B-1728B52AA6E4}">
                <adec:decorative xmlns:adec="http://schemas.microsoft.com/office/drawing/2017/decorative" val="1"/>
              </a:ext>
            </a:extLst>
          </p:cNvPr>
          <p:cNvSpPr/>
          <p:nvPr/>
        </p:nvSpPr>
        <p:spPr>
          <a:xfrm>
            <a:off x="3869482"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09" name="Rectangle 108">
            <a:extLst>
              <a:ext uri="{FF2B5EF4-FFF2-40B4-BE49-F238E27FC236}">
                <a16:creationId xmlns:a16="http://schemas.microsoft.com/office/drawing/2014/main" id="{6D20FE4B-608B-2F1A-BE5B-3AB0E6C89F60}"/>
              </a:ext>
              <a:ext uri="{C183D7F6-B498-43B3-948B-1728B52AA6E4}">
                <adec:decorative xmlns:adec="http://schemas.microsoft.com/office/drawing/2017/decorative" val="1"/>
              </a:ext>
            </a:extLst>
          </p:cNvPr>
          <p:cNvSpPr/>
          <p:nvPr/>
        </p:nvSpPr>
        <p:spPr>
          <a:xfrm>
            <a:off x="5334800" y="2006317"/>
            <a:ext cx="1828800"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Secure Data I </a:t>
            </a:r>
          </a:p>
        </p:txBody>
      </p:sp>
      <p:sp>
        <p:nvSpPr>
          <p:cNvPr id="113" name="Oval 112">
            <a:extLst>
              <a:ext uri="{FF2B5EF4-FFF2-40B4-BE49-F238E27FC236}">
                <a16:creationId xmlns:a16="http://schemas.microsoft.com/office/drawing/2014/main" id="{5D6520A2-E1B6-0244-5E40-420A7CAC44EC}"/>
              </a:ext>
              <a:ext uri="{C183D7F6-B498-43B3-948B-1728B52AA6E4}">
                <adec:decorative xmlns:adec="http://schemas.microsoft.com/office/drawing/2017/decorative" val="1"/>
              </a:ext>
            </a:extLst>
          </p:cNvPr>
          <p:cNvSpPr/>
          <p:nvPr/>
        </p:nvSpPr>
        <p:spPr>
          <a:xfrm>
            <a:off x="606632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16" name="Rectangle 115">
            <a:extLst>
              <a:ext uri="{FF2B5EF4-FFF2-40B4-BE49-F238E27FC236}">
                <a16:creationId xmlns:a16="http://schemas.microsoft.com/office/drawing/2014/main" id="{32F0735F-891F-A815-2EF6-EEB662D22D86}"/>
              </a:ext>
              <a:ext uri="{C183D7F6-B498-43B3-948B-1728B52AA6E4}">
                <adec:decorative xmlns:adec="http://schemas.microsoft.com/office/drawing/2017/decorative" val="1"/>
              </a:ext>
            </a:extLst>
          </p:cNvPr>
          <p:cNvSpPr/>
          <p:nvPr/>
        </p:nvSpPr>
        <p:spPr>
          <a:xfrm>
            <a:off x="7299974" y="2006317"/>
            <a:ext cx="2367672" cy="307777"/>
          </a:xfrm>
          <a:prstGeom prst="rect">
            <a:avLst/>
          </a:prstGeom>
        </p:spPr>
        <p:txBody>
          <a:bodyPr wrap="square" lIns="91440" tIns="45720" rIns="91440" bIns="45720"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a:ea typeface="+mn-ea"/>
                <a:cs typeface="Segoe UI Semibold"/>
              </a:rPr>
              <a:t>Shield Endpoints</a:t>
            </a:r>
            <a:endParaRPr kumimoji="0" lang="en-US"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val 116">
            <a:extLst>
              <a:ext uri="{FF2B5EF4-FFF2-40B4-BE49-F238E27FC236}">
                <a16:creationId xmlns:a16="http://schemas.microsoft.com/office/drawing/2014/main" id="{93CDD796-8482-EE94-5B52-ACFC6D15F6C5}"/>
              </a:ext>
              <a:ext uri="{C183D7F6-B498-43B3-948B-1728B52AA6E4}">
                <adec:decorative xmlns:adec="http://schemas.microsoft.com/office/drawing/2017/decorative" val="1"/>
              </a:ext>
            </a:extLst>
          </p:cNvPr>
          <p:cNvSpPr/>
          <p:nvPr/>
        </p:nvSpPr>
        <p:spPr>
          <a:xfrm>
            <a:off x="8300930" y="2390111"/>
            <a:ext cx="365760" cy="365760"/>
          </a:xfrm>
          <a:prstGeom prst="ellipse">
            <a:avLst/>
          </a:prstGeom>
          <a:solidFill>
            <a:srgbClr val="0078D4"/>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 name="Rectangle 2">
            <a:hlinkClick r:id="rId4" action="ppaction://hlinksldjump"/>
            <a:extLst>
              <a:ext uri="{FF2B5EF4-FFF2-40B4-BE49-F238E27FC236}">
                <a16:creationId xmlns:a16="http://schemas.microsoft.com/office/drawing/2014/main" id="{2AFEAA07-0A9C-804B-F777-FAAC70EA2E53}"/>
              </a:ext>
              <a:ext uri="{C183D7F6-B498-43B3-948B-1728B52AA6E4}">
                <adec:decorative xmlns:adec="http://schemas.microsoft.com/office/drawing/2017/decorative" val="1"/>
              </a:ext>
            </a:extLst>
          </p:cNvPr>
          <p:cNvSpPr/>
          <p:nvPr/>
        </p:nvSpPr>
        <p:spPr bwMode="auto">
          <a:xfrm>
            <a:off x="1950290" y="3112665"/>
            <a:ext cx="4480560" cy="29238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8661C5"/>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Day 02: Securing Against External Threats</a:t>
            </a:r>
          </a:p>
        </p:txBody>
      </p:sp>
      <p:sp>
        <p:nvSpPr>
          <p:cNvPr id="127" name="Rectangle 126">
            <a:extLst>
              <a:ext uri="{FF2B5EF4-FFF2-40B4-BE49-F238E27FC236}">
                <a16:creationId xmlns:a16="http://schemas.microsoft.com/office/drawing/2014/main" id="{9D0B7447-8E52-C16F-0D03-C305353EA50E}"/>
              </a:ext>
              <a:ext uri="{C183D7F6-B498-43B3-948B-1728B52AA6E4}">
                <adec:decorative xmlns:adec="http://schemas.microsoft.com/office/drawing/2017/decorative" val="1"/>
              </a:ext>
            </a:extLst>
          </p:cNvPr>
          <p:cNvSpPr/>
          <p:nvPr/>
        </p:nvSpPr>
        <p:spPr>
          <a:xfrm>
            <a:off x="3157156" y="3678167"/>
            <a:ext cx="1995610"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Protect Devices</a:t>
            </a:r>
          </a:p>
        </p:txBody>
      </p:sp>
      <p:sp>
        <p:nvSpPr>
          <p:cNvPr id="122" name="Graphic 4">
            <a:extLst>
              <a:ext uri="{FF2B5EF4-FFF2-40B4-BE49-F238E27FC236}">
                <a16:creationId xmlns:a16="http://schemas.microsoft.com/office/drawing/2014/main" id="{93F4A9B4-ABB6-0EF3-5870-FC0DB77A0192}"/>
              </a:ext>
              <a:ext uri="{C183D7F6-B498-43B3-948B-1728B52AA6E4}">
                <adec:decorative xmlns:adec="http://schemas.microsoft.com/office/drawing/2017/decorative" val="1"/>
              </a:ext>
            </a:extLst>
          </p:cNvPr>
          <p:cNvSpPr/>
          <p:nvPr/>
        </p:nvSpPr>
        <p:spPr>
          <a:xfrm rot="5400000">
            <a:off x="11315138" y="3210311"/>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8" name="Oval 127">
            <a:extLst>
              <a:ext uri="{FF2B5EF4-FFF2-40B4-BE49-F238E27FC236}">
                <a16:creationId xmlns:a16="http://schemas.microsoft.com/office/drawing/2014/main" id="{1AB6CB7E-E40C-6172-1428-1CCBE685DE05}"/>
              </a:ext>
              <a:ext uri="{C183D7F6-B498-43B3-948B-1728B52AA6E4}">
                <adec:decorative xmlns:adec="http://schemas.microsoft.com/office/drawing/2017/decorative" val="1"/>
              </a:ext>
            </a:extLst>
          </p:cNvPr>
          <p:cNvSpPr/>
          <p:nvPr/>
        </p:nvSpPr>
        <p:spPr>
          <a:xfrm>
            <a:off x="3869482" y="4061961"/>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29" name="Rectangle 128">
            <a:extLst>
              <a:ext uri="{FF2B5EF4-FFF2-40B4-BE49-F238E27FC236}">
                <a16:creationId xmlns:a16="http://schemas.microsoft.com/office/drawing/2014/main" id="{162CF9DD-BC1B-44CF-9DAD-B0E20783CB43}"/>
              </a:ext>
              <a:ext uri="{C183D7F6-B498-43B3-948B-1728B52AA6E4}">
                <adec:decorative xmlns:adec="http://schemas.microsoft.com/office/drawing/2017/decorative" val="1"/>
              </a:ext>
            </a:extLst>
          </p:cNvPr>
          <p:cNvSpPr/>
          <p:nvPr/>
        </p:nvSpPr>
        <p:spPr>
          <a:xfrm>
            <a:off x="5251395" y="3678167"/>
            <a:ext cx="1995611"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Defend Users</a:t>
            </a:r>
          </a:p>
        </p:txBody>
      </p:sp>
      <p:sp>
        <p:nvSpPr>
          <p:cNvPr id="130" name="Oval 129">
            <a:extLst>
              <a:ext uri="{FF2B5EF4-FFF2-40B4-BE49-F238E27FC236}">
                <a16:creationId xmlns:a16="http://schemas.microsoft.com/office/drawing/2014/main" id="{7B72CD45-7AF0-730B-EC21-1AFE52607AF5}"/>
              </a:ext>
              <a:ext uri="{C183D7F6-B498-43B3-948B-1728B52AA6E4}">
                <adec:decorative xmlns:adec="http://schemas.microsoft.com/office/drawing/2017/decorative" val="1"/>
              </a:ext>
            </a:extLst>
          </p:cNvPr>
          <p:cNvSpPr/>
          <p:nvPr/>
        </p:nvSpPr>
        <p:spPr>
          <a:xfrm>
            <a:off x="6066320" y="4061961"/>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31" name="Rectangle 130">
            <a:extLst>
              <a:ext uri="{FF2B5EF4-FFF2-40B4-BE49-F238E27FC236}">
                <a16:creationId xmlns:a16="http://schemas.microsoft.com/office/drawing/2014/main" id="{E485BAB2-2A8F-84FA-FA23-C1FFC76602AC}"/>
              </a:ext>
              <a:ext uri="{C183D7F6-B498-43B3-948B-1728B52AA6E4}">
                <adec:decorative xmlns:adec="http://schemas.microsoft.com/office/drawing/2017/decorative" val="1"/>
              </a:ext>
            </a:extLst>
          </p:cNvPr>
          <p:cNvSpPr/>
          <p:nvPr/>
        </p:nvSpPr>
        <p:spPr>
          <a:xfrm>
            <a:off x="7343519" y="3678167"/>
            <a:ext cx="2280582" cy="307777"/>
          </a:xfrm>
          <a:prstGeom prst="rect">
            <a:avLst/>
          </a:prstGeom>
        </p:spPr>
        <p:txBody>
          <a:bodyPr wrap="square" anchor="b">
            <a:spAutoFit/>
          </a:bodyPr>
          <a:lstStyle/>
          <a:p>
            <a:pPr marL="0" marR="0" lvl="0" indent="0" algn="ctr" defTabSz="93241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5050"/>
                </a:solidFill>
                <a:effectLst/>
                <a:uLnTx/>
                <a:uFillTx/>
                <a:latin typeface="Segoe UI Semibold" panose="020B0702040204020203" pitchFamily="34" charset="0"/>
                <a:ea typeface="+mn-ea"/>
                <a:cs typeface="Segoe UI Semibold" panose="020B0702040204020203" pitchFamily="34" charset="0"/>
              </a:rPr>
              <a:t>Secure Data II</a:t>
            </a:r>
          </a:p>
        </p:txBody>
      </p:sp>
      <p:sp>
        <p:nvSpPr>
          <p:cNvPr id="123" name="Graphic 4">
            <a:extLst>
              <a:ext uri="{FF2B5EF4-FFF2-40B4-BE49-F238E27FC236}">
                <a16:creationId xmlns:a16="http://schemas.microsoft.com/office/drawing/2014/main" id="{036B79D0-735F-1125-2368-B9365F0346F0}"/>
              </a:ext>
              <a:ext uri="{C183D7F6-B498-43B3-948B-1728B52AA6E4}">
                <adec:decorative xmlns:adec="http://schemas.microsoft.com/office/drawing/2017/decorative" val="1"/>
              </a:ext>
            </a:extLst>
          </p:cNvPr>
          <p:cNvSpPr/>
          <p:nvPr/>
        </p:nvSpPr>
        <p:spPr>
          <a:xfrm rot="5400000">
            <a:off x="569972" y="4885664"/>
            <a:ext cx="290118" cy="398516"/>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gradFill>
            <a:gsLst>
              <a:gs pos="87000">
                <a:srgbClr val="2F73D3"/>
              </a:gs>
              <a:gs pos="0">
                <a:srgbClr val="8C69D2"/>
              </a:gs>
            </a:gsLst>
            <a:lin ang="5400000" scaled="1"/>
          </a:gradFill>
          <a:ln w="38100" cap="flat">
            <a:solidFill>
              <a:schemeClr val="bg1"/>
            </a:solidFill>
            <a:prstDash val="solid"/>
            <a:miter/>
          </a:ln>
        </p:spPr>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2" name="Oval 131">
            <a:extLst>
              <a:ext uri="{FF2B5EF4-FFF2-40B4-BE49-F238E27FC236}">
                <a16:creationId xmlns:a16="http://schemas.microsoft.com/office/drawing/2014/main" id="{31712D3C-3C8D-C472-6E5D-EFE978D2446C}"/>
              </a:ext>
              <a:ext uri="{C183D7F6-B498-43B3-948B-1728B52AA6E4}">
                <adec:decorative xmlns:adec="http://schemas.microsoft.com/office/drawing/2017/decorative" val="1"/>
              </a:ext>
            </a:extLst>
          </p:cNvPr>
          <p:cNvSpPr/>
          <p:nvPr/>
        </p:nvSpPr>
        <p:spPr>
          <a:xfrm>
            <a:off x="8300930" y="4061961"/>
            <a:ext cx="365760" cy="365760"/>
          </a:xfrm>
          <a:prstGeom prst="ellipse">
            <a:avLst/>
          </a:prstGeom>
          <a:solidFill>
            <a:srgbClr val="8661C5"/>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33" name="Isosceles Triangle 132">
            <a:extLst>
              <a:ext uri="{FF2B5EF4-FFF2-40B4-BE49-F238E27FC236}">
                <a16:creationId xmlns:a16="http://schemas.microsoft.com/office/drawing/2014/main" id="{A344172E-E53D-9162-9D3E-FE020A653A63}"/>
              </a:ext>
              <a:ext uri="{C183D7F6-B498-43B3-948B-1728B52AA6E4}">
                <adec:decorative xmlns:adec="http://schemas.microsoft.com/office/drawing/2017/decorative" val="1"/>
              </a:ext>
            </a:extLst>
          </p:cNvPr>
          <p:cNvSpPr/>
          <p:nvPr/>
        </p:nvSpPr>
        <p:spPr>
          <a:xfrm rot="5400000">
            <a:off x="10324000" y="5808254"/>
            <a:ext cx="423079" cy="229738"/>
          </a:xfrm>
          <a:prstGeom prs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Graphic 7">
            <a:extLst>
              <a:ext uri="{FF2B5EF4-FFF2-40B4-BE49-F238E27FC236}">
                <a16:creationId xmlns:a16="http://schemas.microsoft.com/office/drawing/2014/main" id="{6D96A012-835C-91FA-3C20-37AECCCB6FB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76703" y="5809619"/>
            <a:ext cx="521059" cy="521059"/>
          </a:xfrm>
          <a:prstGeom prst="rect">
            <a:avLst/>
          </a:prstGeom>
        </p:spPr>
      </p:pic>
      <p:pic>
        <p:nvPicPr>
          <p:cNvPr id="6" name="Picture 5">
            <a:extLst>
              <a:ext uri="{FF2B5EF4-FFF2-40B4-BE49-F238E27FC236}">
                <a16:creationId xmlns:a16="http://schemas.microsoft.com/office/drawing/2014/main" id="{B7A07FEB-E3F5-913C-9EDB-9A42E771542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934943" y="1332482"/>
            <a:ext cx="8298776" cy="3250479"/>
          </a:xfrm>
          <a:prstGeom prst="rect">
            <a:avLst/>
          </a:prstGeom>
        </p:spPr>
      </p:pic>
      <p:cxnSp>
        <p:nvCxnSpPr>
          <p:cNvPr id="7" name="Straight Connector 6">
            <a:extLst>
              <a:ext uri="{FF2B5EF4-FFF2-40B4-BE49-F238E27FC236}">
                <a16:creationId xmlns:a16="http://schemas.microsoft.com/office/drawing/2014/main" id="{E6A392DA-C2AE-49C1-636E-456E37FBDB5A}"/>
              </a:ext>
              <a:ext uri="{C183D7F6-B498-43B3-948B-1728B52AA6E4}">
                <adec:decorative xmlns:adec="http://schemas.microsoft.com/office/drawing/2017/decorative" val="1"/>
              </a:ext>
            </a:extLst>
          </p:cNvPr>
          <p:cNvCxnSpPr>
            <a:cxnSpLocks/>
          </p:cNvCxnSpPr>
          <p:nvPr/>
        </p:nvCxnSpPr>
        <p:spPr>
          <a:xfrm>
            <a:off x="1443147" y="5923123"/>
            <a:ext cx="9021653" cy="0"/>
          </a:xfrm>
          <a:prstGeom prst="line">
            <a:avLst/>
          </a:prstGeom>
          <a:ln w="153670">
            <a:solidFill>
              <a:srgbClr val="D0CECE"/>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ED2CC65A-FC5C-9A6E-4608-801068C03457}"/>
              </a:ext>
              <a:ext uri="{C183D7F6-B498-43B3-948B-1728B52AA6E4}">
                <adec:decorative xmlns:adec="http://schemas.microsoft.com/office/drawing/2017/decorative" val="1"/>
              </a:ext>
            </a:extLst>
          </p:cNvPr>
          <p:cNvSpPr/>
          <p:nvPr/>
        </p:nvSpPr>
        <p:spPr>
          <a:xfrm>
            <a:off x="3934295"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0" name="Rectangle 9">
            <a:extLst>
              <a:ext uri="{FF2B5EF4-FFF2-40B4-BE49-F238E27FC236}">
                <a16:creationId xmlns:a16="http://schemas.microsoft.com/office/drawing/2014/main" id="{76B0CD89-BC41-6927-6BFD-FDC7D71A9CD8}"/>
              </a:ext>
              <a:ext uri="{C183D7F6-B498-43B3-948B-1728B52AA6E4}">
                <adec:decorative xmlns:adec="http://schemas.microsoft.com/office/drawing/2017/decorative" val="1"/>
              </a:ext>
            </a:extLst>
          </p:cNvPr>
          <p:cNvSpPr/>
          <p:nvPr/>
        </p:nvSpPr>
        <p:spPr bwMode="auto">
          <a:xfrm>
            <a:off x="567465"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Become Copilot Ready</a:t>
            </a:r>
          </a:p>
        </p:txBody>
      </p:sp>
      <p:sp>
        <p:nvSpPr>
          <p:cNvPr id="11" name="Oval 10">
            <a:extLst>
              <a:ext uri="{FF2B5EF4-FFF2-40B4-BE49-F238E27FC236}">
                <a16:creationId xmlns:a16="http://schemas.microsoft.com/office/drawing/2014/main" id="{CF69EE80-A0EB-B7E1-59F3-4BCF01623618}"/>
              </a:ext>
              <a:ext uri="{C183D7F6-B498-43B3-948B-1728B52AA6E4}">
                <adec:decorative xmlns:adec="http://schemas.microsoft.com/office/drawing/2017/decorative" val="1"/>
              </a:ext>
            </a:extLst>
          </p:cNvPr>
          <p:cNvSpPr/>
          <p:nvPr/>
        </p:nvSpPr>
        <p:spPr>
          <a:xfrm>
            <a:off x="7950714" y="5735764"/>
            <a:ext cx="365760" cy="365760"/>
          </a:xfrm>
          <a:prstGeom prst="ellipse">
            <a:avLst/>
          </a:prstGeom>
          <a:solidFill>
            <a:srgbClr val="C73ECC"/>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12" name="Rectangle 11">
            <a:extLst>
              <a:ext uri="{FF2B5EF4-FFF2-40B4-BE49-F238E27FC236}">
                <a16:creationId xmlns:a16="http://schemas.microsoft.com/office/drawing/2014/main" id="{41F134FE-49D6-98E2-B2CC-9068646C3F3D}"/>
              </a:ext>
              <a:ext uri="{C183D7F6-B498-43B3-948B-1728B52AA6E4}">
                <adec:decorative xmlns:adec="http://schemas.microsoft.com/office/drawing/2017/decorative" val="1"/>
              </a:ext>
            </a:extLst>
          </p:cNvPr>
          <p:cNvSpPr/>
          <p:nvPr/>
        </p:nvSpPr>
        <p:spPr bwMode="auto">
          <a:xfrm>
            <a:off x="4583884" y="5281163"/>
            <a:ext cx="6840764" cy="3539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BE"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rPr>
              <a:t>Handling Oversharing</a:t>
            </a:r>
            <a:endParaRPr kumimoji="0" lang="en-US" sz="2000" b="0" i="0" u="none" strike="noStrike" kern="1200" cap="none" spc="0" normalizeH="0" baseline="0" noProof="0">
              <a:ln>
                <a:noFill/>
              </a:ln>
              <a:solidFill>
                <a:srgbClr val="C73ECC"/>
              </a:solidFill>
              <a:effectLst/>
              <a:uLnTx/>
              <a:uFillTx/>
              <a:latin typeface="Segoe UI Semibold" panose="020B0702040204020203" pitchFamily="34" charset="0"/>
              <a:ea typeface="Segoe UI" panose="020B0502040204020203" pitchFamily="34" charset="0"/>
              <a:cs typeface="Segoe UI Semibold" panose="020B0702040204020203" pitchFamily="34" charset="0"/>
            </a:endParaRPr>
          </a:p>
        </p:txBody>
      </p:sp>
    </p:spTree>
    <p:extLst>
      <p:ext uri="{BB962C8B-B14F-4D97-AF65-F5344CB8AC3E}">
        <p14:creationId xmlns:p14="http://schemas.microsoft.com/office/powerpoint/2010/main" val="1901270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D49D49-67AF-4083-940A-2A045C6986E5}"/>
              </a:ext>
              <a:ext uri="{C183D7F6-B498-43B3-948B-1728B52AA6E4}">
                <adec:decorative xmlns:adec="http://schemas.microsoft.com/office/drawing/2017/decorative" val="1"/>
              </a:ext>
            </a:extLst>
          </p:cNvPr>
          <p:cNvSpPr/>
          <p:nvPr/>
        </p:nvSpPr>
        <p:spPr bwMode="auto">
          <a:xfrm>
            <a:off x="0" y="6201176"/>
            <a:ext cx="12192000" cy="656823"/>
          </a:xfrm>
          <a:prstGeom prst="rect">
            <a:avLst/>
          </a:prstGeom>
          <a:gradFill>
            <a:gsLst>
              <a:gs pos="58000">
                <a:srgbClr val="0070C0"/>
              </a:gs>
              <a:gs pos="100000">
                <a:schemeClr val="accent2"/>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67571551-1017-FFCB-30C4-4548C875BB2F}"/>
              </a:ext>
            </a:extLst>
          </p:cNvPr>
          <p:cNvSpPr>
            <a:spLocks noGrp="1"/>
          </p:cNvSpPr>
          <p:nvPr>
            <p:ph type="title"/>
          </p:nvPr>
        </p:nvSpPr>
        <p:spPr/>
        <p:txBody>
          <a:bodyPr/>
          <a:lstStyle/>
          <a:p>
            <a:r>
              <a:rPr lang="en-US">
                <a:cs typeface="Segoe UI"/>
              </a:rPr>
              <a:t>The secure productivity foundations for Copilot</a:t>
            </a:r>
            <a:endParaRPr lang="en-US"/>
          </a:p>
        </p:txBody>
      </p:sp>
      <p:sp>
        <p:nvSpPr>
          <p:cNvPr id="12" name="Rectangle: Rounded Corners 11">
            <a:extLst>
              <a:ext uri="{FF2B5EF4-FFF2-40B4-BE49-F238E27FC236}">
                <a16:creationId xmlns:a16="http://schemas.microsoft.com/office/drawing/2014/main" id="{DC658FF1-4DBC-B50B-8EDB-4A61F971E3AB}"/>
              </a:ext>
              <a:ext uri="{C183D7F6-B498-43B3-948B-1728B52AA6E4}">
                <adec:decorative xmlns:adec="http://schemas.microsoft.com/office/drawing/2017/decorative" val="1"/>
              </a:ext>
            </a:extLst>
          </p:cNvPr>
          <p:cNvSpPr/>
          <p:nvPr/>
        </p:nvSpPr>
        <p:spPr bwMode="auto">
          <a:xfrm>
            <a:off x="599675" y="1574725"/>
            <a:ext cx="3465913" cy="4090352"/>
          </a:xfrm>
          <a:prstGeom prst="roundRect">
            <a:avLst>
              <a:gd name="adj" fmla="val 4127"/>
            </a:avLst>
          </a:prstGeom>
          <a:no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2" name="TextBox 21">
            <a:extLst>
              <a:ext uri="{FF2B5EF4-FFF2-40B4-BE49-F238E27FC236}">
                <a16:creationId xmlns:a16="http://schemas.microsoft.com/office/drawing/2014/main" id="{DF26179D-A114-6A87-9378-B8DCFE5DACB7}"/>
              </a:ext>
            </a:extLst>
          </p:cNvPr>
          <p:cNvSpPr txBox="1"/>
          <p:nvPr/>
        </p:nvSpPr>
        <p:spPr>
          <a:xfrm>
            <a:off x="1031113" y="2940277"/>
            <a:ext cx="2603037" cy="954107"/>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FF5C38"/>
                </a:solidFill>
                <a:effectLst/>
                <a:uLnTx/>
                <a:uFillTx/>
                <a:latin typeface="Segoe UI Semibold"/>
                <a:ea typeface="+mn-ea"/>
                <a:cs typeface="Segoe UI Semibold" panose="020B0702040204020203" pitchFamily="34" charset="0"/>
              </a:rPr>
              <a:t>Power AI</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FF5C38"/>
                </a:solidFill>
                <a:effectLst/>
                <a:uLnTx/>
                <a:uFillTx/>
                <a:latin typeface="Segoe UI Semibold"/>
                <a:ea typeface="+mn-ea"/>
                <a:cs typeface="Segoe UI Semibold" panose="020B0702040204020203" pitchFamily="34" charset="0"/>
              </a:rPr>
              <a:t>productivity</a:t>
            </a:r>
          </a:p>
        </p:txBody>
      </p:sp>
      <p:sp>
        <p:nvSpPr>
          <p:cNvPr id="27" name="TextBox 26">
            <a:extLst>
              <a:ext uri="{FF2B5EF4-FFF2-40B4-BE49-F238E27FC236}">
                <a16:creationId xmlns:a16="http://schemas.microsoft.com/office/drawing/2014/main" id="{52D1D4AF-BA87-DBA1-A958-2E904DE1DA78}"/>
              </a:ext>
            </a:extLst>
          </p:cNvPr>
          <p:cNvSpPr txBox="1"/>
          <p:nvPr/>
        </p:nvSpPr>
        <p:spPr>
          <a:xfrm>
            <a:off x="698273" y="4011634"/>
            <a:ext cx="3268717" cy="892552"/>
          </a:xfrm>
          <a:prstGeom prst="rect">
            <a:avLst/>
          </a:prstGeom>
          <a:noFill/>
        </p:spPr>
        <p:txBody>
          <a:bodyPr wrap="square" lIns="274320" tIns="0" rIns="274320" bIns="0" rtlCol="0" anchor="t">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Introduce Generative AI with Commercial Data Protection.</a:t>
            </a:r>
          </a:p>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Best in class productivity apps</a:t>
            </a:r>
          </a:p>
        </p:txBody>
      </p:sp>
      <p:pic>
        <p:nvPicPr>
          <p:cNvPr id="6" name="Graphic 5">
            <a:extLst>
              <a:ext uri="{FF2B5EF4-FFF2-40B4-BE49-F238E27FC236}">
                <a16:creationId xmlns:a16="http://schemas.microsoft.com/office/drawing/2014/main" id="{E28246C9-7310-D92D-A626-3064C224E3F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40070" y="1762376"/>
            <a:ext cx="1060785" cy="1060785"/>
          </a:xfrm>
          <a:prstGeom prst="rect">
            <a:avLst/>
          </a:prstGeom>
        </p:spPr>
      </p:pic>
      <p:sp>
        <p:nvSpPr>
          <p:cNvPr id="9" name="Rectangle: Rounded Corners 11">
            <a:extLst>
              <a:ext uri="{FF2B5EF4-FFF2-40B4-BE49-F238E27FC236}">
                <a16:creationId xmlns:a16="http://schemas.microsoft.com/office/drawing/2014/main" id="{E4CC630E-2B50-033D-9004-8175D0142503}"/>
              </a:ext>
              <a:ext uri="{C183D7F6-B498-43B3-948B-1728B52AA6E4}">
                <adec:decorative xmlns:adec="http://schemas.microsoft.com/office/drawing/2017/decorative" val="1"/>
              </a:ext>
            </a:extLst>
          </p:cNvPr>
          <p:cNvSpPr/>
          <p:nvPr/>
        </p:nvSpPr>
        <p:spPr bwMode="auto">
          <a:xfrm>
            <a:off x="4378144" y="1574725"/>
            <a:ext cx="3465913" cy="4090352"/>
          </a:xfrm>
          <a:prstGeom prst="roundRect">
            <a:avLst>
              <a:gd name="adj" fmla="val 4127"/>
            </a:avLst>
          </a:prstGeom>
          <a:no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0" name="TextBox 9">
            <a:extLst>
              <a:ext uri="{FF2B5EF4-FFF2-40B4-BE49-F238E27FC236}">
                <a16:creationId xmlns:a16="http://schemas.microsoft.com/office/drawing/2014/main" id="{48B6D63D-C0E4-2E8E-1865-2B79366B6841}"/>
              </a:ext>
            </a:extLst>
          </p:cNvPr>
          <p:cNvSpPr txBox="1"/>
          <p:nvPr/>
        </p:nvSpPr>
        <p:spPr>
          <a:xfrm>
            <a:off x="4809582" y="2940277"/>
            <a:ext cx="2603037" cy="954107"/>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0078D4"/>
                </a:solidFill>
                <a:effectLst/>
                <a:uLnTx/>
                <a:uFillTx/>
                <a:latin typeface="Segoe UI Semibold"/>
                <a:ea typeface="+mn-ea"/>
                <a:cs typeface="Segoe UI Semibold" panose="020B0702040204020203" pitchFamily="34" charset="0"/>
              </a:rPr>
              <a:t>Protect your business</a:t>
            </a:r>
          </a:p>
        </p:txBody>
      </p:sp>
      <p:sp>
        <p:nvSpPr>
          <p:cNvPr id="11" name="TextBox 10">
            <a:extLst>
              <a:ext uri="{FF2B5EF4-FFF2-40B4-BE49-F238E27FC236}">
                <a16:creationId xmlns:a16="http://schemas.microsoft.com/office/drawing/2014/main" id="{A8336FDD-0F13-5B12-4C89-31B20F984D5C}"/>
              </a:ext>
            </a:extLst>
          </p:cNvPr>
          <p:cNvSpPr txBox="1"/>
          <p:nvPr/>
        </p:nvSpPr>
        <p:spPr>
          <a:xfrm>
            <a:off x="4476742" y="4011634"/>
            <a:ext cx="3268717" cy="1384995"/>
          </a:xfrm>
          <a:prstGeom prst="rect">
            <a:avLst/>
          </a:prstGeom>
          <a:noFill/>
        </p:spPr>
        <p:txBody>
          <a:bodyPr wrap="square" lIns="274320" tIns="0" rIns="274320" bIns="0" rtlCol="0" anchor="t">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Zero Trust Security  Foundations</a:t>
            </a:r>
          </a:p>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Embrace Enterprise grade AI with confidence by safeguarding your business</a:t>
            </a:r>
          </a:p>
        </p:txBody>
      </p:sp>
      <p:sp>
        <p:nvSpPr>
          <p:cNvPr id="16" name="Rectangle: Rounded Corners 11">
            <a:extLst>
              <a:ext uri="{FF2B5EF4-FFF2-40B4-BE49-F238E27FC236}">
                <a16:creationId xmlns:a16="http://schemas.microsoft.com/office/drawing/2014/main" id="{F05AF29A-9FE3-0CA6-0006-090E1979A77F}"/>
              </a:ext>
              <a:ext uri="{C183D7F6-B498-43B3-948B-1728B52AA6E4}">
                <adec:decorative xmlns:adec="http://schemas.microsoft.com/office/drawing/2017/decorative" val="1"/>
              </a:ext>
            </a:extLst>
          </p:cNvPr>
          <p:cNvSpPr/>
          <p:nvPr/>
        </p:nvSpPr>
        <p:spPr bwMode="auto">
          <a:xfrm>
            <a:off x="8156613" y="1574725"/>
            <a:ext cx="3465913" cy="4090352"/>
          </a:xfrm>
          <a:prstGeom prst="roundRect">
            <a:avLst>
              <a:gd name="adj" fmla="val 4127"/>
            </a:avLst>
          </a:prstGeom>
          <a:no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7" name="TextBox 16">
            <a:extLst>
              <a:ext uri="{FF2B5EF4-FFF2-40B4-BE49-F238E27FC236}">
                <a16:creationId xmlns:a16="http://schemas.microsoft.com/office/drawing/2014/main" id="{528FA592-B160-3BF9-8180-522020EBEC74}"/>
              </a:ext>
            </a:extLst>
          </p:cNvPr>
          <p:cNvSpPr txBox="1"/>
          <p:nvPr/>
        </p:nvSpPr>
        <p:spPr>
          <a:xfrm>
            <a:off x="8588051" y="2940277"/>
            <a:ext cx="2603037" cy="954107"/>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8661C5"/>
                </a:solidFill>
                <a:effectLst/>
                <a:uLnTx/>
                <a:uFillTx/>
                <a:latin typeface="Segoe UI Semibold"/>
                <a:ea typeface="+mn-ea"/>
                <a:cs typeface="Segoe UI Semibold" panose="020B0702040204020203" pitchFamily="34" charset="0"/>
              </a:rPr>
              <a:t>Simplify IT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w="3175">
                  <a:noFill/>
                </a:ln>
                <a:solidFill>
                  <a:srgbClr val="8661C5"/>
                </a:solidFill>
                <a:effectLst/>
                <a:uLnTx/>
                <a:uFillTx/>
                <a:latin typeface="Segoe UI Semibold"/>
                <a:ea typeface="+mn-ea"/>
                <a:cs typeface="Segoe UI Semibold" panose="020B0702040204020203" pitchFamily="34" charset="0"/>
              </a:rPr>
              <a:t>management</a:t>
            </a:r>
          </a:p>
        </p:txBody>
      </p:sp>
      <p:sp>
        <p:nvSpPr>
          <p:cNvPr id="18" name="TextBox 17">
            <a:extLst>
              <a:ext uri="{FF2B5EF4-FFF2-40B4-BE49-F238E27FC236}">
                <a16:creationId xmlns:a16="http://schemas.microsoft.com/office/drawing/2014/main" id="{F8AFBD2A-0E40-352E-525E-BEF46B7C2E7C}"/>
              </a:ext>
            </a:extLst>
          </p:cNvPr>
          <p:cNvSpPr txBox="1"/>
          <p:nvPr/>
        </p:nvSpPr>
        <p:spPr>
          <a:xfrm>
            <a:off x="8255211" y="4011634"/>
            <a:ext cx="3268717" cy="1292662"/>
          </a:xfrm>
          <a:prstGeom prst="rect">
            <a:avLst/>
          </a:prstGeom>
          <a:noFill/>
        </p:spPr>
        <p:txBody>
          <a:bodyPr wrap="square" lIns="274320" tIns="0" rIns="274320" bIns="0" rtlCol="0" anchor="t">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Streamline IT management</a:t>
            </a:r>
          </a:p>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Cut costs and complexity</a:t>
            </a:r>
          </a:p>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Increase security across endpoint and applications</a:t>
            </a:r>
          </a:p>
        </p:txBody>
      </p:sp>
      <p:pic>
        <p:nvPicPr>
          <p:cNvPr id="23" name="Graphic 22">
            <a:extLst>
              <a:ext uri="{FF2B5EF4-FFF2-40B4-BE49-F238E27FC236}">
                <a16:creationId xmlns:a16="http://schemas.microsoft.com/office/drawing/2014/main" id="{86658C84-B199-C4EA-DC43-5B136015225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64824" y="1835934"/>
            <a:ext cx="892552" cy="892552"/>
          </a:xfrm>
          <a:prstGeom prst="rect">
            <a:avLst/>
          </a:prstGeom>
        </p:spPr>
      </p:pic>
      <p:pic>
        <p:nvPicPr>
          <p:cNvPr id="24" name="Graphic 23">
            <a:extLst>
              <a:ext uri="{FF2B5EF4-FFF2-40B4-BE49-F238E27FC236}">
                <a16:creationId xmlns:a16="http://schemas.microsoft.com/office/drawing/2014/main" id="{699FA15F-2B9F-35E9-E4E2-DF3679F81C2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97823" y="1835872"/>
            <a:ext cx="954107" cy="954107"/>
          </a:xfrm>
          <a:prstGeom prst="rect">
            <a:avLst/>
          </a:prstGeom>
        </p:spPr>
      </p:pic>
      <p:cxnSp>
        <p:nvCxnSpPr>
          <p:cNvPr id="26" name="Straight Connector 25">
            <a:extLst>
              <a:ext uri="{FF2B5EF4-FFF2-40B4-BE49-F238E27FC236}">
                <a16:creationId xmlns:a16="http://schemas.microsoft.com/office/drawing/2014/main" id="{B62E5852-C365-DDE3-3B8D-E702C1F807C1}"/>
              </a:ext>
              <a:ext uri="{C183D7F6-B498-43B3-948B-1728B52AA6E4}">
                <adec:decorative xmlns:adec="http://schemas.microsoft.com/office/drawing/2017/decorative" val="1"/>
              </a:ext>
            </a:extLst>
          </p:cNvPr>
          <p:cNvCxnSpPr>
            <a:cxnSpLocks/>
          </p:cNvCxnSpPr>
          <p:nvPr/>
        </p:nvCxnSpPr>
        <p:spPr>
          <a:xfrm>
            <a:off x="897969" y="4605413"/>
            <a:ext cx="2869325" cy="0"/>
          </a:xfrm>
          <a:prstGeom prst="line">
            <a:avLst/>
          </a:prstGeom>
          <a:noFill/>
          <a:ln>
            <a:solidFill>
              <a:schemeClr val="bg1">
                <a:lumMod val="65000"/>
                <a:lumOff val="3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0" name="Straight Connector 39">
            <a:extLst>
              <a:ext uri="{FF2B5EF4-FFF2-40B4-BE49-F238E27FC236}">
                <a16:creationId xmlns:a16="http://schemas.microsoft.com/office/drawing/2014/main" id="{81AA2BB1-EC88-1285-DF5E-FA1B56C906DA}"/>
              </a:ext>
              <a:ext uri="{C183D7F6-B498-43B3-948B-1728B52AA6E4}">
                <adec:decorative xmlns:adec="http://schemas.microsoft.com/office/drawing/2017/decorative" val="1"/>
              </a:ext>
            </a:extLst>
          </p:cNvPr>
          <p:cNvCxnSpPr>
            <a:cxnSpLocks/>
          </p:cNvCxnSpPr>
          <p:nvPr/>
        </p:nvCxnSpPr>
        <p:spPr>
          <a:xfrm>
            <a:off x="4676438" y="4605413"/>
            <a:ext cx="2869325" cy="0"/>
          </a:xfrm>
          <a:prstGeom prst="line">
            <a:avLst/>
          </a:prstGeom>
          <a:noFill/>
          <a:ln>
            <a:solidFill>
              <a:schemeClr val="bg1">
                <a:lumMod val="65000"/>
                <a:lumOff val="3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1" name="Straight Connector 40">
            <a:extLst>
              <a:ext uri="{FF2B5EF4-FFF2-40B4-BE49-F238E27FC236}">
                <a16:creationId xmlns:a16="http://schemas.microsoft.com/office/drawing/2014/main" id="{55C57213-1C54-FC33-FD8C-179E75045BE0}"/>
              </a:ext>
              <a:ext uri="{C183D7F6-B498-43B3-948B-1728B52AA6E4}">
                <adec:decorative xmlns:adec="http://schemas.microsoft.com/office/drawing/2017/decorative" val="1"/>
              </a:ext>
            </a:extLst>
          </p:cNvPr>
          <p:cNvCxnSpPr>
            <a:cxnSpLocks/>
          </p:cNvCxnSpPr>
          <p:nvPr/>
        </p:nvCxnSpPr>
        <p:spPr>
          <a:xfrm>
            <a:off x="8454907" y="4374185"/>
            <a:ext cx="2869325" cy="0"/>
          </a:xfrm>
          <a:prstGeom prst="line">
            <a:avLst/>
          </a:prstGeom>
          <a:noFill/>
          <a:ln>
            <a:solidFill>
              <a:schemeClr val="bg1">
                <a:lumMod val="65000"/>
                <a:lumOff val="3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2" name="Straight Connector 41">
            <a:extLst>
              <a:ext uri="{FF2B5EF4-FFF2-40B4-BE49-F238E27FC236}">
                <a16:creationId xmlns:a16="http://schemas.microsoft.com/office/drawing/2014/main" id="{EB7140B2-4149-88BF-48A4-FE05E5AE48EA}"/>
              </a:ext>
              <a:ext uri="{C183D7F6-B498-43B3-948B-1728B52AA6E4}">
                <adec:decorative xmlns:adec="http://schemas.microsoft.com/office/drawing/2017/decorative" val="1"/>
              </a:ext>
            </a:extLst>
          </p:cNvPr>
          <p:cNvCxnSpPr>
            <a:cxnSpLocks/>
          </p:cNvCxnSpPr>
          <p:nvPr/>
        </p:nvCxnSpPr>
        <p:spPr>
          <a:xfrm>
            <a:off x="8454907" y="4773579"/>
            <a:ext cx="2869325" cy="0"/>
          </a:xfrm>
          <a:prstGeom prst="line">
            <a:avLst/>
          </a:prstGeom>
          <a:noFill/>
          <a:ln>
            <a:solidFill>
              <a:schemeClr val="bg1">
                <a:lumMod val="65000"/>
                <a:lumOff val="3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3" name="TextBox 12">
            <a:extLst>
              <a:ext uri="{FF2B5EF4-FFF2-40B4-BE49-F238E27FC236}">
                <a16:creationId xmlns:a16="http://schemas.microsoft.com/office/drawing/2014/main" id="{7FB1D524-DAAD-3895-6F77-0DEA1FEBA6CB}"/>
              </a:ext>
            </a:extLst>
          </p:cNvPr>
          <p:cNvSpPr txBox="1"/>
          <p:nvPr/>
        </p:nvSpPr>
        <p:spPr>
          <a:xfrm>
            <a:off x="599675" y="6453539"/>
            <a:ext cx="7141955" cy="276999"/>
          </a:xfrm>
          <a:prstGeom prst="rect">
            <a:avLst/>
          </a:prstGeom>
          <a:noFill/>
        </p:spPr>
        <p:txBody>
          <a:bodyPr wrap="non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a:ea typeface="+mn-ea"/>
                <a:cs typeface="+mn-cs"/>
              </a:rPr>
              <a:t>*Microsoft Teams and Copilot for Microsoft 365 are available as standalone offers purchased separately.</a:t>
            </a:r>
          </a:p>
        </p:txBody>
      </p:sp>
    </p:spTree>
    <p:extLst>
      <p:ext uri="{BB962C8B-B14F-4D97-AF65-F5344CB8AC3E}">
        <p14:creationId xmlns:p14="http://schemas.microsoft.com/office/powerpoint/2010/main" val="186426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67704E8A-8C64-9755-2EAA-2A7329D7FE72}"/>
              </a:ext>
              <a:ext uri="{C183D7F6-B498-43B3-948B-1728B52AA6E4}">
                <adec:decorative xmlns:adec="http://schemas.microsoft.com/office/drawing/2017/decorative" val="1"/>
              </a:ext>
            </a:extLst>
          </p:cNvPr>
          <p:cNvGrpSpPr/>
          <p:nvPr/>
        </p:nvGrpSpPr>
        <p:grpSpPr>
          <a:xfrm>
            <a:off x="1688555" y="1636574"/>
            <a:ext cx="9082296" cy="314464"/>
            <a:chOff x="1688555" y="1703249"/>
            <a:chExt cx="9082296" cy="192803"/>
          </a:xfrm>
        </p:grpSpPr>
        <p:sp>
          <p:nvSpPr>
            <p:cNvPr id="5" name="Right Bracket 4">
              <a:extLst>
                <a:ext uri="{FF2B5EF4-FFF2-40B4-BE49-F238E27FC236}">
                  <a16:creationId xmlns:a16="http://schemas.microsoft.com/office/drawing/2014/main" id="{23624993-3032-421D-B4DC-66ED17964575}"/>
                </a:ext>
              </a:extLst>
            </p:cNvPr>
            <p:cNvSpPr/>
            <p:nvPr/>
          </p:nvSpPr>
          <p:spPr>
            <a:xfrm rot="16200000">
              <a:off x="6133303" y="-2741496"/>
              <a:ext cx="192800" cy="9082296"/>
            </a:xfrm>
            <a:prstGeom prst="rightBracket">
              <a:avLst>
                <a:gd name="adj" fmla="val 0"/>
              </a:avLst>
            </a:prstGeom>
            <a:ln w="19050">
              <a:solidFill>
                <a:srgbClr val="8DC8E8"/>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cxnSp>
          <p:nvCxnSpPr>
            <p:cNvPr id="17" name="Straight Connector 16">
              <a:extLst>
                <a:ext uri="{FF2B5EF4-FFF2-40B4-BE49-F238E27FC236}">
                  <a16:creationId xmlns:a16="http://schemas.microsoft.com/office/drawing/2014/main" id="{FAC15A95-B84D-4925-80F7-E6C8EBF39176}"/>
                </a:ext>
              </a:extLst>
            </p:cNvPr>
            <p:cNvCxnSpPr>
              <a:cxnSpLocks/>
            </p:cNvCxnSpPr>
            <p:nvPr/>
          </p:nvCxnSpPr>
          <p:spPr>
            <a:xfrm>
              <a:off x="4038517" y="1703251"/>
              <a:ext cx="0" cy="192801"/>
            </a:xfrm>
            <a:prstGeom prst="line">
              <a:avLst/>
            </a:prstGeom>
            <a:ln w="19050">
              <a:solidFill>
                <a:srgbClr val="8DC8E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5087390-A9C0-4915-8548-8BC627D4C436}"/>
                </a:ext>
              </a:extLst>
            </p:cNvPr>
            <p:cNvCxnSpPr>
              <a:cxnSpLocks/>
            </p:cNvCxnSpPr>
            <p:nvPr/>
          </p:nvCxnSpPr>
          <p:spPr>
            <a:xfrm>
              <a:off x="8476733" y="1703249"/>
              <a:ext cx="0" cy="192801"/>
            </a:xfrm>
            <a:prstGeom prst="line">
              <a:avLst/>
            </a:prstGeom>
            <a:ln w="19050">
              <a:solidFill>
                <a:srgbClr val="8DC8E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D5AA7F6-5465-C73D-C3CB-C4290B1DE998}"/>
                </a:ext>
              </a:extLst>
            </p:cNvPr>
            <p:cNvCxnSpPr>
              <a:cxnSpLocks/>
            </p:cNvCxnSpPr>
            <p:nvPr/>
          </p:nvCxnSpPr>
          <p:spPr>
            <a:xfrm>
              <a:off x="6195681" y="1703251"/>
              <a:ext cx="0" cy="192801"/>
            </a:xfrm>
            <a:prstGeom prst="line">
              <a:avLst/>
            </a:prstGeom>
            <a:ln w="19050">
              <a:solidFill>
                <a:srgbClr val="8DC8E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A45909DA-FD75-39B8-DDA0-5B925EA9DD05}"/>
              </a:ext>
              <a:ext uri="{C183D7F6-B498-43B3-948B-1728B52AA6E4}">
                <adec:decorative xmlns:adec="http://schemas.microsoft.com/office/drawing/2017/decorative" val="1"/>
              </a:ext>
            </a:extLst>
          </p:cNvPr>
          <p:cNvSpPr/>
          <p:nvPr/>
        </p:nvSpPr>
        <p:spPr bwMode="auto">
          <a:xfrm>
            <a:off x="7975205" y="2464998"/>
            <a:ext cx="1083070" cy="1083070"/>
          </a:xfrm>
          <a:prstGeom prst="ellipse">
            <a:avLst/>
          </a:prstGeom>
          <a:noFill/>
          <a:ln w="571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2" name="Title 1">
            <a:extLst>
              <a:ext uri="{FF2B5EF4-FFF2-40B4-BE49-F238E27FC236}">
                <a16:creationId xmlns:a16="http://schemas.microsoft.com/office/drawing/2014/main" id="{B46FDE9B-352E-4E9D-BCFE-CAABF184682F}"/>
              </a:ext>
            </a:extLst>
          </p:cNvPr>
          <p:cNvSpPr>
            <a:spLocks noGrp="1"/>
          </p:cNvSpPr>
          <p:nvPr>
            <p:ph type="title"/>
          </p:nvPr>
        </p:nvSpPr>
        <p:spPr/>
        <p:txBody>
          <a:bodyPr/>
          <a:lstStyle/>
          <a:p>
            <a:r>
              <a:rPr lang="en-US">
                <a:gradFill>
                  <a:gsLst>
                    <a:gs pos="2917">
                      <a:srgbClr val="000000"/>
                    </a:gs>
                    <a:gs pos="30000">
                      <a:srgbClr val="000000"/>
                    </a:gs>
                  </a:gsLst>
                  <a:lin ang="5400000" scaled="0"/>
                </a:gradFill>
                <a:latin typeface="Segoe Sans Display Semibold" pitchFamily="2" charset="0"/>
                <a:cs typeface="Segoe Sans Display Semibold" pitchFamily="2" charset="0"/>
              </a:rPr>
              <a:t>Becoming Copilot Ready Layered Security</a:t>
            </a:r>
          </a:p>
        </p:txBody>
      </p:sp>
      <p:sp>
        <p:nvSpPr>
          <p:cNvPr id="37" name="TextBox 36">
            <a:extLst>
              <a:ext uri="{FF2B5EF4-FFF2-40B4-BE49-F238E27FC236}">
                <a16:creationId xmlns:a16="http://schemas.microsoft.com/office/drawing/2014/main" id="{ED315498-139E-42D4-A5ED-4831E61603FF}"/>
              </a:ext>
            </a:extLst>
          </p:cNvPr>
          <p:cNvSpPr txBox="1"/>
          <p:nvPr/>
        </p:nvSpPr>
        <p:spPr>
          <a:xfrm>
            <a:off x="4075844" y="1140540"/>
            <a:ext cx="4040312" cy="276999"/>
          </a:xfrm>
          <a:prstGeom prst="rect">
            <a:avLst/>
          </a:prstGeom>
          <a:solidFill>
            <a:schemeClr val="bg1"/>
          </a:solidFill>
        </p:spPr>
        <p:txBody>
          <a:bodyPr wrap="square" lIns="0" tIns="0" rIns="0" bIns="0" rtlCol="0">
            <a:spAutoFit/>
          </a:bodyPr>
          <a:lstStyle/>
          <a:p>
            <a:pPr marL="0" marR="0" lvl="0" indent="0" algn="ctr" defTabSz="895140" rtl="0" eaLnBrk="1" fontAlgn="auto" latinLnBrk="0" hangingPunct="1">
              <a:lnSpc>
                <a:spcPct val="90000"/>
              </a:lnSpc>
              <a:spcBef>
                <a:spcPts val="0"/>
              </a:spcBef>
              <a:spcAft>
                <a:spcPts val="588"/>
              </a:spcAft>
              <a:buClrTx/>
              <a:buSzTx/>
              <a:buFontTx/>
              <a:buNone/>
              <a:tabLst/>
              <a:defRPr/>
            </a:pPr>
            <a:r>
              <a:rPr kumimoji="0" lang="en-US" sz="2000" b="0" i="0" u="none" strike="noStrike" kern="1200" cap="none" spc="0" normalizeH="0" baseline="0" noProof="0">
                <a:ln w="3175">
                  <a:noFill/>
                </a:ln>
                <a:gradFill>
                  <a:gsLst>
                    <a:gs pos="45000">
                      <a:srgbClr val="2A446F"/>
                    </a:gs>
                    <a:gs pos="100000">
                      <a:srgbClr val="2A446F"/>
                    </a:gs>
                  </a:gsLst>
                  <a:lin ang="2700000" scaled="1"/>
                </a:gradFill>
                <a:effectLst/>
                <a:uLnTx/>
                <a:uFillTx/>
                <a:latin typeface="Segoe Sans Display Semibold" pitchFamily="2" charset="0"/>
                <a:cs typeface="Segoe Sans Display Semibold" pitchFamily="2" charset="0"/>
              </a:rPr>
              <a:t>Microsoft 365 Business Premium</a:t>
            </a:r>
          </a:p>
        </p:txBody>
      </p:sp>
      <p:sp>
        <p:nvSpPr>
          <p:cNvPr id="32" name="TextBox 31">
            <a:extLst>
              <a:ext uri="{FF2B5EF4-FFF2-40B4-BE49-F238E27FC236}">
                <a16:creationId xmlns:a16="http://schemas.microsoft.com/office/drawing/2014/main" id="{D0229CC4-075E-405E-A29D-EA1291E11DEA}"/>
              </a:ext>
            </a:extLst>
          </p:cNvPr>
          <p:cNvSpPr txBox="1"/>
          <p:nvPr/>
        </p:nvSpPr>
        <p:spPr>
          <a:xfrm>
            <a:off x="560285" y="1876767"/>
            <a:ext cx="2256537" cy="457492"/>
          </a:xfrm>
          <a:prstGeom prst="roundRect">
            <a:avLst>
              <a:gd name="adj" fmla="val 50000"/>
            </a:avLst>
          </a:prstGeom>
          <a:solidFill>
            <a:srgbClr val="8661C5"/>
          </a:solidFill>
        </p:spPr>
        <p:txBody>
          <a:bodyPr wrap="square" lIns="0" tIns="89642" rIns="0" bIns="89642" rtlCol="0" anchor="ctr">
            <a:no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45000">
                      <a:srgbClr val="FFFFFF"/>
                    </a:gs>
                    <a:gs pos="100000">
                      <a:srgbClr val="FFFFFF"/>
                    </a:gs>
                  </a:gsLst>
                  <a:lin ang="2700000" scaled="1"/>
                </a:gradFill>
                <a:effectLst/>
                <a:uLnTx/>
                <a:uFillTx/>
                <a:latin typeface="Segoe Sans Display Semibold" pitchFamily="2" charset="0"/>
                <a:cs typeface="Segoe Sans Display Semibold" pitchFamily="2" charset="0"/>
              </a:rPr>
              <a:t>Identity and access controls</a:t>
            </a:r>
          </a:p>
        </p:txBody>
      </p:sp>
      <p:sp>
        <p:nvSpPr>
          <p:cNvPr id="59" name="TextBox 58">
            <a:extLst>
              <a:ext uri="{FF2B5EF4-FFF2-40B4-BE49-F238E27FC236}">
                <a16:creationId xmlns:a16="http://schemas.microsoft.com/office/drawing/2014/main" id="{4E9C3F97-7033-4195-AF0D-F56DA1740EB0}"/>
              </a:ext>
            </a:extLst>
          </p:cNvPr>
          <p:cNvSpPr txBox="1"/>
          <p:nvPr/>
        </p:nvSpPr>
        <p:spPr>
          <a:xfrm>
            <a:off x="700490" y="3671695"/>
            <a:ext cx="1920240" cy="2431435"/>
          </a:xfrm>
          <a:prstGeom prst="rect">
            <a:avLst/>
          </a:prstGeom>
          <a:noFill/>
        </p:spPr>
        <p:txBody>
          <a:bodyPr wrap="square" lIns="0" tIns="0" rIns="0" bIns="0" rtlCol="0" anchor="t">
            <a:spAutoFit/>
          </a:bodyPr>
          <a:lstStyle/>
          <a:p>
            <a:pPr algn="ctr" defTabSz="914314">
              <a:spcBef>
                <a:spcPts val="600"/>
              </a:spcBef>
              <a:spcAft>
                <a:spcPts val="600"/>
              </a:spcAft>
              <a:defRPr/>
            </a:pPr>
            <a:r>
              <a:rPr lang="en-US" sz="1200">
                <a:gradFill>
                  <a:gsLst>
                    <a:gs pos="2917">
                      <a:srgbClr val="000000"/>
                    </a:gs>
                    <a:gs pos="30000">
                      <a:srgbClr val="000000"/>
                    </a:gs>
                  </a:gsLst>
                  <a:lin ang="5400000" scaled="0"/>
                </a:gradFill>
                <a:latin typeface="Segoe Sans Display Semibold" pitchFamily="2" charset="0"/>
                <a:cs typeface="Segoe Sans Display Semibold" pitchFamily="2" charset="0"/>
              </a:rPr>
              <a:t>Microsoft Entra ID </a:t>
            </a:r>
            <a:br>
              <a:rPr lang="en-US" sz="1200">
                <a:gradFill>
                  <a:gsLst>
                    <a:gs pos="2917">
                      <a:srgbClr val="000000"/>
                    </a:gs>
                    <a:gs pos="30000">
                      <a:srgbClr val="000000"/>
                    </a:gs>
                  </a:gsLst>
                  <a:lin ang="5400000" scaled="0"/>
                </a:gradFill>
                <a:latin typeface="Segoe Sans Display Semibold" pitchFamily="2" charset="0"/>
                <a:cs typeface="Segoe Sans Display Semibold" pitchFamily="2" charset="0"/>
              </a:rPr>
            </a:br>
            <a:r>
              <a:rPr lang="en-US" sz="1200">
                <a:gradFill>
                  <a:gsLst>
                    <a:gs pos="2917">
                      <a:srgbClr val="000000"/>
                    </a:gs>
                    <a:gs pos="30000">
                      <a:srgbClr val="000000"/>
                    </a:gs>
                  </a:gsLst>
                  <a:lin ang="5400000" scaled="0"/>
                </a:gradFill>
                <a:latin typeface="Segoe Sans Display Semibold" pitchFamily="2" charset="0"/>
                <a:cs typeface="Segoe Sans Display Semibold" pitchFamily="2" charset="0"/>
              </a:rPr>
              <a:t>Plan 1</a:t>
            </a:r>
          </a:p>
          <a:p>
            <a:pPr algn="ctr" defTabSz="914314">
              <a:spcBef>
                <a:spcPts val="600"/>
              </a:spcBef>
              <a:spcAft>
                <a:spcPts val="600"/>
              </a:spcAft>
              <a:defRPr/>
            </a:pPr>
            <a:r>
              <a:rPr lang="en-US" sz="1050">
                <a:gradFill>
                  <a:gsLst>
                    <a:gs pos="2917">
                      <a:srgbClr val="000000"/>
                    </a:gs>
                    <a:gs pos="30000">
                      <a:srgbClr val="000000"/>
                    </a:gs>
                  </a:gsLst>
                  <a:lin ang="5400000" scaled="0"/>
                </a:gradFill>
                <a:cs typeface="Segoe Sans Display"/>
              </a:rPr>
              <a:t>Multi-Factor authentication to protect against password loss</a:t>
            </a:r>
          </a:p>
          <a:p>
            <a:pPr algn="ctr" defTabSz="914314">
              <a:spcBef>
                <a:spcPts val="600"/>
              </a:spcBef>
              <a:spcAft>
                <a:spcPts val="600"/>
              </a:spcAft>
              <a:defRPr/>
            </a:pPr>
            <a:r>
              <a:rPr lang="en-US" sz="1050">
                <a:gradFill>
                  <a:gsLst>
                    <a:gs pos="2917">
                      <a:srgbClr val="000000"/>
                    </a:gs>
                    <a:gs pos="30000">
                      <a:srgbClr val="000000"/>
                    </a:gs>
                  </a:gsLst>
                  <a:lin ang="5400000" scaled="0"/>
                </a:gradFill>
                <a:cs typeface="Segoe Sans Display"/>
              </a:rPr>
              <a:t>Passwordless authentication </a:t>
            </a:r>
          </a:p>
          <a:p>
            <a:pPr algn="ctr" defTabSz="914314">
              <a:spcBef>
                <a:spcPts val="600"/>
              </a:spcBef>
              <a:spcAft>
                <a:spcPts val="600"/>
              </a:spcAf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Self Service Password Reset</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Conditional Access to provide access controls to work data</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rPr>
              <a:t>Cloud App Discovery to discover Shadow IT </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p:txBody>
      </p:sp>
      <p:sp>
        <p:nvSpPr>
          <p:cNvPr id="33" name="TextBox 32">
            <a:extLst>
              <a:ext uri="{FF2B5EF4-FFF2-40B4-BE49-F238E27FC236}">
                <a16:creationId xmlns:a16="http://schemas.microsoft.com/office/drawing/2014/main" id="{847E94AB-0398-4BDD-A21F-CB57BD9EB427}"/>
              </a:ext>
            </a:extLst>
          </p:cNvPr>
          <p:cNvSpPr txBox="1"/>
          <p:nvPr/>
        </p:nvSpPr>
        <p:spPr>
          <a:xfrm>
            <a:off x="3143363" y="1876767"/>
            <a:ext cx="1788150" cy="457492"/>
          </a:xfrm>
          <a:prstGeom prst="roundRect">
            <a:avLst>
              <a:gd name="adj" fmla="val 50000"/>
            </a:avLst>
          </a:prstGeom>
          <a:solidFill>
            <a:srgbClr val="4A206A"/>
          </a:solidFill>
        </p:spPr>
        <p:txBody>
          <a:bodyPr wrap="square" lIns="0" tIns="89642" rIns="0" bIns="89642" rtlCol="0" anchor="ctr">
            <a:no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Sans Display Semibold" pitchFamily="2" charset="0"/>
                <a:cs typeface="Segoe Sans Display Semibold" pitchFamily="2" charset="0"/>
              </a:rPr>
              <a:t>Device management</a:t>
            </a:r>
          </a:p>
        </p:txBody>
      </p:sp>
      <p:sp>
        <p:nvSpPr>
          <p:cNvPr id="60" name="TextBox 59">
            <a:extLst>
              <a:ext uri="{FF2B5EF4-FFF2-40B4-BE49-F238E27FC236}">
                <a16:creationId xmlns:a16="http://schemas.microsoft.com/office/drawing/2014/main" id="{D3233A73-85AA-4328-96F0-9D66326BAE64}"/>
              </a:ext>
            </a:extLst>
          </p:cNvPr>
          <p:cNvSpPr txBox="1"/>
          <p:nvPr/>
        </p:nvSpPr>
        <p:spPr>
          <a:xfrm>
            <a:off x="3077318" y="3671695"/>
            <a:ext cx="1920240" cy="2754600"/>
          </a:xfrm>
          <a:prstGeom prst="rect">
            <a:avLst/>
          </a:prstGeom>
          <a:noFill/>
        </p:spPr>
        <p:txBody>
          <a:bodyPr wrap="square" lIns="0" tIns="0" rIns="0" bIns="0" rtlCol="0" anchor="t">
            <a:spAutoFit/>
          </a:bodyPr>
          <a:lstStyle/>
          <a:p>
            <a:pPr marL="0" marR="0" lvl="0" indent="0" algn="ctr" defTabSz="914314" rtl="0" eaLnBrk="1" fontAlgn="auto" latinLnBrk="0" hangingPunct="1">
              <a:spcBef>
                <a:spcPts val="600"/>
              </a:spcBef>
              <a:spcAft>
                <a:spcPts val="600"/>
              </a:spcAft>
              <a:buClrTx/>
              <a:buSzTx/>
              <a:buFontTx/>
              <a:buNone/>
              <a:tabLst/>
              <a:defRPr/>
            </a:pPr>
            <a: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Microsoft </a:t>
            </a:r>
            <a:b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br>
            <a: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Intune</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Centralized management </a:t>
            </a:r>
            <a:br>
              <a:rPr lang="en-US" sz="1050">
                <a:gradFill>
                  <a:gsLst>
                    <a:gs pos="2917">
                      <a:srgbClr val="000000"/>
                    </a:gs>
                    <a:gs pos="30000">
                      <a:srgbClr val="000000"/>
                    </a:gs>
                  </a:gsLst>
                  <a:lin ang="5400000" scaled="0"/>
                </a:gradFill>
              </a:rPr>
            </a:br>
            <a:r>
              <a:rPr lang="en-US" sz="1050">
                <a:gradFill>
                  <a:gsLst>
                    <a:gs pos="2917">
                      <a:srgbClr val="000000"/>
                    </a:gs>
                    <a:gs pos="30000">
                      <a:srgbClr val="000000"/>
                    </a:gs>
                  </a:gsLst>
                  <a:lin ang="5400000" scaled="0"/>
                </a:gradFill>
              </a:rPr>
              <a:t>of mobile and desktop, </a:t>
            </a:r>
            <a:br>
              <a:rPr lang="en-US" sz="1050">
                <a:gradFill>
                  <a:gsLst>
                    <a:gs pos="2917">
                      <a:srgbClr val="000000"/>
                    </a:gs>
                    <a:gs pos="30000">
                      <a:srgbClr val="000000"/>
                    </a:gs>
                  </a:gsLst>
                  <a:lin ang="5400000" scaled="0"/>
                </a:gradFill>
              </a:rPr>
            </a:br>
            <a:r>
              <a:rPr lang="en-US" sz="1050">
                <a:gradFill>
                  <a:gsLst>
                    <a:gs pos="2917">
                      <a:srgbClr val="000000"/>
                    </a:gs>
                    <a:gs pos="30000">
                      <a:srgbClr val="000000"/>
                    </a:gs>
                  </a:gsLst>
                  <a:lin ang="5400000" scaled="0"/>
                </a:gradFill>
              </a:rPr>
              <a:t>Mac devices</a:t>
            </a: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rPr>
              <a:t>Enforce that work data is only accessed via authorized apps</a:t>
            </a:r>
            <a:endPar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endParaRP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Remote wipe of data of lost </a:t>
            </a:r>
            <a:b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and stolen devices</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a:p>
            <a:pPr lvl="0" algn="ctr" defTabSz="914314">
              <a:spcBef>
                <a:spcPts val="600"/>
              </a:spcBef>
              <a:spcAft>
                <a:spcPts val="600"/>
              </a:spcAft>
              <a:defRPr/>
            </a:pPr>
            <a:r>
              <a:rPr lang="en-US" sz="1050">
                <a:gradFill>
                  <a:gsLst>
                    <a:gs pos="2917">
                      <a:srgbClr val="000000"/>
                    </a:gs>
                    <a:gs pos="30000">
                      <a:srgbClr val="000000"/>
                    </a:gs>
                  </a:gsLst>
                  <a:lin ang="5400000" scaled="0"/>
                </a:gradFill>
              </a:rPr>
              <a:t>Enforce strong pin requirements and disk encryption​</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Manage Wi-Fi, VPN certificates ​</a:t>
            </a:r>
          </a:p>
        </p:txBody>
      </p:sp>
      <p:sp>
        <p:nvSpPr>
          <p:cNvPr id="11" name="TextBox 10">
            <a:extLst>
              <a:ext uri="{FF2B5EF4-FFF2-40B4-BE49-F238E27FC236}">
                <a16:creationId xmlns:a16="http://schemas.microsoft.com/office/drawing/2014/main" id="{95EA5EAC-F07D-E6DB-E009-C727829481F7}"/>
              </a:ext>
            </a:extLst>
          </p:cNvPr>
          <p:cNvSpPr txBox="1"/>
          <p:nvPr/>
        </p:nvSpPr>
        <p:spPr>
          <a:xfrm>
            <a:off x="5344078" y="1876767"/>
            <a:ext cx="1703207" cy="457492"/>
          </a:xfrm>
          <a:prstGeom prst="roundRect">
            <a:avLst>
              <a:gd name="adj" fmla="val 50000"/>
            </a:avLst>
          </a:prstGeom>
          <a:solidFill>
            <a:schemeClr val="accent6"/>
          </a:solidFill>
        </p:spPr>
        <p:txBody>
          <a:bodyPr wrap="square" lIns="0" tIns="89642" rIns="0" bIns="89642" rtlCol="0" anchor="ctr">
            <a:no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Sans Display Semibold" pitchFamily="2" charset="0"/>
                <a:cs typeface="Segoe Sans Display Semibold" pitchFamily="2" charset="0"/>
              </a:rPr>
              <a:t>Device security</a:t>
            </a:r>
          </a:p>
        </p:txBody>
      </p:sp>
      <p:sp>
        <p:nvSpPr>
          <p:cNvPr id="10" name="TextBox 9">
            <a:extLst>
              <a:ext uri="{FF2B5EF4-FFF2-40B4-BE49-F238E27FC236}">
                <a16:creationId xmlns:a16="http://schemas.microsoft.com/office/drawing/2014/main" id="{5AD32A4B-5903-2A31-A46B-306C1EB9D479}"/>
              </a:ext>
            </a:extLst>
          </p:cNvPr>
          <p:cNvSpPr txBox="1"/>
          <p:nvPr/>
        </p:nvSpPr>
        <p:spPr>
          <a:xfrm>
            <a:off x="5235561" y="3671695"/>
            <a:ext cx="1920240" cy="2593018"/>
          </a:xfrm>
          <a:prstGeom prst="rect">
            <a:avLst/>
          </a:prstGeom>
          <a:noFill/>
        </p:spPr>
        <p:txBody>
          <a:bodyPr wrap="square" lIns="0" tIns="0" rIns="0" bIns="0" rtlCol="0" anchor="t">
            <a:spAutoFit/>
          </a:bodyPr>
          <a:lstStyle/>
          <a:p>
            <a:pPr marL="0" marR="0" lvl="0" indent="0" algn="ctr" defTabSz="914314" rtl="0" eaLnBrk="1" fontAlgn="auto" latinLnBrk="0" hangingPunct="1">
              <a:spcBef>
                <a:spcPts val="600"/>
              </a:spcBef>
              <a:spcAft>
                <a:spcPts val="600"/>
              </a:spcAft>
              <a:buClrTx/>
              <a:buSzTx/>
              <a:buFontTx/>
              <a:buNone/>
              <a:tabLst/>
              <a:defRPr/>
            </a:pPr>
            <a: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Microsoft Defender </a:t>
            </a:r>
            <a:b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br>
            <a:r>
              <a:rPr kumimoji="0" lang="en-US" sz="1200" b="0" i="0" u="non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for Business</a:t>
            </a: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Ransomware protection </a:t>
            </a:r>
            <a:b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with AI</a:t>
            </a: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 powered EDR w</a:t>
            </a:r>
            <a:r>
              <a:rPr lang="en-US" sz="1050" err="1">
                <a:gradFill>
                  <a:gsLst>
                    <a:gs pos="2917">
                      <a:srgbClr val="000000"/>
                    </a:gs>
                    <a:gs pos="30000">
                      <a:srgbClr val="000000"/>
                    </a:gs>
                  </a:gsLst>
                  <a:lin ang="5400000" scaled="0"/>
                </a:gradFill>
              </a:rPr>
              <a:t>ith</a:t>
            </a:r>
            <a:b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automatic attack disruption</a:t>
            </a:r>
            <a:endPar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endParaRP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rPr>
              <a:t>Next gen-AV protection</a:t>
            </a:r>
            <a:endPar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endParaRP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Protection across</a:t>
            </a: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 Android, iOS, Max, Windows and Linux</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Threat and vulnerability management</a:t>
            </a: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cs typeface="Segoe UI"/>
              </a:rPr>
              <a:t>Monthly summary reports </a:t>
            </a:r>
            <a:endParaRPr lang="en-US" sz="1050" b="0" i="0" u="none" strike="noStrike" kern="1200" cap="none" spc="0" normalizeH="0" baseline="0" noProof="0">
              <a:ln>
                <a:noFill/>
              </a:ln>
              <a:gradFill>
                <a:gsLst>
                  <a:gs pos="2917">
                    <a:srgbClr val="000000"/>
                  </a:gs>
                  <a:gs pos="30000">
                    <a:srgbClr val="000000"/>
                  </a:gs>
                </a:gsLst>
                <a:lin ang="5400000" scaled="0"/>
              </a:gradFill>
              <a:effectLst/>
              <a:uLnTx/>
              <a:uFillTx/>
              <a:cs typeface="Segoe UI"/>
            </a:endParaRPr>
          </a:p>
        </p:txBody>
      </p:sp>
      <p:sp>
        <p:nvSpPr>
          <p:cNvPr id="34" name="TextBox 33">
            <a:extLst>
              <a:ext uri="{FF2B5EF4-FFF2-40B4-BE49-F238E27FC236}">
                <a16:creationId xmlns:a16="http://schemas.microsoft.com/office/drawing/2014/main" id="{D1F7A068-9EC9-490F-BD03-F47D23F0E0B2}"/>
              </a:ext>
            </a:extLst>
          </p:cNvPr>
          <p:cNvSpPr txBox="1"/>
          <p:nvPr/>
        </p:nvSpPr>
        <p:spPr>
          <a:xfrm>
            <a:off x="7501242" y="1876767"/>
            <a:ext cx="1950983" cy="457492"/>
          </a:xfrm>
          <a:prstGeom prst="roundRect">
            <a:avLst>
              <a:gd name="adj" fmla="val 50000"/>
            </a:avLst>
          </a:prstGeom>
          <a:solidFill>
            <a:srgbClr val="0078D4"/>
          </a:solidFill>
        </p:spPr>
        <p:txBody>
          <a:bodyPr wrap="square" lIns="0" tIns="89642" rIns="0" bIns="89642" rtlCol="0" anchor="ctr">
            <a:no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Sans Display Semibold" pitchFamily="2" charset="0"/>
                <a:cs typeface="Segoe Sans Display Semibold" pitchFamily="2" charset="0"/>
              </a:rPr>
              <a:t>Email and app security</a:t>
            </a:r>
          </a:p>
        </p:txBody>
      </p:sp>
      <p:sp>
        <p:nvSpPr>
          <p:cNvPr id="61" name="TextBox 60">
            <a:extLst>
              <a:ext uri="{FF2B5EF4-FFF2-40B4-BE49-F238E27FC236}">
                <a16:creationId xmlns:a16="http://schemas.microsoft.com/office/drawing/2014/main" id="{C54D6493-B88E-4F00-9BCD-C7FBACDC589A}"/>
              </a:ext>
            </a:extLst>
          </p:cNvPr>
          <p:cNvSpPr txBox="1"/>
          <p:nvPr/>
        </p:nvSpPr>
        <p:spPr>
          <a:xfrm>
            <a:off x="7516613" y="3671695"/>
            <a:ext cx="1920240" cy="2762295"/>
          </a:xfrm>
          <a:prstGeom prst="rect">
            <a:avLst/>
          </a:prstGeom>
          <a:noFill/>
        </p:spPr>
        <p:txBody>
          <a:bodyPr wrap="square" lIns="0" tIns="0" rIns="0" bIns="0" rtlCol="0" anchor="t">
            <a:spAutoFit/>
          </a:bodyPr>
          <a:lstStyle/>
          <a:p>
            <a:pPr marL="0" marR="0" lvl="0" indent="0" algn="ctr" defTabSz="914314" rtl="0" eaLnBrk="1" fontAlgn="auto" latinLnBrk="0" hangingPunct="1">
              <a:spcBef>
                <a:spcPts val="60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Microsoft</a:t>
            </a:r>
            <a:r>
              <a:rPr kumimoji="0" lang="en-US" sz="1200" b="0" i="0" u="none" strike="noStrike" kern="1200" cap="none" spc="0" normalizeH="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 </a:t>
            </a: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Defender </a:t>
            </a:r>
            <a:b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b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for Office 365 </a:t>
            </a: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rPr>
              <a:t>AI powered LLM based threat protection </a:t>
            </a:r>
          </a:p>
          <a:p>
            <a:pPr marL="0" marR="0" lvl="0" indent="0" algn="ctr" defTabSz="914314" rtl="0" eaLnBrk="1" fontAlgn="auto" latinLnBrk="0" hangingPunct="1">
              <a:spcBef>
                <a:spcPts val="600"/>
              </a:spcBef>
              <a:spcAft>
                <a:spcPts val="600"/>
              </a:spcAft>
              <a:buClrTx/>
              <a:buSzTx/>
              <a:buFontTx/>
              <a:buNone/>
              <a:tabLst/>
              <a:defRPr/>
            </a:pPr>
            <a:r>
              <a:rPr lang="en-US" sz="1050">
                <a:gradFill>
                  <a:gsLst>
                    <a:gs pos="2917">
                      <a:srgbClr val="000000"/>
                    </a:gs>
                    <a:gs pos="30000">
                      <a:srgbClr val="000000"/>
                    </a:gs>
                  </a:gsLst>
                  <a:lin ang="5400000" scaled="0"/>
                </a:gradFill>
              </a:rPr>
              <a:t>Phishing and malware </a:t>
            </a:r>
            <a:br>
              <a:rPr lang="en-US" sz="1050">
                <a:gradFill>
                  <a:gsLst>
                    <a:gs pos="2917">
                      <a:srgbClr val="000000"/>
                    </a:gs>
                    <a:gs pos="30000">
                      <a:srgbClr val="000000"/>
                    </a:gs>
                  </a:gsLst>
                  <a:lin ang="5400000" scaled="0"/>
                </a:gradFill>
              </a:rPr>
            </a:br>
            <a:r>
              <a:rPr lang="en-US" sz="1050">
                <a:gradFill>
                  <a:gsLst>
                    <a:gs pos="2917">
                      <a:srgbClr val="000000"/>
                    </a:gs>
                    <a:gs pos="30000">
                      <a:srgbClr val="000000"/>
                    </a:gs>
                  </a:gsLst>
                  <a:lin ang="5400000" scaled="0"/>
                </a:gradFill>
              </a:rPr>
              <a:t>defense across email, Microsoft Teams, </a:t>
            </a:r>
            <a:br>
              <a:rPr lang="en-US" sz="1050">
                <a:gradFill>
                  <a:gsLst>
                    <a:gs pos="2917">
                      <a:srgbClr val="000000"/>
                    </a:gs>
                    <a:gs pos="30000">
                      <a:srgbClr val="000000"/>
                    </a:gs>
                  </a:gsLst>
                  <a:lin ang="5400000" scaled="0"/>
                </a:gradFill>
              </a:rPr>
            </a:br>
            <a:r>
              <a:rPr lang="en-US" sz="1050">
                <a:gradFill>
                  <a:gsLst>
                    <a:gs pos="2917">
                      <a:srgbClr val="000000"/>
                    </a:gs>
                    <a:gs pos="30000">
                      <a:srgbClr val="000000"/>
                    </a:gs>
                  </a:gsLst>
                  <a:lin ang="5400000" scaled="0"/>
                </a:gradFill>
              </a:rPr>
              <a:t>OneDrive and SharePoint</a:t>
            </a: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baseline="0" noProof="0" err="1">
                <a:ln>
                  <a:noFill/>
                </a:ln>
                <a:gradFill>
                  <a:gsLst>
                    <a:gs pos="2917">
                      <a:srgbClr val="000000"/>
                    </a:gs>
                    <a:gs pos="30000">
                      <a:srgbClr val="000000"/>
                    </a:gs>
                  </a:gsLst>
                  <a:lin ang="5400000" scaled="0"/>
                </a:gradFill>
                <a:effectLst/>
                <a:uLnTx/>
                <a:uFillTx/>
              </a:rPr>
              <a:t>SafeLinks</a:t>
            </a: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rPr>
              <a:t> with</a:t>
            </a: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 time of click </a:t>
            </a:r>
            <a:b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URL filtering</a:t>
            </a:r>
          </a:p>
          <a:p>
            <a:pPr marL="0" marR="0" lvl="0" indent="0" algn="ctr" defTabSz="914314" rtl="0" eaLnBrk="1" fontAlgn="auto" latinLnBrk="0" hangingPunct="1">
              <a:spcBef>
                <a:spcPts val="600"/>
              </a:spcBef>
              <a:spcAft>
                <a:spcPts val="600"/>
              </a:spcAft>
              <a:buClrTx/>
              <a:buSzTx/>
              <a:buFontTx/>
              <a:buNone/>
              <a:tabLst/>
              <a:defRPr/>
            </a:pP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Safe Attachments with </a:t>
            </a:r>
            <a:b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real-time attachment </a:t>
            </a:r>
            <a:b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br>
            <a:r>
              <a:rPr kumimoji="0" lang="en-US" sz="1050" b="0" i="0" u="none" strike="noStrike" kern="1200" cap="none" spc="0" normalizeH="0" noProof="0">
                <a:ln>
                  <a:noFill/>
                </a:ln>
                <a:gradFill>
                  <a:gsLst>
                    <a:gs pos="2917">
                      <a:srgbClr val="000000"/>
                    </a:gs>
                    <a:gs pos="30000">
                      <a:srgbClr val="000000"/>
                    </a:gs>
                  </a:gsLst>
                  <a:lin ang="5400000" scaled="0"/>
                </a:gradFill>
                <a:effectLst/>
                <a:uLnTx/>
                <a:uFillTx/>
              </a:rPr>
              <a:t>scanning in sandbox</a:t>
            </a:r>
            <a:endPar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endParaRPr>
          </a:p>
        </p:txBody>
      </p:sp>
      <p:sp>
        <p:nvSpPr>
          <p:cNvPr id="36" name="TextBox 35">
            <a:extLst>
              <a:ext uri="{FF2B5EF4-FFF2-40B4-BE49-F238E27FC236}">
                <a16:creationId xmlns:a16="http://schemas.microsoft.com/office/drawing/2014/main" id="{1A5D0DCD-1CF2-460D-B266-735882C7225C}"/>
              </a:ext>
            </a:extLst>
          </p:cNvPr>
          <p:cNvSpPr txBox="1"/>
          <p:nvPr/>
        </p:nvSpPr>
        <p:spPr>
          <a:xfrm>
            <a:off x="9906181" y="1876767"/>
            <a:ext cx="1703207" cy="457492"/>
          </a:xfrm>
          <a:prstGeom prst="roundRect">
            <a:avLst>
              <a:gd name="adj" fmla="val 50000"/>
            </a:avLst>
          </a:prstGeom>
          <a:solidFill>
            <a:schemeClr val="accent2"/>
          </a:solidFill>
        </p:spPr>
        <p:txBody>
          <a:bodyPr wrap="square" lIns="0" tIns="89642" rIns="0" bIns="89642" rtlCol="0" anchor="ctr">
            <a:no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Sans Display Semibold" pitchFamily="2" charset="0"/>
                <a:cs typeface="Segoe Sans Display Semibold" pitchFamily="2" charset="0"/>
              </a:rPr>
              <a:t>Data security</a:t>
            </a:r>
          </a:p>
        </p:txBody>
      </p:sp>
      <p:sp>
        <p:nvSpPr>
          <p:cNvPr id="63" name="TextBox 62">
            <a:extLst>
              <a:ext uri="{FF2B5EF4-FFF2-40B4-BE49-F238E27FC236}">
                <a16:creationId xmlns:a16="http://schemas.microsoft.com/office/drawing/2014/main" id="{AE66C7D0-FE83-4E07-B1B2-FC980EF1417A}"/>
              </a:ext>
            </a:extLst>
          </p:cNvPr>
          <p:cNvSpPr txBox="1"/>
          <p:nvPr/>
        </p:nvSpPr>
        <p:spPr>
          <a:xfrm>
            <a:off x="9797664" y="3671695"/>
            <a:ext cx="1920240" cy="2277547"/>
          </a:xfrm>
          <a:prstGeom prst="rect">
            <a:avLst/>
          </a:prstGeom>
          <a:noFill/>
        </p:spPr>
        <p:txBody>
          <a:bodyPr wrap="square" lIns="0" tIns="0" rIns="0" bIns="0" rtlCol="0">
            <a:spAutoFit/>
          </a:bodyPr>
          <a:lstStyle/>
          <a:p>
            <a:pPr marL="0" marR="0" lvl="0" indent="0" algn="ctr" defTabSz="914314" rtl="0" eaLnBrk="1" fontAlgn="auto" latinLnBrk="0" hangingPunct="1">
              <a:spcBef>
                <a:spcPts val="60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Microsoft </a:t>
            </a:r>
            <a:b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b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Semibold" pitchFamily="2" charset="0"/>
                <a:cs typeface="Segoe Sans Display Semibold" pitchFamily="2" charset="0"/>
              </a:rPr>
              <a:t>Purview</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Data Loss Prevention to protect sensitive data such as credit card or social security numbers </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Classify and label </a:t>
            </a:r>
            <a:br>
              <a:rPr lang="en-US" sz="1050">
                <a:gradFill>
                  <a:gsLst>
                    <a:gs pos="2917">
                      <a:srgbClr val="000000"/>
                    </a:gs>
                    <a:gs pos="30000">
                      <a:srgbClr val="000000"/>
                    </a:gs>
                  </a:gsLst>
                  <a:lin ang="5400000" scaled="0"/>
                </a:gradFill>
              </a:rPr>
            </a:br>
            <a:r>
              <a:rPr lang="en-US" sz="1050">
                <a:gradFill>
                  <a:gsLst>
                    <a:gs pos="2917">
                      <a:srgbClr val="000000"/>
                    </a:gs>
                    <a:gs pos="30000">
                      <a:srgbClr val="000000"/>
                    </a:gs>
                  </a:gsLst>
                  <a:lin ang="5400000" scaled="0"/>
                </a:gradFill>
              </a:rPr>
              <a:t>sensitive data </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Apply protection such as “Do Not Forward” or “Encrypt Email”</a:t>
            </a:r>
          </a:p>
          <a:p>
            <a:pPr lvl="0" algn="ctr" defTabSz="914314">
              <a:spcBef>
                <a:spcPts val="600"/>
              </a:spcBef>
              <a:spcAft>
                <a:spcPts val="600"/>
              </a:spcAft>
              <a:defRPr/>
            </a:pPr>
            <a:r>
              <a:rPr lang="en-US" sz="1050">
                <a:gradFill>
                  <a:gsLst>
                    <a:gs pos="2917">
                      <a:srgbClr val="000000"/>
                    </a:gs>
                    <a:gs pos="30000">
                      <a:srgbClr val="000000"/>
                    </a:gs>
                  </a:gsLst>
                  <a:lin ang="5400000" scaled="0"/>
                </a:gradFill>
              </a:rPr>
              <a:t>Audit, search and legal hold</a:t>
            </a:r>
          </a:p>
        </p:txBody>
      </p:sp>
      <p:cxnSp>
        <p:nvCxnSpPr>
          <p:cNvPr id="66" name="Straight Arrow Connector 65">
            <a:extLst>
              <a:ext uri="{FF2B5EF4-FFF2-40B4-BE49-F238E27FC236}">
                <a16:creationId xmlns:a16="http://schemas.microsoft.com/office/drawing/2014/main" id="{8551B696-DCDD-42CC-83DE-D68A18A9C797}"/>
              </a:ext>
              <a:ext uri="{C183D7F6-B498-43B3-948B-1728B52AA6E4}">
                <adec:decorative xmlns:adec="http://schemas.microsoft.com/office/drawing/2017/decorative" val="1"/>
              </a:ext>
            </a:extLst>
          </p:cNvPr>
          <p:cNvCxnSpPr>
            <a:cxnSpLocks/>
          </p:cNvCxnSpPr>
          <p:nvPr/>
        </p:nvCxnSpPr>
        <p:spPr>
          <a:xfrm>
            <a:off x="2575244" y="2998292"/>
            <a:ext cx="548640" cy="0"/>
          </a:xfrm>
          <a:prstGeom prst="straightConnector1">
            <a:avLst/>
          </a:prstGeom>
          <a:ln w="19050">
            <a:solidFill>
              <a:srgbClr val="8DC8E8"/>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4165C7A3-FA69-2CE4-1163-F79AB404F10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4850" y="2632532"/>
            <a:ext cx="731520" cy="731520"/>
          </a:xfrm>
          <a:prstGeom prst="rect">
            <a:avLst/>
          </a:prstGeom>
        </p:spPr>
      </p:pic>
      <p:pic>
        <p:nvPicPr>
          <p:cNvPr id="22" name="Picture 2">
            <a:extLst>
              <a:ext uri="{FF2B5EF4-FFF2-40B4-BE49-F238E27FC236}">
                <a16:creationId xmlns:a16="http://schemas.microsoft.com/office/drawing/2014/main" id="{00B3F4B3-085D-5D24-48E0-7EE18C5702A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bwMode="auto">
          <a:xfrm>
            <a:off x="5845116" y="2632532"/>
            <a:ext cx="701130" cy="7315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E77AE43F-6A24-6507-85C9-D66927ED64FD}"/>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671678" y="2632532"/>
            <a:ext cx="731520" cy="731520"/>
          </a:xfrm>
          <a:prstGeom prst="rect">
            <a:avLst/>
          </a:prstGeom>
        </p:spPr>
      </p:pic>
      <p:pic>
        <p:nvPicPr>
          <p:cNvPr id="27" name="Graphic 26">
            <a:extLst>
              <a:ext uri="{FF2B5EF4-FFF2-40B4-BE49-F238E27FC236}">
                <a16:creationId xmlns:a16="http://schemas.microsoft.com/office/drawing/2014/main" id="{FBEE4118-CACF-4FA3-30F0-8DB924890D5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67319" y="2632532"/>
            <a:ext cx="731520" cy="731520"/>
          </a:xfrm>
          <a:prstGeom prst="rect">
            <a:avLst/>
          </a:prstGeom>
        </p:spPr>
      </p:pic>
      <p:grpSp>
        <p:nvGrpSpPr>
          <p:cNvPr id="12" name="Group 11">
            <a:extLst>
              <a:ext uri="{FF2B5EF4-FFF2-40B4-BE49-F238E27FC236}">
                <a16:creationId xmlns:a16="http://schemas.microsoft.com/office/drawing/2014/main" id="{1D2C2742-A0DC-ACE4-21B6-C5F4A9CC1F3E}"/>
              </a:ext>
              <a:ext uri="{C183D7F6-B498-43B3-948B-1728B52AA6E4}">
                <adec:decorative xmlns:adec="http://schemas.microsoft.com/office/drawing/2017/decorative" val="1"/>
              </a:ext>
            </a:extLst>
          </p:cNvPr>
          <p:cNvGrpSpPr/>
          <p:nvPr/>
        </p:nvGrpSpPr>
        <p:grpSpPr>
          <a:xfrm>
            <a:off x="8183879" y="2701905"/>
            <a:ext cx="723452" cy="609257"/>
            <a:chOff x="7944192" y="2597033"/>
            <a:chExt cx="893615" cy="752560"/>
          </a:xfrm>
        </p:grpSpPr>
        <p:pic>
          <p:nvPicPr>
            <p:cNvPr id="40" name="Picture 39" descr="A blue cloud on a black background&#10;&#10;Description automatically generated">
              <a:extLst>
                <a:ext uri="{FF2B5EF4-FFF2-40B4-BE49-F238E27FC236}">
                  <a16:creationId xmlns:a16="http://schemas.microsoft.com/office/drawing/2014/main" id="{9A496119-3587-6760-D32A-F674F86226D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21982" t="29770" r="23829" b="30540"/>
            <a:stretch/>
          </p:blipFill>
          <p:spPr>
            <a:xfrm>
              <a:off x="7944192" y="3002961"/>
              <a:ext cx="440338" cy="322522"/>
            </a:xfrm>
            <a:prstGeom prst="rect">
              <a:avLst/>
            </a:prstGeom>
          </p:spPr>
        </p:pic>
        <p:pic>
          <p:nvPicPr>
            <p:cNvPr id="41" name="Picture 40" descr="A logo with a black background&#10;&#10;Description automatically generated">
              <a:extLst>
                <a:ext uri="{FF2B5EF4-FFF2-40B4-BE49-F238E27FC236}">
                  <a16:creationId xmlns:a16="http://schemas.microsoft.com/office/drawing/2014/main" id="{E0E77343-B4A1-6827-0C2A-7E6B6E5D20B5}"/>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3091" t="24096" r="24500" b="24154"/>
            <a:stretch/>
          </p:blipFill>
          <p:spPr>
            <a:xfrm>
              <a:off x="8450919" y="2967560"/>
              <a:ext cx="386888" cy="382033"/>
            </a:xfrm>
            <a:prstGeom prst="rect">
              <a:avLst/>
            </a:prstGeom>
          </p:spPr>
        </p:pic>
        <p:pic>
          <p:nvPicPr>
            <p:cNvPr id="44" name="Picture 43" descr="Copilot in Outlook">
              <a:extLst>
                <a:ext uri="{FF2B5EF4-FFF2-40B4-BE49-F238E27FC236}">
                  <a16:creationId xmlns:a16="http://schemas.microsoft.com/office/drawing/2014/main" id="{486D3440-BD31-CD41-3FAC-1AABE0A37336}"/>
                </a:ext>
              </a:extLst>
            </p:cNvPr>
            <p:cNvPicPr>
              <a:picLocks noChangeAspect="1"/>
            </p:cNvPicPr>
            <p:nvPr/>
          </p:nvPicPr>
          <p:blipFill>
            <a:blip r:embed="rId13"/>
            <a:srcRect/>
            <a:stretch/>
          </p:blipFill>
          <p:spPr>
            <a:xfrm>
              <a:off x="8018231" y="2608880"/>
              <a:ext cx="315885" cy="295971"/>
            </a:xfrm>
            <a:prstGeom prst="rect">
              <a:avLst/>
            </a:prstGeom>
          </p:spPr>
        </p:pic>
        <p:pic>
          <p:nvPicPr>
            <p:cNvPr id="45" name="Picture 44" descr="Copilot in Teams">
              <a:extLst>
                <a:ext uri="{FF2B5EF4-FFF2-40B4-BE49-F238E27FC236}">
                  <a16:creationId xmlns:a16="http://schemas.microsoft.com/office/drawing/2014/main" id="{729A43F6-65D7-9AC8-A86B-1F735B44A744}"/>
                </a:ext>
              </a:extLst>
            </p:cNvPr>
            <p:cNvPicPr>
              <a:picLocks noChangeAspect="1"/>
            </p:cNvPicPr>
            <p:nvPr/>
          </p:nvPicPr>
          <p:blipFill>
            <a:blip r:embed="rId14"/>
            <a:srcRect/>
            <a:stretch/>
          </p:blipFill>
          <p:spPr>
            <a:xfrm>
              <a:off x="8480518" y="2597033"/>
              <a:ext cx="337139" cy="315884"/>
            </a:xfrm>
            <a:prstGeom prst="rect">
              <a:avLst/>
            </a:prstGeom>
          </p:spPr>
        </p:pic>
      </p:grpSp>
      <p:cxnSp>
        <p:nvCxnSpPr>
          <p:cNvPr id="48" name="Straight Arrow Connector 47">
            <a:extLst>
              <a:ext uri="{FF2B5EF4-FFF2-40B4-BE49-F238E27FC236}">
                <a16:creationId xmlns:a16="http://schemas.microsoft.com/office/drawing/2014/main" id="{D8B21893-4B28-09A1-D0AF-900573D242D6}"/>
              </a:ext>
              <a:ext uri="{C183D7F6-B498-43B3-948B-1728B52AA6E4}">
                <adec:decorative xmlns:adec="http://schemas.microsoft.com/office/drawing/2017/decorative" val="1"/>
              </a:ext>
            </a:extLst>
          </p:cNvPr>
          <p:cNvCxnSpPr>
            <a:cxnSpLocks/>
          </p:cNvCxnSpPr>
          <p:nvPr/>
        </p:nvCxnSpPr>
        <p:spPr>
          <a:xfrm>
            <a:off x="4842779" y="2998292"/>
            <a:ext cx="548640" cy="0"/>
          </a:xfrm>
          <a:prstGeom prst="straightConnector1">
            <a:avLst/>
          </a:prstGeom>
          <a:ln w="19050">
            <a:solidFill>
              <a:srgbClr val="8DC8E8"/>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7D1DA2E-F15D-38AE-6DC3-14E15E74466E}"/>
              </a:ext>
              <a:ext uri="{C183D7F6-B498-43B3-948B-1728B52AA6E4}">
                <adec:decorative xmlns:adec="http://schemas.microsoft.com/office/drawing/2017/decorative" val="1"/>
              </a:ext>
            </a:extLst>
          </p:cNvPr>
          <p:cNvCxnSpPr>
            <a:cxnSpLocks/>
          </p:cNvCxnSpPr>
          <p:nvPr/>
        </p:nvCxnSpPr>
        <p:spPr>
          <a:xfrm>
            <a:off x="6960134" y="2998292"/>
            <a:ext cx="548640" cy="0"/>
          </a:xfrm>
          <a:prstGeom prst="straightConnector1">
            <a:avLst/>
          </a:prstGeom>
          <a:ln w="19050">
            <a:solidFill>
              <a:srgbClr val="8DC8E8"/>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1AECAE5-F160-F5A0-6133-1AF4C9B852D6}"/>
              </a:ext>
              <a:ext uri="{C183D7F6-B498-43B3-948B-1728B52AA6E4}">
                <adec:decorative xmlns:adec="http://schemas.microsoft.com/office/drawing/2017/decorative" val="1"/>
              </a:ext>
            </a:extLst>
          </p:cNvPr>
          <p:cNvCxnSpPr>
            <a:cxnSpLocks/>
          </p:cNvCxnSpPr>
          <p:nvPr/>
        </p:nvCxnSpPr>
        <p:spPr>
          <a:xfrm>
            <a:off x="9444692" y="2998292"/>
            <a:ext cx="548640" cy="0"/>
          </a:xfrm>
          <a:prstGeom prst="straightConnector1">
            <a:avLst/>
          </a:prstGeom>
          <a:ln w="19050">
            <a:solidFill>
              <a:srgbClr val="8DC8E8"/>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7885B053-A3D0-6620-DC7D-812794E0F417}"/>
              </a:ext>
              <a:ext uri="{C183D7F6-B498-43B3-948B-1728B52AA6E4}">
                <adec:decorative xmlns:adec="http://schemas.microsoft.com/office/drawing/2017/decorative" val="1"/>
              </a:ext>
            </a:extLst>
          </p:cNvPr>
          <p:cNvGrpSpPr/>
          <p:nvPr/>
        </p:nvGrpSpPr>
        <p:grpSpPr>
          <a:xfrm>
            <a:off x="7717085" y="2777788"/>
            <a:ext cx="457491" cy="457491"/>
            <a:chOff x="8676908" y="4130598"/>
            <a:chExt cx="640080" cy="640080"/>
          </a:xfrm>
        </p:grpSpPr>
        <p:sp>
          <p:nvSpPr>
            <p:cNvPr id="15" name="Oval 14">
              <a:extLst>
                <a:ext uri="{FF2B5EF4-FFF2-40B4-BE49-F238E27FC236}">
                  <a16:creationId xmlns:a16="http://schemas.microsoft.com/office/drawing/2014/main" id="{8834E7E1-CF97-F7DA-0246-0F8D5DEC8F7E}"/>
                </a:ext>
                <a:ext uri="{C183D7F6-B498-43B3-948B-1728B52AA6E4}">
                  <adec:decorative xmlns:adec="http://schemas.microsoft.com/office/drawing/2017/decorative" val="1"/>
                </a:ext>
              </a:extLst>
            </p:cNvPr>
            <p:cNvSpPr>
              <a:spLocks noChangeAspect="1"/>
            </p:cNvSpPr>
            <p:nvPr/>
          </p:nvSpPr>
          <p:spPr bwMode="auto">
            <a:xfrm>
              <a:off x="8676908" y="4130598"/>
              <a:ext cx="640080" cy="640080"/>
            </a:xfrm>
            <a:prstGeom prst="ellipse">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000">
                <a:solidFill>
                  <a:schemeClr val="accent1"/>
                </a:solidFill>
                <a:latin typeface="Segoe UI Semibold"/>
                <a:cs typeface="Segoe UI" pitchFamily="34" charset="0"/>
              </a:endParaRPr>
            </a:p>
          </p:txBody>
        </p:sp>
        <p:pic>
          <p:nvPicPr>
            <p:cNvPr id="16" name="Graphic 15">
              <a:extLst>
                <a:ext uri="{FF2B5EF4-FFF2-40B4-BE49-F238E27FC236}">
                  <a16:creationId xmlns:a16="http://schemas.microsoft.com/office/drawing/2014/main" id="{8F47E9AD-F029-E5E3-8658-A164F270B63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96733" y="4255396"/>
              <a:ext cx="400431" cy="417788"/>
            </a:xfrm>
            <a:prstGeom prst="rect">
              <a:avLst/>
            </a:prstGeom>
          </p:spPr>
        </p:pic>
      </p:grpSp>
    </p:spTree>
    <p:extLst>
      <p:ext uri="{BB962C8B-B14F-4D97-AF65-F5344CB8AC3E}">
        <p14:creationId xmlns:p14="http://schemas.microsoft.com/office/powerpoint/2010/main" val="29254042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42" presetClass="path" presetSubtype="0" decel="100000" fill="hold" grpId="1" nodeType="withEffect">
                                  <p:stCondLst>
                                    <p:cond delay="0"/>
                                  </p:stCondLst>
                                  <p:childTnLst>
                                    <p:animMotion origin="layout" path="M 0 -2.59259E-6 L 0 0.04352 " pathEditMode="relative" rAng="0" ptsTypes="AA">
                                      <p:cBhvr>
                                        <p:cTn id="9" dur="600" spd="-100000" fill="hold"/>
                                        <p:tgtEl>
                                          <p:spTgt spid="37"/>
                                        </p:tgtEl>
                                        <p:attrNameLst>
                                          <p:attrName>ppt_x</p:attrName>
                                          <p:attrName>ppt_y</p:attrName>
                                        </p:attrNameLst>
                                      </p:cBhvr>
                                      <p:rCtr x="0" y="2176"/>
                                    </p:animMotion>
                                  </p:childTnLst>
                                </p:cTn>
                              </p:par>
                              <p:par>
                                <p:cTn id="10" presetID="10"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42" presetClass="path" presetSubtype="0" decel="100000" fill="hold" grpId="1" nodeType="withEffect">
                                  <p:stCondLst>
                                    <p:cond delay="0"/>
                                  </p:stCondLst>
                                  <p:childTnLst>
                                    <p:animMotion origin="layout" path="M -1.45833E-6 -4.44444E-6 L -1.45833E-6 -0.05439 " pathEditMode="relative" rAng="0" ptsTypes="AA">
                                      <p:cBhvr>
                                        <p:cTn id="14" dur="600" spd="-100000" fill="hold"/>
                                        <p:tgtEl>
                                          <p:spTgt spid="32"/>
                                        </p:tgtEl>
                                        <p:attrNameLst>
                                          <p:attrName>ppt_x</p:attrName>
                                          <p:attrName>ppt_y</p:attrName>
                                        </p:attrNameLst>
                                      </p:cBhvr>
                                      <p:rCtr x="0" y="-2731"/>
                                    </p:animMotion>
                                  </p:childTnLst>
                                </p:cTn>
                              </p:par>
                              <p:par>
                                <p:cTn id="15" presetID="10"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par>
                                <p:cTn id="18" presetID="42" presetClass="path" presetSubtype="0" decel="100000" fill="hold" grpId="1" nodeType="withEffect">
                                  <p:stCondLst>
                                    <p:cond delay="0"/>
                                  </p:stCondLst>
                                  <p:childTnLst>
                                    <p:animMotion origin="layout" path="M 2.08333E-7 -4.44444E-6 L 2.08333E-7 -0.05439 " pathEditMode="relative" rAng="0" ptsTypes="AA">
                                      <p:cBhvr>
                                        <p:cTn id="19" dur="600" spd="-100000" fill="hold"/>
                                        <p:tgtEl>
                                          <p:spTgt spid="33"/>
                                        </p:tgtEl>
                                        <p:attrNameLst>
                                          <p:attrName>ppt_x</p:attrName>
                                          <p:attrName>ppt_y</p:attrName>
                                        </p:attrNameLst>
                                      </p:cBhvr>
                                      <p:rCtr x="0" y="-2731"/>
                                    </p:animMotion>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42" presetClass="path" presetSubtype="0" decel="100000" fill="hold" grpId="1" nodeType="withEffect">
                                  <p:stCondLst>
                                    <p:cond delay="0"/>
                                  </p:stCondLst>
                                  <p:childTnLst>
                                    <p:animMotion origin="layout" path="M -2.29167E-6 -4.44444E-6 L -2.29167E-6 -0.05439 " pathEditMode="relative" rAng="0" ptsTypes="AA">
                                      <p:cBhvr>
                                        <p:cTn id="24" dur="600" spd="-100000" fill="hold"/>
                                        <p:tgtEl>
                                          <p:spTgt spid="34"/>
                                        </p:tgtEl>
                                        <p:attrNameLst>
                                          <p:attrName>ppt_x</p:attrName>
                                          <p:attrName>ppt_y</p:attrName>
                                        </p:attrNameLst>
                                      </p:cBhvr>
                                      <p:rCtr x="0" y="-2731"/>
                                    </p:animMotion>
                                  </p:childTnLst>
                                </p:cTn>
                              </p:par>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42" presetClass="path" presetSubtype="0" decel="100000" fill="hold" grpId="1" nodeType="withEffect">
                                  <p:stCondLst>
                                    <p:cond delay="0"/>
                                  </p:stCondLst>
                                  <p:childTnLst>
                                    <p:animMotion origin="layout" path="M -1.66667E-6 -4.44444E-6 L -1.66667E-6 -0.05439 " pathEditMode="relative" rAng="0" ptsTypes="AA">
                                      <p:cBhvr>
                                        <p:cTn id="29" dur="600" spd="-100000" fill="hold"/>
                                        <p:tgtEl>
                                          <p:spTgt spid="36"/>
                                        </p:tgtEl>
                                        <p:attrNameLst>
                                          <p:attrName>ppt_x</p:attrName>
                                          <p:attrName>ppt_y</p:attrName>
                                        </p:attrNameLst>
                                      </p:cBhvr>
                                      <p:rCtr x="0" y="-2731"/>
                                    </p:animMotion>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42" presetClass="path" presetSubtype="0" decel="100000" fill="hold" grpId="1" nodeType="withEffect">
                                  <p:stCondLst>
                                    <p:cond delay="0"/>
                                  </p:stCondLst>
                                  <p:childTnLst>
                                    <p:animMotion origin="layout" path="M -2.91667E-6 -4.44444E-6 L -2.91667E-6 -0.05439 " pathEditMode="relative" rAng="0" ptsTypes="AA">
                                      <p:cBhvr>
                                        <p:cTn id="34" dur="600" spd="-100000" fill="hold"/>
                                        <p:tgtEl>
                                          <p:spTgt spid="11"/>
                                        </p:tgtEl>
                                        <p:attrNameLst>
                                          <p:attrName>ppt_x</p:attrName>
                                          <p:attrName>ppt_y</p:attrName>
                                        </p:attrNameLst>
                                      </p:cBhvr>
                                      <p:rCtr x="0" y="-2731"/>
                                    </p:animMotion>
                                  </p:childTnLst>
                                </p:cTn>
                              </p:par>
                              <p:par>
                                <p:cTn id="35" presetID="22" presetClass="entr" presetSubtype="1"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up)">
                                      <p:cBhvr>
                                        <p:cTn id="37" dur="500"/>
                                        <p:tgtEl>
                                          <p:spTgt spid="52"/>
                                        </p:tgtEl>
                                      </p:cBhvr>
                                    </p:animEffect>
                                  </p:childTnLst>
                                </p:cTn>
                              </p:par>
                            </p:childTnLst>
                          </p:cTn>
                        </p:par>
                        <p:par>
                          <p:cTn id="38" fill="hold">
                            <p:stCondLst>
                              <p:cond delay="600"/>
                            </p:stCondLst>
                            <p:childTnLst>
                              <p:par>
                                <p:cTn id="39" presetID="10" presetClass="entr" presetSubtype="0" fill="hold" grpId="0" nodeType="after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500"/>
                                        <p:tgtEl>
                                          <p:spTgt spid="59"/>
                                        </p:tgtEl>
                                      </p:cBhvr>
                                    </p:animEffect>
                                  </p:childTnLst>
                                </p:cTn>
                              </p:par>
                              <p:par>
                                <p:cTn id="42" presetID="42" presetClass="path" presetSubtype="0" decel="100000" fill="hold" grpId="1" nodeType="withEffect">
                                  <p:stCondLst>
                                    <p:cond delay="0"/>
                                  </p:stCondLst>
                                  <p:childTnLst>
                                    <p:animMotion origin="layout" path="M 2.08333E-6 0 L 2.08333E-6 -0.0544 " pathEditMode="relative" rAng="0" ptsTypes="AA">
                                      <p:cBhvr>
                                        <p:cTn id="43" dur="600" spd="-100000" fill="hold"/>
                                        <p:tgtEl>
                                          <p:spTgt spid="59"/>
                                        </p:tgtEl>
                                        <p:attrNameLst>
                                          <p:attrName>ppt_x</p:attrName>
                                          <p:attrName>ppt_y</p:attrName>
                                        </p:attrNameLst>
                                      </p:cBhvr>
                                      <p:rCtr x="0" y="-2731"/>
                                    </p:animMotion>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42" presetClass="path" presetSubtype="0" decel="100000" fill="hold" nodeType="withEffect">
                                  <p:stCondLst>
                                    <p:cond delay="0"/>
                                  </p:stCondLst>
                                  <p:childTnLst>
                                    <p:animMotion origin="layout" path="M 2.08333E-6 2.96296E-6 L 2.08333E-6 -0.0544 " pathEditMode="relative" rAng="0" ptsTypes="AA">
                                      <p:cBhvr>
                                        <p:cTn id="48" dur="600" spd="-100000" fill="hold"/>
                                        <p:tgtEl>
                                          <p:spTgt spid="20"/>
                                        </p:tgtEl>
                                        <p:attrNameLst>
                                          <p:attrName>ppt_x</p:attrName>
                                          <p:attrName>ppt_y</p:attrName>
                                        </p:attrNameLst>
                                      </p:cBhvr>
                                      <p:rCtr x="0" y="-2731"/>
                                    </p:animMotion>
                                  </p:childTnLst>
                                </p:cTn>
                              </p:par>
                            </p:childTnLst>
                          </p:cTn>
                        </p:par>
                        <p:par>
                          <p:cTn id="49" fill="hold">
                            <p:stCondLst>
                              <p:cond delay="1200"/>
                            </p:stCondLst>
                            <p:childTnLst>
                              <p:par>
                                <p:cTn id="50" presetID="22" presetClass="entr" presetSubtype="8" fill="hold" nodeType="afterEffect">
                                  <p:stCondLst>
                                    <p:cond delay="0"/>
                                  </p:stCondLst>
                                  <p:childTnLst>
                                    <p:set>
                                      <p:cBhvr>
                                        <p:cTn id="51" dur="1" fill="hold">
                                          <p:stCondLst>
                                            <p:cond delay="0"/>
                                          </p:stCondLst>
                                        </p:cTn>
                                        <p:tgtEl>
                                          <p:spTgt spid="66"/>
                                        </p:tgtEl>
                                        <p:attrNameLst>
                                          <p:attrName>style.visibility</p:attrName>
                                        </p:attrNameLst>
                                      </p:cBhvr>
                                      <p:to>
                                        <p:strVal val="visible"/>
                                      </p:to>
                                    </p:set>
                                    <p:animEffect transition="in" filter="wipe(left)">
                                      <p:cBhvr>
                                        <p:cTn id="52" dur="500"/>
                                        <p:tgtEl>
                                          <p:spTgt spid="66"/>
                                        </p:tgtEl>
                                      </p:cBhvr>
                                    </p:animEffect>
                                  </p:childTnLst>
                                </p:cTn>
                              </p:par>
                            </p:childTnLst>
                          </p:cTn>
                        </p:par>
                        <p:par>
                          <p:cTn id="53" fill="hold">
                            <p:stCondLst>
                              <p:cond delay="1700"/>
                            </p:stCondLst>
                            <p:childTnLst>
                              <p:par>
                                <p:cTn id="54" presetID="10" presetClass="entr" presetSubtype="0" fill="hold" grpId="0" nodeType="after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42" presetClass="path" presetSubtype="0" decel="100000" fill="hold" grpId="1" nodeType="withEffect">
                                  <p:stCondLst>
                                    <p:cond delay="0"/>
                                  </p:stCondLst>
                                  <p:childTnLst>
                                    <p:animMotion origin="layout" path="M 2.08333E-7 -1.11111E-6 L 2.08333E-7 -0.0544 " pathEditMode="relative" rAng="0" ptsTypes="AA">
                                      <p:cBhvr>
                                        <p:cTn id="58" dur="600" spd="-100000" fill="hold"/>
                                        <p:tgtEl>
                                          <p:spTgt spid="60"/>
                                        </p:tgtEl>
                                        <p:attrNameLst>
                                          <p:attrName>ppt_x</p:attrName>
                                          <p:attrName>ppt_y</p:attrName>
                                        </p:attrNameLst>
                                      </p:cBhvr>
                                      <p:rCtr x="0" y="-2731"/>
                                    </p:animMotion>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42" presetClass="path" presetSubtype="0" decel="100000" fill="hold" nodeType="withEffect">
                                  <p:stCondLst>
                                    <p:cond delay="0"/>
                                  </p:stCondLst>
                                  <p:childTnLst>
                                    <p:animMotion origin="layout" path="M 2.08333E-7 2.96296E-6 L 2.08333E-7 -0.0544 " pathEditMode="relative" rAng="0" ptsTypes="AA">
                                      <p:cBhvr>
                                        <p:cTn id="63" dur="600" spd="-100000" fill="hold"/>
                                        <p:tgtEl>
                                          <p:spTgt spid="25"/>
                                        </p:tgtEl>
                                        <p:attrNameLst>
                                          <p:attrName>ppt_x</p:attrName>
                                          <p:attrName>ppt_y</p:attrName>
                                        </p:attrNameLst>
                                      </p:cBhvr>
                                      <p:rCtr x="0" y="-2731"/>
                                    </p:animMotion>
                                  </p:childTnLst>
                                </p:cTn>
                              </p:par>
                            </p:childTnLst>
                          </p:cTn>
                        </p:par>
                        <p:par>
                          <p:cTn id="64" fill="hold">
                            <p:stCondLst>
                              <p:cond delay="2300"/>
                            </p:stCondLst>
                            <p:childTnLst>
                              <p:par>
                                <p:cTn id="65" presetID="22" presetClass="entr" presetSubtype="8" fill="hold" nodeType="after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wipe(left)">
                                      <p:cBhvr>
                                        <p:cTn id="67" dur="500"/>
                                        <p:tgtEl>
                                          <p:spTgt spid="48"/>
                                        </p:tgtEl>
                                      </p:cBhvr>
                                    </p:animEffect>
                                  </p:childTnLst>
                                </p:cTn>
                              </p:par>
                            </p:childTnLst>
                          </p:cTn>
                        </p:par>
                        <p:par>
                          <p:cTn id="68" fill="hold">
                            <p:stCondLst>
                              <p:cond delay="2800"/>
                            </p:stCondLst>
                            <p:childTnLst>
                              <p:par>
                                <p:cTn id="69" presetID="10" presetClass="entr" presetSubtype="0" fill="hold" grpId="0" nodeType="after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500"/>
                                        <p:tgtEl>
                                          <p:spTgt spid="10"/>
                                        </p:tgtEl>
                                      </p:cBhvr>
                                    </p:animEffect>
                                  </p:childTnLst>
                                </p:cTn>
                              </p:par>
                              <p:par>
                                <p:cTn id="72" presetID="42" presetClass="path" presetSubtype="0" decel="100000" fill="hold" grpId="1" nodeType="withEffect">
                                  <p:stCondLst>
                                    <p:cond delay="0"/>
                                  </p:stCondLst>
                                  <p:childTnLst>
                                    <p:animMotion origin="layout" path="M -3.125E-6 4.44444E-6 L -3.125E-6 -0.0544 " pathEditMode="relative" rAng="0" ptsTypes="AA">
                                      <p:cBhvr>
                                        <p:cTn id="73" dur="600" spd="-100000" fill="hold"/>
                                        <p:tgtEl>
                                          <p:spTgt spid="10"/>
                                        </p:tgtEl>
                                        <p:attrNameLst>
                                          <p:attrName>ppt_x</p:attrName>
                                          <p:attrName>ppt_y</p:attrName>
                                        </p:attrNameLst>
                                      </p:cBhvr>
                                      <p:rCtr x="0" y="-2731"/>
                                    </p:animMotion>
                                  </p:childTnLst>
                                </p:cTn>
                              </p:par>
                              <p:par>
                                <p:cTn id="74" presetID="10" presetClass="entr" presetSubtype="0" fill="hold"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par>
                                <p:cTn id="77" presetID="42" presetClass="path" presetSubtype="0" decel="100000" fill="hold" nodeType="withEffect">
                                  <p:stCondLst>
                                    <p:cond delay="0"/>
                                  </p:stCondLst>
                                  <p:childTnLst>
                                    <p:animMotion origin="layout" path="M -3.125E-6 2.96296E-6 L -3.125E-6 -0.0544 " pathEditMode="relative" rAng="0" ptsTypes="AA">
                                      <p:cBhvr>
                                        <p:cTn id="78" dur="600" spd="-100000" fill="hold"/>
                                        <p:tgtEl>
                                          <p:spTgt spid="22"/>
                                        </p:tgtEl>
                                        <p:attrNameLst>
                                          <p:attrName>ppt_x</p:attrName>
                                          <p:attrName>ppt_y</p:attrName>
                                        </p:attrNameLst>
                                      </p:cBhvr>
                                      <p:rCtr x="0" y="-2731"/>
                                    </p:animMotion>
                                  </p:childTnLst>
                                </p:cTn>
                              </p:par>
                            </p:childTnLst>
                          </p:cTn>
                        </p:par>
                        <p:par>
                          <p:cTn id="79" fill="hold">
                            <p:stCondLst>
                              <p:cond delay="3400"/>
                            </p:stCondLst>
                            <p:childTnLst>
                              <p:par>
                                <p:cTn id="80" presetID="22" presetClass="entr" presetSubtype="8" fill="hold"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left)">
                                      <p:cBhvr>
                                        <p:cTn id="82" dur="500"/>
                                        <p:tgtEl>
                                          <p:spTgt spid="49"/>
                                        </p:tgtEl>
                                      </p:cBhvr>
                                    </p:animEffect>
                                  </p:childTnLst>
                                </p:cTn>
                              </p:par>
                            </p:childTnLst>
                          </p:cTn>
                        </p:par>
                        <p:par>
                          <p:cTn id="83" fill="hold">
                            <p:stCondLst>
                              <p:cond delay="3900"/>
                            </p:stCondLst>
                            <p:childTnLst>
                              <p:par>
                                <p:cTn id="84" presetID="10" presetClass="entr" presetSubtype="0" fill="hold" nodeType="after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500"/>
                                        <p:tgtEl>
                                          <p:spTgt spid="12"/>
                                        </p:tgtEl>
                                      </p:cBhvr>
                                    </p:animEffect>
                                  </p:childTnLst>
                                </p:cTn>
                              </p:par>
                              <p:par>
                                <p:cTn id="87" presetID="42" presetClass="path" presetSubtype="0" decel="100000" fill="hold" nodeType="withEffect">
                                  <p:stCondLst>
                                    <p:cond delay="0"/>
                                  </p:stCondLst>
                                  <p:childTnLst>
                                    <p:animMotion origin="layout" path="M -1.45833E-6 4.07407E-6 L -1.45833E-6 -0.0544 " pathEditMode="relative" rAng="0" ptsTypes="AA">
                                      <p:cBhvr>
                                        <p:cTn id="88" dur="600" spd="-100000" fill="hold"/>
                                        <p:tgtEl>
                                          <p:spTgt spid="12"/>
                                        </p:tgtEl>
                                        <p:attrNameLst>
                                          <p:attrName>ppt_x</p:attrName>
                                          <p:attrName>ppt_y</p:attrName>
                                        </p:attrNameLst>
                                      </p:cBhvr>
                                      <p:rCtr x="0" y="-2731"/>
                                    </p:animMotion>
                                  </p:childTnLst>
                                </p:cTn>
                              </p:par>
                              <p:par>
                                <p:cTn id="89" presetID="10" presetClass="entr" presetSubtype="0" fill="hold" grpId="0" nodeType="with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fade">
                                      <p:cBhvr>
                                        <p:cTn id="91" dur="500"/>
                                        <p:tgtEl>
                                          <p:spTgt spid="9"/>
                                        </p:tgtEl>
                                      </p:cBhvr>
                                    </p:animEffect>
                                  </p:childTnLst>
                                </p:cTn>
                              </p:par>
                              <p:par>
                                <p:cTn id="92" presetID="42" presetClass="path" presetSubtype="0" decel="100000" fill="hold" grpId="1" nodeType="withEffect">
                                  <p:stCondLst>
                                    <p:cond delay="0"/>
                                  </p:stCondLst>
                                  <p:childTnLst>
                                    <p:animMotion origin="layout" path="M 2.29167E-6 4.07407E-6 L 2.29167E-6 -0.0544 " pathEditMode="relative" rAng="0" ptsTypes="AA">
                                      <p:cBhvr>
                                        <p:cTn id="93" dur="600" spd="-100000" fill="hold"/>
                                        <p:tgtEl>
                                          <p:spTgt spid="9"/>
                                        </p:tgtEl>
                                        <p:attrNameLst>
                                          <p:attrName>ppt_x</p:attrName>
                                          <p:attrName>ppt_y</p:attrName>
                                        </p:attrNameLst>
                                      </p:cBhvr>
                                      <p:rCtr x="0" y="-2731"/>
                                    </p:animMotion>
                                  </p:childTnLst>
                                </p:cTn>
                              </p:par>
                              <p:par>
                                <p:cTn id="94" presetID="10" presetClass="entr" presetSubtype="0" fill="hold" nodeType="with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fade">
                                      <p:cBhvr>
                                        <p:cTn id="96" dur="500"/>
                                        <p:tgtEl>
                                          <p:spTgt spid="14"/>
                                        </p:tgtEl>
                                      </p:cBhvr>
                                    </p:animEffect>
                                  </p:childTnLst>
                                </p:cTn>
                              </p:par>
                              <p:par>
                                <p:cTn id="97" presetID="42" presetClass="path" presetSubtype="0" decel="100000" fill="hold" nodeType="withEffect">
                                  <p:stCondLst>
                                    <p:cond delay="0"/>
                                  </p:stCondLst>
                                  <p:childTnLst>
                                    <p:animMotion origin="layout" path="M -2.70833E-6 4.07407E-6 L -2.70833E-6 -0.0544 " pathEditMode="relative" rAng="0" ptsTypes="AA">
                                      <p:cBhvr>
                                        <p:cTn id="98" dur="600" spd="-100000" fill="hold"/>
                                        <p:tgtEl>
                                          <p:spTgt spid="14"/>
                                        </p:tgtEl>
                                        <p:attrNameLst>
                                          <p:attrName>ppt_x</p:attrName>
                                          <p:attrName>ppt_y</p:attrName>
                                        </p:attrNameLst>
                                      </p:cBhvr>
                                      <p:rCtr x="0" y="-2731"/>
                                    </p:animMotion>
                                  </p:childTnLst>
                                </p:cTn>
                              </p:par>
                              <p:par>
                                <p:cTn id="99" presetID="10" presetClass="entr" presetSubtype="0" fill="hold" grpId="0" nodeType="withEffect">
                                  <p:stCondLst>
                                    <p:cond delay="0"/>
                                  </p:stCondLst>
                                  <p:childTnLst>
                                    <p:set>
                                      <p:cBhvr>
                                        <p:cTn id="100" dur="1" fill="hold">
                                          <p:stCondLst>
                                            <p:cond delay="0"/>
                                          </p:stCondLst>
                                        </p:cTn>
                                        <p:tgtEl>
                                          <p:spTgt spid="61"/>
                                        </p:tgtEl>
                                        <p:attrNameLst>
                                          <p:attrName>style.visibility</p:attrName>
                                        </p:attrNameLst>
                                      </p:cBhvr>
                                      <p:to>
                                        <p:strVal val="visible"/>
                                      </p:to>
                                    </p:set>
                                    <p:animEffect transition="in" filter="fade">
                                      <p:cBhvr>
                                        <p:cTn id="101" dur="500"/>
                                        <p:tgtEl>
                                          <p:spTgt spid="61"/>
                                        </p:tgtEl>
                                      </p:cBhvr>
                                    </p:animEffect>
                                  </p:childTnLst>
                                </p:cTn>
                              </p:par>
                              <p:par>
                                <p:cTn id="102" presetID="42" presetClass="path" presetSubtype="0" decel="100000" fill="hold" grpId="1" nodeType="withEffect">
                                  <p:stCondLst>
                                    <p:cond delay="0"/>
                                  </p:stCondLst>
                                  <p:childTnLst>
                                    <p:animMotion origin="layout" path="M -2.29167E-6 -4.44444E-6 L -2.29167E-6 -0.05439 " pathEditMode="relative" rAng="0" ptsTypes="AA">
                                      <p:cBhvr>
                                        <p:cTn id="103" dur="600" spd="-100000" fill="hold"/>
                                        <p:tgtEl>
                                          <p:spTgt spid="61"/>
                                        </p:tgtEl>
                                        <p:attrNameLst>
                                          <p:attrName>ppt_x</p:attrName>
                                          <p:attrName>ppt_y</p:attrName>
                                        </p:attrNameLst>
                                      </p:cBhvr>
                                      <p:rCtr x="0" y="-2731"/>
                                    </p:animMotion>
                                  </p:childTnLst>
                                </p:cTn>
                              </p:par>
                            </p:childTnLst>
                          </p:cTn>
                        </p:par>
                        <p:par>
                          <p:cTn id="104" fill="hold">
                            <p:stCondLst>
                              <p:cond delay="4500"/>
                            </p:stCondLst>
                            <p:childTnLst>
                              <p:par>
                                <p:cTn id="105" presetID="22" presetClass="entr" presetSubtype="8" fill="hold" nodeType="afterEffect">
                                  <p:stCondLst>
                                    <p:cond delay="0"/>
                                  </p:stCondLst>
                                  <p:childTnLst>
                                    <p:set>
                                      <p:cBhvr>
                                        <p:cTn id="106" dur="1" fill="hold">
                                          <p:stCondLst>
                                            <p:cond delay="0"/>
                                          </p:stCondLst>
                                        </p:cTn>
                                        <p:tgtEl>
                                          <p:spTgt spid="50"/>
                                        </p:tgtEl>
                                        <p:attrNameLst>
                                          <p:attrName>style.visibility</p:attrName>
                                        </p:attrNameLst>
                                      </p:cBhvr>
                                      <p:to>
                                        <p:strVal val="visible"/>
                                      </p:to>
                                    </p:set>
                                    <p:animEffect transition="in" filter="wipe(left)">
                                      <p:cBhvr>
                                        <p:cTn id="107" dur="500"/>
                                        <p:tgtEl>
                                          <p:spTgt spid="50"/>
                                        </p:tgtEl>
                                      </p:cBhvr>
                                    </p:animEffect>
                                  </p:childTnLst>
                                </p:cTn>
                              </p:par>
                            </p:childTnLst>
                          </p:cTn>
                        </p:par>
                        <p:par>
                          <p:cTn id="108" fill="hold">
                            <p:stCondLst>
                              <p:cond delay="5000"/>
                            </p:stCondLst>
                            <p:childTnLst>
                              <p:par>
                                <p:cTn id="109" presetID="10" presetClass="entr" presetSubtype="0" fill="hold" nodeType="after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childTnLst>
                                </p:cTn>
                              </p:par>
                              <p:par>
                                <p:cTn id="112" presetID="42" presetClass="path" presetSubtype="0" decel="100000" fill="hold" nodeType="withEffect">
                                  <p:stCondLst>
                                    <p:cond delay="0"/>
                                  </p:stCondLst>
                                  <p:childTnLst>
                                    <p:animMotion origin="layout" path="M 1.45833E-6 2.96296E-6 L 1.45833E-6 -0.0544 " pathEditMode="relative" rAng="0" ptsTypes="AA">
                                      <p:cBhvr>
                                        <p:cTn id="113" dur="600" spd="-100000" fill="hold"/>
                                        <p:tgtEl>
                                          <p:spTgt spid="27"/>
                                        </p:tgtEl>
                                        <p:attrNameLst>
                                          <p:attrName>ppt_x</p:attrName>
                                          <p:attrName>ppt_y</p:attrName>
                                        </p:attrNameLst>
                                      </p:cBhvr>
                                      <p:rCtr x="0" y="-2731"/>
                                    </p:animMotion>
                                  </p:childTnLst>
                                </p:cTn>
                              </p:par>
                              <p:par>
                                <p:cTn id="114" presetID="10" presetClass="entr" presetSubtype="0" fill="hold" grpId="0" nodeType="withEffect">
                                  <p:stCondLst>
                                    <p:cond delay="0"/>
                                  </p:stCondLst>
                                  <p:childTnLst>
                                    <p:set>
                                      <p:cBhvr>
                                        <p:cTn id="115" dur="1" fill="hold">
                                          <p:stCondLst>
                                            <p:cond delay="0"/>
                                          </p:stCondLst>
                                        </p:cTn>
                                        <p:tgtEl>
                                          <p:spTgt spid="63"/>
                                        </p:tgtEl>
                                        <p:attrNameLst>
                                          <p:attrName>style.visibility</p:attrName>
                                        </p:attrNameLst>
                                      </p:cBhvr>
                                      <p:to>
                                        <p:strVal val="visible"/>
                                      </p:to>
                                    </p:set>
                                    <p:animEffect transition="in" filter="fade">
                                      <p:cBhvr>
                                        <p:cTn id="116" dur="500"/>
                                        <p:tgtEl>
                                          <p:spTgt spid="63"/>
                                        </p:tgtEl>
                                      </p:cBhvr>
                                    </p:animEffect>
                                  </p:childTnLst>
                                </p:cTn>
                              </p:par>
                              <p:par>
                                <p:cTn id="117" presetID="42" presetClass="path" presetSubtype="0" decel="100000" fill="hold" grpId="1" nodeType="withEffect">
                                  <p:stCondLst>
                                    <p:cond delay="0"/>
                                  </p:stCondLst>
                                  <p:childTnLst>
                                    <p:animMotion origin="layout" path="M -1.66667E-6 1.11111E-6 L -1.66667E-6 -0.0544 " pathEditMode="relative" rAng="0" ptsTypes="AA">
                                      <p:cBhvr>
                                        <p:cTn id="118" dur="600" spd="-100000" fill="hold"/>
                                        <p:tgtEl>
                                          <p:spTgt spid="63"/>
                                        </p:tgtEl>
                                        <p:attrNameLst>
                                          <p:attrName>ppt_x</p:attrName>
                                          <p:attrName>ppt_y</p:attrName>
                                        </p:attrNameLst>
                                      </p:cBhvr>
                                      <p:rCtr x="0" y="-27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37" grpId="0" animBg="1"/>
      <p:bldP spid="37" grpId="1" animBg="1"/>
      <p:bldP spid="32" grpId="0" animBg="1"/>
      <p:bldP spid="32" grpId="1" animBg="1"/>
      <p:bldP spid="59" grpId="0"/>
      <p:bldP spid="59" grpId="1"/>
      <p:bldP spid="33" grpId="0" animBg="1"/>
      <p:bldP spid="33" grpId="1" animBg="1"/>
      <p:bldP spid="60" grpId="0"/>
      <p:bldP spid="60" grpId="1"/>
      <p:bldP spid="11" grpId="0" animBg="1"/>
      <p:bldP spid="11" grpId="1" animBg="1"/>
      <p:bldP spid="10" grpId="0"/>
      <p:bldP spid="10" grpId="1"/>
      <p:bldP spid="34" grpId="0" animBg="1"/>
      <p:bldP spid="34" grpId="1" animBg="1"/>
      <p:bldP spid="61" grpId="0"/>
      <p:bldP spid="61" grpId="1"/>
      <p:bldP spid="36" grpId="0" animBg="1"/>
      <p:bldP spid="36" grpId="1" animBg="1"/>
      <p:bldP spid="63" grpId="0"/>
      <p:bldP spid="63"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AF286-F481-3DDD-BA7F-544C149A487D}"/>
            </a:ext>
          </a:extLst>
        </p:cNvPr>
        <p:cNvGrpSpPr/>
        <p:nvPr/>
      </p:nvGrpSpPr>
      <p:grpSpPr>
        <a:xfrm>
          <a:off x="0" y="0"/>
          <a:ext cx="0" cy="0"/>
          <a:chOff x="0" y="0"/>
          <a:chExt cx="0" cy="0"/>
        </a:xfrm>
      </p:grpSpPr>
      <p:sp>
        <p:nvSpPr>
          <p:cNvPr id="17" name="Rectangle: Rounded Corners 34">
            <a:extLst>
              <a:ext uri="{FF2B5EF4-FFF2-40B4-BE49-F238E27FC236}">
                <a16:creationId xmlns:a16="http://schemas.microsoft.com/office/drawing/2014/main" id="{70019AA5-A32F-3DB1-6444-04735ADD300F}"/>
              </a:ext>
              <a:ext uri="{C183D7F6-B498-43B3-948B-1728B52AA6E4}">
                <adec:decorative xmlns:adec="http://schemas.microsoft.com/office/drawing/2017/decorative" val="1"/>
              </a:ext>
            </a:extLst>
          </p:cNvPr>
          <p:cNvSpPr/>
          <p:nvPr/>
        </p:nvSpPr>
        <p:spPr bwMode="auto">
          <a:xfrm>
            <a:off x="520885" y="1279975"/>
            <a:ext cx="11269198" cy="5111681"/>
          </a:xfrm>
          <a:custGeom>
            <a:avLst/>
            <a:gdLst>
              <a:gd name="connsiteX0" fmla="*/ 0 w 4508748"/>
              <a:gd name="connsiteY0" fmla="*/ 58322 h 1647518"/>
              <a:gd name="connsiteX1" fmla="*/ 58322 w 4508748"/>
              <a:gd name="connsiteY1" fmla="*/ 0 h 1647518"/>
              <a:gd name="connsiteX2" fmla="*/ 4450426 w 4508748"/>
              <a:gd name="connsiteY2" fmla="*/ 0 h 1647518"/>
              <a:gd name="connsiteX3" fmla="*/ 4508748 w 4508748"/>
              <a:gd name="connsiteY3" fmla="*/ 58322 h 1647518"/>
              <a:gd name="connsiteX4" fmla="*/ 4508748 w 4508748"/>
              <a:gd name="connsiteY4" fmla="*/ 1589196 h 1647518"/>
              <a:gd name="connsiteX5" fmla="*/ 4450426 w 4508748"/>
              <a:gd name="connsiteY5" fmla="*/ 1647518 h 1647518"/>
              <a:gd name="connsiteX6" fmla="*/ 58322 w 4508748"/>
              <a:gd name="connsiteY6" fmla="*/ 1647518 h 1647518"/>
              <a:gd name="connsiteX7" fmla="*/ 0 w 4508748"/>
              <a:gd name="connsiteY7" fmla="*/ 1589196 h 1647518"/>
              <a:gd name="connsiteX8" fmla="*/ 0 w 4508748"/>
              <a:gd name="connsiteY8" fmla="*/ 58322 h 1647518"/>
              <a:gd name="connsiteX0" fmla="*/ 0 w 4508748"/>
              <a:gd name="connsiteY0" fmla="*/ 58666 h 1647862"/>
              <a:gd name="connsiteX1" fmla="*/ 58322 w 4508748"/>
              <a:gd name="connsiteY1" fmla="*/ 344 h 1647862"/>
              <a:gd name="connsiteX2" fmla="*/ 1333055 w 4508748"/>
              <a:gd name="connsiteY2" fmla="*/ 0 h 1647862"/>
              <a:gd name="connsiteX3" fmla="*/ 4450426 w 4508748"/>
              <a:gd name="connsiteY3" fmla="*/ 344 h 1647862"/>
              <a:gd name="connsiteX4" fmla="*/ 4508748 w 4508748"/>
              <a:gd name="connsiteY4" fmla="*/ 58666 h 1647862"/>
              <a:gd name="connsiteX5" fmla="*/ 4508748 w 4508748"/>
              <a:gd name="connsiteY5" fmla="*/ 1589540 h 1647862"/>
              <a:gd name="connsiteX6" fmla="*/ 4450426 w 4508748"/>
              <a:gd name="connsiteY6" fmla="*/ 1647862 h 1647862"/>
              <a:gd name="connsiteX7" fmla="*/ 58322 w 4508748"/>
              <a:gd name="connsiteY7" fmla="*/ 1647862 h 1647862"/>
              <a:gd name="connsiteX8" fmla="*/ 0 w 4508748"/>
              <a:gd name="connsiteY8" fmla="*/ 1589540 h 1647862"/>
              <a:gd name="connsiteX9" fmla="*/ 0 w 4508748"/>
              <a:gd name="connsiteY9" fmla="*/ 58666 h 1647862"/>
              <a:gd name="connsiteX0" fmla="*/ 0 w 4508748"/>
              <a:gd name="connsiteY0" fmla="*/ 60254 h 1649450"/>
              <a:gd name="connsiteX1" fmla="*/ 58322 w 4508748"/>
              <a:gd name="connsiteY1" fmla="*/ 1932 h 1649450"/>
              <a:gd name="connsiteX2" fmla="*/ 1333055 w 4508748"/>
              <a:gd name="connsiteY2" fmla="*/ 1588 h 1649450"/>
              <a:gd name="connsiteX3" fmla="*/ 3172967 w 4508748"/>
              <a:gd name="connsiteY3" fmla="*/ 0 h 1649450"/>
              <a:gd name="connsiteX4" fmla="*/ 4450426 w 4508748"/>
              <a:gd name="connsiteY4" fmla="*/ 1932 h 1649450"/>
              <a:gd name="connsiteX5" fmla="*/ 4508748 w 4508748"/>
              <a:gd name="connsiteY5" fmla="*/ 60254 h 1649450"/>
              <a:gd name="connsiteX6" fmla="*/ 4508748 w 4508748"/>
              <a:gd name="connsiteY6" fmla="*/ 1591128 h 1649450"/>
              <a:gd name="connsiteX7" fmla="*/ 4450426 w 4508748"/>
              <a:gd name="connsiteY7" fmla="*/ 1649450 h 1649450"/>
              <a:gd name="connsiteX8" fmla="*/ 58322 w 4508748"/>
              <a:gd name="connsiteY8" fmla="*/ 1649450 h 1649450"/>
              <a:gd name="connsiteX9" fmla="*/ 0 w 4508748"/>
              <a:gd name="connsiteY9" fmla="*/ 1591128 h 1649450"/>
              <a:gd name="connsiteX10" fmla="*/ 0 w 4508748"/>
              <a:gd name="connsiteY10" fmla="*/ 60254 h 1649450"/>
              <a:gd name="connsiteX0" fmla="*/ 3172967 w 4508748"/>
              <a:gd name="connsiteY0" fmla="*/ 0 h 1649450"/>
              <a:gd name="connsiteX1" fmla="*/ 4450426 w 4508748"/>
              <a:gd name="connsiteY1" fmla="*/ 1932 h 1649450"/>
              <a:gd name="connsiteX2" fmla="*/ 4508748 w 4508748"/>
              <a:gd name="connsiteY2" fmla="*/ 60254 h 1649450"/>
              <a:gd name="connsiteX3" fmla="*/ 4508748 w 4508748"/>
              <a:gd name="connsiteY3" fmla="*/ 1591128 h 1649450"/>
              <a:gd name="connsiteX4" fmla="*/ 4450426 w 4508748"/>
              <a:gd name="connsiteY4" fmla="*/ 1649450 h 1649450"/>
              <a:gd name="connsiteX5" fmla="*/ 58322 w 4508748"/>
              <a:gd name="connsiteY5" fmla="*/ 1649450 h 1649450"/>
              <a:gd name="connsiteX6" fmla="*/ 0 w 4508748"/>
              <a:gd name="connsiteY6" fmla="*/ 1591128 h 1649450"/>
              <a:gd name="connsiteX7" fmla="*/ 0 w 4508748"/>
              <a:gd name="connsiteY7" fmla="*/ 60254 h 1649450"/>
              <a:gd name="connsiteX8" fmla="*/ 58322 w 4508748"/>
              <a:gd name="connsiteY8" fmla="*/ 1932 h 1649450"/>
              <a:gd name="connsiteX9" fmla="*/ 1424495 w 4508748"/>
              <a:gd name="connsiteY9" fmla="*/ 93028 h 1649450"/>
              <a:gd name="connsiteX0" fmla="*/ 3172967 w 4508748"/>
              <a:gd name="connsiteY0" fmla="*/ 0 h 1649450"/>
              <a:gd name="connsiteX1" fmla="*/ 4450426 w 4508748"/>
              <a:gd name="connsiteY1" fmla="*/ 1932 h 1649450"/>
              <a:gd name="connsiteX2" fmla="*/ 4508748 w 4508748"/>
              <a:gd name="connsiteY2" fmla="*/ 60254 h 1649450"/>
              <a:gd name="connsiteX3" fmla="*/ 4508748 w 4508748"/>
              <a:gd name="connsiteY3" fmla="*/ 1591128 h 1649450"/>
              <a:gd name="connsiteX4" fmla="*/ 4450426 w 4508748"/>
              <a:gd name="connsiteY4" fmla="*/ 1649450 h 1649450"/>
              <a:gd name="connsiteX5" fmla="*/ 58322 w 4508748"/>
              <a:gd name="connsiteY5" fmla="*/ 1649450 h 1649450"/>
              <a:gd name="connsiteX6" fmla="*/ 0 w 4508748"/>
              <a:gd name="connsiteY6" fmla="*/ 1591128 h 1649450"/>
              <a:gd name="connsiteX7" fmla="*/ 0 w 4508748"/>
              <a:gd name="connsiteY7" fmla="*/ 60254 h 1649450"/>
              <a:gd name="connsiteX8" fmla="*/ 58322 w 4508748"/>
              <a:gd name="connsiteY8" fmla="*/ 1932 h 1649450"/>
              <a:gd name="connsiteX9" fmla="*/ 1399095 w 4508748"/>
              <a:gd name="connsiteY9" fmla="*/ 2541 h 1649450"/>
              <a:gd name="connsiteX0" fmla="*/ 3172967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335595 w 4508748"/>
              <a:gd name="connsiteY9" fmla="*/ 0 h 1650084"/>
              <a:gd name="connsiteX0" fmla="*/ 3172967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29251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14019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14019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874035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8748" h="1650084">
                <a:moveTo>
                  <a:pt x="2874035" y="634"/>
                </a:moveTo>
                <a:lnTo>
                  <a:pt x="4450426" y="2566"/>
                </a:lnTo>
                <a:cubicBezTo>
                  <a:pt x="4482636" y="2566"/>
                  <a:pt x="4508748" y="28678"/>
                  <a:pt x="4508748" y="60888"/>
                </a:cubicBezTo>
                <a:lnTo>
                  <a:pt x="4508748" y="1591762"/>
                </a:lnTo>
                <a:cubicBezTo>
                  <a:pt x="4508748" y="1623972"/>
                  <a:pt x="4482636" y="1650084"/>
                  <a:pt x="4450426" y="1650084"/>
                </a:cubicBezTo>
                <a:lnTo>
                  <a:pt x="58322" y="1650084"/>
                </a:lnTo>
                <a:cubicBezTo>
                  <a:pt x="26112" y="1650084"/>
                  <a:pt x="0" y="1623972"/>
                  <a:pt x="0" y="1591762"/>
                </a:cubicBezTo>
                <a:lnTo>
                  <a:pt x="0" y="60888"/>
                </a:lnTo>
                <a:cubicBezTo>
                  <a:pt x="0" y="28678"/>
                  <a:pt x="26112" y="2566"/>
                  <a:pt x="58322" y="2566"/>
                </a:cubicBezTo>
                <a:lnTo>
                  <a:pt x="1609776" y="0"/>
                </a:lnTo>
              </a:path>
            </a:pathLst>
          </a:custGeom>
          <a:noFill/>
          <a:ln w="9525" cap="flat" cmpd="sng" algn="ctr">
            <a:gradFill flip="none" rotWithShape="1">
              <a:gsLst>
                <a:gs pos="0">
                  <a:srgbClr val="1264B1"/>
                </a:gs>
                <a:gs pos="100000">
                  <a:schemeClr val="accent2"/>
                </a:gs>
              </a:gsLst>
              <a:lin ang="0" scaled="1"/>
              <a:tileRect/>
            </a:gra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A4953"/>
              </a:solidFill>
              <a:effectLst/>
              <a:uLnTx/>
              <a:uFillTx/>
              <a:latin typeface="Segoe UI"/>
              <a:ea typeface="Segoe UI" pitchFamily="34" charset="0"/>
              <a:cs typeface="Segoe UI" pitchFamily="34" charset="0"/>
            </a:endParaRPr>
          </a:p>
        </p:txBody>
      </p:sp>
      <p:pic>
        <p:nvPicPr>
          <p:cNvPr id="19" name="Picture 18">
            <a:extLst>
              <a:ext uri="{FF2B5EF4-FFF2-40B4-BE49-F238E27FC236}">
                <a16:creationId xmlns:a16="http://schemas.microsoft.com/office/drawing/2014/main" id="{5423D6D9-D367-C2F5-C6DB-FC37AC1EFAD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09334" y="1833186"/>
            <a:ext cx="3326883" cy="4238430"/>
          </a:xfrm>
          <a:prstGeom prst="roundRect">
            <a:avLst>
              <a:gd name="adj" fmla="val 3266"/>
            </a:avLst>
          </a:prstGeom>
          <a:effectLst>
            <a:outerShdw blurRad="50800" dist="38100" dir="2700000" sx="101000" sy="101000" algn="tl" rotWithShape="0">
              <a:prstClr val="black">
                <a:alpha val="40000"/>
              </a:prstClr>
            </a:outerShdw>
          </a:effectLst>
        </p:spPr>
      </p:pic>
      <p:pic>
        <p:nvPicPr>
          <p:cNvPr id="20" name="Picture 19">
            <a:extLst>
              <a:ext uri="{FF2B5EF4-FFF2-40B4-BE49-F238E27FC236}">
                <a16:creationId xmlns:a16="http://schemas.microsoft.com/office/drawing/2014/main" id="{B236100D-9FF9-7623-2905-97FAE9473B3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04036" y="1833186"/>
            <a:ext cx="3313274" cy="4238430"/>
          </a:xfrm>
          <a:prstGeom prst="roundRect">
            <a:avLst>
              <a:gd name="adj" fmla="val 3266"/>
            </a:avLst>
          </a:prstGeom>
          <a:effectLst>
            <a:outerShdw blurRad="50800" dist="38100" dir="2700000" sx="101000" sy="101000" algn="tl" rotWithShape="0">
              <a:prstClr val="black">
                <a:alpha val="40000"/>
              </a:prstClr>
            </a:outerShdw>
          </a:effectLst>
        </p:spPr>
      </p:pic>
      <p:pic>
        <p:nvPicPr>
          <p:cNvPr id="21" name="Picture 20">
            <a:extLst>
              <a:ext uri="{FF2B5EF4-FFF2-40B4-BE49-F238E27FC236}">
                <a16:creationId xmlns:a16="http://schemas.microsoft.com/office/drawing/2014/main" id="{C601BC7D-11B1-3A0C-3662-7C98D4665A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85130" y="1833186"/>
            <a:ext cx="3334560" cy="4238430"/>
          </a:xfrm>
          <a:prstGeom prst="roundRect">
            <a:avLst>
              <a:gd name="adj" fmla="val 3266"/>
            </a:avLst>
          </a:prstGeom>
          <a:effectLst>
            <a:outerShdw blurRad="50800" dist="38100" dir="2700000" sx="101000" sy="101000" algn="tl" rotWithShape="0">
              <a:prstClr val="black">
                <a:alpha val="40000"/>
              </a:prstClr>
            </a:outerShdw>
          </a:effectLst>
        </p:spPr>
      </p:pic>
      <p:grpSp>
        <p:nvGrpSpPr>
          <p:cNvPr id="23" name="Group 22">
            <a:extLst>
              <a:ext uri="{FF2B5EF4-FFF2-40B4-BE49-F238E27FC236}">
                <a16:creationId xmlns:a16="http://schemas.microsoft.com/office/drawing/2014/main" id="{3E5A0C2B-8749-0731-7FA6-1375CA7E7623}"/>
              </a:ext>
              <a:ext uri="{C183D7F6-B498-43B3-948B-1728B52AA6E4}">
                <adec:decorative xmlns:adec="http://schemas.microsoft.com/office/drawing/2017/decorative" val="1"/>
              </a:ext>
            </a:extLst>
          </p:cNvPr>
          <p:cNvGrpSpPr>
            <a:grpSpLocks/>
          </p:cNvGrpSpPr>
          <p:nvPr/>
        </p:nvGrpSpPr>
        <p:grpSpPr>
          <a:xfrm>
            <a:off x="2100507" y="2336730"/>
            <a:ext cx="744537" cy="744536"/>
            <a:chOff x="1347941" y="6448734"/>
            <a:chExt cx="744537" cy="744536"/>
          </a:xfrm>
          <a:effectLst>
            <a:outerShdw blurRad="50800" dist="38100" dir="2700000" algn="tl" rotWithShape="0">
              <a:prstClr val="black">
                <a:alpha val="40000"/>
              </a:prstClr>
            </a:outerShdw>
          </a:effectLst>
        </p:grpSpPr>
        <p:grpSp>
          <p:nvGrpSpPr>
            <p:cNvPr id="24" name="Group 23">
              <a:extLst>
                <a:ext uri="{FF2B5EF4-FFF2-40B4-BE49-F238E27FC236}">
                  <a16:creationId xmlns:a16="http://schemas.microsoft.com/office/drawing/2014/main" id="{76E76147-6216-87D2-D3D7-A4CA299AD608}"/>
                </a:ext>
              </a:extLst>
            </p:cNvPr>
            <p:cNvGrpSpPr/>
            <p:nvPr/>
          </p:nvGrpSpPr>
          <p:grpSpPr>
            <a:xfrm>
              <a:off x="1347941" y="6448734"/>
              <a:ext cx="744537" cy="744536"/>
              <a:chOff x="5553520" y="1717263"/>
              <a:chExt cx="640110" cy="640108"/>
            </a:xfrm>
          </p:grpSpPr>
          <p:sp>
            <p:nvSpPr>
              <p:cNvPr id="27" name="Oval 26">
                <a:extLst>
                  <a:ext uri="{FF2B5EF4-FFF2-40B4-BE49-F238E27FC236}">
                    <a16:creationId xmlns:a16="http://schemas.microsoft.com/office/drawing/2014/main" id="{94048562-E159-DE1F-D312-89ACB6BC55E2}"/>
                  </a:ext>
                </a:extLst>
              </p:cNvPr>
              <p:cNvSpPr/>
              <p:nvPr/>
            </p:nvSpPr>
            <p:spPr bwMode="auto">
              <a:xfrm>
                <a:off x="5553520" y="1717263"/>
                <a:ext cx="640110" cy="640108"/>
              </a:xfrm>
              <a:prstGeom prst="ellipse">
                <a:avLst/>
              </a:prstGeom>
              <a:solidFill>
                <a:srgbClr val="FFFFFF"/>
              </a:solidFill>
              <a:ln w="9525" cap="flat" cmpd="sng" algn="ctr">
                <a:noFill/>
                <a:prstDash val="solid"/>
                <a:headEnd type="none" w="med" len="med"/>
                <a:tailEnd type="none" w="med" len="med"/>
              </a:ln>
              <a:effectLst>
                <a:outerShdw blurRad="63500" sx="103000" sy="103000" algn="ctr" rotWithShape="0">
                  <a:prstClr val="black">
                    <a:alpha val="5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8" name="Oval 1091_1">
                <a:extLst>
                  <a:ext uri="{FF2B5EF4-FFF2-40B4-BE49-F238E27FC236}">
                    <a16:creationId xmlns:a16="http://schemas.microsoft.com/office/drawing/2014/main" id="{149F1539-B8A3-9EE7-F781-AA6D6B373A47}"/>
                  </a:ext>
                </a:extLst>
              </p:cNvPr>
              <p:cNvSpPr/>
              <p:nvPr/>
            </p:nvSpPr>
            <p:spPr bwMode="auto">
              <a:xfrm>
                <a:off x="5600765" y="1764507"/>
                <a:ext cx="545622" cy="545620"/>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grpSp>
        <p:sp>
          <p:nvSpPr>
            <p:cNvPr id="25" name="Freeform: Shape 24" descr="Icon of a person in front of a diamond">
              <a:extLst>
                <a:ext uri="{FF2B5EF4-FFF2-40B4-BE49-F238E27FC236}">
                  <a16:creationId xmlns:a16="http://schemas.microsoft.com/office/drawing/2014/main" id="{0B574462-06AA-5A4F-E572-8199F9018036}"/>
                </a:ext>
              </a:extLst>
            </p:cNvPr>
            <p:cNvSpPr>
              <a:spLocks/>
            </p:cNvSpPr>
            <p:nvPr/>
          </p:nvSpPr>
          <p:spPr>
            <a:xfrm>
              <a:off x="1573237" y="6659280"/>
              <a:ext cx="293944" cy="323442"/>
            </a:xfrm>
            <a:custGeom>
              <a:avLst/>
              <a:gdLst>
                <a:gd name="connsiteX0" fmla="*/ 430750 w 482366"/>
                <a:gd name="connsiteY0" fmla="*/ 371858 h 530772"/>
                <a:gd name="connsiteX1" fmla="*/ 372266 w 482366"/>
                <a:gd name="connsiteY1" fmla="*/ 436845 h 530772"/>
                <a:gd name="connsiteX2" fmla="*/ 398662 w 482366"/>
                <a:gd name="connsiteY2" fmla="*/ 371858 h 530772"/>
                <a:gd name="connsiteX3" fmla="*/ 252075 w 482366"/>
                <a:gd name="connsiteY3" fmla="*/ 371858 h 530772"/>
                <a:gd name="connsiteX4" fmla="*/ 278470 w 482366"/>
                <a:gd name="connsiteY4" fmla="*/ 436845 h 530772"/>
                <a:gd name="connsiteX5" fmla="*/ 219986 w 482366"/>
                <a:gd name="connsiteY5" fmla="*/ 371858 h 530772"/>
                <a:gd name="connsiteX6" fmla="*/ 324351 w 482366"/>
                <a:gd name="connsiteY6" fmla="*/ 371858 h 530772"/>
                <a:gd name="connsiteX7" fmla="*/ 324351 w 482366"/>
                <a:gd name="connsiteY7" fmla="*/ 371858 h 530772"/>
                <a:gd name="connsiteX8" fmla="*/ 364332 w 482366"/>
                <a:gd name="connsiteY8" fmla="*/ 371858 h 530772"/>
                <a:gd name="connsiteX9" fmla="*/ 325368 w 482366"/>
                <a:gd name="connsiteY9" fmla="*/ 467748 h 530772"/>
                <a:gd name="connsiteX10" fmla="*/ 286404 w 482366"/>
                <a:gd name="connsiteY10" fmla="*/ 371858 h 530772"/>
                <a:gd name="connsiteX11" fmla="*/ 408935 w 482366"/>
                <a:gd name="connsiteY11" fmla="*/ 276453 h 530772"/>
                <a:gd name="connsiteX12" fmla="*/ 440736 w 482366"/>
                <a:gd name="connsiteY12" fmla="*/ 340056 h 530772"/>
                <a:gd name="connsiteX13" fmla="*/ 397740 w 482366"/>
                <a:gd name="connsiteY13" fmla="*/ 340056 h 530772"/>
                <a:gd name="connsiteX14" fmla="*/ 377069 w 482366"/>
                <a:gd name="connsiteY14" fmla="*/ 276453 h 530772"/>
                <a:gd name="connsiteX15" fmla="*/ 273667 w 482366"/>
                <a:gd name="connsiteY15" fmla="*/ 276452 h 530772"/>
                <a:gd name="connsiteX16" fmla="*/ 252996 w 482366"/>
                <a:gd name="connsiteY16" fmla="*/ 340056 h 530772"/>
                <a:gd name="connsiteX17" fmla="*/ 210000 w 482366"/>
                <a:gd name="connsiteY17" fmla="*/ 340056 h 530772"/>
                <a:gd name="connsiteX18" fmla="*/ 241802 w 482366"/>
                <a:gd name="connsiteY18" fmla="*/ 276452 h 530772"/>
                <a:gd name="connsiteX19" fmla="*/ 324351 w 482366"/>
                <a:gd name="connsiteY19" fmla="*/ 276452 h 530772"/>
                <a:gd name="connsiteX20" fmla="*/ 324351 w 482366"/>
                <a:gd name="connsiteY20" fmla="*/ 276453 h 530772"/>
                <a:gd name="connsiteX21" fmla="*/ 343613 w 482366"/>
                <a:gd name="connsiteY21" fmla="*/ 276453 h 530772"/>
                <a:gd name="connsiteX22" fmla="*/ 364268 w 482366"/>
                <a:gd name="connsiteY22" fmla="*/ 340056 h 530772"/>
                <a:gd name="connsiteX23" fmla="*/ 326385 w 482366"/>
                <a:gd name="connsiteY23" fmla="*/ 340056 h 530772"/>
                <a:gd name="connsiteX24" fmla="*/ 326385 w 482366"/>
                <a:gd name="connsiteY24" fmla="*/ 340056 h 530772"/>
                <a:gd name="connsiteX25" fmla="*/ 286468 w 482366"/>
                <a:gd name="connsiteY25" fmla="*/ 340056 h 530772"/>
                <a:gd name="connsiteX26" fmla="*/ 307123 w 482366"/>
                <a:gd name="connsiteY26" fmla="*/ 276452 h 530772"/>
                <a:gd name="connsiteX27" fmla="*/ 326385 w 482366"/>
                <a:gd name="connsiteY27" fmla="*/ 244650 h 530772"/>
                <a:gd name="connsiteX28" fmla="*/ 231976 w 482366"/>
                <a:gd name="connsiteY28" fmla="*/ 244650 h 530772"/>
                <a:gd name="connsiteX29" fmla="*/ 229987 w 482366"/>
                <a:gd name="connsiteY29" fmla="*/ 244778 h 530772"/>
                <a:gd name="connsiteX30" fmla="*/ 217744 w 482366"/>
                <a:gd name="connsiteY30" fmla="*/ 253443 h 530772"/>
                <a:gd name="connsiteX31" fmla="*/ 170042 w 482366"/>
                <a:gd name="connsiteY31" fmla="*/ 348849 h 530772"/>
                <a:gd name="connsiteX32" fmla="*/ 169215 w 482366"/>
                <a:gd name="connsiteY32" fmla="*/ 350837 h 530772"/>
                <a:gd name="connsiteX33" fmla="*/ 172459 w 482366"/>
                <a:gd name="connsiteY33" fmla="*/ 366594 h 530772"/>
                <a:gd name="connsiteX34" fmla="*/ 315280 w 482366"/>
                <a:gd name="connsiteY34" fmla="*/ 525333 h 530772"/>
                <a:gd name="connsiteX35" fmla="*/ 323738 w 482366"/>
                <a:gd name="connsiteY35" fmla="*/ 530454 h 530772"/>
                <a:gd name="connsiteX36" fmla="*/ 324351 w 482366"/>
                <a:gd name="connsiteY36" fmla="*/ 530564 h 530772"/>
                <a:gd name="connsiteX37" fmla="*/ 324351 w 482366"/>
                <a:gd name="connsiteY37" fmla="*/ 530626 h 530772"/>
                <a:gd name="connsiteX38" fmla="*/ 325216 w 482366"/>
                <a:gd name="connsiteY38" fmla="*/ 530770 h 530772"/>
                <a:gd name="connsiteX39" fmla="*/ 325363 w 482366"/>
                <a:gd name="connsiteY39" fmla="*/ 530744 h 530772"/>
                <a:gd name="connsiteX40" fmla="*/ 325520 w 482366"/>
                <a:gd name="connsiteY40" fmla="*/ 530772 h 530772"/>
                <a:gd name="connsiteX41" fmla="*/ 326385 w 482366"/>
                <a:gd name="connsiteY41" fmla="*/ 530628 h 530772"/>
                <a:gd name="connsiteX42" fmla="*/ 326385 w 482366"/>
                <a:gd name="connsiteY42" fmla="*/ 530562 h 530772"/>
                <a:gd name="connsiteX43" fmla="*/ 326998 w 482366"/>
                <a:gd name="connsiteY43" fmla="*/ 530452 h 530772"/>
                <a:gd name="connsiteX44" fmla="*/ 335456 w 482366"/>
                <a:gd name="connsiteY44" fmla="*/ 525332 h 530772"/>
                <a:gd name="connsiteX45" fmla="*/ 478277 w 482366"/>
                <a:gd name="connsiteY45" fmla="*/ 366594 h 530772"/>
                <a:gd name="connsiteX46" fmla="*/ 481521 w 482366"/>
                <a:gd name="connsiteY46" fmla="*/ 350838 h 530772"/>
                <a:gd name="connsiteX47" fmla="*/ 480695 w 482366"/>
                <a:gd name="connsiteY47" fmla="*/ 348849 h 530772"/>
                <a:gd name="connsiteX48" fmla="*/ 432992 w 482366"/>
                <a:gd name="connsiteY48" fmla="*/ 253445 h 530772"/>
                <a:gd name="connsiteX49" fmla="*/ 420749 w 482366"/>
                <a:gd name="connsiteY49" fmla="*/ 244780 h 530772"/>
                <a:gd name="connsiteX50" fmla="*/ 418760 w 482366"/>
                <a:gd name="connsiteY50" fmla="*/ 244652 h 530772"/>
                <a:gd name="connsiteX51" fmla="*/ 326385 w 482366"/>
                <a:gd name="connsiteY51" fmla="*/ 244652 h 530772"/>
                <a:gd name="connsiteX52" fmla="*/ 136800 w 482366"/>
                <a:gd name="connsiteY52" fmla="*/ 55161 h 530772"/>
                <a:gd name="connsiteX53" fmla="*/ 136800 w 482366"/>
                <a:gd name="connsiteY53" fmla="*/ 126277 h 530772"/>
                <a:gd name="connsiteX54" fmla="*/ 126278 w 482366"/>
                <a:gd name="connsiteY54" fmla="*/ 136800 h 530772"/>
                <a:gd name="connsiteX55" fmla="*/ 55183 w 482366"/>
                <a:gd name="connsiteY55" fmla="*/ 136800 h 530772"/>
                <a:gd name="connsiteX56" fmla="*/ 294647 w 482366"/>
                <a:gd name="connsiteY56" fmla="*/ 0 h 530772"/>
                <a:gd name="connsiteX57" fmla="*/ 168369 w 482366"/>
                <a:gd name="connsiteY57" fmla="*/ 0 h 530772"/>
                <a:gd name="connsiteX58" fmla="*/ 164771 w 482366"/>
                <a:gd name="connsiteY58" fmla="*/ 0 h 530772"/>
                <a:gd name="connsiteX59" fmla="*/ 164750 w 482366"/>
                <a:gd name="connsiteY59" fmla="*/ 0 h 530772"/>
                <a:gd name="connsiteX60" fmla="*/ 161782 w 482366"/>
                <a:gd name="connsiteY60" fmla="*/ 295 h 530772"/>
                <a:gd name="connsiteX61" fmla="*/ 148649 w 482366"/>
                <a:gd name="connsiteY61" fmla="*/ 3199 h 530772"/>
                <a:gd name="connsiteX62" fmla="*/ 144104 w 482366"/>
                <a:gd name="connsiteY62" fmla="*/ 5640 h 530772"/>
                <a:gd name="connsiteX63" fmla="*/ 141410 w 482366"/>
                <a:gd name="connsiteY63" fmla="*/ 7071 h 530772"/>
                <a:gd name="connsiteX64" fmla="*/ 136800 w 482366"/>
                <a:gd name="connsiteY64" fmla="*/ 10860 h 530772"/>
                <a:gd name="connsiteX65" fmla="*/ 135011 w 482366"/>
                <a:gd name="connsiteY65" fmla="*/ 12333 h 530772"/>
                <a:gd name="connsiteX66" fmla="*/ 12332 w 482366"/>
                <a:gd name="connsiteY66" fmla="*/ 134991 h 530772"/>
                <a:gd name="connsiteX67" fmla="*/ 0 w 482366"/>
                <a:gd name="connsiteY67" fmla="*/ 164749 h 530772"/>
                <a:gd name="connsiteX68" fmla="*/ 0 w 482366"/>
                <a:gd name="connsiteY68" fmla="*/ 168370 h 530772"/>
                <a:gd name="connsiteX69" fmla="*/ 0 w 482366"/>
                <a:gd name="connsiteY69" fmla="*/ 378831 h 530772"/>
                <a:gd name="connsiteX70" fmla="*/ 42092 w 482366"/>
                <a:gd name="connsiteY70" fmla="*/ 420923 h 530772"/>
                <a:gd name="connsiteX71" fmla="*/ 181170 w 482366"/>
                <a:gd name="connsiteY71" fmla="*/ 420923 h 530772"/>
                <a:gd name="connsiteX72" fmla="*/ 152761 w 482366"/>
                <a:gd name="connsiteY72" fmla="*/ 389354 h 530772"/>
                <a:gd name="connsiteX73" fmla="*/ 42092 w 482366"/>
                <a:gd name="connsiteY73" fmla="*/ 389354 h 530772"/>
                <a:gd name="connsiteX74" fmla="*/ 31569 w 482366"/>
                <a:gd name="connsiteY74" fmla="*/ 378831 h 530772"/>
                <a:gd name="connsiteX75" fmla="*/ 31569 w 482366"/>
                <a:gd name="connsiteY75" fmla="*/ 168370 h 530772"/>
                <a:gd name="connsiteX76" fmla="*/ 126278 w 482366"/>
                <a:gd name="connsiteY76" fmla="*/ 168370 h 530772"/>
                <a:gd name="connsiteX77" fmla="*/ 168369 w 482366"/>
                <a:gd name="connsiteY77" fmla="*/ 126277 h 530772"/>
                <a:gd name="connsiteX78" fmla="*/ 168369 w 482366"/>
                <a:gd name="connsiteY78" fmla="*/ 31569 h 530772"/>
                <a:gd name="connsiteX79" fmla="*/ 294647 w 482366"/>
                <a:gd name="connsiteY79" fmla="*/ 31569 h 530772"/>
                <a:gd name="connsiteX80" fmla="*/ 305171 w 482366"/>
                <a:gd name="connsiteY80" fmla="*/ 42093 h 530772"/>
                <a:gd name="connsiteX81" fmla="*/ 305171 w 482366"/>
                <a:gd name="connsiteY81" fmla="*/ 217419 h 530772"/>
                <a:gd name="connsiteX82" fmla="*/ 332469 w 482366"/>
                <a:gd name="connsiteY82" fmla="*/ 217419 h 530772"/>
                <a:gd name="connsiteX83" fmla="*/ 336740 w 482366"/>
                <a:gd name="connsiteY83" fmla="*/ 217419 h 530772"/>
                <a:gd name="connsiteX84" fmla="*/ 336740 w 482366"/>
                <a:gd name="connsiteY84" fmla="*/ 42093 h 530772"/>
                <a:gd name="connsiteX85" fmla="*/ 294647 w 482366"/>
                <a:gd name="connsiteY85" fmla="*/ 0 h 53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482366" h="530772">
                  <a:moveTo>
                    <a:pt x="430750" y="371858"/>
                  </a:moveTo>
                  <a:lnTo>
                    <a:pt x="372266" y="436845"/>
                  </a:lnTo>
                  <a:lnTo>
                    <a:pt x="398662" y="371858"/>
                  </a:lnTo>
                  <a:close/>
                  <a:moveTo>
                    <a:pt x="252075" y="371858"/>
                  </a:moveTo>
                  <a:lnTo>
                    <a:pt x="278470" y="436845"/>
                  </a:lnTo>
                  <a:lnTo>
                    <a:pt x="219986" y="371858"/>
                  </a:lnTo>
                  <a:close/>
                  <a:moveTo>
                    <a:pt x="324351" y="371858"/>
                  </a:moveTo>
                  <a:lnTo>
                    <a:pt x="324351" y="371858"/>
                  </a:lnTo>
                  <a:lnTo>
                    <a:pt x="364332" y="371858"/>
                  </a:lnTo>
                  <a:lnTo>
                    <a:pt x="325368" y="467748"/>
                  </a:lnTo>
                  <a:lnTo>
                    <a:pt x="286404" y="371858"/>
                  </a:lnTo>
                  <a:close/>
                  <a:moveTo>
                    <a:pt x="408935" y="276453"/>
                  </a:moveTo>
                  <a:lnTo>
                    <a:pt x="440736" y="340056"/>
                  </a:lnTo>
                  <a:lnTo>
                    <a:pt x="397740" y="340056"/>
                  </a:lnTo>
                  <a:lnTo>
                    <a:pt x="377069" y="276453"/>
                  </a:lnTo>
                  <a:close/>
                  <a:moveTo>
                    <a:pt x="273667" y="276452"/>
                  </a:moveTo>
                  <a:lnTo>
                    <a:pt x="252996" y="340056"/>
                  </a:lnTo>
                  <a:lnTo>
                    <a:pt x="210000" y="340056"/>
                  </a:lnTo>
                  <a:lnTo>
                    <a:pt x="241802" y="276452"/>
                  </a:lnTo>
                  <a:close/>
                  <a:moveTo>
                    <a:pt x="324351" y="276452"/>
                  </a:moveTo>
                  <a:lnTo>
                    <a:pt x="324351" y="276453"/>
                  </a:lnTo>
                  <a:lnTo>
                    <a:pt x="343613" y="276453"/>
                  </a:lnTo>
                  <a:lnTo>
                    <a:pt x="364268" y="340056"/>
                  </a:lnTo>
                  <a:lnTo>
                    <a:pt x="326385" y="340056"/>
                  </a:lnTo>
                  <a:lnTo>
                    <a:pt x="326385" y="340056"/>
                  </a:lnTo>
                  <a:lnTo>
                    <a:pt x="286468" y="340056"/>
                  </a:lnTo>
                  <a:lnTo>
                    <a:pt x="307123" y="276452"/>
                  </a:lnTo>
                  <a:close/>
                  <a:moveTo>
                    <a:pt x="326385" y="244650"/>
                  </a:moveTo>
                  <a:lnTo>
                    <a:pt x="231976" y="244650"/>
                  </a:lnTo>
                  <a:lnTo>
                    <a:pt x="229987" y="244778"/>
                  </a:lnTo>
                  <a:cubicBezTo>
                    <a:pt x="224715" y="245439"/>
                    <a:pt x="220120" y="248690"/>
                    <a:pt x="217744" y="253443"/>
                  </a:cubicBezTo>
                  <a:lnTo>
                    <a:pt x="170042" y="348849"/>
                  </a:lnTo>
                  <a:lnTo>
                    <a:pt x="169215" y="350837"/>
                  </a:lnTo>
                  <a:cubicBezTo>
                    <a:pt x="167363" y="356289"/>
                    <a:pt x="168604" y="362317"/>
                    <a:pt x="172459" y="366594"/>
                  </a:cubicBezTo>
                  <a:lnTo>
                    <a:pt x="315280" y="525333"/>
                  </a:lnTo>
                  <a:cubicBezTo>
                    <a:pt x="317466" y="527917"/>
                    <a:pt x="320437" y="529715"/>
                    <a:pt x="323738" y="530454"/>
                  </a:cubicBezTo>
                  <a:lnTo>
                    <a:pt x="324351" y="530564"/>
                  </a:lnTo>
                  <a:lnTo>
                    <a:pt x="324351" y="530626"/>
                  </a:lnTo>
                  <a:lnTo>
                    <a:pt x="325216" y="530770"/>
                  </a:lnTo>
                  <a:lnTo>
                    <a:pt x="325363" y="530744"/>
                  </a:lnTo>
                  <a:lnTo>
                    <a:pt x="325520" y="530772"/>
                  </a:lnTo>
                  <a:lnTo>
                    <a:pt x="326385" y="530628"/>
                  </a:lnTo>
                  <a:lnTo>
                    <a:pt x="326385" y="530562"/>
                  </a:lnTo>
                  <a:lnTo>
                    <a:pt x="326998" y="530452"/>
                  </a:lnTo>
                  <a:cubicBezTo>
                    <a:pt x="330299" y="529714"/>
                    <a:pt x="333270" y="527916"/>
                    <a:pt x="335456" y="525332"/>
                  </a:cubicBezTo>
                  <a:lnTo>
                    <a:pt x="478277" y="366594"/>
                  </a:lnTo>
                  <a:cubicBezTo>
                    <a:pt x="482132" y="362318"/>
                    <a:pt x="483373" y="356289"/>
                    <a:pt x="481521" y="350838"/>
                  </a:cubicBezTo>
                  <a:lnTo>
                    <a:pt x="480695" y="348849"/>
                  </a:lnTo>
                  <a:lnTo>
                    <a:pt x="432992" y="253445"/>
                  </a:lnTo>
                  <a:cubicBezTo>
                    <a:pt x="430616" y="248692"/>
                    <a:pt x="426021" y="245441"/>
                    <a:pt x="420749" y="244780"/>
                  </a:cubicBezTo>
                  <a:lnTo>
                    <a:pt x="418760" y="244652"/>
                  </a:lnTo>
                  <a:lnTo>
                    <a:pt x="326385" y="244652"/>
                  </a:lnTo>
                  <a:close/>
                  <a:moveTo>
                    <a:pt x="136800" y="55161"/>
                  </a:moveTo>
                  <a:lnTo>
                    <a:pt x="136800" y="126277"/>
                  </a:lnTo>
                  <a:cubicBezTo>
                    <a:pt x="136800" y="132064"/>
                    <a:pt x="132086" y="136800"/>
                    <a:pt x="126278" y="136800"/>
                  </a:cubicBezTo>
                  <a:lnTo>
                    <a:pt x="55183" y="136800"/>
                  </a:lnTo>
                  <a:close/>
                  <a:moveTo>
                    <a:pt x="294647" y="0"/>
                  </a:moveTo>
                  <a:lnTo>
                    <a:pt x="168369" y="0"/>
                  </a:lnTo>
                  <a:lnTo>
                    <a:pt x="164771" y="0"/>
                  </a:lnTo>
                  <a:lnTo>
                    <a:pt x="164750" y="0"/>
                  </a:lnTo>
                  <a:cubicBezTo>
                    <a:pt x="163739" y="0"/>
                    <a:pt x="162771" y="232"/>
                    <a:pt x="161782" y="295"/>
                  </a:cubicBezTo>
                  <a:cubicBezTo>
                    <a:pt x="157258" y="610"/>
                    <a:pt x="152795" y="1473"/>
                    <a:pt x="148649" y="3199"/>
                  </a:cubicBezTo>
                  <a:cubicBezTo>
                    <a:pt x="147071" y="3872"/>
                    <a:pt x="145598" y="4798"/>
                    <a:pt x="144104" y="5640"/>
                  </a:cubicBezTo>
                  <a:cubicBezTo>
                    <a:pt x="143220" y="6124"/>
                    <a:pt x="142252" y="6503"/>
                    <a:pt x="141410" y="7071"/>
                  </a:cubicBezTo>
                  <a:cubicBezTo>
                    <a:pt x="139768" y="8188"/>
                    <a:pt x="138294" y="9513"/>
                    <a:pt x="136800" y="10860"/>
                  </a:cubicBezTo>
                  <a:cubicBezTo>
                    <a:pt x="136232" y="11365"/>
                    <a:pt x="135558" y="11786"/>
                    <a:pt x="135011" y="12333"/>
                  </a:cubicBezTo>
                  <a:lnTo>
                    <a:pt x="12332" y="134991"/>
                  </a:lnTo>
                  <a:cubicBezTo>
                    <a:pt x="4440" y="142882"/>
                    <a:pt x="0" y="153595"/>
                    <a:pt x="0" y="164749"/>
                  </a:cubicBezTo>
                  <a:lnTo>
                    <a:pt x="0" y="168370"/>
                  </a:lnTo>
                  <a:lnTo>
                    <a:pt x="0" y="378831"/>
                  </a:lnTo>
                  <a:cubicBezTo>
                    <a:pt x="0" y="402065"/>
                    <a:pt x="18857" y="420923"/>
                    <a:pt x="42092" y="420923"/>
                  </a:cubicBezTo>
                  <a:lnTo>
                    <a:pt x="181170" y="420923"/>
                  </a:lnTo>
                  <a:lnTo>
                    <a:pt x="152761" y="389354"/>
                  </a:lnTo>
                  <a:lnTo>
                    <a:pt x="42092" y="389354"/>
                  </a:lnTo>
                  <a:cubicBezTo>
                    <a:pt x="36283" y="389354"/>
                    <a:pt x="31569" y="384618"/>
                    <a:pt x="31569" y="378831"/>
                  </a:cubicBezTo>
                  <a:lnTo>
                    <a:pt x="31569" y="168370"/>
                  </a:lnTo>
                  <a:lnTo>
                    <a:pt x="126278" y="168370"/>
                  </a:lnTo>
                  <a:cubicBezTo>
                    <a:pt x="149512" y="168370"/>
                    <a:pt x="168369" y="149511"/>
                    <a:pt x="168369" y="126277"/>
                  </a:cubicBezTo>
                  <a:lnTo>
                    <a:pt x="168369" y="31569"/>
                  </a:lnTo>
                  <a:lnTo>
                    <a:pt x="294647" y="31569"/>
                  </a:lnTo>
                  <a:cubicBezTo>
                    <a:pt x="300457" y="31569"/>
                    <a:pt x="305171" y="36304"/>
                    <a:pt x="305171" y="42093"/>
                  </a:cubicBezTo>
                  <a:lnTo>
                    <a:pt x="305171" y="217419"/>
                  </a:lnTo>
                  <a:lnTo>
                    <a:pt x="332469" y="217419"/>
                  </a:lnTo>
                  <a:lnTo>
                    <a:pt x="336740" y="217419"/>
                  </a:lnTo>
                  <a:lnTo>
                    <a:pt x="336740" y="42093"/>
                  </a:lnTo>
                  <a:cubicBezTo>
                    <a:pt x="336740" y="18857"/>
                    <a:pt x="317883" y="0"/>
                    <a:pt x="294647" y="0"/>
                  </a:cubicBezTo>
                  <a:close/>
                </a:path>
              </a:pathLst>
            </a:custGeom>
            <a:solidFill>
              <a:srgbClr val="212121"/>
            </a:solidFill>
            <a:ln w="13097" cap="flat">
              <a:noFill/>
              <a:prstDash val="solid"/>
              <a:miter/>
            </a:ln>
          </p:spPr>
          <p:txBody>
            <a:bodyPr wrap="square"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29" name="Group 28">
            <a:extLst>
              <a:ext uri="{FF2B5EF4-FFF2-40B4-BE49-F238E27FC236}">
                <a16:creationId xmlns:a16="http://schemas.microsoft.com/office/drawing/2014/main" id="{C30C2BE1-1D3C-567E-904F-92E86CC263E6}"/>
              </a:ext>
              <a:ext uri="{C183D7F6-B498-43B3-948B-1728B52AA6E4}">
                <adec:decorative xmlns:adec="http://schemas.microsoft.com/office/drawing/2017/decorative" val="1"/>
              </a:ext>
            </a:extLst>
          </p:cNvPr>
          <p:cNvGrpSpPr>
            <a:grpSpLocks/>
          </p:cNvGrpSpPr>
          <p:nvPr/>
        </p:nvGrpSpPr>
        <p:grpSpPr>
          <a:xfrm>
            <a:off x="9480142" y="2336730"/>
            <a:ext cx="744537" cy="744536"/>
            <a:chOff x="5789628" y="5870425"/>
            <a:chExt cx="744537" cy="744536"/>
          </a:xfrm>
          <a:effectLst>
            <a:outerShdw blurRad="50800" dist="38100" dir="2700000" algn="tl" rotWithShape="0">
              <a:prstClr val="black">
                <a:alpha val="40000"/>
              </a:prstClr>
            </a:outerShdw>
          </a:effectLst>
        </p:grpSpPr>
        <p:grpSp>
          <p:nvGrpSpPr>
            <p:cNvPr id="30" name="Group 29">
              <a:extLst>
                <a:ext uri="{FF2B5EF4-FFF2-40B4-BE49-F238E27FC236}">
                  <a16:creationId xmlns:a16="http://schemas.microsoft.com/office/drawing/2014/main" id="{1A9F516D-399F-7E0E-AB7E-56629186A6B9}"/>
                </a:ext>
              </a:extLst>
            </p:cNvPr>
            <p:cNvGrpSpPr/>
            <p:nvPr/>
          </p:nvGrpSpPr>
          <p:grpSpPr>
            <a:xfrm>
              <a:off x="5789628" y="5870425"/>
              <a:ext cx="744537" cy="744536"/>
              <a:chOff x="5553520" y="1717263"/>
              <a:chExt cx="640110" cy="640108"/>
            </a:xfrm>
          </p:grpSpPr>
          <p:sp>
            <p:nvSpPr>
              <p:cNvPr id="32" name="Oval 31">
                <a:extLst>
                  <a:ext uri="{FF2B5EF4-FFF2-40B4-BE49-F238E27FC236}">
                    <a16:creationId xmlns:a16="http://schemas.microsoft.com/office/drawing/2014/main" id="{F4689B61-8997-461E-5673-A90CC29A7D0F}"/>
                  </a:ext>
                </a:extLst>
              </p:cNvPr>
              <p:cNvSpPr/>
              <p:nvPr/>
            </p:nvSpPr>
            <p:spPr bwMode="auto">
              <a:xfrm>
                <a:off x="5553520" y="1717263"/>
                <a:ext cx="640110" cy="640108"/>
              </a:xfrm>
              <a:prstGeom prst="ellipse">
                <a:avLst/>
              </a:prstGeom>
              <a:solidFill>
                <a:srgbClr val="FFFFFF"/>
              </a:solidFill>
              <a:ln w="9525" cap="flat" cmpd="sng" algn="ctr">
                <a:noFill/>
                <a:prstDash val="solid"/>
                <a:headEnd type="none" w="med" len="med"/>
                <a:tailEnd type="none" w="med" len="med"/>
              </a:ln>
              <a:effectLst>
                <a:outerShdw blurRad="63500" sx="103000" sy="103000" algn="ctr" rotWithShape="0">
                  <a:prstClr val="black">
                    <a:alpha val="5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Oval 1091_1">
                <a:extLst>
                  <a:ext uri="{FF2B5EF4-FFF2-40B4-BE49-F238E27FC236}">
                    <a16:creationId xmlns:a16="http://schemas.microsoft.com/office/drawing/2014/main" id="{1F398D51-0057-723A-880A-C3EE39F48942}"/>
                  </a:ext>
                </a:extLst>
              </p:cNvPr>
              <p:cNvSpPr/>
              <p:nvPr/>
            </p:nvSpPr>
            <p:spPr bwMode="auto">
              <a:xfrm>
                <a:off x="5600766" y="1764506"/>
                <a:ext cx="545622" cy="545620"/>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31" name="Graphic 30">
              <a:extLst>
                <a:ext uri="{FF2B5EF4-FFF2-40B4-BE49-F238E27FC236}">
                  <a16:creationId xmlns:a16="http://schemas.microsoft.com/office/drawing/2014/main" id="{3B54E1B8-B956-38FC-8491-B6F1766B140F}"/>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6016218" y="6097015"/>
              <a:ext cx="291356" cy="291356"/>
            </a:xfrm>
            <a:prstGeom prst="rect">
              <a:avLst/>
            </a:prstGeom>
          </p:spPr>
        </p:pic>
      </p:grpSp>
      <p:sp>
        <p:nvSpPr>
          <p:cNvPr id="34" name="Arc 33">
            <a:extLst>
              <a:ext uri="{FF2B5EF4-FFF2-40B4-BE49-F238E27FC236}">
                <a16:creationId xmlns:a16="http://schemas.microsoft.com/office/drawing/2014/main" id="{B22442FB-3170-C62E-4D00-8CB07881C330}"/>
              </a:ext>
              <a:ext uri="{C183D7F6-B498-43B3-948B-1728B52AA6E4}">
                <adec:decorative xmlns:adec="http://schemas.microsoft.com/office/drawing/2017/decorative" val="1"/>
              </a:ext>
            </a:extLst>
          </p:cNvPr>
          <p:cNvSpPr/>
          <p:nvPr/>
        </p:nvSpPr>
        <p:spPr>
          <a:xfrm>
            <a:off x="2102443" y="2338666"/>
            <a:ext cx="740664" cy="740664"/>
          </a:xfrm>
          <a:prstGeom prst="arc">
            <a:avLst>
              <a:gd name="adj1" fmla="val 13985583"/>
              <a:gd name="adj2" fmla="val 18591539"/>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nvGrpSpPr>
          <p:cNvPr id="35" name="Group 34">
            <a:extLst>
              <a:ext uri="{FF2B5EF4-FFF2-40B4-BE49-F238E27FC236}">
                <a16:creationId xmlns:a16="http://schemas.microsoft.com/office/drawing/2014/main" id="{D8CFF062-4FF8-93AA-BD79-69ECDF4946FD}"/>
              </a:ext>
              <a:ext uri="{C183D7F6-B498-43B3-948B-1728B52AA6E4}">
                <adec:decorative xmlns:adec="http://schemas.microsoft.com/office/drawing/2017/decorative" val="1"/>
              </a:ext>
            </a:extLst>
          </p:cNvPr>
          <p:cNvGrpSpPr/>
          <p:nvPr/>
        </p:nvGrpSpPr>
        <p:grpSpPr>
          <a:xfrm>
            <a:off x="5788405" y="2335973"/>
            <a:ext cx="744537" cy="746051"/>
            <a:chOff x="3568784" y="3962019"/>
            <a:chExt cx="744537" cy="746051"/>
          </a:xfrm>
          <a:effectLst>
            <a:outerShdw blurRad="50800" dist="38100" dir="2700000" algn="tl" rotWithShape="0">
              <a:prstClr val="black">
                <a:alpha val="40000"/>
              </a:prstClr>
            </a:outerShdw>
          </a:effectLst>
        </p:grpSpPr>
        <p:grpSp>
          <p:nvGrpSpPr>
            <p:cNvPr id="36" name="Group 35">
              <a:extLst>
                <a:ext uri="{FF2B5EF4-FFF2-40B4-BE49-F238E27FC236}">
                  <a16:creationId xmlns:a16="http://schemas.microsoft.com/office/drawing/2014/main" id="{978C499E-5782-87F3-47F0-BC40DE5731EC}"/>
                </a:ext>
              </a:extLst>
            </p:cNvPr>
            <p:cNvGrpSpPr>
              <a:grpSpLocks/>
            </p:cNvGrpSpPr>
            <p:nvPr/>
          </p:nvGrpSpPr>
          <p:grpSpPr>
            <a:xfrm>
              <a:off x="3568784" y="3963534"/>
              <a:ext cx="744537" cy="744536"/>
              <a:chOff x="3568784" y="6329162"/>
              <a:chExt cx="744537" cy="744536"/>
            </a:xfrm>
          </p:grpSpPr>
          <p:grpSp>
            <p:nvGrpSpPr>
              <p:cNvPr id="38" name="Group 37">
                <a:extLst>
                  <a:ext uri="{FF2B5EF4-FFF2-40B4-BE49-F238E27FC236}">
                    <a16:creationId xmlns:a16="http://schemas.microsoft.com/office/drawing/2014/main" id="{21C704D5-8E62-A009-EEBB-3D17E14A4099}"/>
                  </a:ext>
                </a:extLst>
              </p:cNvPr>
              <p:cNvGrpSpPr/>
              <p:nvPr/>
            </p:nvGrpSpPr>
            <p:grpSpPr>
              <a:xfrm>
                <a:off x="3568784" y="6329162"/>
                <a:ext cx="744537" cy="744536"/>
                <a:chOff x="5553520" y="1717263"/>
                <a:chExt cx="640110" cy="640108"/>
              </a:xfrm>
            </p:grpSpPr>
            <p:sp>
              <p:nvSpPr>
                <p:cNvPr id="40" name="Oval 39">
                  <a:extLst>
                    <a:ext uri="{FF2B5EF4-FFF2-40B4-BE49-F238E27FC236}">
                      <a16:creationId xmlns:a16="http://schemas.microsoft.com/office/drawing/2014/main" id="{340E8896-32FA-3EA9-8799-6AFD18A4CAAA}"/>
                    </a:ext>
                  </a:extLst>
                </p:cNvPr>
                <p:cNvSpPr/>
                <p:nvPr/>
              </p:nvSpPr>
              <p:spPr bwMode="auto">
                <a:xfrm>
                  <a:off x="5553520" y="1717263"/>
                  <a:ext cx="640110" cy="640108"/>
                </a:xfrm>
                <a:prstGeom prst="ellipse">
                  <a:avLst/>
                </a:prstGeom>
                <a:solidFill>
                  <a:srgbClr val="FFFFFF"/>
                </a:solidFill>
                <a:ln w="9525" cap="flat" cmpd="sng" algn="ctr">
                  <a:noFill/>
                  <a:prstDash val="solid"/>
                  <a:headEnd type="none" w="med" len="med"/>
                  <a:tailEnd type="none" w="med" len="med"/>
                </a:ln>
                <a:effectLst>
                  <a:outerShdw blurRad="63500" sx="103000" sy="103000" algn="ctr" rotWithShape="0">
                    <a:prstClr val="black">
                      <a:alpha val="5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1" name="Oval 1091_1">
                  <a:extLst>
                    <a:ext uri="{FF2B5EF4-FFF2-40B4-BE49-F238E27FC236}">
                      <a16:creationId xmlns:a16="http://schemas.microsoft.com/office/drawing/2014/main" id="{042DE4E0-7D2F-C503-115F-CF8FCB45EB4A}"/>
                    </a:ext>
                  </a:extLst>
                </p:cNvPr>
                <p:cNvSpPr/>
                <p:nvPr/>
              </p:nvSpPr>
              <p:spPr bwMode="auto">
                <a:xfrm>
                  <a:off x="5600766" y="1764506"/>
                  <a:ext cx="545622" cy="545620"/>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39" name="Graphic 38">
                <a:extLst>
                  <a:ext uri="{FF2B5EF4-FFF2-40B4-BE49-F238E27FC236}">
                    <a16:creationId xmlns:a16="http://schemas.microsoft.com/office/drawing/2014/main" id="{29FB65A1-AE6C-38DF-482B-FB2718FB298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795375" y="6555752"/>
                <a:ext cx="291356" cy="291356"/>
              </a:xfrm>
              <a:prstGeom prst="rect">
                <a:avLst/>
              </a:prstGeom>
            </p:spPr>
          </p:pic>
        </p:grpSp>
        <p:sp>
          <p:nvSpPr>
            <p:cNvPr id="37" name="Arc 36">
              <a:extLst>
                <a:ext uri="{FF2B5EF4-FFF2-40B4-BE49-F238E27FC236}">
                  <a16:creationId xmlns:a16="http://schemas.microsoft.com/office/drawing/2014/main" id="{0EAEC3FC-ED0B-8DFB-82FE-B93002463D99}"/>
                </a:ext>
              </a:extLst>
            </p:cNvPr>
            <p:cNvSpPr/>
            <p:nvPr/>
          </p:nvSpPr>
          <p:spPr>
            <a:xfrm>
              <a:off x="3570720" y="3962019"/>
              <a:ext cx="740664" cy="740664"/>
            </a:xfrm>
            <a:prstGeom prst="arc">
              <a:avLst>
                <a:gd name="adj1" fmla="val 13985583"/>
                <a:gd name="adj2" fmla="val 18591539"/>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sp>
        <p:nvSpPr>
          <p:cNvPr id="42" name="Arc 41">
            <a:extLst>
              <a:ext uri="{FF2B5EF4-FFF2-40B4-BE49-F238E27FC236}">
                <a16:creationId xmlns:a16="http://schemas.microsoft.com/office/drawing/2014/main" id="{BD921B76-F468-470D-2C29-A999689AACC1}"/>
              </a:ext>
              <a:ext uri="{C183D7F6-B498-43B3-948B-1728B52AA6E4}">
                <adec:decorative xmlns:adec="http://schemas.microsoft.com/office/drawing/2017/decorative" val="1"/>
              </a:ext>
            </a:extLst>
          </p:cNvPr>
          <p:cNvSpPr/>
          <p:nvPr/>
        </p:nvSpPr>
        <p:spPr>
          <a:xfrm>
            <a:off x="9482078" y="2338666"/>
            <a:ext cx="740664" cy="740664"/>
          </a:xfrm>
          <a:prstGeom prst="arc">
            <a:avLst>
              <a:gd name="adj1" fmla="val 13985583"/>
              <a:gd name="adj2" fmla="val 18591539"/>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sp>
        <p:nvSpPr>
          <p:cNvPr id="5" name="Title 1">
            <a:extLst>
              <a:ext uri="{FF2B5EF4-FFF2-40B4-BE49-F238E27FC236}">
                <a16:creationId xmlns:a16="http://schemas.microsoft.com/office/drawing/2014/main" id="{8AF2A687-166E-6F46-FD4A-B6175662515C}"/>
              </a:ext>
            </a:extLst>
          </p:cNvPr>
          <p:cNvSpPr>
            <a:spLocks noGrp="1"/>
          </p:cNvSpPr>
          <p:nvPr>
            <p:ph type="title"/>
          </p:nvPr>
        </p:nvSpPr>
        <p:spPr/>
        <p:txBody>
          <a:bodyPr>
            <a:normAutofit/>
          </a:bodyPr>
          <a:lstStyle/>
          <a:p>
            <a:r>
              <a:rPr lang="en-US" dirty="0">
                <a:solidFill>
                  <a:schemeClr val="tx1"/>
                </a:solidFill>
              </a:rPr>
              <a:t>Secure and govern Copilot with Microsoft Security</a:t>
            </a:r>
          </a:p>
        </p:txBody>
      </p:sp>
      <p:sp>
        <p:nvSpPr>
          <p:cNvPr id="43" name="Rectangle 42">
            <a:extLst>
              <a:ext uri="{FF2B5EF4-FFF2-40B4-BE49-F238E27FC236}">
                <a16:creationId xmlns:a16="http://schemas.microsoft.com/office/drawing/2014/main" id="{0A08D810-3B7C-DF3E-B66B-D9FEA271851A}"/>
              </a:ext>
            </a:extLst>
          </p:cNvPr>
          <p:cNvSpPr/>
          <p:nvPr/>
        </p:nvSpPr>
        <p:spPr bwMode="auto">
          <a:xfrm>
            <a:off x="971879" y="1828634"/>
            <a:ext cx="3001793"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dirty="0">
                <a:gradFill>
                  <a:gsLst>
                    <a:gs pos="52000">
                      <a:srgbClr val="593DA7"/>
                    </a:gs>
                    <a:gs pos="100000">
                      <a:srgbClr val="7030A0"/>
                    </a:gs>
                    <a:gs pos="0">
                      <a:srgbClr val="0070C0"/>
                    </a:gs>
                  </a:gsLst>
                  <a:lin ang="2700000" scaled="1"/>
                </a:gradFill>
                <a:latin typeface="Segoe UI Semibold"/>
              </a:rPr>
              <a:t>Foundational</a:t>
            </a:r>
            <a:endParaRPr kumimoji="0" lang="en-US" sz="18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endParaRPr>
          </a:p>
        </p:txBody>
      </p:sp>
      <p:sp>
        <p:nvSpPr>
          <p:cNvPr id="2" name="TextBox 1">
            <a:extLst>
              <a:ext uri="{FF2B5EF4-FFF2-40B4-BE49-F238E27FC236}">
                <a16:creationId xmlns:a16="http://schemas.microsoft.com/office/drawing/2014/main" id="{3EBDDFB1-96E3-2D3A-8355-47F4F1B74812}"/>
              </a:ext>
            </a:extLst>
          </p:cNvPr>
          <p:cNvSpPr txBox="1"/>
          <p:nvPr/>
        </p:nvSpPr>
        <p:spPr>
          <a:xfrm>
            <a:off x="888598" y="3170764"/>
            <a:ext cx="3200400"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Microsoft 365 Copilot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 Business Basic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gradFill>
                  <a:gsLst>
                    <a:gs pos="52000">
                      <a:srgbClr val="593DA7"/>
                    </a:gs>
                    <a:gs pos="100000">
                      <a:srgbClr val="7030A0"/>
                    </a:gs>
                    <a:gs pos="0">
                      <a:srgbClr val="0070C0"/>
                    </a:gs>
                  </a:gsLst>
                  <a:lin ang="2700000" scaled="1"/>
                </a:gradFill>
                <a:latin typeface="Segoe UI Semibold"/>
              </a:rPr>
              <a:t>+ Business Standard</a:t>
            </a:r>
            <a:endPar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endParaRPr>
          </a:p>
        </p:txBody>
      </p:sp>
      <p:sp>
        <p:nvSpPr>
          <p:cNvPr id="49" name="Rectangle 48">
            <a:extLst>
              <a:ext uri="{FF2B5EF4-FFF2-40B4-BE49-F238E27FC236}">
                <a16:creationId xmlns:a16="http://schemas.microsoft.com/office/drawing/2014/main" id="{2CD02462-DFFA-51FE-8972-C230E3015F8C}"/>
              </a:ext>
            </a:extLst>
          </p:cNvPr>
          <p:cNvSpPr/>
          <p:nvPr/>
        </p:nvSpPr>
        <p:spPr bwMode="auto">
          <a:xfrm>
            <a:off x="856552" y="3947622"/>
            <a:ext cx="3232446" cy="19412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rPr>
              <a:t>Multi-factor Authentication</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rPr>
              <a:t>Audit logging</a:t>
            </a:r>
          </a:p>
          <a:p>
            <a:pPr marL="0" marR="0" lvl="0" indent="0" algn="ctr" defTabSz="932472" rtl="0" eaLnBrk="1" fontAlgn="base" latinLnBrk="0" hangingPunct="1">
              <a:lnSpc>
                <a:spcPct val="100000"/>
              </a:lnSpc>
              <a:spcBef>
                <a:spcPct val="0"/>
              </a:spcBef>
              <a:spcAft>
                <a:spcPct val="0"/>
              </a:spcAft>
              <a:buClrTx/>
              <a:buSzTx/>
              <a:buFontTx/>
              <a:buNone/>
              <a:tabLst/>
              <a:defRPr/>
            </a:pPr>
            <a:endParaRPr lang="en-US" sz="1200">
              <a:solidFill>
                <a:schemeClr val="tx1"/>
              </a:solidFill>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rPr>
              <a:t>Search and export </a:t>
            </a:r>
          </a:p>
          <a:p>
            <a:pPr marL="0" marR="0" lvl="0" indent="0" algn="ctr" defTabSz="932472" rtl="0" eaLnBrk="1" fontAlgn="base" latinLnBrk="0" hangingPunct="1">
              <a:lnSpc>
                <a:spcPct val="100000"/>
              </a:lnSpc>
              <a:spcBef>
                <a:spcPct val="0"/>
              </a:spcBef>
              <a:spcAft>
                <a:spcPct val="0"/>
              </a:spcAft>
              <a:buClrTx/>
              <a:buSzTx/>
              <a:buFontTx/>
              <a:buNone/>
              <a:tabLst/>
              <a:defRPr/>
            </a:pPr>
            <a:endParaRPr lang="en-US" sz="1200">
              <a:solidFill>
                <a:schemeClr val="tx1"/>
              </a:solidFill>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mj-lt"/>
                <a:ea typeface="+mn-ea"/>
                <a:cs typeface="+mn-cs"/>
              </a:rPr>
              <a:t>Retention or deletion policies</a:t>
            </a:r>
          </a:p>
          <a:p>
            <a:pPr marL="0" marR="0" lvl="0" indent="0" algn="ctr" defTabSz="932472" rtl="0" eaLnBrk="1" fontAlgn="base" latinLnBrk="0" hangingPunct="1">
              <a:lnSpc>
                <a:spcPct val="100000"/>
              </a:lnSpc>
              <a:spcBef>
                <a:spcPct val="0"/>
              </a:spcBef>
              <a:spcAft>
                <a:spcPct val="0"/>
              </a:spcAft>
              <a:buClrTx/>
              <a:buSzTx/>
              <a:buFontTx/>
              <a:buNone/>
              <a:tabLst/>
              <a:defRPr/>
            </a:pPr>
            <a:endParaRPr lang="en-US" sz="1200" b="1">
              <a:solidFill>
                <a:schemeClr val="tx1"/>
              </a:solidFill>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mj-lt"/>
                <a:ea typeface="+mn-ea"/>
                <a:cs typeface="+mn-cs"/>
              </a:rPr>
              <a:t>Restricted SharePoint Search</a:t>
            </a:r>
            <a:endParaRPr kumimoji="0" lang="en-US" sz="1200" b="0" i="0" u="none" strike="noStrike" kern="1200" cap="none" spc="0" normalizeH="0" baseline="0" noProof="0">
              <a:ln>
                <a:noFill/>
              </a:ln>
              <a:solidFill>
                <a:schemeClr val="tx1"/>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a typeface="Segoe UI" pitchFamily="34" charset="0"/>
              <a:cs typeface="Segoe UI" pitchFamily="34" charset="0"/>
            </a:endParaRPr>
          </a:p>
        </p:txBody>
      </p:sp>
      <p:sp>
        <p:nvSpPr>
          <p:cNvPr id="44" name="Rectangle 43">
            <a:extLst>
              <a:ext uri="{FF2B5EF4-FFF2-40B4-BE49-F238E27FC236}">
                <a16:creationId xmlns:a16="http://schemas.microsoft.com/office/drawing/2014/main" id="{C4836924-04DD-AF5F-FF54-323FF9F985B0}"/>
              </a:ext>
            </a:extLst>
          </p:cNvPr>
          <p:cNvSpPr/>
          <p:nvPr/>
        </p:nvSpPr>
        <p:spPr bwMode="auto">
          <a:xfrm>
            <a:off x="4756996" y="1828634"/>
            <a:ext cx="2807354"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Core</a:t>
            </a: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89120FE-1955-3C71-1D07-90E68DD0AA2B}"/>
              </a:ext>
            </a:extLst>
          </p:cNvPr>
          <p:cNvSpPr txBox="1"/>
          <p:nvPr/>
        </p:nvSpPr>
        <p:spPr>
          <a:xfrm>
            <a:off x="4568666" y="3170764"/>
            <a:ext cx="3200400" cy="73866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Microsoft 365 Copilot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 Business Premium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gradFill>
                  <a:gsLst>
                    <a:gs pos="52000">
                      <a:srgbClr val="593DA7"/>
                    </a:gs>
                    <a:gs pos="100000">
                      <a:srgbClr val="7030A0"/>
                    </a:gs>
                    <a:gs pos="0">
                      <a:srgbClr val="0070C0"/>
                    </a:gs>
                  </a:gsLst>
                  <a:lin ang="2700000" scaled="1"/>
                </a:gradFill>
                <a:latin typeface="Segoe UI Semibold"/>
              </a:rPr>
              <a:t>+ </a:t>
            </a: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Microsoft 365 E3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 SharePoint Advanced Management</a:t>
            </a:r>
          </a:p>
        </p:txBody>
      </p:sp>
      <p:sp>
        <p:nvSpPr>
          <p:cNvPr id="45" name="Rectangle 44">
            <a:extLst>
              <a:ext uri="{FF2B5EF4-FFF2-40B4-BE49-F238E27FC236}">
                <a16:creationId xmlns:a16="http://schemas.microsoft.com/office/drawing/2014/main" id="{15D94D21-5CFD-CDAC-99D0-FCB164EE47ED}"/>
              </a:ext>
            </a:extLst>
          </p:cNvPr>
          <p:cNvSpPr/>
          <p:nvPr/>
        </p:nvSpPr>
        <p:spPr bwMode="auto">
          <a:xfrm>
            <a:off x="4544450" y="3870128"/>
            <a:ext cx="3232446" cy="201879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rPr>
              <a:t>Conditional Access</a:t>
            </a: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j-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rPr>
              <a:t>Manual sensitivity labels </a:t>
            </a:r>
            <a:endParaRPr kumimoji="0" lang="en-US" sz="1200" b="0" i="0" u="none" strike="noStrike" kern="1200" cap="none" spc="0" normalizeH="0" baseline="0" noProof="0" dirty="0">
              <a:ln>
                <a:noFill/>
              </a:ln>
              <a:solidFill>
                <a:schemeClr val="tx1"/>
              </a:solidFill>
              <a:effectLst/>
              <a:uLnTx/>
              <a:uFillTx/>
              <a:latin typeface="+mj-lt"/>
              <a:cs typeface="Segoe UI" pitchFamily="34" charset="0"/>
            </a:endParaRP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j-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rPr>
              <a:t>Data loss prevention policies</a:t>
            </a: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j-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rPr>
              <a:t>Advanced SharePoint sitewide access controls and reporting</a:t>
            </a: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j-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rPr>
              <a:t>Search, export, eDiscovery case management, and legal hold </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j-lt"/>
              <a:cs typeface="Segoe UI"/>
            </a:endParaRPr>
          </a:p>
        </p:txBody>
      </p:sp>
      <p:sp>
        <p:nvSpPr>
          <p:cNvPr id="46" name="Rectangle 45">
            <a:extLst>
              <a:ext uri="{FF2B5EF4-FFF2-40B4-BE49-F238E27FC236}">
                <a16:creationId xmlns:a16="http://schemas.microsoft.com/office/drawing/2014/main" id="{28DAE605-CFB7-55CE-9852-78F0F901A94B}"/>
              </a:ext>
            </a:extLst>
          </p:cNvPr>
          <p:cNvSpPr/>
          <p:nvPr/>
        </p:nvSpPr>
        <p:spPr bwMode="auto">
          <a:xfrm>
            <a:off x="8382735" y="1828634"/>
            <a:ext cx="2939351"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Best-in-class</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 name="TextBox 3">
            <a:extLst>
              <a:ext uri="{FF2B5EF4-FFF2-40B4-BE49-F238E27FC236}">
                <a16:creationId xmlns:a16="http://schemas.microsoft.com/office/drawing/2014/main" id="{B698C76B-E51F-AC03-9987-D069BE98F87B}"/>
              </a:ext>
            </a:extLst>
          </p:cNvPr>
          <p:cNvSpPr txBox="1"/>
          <p:nvPr/>
        </p:nvSpPr>
        <p:spPr>
          <a:xfrm>
            <a:off x="8260403" y="3170764"/>
            <a:ext cx="3200400"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Microsoft 365 Copilot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 Microsoft 365 E5</a:t>
            </a:r>
          </a:p>
          <a:p>
            <a:pPr algn="ctr">
              <a:defRPr/>
            </a:pPr>
            <a:r>
              <a:rPr kumimoji="0" lang="en-US" sz="12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 SharePoint Advanced Management</a:t>
            </a:r>
          </a:p>
        </p:txBody>
      </p:sp>
      <p:sp>
        <p:nvSpPr>
          <p:cNvPr id="47" name="Rectangle 46">
            <a:extLst>
              <a:ext uri="{FF2B5EF4-FFF2-40B4-BE49-F238E27FC236}">
                <a16:creationId xmlns:a16="http://schemas.microsoft.com/office/drawing/2014/main" id="{D1E57003-005A-4C5D-20E9-3859FA7D8F51}"/>
              </a:ext>
            </a:extLst>
          </p:cNvPr>
          <p:cNvSpPr/>
          <p:nvPr/>
        </p:nvSpPr>
        <p:spPr bwMode="auto">
          <a:xfrm>
            <a:off x="8236187" y="3947622"/>
            <a:ext cx="3232446" cy="19412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j-lt"/>
              </a:rPr>
              <a:t>Conditional Access based on identity risk</a:t>
            </a:r>
          </a:p>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j-lt"/>
              </a:rPr>
              <a:t>Automatically apply sensitivity labels</a:t>
            </a:r>
            <a:endParaRPr lang="en-US" sz="1200" b="0" i="0" u="none" strike="noStrike" kern="1200" cap="none" spc="0" normalizeH="0" baseline="0" noProof="0">
              <a:ln>
                <a:noFill/>
              </a:ln>
              <a:solidFill>
                <a:srgbClr val="000000"/>
              </a:solidFill>
              <a:effectLst/>
              <a:uLnTx/>
              <a:uFillTx/>
              <a:latin typeface="+mj-lt"/>
              <a:cs typeface="Segoe UI Semibold"/>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j-lt"/>
                <a:ea typeface="Segoe UI" pitchFamily="34" charset="0"/>
                <a:cs typeface="Segoe UI"/>
              </a:rPr>
              <a:t>Automatically remove inactive content</a:t>
            </a:r>
            <a:endParaRPr lang="en-US" sz="1200" b="0" i="0" u="none" strike="noStrike" kern="1200" cap="none" spc="0" normalizeH="0" baseline="0" noProof="0">
              <a:ln>
                <a:noFill/>
              </a:ln>
              <a:solidFill>
                <a:srgbClr val="000000"/>
              </a:solidFill>
              <a:effectLst/>
              <a:uLnTx/>
              <a:uFillTx/>
              <a:latin typeface="+mj-lt"/>
              <a:ea typeface="Segoe UI" pitchFamily="34" charset="0"/>
              <a:cs typeface="Segoe UI"/>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j-lt"/>
                <a:cs typeface="Segoe UI"/>
              </a:rPr>
              <a:t>Prevent data leak on endpoint devices</a:t>
            </a:r>
            <a:endParaRPr lang="en-US" sz="1200" b="0" i="0" u="none" strike="noStrike" kern="1200" cap="none" spc="0" normalizeH="0" baseline="0" noProof="0">
              <a:ln>
                <a:noFill/>
              </a:ln>
              <a:solidFill>
                <a:srgbClr val="000000"/>
              </a:solidFill>
              <a:effectLst/>
              <a:uLnTx/>
              <a:uFillTx/>
              <a:latin typeface="+mj-lt"/>
              <a:cs typeface="Segoe UI"/>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lang="en-US" sz="1200">
                <a:solidFill>
                  <a:srgbClr val="000000"/>
                </a:solidFill>
                <a:latin typeface="+mj-lt"/>
              </a:rPr>
              <a:t>Detect</a:t>
            </a:r>
            <a:r>
              <a:rPr kumimoji="0" lang="en-US" sz="1200" b="0" i="0" u="none" strike="noStrike" kern="1200" cap="none" spc="0" normalizeH="0" baseline="0" noProof="0">
                <a:ln>
                  <a:noFill/>
                </a:ln>
                <a:solidFill>
                  <a:srgbClr val="000000"/>
                </a:solidFill>
                <a:effectLst/>
                <a:uLnTx/>
                <a:uFillTx/>
                <a:latin typeface="+mj-lt"/>
              </a:rPr>
              <a:t> non-compliant usage</a:t>
            </a:r>
            <a:endParaRPr lang="en-US" sz="1200" b="0" i="0" u="none" strike="noStrike" kern="1200" cap="none" spc="0" normalizeH="0" baseline="0" noProof="0">
              <a:ln>
                <a:noFill/>
              </a:ln>
              <a:solidFill>
                <a:srgbClr val="000000"/>
              </a:solidFill>
              <a:effectLst/>
              <a:uLnTx/>
              <a:uFillTx/>
              <a:latin typeface="+mj-lt"/>
              <a:cs typeface="Segoe UI Semibold"/>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j-lt"/>
              <a:ea typeface="Segoe UI" pitchFamily="34" charset="0"/>
              <a:cs typeface="Segoe UI" pitchFamily="34" charset="0"/>
            </a:endParaRPr>
          </a:p>
        </p:txBody>
      </p:sp>
      <p:pic>
        <p:nvPicPr>
          <p:cNvPr id="48" name="!Copilot">
            <a:extLst>
              <a:ext uri="{FF2B5EF4-FFF2-40B4-BE49-F238E27FC236}">
                <a16:creationId xmlns:a16="http://schemas.microsoft.com/office/drawing/2014/main" id="{6A84CAEF-137F-4452-C3AB-0C4E9E9D508E}"/>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777614" y="865897"/>
            <a:ext cx="636771" cy="636770"/>
          </a:xfrm>
          <a:prstGeom prst="rect">
            <a:avLst/>
          </a:prstGeom>
          <a:noFill/>
          <a:ln>
            <a:noFill/>
            <a:headEnd type="none" w="med" len="med"/>
            <a:tailEnd type="none" w="med" len="med"/>
          </a:ln>
          <a:effectLst>
            <a:outerShdw blurRad="50800" dist="38100" dir="2700000" sx="103000" sy="103000" algn="tl" rotWithShape="0">
              <a:prstClr val="black">
                <a:alpha val="40000"/>
              </a:prstClr>
            </a:outerShdw>
          </a:effectLst>
        </p:spPr>
      </p:pic>
    </p:spTree>
    <p:extLst>
      <p:ext uri="{BB962C8B-B14F-4D97-AF65-F5344CB8AC3E}">
        <p14:creationId xmlns:p14="http://schemas.microsoft.com/office/powerpoint/2010/main" val="772086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1B67D-3841-E7CE-F7AD-2D35D60B974B}"/>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6184415-0069-2F9C-D722-F023B77740B5}"/>
              </a:ext>
              <a:ext uri="{C183D7F6-B498-43B3-948B-1728B52AA6E4}">
                <adec:decorative xmlns:adec="http://schemas.microsoft.com/office/drawing/2017/decorative" val="1"/>
              </a:ext>
            </a:extLst>
          </p:cNvPr>
          <p:cNvSpPr/>
          <p:nvPr/>
        </p:nvSpPr>
        <p:spPr>
          <a:xfrm>
            <a:off x="487100" y="1397855"/>
            <a:ext cx="6368866" cy="4281693"/>
          </a:xfrm>
          <a:prstGeom prst="rect">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39" name="Rectangle 38">
            <a:extLst>
              <a:ext uri="{FF2B5EF4-FFF2-40B4-BE49-F238E27FC236}">
                <a16:creationId xmlns:a16="http://schemas.microsoft.com/office/drawing/2014/main" id="{60800E61-3F0D-D78B-B126-428AB6F555D1}"/>
              </a:ext>
              <a:ext uri="{C183D7F6-B498-43B3-948B-1728B52AA6E4}">
                <adec:decorative xmlns:adec="http://schemas.microsoft.com/office/drawing/2017/decorative" val="1"/>
              </a:ext>
            </a:extLst>
          </p:cNvPr>
          <p:cNvSpPr/>
          <p:nvPr/>
        </p:nvSpPr>
        <p:spPr>
          <a:xfrm>
            <a:off x="7182208" y="1397855"/>
            <a:ext cx="4519876" cy="4281693"/>
          </a:xfrm>
          <a:prstGeom prst="rect">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36" name="Rectangle 35">
            <a:extLst>
              <a:ext uri="{FF2B5EF4-FFF2-40B4-BE49-F238E27FC236}">
                <a16:creationId xmlns:a16="http://schemas.microsoft.com/office/drawing/2014/main" id="{D747D7E5-71CE-5A82-1204-9126575C0251}"/>
              </a:ext>
              <a:ext uri="{C183D7F6-B498-43B3-948B-1728B52AA6E4}">
                <adec:decorative xmlns:adec="http://schemas.microsoft.com/office/drawing/2017/decorative" val="1"/>
              </a:ext>
            </a:extLst>
          </p:cNvPr>
          <p:cNvSpPr/>
          <p:nvPr/>
        </p:nvSpPr>
        <p:spPr>
          <a:xfrm>
            <a:off x="487100" y="5742601"/>
            <a:ext cx="6368866" cy="478203"/>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37" name="Rectangle 36">
            <a:extLst>
              <a:ext uri="{FF2B5EF4-FFF2-40B4-BE49-F238E27FC236}">
                <a16:creationId xmlns:a16="http://schemas.microsoft.com/office/drawing/2014/main" id="{467017A3-07E3-C7D7-7992-95F4FF7D6FDC}"/>
              </a:ext>
              <a:ext uri="{C183D7F6-B498-43B3-948B-1728B52AA6E4}">
                <adec:decorative xmlns:adec="http://schemas.microsoft.com/office/drawing/2017/decorative" val="1"/>
              </a:ext>
            </a:extLst>
          </p:cNvPr>
          <p:cNvSpPr/>
          <p:nvPr/>
        </p:nvSpPr>
        <p:spPr>
          <a:xfrm>
            <a:off x="7185026" y="5742601"/>
            <a:ext cx="4519876" cy="478203"/>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26" name="Title 1">
            <a:extLst>
              <a:ext uri="{FF2B5EF4-FFF2-40B4-BE49-F238E27FC236}">
                <a16:creationId xmlns:a16="http://schemas.microsoft.com/office/drawing/2014/main" id="{499A8FEC-5FA8-45B0-06FB-60DB37314AF8}"/>
              </a:ext>
            </a:extLst>
          </p:cNvPr>
          <p:cNvSpPr>
            <a:spLocks noGrp="1"/>
          </p:cNvSpPr>
          <p:nvPr>
            <p:ph type="title"/>
          </p:nvPr>
        </p:nvSpPr>
        <p:spPr/>
        <p:txBody>
          <a:bodyPr/>
          <a:lstStyle/>
          <a:p>
            <a:r>
              <a:rPr lang="en-US">
                <a:gradFill>
                  <a:gsLst>
                    <a:gs pos="0">
                      <a:srgbClr val="000000"/>
                    </a:gs>
                    <a:gs pos="100000">
                      <a:srgbClr val="000000"/>
                    </a:gs>
                  </a:gsLst>
                  <a:lin ang="2700000" scaled="1"/>
                </a:gradFill>
                <a:latin typeface="Segoe Sans Display Semibold" pitchFamily="2" charset="0"/>
                <a:cs typeface="Segoe Sans Display Semibold" pitchFamily="2" charset="0"/>
              </a:rPr>
              <a:t>Additional offerings for small and medium businesses</a:t>
            </a:r>
          </a:p>
        </p:txBody>
      </p:sp>
      <p:pic>
        <p:nvPicPr>
          <p:cNvPr id="24" name="Picture 6">
            <a:extLst>
              <a:ext uri="{FF2B5EF4-FFF2-40B4-BE49-F238E27FC236}">
                <a16:creationId xmlns:a16="http://schemas.microsoft.com/office/drawing/2014/main" id="{AD0D01FD-7D1A-202A-EE16-C5980262BBE9}"/>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6032" y="2365587"/>
            <a:ext cx="464678" cy="46467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63B7F6F-324D-38E2-3515-E982582DAC39}"/>
              </a:ext>
            </a:extLst>
          </p:cNvPr>
          <p:cNvSpPr txBox="1"/>
          <p:nvPr/>
        </p:nvSpPr>
        <p:spPr>
          <a:xfrm>
            <a:off x="1983688" y="1600693"/>
            <a:ext cx="337569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a:ea typeface="+mn-ea"/>
                <a:cs typeface="+mn-cs"/>
              </a:rPr>
              <a:t>Data protection add-ons</a:t>
            </a:r>
          </a:p>
        </p:txBody>
      </p:sp>
      <p:sp>
        <p:nvSpPr>
          <p:cNvPr id="16" name="TextBox 15">
            <a:extLst>
              <a:ext uri="{FF2B5EF4-FFF2-40B4-BE49-F238E27FC236}">
                <a16:creationId xmlns:a16="http://schemas.microsoft.com/office/drawing/2014/main" id="{6B3B1681-B5CB-196C-6F0D-02EDAC398357}"/>
              </a:ext>
            </a:extLst>
          </p:cNvPr>
          <p:cNvSpPr txBox="1"/>
          <p:nvPr/>
        </p:nvSpPr>
        <p:spPr>
          <a:xfrm>
            <a:off x="845650" y="3122691"/>
            <a:ext cx="166498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Information protection and governance</a:t>
            </a:r>
          </a:p>
        </p:txBody>
      </p:sp>
      <p:sp>
        <p:nvSpPr>
          <p:cNvPr id="32" name="Rectangle 31">
            <a:extLst>
              <a:ext uri="{FF2B5EF4-FFF2-40B4-BE49-F238E27FC236}">
                <a16:creationId xmlns:a16="http://schemas.microsoft.com/office/drawing/2014/main" id="{1C4F0542-BAF0-89D3-B00C-3B6BB0F6821A}"/>
              </a:ext>
            </a:extLst>
          </p:cNvPr>
          <p:cNvSpPr/>
          <p:nvPr/>
        </p:nvSpPr>
        <p:spPr>
          <a:xfrm>
            <a:off x="816657" y="4120204"/>
            <a:ext cx="1722975" cy="984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Discover, classify, and protect sensitive information wherever it lives or travels</a:t>
            </a:r>
          </a:p>
        </p:txBody>
      </p:sp>
      <p:sp>
        <p:nvSpPr>
          <p:cNvPr id="31" name="Rectangle 30">
            <a:extLst>
              <a:ext uri="{FF2B5EF4-FFF2-40B4-BE49-F238E27FC236}">
                <a16:creationId xmlns:a16="http://schemas.microsoft.com/office/drawing/2014/main" id="{49A0CBB9-FEB0-0F26-7E65-56269E44717A}"/>
              </a:ext>
            </a:extLst>
          </p:cNvPr>
          <p:cNvSpPr/>
          <p:nvPr/>
        </p:nvSpPr>
        <p:spPr>
          <a:xfrm>
            <a:off x="1051370" y="5873980"/>
            <a:ext cx="1253549"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$7/user/month</a:t>
            </a:r>
          </a:p>
        </p:txBody>
      </p:sp>
      <p:sp>
        <p:nvSpPr>
          <p:cNvPr id="9" name="Rectangle 8">
            <a:extLst>
              <a:ext uri="{FF2B5EF4-FFF2-40B4-BE49-F238E27FC236}">
                <a16:creationId xmlns:a16="http://schemas.microsoft.com/office/drawing/2014/main" id="{317FDB82-2719-724B-AFFA-566C1AA09239}"/>
              </a:ext>
            </a:extLst>
          </p:cNvPr>
          <p:cNvSpPr/>
          <p:nvPr/>
        </p:nvSpPr>
        <p:spPr>
          <a:xfrm>
            <a:off x="2949141" y="3291968"/>
            <a:ext cx="1444784" cy="4924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Insider risk management</a:t>
            </a:r>
          </a:p>
        </p:txBody>
      </p:sp>
      <p:sp>
        <p:nvSpPr>
          <p:cNvPr id="33" name="Rectangle 32">
            <a:extLst>
              <a:ext uri="{FF2B5EF4-FFF2-40B4-BE49-F238E27FC236}">
                <a16:creationId xmlns:a16="http://schemas.microsoft.com/office/drawing/2014/main" id="{73F6E642-905F-E253-C611-524B6B6774EF}"/>
              </a:ext>
            </a:extLst>
          </p:cNvPr>
          <p:cNvSpPr/>
          <p:nvPr/>
        </p:nvSpPr>
        <p:spPr>
          <a:xfrm>
            <a:off x="2834838" y="4120204"/>
            <a:ext cx="1673390" cy="984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Detect, investigate, and act on malicious and inadvertent activities</a:t>
            </a:r>
          </a:p>
        </p:txBody>
      </p:sp>
      <p:sp>
        <p:nvSpPr>
          <p:cNvPr id="21" name="Rectangle 20">
            <a:extLst>
              <a:ext uri="{FF2B5EF4-FFF2-40B4-BE49-F238E27FC236}">
                <a16:creationId xmlns:a16="http://schemas.microsoft.com/office/drawing/2014/main" id="{FBF9A9CD-9982-622E-A9DD-C2DDDF4D1AFC}"/>
              </a:ext>
            </a:extLst>
          </p:cNvPr>
          <p:cNvSpPr/>
          <p:nvPr/>
        </p:nvSpPr>
        <p:spPr>
          <a:xfrm>
            <a:off x="3044759" y="5873980"/>
            <a:ext cx="1253549"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$6/user/month</a:t>
            </a:r>
          </a:p>
        </p:txBody>
      </p:sp>
      <p:sp>
        <p:nvSpPr>
          <p:cNvPr id="6" name="Rectangle 5">
            <a:extLst>
              <a:ext uri="{FF2B5EF4-FFF2-40B4-BE49-F238E27FC236}">
                <a16:creationId xmlns:a16="http://schemas.microsoft.com/office/drawing/2014/main" id="{5A497F80-2011-7823-0199-4405E3955CD0}"/>
              </a:ext>
            </a:extLst>
          </p:cNvPr>
          <p:cNvSpPr/>
          <p:nvPr/>
        </p:nvSpPr>
        <p:spPr>
          <a:xfrm>
            <a:off x="5002728" y="3291968"/>
            <a:ext cx="1444784" cy="4924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eDiscovery </a:t>
            </a:r>
            <a:b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b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and audit</a:t>
            </a:r>
          </a:p>
        </p:txBody>
      </p:sp>
      <p:sp>
        <p:nvSpPr>
          <p:cNvPr id="10" name="Rectangle 9">
            <a:extLst>
              <a:ext uri="{FF2B5EF4-FFF2-40B4-BE49-F238E27FC236}">
                <a16:creationId xmlns:a16="http://schemas.microsoft.com/office/drawing/2014/main" id="{E3F079CC-230D-1311-528D-929E9B0554B7}"/>
              </a:ext>
            </a:extLst>
          </p:cNvPr>
          <p:cNvSpPr/>
          <p:nvPr/>
        </p:nvSpPr>
        <p:spPr>
          <a:xfrm>
            <a:off x="4849416" y="4120204"/>
            <a:ext cx="1751409" cy="984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Search and export content in </a:t>
            </a:r>
            <a:b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Microsoft 365 </a:t>
            </a:r>
            <a:b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and Office 365</a:t>
            </a:r>
          </a:p>
        </p:txBody>
      </p:sp>
      <p:sp>
        <p:nvSpPr>
          <p:cNvPr id="30" name="Rectangle 29">
            <a:extLst>
              <a:ext uri="{FF2B5EF4-FFF2-40B4-BE49-F238E27FC236}">
                <a16:creationId xmlns:a16="http://schemas.microsoft.com/office/drawing/2014/main" id="{16F57501-E9B8-C5CA-80CA-FFC9B3DD42B1}"/>
              </a:ext>
            </a:extLst>
          </p:cNvPr>
          <p:cNvSpPr/>
          <p:nvPr/>
        </p:nvSpPr>
        <p:spPr>
          <a:xfrm>
            <a:off x="5098346" y="5873980"/>
            <a:ext cx="1253549"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$6/user/month</a:t>
            </a:r>
          </a:p>
        </p:txBody>
      </p:sp>
      <p:sp>
        <p:nvSpPr>
          <p:cNvPr id="11" name="TextBox 10">
            <a:extLst>
              <a:ext uri="{FF2B5EF4-FFF2-40B4-BE49-F238E27FC236}">
                <a16:creationId xmlns:a16="http://schemas.microsoft.com/office/drawing/2014/main" id="{4CA94A02-0537-AE22-7107-859C568FF0E0}"/>
              </a:ext>
            </a:extLst>
          </p:cNvPr>
          <p:cNvSpPr txBox="1"/>
          <p:nvPr/>
        </p:nvSpPr>
        <p:spPr>
          <a:xfrm>
            <a:off x="7754301" y="1600693"/>
            <a:ext cx="337569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a:ea typeface="+mn-ea"/>
                <a:cs typeface="+mn-cs"/>
              </a:rPr>
              <a:t>Productivity add-ons</a:t>
            </a:r>
          </a:p>
        </p:txBody>
      </p:sp>
      <p:sp>
        <p:nvSpPr>
          <p:cNvPr id="7" name="Rectangle 6">
            <a:extLst>
              <a:ext uri="{FF2B5EF4-FFF2-40B4-BE49-F238E27FC236}">
                <a16:creationId xmlns:a16="http://schemas.microsoft.com/office/drawing/2014/main" id="{9903A348-9025-B640-F9D6-145098534D7D}"/>
              </a:ext>
            </a:extLst>
          </p:cNvPr>
          <p:cNvSpPr/>
          <p:nvPr/>
        </p:nvSpPr>
        <p:spPr>
          <a:xfrm>
            <a:off x="7796496" y="3291968"/>
            <a:ext cx="1363751" cy="4924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Clipchamp </a:t>
            </a:r>
            <a:b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b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Premium</a:t>
            </a:r>
          </a:p>
        </p:txBody>
      </p:sp>
      <p:sp>
        <p:nvSpPr>
          <p:cNvPr id="13" name="Rectangle 12">
            <a:extLst>
              <a:ext uri="{FF2B5EF4-FFF2-40B4-BE49-F238E27FC236}">
                <a16:creationId xmlns:a16="http://schemas.microsoft.com/office/drawing/2014/main" id="{84BD4C97-C7A2-DFBA-B646-D570C78E3A9F}"/>
              </a:ext>
            </a:extLst>
          </p:cNvPr>
          <p:cNvSpPr/>
          <p:nvPr/>
        </p:nvSpPr>
        <p:spPr>
          <a:xfrm>
            <a:off x="7391933" y="4120204"/>
            <a:ext cx="2172876" cy="984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Video editing app with advanced features incl. brand kit, advanced 4K/60 fps output, generative AI</a:t>
            </a:r>
          </a:p>
        </p:txBody>
      </p:sp>
      <p:sp>
        <p:nvSpPr>
          <p:cNvPr id="17" name="Rectangle 16">
            <a:extLst>
              <a:ext uri="{FF2B5EF4-FFF2-40B4-BE49-F238E27FC236}">
                <a16:creationId xmlns:a16="http://schemas.microsoft.com/office/drawing/2014/main" id="{75304E63-A34D-E1E6-B0C6-6A827C59277B}"/>
              </a:ext>
            </a:extLst>
          </p:cNvPr>
          <p:cNvSpPr/>
          <p:nvPr/>
        </p:nvSpPr>
        <p:spPr>
          <a:xfrm>
            <a:off x="7418613" y="5873980"/>
            <a:ext cx="2233818"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Intro. price: $5/user/month</a:t>
            </a:r>
          </a:p>
        </p:txBody>
      </p:sp>
      <p:pic>
        <p:nvPicPr>
          <p:cNvPr id="12" name="Graphic 11">
            <a:extLst>
              <a:ext uri="{FF2B5EF4-FFF2-40B4-BE49-F238E27FC236}">
                <a16:creationId xmlns:a16="http://schemas.microsoft.com/office/drawing/2014/main" id="{C30E6B4C-8A11-80A5-A282-8986242AD9D0}"/>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5636" t="22101" r="22101" b="22101"/>
          <a:stretch/>
        </p:blipFill>
        <p:spPr>
          <a:xfrm>
            <a:off x="10399418" y="2305295"/>
            <a:ext cx="548187" cy="585263"/>
          </a:xfrm>
          <a:prstGeom prst="rect">
            <a:avLst/>
          </a:prstGeom>
        </p:spPr>
      </p:pic>
      <p:sp>
        <p:nvSpPr>
          <p:cNvPr id="8" name="Rectangle 7">
            <a:extLst>
              <a:ext uri="{FF2B5EF4-FFF2-40B4-BE49-F238E27FC236}">
                <a16:creationId xmlns:a16="http://schemas.microsoft.com/office/drawing/2014/main" id="{C574A3C7-17F6-E49D-647D-ED109E4F909B}"/>
              </a:ext>
            </a:extLst>
          </p:cNvPr>
          <p:cNvSpPr/>
          <p:nvPr/>
        </p:nvSpPr>
        <p:spPr>
          <a:xfrm>
            <a:off x="9940527" y="3291968"/>
            <a:ext cx="1465969" cy="4924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Teams Phone </a:t>
            </a:r>
            <a:b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br>
            <a:r>
              <a:rPr kumimoji="0" lang="en-US" sz="1600" b="1"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Standard</a:t>
            </a:r>
          </a:p>
        </p:txBody>
      </p:sp>
      <p:sp>
        <p:nvSpPr>
          <p:cNvPr id="14" name="Rectangle 13">
            <a:extLst>
              <a:ext uri="{FF2B5EF4-FFF2-40B4-BE49-F238E27FC236}">
                <a16:creationId xmlns:a16="http://schemas.microsoft.com/office/drawing/2014/main" id="{17929C79-0E10-77F3-8D0B-8B2FF710D70B}"/>
              </a:ext>
            </a:extLst>
          </p:cNvPr>
          <p:cNvSpPr/>
          <p:nvPr/>
        </p:nvSpPr>
        <p:spPr>
          <a:xfrm>
            <a:off x="9940527" y="4120204"/>
            <a:ext cx="1465969" cy="984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Cloud-based telephony using VOIP or PSTN</a:t>
            </a:r>
          </a:p>
        </p:txBody>
      </p:sp>
      <p:sp>
        <p:nvSpPr>
          <p:cNvPr id="18" name="Rectangle 17">
            <a:extLst>
              <a:ext uri="{FF2B5EF4-FFF2-40B4-BE49-F238E27FC236}">
                <a16:creationId xmlns:a16="http://schemas.microsoft.com/office/drawing/2014/main" id="{DAF371B1-78EF-AFB4-CA00-8A5715BF43D6}"/>
              </a:ext>
            </a:extLst>
          </p:cNvPr>
          <p:cNvSpPr/>
          <p:nvPr/>
        </p:nvSpPr>
        <p:spPr>
          <a:xfrm>
            <a:off x="10046737" y="5873980"/>
            <a:ext cx="1253549"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$8/user/month</a:t>
            </a:r>
          </a:p>
        </p:txBody>
      </p:sp>
      <p:pic>
        <p:nvPicPr>
          <p:cNvPr id="3" name="Graphic 2">
            <a:extLst>
              <a:ext uri="{FF2B5EF4-FFF2-40B4-BE49-F238E27FC236}">
                <a16:creationId xmlns:a16="http://schemas.microsoft.com/office/drawing/2014/main" id="{C4614C8F-B9B0-5F7C-CD3F-213718EAAE7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90482" y="2310264"/>
            <a:ext cx="575324" cy="575324"/>
          </a:xfrm>
          <a:prstGeom prst="rect">
            <a:avLst/>
          </a:prstGeom>
        </p:spPr>
      </p:pic>
      <p:pic>
        <p:nvPicPr>
          <p:cNvPr id="19" name="Graphic 18">
            <a:extLst>
              <a:ext uri="{FF2B5EF4-FFF2-40B4-BE49-F238E27FC236}">
                <a16:creationId xmlns:a16="http://schemas.microsoft.com/office/drawing/2014/main" id="{D4EB67C8-08F6-06C0-E650-2CA13684D603}"/>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83871" y="2310264"/>
            <a:ext cx="575324" cy="575324"/>
          </a:xfrm>
          <a:prstGeom prst="rect">
            <a:avLst/>
          </a:prstGeom>
        </p:spPr>
      </p:pic>
      <p:pic>
        <p:nvPicPr>
          <p:cNvPr id="20" name="Graphic 19">
            <a:extLst>
              <a:ext uri="{FF2B5EF4-FFF2-40B4-BE49-F238E27FC236}">
                <a16:creationId xmlns:a16="http://schemas.microsoft.com/office/drawing/2014/main" id="{C08E42C4-A66F-8215-0CD6-7564C3FB397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37458" y="2310264"/>
            <a:ext cx="575324" cy="575324"/>
          </a:xfrm>
          <a:prstGeom prst="rect">
            <a:avLst/>
          </a:prstGeom>
        </p:spPr>
      </p:pic>
    </p:spTree>
    <p:extLst>
      <p:ext uri="{BB962C8B-B14F-4D97-AF65-F5344CB8AC3E}">
        <p14:creationId xmlns:p14="http://schemas.microsoft.com/office/powerpoint/2010/main" val="223240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42" presetClass="path" presetSubtype="0" decel="100000" fill="hold" grpId="1" nodeType="withEffect">
                                  <p:stCondLst>
                                    <p:cond delay="0"/>
                                  </p:stCondLst>
                                  <p:childTnLst>
                                    <p:animMotion origin="layout" path="M 1.45833E-6 -3.7037E-6 L 1.45833E-6 0.04352 " pathEditMode="relative" rAng="0" ptsTypes="AA">
                                      <p:cBhvr>
                                        <p:cTn id="9" dur="600" spd="-100000" fill="hold"/>
                                        <p:tgtEl>
                                          <p:spTgt spid="35"/>
                                        </p:tgtEl>
                                        <p:attrNameLst>
                                          <p:attrName>ppt_x</p:attrName>
                                          <p:attrName>ppt_y</p:attrName>
                                        </p:attrNameLst>
                                      </p:cBhvr>
                                      <p:rCtr x="0" y="2176"/>
                                    </p:animMotion>
                                  </p:childTnLst>
                                </p:cTn>
                              </p:par>
                              <p:par>
                                <p:cTn id="10" presetID="10"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42" presetClass="path" presetSubtype="0" decel="100000" fill="hold" grpId="1" nodeType="withEffect">
                                  <p:stCondLst>
                                    <p:cond delay="0"/>
                                  </p:stCondLst>
                                  <p:childTnLst>
                                    <p:animMotion origin="layout" path="M 1.45833E-6 -7.40741E-7 L 1.45833E-6 -0.0544 " pathEditMode="relative" rAng="0" ptsTypes="AA">
                                      <p:cBhvr>
                                        <p:cTn id="14" dur="600" spd="-100000" fill="hold"/>
                                        <p:tgtEl>
                                          <p:spTgt spid="36"/>
                                        </p:tgtEl>
                                        <p:attrNameLst>
                                          <p:attrName>ppt_x</p:attrName>
                                          <p:attrName>ppt_y</p:attrName>
                                        </p:attrNameLst>
                                      </p:cBhvr>
                                      <p:rCtr x="0" y="-2731"/>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45833E-6 -3.7037E-6 L 1.45833E-6 0.04352 " pathEditMode="relative" rAng="0" ptsTypes="AA">
                                      <p:cBhvr>
                                        <p:cTn id="19" dur="600" spd="-100000" fill="hold"/>
                                        <p:tgtEl>
                                          <p:spTgt spid="15"/>
                                        </p:tgtEl>
                                        <p:attrNameLst>
                                          <p:attrName>ppt_x</p:attrName>
                                          <p:attrName>ppt_y</p:attrName>
                                        </p:attrNameLst>
                                      </p:cBhvr>
                                      <p:rCtr x="0" y="2176"/>
                                    </p:animMotion>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42" presetClass="path" presetSubtype="0" decel="100000" fill="hold" nodeType="withEffect">
                                  <p:stCondLst>
                                    <p:cond delay="0"/>
                                  </p:stCondLst>
                                  <p:childTnLst>
                                    <p:animMotion origin="layout" path="M -2.08333E-7 -3.7037E-6 L -2.08333E-7 0.04352 " pathEditMode="relative" rAng="0" ptsTypes="AA">
                                      <p:cBhvr>
                                        <p:cTn id="24" dur="600" spd="-100000" fill="hold"/>
                                        <p:tgtEl>
                                          <p:spTgt spid="3"/>
                                        </p:tgtEl>
                                        <p:attrNameLst>
                                          <p:attrName>ppt_x</p:attrName>
                                          <p:attrName>ppt_y</p:attrName>
                                        </p:attrNameLst>
                                      </p:cBhvr>
                                      <p:rCtr x="0" y="2176"/>
                                    </p:animMotion>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42" presetClass="path" presetSubtype="0" decel="100000" fill="hold" nodeType="withEffect">
                                  <p:stCondLst>
                                    <p:cond delay="0"/>
                                  </p:stCondLst>
                                  <p:childTnLst>
                                    <p:animMotion origin="layout" path="M -1.875E-6 -3.7037E-6 L -1.875E-6 0.04352 " pathEditMode="relative" rAng="0" ptsTypes="AA">
                                      <p:cBhvr>
                                        <p:cTn id="29" dur="600" spd="-100000" fill="hold"/>
                                        <p:tgtEl>
                                          <p:spTgt spid="19"/>
                                        </p:tgtEl>
                                        <p:attrNameLst>
                                          <p:attrName>ppt_x</p:attrName>
                                          <p:attrName>ppt_y</p:attrName>
                                        </p:attrNameLst>
                                      </p:cBhvr>
                                      <p:rCtr x="0" y="2176"/>
                                    </p:animMotion>
                                  </p:childTnLst>
                                </p:cTn>
                              </p:par>
                              <p:par>
                                <p:cTn id="30" presetID="10"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42" presetClass="path" presetSubtype="0" decel="100000" fill="hold" nodeType="withEffect">
                                  <p:stCondLst>
                                    <p:cond delay="0"/>
                                  </p:stCondLst>
                                  <p:childTnLst>
                                    <p:animMotion origin="layout" path="M -1.25E-6 -3.7037E-6 L -1.25E-6 0.04352 " pathEditMode="relative" rAng="0" ptsTypes="AA">
                                      <p:cBhvr>
                                        <p:cTn id="34" dur="600" spd="-100000" fill="hold"/>
                                        <p:tgtEl>
                                          <p:spTgt spid="20"/>
                                        </p:tgtEl>
                                        <p:attrNameLst>
                                          <p:attrName>ppt_x</p:attrName>
                                          <p:attrName>ppt_y</p:attrName>
                                        </p:attrNameLst>
                                      </p:cBhvr>
                                      <p:rCtr x="0" y="2176"/>
                                    </p:animMotion>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42" presetClass="path" presetSubtype="0" decel="100000" fill="hold" grpId="1" nodeType="withEffect">
                                  <p:stCondLst>
                                    <p:cond delay="0"/>
                                  </p:stCondLst>
                                  <p:childTnLst>
                                    <p:animMotion origin="layout" path="M 1.45833E-6 -3.7037E-6 L 1.45833E-6 0.04352 " pathEditMode="relative" rAng="0" ptsTypes="AA">
                                      <p:cBhvr>
                                        <p:cTn id="39" dur="600" spd="-100000" fill="hold"/>
                                        <p:tgtEl>
                                          <p:spTgt spid="16"/>
                                        </p:tgtEl>
                                        <p:attrNameLst>
                                          <p:attrName>ppt_x</p:attrName>
                                          <p:attrName>ppt_y</p:attrName>
                                        </p:attrNameLst>
                                      </p:cBhvr>
                                      <p:rCtr x="0" y="2176"/>
                                    </p:animMotion>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42" presetClass="path" presetSubtype="0" decel="100000" fill="hold" grpId="1" nodeType="withEffect">
                                  <p:stCondLst>
                                    <p:cond delay="0"/>
                                  </p:stCondLst>
                                  <p:childTnLst>
                                    <p:animMotion origin="layout" path="M 1.45833E-6 -3.7037E-6 L 1.45833E-6 0.04352 " pathEditMode="relative" rAng="0" ptsTypes="AA">
                                      <p:cBhvr>
                                        <p:cTn id="44" dur="600" spd="-100000" fill="hold"/>
                                        <p:tgtEl>
                                          <p:spTgt spid="9"/>
                                        </p:tgtEl>
                                        <p:attrNameLst>
                                          <p:attrName>ppt_x</p:attrName>
                                          <p:attrName>ppt_y</p:attrName>
                                        </p:attrNameLst>
                                      </p:cBhvr>
                                      <p:rCtr x="0" y="2176"/>
                                    </p:animMotion>
                                  </p:childTnLst>
                                </p:cTn>
                              </p:par>
                              <p:par>
                                <p:cTn id="45" presetID="10"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42" presetClass="path" presetSubtype="0" decel="100000" fill="hold" grpId="1" nodeType="withEffect">
                                  <p:stCondLst>
                                    <p:cond delay="0"/>
                                  </p:stCondLst>
                                  <p:childTnLst>
                                    <p:animMotion origin="layout" path="M 1.45833E-6 -3.7037E-6 L 1.45833E-6 0.04352 " pathEditMode="relative" rAng="0" ptsTypes="AA">
                                      <p:cBhvr>
                                        <p:cTn id="49" dur="600" spd="-100000" fill="hold"/>
                                        <p:tgtEl>
                                          <p:spTgt spid="6"/>
                                        </p:tgtEl>
                                        <p:attrNameLst>
                                          <p:attrName>ppt_x</p:attrName>
                                          <p:attrName>ppt_y</p:attrName>
                                        </p:attrNameLst>
                                      </p:cBhvr>
                                      <p:rCtr x="0" y="2176"/>
                                    </p:animMotion>
                                  </p:childTnLst>
                                </p:cTn>
                              </p:par>
                              <p:par>
                                <p:cTn id="50" presetID="10"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par>
                                <p:cTn id="53" presetID="42" presetClass="path" presetSubtype="0" decel="100000" fill="hold" grpId="1" nodeType="withEffect">
                                  <p:stCondLst>
                                    <p:cond delay="0"/>
                                  </p:stCondLst>
                                  <p:childTnLst>
                                    <p:animMotion origin="layout" path="M 1.45833E-6 -3.7037E-6 L 1.45833E-6 0.04352 " pathEditMode="relative" rAng="0" ptsTypes="AA">
                                      <p:cBhvr>
                                        <p:cTn id="54" dur="600" spd="-100000" fill="hold"/>
                                        <p:tgtEl>
                                          <p:spTgt spid="32"/>
                                        </p:tgtEl>
                                        <p:attrNameLst>
                                          <p:attrName>ppt_x</p:attrName>
                                          <p:attrName>ppt_y</p:attrName>
                                        </p:attrNameLst>
                                      </p:cBhvr>
                                      <p:rCtr x="0" y="2176"/>
                                    </p:animMotion>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42" presetClass="path" presetSubtype="0" decel="100000" fill="hold" grpId="1" nodeType="withEffect">
                                  <p:stCondLst>
                                    <p:cond delay="0"/>
                                  </p:stCondLst>
                                  <p:childTnLst>
                                    <p:animMotion origin="layout" path="M 1.45833E-6 -3.7037E-6 L 1.45833E-6 0.04352 " pathEditMode="relative" rAng="0" ptsTypes="AA">
                                      <p:cBhvr>
                                        <p:cTn id="59" dur="600" spd="-100000" fill="hold"/>
                                        <p:tgtEl>
                                          <p:spTgt spid="33"/>
                                        </p:tgtEl>
                                        <p:attrNameLst>
                                          <p:attrName>ppt_x</p:attrName>
                                          <p:attrName>ppt_y</p:attrName>
                                        </p:attrNameLst>
                                      </p:cBhvr>
                                      <p:rCtr x="0" y="2176"/>
                                    </p:animMotion>
                                  </p:childTnLst>
                                </p:cTn>
                              </p:par>
                              <p:par>
                                <p:cTn id="60" presetID="10"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p:tgtEl>
                                          <p:spTgt spid="10"/>
                                        </p:tgtEl>
                                      </p:cBhvr>
                                    </p:animEffect>
                                  </p:childTnLst>
                                </p:cTn>
                              </p:par>
                              <p:par>
                                <p:cTn id="63" presetID="42" presetClass="path" presetSubtype="0" decel="100000" fill="hold" grpId="1" nodeType="withEffect">
                                  <p:stCondLst>
                                    <p:cond delay="0"/>
                                  </p:stCondLst>
                                  <p:childTnLst>
                                    <p:animMotion origin="layout" path="M 1.45833E-6 -3.7037E-6 L 1.45833E-6 0.04352 " pathEditMode="relative" rAng="0" ptsTypes="AA">
                                      <p:cBhvr>
                                        <p:cTn id="64" dur="600" spd="-100000" fill="hold"/>
                                        <p:tgtEl>
                                          <p:spTgt spid="10"/>
                                        </p:tgtEl>
                                        <p:attrNameLst>
                                          <p:attrName>ppt_x</p:attrName>
                                          <p:attrName>ppt_y</p:attrName>
                                        </p:attrNameLst>
                                      </p:cBhvr>
                                      <p:rCtr x="0" y="2176"/>
                                    </p:animMotion>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42" presetClass="path" presetSubtype="0" decel="100000" fill="hold" grpId="1" nodeType="withEffect">
                                  <p:stCondLst>
                                    <p:cond delay="0"/>
                                  </p:stCondLst>
                                  <p:childTnLst>
                                    <p:animMotion origin="layout" path="M 1.45833E-6 -7.40741E-7 L 1.45833E-6 -0.0544 " pathEditMode="relative" rAng="0" ptsTypes="AA">
                                      <p:cBhvr>
                                        <p:cTn id="69" dur="600" spd="-100000" fill="hold"/>
                                        <p:tgtEl>
                                          <p:spTgt spid="31"/>
                                        </p:tgtEl>
                                        <p:attrNameLst>
                                          <p:attrName>ppt_x</p:attrName>
                                          <p:attrName>ppt_y</p:attrName>
                                        </p:attrNameLst>
                                      </p:cBhvr>
                                      <p:rCtr x="0" y="-2731"/>
                                    </p:animMotion>
                                  </p:childTnLst>
                                </p:cTn>
                              </p:par>
                              <p:par>
                                <p:cTn id="70" presetID="10"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42" presetClass="path" presetSubtype="0" decel="100000" fill="hold" grpId="1" nodeType="withEffect">
                                  <p:stCondLst>
                                    <p:cond delay="0"/>
                                  </p:stCondLst>
                                  <p:childTnLst>
                                    <p:animMotion origin="layout" path="M 1.45833E-6 -7.40741E-7 L 1.45833E-6 -0.0544 " pathEditMode="relative" rAng="0" ptsTypes="AA">
                                      <p:cBhvr>
                                        <p:cTn id="74" dur="600" spd="-100000" fill="hold"/>
                                        <p:tgtEl>
                                          <p:spTgt spid="21"/>
                                        </p:tgtEl>
                                        <p:attrNameLst>
                                          <p:attrName>ppt_x</p:attrName>
                                          <p:attrName>ppt_y</p:attrName>
                                        </p:attrNameLst>
                                      </p:cBhvr>
                                      <p:rCtr x="0" y="-2731"/>
                                    </p:animMotion>
                                  </p:childTnLst>
                                </p:cTn>
                              </p:par>
                              <p:par>
                                <p:cTn id="75" presetID="10"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42" presetClass="path" presetSubtype="0" decel="100000" fill="hold" grpId="1" nodeType="withEffect">
                                  <p:stCondLst>
                                    <p:cond delay="0"/>
                                  </p:stCondLst>
                                  <p:childTnLst>
                                    <p:animMotion origin="layout" path="M 1.45833E-6 -7.40741E-7 L 1.45833E-6 -0.0544 " pathEditMode="relative" rAng="0" ptsTypes="AA">
                                      <p:cBhvr>
                                        <p:cTn id="79" dur="600" spd="-100000" fill="hold"/>
                                        <p:tgtEl>
                                          <p:spTgt spid="30"/>
                                        </p:tgtEl>
                                        <p:attrNameLst>
                                          <p:attrName>ppt_x</p:attrName>
                                          <p:attrName>ppt_y</p:attrName>
                                        </p:attrNameLst>
                                      </p:cBhvr>
                                      <p:rCtr x="0" y="-2731"/>
                                    </p:animMotion>
                                  </p:childTnLst>
                                </p:cTn>
                              </p:par>
                              <p:par>
                                <p:cTn id="80" presetID="10"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500"/>
                                        <p:tgtEl>
                                          <p:spTgt spid="39"/>
                                        </p:tgtEl>
                                      </p:cBhvr>
                                    </p:animEffect>
                                  </p:childTnLst>
                                </p:cTn>
                              </p:par>
                              <p:par>
                                <p:cTn id="83" presetID="42" presetClass="path" presetSubtype="0" decel="100000" fill="hold" grpId="1" nodeType="withEffect">
                                  <p:stCondLst>
                                    <p:cond delay="0"/>
                                  </p:stCondLst>
                                  <p:childTnLst>
                                    <p:animMotion origin="layout" path="M 1.45833E-6 -3.7037E-6 L 1.45833E-6 0.04352 " pathEditMode="relative" rAng="0" ptsTypes="AA">
                                      <p:cBhvr>
                                        <p:cTn id="84" dur="600" spd="-100000" fill="hold"/>
                                        <p:tgtEl>
                                          <p:spTgt spid="39"/>
                                        </p:tgtEl>
                                        <p:attrNameLst>
                                          <p:attrName>ppt_x</p:attrName>
                                          <p:attrName>ppt_y</p:attrName>
                                        </p:attrNameLst>
                                      </p:cBhvr>
                                      <p:rCtr x="0" y="2176"/>
                                    </p:animMotion>
                                  </p:childTnLst>
                                </p:cTn>
                              </p:par>
                              <p:par>
                                <p:cTn id="85" presetID="10"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500"/>
                                        <p:tgtEl>
                                          <p:spTgt spid="11"/>
                                        </p:tgtEl>
                                      </p:cBhvr>
                                    </p:animEffect>
                                  </p:childTnLst>
                                </p:cTn>
                              </p:par>
                              <p:par>
                                <p:cTn id="88" presetID="42" presetClass="path" presetSubtype="0" decel="100000" fill="hold" grpId="1" nodeType="withEffect">
                                  <p:stCondLst>
                                    <p:cond delay="0"/>
                                  </p:stCondLst>
                                  <p:childTnLst>
                                    <p:animMotion origin="layout" path="M 1.45833E-6 -3.7037E-6 L 1.45833E-6 0.04352 " pathEditMode="relative" rAng="0" ptsTypes="AA">
                                      <p:cBhvr>
                                        <p:cTn id="89" dur="600" spd="-100000" fill="hold"/>
                                        <p:tgtEl>
                                          <p:spTgt spid="11"/>
                                        </p:tgtEl>
                                        <p:attrNameLst>
                                          <p:attrName>ppt_x</p:attrName>
                                          <p:attrName>ppt_y</p:attrName>
                                        </p:attrNameLst>
                                      </p:cBhvr>
                                      <p:rCtr x="0" y="2176"/>
                                    </p:animMotion>
                                  </p:childTnLst>
                                </p:cTn>
                              </p:par>
                              <p:par>
                                <p:cTn id="90" presetID="10" presetClass="entr" presetSubtype="0" fill="hold" nodeType="with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childTnLst>
                                </p:cTn>
                              </p:par>
                              <p:par>
                                <p:cTn id="93" presetID="42" presetClass="path" presetSubtype="0" decel="100000" fill="hold" nodeType="withEffect">
                                  <p:stCondLst>
                                    <p:cond delay="0"/>
                                  </p:stCondLst>
                                  <p:childTnLst>
                                    <p:animMotion origin="layout" path="M -2.5E-6 -3.7037E-6 L -2.5E-6 0.04352 " pathEditMode="relative" rAng="0" ptsTypes="AA">
                                      <p:cBhvr>
                                        <p:cTn id="94" dur="600" spd="-100000" fill="hold"/>
                                        <p:tgtEl>
                                          <p:spTgt spid="24"/>
                                        </p:tgtEl>
                                        <p:attrNameLst>
                                          <p:attrName>ppt_x</p:attrName>
                                          <p:attrName>ppt_y</p:attrName>
                                        </p:attrNameLst>
                                      </p:cBhvr>
                                      <p:rCtr x="0" y="2176"/>
                                    </p:animMotion>
                                  </p:childTnLst>
                                </p:cTn>
                              </p:par>
                              <p:par>
                                <p:cTn id="95" presetID="10" presetClass="entr" presetSubtype="0" fill="hold" nodeType="withEffect">
                                  <p:stCondLst>
                                    <p:cond delay="0"/>
                                  </p:stCondLst>
                                  <p:childTnLst>
                                    <p:set>
                                      <p:cBhvr>
                                        <p:cTn id="96" dur="1" fill="hold">
                                          <p:stCondLst>
                                            <p:cond delay="0"/>
                                          </p:stCondLst>
                                        </p:cTn>
                                        <p:tgtEl>
                                          <p:spTgt spid="12"/>
                                        </p:tgtEl>
                                        <p:attrNameLst>
                                          <p:attrName>style.visibility</p:attrName>
                                        </p:attrNameLst>
                                      </p:cBhvr>
                                      <p:to>
                                        <p:strVal val="visible"/>
                                      </p:to>
                                    </p:set>
                                    <p:animEffect transition="in" filter="fade">
                                      <p:cBhvr>
                                        <p:cTn id="97" dur="500"/>
                                        <p:tgtEl>
                                          <p:spTgt spid="12"/>
                                        </p:tgtEl>
                                      </p:cBhvr>
                                    </p:animEffect>
                                  </p:childTnLst>
                                </p:cTn>
                              </p:par>
                              <p:par>
                                <p:cTn id="98" presetID="42" presetClass="path" presetSubtype="0" decel="100000" fill="hold" nodeType="withEffect">
                                  <p:stCondLst>
                                    <p:cond delay="0"/>
                                  </p:stCondLst>
                                  <p:childTnLst>
                                    <p:animMotion origin="layout" path="M 1.45833E-6 -3.7037E-6 L 1.45833E-6 0.04352 " pathEditMode="relative" rAng="0" ptsTypes="AA">
                                      <p:cBhvr>
                                        <p:cTn id="99" dur="600" spd="-100000" fill="hold"/>
                                        <p:tgtEl>
                                          <p:spTgt spid="12"/>
                                        </p:tgtEl>
                                        <p:attrNameLst>
                                          <p:attrName>ppt_x</p:attrName>
                                          <p:attrName>ppt_y</p:attrName>
                                        </p:attrNameLst>
                                      </p:cBhvr>
                                      <p:rCtr x="0" y="2176"/>
                                    </p:animMotion>
                                  </p:childTnLst>
                                </p:cTn>
                              </p:par>
                              <p:par>
                                <p:cTn id="100" presetID="10" presetClass="entr" presetSubtype="0" fill="hold" grpId="0" nodeType="withEffect">
                                  <p:stCondLst>
                                    <p:cond delay="0"/>
                                  </p:stCondLst>
                                  <p:childTnLst>
                                    <p:set>
                                      <p:cBhvr>
                                        <p:cTn id="101" dur="1" fill="hold">
                                          <p:stCondLst>
                                            <p:cond delay="0"/>
                                          </p:stCondLst>
                                        </p:cTn>
                                        <p:tgtEl>
                                          <p:spTgt spid="7"/>
                                        </p:tgtEl>
                                        <p:attrNameLst>
                                          <p:attrName>style.visibility</p:attrName>
                                        </p:attrNameLst>
                                      </p:cBhvr>
                                      <p:to>
                                        <p:strVal val="visible"/>
                                      </p:to>
                                    </p:set>
                                    <p:animEffect transition="in" filter="fade">
                                      <p:cBhvr>
                                        <p:cTn id="102" dur="500"/>
                                        <p:tgtEl>
                                          <p:spTgt spid="7"/>
                                        </p:tgtEl>
                                      </p:cBhvr>
                                    </p:animEffect>
                                  </p:childTnLst>
                                </p:cTn>
                              </p:par>
                              <p:par>
                                <p:cTn id="103" presetID="42" presetClass="path" presetSubtype="0" decel="100000" fill="hold" grpId="1" nodeType="withEffect">
                                  <p:stCondLst>
                                    <p:cond delay="0"/>
                                  </p:stCondLst>
                                  <p:childTnLst>
                                    <p:animMotion origin="layout" path="M 1.45833E-6 -3.7037E-6 L 1.45833E-6 0.04352 " pathEditMode="relative" rAng="0" ptsTypes="AA">
                                      <p:cBhvr>
                                        <p:cTn id="104" dur="600" spd="-100000" fill="hold"/>
                                        <p:tgtEl>
                                          <p:spTgt spid="7"/>
                                        </p:tgtEl>
                                        <p:attrNameLst>
                                          <p:attrName>ppt_x</p:attrName>
                                          <p:attrName>ppt_y</p:attrName>
                                        </p:attrNameLst>
                                      </p:cBhvr>
                                      <p:rCtr x="0" y="2176"/>
                                    </p:animMotion>
                                  </p:childTnLst>
                                </p:cTn>
                              </p:par>
                              <p:par>
                                <p:cTn id="105" presetID="10" presetClass="entr" presetSubtype="0" fill="hold" grpId="0" nodeType="withEffect">
                                  <p:stCondLst>
                                    <p:cond delay="0"/>
                                  </p:stCondLst>
                                  <p:childTnLst>
                                    <p:set>
                                      <p:cBhvr>
                                        <p:cTn id="106" dur="1" fill="hold">
                                          <p:stCondLst>
                                            <p:cond delay="0"/>
                                          </p:stCondLst>
                                        </p:cTn>
                                        <p:tgtEl>
                                          <p:spTgt spid="8"/>
                                        </p:tgtEl>
                                        <p:attrNameLst>
                                          <p:attrName>style.visibility</p:attrName>
                                        </p:attrNameLst>
                                      </p:cBhvr>
                                      <p:to>
                                        <p:strVal val="visible"/>
                                      </p:to>
                                    </p:set>
                                    <p:animEffect transition="in" filter="fade">
                                      <p:cBhvr>
                                        <p:cTn id="107" dur="500"/>
                                        <p:tgtEl>
                                          <p:spTgt spid="8"/>
                                        </p:tgtEl>
                                      </p:cBhvr>
                                    </p:animEffect>
                                  </p:childTnLst>
                                </p:cTn>
                              </p:par>
                              <p:par>
                                <p:cTn id="108" presetID="42" presetClass="path" presetSubtype="0" decel="100000" fill="hold" grpId="1" nodeType="withEffect">
                                  <p:stCondLst>
                                    <p:cond delay="0"/>
                                  </p:stCondLst>
                                  <p:childTnLst>
                                    <p:animMotion origin="layout" path="M 1.45833E-6 -3.7037E-6 L 1.45833E-6 0.04352 " pathEditMode="relative" rAng="0" ptsTypes="AA">
                                      <p:cBhvr>
                                        <p:cTn id="109" dur="600" spd="-100000" fill="hold"/>
                                        <p:tgtEl>
                                          <p:spTgt spid="8"/>
                                        </p:tgtEl>
                                        <p:attrNameLst>
                                          <p:attrName>ppt_x</p:attrName>
                                          <p:attrName>ppt_y</p:attrName>
                                        </p:attrNameLst>
                                      </p:cBhvr>
                                      <p:rCtr x="0" y="2176"/>
                                    </p:animMotion>
                                  </p:childTnLst>
                                </p:cTn>
                              </p:par>
                              <p:par>
                                <p:cTn id="110" presetID="10" presetClass="entr" presetSubtype="0" fill="hold" grpId="0" nodeType="withEffect">
                                  <p:stCondLst>
                                    <p:cond delay="0"/>
                                  </p:stCondLst>
                                  <p:childTnLst>
                                    <p:set>
                                      <p:cBhvr>
                                        <p:cTn id="111" dur="1" fill="hold">
                                          <p:stCondLst>
                                            <p:cond delay="0"/>
                                          </p:stCondLst>
                                        </p:cTn>
                                        <p:tgtEl>
                                          <p:spTgt spid="13"/>
                                        </p:tgtEl>
                                        <p:attrNameLst>
                                          <p:attrName>style.visibility</p:attrName>
                                        </p:attrNameLst>
                                      </p:cBhvr>
                                      <p:to>
                                        <p:strVal val="visible"/>
                                      </p:to>
                                    </p:set>
                                    <p:animEffect transition="in" filter="fade">
                                      <p:cBhvr>
                                        <p:cTn id="112" dur="500"/>
                                        <p:tgtEl>
                                          <p:spTgt spid="13"/>
                                        </p:tgtEl>
                                      </p:cBhvr>
                                    </p:animEffect>
                                  </p:childTnLst>
                                </p:cTn>
                              </p:par>
                              <p:par>
                                <p:cTn id="113" presetID="42" presetClass="path" presetSubtype="0" decel="100000" fill="hold" grpId="1" nodeType="withEffect">
                                  <p:stCondLst>
                                    <p:cond delay="0"/>
                                  </p:stCondLst>
                                  <p:childTnLst>
                                    <p:animMotion origin="layout" path="M 1.45833E-6 -3.7037E-6 L 1.45833E-6 0.04352 " pathEditMode="relative" rAng="0" ptsTypes="AA">
                                      <p:cBhvr>
                                        <p:cTn id="114" dur="600" spd="-100000" fill="hold"/>
                                        <p:tgtEl>
                                          <p:spTgt spid="13"/>
                                        </p:tgtEl>
                                        <p:attrNameLst>
                                          <p:attrName>ppt_x</p:attrName>
                                          <p:attrName>ppt_y</p:attrName>
                                        </p:attrNameLst>
                                      </p:cBhvr>
                                      <p:rCtr x="0" y="2176"/>
                                    </p:animMotion>
                                  </p:childTnLst>
                                </p:cTn>
                              </p:par>
                              <p:par>
                                <p:cTn id="115" presetID="10" presetClass="entr" presetSubtype="0" fill="hold" grpId="0" nodeType="withEffect">
                                  <p:stCondLst>
                                    <p:cond delay="0"/>
                                  </p:stCondLst>
                                  <p:childTnLst>
                                    <p:set>
                                      <p:cBhvr>
                                        <p:cTn id="116" dur="1" fill="hold">
                                          <p:stCondLst>
                                            <p:cond delay="0"/>
                                          </p:stCondLst>
                                        </p:cTn>
                                        <p:tgtEl>
                                          <p:spTgt spid="14"/>
                                        </p:tgtEl>
                                        <p:attrNameLst>
                                          <p:attrName>style.visibility</p:attrName>
                                        </p:attrNameLst>
                                      </p:cBhvr>
                                      <p:to>
                                        <p:strVal val="visible"/>
                                      </p:to>
                                    </p:set>
                                    <p:animEffect transition="in" filter="fade">
                                      <p:cBhvr>
                                        <p:cTn id="117" dur="500"/>
                                        <p:tgtEl>
                                          <p:spTgt spid="14"/>
                                        </p:tgtEl>
                                      </p:cBhvr>
                                    </p:animEffect>
                                  </p:childTnLst>
                                </p:cTn>
                              </p:par>
                              <p:par>
                                <p:cTn id="118" presetID="42" presetClass="path" presetSubtype="0" decel="100000" fill="hold" grpId="1" nodeType="withEffect">
                                  <p:stCondLst>
                                    <p:cond delay="0"/>
                                  </p:stCondLst>
                                  <p:childTnLst>
                                    <p:animMotion origin="layout" path="M 1.45833E-6 -3.7037E-6 L 1.45833E-6 0.04352 " pathEditMode="relative" rAng="0" ptsTypes="AA">
                                      <p:cBhvr>
                                        <p:cTn id="119" dur="600" spd="-100000" fill="hold"/>
                                        <p:tgtEl>
                                          <p:spTgt spid="14"/>
                                        </p:tgtEl>
                                        <p:attrNameLst>
                                          <p:attrName>ppt_x</p:attrName>
                                          <p:attrName>ppt_y</p:attrName>
                                        </p:attrNameLst>
                                      </p:cBhvr>
                                      <p:rCtr x="0" y="2176"/>
                                    </p:animMotion>
                                  </p:childTnLst>
                                </p:cTn>
                              </p:par>
                              <p:par>
                                <p:cTn id="120" presetID="10" presetClass="entr" presetSubtype="0" fill="hold" grpId="0" nodeType="withEffect">
                                  <p:stCondLst>
                                    <p:cond delay="0"/>
                                  </p:stCondLst>
                                  <p:childTnLst>
                                    <p:set>
                                      <p:cBhvr>
                                        <p:cTn id="121" dur="1" fill="hold">
                                          <p:stCondLst>
                                            <p:cond delay="0"/>
                                          </p:stCondLst>
                                        </p:cTn>
                                        <p:tgtEl>
                                          <p:spTgt spid="17"/>
                                        </p:tgtEl>
                                        <p:attrNameLst>
                                          <p:attrName>style.visibility</p:attrName>
                                        </p:attrNameLst>
                                      </p:cBhvr>
                                      <p:to>
                                        <p:strVal val="visible"/>
                                      </p:to>
                                    </p:set>
                                    <p:animEffect transition="in" filter="fade">
                                      <p:cBhvr>
                                        <p:cTn id="122" dur="500"/>
                                        <p:tgtEl>
                                          <p:spTgt spid="17"/>
                                        </p:tgtEl>
                                      </p:cBhvr>
                                    </p:animEffect>
                                  </p:childTnLst>
                                </p:cTn>
                              </p:par>
                              <p:par>
                                <p:cTn id="123" presetID="42" presetClass="path" presetSubtype="0" decel="100000" fill="hold" grpId="1" nodeType="withEffect">
                                  <p:stCondLst>
                                    <p:cond delay="0"/>
                                  </p:stCondLst>
                                  <p:childTnLst>
                                    <p:animMotion origin="layout" path="M 1.11022E-16 -2.22222E-6 L 1.11022E-16 -0.0544 " pathEditMode="relative" rAng="0" ptsTypes="AA">
                                      <p:cBhvr>
                                        <p:cTn id="124" dur="600" spd="-100000" fill="hold"/>
                                        <p:tgtEl>
                                          <p:spTgt spid="17"/>
                                        </p:tgtEl>
                                        <p:attrNameLst>
                                          <p:attrName>ppt_x</p:attrName>
                                          <p:attrName>ppt_y</p:attrName>
                                        </p:attrNameLst>
                                      </p:cBhvr>
                                      <p:rCtr x="0" y="-2731"/>
                                    </p:animMotion>
                                  </p:childTnLst>
                                </p:cTn>
                              </p:par>
                              <p:par>
                                <p:cTn id="125" presetID="10" presetClass="entr" presetSubtype="0" fill="hold" grpId="0" nodeType="withEffect">
                                  <p:stCondLst>
                                    <p:cond delay="0"/>
                                  </p:stCondLst>
                                  <p:childTnLst>
                                    <p:set>
                                      <p:cBhvr>
                                        <p:cTn id="126" dur="1" fill="hold">
                                          <p:stCondLst>
                                            <p:cond delay="0"/>
                                          </p:stCondLst>
                                        </p:cTn>
                                        <p:tgtEl>
                                          <p:spTgt spid="18"/>
                                        </p:tgtEl>
                                        <p:attrNameLst>
                                          <p:attrName>style.visibility</p:attrName>
                                        </p:attrNameLst>
                                      </p:cBhvr>
                                      <p:to>
                                        <p:strVal val="visible"/>
                                      </p:to>
                                    </p:set>
                                    <p:animEffect transition="in" filter="fade">
                                      <p:cBhvr>
                                        <p:cTn id="127" dur="500"/>
                                        <p:tgtEl>
                                          <p:spTgt spid="18"/>
                                        </p:tgtEl>
                                      </p:cBhvr>
                                    </p:animEffect>
                                  </p:childTnLst>
                                </p:cTn>
                              </p:par>
                              <p:par>
                                <p:cTn id="128" presetID="42" presetClass="path" presetSubtype="0" decel="100000" fill="hold" grpId="1" nodeType="withEffect">
                                  <p:stCondLst>
                                    <p:cond delay="0"/>
                                  </p:stCondLst>
                                  <p:childTnLst>
                                    <p:animMotion origin="layout" path="M 1.45833E-6 -7.40741E-7 L 1.45833E-6 -0.0544 " pathEditMode="relative" rAng="0" ptsTypes="AA">
                                      <p:cBhvr>
                                        <p:cTn id="129" dur="600" spd="-100000" fill="hold"/>
                                        <p:tgtEl>
                                          <p:spTgt spid="18"/>
                                        </p:tgtEl>
                                        <p:attrNameLst>
                                          <p:attrName>ppt_x</p:attrName>
                                          <p:attrName>ppt_y</p:attrName>
                                        </p:attrNameLst>
                                      </p:cBhvr>
                                      <p:rCtr x="0" y="-2731"/>
                                    </p:animMotion>
                                  </p:childTnLst>
                                </p:cTn>
                              </p:par>
                              <p:par>
                                <p:cTn id="130" presetID="10" presetClass="entr" presetSubtype="0" fill="hold" grpId="0" nodeType="withEffect">
                                  <p:stCondLst>
                                    <p:cond delay="0"/>
                                  </p:stCondLst>
                                  <p:childTnLst>
                                    <p:set>
                                      <p:cBhvr>
                                        <p:cTn id="131" dur="1" fill="hold">
                                          <p:stCondLst>
                                            <p:cond delay="0"/>
                                          </p:stCondLst>
                                        </p:cTn>
                                        <p:tgtEl>
                                          <p:spTgt spid="37"/>
                                        </p:tgtEl>
                                        <p:attrNameLst>
                                          <p:attrName>style.visibility</p:attrName>
                                        </p:attrNameLst>
                                      </p:cBhvr>
                                      <p:to>
                                        <p:strVal val="visible"/>
                                      </p:to>
                                    </p:set>
                                    <p:animEffect transition="in" filter="fade">
                                      <p:cBhvr>
                                        <p:cTn id="132" dur="500"/>
                                        <p:tgtEl>
                                          <p:spTgt spid="37"/>
                                        </p:tgtEl>
                                      </p:cBhvr>
                                    </p:animEffect>
                                  </p:childTnLst>
                                </p:cTn>
                              </p:par>
                              <p:par>
                                <p:cTn id="133" presetID="42" presetClass="path" presetSubtype="0" decel="100000" fill="hold" grpId="1" nodeType="withEffect">
                                  <p:stCondLst>
                                    <p:cond delay="0"/>
                                  </p:stCondLst>
                                  <p:childTnLst>
                                    <p:animMotion origin="layout" path="M 1.45833E-6 -7.40741E-7 L 1.45833E-6 -0.0544 " pathEditMode="relative" rAng="0" ptsTypes="AA">
                                      <p:cBhvr>
                                        <p:cTn id="134" dur="600" spd="-100000" fill="hold"/>
                                        <p:tgtEl>
                                          <p:spTgt spid="37"/>
                                        </p:tgtEl>
                                        <p:attrNameLst>
                                          <p:attrName>ppt_x</p:attrName>
                                          <p:attrName>ppt_y</p:attrName>
                                        </p:attrNameLst>
                                      </p:cBhvr>
                                      <p:rCtr x="0" y="-27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9" grpId="0" animBg="1"/>
      <p:bldP spid="39" grpId="1" animBg="1"/>
      <p:bldP spid="36" grpId="0" animBg="1"/>
      <p:bldP spid="36" grpId="1" animBg="1"/>
      <p:bldP spid="37" grpId="0" animBg="1"/>
      <p:bldP spid="37" grpId="1" animBg="1"/>
      <p:bldP spid="15" grpId="0"/>
      <p:bldP spid="15" grpId="1"/>
      <p:bldP spid="16" grpId="0"/>
      <p:bldP spid="16" grpId="1"/>
      <p:bldP spid="32" grpId="0"/>
      <p:bldP spid="32" grpId="1"/>
      <p:bldP spid="31" grpId="0"/>
      <p:bldP spid="31" grpId="1"/>
      <p:bldP spid="9" grpId="0"/>
      <p:bldP spid="9" grpId="1"/>
      <p:bldP spid="33" grpId="0"/>
      <p:bldP spid="33" grpId="1"/>
      <p:bldP spid="21" grpId="0"/>
      <p:bldP spid="21" grpId="1"/>
      <p:bldP spid="6" grpId="0"/>
      <p:bldP spid="6" grpId="1"/>
      <p:bldP spid="10" grpId="0"/>
      <p:bldP spid="10" grpId="1"/>
      <p:bldP spid="30" grpId="0"/>
      <p:bldP spid="30" grpId="1"/>
      <p:bldP spid="11" grpId="0"/>
      <p:bldP spid="11" grpId="1"/>
      <p:bldP spid="7" grpId="0"/>
      <p:bldP spid="7" grpId="1"/>
      <p:bldP spid="13" grpId="0"/>
      <p:bldP spid="13" grpId="1"/>
      <p:bldP spid="17" grpId="0"/>
      <p:bldP spid="17" grpId="1"/>
      <p:bldP spid="8" grpId="0"/>
      <p:bldP spid="8" grpId="1"/>
      <p:bldP spid="14" grpId="0"/>
      <p:bldP spid="14" grpId="1"/>
      <p:bldP spid="18" grpId="0"/>
      <p:bldP spid="18"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B8A6-41BC-CA34-8A50-0FD83B4DA4E9}"/>
              </a:ext>
            </a:extLst>
          </p:cNvPr>
          <p:cNvSpPr>
            <a:spLocks noGrp="1"/>
          </p:cNvSpPr>
          <p:nvPr>
            <p:ph type="title"/>
          </p:nvPr>
        </p:nvSpPr>
        <p:spPr>
          <a:xfrm>
            <a:off x="585216" y="3035808"/>
            <a:ext cx="5038344" cy="498598"/>
          </a:xfrm>
        </p:spPr>
        <p:txBody>
          <a:bodyPr/>
          <a:lstStyle/>
          <a:p>
            <a:r>
              <a:rPr lang="en-US" dirty="0"/>
              <a:t>Resources </a:t>
            </a:r>
          </a:p>
        </p:txBody>
      </p:sp>
    </p:spTree>
    <p:extLst>
      <p:ext uri="{BB962C8B-B14F-4D97-AF65-F5344CB8AC3E}">
        <p14:creationId xmlns:p14="http://schemas.microsoft.com/office/powerpoint/2010/main" val="426026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CEEA3B-96FE-810D-41C3-17018E44D878}"/>
              </a:ext>
            </a:extLst>
          </p:cNvPr>
          <p:cNvSpPr>
            <a:spLocks noGrp="1"/>
          </p:cNvSpPr>
          <p:nvPr>
            <p:ph type="title"/>
          </p:nvPr>
        </p:nvSpPr>
        <p:spPr/>
        <p:txBody>
          <a:bodyPr>
            <a:normAutofit/>
          </a:bodyPr>
          <a:lstStyle/>
          <a:p>
            <a:r>
              <a:rPr lang="en-US"/>
              <a:t>Links to learn more (1 of 2)</a:t>
            </a:r>
          </a:p>
        </p:txBody>
      </p:sp>
      <p:sp>
        <p:nvSpPr>
          <p:cNvPr id="2" name="Rectangle: Rounded Corners 1">
            <a:extLst>
              <a:ext uri="{FF2B5EF4-FFF2-40B4-BE49-F238E27FC236}">
                <a16:creationId xmlns:a16="http://schemas.microsoft.com/office/drawing/2014/main" id="{73A43B8D-7A47-42B8-535E-5D3FAF304137}"/>
              </a:ext>
            </a:extLst>
          </p:cNvPr>
          <p:cNvSpPr>
            <a:spLocks/>
          </p:cNvSpPr>
          <p:nvPr/>
        </p:nvSpPr>
        <p:spPr>
          <a:xfrm>
            <a:off x="576173" y="1348279"/>
            <a:ext cx="3272667" cy="5187602"/>
          </a:xfrm>
          <a:prstGeom prst="roundRect">
            <a:avLst>
              <a:gd name="adj" fmla="val 4691"/>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marL="0" marR="0" lvl="0" indent="0" algn="l" defTabSz="914400" rtl="0" eaLnBrk="1" fontAlgn="base" latinLnBrk="0" hangingPunct="1">
              <a:spcBef>
                <a:spcPts val="600"/>
              </a:spcBef>
              <a:buClrTx/>
              <a:buSzTx/>
              <a:buFontTx/>
              <a:buNone/>
              <a:tabLst/>
              <a:defRPr/>
            </a:pPr>
            <a:r>
              <a:rPr kumimoji="0" lang="en-US" sz="1600" b="0" i="0" u="none" strike="noStrike" kern="1200" cap="none" spc="0" normalizeH="0" baseline="0" noProof="0" dirty="0">
                <a:ln>
                  <a:noFill/>
                </a:ln>
                <a:effectLst/>
                <a:uLnTx/>
                <a:uFillTx/>
                <a:cs typeface="Segoe Sans Display Semibold" pitchFamily="2" charset="0"/>
                <a:hlinkClick r:id="rId3">
                  <a:extLst>
                    <a:ext uri="{A12FA001-AC4F-418D-AE19-62706E023703}">
                      <ahyp:hlinkClr xmlns:ahyp="http://schemas.microsoft.com/office/drawing/2018/hyperlinkcolor" val="tx"/>
                    </a:ext>
                  </a:extLst>
                </a:hlinkClick>
              </a:rPr>
              <a:t>Copilot Readiness Hub</a:t>
            </a:r>
            <a:endParaRPr kumimoji="0" lang="en-US" sz="1600" b="0" i="0" u="none" strike="noStrike" kern="1200" cap="none" spc="0" normalizeH="0" baseline="0" noProof="0" dirty="0">
              <a:ln>
                <a:noFill/>
              </a:ln>
              <a:effectLst/>
              <a:uLnTx/>
              <a:uFillTx/>
              <a:cs typeface="Segoe Sans Display Semibold" pitchFamily="2" charset="0"/>
            </a:endParaRPr>
          </a:p>
          <a:p>
            <a:pPr marL="0" marR="0" lvl="0" indent="0" algn="l" defTabSz="914400" rtl="0" eaLnBrk="1" fontAlgn="base" latinLnBrk="0" hangingPunct="1">
              <a:spcBef>
                <a:spcPts val="600"/>
              </a:spcBef>
              <a:buClrTx/>
              <a:buSzTx/>
              <a:buFontTx/>
              <a:buNone/>
              <a:tabLst/>
              <a:defRPr/>
            </a:pPr>
            <a:endParaRPr kumimoji="0" lang="en-US" sz="1600" b="0" i="0" u="none" strike="noStrike" kern="1200" cap="none" spc="0" normalizeH="0" baseline="0" noProof="0" dirty="0">
              <a:ln>
                <a:noFill/>
              </a:ln>
              <a:effectLst/>
              <a:uLnTx/>
              <a:uFillTx/>
              <a:cs typeface="Segoe Sans Display Semibold" pitchFamily="2" charset="0"/>
            </a:endParaRPr>
          </a:p>
          <a:p>
            <a:pPr marL="0" marR="0" lvl="0" indent="0" algn="l" defTabSz="914400" rtl="0" eaLnBrk="1" fontAlgn="base" latinLnBrk="0" hangingPunct="1">
              <a:spcBef>
                <a:spcPts val="600"/>
              </a:spcBef>
              <a:buClrTx/>
              <a:buSzTx/>
              <a:buFontTx/>
              <a:buNone/>
              <a:tabLst/>
              <a:defRPr/>
            </a:pPr>
            <a:r>
              <a:rPr kumimoji="0" lang="en-US" sz="1600" b="0" i="0" u="none" strike="noStrike" kern="1200" cap="none" spc="0" normalizeH="0" baseline="0" noProof="0" dirty="0">
                <a:ln>
                  <a:noFill/>
                </a:ln>
                <a:solidFill>
                  <a:schemeClr val="accent1">
                    <a:lumMod val="75000"/>
                  </a:schemeClr>
                </a:solidFill>
                <a:effectLst/>
                <a:uLnTx/>
                <a:uFillTx/>
                <a:latin typeface="+mj-lt"/>
                <a:cs typeface="Segoe Sans Display Semibold" pitchFamily="2" charset="0"/>
              </a:rPr>
              <a:t>What is Copilot?</a:t>
            </a:r>
            <a:endParaRPr kumimoji="0" lang="en-US" sz="1600" b="0" i="0" u="none" strike="noStrike" kern="1200" cap="none" spc="0" normalizeH="0" baseline="0" noProof="0" dirty="0">
              <a:ln>
                <a:noFill/>
              </a:ln>
              <a:solidFill>
                <a:schemeClr val="accent1">
                  <a:lumMod val="75000"/>
                </a:schemeClr>
              </a:solidFill>
              <a:effectLst/>
              <a:uLnTx/>
              <a:uFillTx/>
              <a:latin typeface="+mj-lt"/>
            </a:endParaRPr>
          </a:p>
          <a:p>
            <a:pPr marL="176213" marR="0" lvl="0" indent="-176213"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4">
                  <a:extLst>
                    <a:ext uri="{A12FA001-AC4F-418D-AE19-62706E023703}">
                      <ahyp:hlinkClr xmlns:ahyp="http://schemas.microsoft.com/office/drawing/2018/hyperlinkcolor" val="tx"/>
                    </a:ext>
                  </a:extLst>
                </a:hlinkClick>
              </a:rPr>
              <a:t>Introducing Copilot for Microsoft 365</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176213" marR="0" lvl="0" indent="-176213"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5">
                  <a:extLst>
                    <a:ext uri="{A12FA001-AC4F-418D-AE19-62706E023703}">
                      <ahyp:hlinkClr xmlns:ahyp="http://schemas.microsoft.com/office/drawing/2018/hyperlinkcolor" val="tx"/>
                    </a:ext>
                  </a:extLst>
                </a:hlinkClick>
              </a:rPr>
              <a:t>The Copilot System</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176213" marR="0" lvl="0" indent="-176213"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6">
                  <a:extLst>
                    <a:ext uri="{A12FA001-AC4F-418D-AE19-62706E023703}">
                      <ahyp:hlinkClr xmlns:ahyp="http://schemas.microsoft.com/office/drawing/2018/hyperlinkcolor" val="tx"/>
                    </a:ext>
                  </a:extLst>
                </a:hlinkClick>
              </a:rPr>
              <a:t>ChatGPT vs. Copilot for Microsoft 365: What's the difference?</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9" name="Rectangle: Rounded Corners 8">
            <a:extLst>
              <a:ext uri="{FF2B5EF4-FFF2-40B4-BE49-F238E27FC236}">
                <a16:creationId xmlns:a16="http://schemas.microsoft.com/office/drawing/2014/main" id="{B9B8271B-6706-94AA-124F-F176FC2699F1}"/>
              </a:ext>
            </a:extLst>
          </p:cNvPr>
          <p:cNvSpPr>
            <a:spLocks/>
          </p:cNvSpPr>
          <p:nvPr/>
        </p:nvSpPr>
        <p:spPr>
          <a:xfrm>
            <a:off x="4425469" y="1348279"/>
            <a:ext cx="3272667" cy="5187602"/>
          </a:xfrm>
          <a:prstGeom prst="roundRect">
            <a:avLst>
              <a:gd name="adj" fmla="val 4119"/>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How Copilot works</a:t>
            </a:r>
          </a:p>
          <a:p>
            <a:pPr marL="182880" marR="0" lvl="0" indent="-182880" algn="l" defTabSz="914367" rtl="0" eaLnBrk="1" fontAlgn="base"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7">
                  <a:extLst>
                    <a:ext uri="{A12FA001-AC4F-418D-AE19-62706E023703}">
                      <ahyp:hlinkClr xmlns:ahyp="http://schemas.microsoft.com/office/drawing/2018/hyperlinkcolor" val="tx"/>
                    </a:ext>
                  </a:extLst>
                </a:hlinkClick>
              </a:rPr>
              <a:t>How Copilot for Microsoft 365 works</a:t>
            </a: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rPr>
              <a:t>: Microsoft Mechanics video</a:t>
            </a:r>
          </a:p>
          <a:p>
            <a:pPr marL="182880" marR="0" lvl="0" indent="-182880" algn="l" defTabSz="914367" rtl="0" eaLnBrk="1" fontAlgn="base"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8">
                  <a:extLst>
                    <a:ext uri="{A12FA001-AC4F-418D-AE19-62706E023703}">
                      <ahyp:hlinkClr xmlns:ahyp="http://schemas.microsoft.com/office/drawing/2018/hyperlinkcolor" val="tx"/>
                    </a:ext>
                  </a:extLst>
                </a:hlinkClick>
              </a:rPr>
              <a:t>Semantic Index for Copilot</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182880" marR="0" lvl="0" indent="-18288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9">
                  <a:extLst>
                    <a:ext uri="{A12FA001-AC4F-418D-AE19-62706E023703}">
                      <ahyp:hlinkClr xmlns:ahyp="http://schemas.microsoft.com/office/drawing/2018/hyperlinkcolor" val="tx"/>
                    </a:ext>
                  </a:extLst>
                </a:hlinkClick>
              </a:rPr>
              <a:t>Microsoft Graph</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182880" marR="0" lvl="0" indent="-18288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0">
                  <a:extLst>
                    <a:ext uri="{A12FA001-AC4F-418D-AE19-62706E023703}">
                      <ahyp:hlinkClr xmlns:ahyp="http://schemas.microsoft.com/office/drawing/2018/hyperlinkcolor" val="tx"/>
                    </a:ext>
                  </a:extLst>
                </a:hlinkClick>
              </a:rPr>
              <a:t>Microsoft Graph connectors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182880" marR="0" lvl="0" indent="-18288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rPr>
              <a:t>Additional copilot experiences across the Microsoft Cloud</a:t>
            </a:r>
          </a:p>
          <a:p>
            <a:pPr marL="404813"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1">
                  <a:extLst>
                    <a:ext uri="{A12FA001-AC4F-418D-AE19-62706E023703}">
                      <ahyp:hlinkClr xmlns:ahyp="http://schemas.microsoft.com/office/drawing/2018/hyperlinkcolor" val="tx"/>
                    </a:ext>
                  </a:extLst>
                </a:hlinkClick>
              </a:rPr>
              <a:t>Microsoft Dynamics 365 Copilot</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04813"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2">
                  <a:extLst>
                    <a:ext uri="{A12FA001-AC4F-418D-AE19-62706E023703}">
                      <ahyp:hlinkClr xmlns:ahyp="http://schemas.microsoft.com/office/drawing/2018/hyperlinkcolor" val="tx"/>
                    </a:ext>
                  </a:extLst>
                </a:hlinkClick>
              </a:rPr>
              <a:t>Copilot in Power Platform</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04813"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3">
                  <a:extLst>
                    <a:ext uri="{A12FA001-AC4F-418D-AE19-62706E023703}">
                      <ahyp:hlinkClr xmlns:ahyp="http://schemas.microsoft.com/office/drawing/2018/hyperlinkcolor" val="tx"/>
                    </a:ext>
                  </a:extLst>
                </a:hlinkClick>
              </a:rPr>
              <a:t>Microsoft Security Copilot</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04813"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4">
                  <a:extLst>
                    <a:ext uri="{A12FA001-AC4F-418D-AE19-62706E023703}">
                      <ahyp:hlinkClr xmlns:ahyp="http://schemas.microsoft.com/office/drawing/2018/hyperlinkcolor" val="tx"/>
                    </a:ext>
                  </a:extLst>
                </a:hlinkClick>
              </a:rPr>
              <a:t>GitHub Copilot</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04813"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5">
                  <a:extLst>
                    <a:ext uri="{A12FA001-AC4F-418D-AE19-62706E023703}">
                      <ahyp:hlinkClr xmlns:ahyp="http://schemas.microsoft.com/office/drawing/2018/hyperlinkcolor" val="tx"/>
                    </a:ext>
                  </a:extLst>
                </a:hlinkClick>
              </a:rPr>
              <a:t>Copilot in Microsoft Stream</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3" name="Rectangle: Rounded Corners 2">
            <a:extLst>
              <a:ext uri="{FF2B5EF4-FFF2-40B4-BE49-F238E27FC236}">
                <a16:creationId xmlns:a16="http://schemas.microsoft.com/office/drawing/2014/main" id="{85EAC5E0-DCE5-9BB5-E2B5-8E83F9562ADA}"/>
              </a:ext>
            </a:extLst>
          </p:cNvPr>
          <p:cNvSpPr>
            <a:spLocks/>
          </p:cNvSpPr>
          <p:nvPr/>
        </p:nvSpPr>
        <p:spPr>
          <a:xfrm>
            <a:off x="8274765" y="1348279"/>
            <a:ext cx="3272667" cy="5187602"/>
          </a:xfrm>
          <a:prstGeom prst="roundRect">
            <a:avLst>
              <a:gd name="adj" fmla="val 3881"/>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marL="0" marR="0" lvl="0" indent="0" algn="l" defTabSz="914400" rtl="0" eaLnBrk="1" fontAlgn="base" latinLnBrk="0" hangingPunct="1">
              <a:spcBef>
                <a:spcPts val="600"/>
              </a:spcBef>
              <a:buClr>
                <a:prstClr val="black"/>
              </a:buClr>
              <a:buSzTx/>
              <a:buFontTx/>
              <a:buNone/>
              <a:tabLst/>
              <a:defRPr/>
            </a:pPr>
            <a:r>
              <a:rPr lang="en-US" sz="1600" dirty="0">
                <a:solidFill>
                  <a:schemeClr val="accent1">
                    <a:lumMod val="75000"/>
                  </a:schemeClr>
                </a:solidFill>
                <a:latin typeface="+mj-lt"/>
                <a:cs typeface="Segoe Sans Display Semibold" pitchFamily="2" charset="0"/>
              </a:rPr>
              <a:t>Privacy</a:t>
            </a: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6">
                  <a:extLst>
                    <a:ext uri="{A12FA001-AC4F-418D-AE19-62706E023703}">
                      <ahyp:hlinkClr xmlns:ahyp="http://schemas.microsoft.com/office/drawing/2018/hyperlinkcolor" val="tx"/>
                    </a:ext>
                  </a:extLst>
                </a:hlinkClick>
              </a:rPr>
              <a:t>Microsoft’s privacy policy</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7">
                  <a:extLst>
                    <a:ext uri="{A12FA001-AC4F-418D-AE19-62706E023703}">
                      <ahyp:hlinkClr xmlns:ahyp="http://schemas.microsoft.com/office/drawing/2018/hyperlinkcolor" val="tx"/>
                    </a:ext>
                  </a:extLst>
                </a:hlinkClick>
              </a:rPr>
              <a:t>Microsoft Privacy Statement</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8">
                  <a:extLst>
                    <a:ext uri="{A12FA001-AC4F-418D-AE19-62706E023703}">
                      <ahyp:hlinkClr xmlns:ahyp="http://schemas.microsoft.com/office/drawing/2018/hyperlinkcolor" val="tx"/>
                    </a:ext>
                  </a:extLst>
                </a:hlinkClick>
              </a:rPr>
              <a:t>Trust Center data protection and privacy</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9">
                  <a:extLst>
                    <a:ext uri="{A12FA001-AC4F-418D-AE19-62706E023703}">
                      <ahyp:hlinkClr xmlns:ahyp="http://schemas.microsoft.com/office/drawing/2018/hyperlinkcolor" val="tx"/>
                    </a:ext>
                  </a:extLst>
                </a:hlinkClick>
              </a:rPr>
              <a:t>Data, privacy, and security for Copilot for Microsoft 365</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0">
                  <a:extLst>
                    <a:ext uri="{A12FA001-AC4F-418D-AE19-62706E023703}">
                      <ahyp:hlinkClr xmlns:ahyp="http://schemas.microsoft.com/office/drawing/2018/hyperlinkcolor" val="tx"/>
                    </a:ext>
                  </a:extLst>
                </a:hlinkClick>
              </a:rPr>
              <a:t>Data, privacy, and security for Azure OpenAI Service</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1">
                  <a:extLst>
                    <a:ext uri="{A12FA001-AC4F-418D-AE19-62706E023703}">
                      <ahyp:hlinkClr xmlns:ahyp="http://schemas.microsoft.com/office/drawing/2018/hyperlinkcolor" val="tx"/>
                    </a:ext>
                  </a:extLst>
                </a:hlinkClick>
              </a:rPr>
              <a:t>Role-based access control</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2">
                  <a:extLst>
                    <a:ext uri="{A12FA001-AC4F-418D-AE19-62706E023703}">
                      <ahyp:hlinkClr xmlns:ahyp="http://schemas.microsoft.com/office/drawing/2018/hyperlinkcolor" val="tx"/>
                    </a:ext>
                  </a:extLst>
                </a:hlinkClick>
              </a:rPr>
              <a:t>User permissions and permission levels in SharePoint Server</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3">
                  <a:extLst>
                    <a:ext uri="{A12FA001-AC4F-418D-AE19-62706E023703}">
                      <ahyp:hlinkClr xmlns:ahyp="http://schemas.microsoft.com/office/drawing/2018/hyperlinkcolor" val="tx"/>
                    </a:ext>
                  </a:extLst>
                </a:hlinkClick>
              </a:rPr>
              <a:t>Customer Lockbox requests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4">
                  <a:extLst>
                    <a:ext uri="{A12FA001-AC4F-418D-AE19-62706E023703}">
                      <ahyp:hlinkClr xmlns:ahyp="http://schemas.microsoft.com/office/drawing/2018/hyperlinkcolor" val="tx"/>
                    </a:ext>
                  </a:extLst>
                </a:hlinkClick>
              </a:rPr>
              <a:t>Microsoft 365 isolation controls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5">
                  <a:extLst>
                    <a:ext uri="{A12FA001-AC4F-418D-AE19-62706E023703}">
                      <ahyp:hlinkClr xmlns:ahyp="http://schemas.microsoft.com/office/drawing/2018/hyperlinkcolor" val="tx"/>
                    </a:ext>
                  </a:extLst>
                </a:hlinkClick>
              </a:rPr>
              <a:t>Data Protection Addendum</a:t>
            </a:r>
            <a:endParaRPr kumimoji="0" lang="en-US" sz="1600" b="0" i="0" u="none" strike="noStrike" kern="1200" cap="none" spc="0" normalizeH="0" baseline="0" noProof="0" dirty="0">
              <a:ln>
                <a:noFill/>
              </a:ln>
              <a:effectLst/>
              <a:uLnTx/>
              <a:uFillTx/>
              <a:cs typeface="Segoe Sans Display Semibold" pitchFamily="2" charset="0"/>
            </a:endParaRPr>
          </a:p>
        </p:txBody>
      </p:sp>
    </p:spTree>
    <p:extLst>
      <p:ext uri="{BB962C8B-B14F-4D97-AF65-F5344CB8AC3E}">
        <p14:creationId xmlns:p14="http://schemas.microsoft.com/office/powerpoint/2010/main" val="256807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2.08333E-7 1.48148E-6 L -2.08333E-7 0.03542 " pathEditMode="relative" rAng="0" ptsTypes="AA">
                                      <p:cBhvr>
                                        <p:cTn id="9" dur="700" spd="-100000" fill="hold"/>
                                        <p:tgtEl>
                                          <p:spTgt spid="2"/>
                                        </p:tgtEl>
                                        <p:attrNameLst>
                                          <p:attrName>ppt_x</p:attrName>
                                          <p:attrName>ppt_y</p:attrName>
                                        </p:attrNameLst>
                                      </p:cBhvr>
                                      <p:rCtr x="0" y="1759"/>
                                    </p:animMotion>
                                  </p:childTnLst>
                                </p:cTn>
                              </p:par>
                              <p:par>
                                <p:cTn id="10" presetID="10" presetClass="entr" presetSubtype="0" fill="hold" grpId="0" nodeType="withEffect">
                                  <p:stCondLst>
                                    <p:cond delay="25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250"/>
                                  </p:stCondLst>
                                  <p:childTnLst>
                                    <p:animMotion origin="layout" path="M 4.58333E-6 1.48148E-6 L 4.58333E-6 0.03542 " pathEditMode="relative" rAng="0" ptsTypes="AA">
                                      <p:cBhvr>
                                        <p:cTn id="14" dur="700" spd="-100000" fill="hold"/>
                                        <p:tgtEl>
                                          <p:spTgt spid="9"/>
                                        </p:tgtEl>
                                        <p:attrNameLst>
                                          <p:attrName>ppt_x</p:attrName>
                                          <p:attrName>ppt_y</p:attrName>
                                        </p:attrNameLst>
                                      </p:cBhvr>
                                      <p:rCtr x="0" y="1759"/>
                                    </p:animMotion>
                                  </p:childTnLst>
                                </p:cTn>
                              </p:par>
                              <p:par>
                                <p:cTn id="15" presetID="10" presetClass="entr" presetSubtype="0" fill="hold" grpId="0" nodeType="withEffect">
                                  <p:stCondLst>
                                    <p:cond delay="5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42" presetClass="path" presetSubtype="0" decel="100000" fill="hold" grpId="1" nodeType="withEffect">
                                  <p:stCondLst>
                                    <p:cond delay="500"/>
                                  </p:stCondLst>
                                  <p:childTnLst>
                                    <p:animMotion origin="layout" path="M -6.25E-7 1.48148E-6 L -6.25E-7 0.03542 " pathEditMode="relative" rAng="0" ptsTypes="AA">
                                      <p:cBhvr>
                                        <p:cTn id="19" dur="700" spd="-100000" fill="hold"/>
                                        <p:tgtEl>
                                          <p:spTgt spid="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9" grpId="0" animBg="1"/>
      <p:bldP spid="9" grpId="1" animBg="1"/>
      <p:bldP spid="3" grpId="0" animBg="1"/>
      <p:bldP spid="3"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CEEA3B-96FE-810D-41C3-17018E44D878}"/>
              </a:ext>
            </a:extLst>
          </p:cNvPr>
          <p:cNvSpPr>
            <a:spLocks noGrp="1"/>
          </p:cNvSpPr>
          <p:nvPr>
            <p:ph type="title"/>
          </p:nvPr>
        </p:nvSpPr>
        <p:spPr/>
        <p:txBody>
          <a:bodyPr>
            <a:normAutofit/>
          </a:bodyPr>
          <a:lstStyle/>
          <a:p>
            <a:r>
              <a:rPr lang="en-US"/>
              <a:t>Links to learn more (2 of 2)</a:t>
            </a:r>
          </a:p>
        </p:txBody>
      </p:sp>
      <p:sp>
        <p:nvSpPr>
          <p:cNvPr id="4" name="Rectangle: Rounded Corners 3">
            <a:extLst>
              <a:ext uri="{FF2B5EF4-FFF2-40B4-BE49-F238E27FC236}">
                <a16:creationId xmlns:a16="http://schemas.microsoft.com/office/drawing/2014/main" id="{EEF94700-E6C5-923E-B5F0-6A3C225BD64E}"/>
              </a:ext>
            </a:extLst>
          </p:cNvPr>
          <p:cNvSpPr>
            <a:spLocks/>
          </p:cNvSpPr>
          <p:nvPr/>
        </p:nvSpPr>
        <p:spPr>
          <a:xfrm>
            <a:off x="574675" y="1374451"/>
            <a:ext cx="3407224" cy="2137767"/>
          </a:xfrm>
          <a:prstGeom prst="roundRect">
            <a:avLst>
              <a:gd name="adj" fmla="val 7046"/>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Data residency and storage</a:t>
            </a: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rPr>
              <a:t>EU Data Boundary</a:t>
            </a:r>
          </a:p>
          <a:p>
            <a:pPr marL="463550"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3">
                  <a:extLst>
                    <a:ext uri="{A12FA001-AC4F-418D-AE19-62706E023703}">
                      <ahyp:hlinkClr xmlns:ahyp="http://schemas.microsoft.com/office/drawing/2018/hyperlinkcolor" val="tx"/>
                    </a:ext>
                  </a:extLst>
                </a:hlinkClick>
              </a:rPr>
              <a:t>Website</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63550"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4">
                  <a:extLst>
                    <a:ext uri="{A12FA001-AC4F-418D-AE19-62706E023703}">
                      <ahyp:hlinkClr xmlns:ahyp="http://schemas.microsoft.com/office/drawing/2018/hyperlinkcolor" val="tx"/>
                    </a:ext>
                  </a:extLst>
                </a:hlinkClick>
              </a:rPr>
              <a:t>Blog</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63550"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5">
                  <a:extLst>
                    <a:ext uri="{A12FA001-AC4F-418D-AE19-62706E023703}">
                      <ahyp:hlinkClr xmlns:ahyp="http://schemas.microsoft.com/office/drawing/2018/hyperlinkcolor" val="tx"/>
                    </a:ext>
                  </a:extLst>
                </a:hlinkClick>
              </a:rPr>
              <a:t>Documentation</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11" name="Rectangle: Rounded Corners 10">
            <a:extLst>
              <a:ext uri="{FF2B5EF4-FFF2-40B4-BE49-F238E27FC236}">
                <a16:creationId xmlns:a16="http://schemas.microsoft.com/office/drawing/2014/main" id="{DD45E29E-973A-0D73-35FA-F65343527C12}"/>
              </a:ext>
            </a:extLst>
          </p:cNvPr>
          <p:cNvSpPr>
            <a:spLocks/>
          </p:cNvSpPr>
          <p:nvPr/>
        </p:nvSpPr>
        <p:spPr>
          <a:xfrm>
            <a:off x="574675" y="3808072"/>
            <a:ext cx="3407224" cy="2635329"/>
          </a:xfrm>
          <a:prstGeom prst="roundRect">
            <a:avLst>
              <a:gd name="adj" fmla="val 4491"/>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Compliance</a:t>
            </a: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6">
                  <a:extLst>
                    <a:ext uri="{A12FA001-AC4F-418D-AE19-62706E023703}">
                      <ahyp:hlinkClr xmlns:ahyp="http://schemas.microsoft.com/office/drawing/2018/hyperlinkcolor" val="tx"/>
                    </a:ext>
                  </a:extLst>
                </a:hlinkClick>
              </a:rPr>
              <a:t>Microsoft Compliance</a:t>
            </a: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7">
                  <a:extLst>
                    <a:ext uri="{A12FA001-AC4F-418D-AE19-62706E023703}">
                      <ahyp:hlinkClr xmlns:ahyp="http://schemas.microsoft.com/office/drawing/2018/hyperlinkcolor" val="tx"/>
                    </a:ext>
                  </a:extLst>
                </a:hlinkClick>
              </a:rPr>
              <a:t> </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8">
                  <a:extLst>
                    <a:ext uri="{A12FA001-AC4F-418D-AE19-62706E023703}">
                      <ahyp:hlinkClr xmlns:ahyp="http://schemas.microsoft.com/office/drawing/2018/hyperlinkcolor" val="tx"/>
                    </a:ext>
                  </a:extLst>
                </a:hlinkClick>
              </a:rPr>
              <a:t>Service Trust Portal</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9">
                  <a:extLst>
                    <a:ext uri="{A12FA001-AC4F-418D-AE19-62706E023703}">
                      <ahyp:hlinkClr xmlns:ahyp="http://schemas.microsoft.com/office/drawing/2018/hyperlinkcolor" val="tx"/>
                    </a:ext>
                  </a:extLst>
                </a:hlinkClick>
              </a:rPr>
              <a:t>Compliance offering definitions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rPr>
              <a:t>General Dat Protection Regulation (GDPR)</a:t>
            </a:r>
          </a:p>
          <a:p>
            <a:pPr marL="463550"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0">
                  <a:extLst>
                    <a:ext uri="{A12FA001-AC4F-418D-AE19-62706E023703}">
                      <ahyp:hlinkClr xmlns:ahyp="http://schemas.microsoft.com/office/drawing/2018/hyperlinkcolor" val="tx"/>
                    </a:ext>
                  </a:extLst>
                </a:hlinkClick>
              </a:rPr>
              <a:t>Full summary</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endParaRPr>
          </a:p>
          <a:p>
            <a:pPr marL="463550" marR="0" lvl="1" indent="-231775"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11">
                  <a:extLst>
                    <a:ext uri="{A12FA001-AC4F-418D-AE19-62706E023703}">
                      <ahyp:hlinkClr xmlns:ahyp="http://schemas.microsoft.com/office/drawing/2018/hyperlinkcolor" val="tx"/>
                    </a:ext>
                  </a:extLst>
                </a:hlinkClick>
              </a:rPr>
              <a:t>Short summary</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6" name="Rectangle: Rounded Corners 5">
            <a:extLst>
              <a:ext uri="{FF2B5EF4-FFF2-40B4-BE49-F238E27FC236}">
                <a16:creationId xmlns:a16="http://schemas.microsoft.com/office/drawing/2014/main" id="{A6BFF76E-651C-72F3-0CC6-29F35591D256}"/>
              </a:ext>
            </a:extLst>
          </p:cNvPr>
          <p:cNvSpPr>
            <a:spLocks/>
          </p:cNvSpPr>
          <p:nvPr/>
        </p:nvSpPr>
        <p:spPr>
          <a:xfrm>
            <a:off x="4305972" y="1374451"/>
            <a:ext cx="7287541" cy="2137767"/>
          </a:xfrm>
          <a:prstGeom prst="roundRect">
            <a:avLst>
              <a:gd name="adj" fmla="val 6055"/>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How to prepare for Copilot for Microsoft 365</a:t>
            </a: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2">
                  <a:extLst>
                    <a:ext uri="{A12FA001-AC4F-418D-AE19-62706E023703}">
                      <ahyp:hlinkClr xmlns:ahyp="http://schemas.microsoft.com/office/drawing/2018/hyperlinkcolor" val="tx"/>
                    </a:ext>
                  </a:extLst>
                </a:hlinkClick>
              </a:rPr>
              <a:t>Learn about Microsoft feedback for your organization</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 action="ppaction://noaction">
                <a:extLst>
                  <a:ext uri="{A12FA001-AC4F-418D-AE19-62706E023703}">
                    <ahyp:hlinkClr xmlns:ahyp="http://schemas.microsoft.com/office/drawing/2018/hyperlinkcolor" val="tx"/>
                  </a:ext>
                </a:extLst>
              </a:hlinkClick>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3">
                  <a:extLst>
                    <a:ext uri="{A12FA001-AC4F-418D-AE19-62706E023703}">
                      <ahyp:hlinkClr xmlns:ahyp="http://schemas.microsoft.com/office/drawing/2018/hyperlinkcolor" val="tx"/>
                    </a:ext>
                  </a:extLst>
                </a:hlinkClick>
              </a:rPr>
              <a:t>Manage Microsoft feedback for your organization </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4">
                  <a:extLst>
                    <a:ext uri="{A12FA001-AC4F-418D-AE19-62706E023703}">
                      <ahyp:hlinkClr xmlns:ahyp="http://schemas.microsoft.com/office/drawing/2018/hyperlinkcolor" val="tx"/>
                    </a:ext>
                  </a:extLst>
                </a:hlinkClick>
              </a:rPr>
              <a:t>How to manage Microsoft Search</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5">
                  <a:extLst>
                    <a:ext uri="{A12FA001-AC4F-418D-AE19-62706E023703}">
                      <ahyp:hlinkClr xmlns:ahyp="http://schemas.microsoft.com/office/drawing/2018/hyperlinkcolor" val="tx"/>
                    </a:ext>
                  </a:extLst>
                </a:hlinkClick>
              </a:rPr>
              <a:t>Microsoft 365 Product Terms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6">
                  <a:extLst>
                    <a:ext uri="{A12FA001-AC4F-418D-AE19-62706E023703}">
                      <ahyp:hlinkClr xmlns:ahyp="http://schemas.microsoft.com/office/drawing/2018/hyperlinkcolor" val="tx"/>
                    </a:ext>
                  </a:extLst>
                </a:hlinkClick>
              </a:rPr>
              <a:t>Content management and security in SharePoint, OneDrive, and Teams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10" name="Rectangle: Rounded Corners 9">
            <a:extLst>
              <a:ext uri="{FF2B5EF4-FFF2-40B4-BE49-F238E27FC236}">
                <a16:creationId xmlns:a16="http://schemas.microsoft.com/office/drawing/2014/main" id="{693ED08D-5743-85ED-FDD7-58273489E4B4}"/>
              </a:ext>
            </a:extLst>
          </p:cNvPr>
          <p:cNvSpPr>
            <a:spLocks/>
          </p:cNvSpPr>
          <p:nvPr/>
        </p:nvSpPr>
        <p:spPr>
          <a:xfrm>
            <a:off x="4305971" y="3808072"/>
            <a:ext cx="3407224" cy="2635329"/>
          </a:xfrm>
          <a:prstGeom prst="roundRect">
            <a:avLst>
              <a:gd name="adj" fmla="val 4975"/>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Security</a:t>
            </a: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7">
                  <a:extLst>
                    <a:ext uri="{A12FA001-AC4F-418D-AE19-62706E023703}">
                      <ahyp:hlinkClr xmlns:ahyp="http://schemas.microsoft.com/office/drawing/2018/hyperlinkcolor" val="tx"/>
                    </a:ext>
                  </a:extLst>
                </a:hlinkClick>
              </a:rPr>
              <a:t>Configure usage rights for Azure Information Protection (AIP)</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8">
                  <a:extLst>
                    <a:ext uri="{A12FA001-AC4F-418D-AE19-62706E023703}">
                      <ahyp:hlinkClr xmlns:ahyp="http://schemas.microsoft.com/office/drawing/2018/hyperlinkcolor" val="tx"/>
                    </a:ext>
                  </a:extLst>
                </a:hlinkClick>
              </a:rPr>
              <a:t>Universal Licensing Terms for Online Services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19">
                  <a:extLst>
                    <a:ext uri="{A12FA001-AC4F-418D-AE19-62706E023703}">
                      <ahyp:hlinkClr xmlns:ahyp="http://schemas.microsoft.com/office/drawing/2018/hyperlinkcolor" val="tx"/>
                    </a:ext>
                  </a:extLst>
                </a:hlinkClick>
              </a:rPr>
              <a:t>Data Protection Addendum</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0">
                  <a:extLst>
                    <a:ext uri="{A12FA001-AC4F-418D-AE19-62706E023703}">
                      <ahyp:hlinkClr xmlns:ahyp="http://schemas.microsoft.com/office/drawing/2018/hyperlinkcolor" val="tx"/>
                    </a:ext>
                  </a:extLst>
                </a:hlinkClick>
              </a:rPr>
              <a:t>Isolation and Access Control in Microsoft 365</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
        <p:nvSpPr>
          <p:cNvPr id="12" name="Rectangle: Rounded Corners 11">
            <a:extLst>
              <a:ext uri="{FF2B5EF4-FFF2-40B4-BE49-F238E27FC236}">
                <a16:creationId xmlns:a16="http://schemas.microsoft.com/office/drawing/2014/main" id="{C34BE618-7212-F1E9-197C-94594BD7D69B}"/>
              </a:ext>
            </a:extLst>
          </p:cNvPr>
          <p:cNvSpPr>
            <a:spLocks/>
          </p:cNvSpPr>
          <p:nvPr/>
        </p:nvSpPr>
        <p:spPr>
          <a:xfrm>
            <a:off x="8037267" y="3808072"/>
            <a:ext cx="3556245" cy="2635329"/>
          </a:xfrm>
          <a:prstGeom prst="roundRect">
            <a:avLst>
              <a:gd name="adj" fmla="val 4975"/>
            </a:avLst>
          </a:prstGeom>
          <a:solidFill>
            <a:schemeClr val="bg1">
              <a:lumMod val="95000"/>
            </a:schemeClr>
          </a:solidFill>
          <a:ln w="12700">
            <a:noFill/>
          </a:ln>
          <a:effectLst>
            <a:outerShdw blurRad="139700" algn="ctr" rotWithShape="0">
              <a:prstClr val="black">
                <a:alpha val="40000"/>
              </a:prstClr>
            </a:outerShdw>
          </a:effectLst>
        </p:spPr>
        <p:txBody>
          <a:bodyPr wrap="square" lIns="72009" tIns="72009" rIns="72009" bIns="72009" anchor="t">
            <a:noAutofit/>
          </a:bodyPr>
          <a:lstStyle/>
          <a:p>
            <a:pPr defTabSz="914400" fontAlgn="base">
              <a:spcBef>
                <a:spcPts val="600"/>
              </a:spcBef>
              <a:defRPr/>
            </a:pPr>
            <a:r>
              <a:rPr lang="en-US" sz="1600" dirty="0">
                <a:solidFill>
                  <a:schemeClr val="accent1">
                    <a:lumMod val="75000"/>
                  </a:schemeClr>
                </a:solidFill>
                <a:latin typeface="+mj-lt"/>
                <a:cs typeface="Segoe Sans Display Semibold" pitchFamily="2" charset="0"/>
              </a:rPr>
              <a:t>Responsible AI</a:t>
            </a:r>
          </a:p>
          <a:p>
            <a:pPr marL="228600" marR="0" lvl="0" indent="-228600" algn="l" defTabSz="914367" rtl="0" eaLnBrk="1" fontAlgn="base" latinLnBrk="0" hangingPunct="1">
              <a:spcBef>
                <a:spcPts val="600"/>
              </a:spcBef>
              <a:buClr>
                <a:prstClr val="black"/>
              </a:buClr>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rPr>
              <a:t>Responsible AI core principles</a:t>
            </a:r>
            <a:endParaRPr kumimoji="0" lang="en-US" sz="1600" b="0" i="0" u="none" strike="noStrike" kern="1200" cap="none" spc="0" normalizeH="0" baseline="0" noProof="0" dirty="0">
              <a:ln>
                <a:noFill/>
              </a:ln>
              <a:effectLst/>
              <a:uLnTx/>
              <a:uFillTx/>
              <a:ea typeface="Calibri" panose="020F0502020204030204" pitchFamily="34" charset="0"/>
              <a:cs typeface="Segoe Sans Display Semibold" pitchFamily="2" charset="0"/>
              <a:hlinkClick r:id="rId21">
                <a:extLst>
                  <a:ext uri="{A12FA001-AC4F-418D-AE19-62706E023703}">
                    <ahyp:hlinkClr xmlns:ahyp="http://schemas.microsoft.com/office/drawing/2018/hyperlinkcolor" val="tx"/>
                  </a:ext>
                </a:extLst>
              </a:hlinkClick>
            </a:endParaRPr>
          </a:p>
          <a:p>
            <a:pPr marL="463550" marR="0" lvl="1" indent="-231775" algn="l" defTabSz="914367" rtl="0" eaLnBrk="1" fontAlgn="base"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1">
                  <a:extLst>
                    <a:ext uri="{A12FA001-AC4F-418D-AE19-62706E023703}">
                      <ahyp:hlinkClr xmlns:ahyp="http://schemas.microsoft.com/office/drawing/2018/hyperlinkcolor" val="tx"/>
                    </a:ext>
                  </a:extLst>
                </a:hlinkClick>
              </a:rPr>
              <a:t>Videos</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463550" marR="0" lvl="1" indent="-231775" algn="l" defTabSz="914367" rtl="0" eaLnBrk="1" fontAlgn="base"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2">
                  <a:extLst>
                    <a:ext uri="{A12FA001-AC4F-418D-AE19-62706E023703}">
                      <ahyp:hlinkClr xmlns:ahyp="http://schemas.microsoft.com/office/drawing/2018/hyperlinkcolor" val="tx"/>
                    </a:ext>
                  </a:extLst>
                </a:hlinkClick>
              </a:rPr>
              <a:t>Documentation</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3">
                  <a:extLst>
                    <a:ext uri="{A12FA001-AC4F-418D-AE19-62706E023703}">
                      <ahyp:hlinkClr xmlns:ahyp="http://schemas.microsoft.com/office/drawing/2018/hyperlinkcolor" val="tx"/>
                    </a:ext>
                  </a:extLst>
                </a:hlinkClick>
              </a:rPr>
              <a:t>Microsoft Responsible AI Standard</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a:p>
            <a:pPr marL="228600" marR="0" lvl="0" indent="-228600" algn="l" defTabSz="914367" rtl="0" eaLnBrk="1" fontAlgn="auto" latinLnBrk="0" hangingPunct="1">
              <a:spcBef>
                <a:spcPts val="600"/>
              </a:spcBef>
              <a:buClr>
                <a:prstClr val="black"/>
              </a:buClr>
              <a:buSzTx/>
              <a:buFont typeface="Arial" panose="020B0604020202020204" pitchFamily="34" charset="0"/>
              <a:buChar char="•"/>
              <a:tabLst/>
              <a:defRPr/>
            </a:pPr>
            <a:r>
              <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hlinkClick r:id="rId24">
                  <a:extLst>
                    <a:ext uri="{A12FA001-AC4F-418D-AE19-62706E023703}">
                      <ahyp:hlinkClr xmlns:ahyp="http://schemas.microsoft.com/office/drawing/2018/hyperlinkcolor" val="tx"/>
                    </a:ext>
                  </a:extLst>
                </a:hlinkClick>
              </a:rPr>
              <a:t>Governing AI: A Blueprint for the Future</a:t>
            </a:r>
            <a:endParaRPr kumimoji="0" lang="en-US" sz="1600" b="0" i="0" u="sng" strike="noStrike" kern="1200" cap="none" spc="0" normalizeH="0" baseline="0" noProof="0" dirty="0">
              <a:ln>
                <a:noFill/>
              </a:ln>
              <a:effectLst/>
              <a:uLnTx/>
              <a:uFillTx/>
              <a:ea typeface="Calibri" panose="020F0502020204030204" pitchFamily="34" charset="0"/>
              <a:cs typeface="Segoe Sans Display Semibold" pitchFamily="2" charset="0"/>
            </a:endParaRPr>
          </a:p>
        </p:txBody>
      </p:sp>
    </p:spTree>
    <p:extLst>
      <p:ext uri="{BB962C8B-B14F-4D97-AF65-F5344CB8AC3E}">
        <p14:creationId xmlns:p14="http://schemas.microsoft.com/office/powerpoint/2010/main" val="1706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path" presetSubtype="0" decel="100000" fill="hold" grpId="1" nodeType="withEffect">
                                  <p:stCondLst>
                                    <p:cond delay="0"/>
                                  </p:stCondLst>
                                  <p:childTnLst>
                                    <p:animMotion origin="layout" path="M 1.04167E-6 0 L 1.04167E-6 0.03542 " pathEditMode="relative" rAng="0" ptsTypes="AA">
                                      <p:cBhvr>
                                        <p:cTn id="9" dur="700" spd="-100000" fill="hold"/>
                                        <p:tgtEl>
                                          <p:spTgt spid="4"/>
                                        </p:tgtEl>
                                        <p:attrNameLst>
                                          <p:attrName>ppt_x</p:attrName>
                                          <p:attrName>ppt_y</p:attrName>
                                        </p:attrNameLst>
                                      </p:cBhvr>
                                      <p:rCtr x="0" y="1759"/>
                                    </p:animMotion>
                                  </p:childTnLst>
                                </p:cTn>
                              </p:par>
                              <p:par>
                                <p:cTn id="10" presetID="10" presetClass="entr" presetSubtype="0" fill="hold" grpId="0" nodeType="withEffect">
                                  <p:stCondLst>
                                    <p:cond delay="25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250"/>
                                  </p:stCondLst>
                                  <p:childTnLst>
                                    <p:animMotion origin="layout" path="M 1.04167E-6 -3.7037E-6 L 1.04167E-6 0.03542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path" presetSubtype="0" decel="100000" fill="hold" grpId="1" nodeType="withEffect">
                                  <p:stCondLst>
                                    <p:cond delay="500"/>
                                  </p:stCondLst>
                                  <p:childTnLst>
                                    <p:animMotion origin="layout" path="M -3.125E-6 0 L -3.125E-6 0.03542 " pathEditMode="relative" rAng="0" ptsTypes="AA">
                                      <p:cBhvr>
                                        <p:cTn id="19" dur="700" spd="-100000" fill="hold"/>
                                        <p:tgtEl>
                                          <p:spTgt spid="6"/>
                                        </p:tgtEl>
                                        <p:attrNameLst>
                                          <p:attrName>ppt_x</p:attrName>
                                          <p:attrName>ppt_y</p:attrName>
                                        </p:attrNameLst>
                                      </p:cBhvr>
                                      <p:rCtr x="0" y="1759"/>
                                    </p:animMotion>
                                  </p:childTnLst>
                                </p:cTn>
                              </p:par>
                              <p:par>
                                <p:cTn id="20" presetID="10" presetClass="entr" presetSubtype="0" fill="hold" grpId="0" nodeType="withEffect">
                                  <p:stCondLst>
                                    <p:cond delay="7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42" presetClass="path" presetSubtype="0" decel="100000" fill="hold" grpId="1" nodeType="withEffect">
                                  <p:stCondLst>
                                    <p:cond delay="750"/>
                                  </p:stCondLst>
                                  <p:childTnLst>
                                    <p:animMotion origin="layout" path="M 1.45833E-6 -3.7037E-6 L 1.45833E-6 0.03542 " pathEditMode="relative" rAng="0" ptsTypes="AA">
                                      <p:cBhvr>
                                        <p:cTn id="24" dur="700" spd="-100000" fill="hold"/>
                                        <p:tgtEl>
                                          <p:spTgt spid="10"/>
                                        </p:tgtEl>
                                        <p:attrNameLst>
                                          <p:attrName>ppt_x</p:attrName>
                                          <p:attrName>ppt_y</p:attrName>
                                        </p:attrNameLst>
                                      </p:cBhvr>
                                      <p:rCtr x="0" y="1759"/>
                                    </p:animMotion>
                                  </p:childTnLst>
                                </p:cTn>
                              </p:par>
                              <p:par>
                                <p:cTn id="25" presetID="10" presetClass="entr" presetSubtype="0" fill="hold" grpId="0" nodeType="withEffect">
                                  <p:stCondLst>
                                    <p:cond delay="10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42" presetClass="path" presetSubtype="0" decel="100000" fill="hold" grpId="1" nodeType="withEffect">
                                  <p:stCondLst>
                                    <p:cond delay="1000"/>
                                  </p:stCondLst>
                                  <p:childTnLst>
                                    <p:animMotion origin="layout" path="M 1.875E-6 -3.7037E-6 L 1.875E-6 0.03542 " pathEditMode="relative" rAng="0" ptsTypes="AA">
                                      <p:cBhvr>
                                        <p:cTn id="29" dur="700" spd="-100000" fill="hold"/>
                                        <p:tgtEl>
                                          <p:spTgt spid="1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1" grpId="0" animBg="1"/>
      <p:bldP spid="11" grpId="1" animBg="1"/>
      <p:bldP spid="6" grpId="0" animBg="1"/>
      <p:bldP spid="6" grpId="1" animBg="1"/>
      <p:bldP spid="10" grpId="0" animBg="1"/>
      <p:bldP spid="10" grpId="1" animBg="1"/>
      <p:bldP spid="12" grpId="0" animBg="1"/>
      <p:bldP spid="12"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9E78-643A-8438-135B-D2DAB02BB915}"/>
              </a:ext>
            </a:extLst>
          </p:cNvPr>
          <p:cNvSpPr>
            <a:spLocks noGrp="1"/>
          </p:cNvSpPr>
          <p:nvPr>
            <p:ph type="title"/>
          </p:nvPr>
        </p:nvSpPr>
        <p:spPr/>
        <p:txBody>
          <a:bodyPr/>
          <a:lstStyle/>
          <a:p>
            <a:r>
              <a:rPr lang="en-US"/>
              <a:t>Utilizing the Security Managed Services Partner Kit</a:t>
            </a:r>
          </a:p>
        </p:txBody>
      </p:sp>
      <p:sp>
        <p:nvSpPr>
          <p:cNvPr id="8" name="Text Placeholder 2">
            <a:extLst>
              <a:ext uri="{FF2B5EF4-FFF2-40B4-BE49-F238E27FC236}">
                <a16:creationId xmlns:a16="http://schemas.microsoft.com/office/drawing/2014/main" id="{C8F189D9-E0C8-11C9-7661-0E539AD2C4CC}"/>
              </a:ext>
            </a:extLst>
          </p:cNvPr>
          <p:cNvSpPr txBox="1">
            <a:spLocks/>
          </p:cNvSpPr>
          <p:nvPr/>
        </p:nvSpPr>
        <p:spPr>
          <a:xfrm>
            <a:off x="584200" y="2019300"/>
            <a:ext cx="4948499" cy="2215991"/>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Tx/>
              <a:buBlip>
                <a:blip r:embed="rId3"/>
              </a:buBlip>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chemeClr val="tx1"/>
                </a:solidFill>
                <a:latin typeface="+mn-lt"/>
              </a:rPr>
              <a:t>Provides step-by-step guidance for building and expanding managed services with Business Premium.</a:t>
            </a:r>
          </a:p>
          <a:p>
            <a:endParaRPr lang="en-US">
              <a:solidFill>
                <a:schemeClr val="tx1"/>
              </a:solidFill>
              <a:latin typeface="+mn-lt"/>
            </a:endParaRPr>
          </a:p>
          <a:p>
            <a:r>
              <a:rPr lang="en-US">
                <a:latin typeface="+mn-lt"/>
                <a:hlinkClick r:id="rId4">
                  <a:extLst>
                    <a:ext uri="{A12FA001-AC4F-418D-AE19-62706E023703}">
                      <ahyp:hlinkClr xmlns:ahyp="http://schemas.microsoft.com/office/drawing/2018/hyperlinkcolor" val="tx"/>
                    </a:ext>
                  </a:extLst>
                </a:hlinkClick>
              </a:rPr>
              <a:t>Microsoft 365 SMB Security Managed Services Partner Kit</a:t>
            </a:r>
            <a:endParaRPr lang="en-US">
              <a:latin typeface="+mn-lt"/>
            </a:endParaRPr>
          </a:p>
        </p:txBody>
      </p:sp>
      <p:pic>
        <p:nvPicPr>
          <p:cNvPr id="5" name="Picture 4" descr="The image is the screenshot of Utilizing the security managed services partner kit.">
            <a:extLst>
              <a:ext uri="{FF2B5EF4-FFF2-40B4-BE49-F238E27FC236}">
                <a16:creationId xmlns:a16="http://schemas.microsoft.com/office/drawing/2014/main" id="{B0CA56C8-D64D-E3FE-C65B-D5C6EC8D26B9}"/>
              </a:ext>
            </a:extLst>
          </p:cNvPr>
          <p:cNvPicPr>
            <a:picLocks noChangeAspect="1"/>
          </p:cNvPicPr>
          <p:nvPr/>
        </p:nvPicPr>
        <p:blipFill>
          <a:blip r:embed="rId5"/>
          <a:stretch>
            <a:fillRect/>
          </a:stretch>
        </p:blipFill>
        <p:spPr>
          <a:xfrm>
            <a:off x="6514939" y="1142282"/>
            <a:ext cx="4853651" cy="5096160"/>
          </a:xfrm>
          <a:prstGeom prst="rect">
            <a:avLst/>
          </a:prstGeom>
          <a:effectLst>
            <a:outerShdw blurRad="139700" algn="ctr" rotWithShape="0">
              <a:prstClr val="black">
                <a:alpha val="40000"/>
              </a:prstClr>
            </a:outerShdw>
          </a:effectLst>
        </p:spPr>
      </p:pic>
    </p:spTree>
    <p:extLst>
      <p:ext uri="{BB962C8B-B14F-4D97-AF65-F5344CB8AC3E}">
        <p14:creationId xmlns:p14="http://schemas.microsoft.com/office/powerpoint/2010/main" val="893813408"/>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AC9BB95-B3A7-5073-6208-C920CCE41D55}"/>
              </a:ext>
              <a:ext uri="{C183D7F6-B498-43B3-948B-1728B52AA6E4}">
                <adec:decorative xmlns:adec="http://schemas.microsoft.com/office/drawing/2017/decorative" val="1"/>
              </a:ext>
            </a:extLst>
          </p:cNvPr>
          <p:cNvGrpSpPr/>
          <p:nvPr/>
        </p:nvGrpSpPr>
        <p:grpSpPr>
          <a:xfrm>
            <a:off x="523384" y="1463192"/>
            <a:ext cx="791066" cy="776812"/>
            <a:chOff x="-1566654" y="1749425"/>
            <a:chExt cx="1238510" cy="1216194"/>
          </a:xfrm>
        </p:grpSpPr>
        <p:sp>
          <p:nvSpPr>
            <p:cNvPr id="7" name="Oval 6">
              <a:extLst>
                <a:ext uri="{FF2B5EF4-FFF2-40B4-BE49-F238E27FC236}">
                  <a16:creationId xmlns:a16="http://schemas.microsoft.com/office/drawing/2014/main" id="{C50146EC-62CD-5345-46A8-7A7C13B80637}"/>
                </a:ext>
              </a:extLst>
            </p:cNvPr>
            <p:cNvSpPr/>
            <p:nvPr/>
          </p:nvSpPr>
          <p:spPr bwMode="auto">
            <a:xfrm>
              <a:off x="-1422172" y="1890751"/>
              <a:ext cx="948724" cy="93163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Circle: Hollow 8">
              <a:extLst>
                <a:ext uri="{FF2B5EF4-FFF2-40B4-BE49-F238E27FC236}">
                  <a16:creationId xmlns:a16="http://schemas.microsoft.com/office/drawing/2014/main" id="{825F076F-75C5-4187-AAA9-87D75C8D088B}"/>
                </a:ext>
              </a:extLst>
            </p:cNvPr>
            <p:cNvSpPr/>
            <p:nvPr/>
          </p:nvSpPr>
          <p:spPr bwMode="auto">
            <a:xfrm>
              <a:off x="-1566654" y="1749425"/>
              <a:ext cx="1238510" cy="1216194"/>
            </a:xfrm>
            <a:prstGeom prst="donut">
              <a:avLst>
                <a:gd name="adj" fmla="val 53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grpSp>
      <p:sp>
        <p:nvSpPr>
          <p:cNvPr id="2" name="Title 1">
            <a:extLst>
              <a:ext uri="{FF2B5EF4-FFF2-40B4-BE49-F238E27FC236}">
                <a16:creationId xmlns:a16="http://schemas.microsoft.com/office/drawing/2014/main" id="{425918FF-E89E-49F8-AB23-5AD560ADA853}"/>
              </a:ext>
            </a:extLst>
          </p:cNvPr>
          <p:cNvSpPr>
            <a:spLocks noGrp="1"/>
          </p:cNvSpPr>
          <p:nvPr>
            <p:ph type="title"/>
          </p:nvPr>
        </p:nvSpPr>
        <p:spPr/>
        <p:txBody>
          <a:bodyPr/>
          <a:lstStyle/>
          <a:p>
            <a:r>
              <a:rPr lang="en-US"/>
              <a:t>New security managed services partner kit</a:t>
            </a:r>
          </a:p>
        </p:txBody>
      </p:sp>
      <p:sp>
        <p:nvSpPr>
          <p:cNvPr id="29" name="TextBox 28">
            <a:extLst>
              <a:ext uri="{FF2B5EF4-FFF2-40B4-BE49-F238E27FC236}">
                <a16:creationId xmlns:a16="http://schemas.microsoft.com/office/drawing/2014/main" id="{4F97533C-0EC3-DC99-502B-A59AB56B3580}"/>
              </a:ext>
            </a:extLst>
          </p:cNvPr>
          <p:cNvSpPr txBox="1"/>
          <p:nvPr/>
        </p:nvSpPr>
        <p:spPr>
          <a:xfrm>
            <a:off x="780297" y="1651543"/>
            <a:ext cx="277240" cy="400110"/>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w="3175">
                  <a:noFill/>
                </a:ln>
                <a:solidFill>
                  <a:schemeClr val="bg1"/>
                </a:solidFill>
                <a:effectLst/>
                <a:uLnTx/>
                <a:uFillTx/>
                <a:latin typeface="Segoe Sans Display Semibold" pitchFamily="2" charset="0"/>
                <a:ea typeface="+mn-ea"/>
                <a:cs typeface="+mn-cs"/>
              </a:rPr>
              <a:t>1</a:t>
            </a:r>
            <a:endParaRPr kumimoji="0" lang="en-US" sz="2600" b="0" i="0" u="none" strike="noStrike" kern="1200" cap="none" spc="0" normalizeH="0" baseline="0" noProof="0">
              <a:ln>
                <a:noFill/>
              </a:ln>
              <a:solidFill>
                <a:schemeClr val="bg1"/>
              </a:solidFill>
              <a:effectLst/>
              <a:uLnTx/>
              <a:uFillTx/>
              <a:latin typeface="Segoe Sans Display" pitchFamily="2" charset="0"/>
              <a:ea typeface="+mn-ea"/>
              <a:cs typeface="+mn-cs"/>
            </a:endParaRPr>
          </a:p>
        </p:txBody>
      </p:sp>
      <p:sp>
        <p:nvSpPr>
          <p:cNvPr id="32" name="Rectangle 31">
            <a:extLst>
              <a:ext uri="{FF2B5EF4-FFF2-40B4-BE49-F238E27FC236}">
                <a16:creationId xmlns:a16="http://schemas.microsoft.com/office/drawing/2014/main" id="{DFF00F47-E3BA-5DAE-1FB2-09B4166D9EC3}"/>
              </a:ext>
            </a:extLst>
          </p:cNvPr>
          <p:cNvSpPr/>
          <p:nvPr/>
        </p:nvSpPr>
        <p:spPr bwMode="auto">
          <a:xfrm>
            <a:off x="1601292" y="1713099"/>
            <a:ext cx="7452172" cy="27699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ctr" anchorCtr="0" compatLnSpc="1">
            <a:prstTxWarp prst="textNoShape">
              <a:avLst/>
            </a:prstTxWarp>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Grow recurring revenue and profitability with security managed services</a:t>
            </a:r>
          </a:p>
        </p:txBody>
      </p:sp>
      <p:grpSp>
        <p:nvGrpSpPr>
          <p:cNvPr id="11" name="Group 10">
            <a:extLst>
              <a:ext uri="{FF2B5EF4-FFF2-40B4-BE49-F238E27FC236}">
                <a16:creationId xmlns:a16="http://schemas.microsoft.com/office/drawing/2014/main" id="{343A99DD-2889-0018-63CC-ADFAED648292}"/>
              </a:ext>
              <a:ext uri="{C183D7F6-B498-43B3-948B-1728B52AA6E4}">
                <adec:decorative xmlns:adec="http://schemas.microsoft.com/office/drawing/2017/decorative" val="1"/>
              </a:ext>
            </a:extLst>
          </p:cNvPr>
          <p:cNvGrpSpPr/>
          <p:nvPr/>
        </p:nvGrpSpPr>
        <p:grpSpPr>
          <a:xfrm>
            <a:off x="523384" y="2452160"/>
            <a:ext cx="791066" cy="776812"/>
            <a:chOff x="-1566654" y="1749425"/>
            <a:chExt cx="1238510" cy="1216194"/>
          </a:xfrm>
        </p:grpSpPr>
        <p:sp>
          <p:nvSpPr>
            <p:cNvPr id="12" name="Oval 11">
              <a:extLst>
                <a:ext uri="{FF2B5EF4-FFF2-40B4-BE49-F238E27FC236}">
                  <a16:creationId xmlns:a16="http://schemas.microsoft.com/office/drawing/2014/main" id="{898C1859-8692-A61D-6646-285D755E4162}"/>
                </a:ext>
              </a:extLst>
            </p:cNvPr>
            <p:cNvSpPr/>
            <p:nvPr/>
          </p:nvSpPr>
          <p:spPr bwMode="auto">
            <a:xfrm>
              <a:off x="-1422172" y="1890751"/>
              <a:ext cx="948724" cy="93163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Circle: Hollow 12">
              <a:extLst>
                <a:ext uri="{FF2B5EF4-FFF2-40B4-BE49-F238E27FC236}">
                  <a16:creationId xmlns:a16="http://schemas.microsoft.com/office/drawing/2014/main" id="{07D2BC7F-FCA8-1A8D-8581-C85F1132ACC8}"/>
                </a:ext>
              </a:extLst>
            </p:cNvPr>
            <p:cNvSpPr/>
            <p:nvPr/>
          </p:nvSpPr>
          <p:spPr bwMode="auto">
            <a:xfrm>
              <a:off x="-1566654" y="1749425"/>
              <a:ext cx="1238510" cy="1216194"/>
            </a:xfrm>
            <a:prstGeom prst="donut">
              <a:avLst>
                <a:gd name="adj" fmla="val 53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grpSp>
      <p:sp>
        <p:nvSpPr>
          <p:cNvPr id="30" name="TextBox 29">
            <a:extLst>
              <a:ext uri="{FF2B5EF4-FFF2-40B4-BE49-F238E27FC236}">
                <a16:creationId xmlns:a16="http://schemas.microsoft.com/office/drawing/2014/main" id="{2781594C-B982-1E6D-7FB4-BD7210834C32}"/>
              </a:ext>
            </a:extLst>
          </p:cNvPr>
          <p:cNvSpPr txBox="1"/>
          <p:nvPr/>
        </p:nvSpPr>
        <p:spPr>
          <a:xfrm>
            <a:off x="780297" y="2640511"/>
            <a:ext cx="277240" cy="400110"/>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w="3175">
                  <a:noFill/>
                </a:ln>
                <a:solidFill>
                  <a:srgbClr val="FFFFFF"/>
                </a:solidFill>
                <a:effectLst/>
                <a:uLnTx/>
                <a:uFillTx/>
                <a:latin typeface="Segoe Sans Display Semibold" pitchFamily="2" charset="0"/>
                <a:ea typeface="+mn-ea"/>
                <a:cs typeface="+mn-cs"/>
              </a:rPr>
              <a:t>2</a:t>
            </a:r>
            <a:endParaRPr kumimoji="0" lang="en-US" sz="2600" b="0" i="0" u="none" strike="noStrike" kern="1200" cap="none" spc="0" normalizeH="0" baseline="0" noProof="0">
              <a:ln>
                <a:noFill/>
              </a:ln>
              <a:solidFill>
                <a:srgbClr val="FFFFFF"/>
              </a:solidFill>
              <a:effectLst/>
              <a:uLnTx/>
              <a:uFillTx/>
              <a:latin typeface="Segoe Sans Display" pitchFamily="2" charset="0"/>
              <a:ea typeface="+mn-ea"/>
              <a:cs typeface="+mn-cs"/>
            </a:endParaRPr>
          </a:p>
        </p:txBody>
      </p:sp>
      <p:sp>
        <p:nvSpPr>
          <p:cNvPr id="15" name="Rectangle 14">
            <a:extLst>
              <a:ext uri="{FF2B5EF4-FFF2-40B4-BE49-F238E27FC236}">
                <a16:creationId xmlns:a16="http://schemas.microsoft.com/office/drawing/2014/main" id="{05C51F59-A807-E73C-5306-91276AFD686E}"/>
              </a:ext>
            </a:extLst>
          </p:cNvPr>
          <p:cNvSpPr/>
          <p:nvPr/>
        </p:nvSpPr>
        <p:spPr bwMode="auto">
          <a:xfrm>
            <a:off x="1601292" y="2563567"/>
            <a:ext cx="6999500" cy="55399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ctr" anchorCtr="0" compatLnSpc="1">
            <a:prstTxWarp prst="textNoShape">
              <a:avLst/>
            </a:prstTxWarp>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Use AI driven sales insights and M365 Lighthouse multitenant management to increase success</a:t>
            </a:r>
          </a:p>
        </p:txBody>
      </p:sp>
      <p:grpSp>
        <p:nvGrpSpPr>
          <p:cNvPr id="14" name="Group 13">
            <a:extLst>
              <a:ext uri="{FF2B5EF4-FFF2-40B4-BE49-F238E27FC236}">
                <a16:creationId xmlns:a16="http://schemas.microsoft.com/office/drawing/2014/main" id="{D7B7E83A-F3E4-A064-C946-707AE0B2CE18}"/>
              </a:ext>
              <a:ext uri="{C183D7F6-B498-43B3-948B-1728B52AA6E4}">
                <adec:decorative xmlns:adec="http://schemas.microsoft.com/office/drawing/2017/decorative" val="1"/>
              </a:ext>
            </a:extLst>
          </p:cNvPr>
          <p:cNvGrpSpPr/>
          <p:nvPr/>
        </p:nvGrpSpPr>
        <p:grpSpPr>
          <a:xfrm>
            <a:off x="523384" y="3452703"/>
            <a:ext cx="791066" cy="776812"/>
            <a:chOff x="-1566654" y="1749425"/>
            <a:chExt cx="1238510" cy="1216194"/>
          </a:xfrm>
        </p:grpSpPr>
        <p:sp>
          <p:nvSpPr>
            <p:cNvPr id="16" name="Oval 15">
              <a:extLst>
                <a:ext uri="{FF2B5EF4-FFF2-40B4-BE49-F238E27FC236}">
                  <a16:creationId xmlns:a16="http://schemas.microsoft.com/office/drawing/2014/main" id="{0025FE25-493E-AE5A-8EEB-98010F2352A1}"/>
                </a:ext>
              </a:extLst>
            </p:cNvPr>
            <p:cNvSpPr/>
            <p:nvPr/>
          </p:nvSpPr>
          <p:spPr bwMode="auto">
            <a:xfrm>
              <a:off x="-1422172" y="1890751"/>
              <a:ext cx="948724" cy="931630"/>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Circle: Hollow 16">
              <a:extLst>
                <a:ext uri="{FF2B5EF4-FFF2-40B4-BE49-F238E27FC236}">
                  <a16:creationId xmlns:a16="http://schemas.microsoft.com/office/drawing/2014/main" id="{DD8D8B53-3EE0-6360-9517-FD09DD9844D1}"/>
                </a:ext>
              </a:extLst>
            </p:cNvPr>
            <p:cNvSpPr/>
            <p:nvPr/>
          </p:nvSpPr>
          <p:spPr bwMode="auto">
            <a:xfrm>
              <a:off x="-1566654" y="1749425"/>
              <a:ext cx="1238510" cy="1216194"/>
            </a:xfrm>
            <a:prstGeom prst="donut">
              <a:avLst>
                <a:gd name="adj" fmla="val 5300"/>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grpSp>
      <p:sp>
        <p:nvSpPr>
          <p:cNvPr id="31" name="TextBox 30">
            <a:extLst>
              <a:ext uri="{FF2B5EF4-FFF2-40B4-BE49-F238E27FC236}">
                <a16:creationId xmlns:a16="http://schemas.microsoft.com/office/drawing/2014/main" id="{D1CD4FEC-3883-B536-B835-B77AFA1E2BA1}"/>
              </a:ext>
            </a:extLst>
          </p:cNvPr>
          <p:cNvSpPr txBox="1"/>
          <p:nvPr/>
        </p:nvSpPr>
        <p:spPr>
          <a:xfrm>
            <a:off x="780297" y="3641054"/>
            <a:ext cx="277240" cy="400110"/>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w="3175">
                  <a:noFill/>
                </a:ln>
                <a:solidFill>
                  <a:srgbClr val="FFFFFF"/>
                </a:solidFill>
                <a:effectLst/>
                <a:uLnTx/>
                <a:uFillTx/>
                <a:latin typeface="Segoe Sans Display Semibold" pitchFamily="2" charset="0"/>
                <a:ea typeface="+mn-ea"/>
                <a:cs typeface="+mn-cs"/>
              </a:rPr>
              <a:t>3</a:t>
            </a:r>
            <a:endParaRPr kumimoji="0" lang="en-US" sz="2600" b="0" i="0" u="none" strike="noStrike" kern="1200" cap="none" spc="0" normalizeH="0" baseline="0" noProof="0">
              <a:ln>
                <a:noFill/>
              </a:ln>
              <a:solidFill>
                <a:srgbClr val="FFFFFF"/>
              </a:solidFill>
              <a:effectLst/>
              <a:uLnTx/>
              <a:uFillTx/>
              <a:latin typeface="Segoe Sans Display" pitchFamily="2" charset="0"/>
              <a:ea typeface="+mn-ea"/>
              <a:cs typeface="+mn-cs"/>
            </a:endParaRPr>
          </a:p>
        </p:txBody>
      </p:sp>
      <p:sp>
        <p:nvSpPr>
          <p:cNvPr id="43" name="Rectangle 42">
            <a:extLst>
              <a:ext uri="{FF2B5EF4-FFF2-40B4-BE49-F238E27FC236}">
                <a16:creationId xmlns:a16="http://schemas.microsoft.com/office/drawing/2014/main" id="{0EA1E41A-CD32-4B38-AE3D-213B94FB466E}"/>
              </a:ext>
            </a:extLst>
          </p:cNvPr>
          <p:cNvSpPr/>
          <p:nvPr/>
        </p:nvSpPr>
        <p:spPr bwMode="auto">
          <a:xfrm>
            <a:off x="1601292" y="3702610"/>
            <a:ext cx="7024259" cy="27699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ctr" anchorCtr="0" compatLnSpc="1">
            <a:prstTxWarp prst="textNoShape">
              <a:avLst/>
            </a:prstTxWarp>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Increase customer loyalty and partner share of wallet</a:t>
            </a:r>
          </a:p>
        </p:txBody>
      </p:sp>
      <p:sp>
        <p:nvSpPr>
          <p:cNvPr id="22" name="Rectangle 21">
            <a:extLst>
              <a:ext uri="{FF2B5EF4-FFF2-40B4-BE49-F238E27FC236}">
                <a16:creationId xmlns:a16="http://schemas.microsoft.com/office/drawing/2014/main" id="{DE063A91-7322-8B53-745B-2E5ED6C6A037}"/>
              </a:ext>
            </a:extLst>
          </p:cNvPr>
          <p:cNvSpPr/>
          <p:nvPr/>
        </p:nvSpPr>
        <p:spPr bwMode="auto">
          <a:xfrm>
            <a:off x="829655" y="5438924"/>
            <a:ext cx="2756194" cy="49244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t" anchorCtr="0" compatLnSpc="1">
            <a:prstTxWarp prst="textNoShape">
              <a:avLst/>
            </a:prstTxWarp>
            <a:spAutoFit/>
          </a:body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w="3175">
                  <a:noFill/>
                </a:ln>
                <a:solidFill>
                  <a:schemeClr val="bg1"/>
                </a:solidFill>
                <a:effectLst/>
                <a:uLnTx/>
                <a:uFillTx/>
                <a:latin typeface="Segoe Sans Display Semibold" pitchFamily="2" charset="0"/>
                <a:ea typeface="+mn-ea"/>
                <a:cs typeface="+mn-cs"/>
              </a:rPr>
              <a:t>Step by step guidance on how to begin with services</a:t>
            </a:r>
          </a:p>
        </p:txBody>
      </p:sp>
      <p:sp>
        <p:nvSpPr>
          <p:cNvPr id="23" name="Rectangle 22">
            <a:extLst>
              <a:ext uri="{FF2B5EF4-FFF2-40B4-BE49-F238E27FC236}">
                <a16:creationId xmlns:a16="http://schemas.microsoft.com/office/drawing/2014/main" id="{BC4CF7A0-17B7-CCBD-FC10-E7A993C1054A}"/>
              </a:ext>
            </a:extLst>
          </p:cNvPr>
          <p:cNvSpPr/>
          <p:nvPr/>
        </p:nvSpPr>
        <p:spPr bwMode="auto">
          <a:xfrm>
            <a:off x="4591812" y="5438924"/>
            <a:ext cx="3008376" cy="49244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t" anchorCtr="0" compatLnSpc="1">
            <a:prstTxWarp prst="textNoShape">
              <a:avLst/>
            </a:prstTxWarp>
            <a:spAutoFit/>
          </a:body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w="3175">
                  <a:noFill/>
                </a:ln>
                <a:solidFill>
                  <a:schemeClr val="bg1"/>
                </a:solidFill>
                <a:effectLst/>
                <a:uLnTx/>
                <a:uFillTx/>
                <a:latin typeface="Segoe Sans Display Semibold" pitchFamily="2" charset="0"/>
                <a:ea typeface="+mn-ea"/>
                <a:cs typeface="+mn-cs"/>
              </a:rPr>
              <a:t>Practical guidance on expanding from IT management to security</a:t>
            </a:r>
          </a:p>
        </p:txBody>
      </p:sp>
      <p:sp>
        <p:nvSpPr>
          <p:cNvPr id="24" name="Rectangle 23">
            <a:extLst>
              <a:ext uri="{FF2B5EF4-FFF2-40B4-BE49-F238E27FC236}">
                <a16:creationId xmlns:a16="http://schemas.microsoft.com/office/drawing/2014/main" id="{0A0541AB-2BE5-18ED-010D-32A171DFCE6B}"/>
              </a:ext>
            </a:extLst>
          </p:cNvPr>
          <p:cNvSpPr/>
          <p:nvPr/>
        </p:nvSpPr>
        <p:spPr bwMode="auto">
          <a:xfrm>
            <a:off x="8418521" y="5438924"/>
            <a:ext cx="3249604" cy="49244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t" anchorCtr="0" compatLnSpc="1">
            <a:prstTxWarp prst="textNoShape">
              <a:avLst/>
            </a:prstTxWarp>
            <a:spAutoFit/>
          </a:body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w="3175">
                  <a:noFill/>
                </a:ln>
                <a:solidFill>
                  <a:schemeClr val="bg1"/>
                </a:solidFill>
                <a:effectLst/>
                <a:uLnTx/>
                <a:uFillTx/>
                <a:latin typeface="Segoe Sans Display Semibold" pitchFamily="2" charset="0"/>
                <a:ea typeface="+mn-ea"/>
                <a:cs typeface="+mn-cs"/>
              </a:rPr>
              <a:t>Integration with security frameworks and key partner tools</a:t>
            </a:r>
          </a:p>
        </p:txBody>
      </p:sp>
      <p:sp>
        <p:nvSpPr>
          <p:cNvPr id="40" name="Script_F03A">
            <a:extLst>
              <a:ext uri="{FF2B5EF4-FFF2-40B4-BE49-F238E27FC236}">
                <a16:creationId xmlns:a16="http://schemas.microsoft.com/office/drawing/2014/main" id="{E397911B-E662-A66C-4549-232098CFEC90}"/>
              </a:ext>
              <a:ext uri="{C183D7F6-B498-43B3-948B-1728B52AA6E4}">
                <adec:decorative xmlns:adec="http://schemas.microsoft.com/office/drawing/2017/decorative" val="1"/>
              </a:ext>
            </a:extLst>
          </p:cNvPr>
          <p:cNvSpPr>
            <a:spLocks noChangeAspect="1" noEditPoints="1"/>
          </p:cNvSpPr>
          <p:nvPr/>
        </p:nvSpPr>
        <p:spPr bwMode="auto">
          <a:xfrm>
            <a:off x="1961219" y="4744913"/>
            <a:ext cx="493068" cy="493306"/>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90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Sans Display" pitchFamily="2" charset="0"/>
              <a:ea typeface="+mn-ea"/>
              <a:cs typeface="+mn-cs"/>
            </a:endParaRPr>
          </a:p>
        </p:txBody>
      </p:sp>
      <p:sp>
        <p:nvSpPr>
          <p:cNvPr id="41" name="people_8">
            <a:extLst>
              <a:ext uri="{FF2B5EF4-FFF2-40B4-BE49-F238E27FC236}">
                <a16:creationId xmlns:a16="http://schemas.microsoft.com/office/drawing/2014/main" id="{F05DDB23-06E3-EAF9-0D59-AF12447BAF50}"/>
              </a:ext>
              <a:ext uri="{C183D7F6-B498-43B3-948B-1728B52AA6E4}">
                <adec:decorative xmlns:adec="http://schemas.microsoft.com/office/drawing/2017/decorative" val="1"/>
              </a:ext>
            </a:extLst>
          </p:cNvPr>
          <p:cNvSpPr>
            <a:spLocks noChangeAspect="1" noEditPoints="1"/>
          </p:cNvSpPr>
          <p:nvPr/>
        </p:nvSpPr>
        <p:spPr bwMode="auto">
          <a:xfrm>
            <a:off x="5832766" y="4733339"/>
            <a:ext cx="526470" cy="493304"/>
          </a:xfrm>
          <a:custGeom>
            <a:avLst/>
            <a:gdLst>
              <a:gd name="T0" fmla="*/ 24 w 351"/>
              <a:gd name="T1" fmla="*/ 190 h 329"/>
              <a:gd name="T2" fmla="*/ 80 w 351"/>
              <a:gd name="T3" fmla="*/ 134 h 329"/>
              <a:gd name="T4" fmla="*/ 136 w 351"/>
              <a:gd name="T5" fmla="*/ 190 h 329"/>
              <a:gd name="T6" fmla="*/ 80 w 351"/>
              <a:gd name="T7" fmla="*/ 246 h 329"/>
              <a:gd name="T8" fmla="*/ 24 w 351"/>
              <a:gd name="T9" fmla="*/ 190 h 329"/>
              <a:gd name="T10" fmla="*/ 163 w 351"/>
              <a:gd name="T11" fmla="*/ 328 h 329"/>
              <a:gd name="T12" fmla="*/ 81 w 351"/>
              <a:gd name="T13" fmla="*/ 246 h 329"/>
              <a:gd name="T14" fmla="*/ 0 w 351"/>
              <a:gd name="T15" fmla="*/ 328 h 329"/>
              <a:gd name="T16" fmla="*/ 217 w 351"/>
              <a:gd name="T17" fmla="*/ 112 h 329"/>
              <a:gd name="T18" fmla="*/ 273 w 351"/>
              <a:gd name="T19" fmla="*/ 56 h 329"/>
              <a:gd name="T20" fmla="*/ 217 w 351"/>
              <a:gd name="T21" fmla="*/ 0 h 329"/>
              <a:gd name="T22" fmla="*/ 161 w 351"/>
              <a:gd name="T23" fmla="*/ 56 h 329"/>
              <a:gd name="T24" fmla="*/ 217 w 351"/>
              <a:gd name="T25" fmla="*/ 112 h 329"/>
              <a:gd name="T26" fmla="*/ 300 w 351"/>
              <a:gd name="T27" fmla="*/ 194 h 329"/>
              <a:gd name="T28" fmla="*/ 218 w 351"/>
              <a:gd name="T29" fmla="*/ 112 h 329"/>
              <a:gd name="T30" fmla="*/ 136 w 351"/>
              <a:gd name="T31" fmla="*/ 194 h 329"/>
              <a:gd name="T32" fmla="*/ 296 w 351"/>
              <a:gd name="T33" fmla="*/ 329 h 329"/>
              <a:gd name="T34" fmla="*/ 351 w 351"/>
              <a:gd name="T35" fmla="*/ 273 h 329"/>
              <a:gd name="T36" fmla="*/ 296 w 351"/>
              <a:gd name="T37" fmla="*/ 218 h 329"/>
              <a:gd name="T38" fmla="*/ 351 w 351"/>
              <a:gd name="T39" fmla="*/ 273 h 329"/>
              <a:gd name="T40" fmla="*/ 249 w 351"/>
              <a:gd name="T41" fmla="*/ 273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1" h="329">
                <a:moveTo>
                  <a:pt x="24" y="190"/>
                </a:moveTo>
                <a:cubicBezTo>
                  <a:pt x="24" y="159"/>
                  <a:pt x="49" y="134"/>
                  <a:pt x="80" y="134"/>
                </a:cubicBezTo>
                <a:cubicBezTo>
                  <a:pt x="111" y="134"/>
                  <a:pt x="136" y="159"/>
                  <a:pt x="136" y="190"/>
                </a:cubicBezTo>
                <a:cubicBezTo>
                  <a:pt x="136" y="221"/>
                  <a:pt x="111" y="246"/>
                  <a:pt x="80" y="246"/>
                </a:cubicBezTo>
                <a:cubicBezTo>
                  <a:pt x="49" y="246"/>
                  <a:pt x="24" y="221"/>
                  <a:pt x="24" y="190"/>
                </a:cubicBezTo>
                <a:close/>
                <a:moveTo>
                  <a:pt x="163" y="328"/>
                </a:moveTo>
                <a:cubicBezTo>
                  <a:pt x="163" y="283"/>
                  <a:pt x="127" y="246"/>
                  <a:pt x="81" y="246"/>
                </a:cubicBezTo>
                <a:cubicBezTo>
                  <a:pt x="36" y="246"/>
                  <a:pt x="0" y="283"/>
                  <a:pt x="0" y="328"/>
                </a:cubicBezTo>
                <a:moveTo>
                  <a:pt x="217" y="112"/>
                </a:moveTo>
                <a:cubicBezTo>
                  <a:pt x="248" y="112"/>
                  <a:pt x="273" y="87"/>
                  <a:pt x="273" y="56"/>
                </a:cubicBezTo>
                <a:cubicBezTo>
                  <a:pt x="273" y="25"/>
                  <a:pt x="248" y="0"/>
                  <a:pt x="217" y="0"/>
                </a:cubicBezTo>
                <a:cubicBezTo>
                  <a:pt x="186" y="0"/>
                  <a:pt x="161" y="25"/>
                  <a:pt x="161" y="56"/>
                </a:cubicBezTo>
                <a:cubicBezTo>
                  <a:pt x="161" y="87"/>
                  <a:pt x="186" y="112"/>
                  <a:pt x="217" y="112"/>
                </a:cubicBezTo>
                <a:close/>
                <a:moveTo>
                  <a:pt x="300" y="194"/>
                </a:moveTo>
                <a:cubicBezTo>
                  <a:pt x="300" y="149"/>
                  <a:pt x="263" y="112"/>
                  <a:pt x="218" y="112"/>
                </a:cubicBezTo>
                <a:cubicBezTo>
                  <a:pt x="173" y="112"/>
                  <a:pt x="136" y="149"/>
                  <a:pt x="136" y="194"/>
                </a:cubicBezTo>
                <a:moveTo>
                  <a:pt x="296" y="329"/>
                </a:moveTo>
                <a:cubicBezTo>
                  <a:pt x="351" y="273"/>
                  <a:pt x="351" y="273"/>
                  <a:pt x="351" y="273"/>
                </a:cubicBezTo>
                <a:cubicBezTo>
                  <a:pt x="296" y="218"/>
                  <a:pt x="296" y="218"/>
                  <a:pt x="296" y="218"/>
                </a:cubicBezTo>
                <a:moveTo>
                  <a:pt x="351" y="273"/>
                </a:moveTo>
                <a:cubicBezTo>
                  <a:pt x="249" y="273"/>
                  <a:pt x="249" y="273"/>
                  <a:pt x="249" y="273"/>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Sans Display" pitchFamily="2" charset="0"/>
              <a:ea typeface="+mn-ea"/>
              <a:cs typeface="+mn-cs"/>
            </a:endParaRPr>
          </a:p>
        </p:txBody>
      </p:sp>
      <p:grpSp>
        <p:nvGrpSpPr>
          <p:cNvPr id="42" name="Group 41">
            <a:extLst>
              <a:ext uri="{FF2B5EF4-FFF2-40B4-BE49-F238E27FC236}">
                <a16:creationId xmlns:a16="http://schemas.microsoft.com/office/drawing/2014/main" id="{5436092F-8394-5E94-C736-7C2EB2B5850B}"/>
              </a:ext>
              <a:ext uri="{C183D7F6-B498-43B3-948B-1728B52AA6E4}">
                <adec:decorative xmlns:adec="http://schemas.microsoft.com/office/drawing/2017/decorative" val="1"/>
              </a:ext>
            </a:extLst>
          </p:cNvPr>
          <p:cNvGrpSpPr/>
          <p:nvPr/>
        </p:nvGrpSpPr>
        <p:grpSpPr>
          <a:xfrm>
            <a:off x="9811652" y="4721763"/>
            <a:ext cx="463342" cy="493306"/>
            <a:chOff x="2342828" y="3749602"/>
            <a:chExt cx="343544" cy="365760"/>
          </a:xfrm>
        </p:grpSpPr>
        <p:sp>
          <p:nvSpPr>
            <p:cNvPr id="44" name="Shield_EA18" title="Icon of a shield">
              <a:extLst>
                <a:ext uri="{FF2B5EF4-FFF2-40B4-BE49-F238E27FC236}">
                  <a16:creationId xmlns:a16="http://schemas.microsoft.com/office/drawing/2014/main" id="{5661E234-BCCD-95DE-34CD-9BAB77770310}"/>
                </a:ext>
              </a:extLst>
            </p:cNvPr>
            <p:cNvSpPr>
              <a:spLocks noChangeAspect="1"/>
            </p:cNvSpPr>
            <p:nvPr/>
          </p:nvSpPr>
          <p:spPr bwMode="auto">
            <a:xfrm>
              <a:off x="2342828" y="3749602"/>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Sans Display" pitchFamily="2" charset="0"/>
                <a:ea typeface="+mn-ea"/>
                <a:cs typeface="+mn-cs"/>
              </a:endParaRPr>
            </a:p>
          </p:txBody>
        </p:sp>
        <p:sp>
          <p:nvSpPr>
            <p:cNvPr id="45" name="check" title="Icon of a checkmark">
              <a:extLst>
                <a:ext uri="{FF2B5EF4-FFF2-40B4-BE49-F238E27FC236}">
                  <a16:creationId xmlns:a16="http://schemas.microsoft.com/office/drawing/2014/main" id="{8E6F7CEC-56E4-B379-8334-37342161308B}"/>
                </a:ext>
              </a:extLst>
            </p:cNvPr>
            <p:cNvSpPr>
              <a:spLocks noChangeAspect="1"/>
            </p:cNvSpPr>
            <p:nvPr/>
          </p:nvSpPr>
          <p:spPr bwMode="auto">
            <a:xfrm>
              <a:off x="2433173" y="3865460"/>
              <a:ext cx="162854" cy="114994"/>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Sans Display" pitchFamily="2" charset="0"/>
                <a:ea typeface="+mn-ea"/>
                <a:cs typeface="+mn-cs"/>
              </a:endParaRPr>
            </a:p>
          </p:txBody>
        </p:sp>
      </p:grpSp>
      <p:sp>
        <p:nvSpPr>
          <p:cNvPr id="3" name="TextBox 2">
            <a:extLst>
              <a:ext uri="{FF2B5EF4-FFF2-40B4-BE49-F238E27FC236}">
                <a16:creationId xmlns:a16="http://schemas.microsoft.com/office/drawing/2014/main" id="{021BAA5B-D74A-2A03-BF0B-500C748C88E1}"/>
              </a:ext>
            </a:extLst>
          </p:cNvPr>
          <p:cNvSpPr txBox="1"/>
          <p:nvPr/>
        </p:nvSpPr>
        <p:spPr>
          <a:xfrm>
            <a:off x="2035428" y="6363568"/>
            <a:ext cx="812114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a:ln>
                  <a:noFill/>
                </a:ln>
                <a:solidFill>
                  <a:schemeClr val="bg1"/>
                </a:solidFill>
                <a:effectLst/>
                <a:uLnTx/>
                <a:uFillTx/>
                <a:latin typeface="Segoe Sans Display" pitchFamily="2" charset="0"/>
                <a:ea typeface="+mn-ea"/>
                <a:cs typeface="+mn-cs"/>
                <a:hlinkClick r:id="rId3">
                  <a:extLst>
                    <a:ext uri="{A12FA001-AC4F-418D-AE19-62706E023703}">
                      <ahyp:hlinkClr xmlns:ahyp="http://schemas.microsoft.com/office/drawing/2018/hyperlinkcolor" val="tx"/>
                    </a:ext>
                  </a:extLst>
                </a:hlinkClick>
              </a:rPr>
              <a:t>https://aka.ms/SMBManagedServices</a:t>
            </a:r>
            <a:endParaRPr kumimoji="0" lang="en-US" sz="2000" b="1" i="0" u="sng" strike="noStrike" kern="1200" cap="none" spc="0" normalizeH="0" baseline="0" noProof="0">
              <a:ln>
                <a:noFill/>
              </a:ln>
              <a:solidFill>
                <a:schemeClr val="bg1"/>
              </a:solidFill>
              <a:effectLst/>
              <a:uLnTx/>
              <a:uFillTx/>
              <a:latin typeface="Segoe Sans Display" pitchFamily="2" charset="0"/>
              <a:ea typeface="+mn-ea"/>
              <a:cs typeface="+mn-cs"/>
            </a:endParaRPr>
          </a:p>
        </p:txBody>
      </p:sp>
      <p:cxnSp>
        <p:nvCxnSpPr>
          <p:cNvPr id="5" name="Straight Connector 4">
            <a:extLst>
              <a:ext uri="{FF2B5EF4-FFF2-40B4-BE49-F238E27FC236}">
                <a16:creationId xmlns:a16="http://schemas.microsoft.com/office/drawing/2014/main" id="{0D4BBF51-E73A-600D-BB0F-8CC5EF562B79}"/>
              </a:ext>
              <a:ext uri="{C183D7F6-B498-43B3-948B-1728B52AA6E4}">
                <adec:decorative xmlns:adec="http://schemas.microsoft.com/office/drawing/2017/decorative" val="1"/>
              </a:ext>
            </a:extLst>
          </p:cNvPr>
          <p:cNvCxnSpPr/>
          <p:nvPr/>
        </p:nvCxnSpPr>
        <p:spPr>
          <a:xfrm>
            <a:off x="3946967" y="4838597"/>
            <a:ext cx="0" cy="1222939"/>
          </a:xfrm>
          <a:prstGeom prst="line">
            <a:avLst/>
          </a:prstGeom>
          <a:ln>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07969EE-D34E-42D1-15AB-1AFA19F1EE11}"/>
              </a:ext>
              <a:ext uri="{C183D7F6-B498-43B3-948B-1728B52AA6E4}">
                <adec:decorative xmlns:adec="http://schemas.microsoft.com/office/drawing/2017/decorative" val="1"/>
              </a:ext>
            </a:extLst>
          </p:cNvPr>
          <p:cNvCxnSpPr/>
          <p:nvPr/>
        </p:nvCxnSpPr>
        <p:spPr>
          <a:xfrm>
            <a:off x="8137002" y="4838597"/>
            <a:ext cx="0" cy="1222939"/>
          </a:xfrm>
          <a:prstGeom prst="line">
            <a:avLst/>
          </a:prstGeom>
          <a:ln>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19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42" presetClass="path" presetSubtype="0" decel="100000" fill="hold" grpId="1" nodeType="withEffect">
                                  <p:stCondLst>
                                    <p:cond delay="0"/>
                                  </p:stCondLst>
                                  <p:childTnLst>
                                    <p:animMotion origin="layout" path="M 4.16667E-7 2.22222E-6 L 4.16667E-7 -0.03704 " pathEditMode="relative" rAng="0" ptsTypes="AA">
                                      <p:cBhvr>
                                        <p:cTn id="9" dur="750" spd="-100000" fill="hold"/>
                                        <p:tgtEl>
                                          <p:spTgt spid="40"/>
                                        </p:tgtEl>
                                        <p:attrNameLst>
                                          <p:attrName>ppt_x</p:attrName>
                                          <p:attrName>ppt_y</p:attrName>
                                        </p:attrNameLst>
                                      </p:cBhvr>
                                      <p:rCtr x="0" y="-1852"/>
                                    </p:animMotion>
                                  </p:childTnLst>
                                </p:cTn>
                              </p:par>
                              <p:par>
                                <p:cTn id="10" presetID="10"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42" presetClass="path" presetSubtype="0" decel="100000" fill="hold" grpId="1" nodeType="withEffect">
                                  <p:stCondLst>
                                    <p:cond delay="0"/>
                                  </p:stCondLst>
                                  <p:childTnLst>
                                    <p:animMotion origin="layout" path="M 2.08333E-7 4.81481E-6 L 2.08333E-7 -0.03704 " pathEditMode="relative" rAng="0" ptsTypes="AA">
                                      <p:cBhvr>
                                        <p:cTn id="14" dur="750" spd="-100000" fill="hold"/>
                                        <p:tgtEl>
                                          <p:spTgt spid="22"/>
                                        </p:tgtEl>
                                        <p:attrNameLst>
                                          <p:attrName>ppt_x</p:attrName>
                                          <p:attrName>ppt_y</p:attrName>
                                        </p:attrNameLst>
                                      </p:cBhvr>
                                      <p:rCtr x="0" y="-1852"/>
                                    </p:animMotion>
                                  </p:childTnLst>
                                </p:cTn>
                              </p:par>
                              <p:par>
                                <p:cTn id="15" presetID="10" presetClass="entr" presetSubtype="0" fill="hold" grpId="0" nodeType="withEffect">
                                  <p:stCondLst>
                                    <p:cond delay="10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par>
                                <p:cTn id="18" presetID="42" presetClass="path" presetSubtype="0" decel="100000" fill="hold" grpId="1" nodeType="withEffect">
                                  <p:stCondLst>
                                    <p:cond delay="100"/>
                                  </p:stCondLst>
                                  <p:childTnLst>
                                    <p:animMotion origin="layout" path="M 0 2.59259E-6 L 0 -0.03704 " pathEditMode="relative" rAng="0" ptsTypes="AA">
                                      <p:cBhvr>
                                        <p:cTn id="19" dur="750" spd="-100000" fill="hold"/>
                                        <p:tgtEl>
                                          <p:spTgt spid="41"/>
                                        </p:tgtEl>
                                        <p:attrNameLst>
                                          <p:attrName>ppt_x</p:attrName>
                                          <p:attrName>ppt_y</p:attrName>
                                        </p:attrNameLst>
                                      </p:cBhvr>
                                      <p:rCtr x="0" y="-1852"/>
                                    </p:animMotion>
                                  </p:childTnLst>
                                </p:cTn>
                              </p:par>
                              <p:par>
                                <p:cTn id="20" presetID="10" presetClass="entr" presetSubtype="0" fill="hold" grpId="0" nodeType="withEffect">
                                  <p:stCondLst>
                                    <p:cond delay="10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42" presetClass="path" presetSubtype="0" decel="100000" fill="hold" grpId="1" nodeType="withEffect">
                                  <p:stCondLst>
                                    <p:cond delay="100"/>
                                  </p:stCondLst>
                                  <p:childTnLst>
                                    <p:animMotion origin="layout" path="M 0 4.81481E-6 L 0 -0.03704 " pathEditMode="relative" rAng="0" ptsTypes="AA">
                                      <p:cBhvr>
                                        <p:cTn id="24" dur="750" spd="-100000" fill="hold"/>
                                        <p:tgtEl>
                                          <p:spTgt spid="23"/>
                                        </p:tgtEl>
                                        <p:attrNameLst>
                                          <p:attrName>ppt_x</p:attrName>
                                          <p:attrName>ppt_y</p:attrName>
                                        </p:attrNameLst>
                                      </p:cBhvr>
                                      <p:rCtr x="0" y="-1852"/>
                                    </p:animMotion>
                                  </p:childTnLst>
                                </p:cTn>
                              </p:par>
                              <p:par>
                                <p:cTn id="25" presetID="10" presetClass="entr" presetSubtype="0" fill="hold" nodeType="withEffect">
                                  <p:stCondLst>
                                    <p:cond delay="20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42" presetClass="path" presetSubtype="0" decel="100000" fill="hold" nodeType="withEffect">
                                  <p:stCondLst>
                                    <p:cond delay="200"/>
                                  </p:stCondLst>
                                  <p:childTnLst>
                                    <p:animMotion origin="layout" path="M 2.08333E-6 4.44444E-6 L 2.08333E-6 -0.03704 " pathEditMode="relative" rAng="0" ptsTypes="AA">
                                      <p:cBhvr>
                                        <p:cTn id="29" dur="750" spd="-100000" fill="hold"/>
                                        <p:tgtEl>
                                          <p:spTgt spid="42"/>
                                        </p:tgtEl>
                                        <p:attrNameLst>
                                          <p:attrName>ppt_x</p:attrName>
                                          <p:attrName>ppt_y</p:attrName>
                                        </p:attrNameLst>
                                      </p:cBhvr>
                                      <p:rCtr x="0" y="-1852"/>
                                    </p:animMotion>
                                  </p:childTnLst>
                                </p:cTn>
                              </p:par>
                              <p:par>
                                <p:cTn id="30" presetID="10" presetClass="entr" presetSubtype="0" fill="hold" grpId="0" nodeType="withEffect">
                                  <p:stCondLst>
                                    <p:cond delay="20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42" presetClass="path" presetSubtype="0" decel="100000" fill="hold" grpId="1" nodeType="withEffect">
                                  <p:stCondLst>
                                    <p:cond delay="200"/>
                                  </p:stCondLst>
                                  <p:childTnLst>
                                    <p:animMotion origin="layout" path="M 2.08333E-6 4.81481E-6 L 2.08333E-6 -0.03704 " pathEditMode="relative" rAng="0" ptsTypes="AA">
                                      <p:cBhvr>
                                        <p:cTn id="34" dur="750" spd="-100000" fill="hold"/>
                                        <p:tgtEl>
                                          <p:spTgt spid="24"/>
                                        </p:tgtEl>
                                        <p:attrNameLst>
                                          <p:attrName>ppt_x</p:attrName>
                                          <p:attrName>ppt_y</p:attrName>
                                        </p:attrNameLst>
                                      </p:cBhvr>
                                      <p:rCtr x="0"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3" grpId="0"/>
      <p:bldP spid="23" grpId="1"/>
      <p:bldP spid="24" grpId="0"/>
      <p:bldP spid="24" grpId="1"/>
      <p:bldP spid="40" grpId="0" animBg="1"/>
      <p:bldP spid="40" grpId="1" animBg="1"/>
      <p:bldP spid="41" grpId="0" animBg="1"/>
      <p:bldP spid="41"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856181F3-AB8A-D580-1D1B-DB49E751B4FB}"/>
              </a:ext>
              <a:ext uri="{C183D7F6-B498-43B3-948B-1728B52AA6E4}">
                <adec:decorative xmlns:adec="http://schemas.microsoft.com/office/drawing/2017/decorative" val="1"/>
              </a:ext>
            </a:extLst>
          </p:cNvPr>
          <p:cNvSpPr>
            <a:spLocks noChangeAspect="1"/>
          </p:cNvSpPr>
          <p:nvPr/>
        </p:nvSpPr>
        <p:spPr bwMode="auto">
          <a:xfrm>
            <a:off x="586740" y="1529598"/>
            <a:ext cx="731520" cy="731520"/>
          </a:xfrm>
          <a:prstGeom prst="ellipse">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Segoe UI" pitchFamily="34" charset="0"/>
              <a:cs typeface="Segoe UI" pitchFamily="34" charset="0"/>
            </a:endParaRPr>
          </a:p>
        </p:txBody>
      </p:sp>
      <p:sp>
        <p:nvSpPr>
          <p:cNvPr id="11" name="Oval 10">
            <a:extLst>
              <a:ext uri="{FF2B5EF4-FFF2-40B4-BE49-F238E27FC236}">
                <a16:creationId xmlns:a16="http://schemas.microsoft.com/office/drawing/2014/main" id="{2A13D5D1-9D71-910B-BE89-40814FB8AC9A}"/>
              </a:ext>
              <a:ext uri="{C183D7F6-B498-43B3-948B-1728B52AA6E4}">
                <adec:decorative xmlns:adec="http://schemas.microsoft.com/office/drawing/2017/decorative" val="1"/>
              </a:ext>
            </a:extLst>
          </p:cNvPr>
          <p:cNvSpPr>
            <a:spLocks noChangeAspect="1"/>
          </p:cNvSpPr>
          <p:nvPr/>
        </p:nvSpPr>
        <p:spPr bwMode="auto">
          <a:xfrm>
            <a:off x="586740" y="2592429"/>
            <a:ext cx="731520" cy="731520"/>
          </a:xfrm>
          <a:prstGeom prst="ellipse">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12" name="Oval 11">
            <a:extLst>
              <a:ext uri="{FF2B5EF4-FFF2-40B4-BE49-F238E27FC236}">
                <a16:creationId xmlns:a16="http://schemas.microsoft.com/office/drawing/2014/main" id="{4A1FA99E-52D8-73FC-CA00-EAFD7CBEC223}"/>
              </a:ext>
              <a:ext uri="{C183D7F6-B498-43B3-948B-1728B52AA6E4}">
                <adec:decorative xmlns:adec="http://schemas.microsoft.com/office/drawing/2017/decorative" val="1"/>
              </a:ext>
            </a:extLst>
          </p:cNvPr>
          <p:cNvSpPr>
            <a:spLocks noChangeAspect="1"/>
          </p:cNvSpPr>
          <p:nvPr/>
        </p:nvSpPr>
        <p:spPr bwMode="auto">
          <a:xfrm>
            <a:off x="586740" y="3655260"/>
            <a:ext cx="731520" cy="731520"/>
          </a:xfrm>
          <a:prstGeom prst="ellipse">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13" name="Oval 12">
            <a:extLst>
              <a:ext uri="{FF2B5EF4-FFF2-40B4-BE49-F238E27FC236}">
                <a16:creationId xmlns:a16="http://schemas.microsoft.com/office/drawing/2014/main" id="{375D60B5-566A-5F8A-EF6C-2A94860A595F}"/>
              </a:ext>
              <a:ext uri="{C183D7F6-B498-43B3-948B-1728B52AA6E4}">
                <adec:decorative xmlns:adec="http://schemas.microsoft.com/office/drawing/2017/decorative" val="1"/>
              </a:ext>
            </a:extLst>
          </p:cNvPr>
          <p:cNvSpPr>
            <a:spLocks noChangeAspect="1"/>
          </p:cNvSpPr>
          <p:nvPr/>
        </p:nvSpPr>
        <p:spPr bwMode="auto">
          <a:xfrm>
            <a:off x="586740" y="4718091"/>
            <a:ext cx="731520" cy="731520"/>
          </a:xfrm>
          <a:prstGeom prst="ellipse">
            <a:avLst/>
          </a:prstGeom>
          <a:solidFill>
            <a:srgbClr val="FFFFFF"/>
          </a:solidFill>
          <a:ln>
            <a:noFill/>
            <a:headEnd type="none" w="med" len="med"/>
            <a:tailEnd type="none" w="med" len="med"/>
          </a:ln>
          <a:effectLst>
            <a:outerShdw blurRad="190500" dist="63500" dir="54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25B62"/>
              </a:solidFill>
              <a:effectLst/>
              <a:uLnTx/>
              <a:uFillTx/>
              <a:latin typeface="Segoe UI Semibold"/>
              <a:ea typeface="+mn-ea"/>
              <a:cs typeface="Segoe UI" pitchFamily="34" charset="0"/>
            </a:endParaRPr>
          </a:p>
        </p:txBody>
      </p:sp>
      <p:sp>
        <p:nvSpPr>
          <p:cNvPr id="3" name="Title 2">
            <a:extLst>
              <a:ext uri="{FF2B5EF4-FFF2-40B4-BE49-F238E27FC236}">
                <a16:creationId xmlns:a16="http://schemas.microsoft.com/office/drawing/2014/main" id="{909808EC-FE27-4EE7-88DF-5DDEB93D2767}"/>
              </a:ext>
            </a:extLst>
          </p:cNvPr>
          <p:cNvSpPr>
            <a:spLocks noGrp="1"/>
          </p:cNvSpPr>
          <p:nvPr>
            <p:ph type="title"/>
          </p:nvPr>
        </p:nvSpPr>
        <p:spPr>
          <a:xfrm>
            <a:off x="586740" y="528926"/>
            <a:ext cx="11018520" cy="430887"/>
          </a:xfrm>
        </p:spPr>
        <p:txBody>
          <a:bodyPr>
            <a:normAutofit fontScale="90000"/>
          </a:bodyPr>
          <a:lstStyle/>
          <a:p>
            <a:r>
              <a:rPr lang="en-US">
                <a:gradFill>
                  <a:gsLst>
                    <a:gs pos="0">
                      <a:srgbClr val="000000"/>
                    </a:gs>
                    <a:gs pos="100000">
                      <a:srgbClr val="000000"/>
                    </a:gs>
                  </a:gsLst>
                  <a:lin ang="2700000" scaled="1"/>
                </a:gradFill>
                <a:latin typeface="Segoe Sans Display Semibold" pitchFamily="2" charset="0"/>
                <a:cs typeface="Segoe Sans Display Semibold" pitchFamily="2" charset="0"/>
              </a:rPr>
              <a:t>Learn more</a:t>
            </a:r>
          </a:p>
        </p:txBody>
      </p:sp>
      <p:sp>
        <p:nvSpPr>
          <p:cNvPr id="2" name="Free-form: Shape 21">
            <a:extLst>
              <a:ext uri="{FF2B5EF4-FFF2-40B4-BE49-F238E27FC236}">
                <a16:creationId xmlns:a16="http://schemas.microsoft.com/office/drawing/2014/main" id="{C652D2E3-E01E-5D7E-7527-A7EA6DA9D02E}"/>
              </a:ext>
            </a:extLst>
          </p:cNvPr>
          <p:cNvSpPr>
            <a:spLocks/>
          </p:cNvSpPr>
          <p:nvPr/>
        </p:nvSpPr>
        <p:spPr>
          <a:xfrm>
            <a:off x="1518307" y="1653142"/>
            <a:ext cx="5570453" cy="4844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914314" rtl="0" eaLnBrk="1" fontAlgn="auto" latinLnBrk="0" hangingPunct="1">
              <a:lnSpc>
                <a:spcPct val="100000"/>
              </a:lnSpc>
              <a:spcBef>
                <a:spcPts val="0"/>
              </a:spcBef>
              <a:spcAft>
                <a:spcPts val="200"/>
              </a:spcAft>
              <a:buClrTx/>
              <a:buSzTx/>
              <a:buFontTx/>
              <a:buNone/>
              <a:tabLst/>
              <a:defRPr/>
            </a:pPr>
            <a: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Get started with </a:t>
            </a:r>
            <a:r>
              <a:rPr kumimoji="0" lang="nn-NO" sz="18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hlinkClick r:id="rId3">
                  <a:extLst>
                    <a:ext uri="{A12FA001-AC4F-418D-AE19-62706E023703}">
                      <ahyp:hlinkClr xmlns:ahyp="http://schemas.microsoft.com/office/drawing/2018/hyperlinkcolor" val="tx"/>
                    </a:ext>
                  </a:extLst>
                </a:hlinkClick>
              </a:rPr>
              <a:t>Microsoft 365 Business Premium</a:t>
            </a:r>
            <a:endParaRPr kumimoji="0" lang="en-US" sz="18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endParaRPr>
          </a:p>
        </p:txBody>
      </p:sp>
      <p:sp>
        <p:nvSpPr>
          <p:cNvPr id="8" name="Free-form: Shape 21">
            <a:extLst>
              <a:ext uri="{FF2B5EF4-FFF2-40B4-BE49-F238E27FC236}">
                <a16:creationId xmlns:a16="http://schemas.microsoft.com/office/drawing/2014/main" id="{0998B1EB-115F-3DC6-D1EE-070EAA6C5E21}"/>
              </a:ext>
            </a:extLst>
          </p:cNvPr>
          <p:cNvSpPr>
            <a:spLocks/>
          </p:cNvSpPr>
          <p:nvPr/>
        </p:nvSpPr>
        <p:spPr>
          <a:xfrm>
            <a:off x="1522656" y="2715973"/>
            <a:ext cx="5570453" cy="4844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914314" rtl="0" eaLnBrk="1" fontAlgn="auto" latinLnBrk="0" hangingPunct="1">
              <a:lnSpc>
                <a:spcPct val="100000"/>
              </a:lnSpc>
              <a:spcBef>
                <a:spcPts val="0"/>
              </a:spcBef>
              <a:spcAft>
                <a:spcPts val="200"/>
              </a:spcAft>
              <a:buClrTx/>
              <a:buSzTx/>
              <a:buFontTx/>
              <a:buNone/>
              <a:tabLst/>
              <a:defRPr/>
            </a:pPr>
            <a: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Discover how </a:t>
            </a:r>
            <a:r>
              <a:rPr kumimoji="0" lang="en-US" sz="1800" b="0" i="0" u="none" strike="noStrike" kern="1200" cap="none" spc="0" normalizeH="0" baseline="0" noProof="0" err="1">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Hollen</a:t>
            </a:r>
            <a: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 boosts security with </a:t>
            </a:r>
            <a:b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br>
            <a: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Microsoft 365 Business Premium in this </a:t>
            </a:r>
            <a:r>
              <a:rPr kumimoji="0" lang="en-US" sz="18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hlinkClick r:id="rId4">
                  <a:extLst>
                    <a:ext uri="{A12FA001-AC4F-418D-AE19-62706E023703}">
                      <ahyp:hlinkClr xmlns:ahyp="http://schemas.microsoft.com/office/drawing/2018/hyperlinkcolor" val="tx"/>
                    </a:ext>
                  </a:extLst>
                </a:hlinkClick>
              </a:rPr>
              <a:t>customer story</a:t>
            </a:r>
            <a:endParaRPr kumimoji="0" lang="en-US" sz="18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endParaRPr>
          </a:p>
        </p:txBody>
      </p:sp>
      <p:sp>
        <p:nvSpPr>
          <p:cNvPr id="5" name="Free-form: Shape 22">
            <a:extLst>
              <a:ext uri="{FF2B5EF4-FFF2-40B4-BE49-F238E27FC236}">
                <a16:creationId xmlns:a16="http://schemas.microsoft.com/office/drawing/2014/main" id="{721511D1-6815-61D7-57C8-A994DC9799D4}"/>
              </a:ext>
            </a:extLst>
          </p:cNvPr>
          <p:cNvSpPr>
            <a:spLocks/>
          </p:cNvSpPr>
          <p:nvPr/>
        </p:nvSpPr>
        <p:spPr>
          <a:xfrm>
            <a:off x="1518307" y="3778804"/>
            <a:ext cx="5570453" cy="4844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defTabSz="914314">
              <a:defRPr/>
            </a:pPr>
            <a:r>
              <a:rPr lang="en-US" sz="1800">
                <a:solidFill>
                  <a:srgbClr val="091F2C"/>
                </a:solidFill>
                <a:latin typeface="Segoe Sans Display" pitchFamily="2" charset="0"/>
                <a:cs typeface="Segoe Sans Display" pitchFamily="2" charset="0"/>
                <a:hlinkClick r:id="rId5"/>
              </a:rPr>
              <a:t>Learn the top 5 benefits </a:t>
            </a:r>
            <a:r>
              <a:rPr lang="en-US" sz="1800">
                <a:solidFill>
                  <a:srgbClr val="091F2C"/>
                </a:solidFill>
                <a:latin typeface="Segoe Sans Display" pitchFamily="2" charset="0"/>
                <a:cs typeface="Segoe Sans Display" pitchFamily="2" charset="0"/>
              </a:rPr>
              <a:t>of </a:t>
            </a:r>
            <a:br>
              <a:rPr lang="en-US" sz="1800">
                <a:solidFill>
                  <a:srgbClr val="091F2C"/>
                </a:solidFill>
                <a:latin typeface="Segoe Sans Display" pitchFamily="2" charset="0"/>
                <a:cs typeface="Segoe Sans Display" pitchFamily="2" charset="0"/>
              </a:rPr>
            </a:br>
            <a:r>
              <a:rPr lang="en-US" sz="1800">
                <a:solidFill>
                  <a:srgbClr val="091F2C"/>
                </a:solidFill>
                <a:latin typeface="Segoe Sans Display" pitchFamily="2" charset="0"/>
                <a:cs typeface="Segoe Sans Display" pitchFamily="2" charset="0"/>
              </a:rPr>
              <a:t>Microsoft 365 Business Premium</a:t>
            </a:r>
            <a:endParaRPr lang="en-US" sz="1800">
              <a:latin typeface="Segoe Sans Display" pitchFamily="2" charset="0"/>
              <a:cs typeface="Segoe Sans Display" pitchFamily="2" charset="0"/>
            </a:endParaRPr>
          </a:p>
        </p:txBody>
      </p:sp>
      <p:sp>
        <p:nvSpPr>
          <p:cNvPr id="6" name="Free-form: Shape 23">
            <a:extLst>
              <a:ext uri="{FF2B5EF4-FFF2-40B4-BE49-F238E27FC236}">
                <a16:creationId xmlns:a16="http://schemas.microsoft.com/office/drawing/2014/main" id="{3CCBC744-1880-E3D0-7DEE-C946F619A86A}"/>
              </a:ext>
            </a:extLst>
          </p:cNvPr>
          <p:cNvSpPr>
            <a:spLocks/>
          </p:cNvSpPr>
          <p:nvPr/>
        </p:nvSpPr>
        <p:spPr>
          <a:xfrm>
            <a:off x="1518307" y="4841635"/>
            <a:ext cx="5570453" cy="4844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914314" rtl="0" eaLnBrk="1" fontAlgn="auto" latinLnBrk="0" hangingPunct="1">
              <a:lnSpc>
                <a:spcPct val="100000"/>
              </a:lnSpc>
              <a:spcBef>
                <a:spcPts val="0"/>
              </a:spcBef>
              <a:spcAft>
                <a:spcPts val="200"/>
              </a:spcAft>
              <a:buClrTx/>
              <a:buSzTx/>
              <a:buFontTx/>
              <a:buNone/>
              <a:tabLst/>
              <a:defRPr/>
            </a:pPr>
            <a:r>
              <a:rPr kumimoji="0" lang="en-US" sz="1800" b="0" i="0" u="none" strike="noStrike" kern="1200" cap="none" spc="0" normalizeH="0" baseline="0" noProof="0">
                <a:ln>
                  <a:noFill/>
                </a:ln>
                <a:gradFill>
                  <a:gsLst>
                    <a:gs pos="0">
                      <a:srgbClr val="000000"/>
                    </a:gs>
                    <a:gs pos="100000">
                      <a:srgbClr val="000000"/>
                    </a:gs>
                  </a:gsLst>
                  <a:lin ang="2700000" scaled="1"/>
                </a:gradFill>
                <a:effectLst/>
                <a:uLnTx/>
                <a:uFillTx/>
                <a:latin typeface="Segoe Sans Display" pitchFamily="2" charset="0"/>
                <a:ea typeface="+mn-ea"/>
                <a:cs typeface="Segoe Sans Display" pitchFamily="2" charset="0"/>
              </a:rPr>
              <a:t>Read all about AI-powered </a:t>
            </a:r>
            <a:r>
              <a:rPr kumimoji="0" lang="en-US" sz="18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hlinkClick r:id="rId6">
                  <a:extLst>
                    <a:ext uri="{A12FA001-AC4F-418D-AE19-62706E023703}">
                      <ahyp:hlinkClr xmlns:ahyp="http://schemas.microsoft.com/office/drawing/2018/hyperlinkcolor" val="tx"/>
                    </a:ext>
                  </a:extLst>
                </a:hlinkClick>
              </a:rPr>
              <a:t>Copilot for Microsoft 365</a:t>
            </a:r>
            <a:endParaRPr kumimoji="0" lang="en-US" sz="16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endParaRPr>
          </a:p>
        </p:txBody>
      </p:sp>
      <p:pic>
        <p:nvPicPr>
          <p:cNvPr id="20" name="Graphic 19">
            <a:extLst>
              <a:ext uri="{FF2B5EF4-FFF2-40B4-BE49-F238E27FC236}">
                <a16:creationId xmlns:a16="http://schemas.microsoft.com/office/drawing/2014/main" id="{A3971174-1C3E-728D-EC89-B90E51C1C73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3509" y="4834860"/>
            <a:ext cx="497982" cy="497982"/>
          </a:xfrm>
          <a:prstGeom prst="rect">
            <a:avLst/>
          </a:prstGeom>
        </p:spPr>
      </p:pic>
      <p:pic>
        <p:nvPicPr>
          <p:cNvPr id="22" name="Graphic 21">
            <a:extLst>
              <a:ext uri="{FF2B5EF4-FFF2-40B4-BE49-F238E27FC236}">
                <a16:creationId xmlns:a16="http://schemas.microsoft.com/office/drawing/2014/main" id="{5A3B1E71-16C4-ECFC-DD83-40A6F28BAA09}"/>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1040" y="3769560"/>
            <a:ext cx="502920" cy="502920"/>
          </a:xfrm>
          <a:prstGeom prst="rect">
            <a:avLst/>
          </a:prstGeom>
        </p:spPr>
      </p:pic>
      <p:pic>
        <p:nvPicPr>
          <p:cNvPr id="24" name="Graphic 23">
            <a:extLst>
              <a:ext uri="{FF2B5EF4-FFF2-40B4-BE49-F238E27FC236}">
                <a16:creationId xmlns:a16="http://schemas.microsoft.com/office/drawing/2014/main" id="{446EDA62-9DA9-ECAD-765E-541D5AEA1A1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1040" y="2706729"/>
            <a:ext cx="502920" cy="502920"/>
          </a:xfrm>
          <a:prstGeom prst="rect">
            <a:avLst/>
          </a:prstGeom>
        </p:spPr>
      </p:pic>
      <p:pic>
        <p:nvPicPr>
          <p:cNvPr id="28" name="Graphic 27">
            <a:extLst>
              <a:ext uri="{FF2B5EF4-FFF2-40B4-BE49-F238E27FC236}">
                <a16:creationId xmlns:a16="http://schemas.microsoft.com/office/drawing/2014/main" id="{D229FCE2-0778-AF3D-D1FE-63C340FD6E02}"/>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8180" y="1621038"/>
            <a:ext cx="548640" cy="548640"/>
          </a:xfrm>
          <a:prstGeom prst="rect">
            <a:avLst/>
          </a:prstGeom>
        </p:spPr>
      </p:pic>
    </p:spTree>
    <p:extLst>
      <p:ext uri="{BB962C8B-B14F-4D97-AF65-F5344CB8AC3E}">
        <p14:creationId xmlns:p14="http://schemas.microsoft.com/office/powerpoint/2010/main" val="17025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grpId="1" nodeType="withEffect">
                                  <p:stCondLst>
                                    <p:cond delay="250"/>
                                  </p:stCondLst>
                                  <p:childTnLst>
                                    <p:animMotion origin="layout" path="M 5E-6 1.11111E-6 L 5E-6 0.04352 " pathEditMode="relative" rAng="0" ptsTypes="AA">
                                      <p:cBhvr>
                                        <p:cTn id="9" dur="600" spd="-100000" fill="hold"/>
                                        <p:tgtEl>
                                          <p:spTgt spid="9"/>
                                        </p:tgtEl>
                                        <p:attrNameLst>
                                          <p:attrName>ppt_x</p:attrName>
                                          <p:attrName>ppt_y</p:attrName>
                                        </p:attrNameLst>
                                      </p:cBhvr>
                                      <p:rCtr x="0" y="2176"/>
                                    </p:animMotion>
                                  </p:childTnLst>
                                </p:cTn>
                              </p:par>
                              <p:par>
                                <p:cTn id="10" presetID="10" presetClass="entr" presetSubtype="0" fill="hold" nodeType="withEffect">
                                  <p:stCondLst>
                                    <p:cond delay="25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42" presetClass="path" presetSubtype="0" decel="100000" fill="hold" nodeType="withEffect">
                                  <p:stCondLst>
                                    <p:cond delay="250"/>
                                  </p:stCondLst>
                                  <p:childTnLst>
                                    <p:animMotion origin="layout" path="M 5E-6 1.11111E-6 L 5E-6 0.04352 " pathEditMode="relative" rAng="0" ptsTypes="AA">
                                      <p:cBhvr>
                                        <p:cTn id="14" dur="600" spd="-100000" fill="hold"/>
                                        <p:tgtEl>
                                          <p:spTgt spid="28"/>
                                        </p:tgtEl>
                                        <p:attrNameLst>
                                          <p:attrName>ppt_x</p:attrName>
                                          <p:attrName>ppt_y</p:attrName>
                                        </p:attrNameLst>
                                      </p:cBhvr>
                                      <p:rCtr x="0" y="2176"/>
                                    </p:animMotion>
                                  </p:childTnLst>
                                </p:cTn>
                              </p:par>
                              <p:par>
                                <p:cTn id="15" presetID="10" presetClass="entr" presetSubtype="0" fill="hold" grpId="0" nodeType="withEffect">
                                  <p:stCondLst>
                                    <p:cond delay="25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42" presetClass="path" presetSubtype="0" decel="100000" fill="hold" grpId="1" nodeType="withEffect">
                                  <p:stCondLst>
                                    <p:cond delay="250"/>
                                  </p:stCondLst>
                                  <p:childTnLst>
                                    <p:animMotion origin="layout" path="M -4.58333E-6 1.11111E-6 L -4.58333E-6 0.04352 " pathEditMode="relative" rAng="0" ptsTypes="AA">
                                      <p:cBhvr>
                                        <p:cTn id="19" dur="600" spd="-100000" fill="hold"/>
                                        <p:tgtEl>
                                          <p:spTgt spid="2"/>
                                        </p:tgtEl>
                                        <p:attrNameLst>
                                          <p:attrName>ppt_x</p:attrName>
                                          <p:attrName>ppt_y</p:attrName>
                                        </p:attrNameLst>
                                      </p:cBhvr>
                                      <p:rCtr x="0" y="2176"/>
                                    </p:animMotion>
                                  </p:childTnLst>
                                </p:cTn>
                              </p:par>
                              <p:par>
                                <p:cTn id="20" presetID="10" presetClass="entr" presetSubtype="0" fill="hold" grpId="0" nodeType="withEffect">
                                  <p:stCondLst>
                                    <p:cond delay="5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42" presetClass="path" presetSubtype="0" decel="100000" fill="hold" grpId="1" nodeType="withEffect">
                                  <p:stCondLst>
                                    <p:cond delay="500"/>
                                  </p:stCondLst>
                                  <p:childTnLst>
                                    <p:animMotion origin="layout" path="M 5E-6 0 L 5E-6 0.04352 " pathEditMode="relative" rAng="0" ptsTypes="AA">
                                      <p:cBhvr>
                                        <p:cTn id="24" dur="600" spd="-100000" fill="hold"/>
                                        <p:tgtEl>
                                          <p:spTgt spid="11"/>
                                        </p:tgtEl>
                                        <p:attrNameLst>
                                          <p:attrName>ppt_x</p:attrName>
                                          <p:attrName>ppt_y</p:attrName>
                                        </p:attrNameLst>
                                      </p:cBhvr>
                                      <p:rCtr x="0" y="2176"/>
                                    </p:animMotion>
                                  </p:childTnLst>
                                </p:cTn>
                              </p:par>
                              <p:par>
                                <p:cTn id="25" presetID="10" presetClass="entr" presetSubtype="0" fill="hold" nodeType="with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42" presetClass="path" presetSubtype="0" decel="100000" fill="hold" nodeType="withEffect">
                                  <p:stCondLst>
                                    <p:cond delay="500"/>
                                  </p:stCondLst>
                                  <p:childTnLst>
                                    <p:animMotion origin="layout" path="M 5E-6 0 L 5E-6 0.04352 " pathEditMode="relative" rAng="0" ptsTypes="AA">
                                      <p:cBhvr>
                                        <p:cTn id="29" dur="600" spd="-100000" fill="hold"/>
                                        <p:tgtEl>
                                          <p:spTgt spid="24"/>
                                        </p:tgtEl>
                                        <p:attrNameLst>
                                          <p:attrName>ppt_x</p:attrName>
                                          <p:attrName>ppt_y</p:attrName>
                                        </p:attrNameLst>
                                      </p:cBhvr>
                                      <p:rCtr x="0" y="2176"/>
                                    </p:animMotion>
                                  </p:childTnLst>
                                </p:cTn>
                              </p:par>
                              <p:par>
                                <p:cTn id="30" presetID="10" presetClass="entr" presetSubtype="0" fill="hold" grpId="0" nodeType="withEffect">
                                  <p:stCondLst>
                                    <p:cond delay="5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42" presetClass="path" presetSubtype="0" decel="100000" fill="hold" grpId="1" nodeType="withEffect">
                                  <p:stCondLst>
                                    <p:cond delay="500"/>
                                  </p:stCondLst>
                                  <p:childTnLst>
                                    <p:animMotion origin="layout" path="M 4.79167E-6 0 L 4.79167E-6 0.04352 " pathEditMode="relative" rAng="0" ptsTypes="AA">
                                      <p:cBhvr>
                                        <p:cTn id="34" dur="600" spd="-100000" fill="hold"/>
                                        <p:tgtEl>
                                          <p:spTgt spid="8"/>
                                        </p:tgtEl>
                                        <p:attrNameLst>
                                          <p:attrName>ppt_x</p:attrName>
                                          <p:attrName>ppt_y</p:attrName>
                                        </p:attrNameLst>
                                      </p:cBhvr>
                                      <p:rCtr x="0" y="2176"/>
                                    </p:animMotion>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42" presetClass="path" presetSubtype="0" decel="100000" fill="hold" grpId="1" nodeType="withEffect">
                                  <p:stCondLst>
                                    <p:cond delay="750"/>
                                  </p:stCondLst>
                                  <p:childTnLst>
                                    <p:animMotion origin="layout" path="M 5E-6 -2.59259E-6 L 5E-6 0.04352 " pathEditMode="relative" rAng="0" ptsTypes="AA">
                                      <p:cBhvr>
                                        <p:cTn id="39" dur="600" spd="-100000" fill="hold"/>
                                        <p:tgtEl>
                                          <p:spTgt spid="12"/>
                                        </p:tgtEl>
                                        <p:attrNameLst>
                                          <p:attrName>ppt_x</p:attrName>
                                          <p:attrName>ppt_y</p:attrName>
                                        </p:attrNameLst>
                                      </p:cBhvr>
                                      <p:rCtr x="0" y="2176"/>
                                    </p:animMotion>
                                  </p:childTnLst>
                                </p:cTn>
                              </p:par>
                              <p:par>
                                <p:cTn id="40" presetID="10" presetClass="entr" presetSubtype="0" fill="hold" nodeType="withEffect">
                                  <p:stCondLst>
                                    <p:cond delay="75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42" presetClass="path" presetSubtype="0" decel="100000" fill="hold" nodeType="withEffect">
                                  <p:stCondLst>
                                    <p:cond delay="750"/>
                                  </p:stCondLst>
                                  <p:childTnLst>
                                    <p:animMotion origin="layout" path="M 5E-6 -2.59259E-6 L 5E-6 0.04352 " pathEditMode="relative" rAng="0" ptsTypes="AA">
                                      <p:cBhvr>
                                        <p:cTn id="44" dur="600" spd="-100000" fill="hold"/>
                                        <p:tgtEl>
                                          <p:spTgt spid="22"/>
                                        </p:tgtEl>
                                        <p:attrNameLst>
                                          <p:attrName>ppt_x</p:attrName>
                                          <p:attrName>ppt_y</p:attrName>
                                        </p:attrNameLst>
                                      </p:cBhvr>
                                      <p:rCtr x="0" y="2176"/>
                                    </p:animMotion>
                                  </p:childTnLst>
                                </p:cTn>
                              </p:par>
                              <p:par>
                                <p:cTn id="45" presetID="10" presetClass="entr" presetSubtype="0" fill="hold" grpId="0" nodeType="withEffect">
                                  <p:stCondLst>
                                    <p:cond delay="75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par>
                                <p:cTn id="48" presetID="42" presetClass="path" presetSubtype="0" decel="100000" fill="hold" grpId="1" nodeType="withEffect">
                                  <p:stCondLst>
                                    <p:cond delay="750"/>
                                  </p:stCondLst>
                                  <p:childTnLst>
                                    <p:animMotion origin="layout" path="M -4.58333E-6 -2.59259E-6 L -4.58333E-6 0.04352 " pathEditMode="relative" rAng="0" ptsTypes="AA">
                                      <p:cBhvr>
                                        <p:cTn id="49" dur="600" spd="-100000" fill="hold"/>
                                        <p:tgtEl>
                                          <p:spTgt spid="5"/>
                                        </p:tgtEl>
                                        <p:attrNameLst>
                                          <p:attrName>ppt_x</p:attrName>
                                          <p:attrName>ppt_y</p:attrName>
                                        </p:attrNameLst>
                                      </p:cBhvr>
                                      <p:rCtr x="0" y="2176"/>
                                    </p:animMotion>
                                  </p:childTnLst>
                                </p:cTn>
                              </p:par>
                              <p:par>
                                <p:cTn id="50" presetID="10" presetClass="entr" presetSubtype="0" fill="hold" grpId="0" nodeType="withEffect">
                                  <p:stCondLst>
                                    <p:cond delay="10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42" presetClass="path" presetSubtype="0" decel="100000" fill="hold" grpId="1" nodeType="withEffect">
                                  <p:stCondLst>
                                    <p:cond delay="1000"/>
                                  </p:stCondLst>
                                  <p:childTnLst>
                                    <p:animMotion origin="layout" path="M 5E-6 -3.7037E-6 L 5E-6 0.04352 " pathEditMode="relative" rAng="0" ptsTypes="AA">
                                      <p:cBhvr>
                                        <p:cTn id="54" dur="600" spd="-100000" fill="hold"/>
                                        <p:tgtEl>
                                          <p:spTgt spid="13"/>
                                        </p:tgtEl>
                                        <p:attrNameLst>
                                          <p:attrName>ppt_x</p:attrName>
                                          <p:attrName>ppt_y</p:attrName>
                                        </p:attrNameLst>
                                      </p:cBhvr>
                                      <p:rCtr x="0" y="2176"/>
                                    </p:animMotion>
                                  </p:childTnLst>
                                </p:cTn>
                              </p:par>
                              <p:par>
                                <p:cTn id="55" presetID="10" presetClass="entr" presetSubtype="0" fill="hold" grpId="0" nodeType="withEffect">
                                  <p:stCondLst>
                                    <p:cond delay="100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42" presetClass="path" presetSubtype="0" decel="100000" fill="hold" grpId="1" nodeType="withEffect">
                                  <p:stCondLst>
                                    <p:cond delay="1000"/>
                                  </p:stCondLst>
                                  <p:childTnLst>
                                    <p:animMotion origin="layout" path="M -4.58333E-6 -3.7037E-6 L -4.58333E-6 0.04352 " pathEditMode="relative" rAng="0" ptsTypes="AA">
                                      <p:cBhvr>
                                        <p:cTn id="59" dur="600" spd="-100000" fill="hold"/>
                                        <p:tgtEl>
                                          <p:spTgt spid="6"/>
                                        </p:tgtEl>
                                        <p:attrNameLst>
                                          <p:attrName>ppt_x</p:attrName>
                                          <p:attrName>ppt_y</p:attrName>
                                        </p:attrNameLst>
                                      </p:cBhvr>
                                      <p:rCtr x="0" y="2176"/>
                                    </p:animMotion>
                                  </p:childTnLst>
                                </p:cTn>
                              </p:par>
                              <p:par>
                                <p:cTn id="60" presetID="10" presetClass="entr" presetSubtype="0" fill="hold" nodeType="withEffect">
                                  <p:stCondLst>
                                    <p:cond delay="100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42" presetClass="path" presetSubtype="0" decel="100000" fill="hold" nodeType="withEffect">
                                  <p:stCondLst>
                                    <p:cond delay="1000"/>
                                  </p:stCondLst>
                                  <p:childTnLst>
                                    <p:animMotion origin="layout" path="M 5E-6 -3.7037E-6 L 5E-6 0.04352 " pathEditMode="relative" rAng="0" ptsTypes="AA">
                                      <p:cBhvr>
                                        <p:cTn id="64" dur="600" spd="-100000" fill="hold"/>
                                        <p:tgtEl>
                                          <p:spTgt spid="20"/>
                                        </p:tgtEl>
                                        <p:attrNameLst>
                                          <p:attrName>ppt_x</p:attrName>
                                          <p:attrName>ppt_y</p:attrName>
                                        </p:attrNameLst>
                                      </p:cBhvr>
                                      <p:rCtr x="0" y="2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P spid="11" grpId="1" animBg="1"/>
      <p:bldP spid="12" grpId="0" animBg="1"/>
      <p:bldP spid="12" grpId="1" animBg="1"/>
      <p:bldP spid="13" grpId="0" animBg="1"/>
      <p:bldP spid="13" grpId="1" animBg="1"/>
      <p:bldP spid="2" grpId="0"/>
      <p:bldP spid="2" grpId="1"/>
      <p:bldP spid="8" grpId="0"/>
      <p:bldP spid="8" grpId="1"/>
      <p:bldP spid="5" grpId="0"/>
      <p:bldP spid="5" grpId="1"/>
      <p:bldP spid="6" grpId="0"/>
      <p:bldP spid="6" grpId="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C53FA-8140-A0CC-B1FD-5775F74CAAAD}"/>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BD673650-B989-245C-F9DF-497A3274B568}"/>
              </a:ext>
            </a:extLst>
          </p:cNvPr>
          <p:cNvSpPr>
            <a:spLocks noGrp="1"/>
          </p:cNvSpPr>
          <p:nvPr>
            <p:ph type="title"/>
          </p:nvPr>
        </p:nvSpPr>
        <p:spPr>
          <a:xfrm>
            <a:off x="574816" y="510988"/>
            <a:ext cx="3902841" cy="430887"/>
          </a:xfrm>
        </p:spPr>
        <p:txBody>
          <a:bodyPr>
            <a:normAutofit fontScale="90000"/>
          </a:bodyPr>
          <a:lstStyle/>
          <a:p>
            <a:r>
              <a:rPr lang="en-US"/>
              <a:t>Session resources</a:t>
            </a:r>
          </a:p>
        </p:txBody>
      </p:sp>
      <p:pic>
        <p:nvPicPr>
          <p:cNvPr id="22" name="Picture 21" descr="Lighthouse">
            <a:extLst>
              <a:ext uri="{FF2B5EF4-FFF2-40B4-BE49-F238E27FC236}">
                <a16:creationId xmlns:a16="http://schemas.microsoft.com/office/drawing/2014/main" id="{726AEF8C-3C4C-7084-8E14-154D7BAB6871}"/>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1427428" y="1796812"/>
            <a:ext cx="2523244" cy="2523244"/>
          </a:xfrm>
          <a:prstGeom prst="rect">
            <a:avLst/>
          </a:prstGeom>
          <a:noFill/>
          <a:extLst>
            <a:ext uri="{909E8E84-426E-40DD-AFC4-6F175D3DCCD1}">
              <a14:hiddenFill xmlns:a14="http://schemas.microsoft.com/office/drawing/2010/main">
                <a:solidFill>
                  <a:srgbClr val="FFFFFF"/>
                </a:solidFill>
              </a14:hiddenFill>
            </a:ext>
          </a:extLst>
        </p:spPr>
      </p:pic>
      <p:sp>
        <p:nvSpPr>
          <p:cNvPr id="17" name="Rounded Rectangle 18" descr="Announcing&#10;">
            <a:extLst>
              <a:ext uri="{FF2B5EF4-FFF2-40B4-BE49-F238E27FC236}">
                <a16:creationId xmlns:a16="http://schemas.microsoft.com/office/drawing/2014/main" id="{6EB359B6-272D-F8EF-8C36-FE814F086E23}"/>
              </a:ext>
            </a:extLst>
          </p:cNvPr>
          <p:cNvSpPr/>
          <p:nvPr/>
        </p:nvSpPr>
        <p:spPr bwMode="auto">
          <a:xfrm>
            <a:off x="690732" y="5061188"/>
            <a:ext cx="3996636" cy="437120"/>
          </a:xfrm>
          <a:prstGeom prst="roundRect">
            <a:avLst>
              <a:gd name="adj" fmla="val 50000"/>
            </a:avLst>
          </a:prstGeom>
          <a:gradFill>
            <a:gsLst>
              <a:gs pos="49000">
                <a:srgbClr val="4DDAE3"/>
              </a:gs>
              <a:gs pos="100000">
                <a:schemeClr val="accent1">
                  <a:lumMod val="60000"/>
                  <a:lumOff val="40000"/>
                </a:schemeClr>
              </a:gs>
            </a:gsLst>
          </a:gradFill>
          <a:effectLst/>
          <a:extLst>
            <a:ext uri="{53640926-AAD7-44D8-BBD7-CCE9431645EC}">
              <a14:shadowObscured xmlns:a14="http://schemas.microsoft.com/office/drawing/2010/main"/>
            </a:ext>
          </a:extLst>
        </p:spPr>
        <p:txBody>
          <a:bodyPr wrap="square" lIns="0" tIns="18288" rIns="0" bIns="45720" anchor="ctr" anchorCtr="0">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CA" sz="1600" b="0" i="0" u="none" strike="noStrike" kern="1200" cap="none" spc="0" normalizeH="0" baseline="0" noProof="0">
                <a:ln w="3175">
                  <a:noFill/>
                </a:ln>
                <a:solidFill>
                  <a:srgbClr val="1A1A1A"/>
                </a:solidFill>
                <a:effectLst/>
                <a:uLnTx/>
                <a:uFillTx/>
                <a:latin typeface="Segoe UI Semibold"/>
                <a:ea typeface="+mn-ea"/>
                <a:cs typeface="Segoe UI" pitchFamily="34" charset="0"/>
                <a:hlinkClick r:id="rId4">
                  <a:extLst>
                    <a:ext uri="{A12FA001-AC4F-418D-AE19-62706E023703}">
                      <ahyp:hlinkClr xmlns:ahyp="http://schemas.microsoft.com/office/drawing/2018/hyperlinkcolor" val="tx"/>
                    </a:ext>
                  </a:extLst>
                </a:hlinkClick>
              </a:rPr>
              <a:t>Microsoft 365 Lighthouse Demo</a:t>
            </a:r>
            <a:endParaRPr kumimoji="0" lang="en-CA" sz="1600" b="0" i="0" u="none" strike="noStrike" kern="1200" cap="none" spc="0" normalizeH="0" baseline="0" noProof="0">
              <a:ln w="3175">
                <a:noFill/>
              </a:ln>
              <a:solidFill>
                <a:srgbClr val="1A1A1A"/>
              </a:solidFill>
              <a:effectLst/>
              <a:uLnTx/>
              <a:uFillTx/>
              <a:latin typeface="Segoe UI Semibold"/>
              <a:ea typeface="+mn-ea"/>
              <a:cs typeface="Segoe UI" pitchFamily="34" charset="0"/>
            </a:endParaRPr>
          </a:p>
        </p:txBody>
      </p:sp>
      <p:sp>
        <p:nvSpPr>
          <p:cNvPr id="16" name="Rounded Rectangle 18" descr="Announcing&#10;">
            <a:extLst>
              <a:ext uri="{FF2B5EF4-FFF2-40B4-BE49-F238E27FC236}">
                <a16:creationId xmlns:a16="http://schemas.microsoft.com/office/drawing/2014/main" id="{33BF179D-D292-562E-4DAF-7E69967F8777}"/>
              </a:ext>
            </a:extLst>
          </p:cNvPr>
          <p:cNvSpPr/>
          <p:nvPr/>
        </p:nvSpPr>
        <p:spPr bwMode="auto">
          <a:xfrm>
            <a:off x="690732" y="5735375"/>
            <a:ext cx="3996636" cy="437120"/>
          </a:xfrm>
          <a:prstGeom prst="roundRect">
            <a:avLst>
              <a:gd name="adj" fmla="val 50000"/>
            </a:avLst>
          </a:prstGeom>
          <a:gradFill>
            <a:gsLst>
              <a:gs pos="49000">
                <a:srgbClr val="4DDAE3"/>
              </a:gs>
              <a:gs pos="100000">
                <a:schemeClr val="accent1">
                  <a:lumMod val="60000"/>
                  <a:lumOff val="40000"/>
                </a:schemeClr>
              </a:gs>
            </a:gsLst>
          </a:gradFill>
          <a:effectLst/>
          <a:extLst>
            <a:ext uri="{53640926-AAD7-44D8-BBD7-CCE9431645EC}">
              <a14:shadowObscured xmlns:a14="http://schemas.microsoft.com/office/drawing/2010/main"/>
            </a:ext>
          </a:extLst>
        </p:spPr>
        <p:txBody>
          <a:bodyPr wrap="square" lIns="0" tIns="18288" rIns="0" bIns="45720" anchor="ctr" anchorCtr="0">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CA" sz="1600" b="0" i="0" u="none" strike="noStrike" kern="1200" cap="none" spc="0" normalizeH="0" baseline="0" noProof="0">
                <a:ln w="3175">
                  <a:noFill/>
                </a:ln>
                <a:solidFill>
                  <a:srgbClr val="1A1A1A"/>
                </a:solidFill>
                <a:effectLst/>
                <a:uLnTx/>
                <a:uFillTx/>
                <a:latin typeface="Segoe UI Semibold"/>
                <a:ea typeface="+mn-ea"/>
                <a:cs typeface="Segoe UI"/>
                <a:hlinkClick r:id="rId5">
                  <a:extLst>
                    <a:ext uri="{A12FA001-AC4F-418D-AE19-62706E023703}">
                      <ahyp:hlinkClr xmlns:ahyp="http://schemas.microsoft.com/office/drawing/2018/hyperlinkcolor" val="tx"/>
                    </a:ext>
                  </a:extLst>
                </a:hlinkClick>
              </a:rPr>
              <a:t>Sales Advisor Demo</a:t>
            </a:r>
          </a:p>
        </p:txBody>
      </p:sp>
      <p:sp>
        <p:nvSpPr>
          <p:cNvPr id="19" name="Text Placeholder 3">
            <a:extLst>
              <a:ext uri="{FF2B5EF4-FFF2-40B4-BE49-F238E27FC236}">
                <a16:creationId xmlns:a16="http://schemas.microsoft.com/office/drawing/2014/main" id="{F8FB80A4-24DB-DE88-ED64-78BFD050F721}"/>
              </a:ext>
            </a:extLst>
          </p:cNvPr>
          <p:cNvSpPr txBox="1">
            <a:spLocks/>
          </p:cNvSpPr>
          <p:nvPr/>
        </p:nvSpPr>
        <p:spPr>
          <a:xfrm>
            <a:off x="6284686" y="651317"/>
            <a:ext cx="5094514" cy="5488682"/>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Get started:</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6">
                  <a:extLst>
                    <a:ext uri="{A12FA001-AC4F-418D-AE19-62706E023703}">
                      <ahyp:hlinkClr xmlns:ahyp="http://schemas.microsoft.com/office/drawing/2018/hyperlinkcolor" val="tx"/>
                    </a:ext>
                  </a:extLst>
                </a:hlinkClick>
              </a:rPr>
              <a:t>aka.ms/M365Lighthouseonboard</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Learn more:</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7">
                  <a:extLst>
                    <a:ext uri="{A12FA001-AC4F-418D-AE19-62706E023703}">
                      <ahyp:hlinkClr xmlns:ahyp="http://schemas.microsoft.com/office/drawing/2018/hyperlinkcolor" val="tx"/>
                    </a:ext>
                  </a:extLst>
                </a:hlinkClick>
              </a:rPr>
              <a:t>aka.ms/M365Lighthouse</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Microsoft 365 Lighthouse FAQ:</a:t>
            </a:r>
            <a:br>
              <a:rPr kumimoji="0" lang="en-US" sz="1600" b="0" i="0" u="none" strike="noStrike" kern="1200" cap="none" spc="0" normalizeH="0" baseline="0" noProof="0">
                <a:ln>
                  <a:noFill/>
                </a:ln>
                <a:solidFill>
                  <a:srgbClr val="FFFFFF"/>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j-lt"/>
                <a:cs typeface="Segoe UI Semibold"/>
                <a:hlinkClick r:id="rId8">
                  <a:extLst>
                    <a:ext uri="{A12FA001-AC4F-418D-AE19-62706E023703}">
                      <ahyp:hlinkClr xmlns:ahyp="http://schemas.microsoft.com/office/drawing/2018/hyperlinkcolor" val="tx"/>
                    </a:ext>
                  </a:extLst>
                </a:hlinkClick>
              </a:rPr>
              <a:t>aka.ms/M365LighthouseFAQ</a:t>
            </a:r>
            <a:r>
              <a:rPr kumimoji="0" lang="en-US" sz="1400" b="0" i="0" u="none" strike="noStrike" kern="1200" cap="none" spc="0" normalizeH="0" baseline="0" noProof="0">
                <a:ln>
                  <a:noFill/>
                </a:ln>
                <a:solidFill>
                  <a:srgbClr val="50E6FF"/>
                </a:solidFill>
                <a:effectLst/>
                <a:uLnTx/>
                <a:uFillTx/>
                <a:latin typeface="Segoe UI"/>
                <a:ea typeface="+mj-lt"/>
                <a:cs typeface="Segoe UI Semibold"/>
              </a:rPr>
              <a:t> </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Sales Advisor demo video:</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9">
                  <a:extLst>
                    <a:ext uri="{A12FA001-AC4F-418D-AE19-62706E023703}">
                      <ahyp:hlinkClr xmlns:ahyp="http://schemas.microsoft.com/office/drawing/2018/hyperlinkcolor" val="tx"/>
                    </a:ext>
                  </a:extLst>
                </a:hlinkClick>
              </a:rPr>
              <a:t>aka.ms/M365SalesAdvisorWalkthrough</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Microsoft 365 Lighthouse datasheet:</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10">
                  <a:extLst>
                    <a:ext uri="{A12FA001-AC4F-418D-AE19-62706E023703}">
                      <ahyp:hlinkClr xmlns:ahyp="http://schemas.microsoft.com/office/drawing/2018/hyperlinkcolor" val="tx"/>
                    </a:ext>
                  </a:extLst>
                </a:hlinkClick>
              </a:rPr>
              <a:t>aka.ms/M365LHDatasheet</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Microsoft 365 Lighthouse blog:</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11">
                  <a:extLst>
                    <a:ext uri="{A12FA001-AC4F-418D-AE19-62706E023703}">
                      <ahyp:hlinkClr xmlns:ahyp="http://schemas.microsoft.com/office/drawing/2018/hyperlinkcolor" val="tx"/>
                    </a:ext>
                  </a:extLst>
                </a:hlinkClick>
              </a:rPr>
              <a:t>aka.ms/Microsoft365LighthouseBlog</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Access technical documentation:</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12">
                  <a:extLst>
                    <a:ext uri="{A12FA001-AC4F-418D-AE19-62706E023703}">
                      <ahyp:hlinkClr xmlns:ahyp="http://schemas.microsoft.com/office/drawing/2018/hyperlinkcolor" val="tx"/>
                    </a:ext>
                  </a:extLst>
                </a:hlinkClick>
              </a:rPr>
              <a:t>aka.ms/M365LighthouseDocs</a:t>
            </a:r>
            <a:endParaRPr kumimoji="0" lang="en-US" sz="1400" b="0" i="0" u="none" strike="noStrike" kern="1200" cap="none" spc="0" normalizeH="0" baseline="0" noProof="0">
              <a:ln>
                <a:noFill/>
              </a:ln>
              <a:solidFill>
                <a:srgbClr val="50E6FF"/>
              </a:solidFill>
              <a:effectLst/>
              <a:uLnTx/>
              <a:uFillTx/>
              <a:latin typeface="Segoe UI"/>
              <a:ea typeface="+mn-ea"/>
              <a:cs typeface="Segoe UI"/>
            </a:endParaRPr>
          </a:p>
          <a:p>
            <a:pPr marL="0" marR="0" lvl="0" indent="0" algn="l" defTabSz="932742" rtl="0" eaLnBrk="1" fontAlgn="auto" latinLnBrk="0" hangingPunct="1">
              <a:lnSpc>
                <a:spcPct val="100000"/>
              </a:lnSpc>
              <a:spcBef>
                <a:spcPts val="2000"/>
              </a:spcBef>
              <a:spcAft>
                <a:spcPts val="0"/>
              </a:spcAft>
              <a:buClrTx/>
              <a:buSzPct val="90000"/>
              <a:buFont typeface="Wingdings" panose="05000000000000000000" pitchFamily="2" charset="2"/>
              <a:buNone/>
              <a:tabLst>
                <a:tab pos="2457450" algn="l"/>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Share your feedback: </a:t>
            </a:r>
            <a:br>
              <a:rPr kumimoji="0" lang="en-US" sz="1600" b="0" i="0" u="none" strike="noStrike" kern="1200" cap="none" spc="0" normalizeH="0" baseline="0" noProof="0">
                <a:ln>
                  <a:noFill/>
                </a:ln>
                <a:solidFill>
                  <a:srgbClr val="000000"/>
                </a:solidFill>
                <a:effectLst/>
                <a:uLnTx/>
                <a:uFillTx/>
                <a:latin typeface="Segoe UI Semibold"/>
                <a:ea typeface="+mn-ea"/>
                <a:cs typeface="Segoe UI"/>
              </a:rPr>
            </a:br>
            <a:r>
              <a:rPr kumimoji="0" lang="en-US" sz="1400" b="0" i="0" u="none" strike="noStrike" kern="1200" cap="none" spc="0" normalizeH="0" baseline="0" noProof="0">
                <a:ln>
                  <a:noFill/>
                </a:ln>
                <a:solidFill>
                  <a:srgbClr val="50E6FF"/>
                </a:solidFill>
                <a:effectLst/>
                <a:uLnTx/>
                <a:uFillTx/>
                <a:latin typeface="Segoe UI"/>
                <a:ea typeface="+mn-ea"/>
                <a:cs typeface="Segoe UI"/>
                <a:hlinkClick r:id="rId13">
                  <a:extLst>
                    <a:ext uri="{A12FA001-AC4F-418D-AE19-62706E023703}">
                      <ahyp:hlinkClr xmlns:ahyp="http://schemas.microsoft.com/office/drawing/2018/hyperlinkcolor" val="tx"/>
                    </a:ext>
                  </a:extLst>
                </a:hlinkClick>
              </a:rPr>
              <a:t>aka.ms/M365LighthouseFeedback</a:t>
            </a:r>
            <a:endParaRPr kumimoji="0" lang="en-US" sz="1600" b="0" i="0" u="none" strike="noStrike" kern="1200" cap="none" spc="0" normalizeH="0" baseline="0" noProof="0">
              <a:ln>
                <a:noFill/>
              </a:ln>
              <a:solidFill>
                <a:srgbClr val="50E6FF"/>
              </a:solidFill>
              <a:effectLst/>
              <a:uLnTx/>
              <a:uFillTx/>
              <a:latin typeface="Segoe UI"/>
              <a:ea typeface="+mn-ea"/>
              <a:cs typeface="Segoe UI"/>
            </a:endParaRPr>
          </a:p>
        </p:txBody>
      </p:sp>
    </p:spTree>
    <p:extLst>
      <p:ext uri="{BB962C8B-B14F-4D97-AF65-F5344CB8AC3E}">
        <p14:creationId xmlns:p14="http://schemas.microsoft.com/office/powerpoint/2010/main" val="21426055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42" presetClass="path" presetSubtype="0" decel="100000" fill="hold" grpId="1" nodeType="withEffect">
                                  <p:stCondLst>
                                    <p:cond delay="0"/>
                                  </p:stCondLst>
                                  <p:childTnLst>
                                    <p:animMotion origin="layout" path="M -2.70833E-6 2.96296E-6 L -2.70833E-6 -0.03704 " pathEditMode="relative" rAng="0" ptsTypes="AA">
                                      <p:cBhvr>
                                        <p:cTn id="9" dur="750" spd="-100000" fill="hold"/>
                                        <p:tgtEl>
                                          <p:spTgt spid="17"/>
                                        </p:tgtEl>
                                        <p:attrNameLst>
                                          <p:attrName>ppt_x</p:attrName>
                                          <p:attrName>ppt_y</p:attrName>
                                        </p:attrNameLst>
                                      </p:cBhvr>
                                      <p:rCtr x="0" y="-1852"/>
                                    </p:animMotion>
                                  </p:childTnLst>
                                </p:cTn>
                              </p:par>
                              <p:par>
                                <p:cTn id="10" presetID="10" presetClass="entr" presetSubtype="0" fill="hold" grpId="0" nodeType="withEffect">
                                  <p:stCondLst>
                                    <p:cond delay="25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250"/>
                                  </p:stCondLst>
                                  <p:childTnLst>
                                    <p:animMotion origin="layout" path="M -2.70833E-6 2.96296E-6 L -2.70833E-6 -0.03704 " pathEditMode="relative" rAng="0" ptsTypes="AA">
                                      <p:cBhvr>
                                        <p:cTn id="14" dur="750" spd="-100000" fill="hold"/>
                                        <p:tgtEl>
                                          <p:spTgt spid="16"/>
                                        </p:tgtEl>
                                        <p:attrNameLst>
                                          <p:attrName>ppt_x</p:attrName>
                                          <p:attrName>ppt_y</p:attrName>
                                        </p:attrNameLst>
                                      </p:cBhvr>
                                      <p:rCtr x="0" y="-1852"/>
                                    </p:animMotion>
                                  </p:childTnLst>
                                </p:cTn>
                              </p:par>
                              <p:par>
                                <p:cTn id="15" presetID="10" presetClass="entr" presetSubtype="0" fill="hold" grpId="0" nodeType="withEffect">
                                  <p:stCondLst>
                                    <p:cond delay="5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42" presetClass="path" presetSubtype="0" decel="100000" fill="hold" grpId="1" nodeType="withEffect">
                                  <p:stCondLst>
                                    <p:cond delay="500"/>
                                  </p:stCondLst>
                                  <p:childTnLst>
                                    <p:animMotion origin="layout" path="M 1.04167E-6 1.11111E-6 L -0.02591 1.11111E-6 " pathEditMode="relative" rAng="0" ptsTypes="AA">
                                      <p:cBhvr>
                                        <p:cTn id="19" dur="750" spd="-100000" fill="hold"/>
                                        <p:tgtEl>
                                          <p:spTgt spid="19"/>
                                        </p:tgtEl>
                                        <p:attrNameLst>
                                          <p:attrName>ppt_x</p:attrName>
                                          <p:attrName>ppt_y</p:attrName>
                                        </p:attrNameLst>
                                      </p:cBhvr>
                                      <p:rCtr x="-13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6" grpId="0" animBg="1"/>
      <p:bldP spid="16" grpId="1" animBg="1"/>
      <p:bldP spid="19" grpId="0"/>
      <p:bldP spid="19"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4D49EE2-61EF-2AA2-0861-4C67890D45F8}"/>
              </a:ext>
              <a:ext uri="{C183D7F6-B498-43B3-948B-1728B52AA6E4}">
                <adec:decorative xmlns:adec="http://schemas.microsoft.com/office/drawing/2017/decorative" val="1"/>
              </a:ext>
            </a:extLst>
          </p:cNvPr>
          <p:cNvSpPr>
            <a:spLocks/>
          </p:cNvSpPr>
          <p:nvPr/>
        </p:nvSpPr>
        <p:spPr bwMode="auto">
          <a:xfrm>
            <a:off x="1219200" y="760949"/>
            <a:ext cx="9753599" cy="5336103"/>
          </a:xfrm>
          <a:prstGeom prst="roundRect">
            <a:avLst>
              <a:gd name="adj" fmla="val 2787"/>
            </a:avLst>
          </a:prstGeom>
          <a:solidFill>
            <a:schemeClr val="bg1">
              <a:lumMod val="95000"/>
            </a:schemeClr>
          </a:solidFill>
          <a:ln w="12700" cap="flat" cmpd="sng" algn="ctr">
            <a:noFill/>
            <a:prstDash val="solid"/>
            <a:headEnd type="none" w="med" len="med"/>
            <a:tailEnd type="none" w="med" len="med"/>
          </a:ln>
          <a:effectLst>
            <a:outerShdw blurRad="127000" dist="63500" dir="2700000" algn="tl" rotWithShape="0">
              <a:srgbClr val="454142">
                <a:alpha val="20000"/>
              </a:srgbClr>
            </a:outerShdw>
          </a:effectLst>
          <a:scene3d>
            <a:camera prst="perspectiveRight" fov="2700000">
              <a:rot lat="0" lon="21594000" rev="0"/>
            </a:camera>
            <a:lightRig rig="flat" dir="t"/>
          </a:scene3d>
          <a:sp3d>
            <a:bevelT w="0" h="38100"/>
            <a:bevelB w="0" h="0"/>
            <a:contourClr>
              <a:srgbClr val="000000"/>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0" numCol="1" spcCol="0" rtlCol="0" fromWordArt="0" anchor="t" anchorCtr="0" forceAA="0" compatLnSpc="1">
            <a:prstTxWarp prst="textNoShape">
              <a:avLst/>
            </a:prstTxWarp>
            <a:noAutofit/>
          </a:bodyPr>
          <a:lstStyle/>
          <a:p>
            <a:pPr algn="ctr" defTabSz="914400"/>
            <a:endParaRPr lang="en-US" sz="1400" b="1" spc="-10">
              <a:ln w="3175">
                <a:noFill/>
              </a:ln>
              <a:solidFill>
                <a:srgbClr val="FFFFFF"/>
              </a:solidFill>
              <a:latin typeface="Segoe Sans Display Semibold" pitchFamily="2" charset="0"/>
              <a:cs typeface="Segoe Sans Display" pitchFamily="2" charset="0"/>
            </a:endParaRPr>
          </a:p>
        </p:txBody>
      </p:sp>
      <p:sp>
        <p:nvSpPr>
          <p:cNvPr id="15" name="Title 12">
            <a:extLst>
              <a:ext uri="{FF2B5EF4-FFF2-40B4-BE49-F238E27FC236}">
                <a16:creationId xmlns:a16="http://schemas.microsoft.com/office/drawing/2014/main" id="{35F201EC-4C02-579B-5AFB-CF42F4CB4CB1}"/>
              </a:ext>
            </a:extLst>
          </p:cNvPr>
          <p:cNvSpPr txBox="1">
            <a:spLocks noGrp="1"/>
          </p:cNvSpPr>
          <p:nvPr>
            <p:ph type="title"/>
          </p:nvPr>
        </p:nvSpPr>
        <p:spPr>
          <a:xfrm>
            <a:off x="586739" y="1229445"/>
            <a:ext cx="11018520"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effectLst/>
                <a:uLnTx/>
                <a:uFillTx/>
                <a:cs typeface="Segoe Sans Display" pitchFamily="2" charset="0"/>
              </a:rPr>
              <a:t>Copilot for Microsoft 365</a:t>
            </a:r>
            <a:br>
              <a:rPr lang="en-BE" sz="3200">
                <a:cs typeface="Segoe Sans Display" pitchFamily="2" charset="0"/>
              </a:rPr>
            </a:br>
            <a:r>
              <a:rPr lang="en-BE" sz="1800" spc="0">
                <a:cs typeface="Segoe Sans Display" pitchFamily="2" charset="0"/>
              </a:rPr>
              <a:t>Monthly updates for partners!</a:t>
            </a:r>
            <a:endParaRPr kumimoji="0" lang="en-US" sz="3200" b="0" i="0" u="none" strike="noStrike" kern="1200" cap="none" spc="0" normalizeH="0" baseline="0" noProof="0">
              <a:ln w="3175">
                <a:noFill/>
              </a:ln>
              <a:effectLst/>
              <a:uLnTx/>
              <a:uFillTx/>
              <a:cs typeface="Segoe Sans Display" pitchFamily="2" charset="0"/>
            </a:endParaRPr>
          </a:p>
        </p:txBody>
      </p:sp>
      <p:pic>
        <p:nvPicPr>
          <p:cNvPr id="7" name="!Copilot">
            <a:extLst>
              <a:ext uri="{FF2B5EF4-FFF2-40B4-BE49-F238E27FC236}">
                <a16:creationId xmlns:a16="http://schemas.microsoft.com/office/drawing/2014/main" id="{E018ACB4-3D1B-BDDF-3B7B-26C1CA2C492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97427" y="2330428"/>
            <a:ext cx="2197146" cy="2197144"/>
          </a:xfrm>
          <a:prstGeom prst="rect">
            <a:avLst/>
          </a:prstGeom>
          <a:noFill/>
          <a:ln>
            <a:noFill/>
            <a:headEnd type="none" w="med" len="med"/>
            <a:tailEnd type="none" w="med" len="med"/>
          </a:ln>
          <a:effectLst/>
        </p:spPr>
      </p:pic>
      <p:sp>
        <p:nvSpPr>
          <p:cNvPr id="8" name="Rectangle: Rounded Corners 7">
            <a:extLst>
              <a:ext uri="{FF2B5EF4-FFF2-40B4-BE49-F238E27FC236}">
                <a16:creationId xmlns:a16="http://schemas.microsoft.com/office/drawing/2014/main" id="{B3609B64-83AB-D854-B94C-CA895056053E}"/>
              </a:ext>
            </a:extLst>
          </p:cNvPr>
          <p:cNvSpPr/>
          <p:nvPr/>
        </p:nvSpPr>
        <p:spPr bwMode="auto">
          <a:xfrm>
            <a:off x="2807130" y="4844270"/>
            <a:ext cx="6501540" cy="643794"/>
          </a:xfrm>
          <a:prstGeom prst="roundRect">
            <a:avLst>
              <a:gd name="adj" fmla="val 50000"/>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spcBef>
                <a:spcPct val="0"/>
              </a:spcBef>
              <a:defRPr/>
            </a:pPr>
            <a:r>
              <a:rPr lang="en-BE" sz="2400" spc="-50">
                <a:ln w="3175">
                  <a:noFill/>
                </a:ln>
                <a:solidFill>
                  <a:schemeClr val="bg1"/>
                </a:solidFill>
                <a:latin typeface="Segoe Sans Display Semibold" pitchFamily="2" charset="0"/>
                <a:cs typeface="Segoe Sans Display Semibold" pitchFamily="2" charset="0"/>
                <a:hlinkClick r:id="rId4">
                  <a:extLst>
                    <a:ext uri="{A12FA001-AC4F-418D-AE19-62706E023703}">
                      <ahyp:hlinkClr xmlns:ahyp="http://schemas.microsoft.com/office/drawing/2018/hyperlinkcolor" val="tx"/>
                    </a:ext>
                  </a:extLst>
                </a:hlinkClick>
              </a:rPr>
              <a:t>https://aka.ms/WhatsNewCopilot</a:t>
            </a:r>
            <a:endParaRPr lang="en-BE" sz="2400" spc="-50">
              <a:ln w="3175">
                <a:noFill/>
              </a:ln>
              <a:solidFill>
                <a:schemeClr val="bg1"/>
              </a:solidFill>
              <a:latin typeface="Segoe Sans Display Semibold" pitchFamily="2" charset="0"/>
              <a:cs typeface="Segoe Sans Display Semibold" pitchFamily="2" charset="0"/>
            </a:endParaRPr>
          </a:p>
        </p:txBody>
      </p:sp>
    </p:spTree>
    <p:extLst>
      <p:ext uri="{BB962C8B-B14F-4D97-AF65-F5344CB8AC3E}">
        <p14:creationId xmlns:p14="http://schemas.microsoft.com/office/powerpoint/2010/main" val="3904688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42" presetClass="path" presetSubtype="0" decel="100000" fill="hold" grpId="1" nodeType="withEffect">
                                  <p:stCondLst>
                                    <p:cond delay="0"/>
                                  </p:stCondLst>
                                  <p:childTnLst>
                                    <p:animMotion origin="layout" path="M 0 1.85185E-6 L 0 0.03541 " pathEditMode="relative" rAng="0" ptsTypes="AA">
                                      <p:cBhvr>
                                        <p:cTn id="9" dur="1000" spd="-100000" fill="hold"/>
                                        <p:tgtEl>
                                          <p:spTgt spid="15"/>
                                        </p:tgtEl>
                                        <p:attrNameLst>
                                          <p:attrName>ppt_x</p:attrName>
                                          <p:attrName>ppt_y</p:attrName>
                                        </p:attrNameLst>
                                      </p:cBhvr>
                                      <p:rCtr x="0" y="1759"/>
                                    </p:animMotion>
                                  </p:childTnLst>
                                </p:cTn>
                              </p:par>
                              <p:par>
                                <p:cTn id="10" presetID="10" presetClass="entr" presetSubtype="0" fill="hold" nodeType="withEffect">
                                  <p:stCondLst>
                                    <p:cond delay="75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BC91-0B1D-5848-C2D3-476A982248E3}"/>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82EE8437-C010-152D-1D59-9A4E30052C5B}"/>
              </a:ext>
              <a:ext uri="{C183D7F6-B498-43B3-948B-1728B52AA6E4}">
                <adec:decorative xmlns:adec="http://schemas.microsoft.com/office/drawing/2017/decorative" val="1"/>
              </a:ext>
            </a:extLst>
          </p:cNvPr>
          <p:cNvSpPr/>
          <p:nvPr/>
        </p:nvSpPr>
        <p:spPr bwMode="auto">
          <a:xfrm>
            <a:off x="426424" y="2271408"/>
            <a:ext cx="5451861" cy="1976535"/>
          </a:xfrm>
          <a:prstGeom prst="roundRect">
            <a:avLst>
              <a:gd name="adj" fmla="val 3464"/>
            </a:avLst>
          </a:prstGeom>
          <a:gradFill>
            <a:gsLst>
              <a:gs pos="0">
                <a:srgbClr val="F0F0F0"/>
              </a:gs>
              <a:gs pos="84000">
                <a:srgbClr val="F9F9F9"/>
              </a:gs>
            </a:gsLst>
          </a:gradFill>
          <a:ln w="12700">
            <a:noFill/>
          </a:ln>
          <a:effectLst>
            <a:outerShdw blurRad="1270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914400" rIns="182880" rtlCol="0" anchor="t" anchorCtr="0">
            <a:noAutofit/>
          </a:bodyPr>
          <a:lstStyle/>
          <a:p>
            <a:pPr marL="0" marR="0" lvl="0" indent="0" algn="ctr" defTabSz="878527"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4" name="Title 3">
            <a:extLst>
              <a:ext uri="{FF2B5EF4-FFF2-40B4-BE49-F238E27FC236}">
                <a16:creationId xmlns:a16="http://schemas.microsoft.com/office/drawing/2014/main" id="{B4B7CDBE-1E79-52EF-B299-FB3020CE8379}"/>
              </a:ext>
            </a:extLst>
          </p:cNvPr>
          <p:cNvSpPr>
            <a:spLocks noGrp="1"/>
          </p:cNvSpPr>
          <p:nvPr>
            <p:ph type="title"/>
          </p:nvPr>
        </p:nvSpPr>
        <p:spPr>
          <a:xfrm>
            <a:off x="574815" y="545050"/>
            <a:ext cx="11018520" cy="430887"/>
          </a:xfrm>
        </p:spPr>
        <p:txBody>
          <a:bodyPr>
            <a:noAutofit/>
          </a:bodyPr>
          <a:lstStyle/>
          <a:p>
            <a:r>
              <a:rPr lang="en-US" sz="3200">
                <a:solidFill>
                  <a:schemeClr val="bg1"/>
                </a:solidFill>
                <a:latin typeface="Segoe Sans Display Semibold" pitchFamily="2" charset="0"/>
                <a:cs typeface="Segoe Sans Display Semibold" pitchFamily="2" charset="0"/>
              </a:rPr>
              <a:t>NEW! Level Up CSP Q3 technical lab series</a:t>
            </a:r>
          </a:p>
        </p:txBody>
      </p:sp>
      <p:sp>
        <p:nvSpPr>
          <p:cNvPr id="2" name="TextBox 1">
            <a:extLst>
              <a:ext uri="{FF2B5EF4-FFF2-40B4-BE49-F238E27FC236}">
                <a16:creationId xmlns:a16="http://schemas.microsoft.com/office/drawing/2014/main" id="{06D3F271-6AA2-6BCA-F874-5C7622C93433}"/>
              </a:ext>
            </a:extLst>
          </p:cNvPr>
          <p:cNvSpPr txBox="1"/>
          <p:nvPr/>
        </p:nvSpPr>
        <p:spPr>
          <a:xfrm>
            <a:off x="574815" y="971662"/>
            <a:ext cx="10567034" cy="369332"/>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Segoe Sans Display Semibold"/>
              </a:rPr>
              <a:t>Virtual hands on labs series (max 70 attendees, held in English) – first come first serve</a:t>
            </a:r>
            <a:endParaRPr kumimoji="0" lang="en-US" sz="1800" b="0" i="0" u="none" strike="noStrike" kern="1200" cap="none" spc="0" normalizeH="0" baseline="0" noProof="0" dirty="0">
              <a:ln>
                <a:noFill/>
              </a:ln>
              <a:solidFill>
                <a:schemeClr val="bg1"/>
              </a:solidFill>
              <a:effectLst/>
              <a:uLnTx/>
              <a:uFillTx/>
              <a:latin typeface="Segoe Sans Display"/>
              <a:ea typeface="+mn-ea"/>
              <a:cs typeface="+mn-cs"/>
            </a:endParaRPr>
          </a:p>
        </p:txBody>
      </p:sp>
      <p:sp>
        <p:nvSpPr>
          <p:cNvPr id="22" name="Rectangle: Rounded Corners 21">
            <a:extLst>
              <a:ext uri="{FF2B5EF4-FFF2-40B4-BE49-F238E27FC236}">
                <a16:creationId xmlns:a16="http://schemas.microsoft.com/office/drawing/2014/main" id="{0993C75F-AE75-338F-DBD7-6C14D2E889C5}"/>
              </a:ext>
              <a:ext uri="{C183D7F6-B498-43B3-948B-1728B52AA6E4}">
                <adec:decorative xmlns:adec="http://schemas.microsoft.com/office/drawing/2017/decorative" val="1"/>
              </a:ext>
            </a:extLst>
          </p:cNvPr>
          <p:cNvSpPr/>
          <p:nvPr/>
        </p:nvSpPr>
        <p:spPr bwMode="auto">
          <a:xfrm>
            <a:off x="6141475" y="2271408"/>
            <a:ext cx="5451861" cy="1976535"/>
          </a:xfrm>
          <a:prstGeom prst="roundRect">
            <a:avLst>
              <a:gd name="adj" fmla="val 3464"/>
            </a:avLst>
          </a:prstGeom>
          <a:gradFill>
            <a:gsLst>
              <a:gs pos="0">
                <a:srgbClr val="F0F0F0"/>
              </a:gs>
              <a:gs pos="84000">
                <a:srgbClr val="F9F9F9"/>
              </a:gs>
            </a:gsLst>
          </a:gradFill>
          <a:ln w="12700">
            <a:noFill/>
          </a:ln>
          <a:effectLst>
            <a:outerShdw blurRad="1270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914400" rIns="182880" rtlCol="0" anchor="t" anchorCtr="0">
            <a:noAutofit/>
          </a:bodyPr>
          <a:lstStyle/>
          <a:p>
            <a:pPr marL="0" marR="0" lvl="0" indent="0" algn="ctr" defTabSz="878527"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00000"/>
              </a:solidFill>
              <a:effectLst/>
              <a:uLnTx/>
              <a:uFillTx/>
              <a:latin typeface="Segoe UI Semibold"/>
              <a:ea typeface="+mn-ea"/>
              <a:cs typeface="+mn-cs"/>
            </a:endParaRPr>
          </a:p>
        </p:txBody>
      </p:sp>
      <p:grpSp>
        <p:nvGrpSpPr>
          <p:cNvPr id="10" name="Group 9">
            <a:extLst>
              <a:ext uri="{FF2B5EF4-FFF2-40B4-BE49-F238E27FC236}">
                <a16:creationId xmlns:a16="http://schemas.microsoft.com/office/drawing/2014/main" id="{C7896E88-8E27-8C96-41FB-5726824A6F0E}"/>
              </a:ext>
              <a:ext uri="{C183D7F6-B498-43B3-948B-1728B52AA6E4}">
                <adec:decorative xmlns:adec="http://schemas.microsoft.com/office/drawing/2017/decorative" val="1"/>
              </a:ext>
            </a:extLst>
          </p:cNvPr>
          <p:cNvGrpSpPr/>
          <p:nvPr/>
        </p:nvGrpSpPr>
        <p:grpSpPr>
          <a:xfrm>
            <a:off x="620899" y="2576813"/>
            <a:ext cx="142221" cy="178745"/>
            <a:chOff x="606485" y="2790031"/>
            <a:chExt cx="165867" cy="174040"/>
          </a:xfrm>
          <a:solidFill>
            <a:srgbClr val="0070C0"/>
          </a:solidFill>
        </p:grpSpPr>
        <p:sp>
          <p:nvSpPr>
            <p:cNvPr id="11" name="Arrow: Chevron 10">
              <a:extLst>
                <a:ext uri="{FF2B5EF4-FFF2-40B4-BE49-F238E27FC236}">
                  <a16:creationId xmlns:a16="http://schemas.microsoft.com/office/drawing/2014/main" id="{9B2FA18A-2E3E-67EC-9A7A-81DB984C866A}"/>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12" name="Arrow: Chevron 11">
              <a:extLst>
                <a:ext uri="{FF2B5EF4-FFF2-40B4-BE49-F238E27FC236}">
                  <a16:creationId xmlns:a16="http://schemas.microsoft.com/office/drawing/2014/main" id="{41B72B9C-1ED7-0216-5596-2E151C98AC04}"/>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grpSp>
        <p:nvGrpSpPr>
          <p:cNvPr id="13" name="Group 12">
            <a:extLst>
              <a:ext uri="{FF2B5EF4-FFF2-40B4-BE49-F238E27FC236}">
                <a16:creationId xmlns:a16="http://schemas.microsoft.com/office/drawing/2014/main" id="{0B6E5489-C462-5266-03DF-0065B7F2F80D}"/>
              </a:ext>
              <a:ext uri="{C183D7F6-B498-43B3-948B-1728B52AA6E4}">
                <adec:decorative xmlns:adec="http://schemas.microsoft.com/office/drawing/2017/decorative" val="1"/>
              </a:ext>
            </a:extLst>
          </p:cNvPr>
          <p:cNvGrpSpPr/>
          <p:nvPr/>
        </p:nvGrpSpPr>
        <p:grpSpPr>
          <a:xfrm>
            <a:off x="620899" y="3146633"/>
            <a:ext cx="142221" cy="178745"/>
            <a:chOff x="606485" y="2790031"/>
            <a:chExt cx="165867" cy="174040"/>
          </a:xfrm>
          <a:solidFill>
            <a:srgbClr val="0070C0"/>
          </a:solidFill>
        </p:grpSpPr>
        <p:sp>
          <p:nvSpPr>
            <p:cNvPr id="14" name="Arrow: Chevron 13">
              <a:extLst>
                <a:ext uri="{FF2B5EF4-FFF2-40B4-BE49-F238E27FC236}">
                  <a16:creationId xmlns:a16="http://schemas.microsoft.com/office/drawing/2014/main" id="{05E8CBE2-1F3C-6C1B-40FF-54BA4F8A76CE}"/>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15" name="Arrow: Chevron 14">
              <a:extLst>
                <a:ext uri="{FF2B5EF4-FFF2-40B4-BE49-F238E27FC236}">
                  <a16:creationId xmlns:a16="http://schemas.microsoft.com/office/drawing/2014/main" id="{E9AAD36C-3B40-C4ED-B934-635598D2FFB7}"/>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sp>
        <p:nvSpPr>
          <p:cNvPr id="17" name="TextBox 16">
            <a:extLst>
              <a:ext uri="{FF2B5EF4-FFF2-40B4-BE49-F238E27FC236}">
                <a16:creationId xmlns:a16="http://schemas.microsoft.com/office/drawing/2014/main" id="{BD5074C2-D52E-826F-51A4-5E5F381EE28B}"/>
              </a:ext>
            </a:extLst>
          </p:cNvPr>
          <p:cNvSpPr txBox="1"/>
          <p:nvPr/>
        </p:nvSpPr>
        <p:spPr>
          <a:xfrm>
            <a:off x="528712" y="1860858"/>
            <a:ext cx="530347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Segoe Sans Display Semibold"/>
                <a:ea typeface="+mn-ea"/>
                <a:cs typeface="+mn-cs"/>
              </a:rPr>
              <a:t>Security</a:t>
            </a:r>
            <a:endParaRPr kumimoji="0" lang="en-US" sz="2000" b="0" i="0" u="none" strike="noStrike" kern="1200" cap="none" spc="0" normalizeH="0" baseline="0" noProof="0" dirty="0">
              <a:ln>
                <a:noFill/>
              </a:ln>
              <a:solidFill>
                <a:srgbClr val="0070C0"/>
              </a:solidFill>
              <a:effectLst/>
              <a:uLnTx/>
              <a:uFillTx/>
              <a:latin typeface="Segoe Sans Display"/>
              <a:ea typeface="+mn-ea"/>
              <a:cs typeface="+mn-cs"/>
            </a:endParaRPr>
          </a:p>
        </p:txBody>
      </p:sp>
      <p:sp>
        <p:nvSpPr>
          <p:cNvPr id="41" name="TextBox 40">
            <a:extLst>
              <a:ext uri="{FF2B5EF4-FFF2-40B4-BE49-F238E27FC236}">
                <a16:creationId xmlns:a16="http://schemas.microsoft.com/office/drawing/2014/main" id="{A81A15E2-AAFE-35E9-2483-13A7BE01DCE8}"/>
              </a:ext>
            </a:extLst>
          </p:cNvPr>
          <p:cNvSpPr txBox="1"/>
          <p:nvPr/>
        </p:nvSpPr>
        <p:spPr>
          <a:xfrm>
            <a:off x="837525" y="2519192"/>
            <a:ext cx="5090739" cy="1446550"/>
          </a:xfrm>
          <a:prstGeom prst="rect">
            <a:avLst/>
          </a:prstGeom>
          <a:noFill/>
        </p:spPr>
        <p:txBody>
          <a:bodyPr wrap="square">
            <a:spAutoFit/>
          </a:bodyPr>
          <a:lstStyle/>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Segoe Sans Display"/>
                <a:ea typeface="+mn-ea"/>
                <a:cs typeface="+mn-cs"/>
              </a:rPr>
              <a:t>Apply data protection policies to prepare for Copilot</a:t>
            </a:r>
          </a:p>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lang="en-US" sz="1600" dirty="0">
                <a:solidFill>
                  <a:srgbClr val="000000"/>
                </a:solidFill>
                <a:latin typeface="Segoe Sans Display"/>
              </a:rPr>
              <a:t>Deploy and manage endpoints</a:t>
            </a:r>
            <a:endParaRPr kumimoji="0" lang="en-US" sz="1600" b="0" i="0" u="none" strike="noStrike" kern="1200" cap="none" spc="0" normalizeH="0" baseline="0" noProof="0" dirty="0">
              <a:ln>
                <a:noFill/>
              </a:ln>
              <a:solidFill>
                <a:srgbClr val="000000"/>
              </a:solidFill>
              <a:effectLst/>
              <a:uLnTx/>
              <a:uFillTx/>
              <a:latin typeface="Segoe Sans Display"/>
              <a:ea typeface="+mn-ea"/>
              <a:cs typeface="+mn-cs"/>
            </a:endParaRPr>
          </a:p>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lang="en-US" sz="1600" dirty="0">
                <a:solidFill>
                  <a:srgbClr val="000000"/>
                </a:solidFill>
                <a:latin typeface="Segoe Sans Display"/>
              </a:rPr>
              <a:t>Protect identities</a:t>
            </a:r>
            <a:endParaRPr kumimoji="0" lang="en-US" sz="16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38" name="TextBox 37">
            <a:extLst>
              <a:ext uri="{FF2B5EF4-FFF2-40B4-BE49-F238E27FC236}">
                <a16:creationId xmlns:a16="http://schemas.microsoft.com/office/drawing/2014/main" id="{055A425B-42CB-03A8-F5E5-D379FC20D069}"/>
              </a:ext>
            </a:extLst>
          </p:cNvPr>
          <p:cNvSpPr txBox="1"/>
          <p:nvPr/>
        </p:nvSpPr>
        <p:spPr>
          <a:xfrm>
            <a:off x="426423" y="4502548"/>
            <a:ext cx="5451860" cy="3693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Segoe Sans Display Semibold" pitchFamily="2" charset="0"/>
                <a:cs typeface="Segoe Sans Display Semibold" pitchFamily="2" charset="0"/>
              </a:rPr>
              <a:t>February 12 at 8:00am-12:00pm PT</a:t>
            </a:r>
          </a:p>
        </p:txBody>
      </p:sp>
      <p:sp>
        <p:nvSpPr>
          <p:cNvPr id="19" name="Rectangle: Rounded Corners 18">
            <a:extLst>
              <a:ext uri="{FF2B5EF4-FFF2-40B4-BE49-F238E27FC236}">
                <a16:creationId xmlns:a16="http://schemas.microsoft.com/office/drawing/2014/main" id="{BCED861A-BFE9-6335-FD11-0775B92E463C}"/>
              </a:ext>
            </a:extLst>
          </p:cNvPr>
          <p:cNvSpPr/>
          <p:nvPr/>
        </p:nvSpPr>
        <p:spPr bwMode="auto">
          <a:xfrm>
            <a:off x="708248" y="5045141"/>
            <a:ext cx="4735862" cy="467063"/>
          </a:xfrm>
          <a:prstGeom prst="roundRect">
            <a:avLst>
              <a:gd name="adj" fmla="val 45350"/>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Segoe Sans Display Semibold"/>
                <a:ea typeface="+mn-ea"/>
                <a:cs typeface="Segoe UI"/>
              </a:rPr>
              <a:t>Register at </a:t>
            </a:r>
            <a:r>
              <a:rPr kumimoji="0" lang="en-US" sz="1600" b="0" i="0" u="sng" strike="noStrike" kern="1200" cap="none" spc="0" normalizeH="0" baseline="0" noProof="0" dirty="0">
                <a:ln>
                  <a:noFill/>
                </a:ln>
                <a:solidFill>
                  <a:srgbClr val="FFFFFF"/>
                </a:solidFill>
                <a:effectLst/>
                <a:uLnTx/>
                <a:uFillTx/>
                <a:latin typeface="Segoe Sans Display Semibold"/>
                <a:ea typeface="+mn-ea"/>
                <a:cs typeface="Segoe UI"/>
              </a:rPr>
              <a:t>aka.ms/</a:t>
            </a:r>
            <a:r>
              <a:rPr lang="en-US" sz="1600" u="sng" dirty="0">
                <a:solidFill>
                  <a:srgbClr val="FFFFFF"/>
                </a:solidFill>
                <a:latin typeface="Segoe Sans Display Semibold"/>
                <a:cs typeface="Segoe UI"/>
              </a:rPr>
              <a:t>L</a:t>
            </a:r>
            <a:r>
              <a:rPr kumimoji="0" lang="en-US" sz="1600" b="0" i="0" u="sng" strike="noStrike" kern="1200" cap="none" spc="0" normalizeH="0" baseline="0" noProof="0" dirty="0" err="1">
                <a:ln>
                  <a:noFill/>
                </a:ln>
                <a:solidFill>
                  <a:srgbClr val="FFFFFF"/>
                </a:solidFill>
                <a:effectLst/>
                <a:uLnTx/>
                <a:uFillTx/>
                <a:latin typeface="Segoe Sans Display Semibold"/>
                <a:ea typeface="+mn-ea"/>
                <a:cs typeface="Segoe UI"/>
              </a:rPr>
              <a:t>evel</a:t>
            </a:r>
            <a:r>
              <a:rPr lang="en-US" sz="1600" u="sng" dirty="0">
                <a:solidFill>
                  <a:srgbClr val="FFFFFF"/>
                </a:solidFill>
                <a:latin typeface="Segoe Sans Display Semibold"/>
                <a:cs typeface="Segoe UI"/>
              </a:rPr>
              <a:t>U</a:t>
            </a:r>
            <a:r>
              <a:rPr kumimoji="0" lang="en-US" sz="1600" b="0" i="0" u="sng" strike="noStrike" kern="1200" cap="none" spc="0" normalizeH="0" baseline="0" noProof="0" dirty="0">
                <a:ln>
                  <a:noFill/>
                </a:ln>
                <a:solidFill>
                  <a:srgbClr val="FFFFFF"/>
                </a:solidFill>
                <a:effectLst/>
                <a:uLnTx/>
                <a:uFillTx/>
                <a:latin typeface="Segoe Sans Display Semibold"/>
                <a:ea typeface="+mn-ea"/>
                <a:cs typeface="Segoe UI"/>
              </a:rPr>
              <a:t>p</a:t>
            </a:r>
            <a:r>
              <a:rPr lang="en-US" sz="1600" u="sng" dirty="0">
                <a:solidFill>
                  <a:srgbClr val="FFFFFF"/>
                </a:solidFill>
                <a:latin typeface="Segoe Sans Display Semibold"/>
                <a:cs typeface="Segoe UI"/>
              </a:rPr>
              <a:t>l</a:t>
            </a:r>
            <a:r>
              <a:rPr kumimoji="0" lang="en-US" sz="1600" b="0" i="0" u="sng" strike="noStrike" kern="1200" cap="none" spc="0" normalizeH="0" baseline="0" noProof="0" dirty="0">
                <a:ln>
                  <a:noFill/>
                </a:ln>
                <a:solidFill>
                  <a:srgbClr val="FFFFFF"/>
                </a:solidFill>
                <a:effectLst/>
                <a:uLnTx/>
                <a:uFillTx/>
                <a:latin typeface="Segoe Sans Display Semibold"/>
                <a:ea typeface="+mn-ea"/>
                <a:cs typeface="Segoe UI"/>
              </a:rPr>
              <a:t>ab</a:t>
            </a:r>
            <a:r>
              <a:rPr lang="en-US" sz="1600" u="sng" dirty="0">
                <a:solidFill>
                  <a:srgbClr val="FFFFFF"/>
                </a:solidFill>
                <a:latin typeface="Segoe Sans Display Semibold"/>
                <a:cs typeface="Segoe UI"/>
              </a:rPr>
              <a:t>s</a:t>
            </a:r>
            <a:r>
              <a:rPr kumimoji="0" lang="en-US" sz="1600" b="0" i="0" u="sng" strike="noStrike" kern="1200" cap="none" spc="0" normalizeH="0" baseline="0" noProof="0" dirty="0" err="1">
                <a:ln>
                  <a:noFill/>
                </a:ln>
                <a:solidFill>
                  <a:srgbClr val="FFFFFF"/>
                </a:solidFill>
                <a:effectLst/>
                <a:uLnTx/>
                <a:uFillTx/>
                <a:latin typeface="Segoe Sans Display Semibold"/>
                <a:ea typeface="+mn-ea"/>
                <a:cs typeface="Segoe UI"/>
              </a:rPr>
              <a:t>ecurity</a:t>
            </a:r>
            <a:r>
              <a:rPr lang="en-US" sz="1600" u="sng" dirty="0">
                <a:solidFill>
                  <a:srgbClr val="FFFFFF"/>
                </a:solidFill>
                <a:latin typeface="Segoe Sans Display Semibold"/>
                <a:cs typeface="Segoe UI"/>
              </a:rPr>
              <a:t>s</a:t>
            </a:r>
            <a:r>
              <a:rPr kumimoji="0" lang="en-US" sz="1600" b="0" i="0" u="sng" strike="noStrike" kern="1200" cap="none" spc="0" normalizeH="0" baseline="0" noProof="0" dirty="0" err="1">
                <a:ln>
                  <a:noFill/>
                </a:ln>
                <a:solidFill>
                  <a:srgbClr val="FFFFFF"/>
                </a:solidFill>
                <a:effectLst/>
                <a:uLnTx/>
                <a:uFillTx/>
                <a:latin typeface="Segoe Sans Display Semibold"/>
                <a:ea typeface="+mn-ea"/>
                <a:cs typeface="Segoe UI"/>
              </a:rPr>
              <a:t>eries</a:t>
            </a:r>
            <a:endParaRPr kumimoji="0" lang="en-US" sz="1600" b="0" i="0" u="sng" strike="noStrike" kern="1200" cap="none" spc="0" normalizeH="0" baseline="0" noProof="0" dirty="0">
              <a:ln>
                <a:noFill/>
              </a:ln>
              <a:solidFill>
                <a:srgbClr val="FFFFFF"/>
              </a:solidFill>
              <a:effectLst/>
              <a:uLnTx/>
              <a:uFillTx/>
              <a:latin typeface="Segoe Sans Display Semibold"/>
              <a:ea typeface="+mn-ea"/>
              <a:cs typeface="Segoe UI"/>
            </a:endParaRPr>
          </a:p>
        </p:txBody>
      </p:sp>
      <p:grpSp>
        <p:nvGrpSpPr>
          <p:cNvPr id="23" name="Group 22">
            <a:extLst>
              <a:ext uri="{FF2B5EF4-FFF2-40B4-BE49-F238E27FC236}">
                <a16:creationId xmlns:a16="http://schemas.microsoft.com/office/drawing/2014/main" id="{60FC4B86-4839-EB97-2A8E-FE2113F89012}"/>
              </a:ext>
              <a:ext uri="{C183D7F6-B498-43B3-948B-1728B52AA6E4}">
                <adec:decorative xmlns:adec="http://schemas.microsoft.com/office/drawing/2017/decorative" val="1"/>
              </a:ext>
            </a:extLst>
          </p:cNvPr>
          <p:cNvGrpSpPr/>
          <p:nvPr/>
        </p:nvGrpSpPr>
        <p:grpSpPr>
          <a:xfrm>
            <a:off x="620899" y="3708416"/>
            <a:ext cx="142221" cy="178745"/>
            <a:chOff x="606485" y="2790031"/>
            <a:chExt cx="165867" cy="174040"/>
          </a:xfrm>
          <a:solidFill>
            <a:srgbClr val="0070C0"/>
          </a:solidFill>
        </p:grpSpPr>
        <p:sp>
          <p:nvSpPr>
            <p:cNvPr id="24" name="Arrow: Chevron 23">
              <a:extLst>
                <a:ext uri="{FF2B5EF4-FFF2-40B4-BE49-F238E27FC236}">
                  <a16:creationId xmlns:a16="http://schemas.microsoft.com/office/drawing/2014/main" id="{C1D29C2E-5FAF-F1C2-AD4C-FD011885BB1B}"/>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5" name="Arrow: Chevron 24">
              <a:extLst>
                <a:ext uri="{FF2B5EF4-FFF2-40B4-BE49-F238E27FC236}">
                  <a16:creationId xmlns:a16="http://schemas.microsoft.com/office/drawing/2014/main" id="{6AD80F32-9B33-67A6-55B7-3AE06FC85267}"/>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grpSp>
        <p:nvGrpSpPr>
          <p:cNvPr id="26" name="Group 25">
            <a:extLst>
              <a:ext uri="{FF2B5EF4-FFF2-40B4-BE49-F238E27FC236}">
                <a16:creationId xmlns:a16="http://schemas.microsoft.com/office/drawing/2014/main" id="{301CC7EF-CCB0-A618-3584-AB6F35AEFB34}"/>
              </a:ext>
              <a:ext uri="{C183D7F6-B498-43B3-948B-1728B52AA6E4}">
                <adec:decorative xmlns:adec="http://schemas.microsoft.com/office/drawing/2017/decorative" val="1"/>
              </a:ext>
            </a:extLst>
          </p:cNvPr>
          <p:cNvGrpSpPr/>
          <p:nvPr/>
        </p:nvGrpSpPr>
        <p:grpSpPr>
          <a:xfrm>
            <a:off x="6326951" y="2576813"/>
            <a:ext cx="142221" cy="178745"/>
            <a:chOff x="606485" y="2790031"/>
            <a:chExt cx="165867" cy="174040"/>
          </a:xfrm>
          <a:solidFill>
            <a:srgbClr val="0070C0"/>
          </a:solidFill>
        </p:grpSpPr>
        <p:sp>
          <p:nvSpPr>
            <p:cNvPr id="27" name="Arrow: Chevron 26">
              <a:extLst>
                <a:ext uri="{FF2B5EF4-FFF2-40B4-BE49-F238E27FC236}">
                  <a16:creationId xmlns:a16="http://schemas.microsoft.com/office/drawing/2014/main" id="{317C8529-E011-BFE4-1EFA-925055CCB9F2}"/>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8" name="Arrow: Chevron 27">
              <a:extLst>
                <a:ext uri="{FF2B5EF4-FFF2-40B4-BE49-F238E27FC236}">
                  <a16:creationId xmlns:a16="http://schemas.microsoft.com/office/drawing/2014/main" id="{E315521F-0D0A-DACA-A7BD-F72A8CE9862A}"/>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grpSp>
        <p:nvGrpSpPr>
          <p:cNvPr id="29" name="Group 28">
            <a:extLst>
              <a:ext uri="{FF2B5EF4-FFF2-40B4-BE49-F238E27FC236}">
                <a16:creationId xmlns:a16="http://schemas.microsoft.com/office/drawing/2014/main" id="{88708216-6217-3FC9-F7A1-969B70696E5D}"/>
              </a:ext>
              <a:ext uri="{C183D7F6-B498-43B3-948B-1728B52AA6E4}">
                <adec:decorative xmlns:adec="http://schemas.microsoft.com/office/drawing/2017/decorative" val="1"/>
              </a:ext>
            </a:extLst>
          </p:cNvPr>
          <p:cNvGrpSpPr/>
          <p:nvPr/>
        </p:nvGrpSpPr>
        <p:grpSpPr>
          <a:xfrm>
            <a:off x="6327528" y="3145395"/>
            <a:ext cx="142221" cy="178745"/>
            <a:chOff x="606485" y="2790031"/>
            <a:chExt cx="165867" cy="174040"/>
          </a:xfrm>
          <a:solidFill>
            <a:srgbClr val="0070C0"/>
          </a:solidFill>
        </p:grpSpPr>
        <p:sp>
          <p:nvSpPr>
            <p:cNvPr id="30" name="Arrow: Chevron 29">
              <a:extLst>
                <a:ext uri="{FF2B5EF4-FFF2-40B4-BE49-F238E27FC236}">
                  <a16:creationId xmlns:a16="http://schemas.microsoft.com/office/drawing/2014/main" id="{B94A972B-E192-E22E-1D12-0D4CA4A2DD5E}"/>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31" name="Arrow: Chevron 30">
              <a:extLst>
                <a:ext uri="{FF2B5EF4-FFF2-40B4-BE49-F238E27FC236}">
                  <a16:creationId xmlns:a16="http://schemas.microsoft.com/office/drawing/2014/main" id="{2006CBE9-5D76-75CF-E919-74811A032893}"/>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grpSp>
        <p:nvGrpSpPr>
          <p:cNvPr id="32" name="Group 31">
            <a:extLst>
              <a:ext uri="{FF2B5EF4-FFF2-40B4-BE49-F238E27FC236}">
                <a16:creationId xmlns:a16="http://schemas.microsoft.com/office/drawing/2014/main" id="{034C713D-E6FD-3820-1BCE-47F077910BCC}"/>
              </a:ext>
              <a:ext uri="{C183D7F6-B498-43B3-948B-1728B52AA6E4}">
                <adec:decorative xmlns:adec="http://schemas.microsoft.com/office/drawing/2017/decorative" val="1"/>
              </a:ext>
            </a:extLst>
          </p:cNvPr>
          <p:cNvGrpSpPr/>
          <p:nvPr/>
        </p:nvGrpSpPr>
        <p:grpSpPr>
          <a:xfrm>
            <a:off x="6327528" y="3708416"/>
            <a:ext cx="142221" cy="178745"/>
            <a:chOff x="606485" y="2790031"/>
            <a:chExt cx="165867" cy="174040"/>
          </a:xfrm>
          <a:solidFill>
            <a:srgbClr val="0070C0"/>
          </a:solidFill>
        </p:grpSpPr>
        <p:sp>
          <p:nvSpPr>
            <p:cNvPr id="33" name="Arrow: Chevron 32">
              <a:extLst>
                <a:ext uri="{FF2B5EF4-FFF2-40B4-BE49-F238E27FC236}">
                  <a16:creationId xmlns:a16="http://schemas.microsoft.com/office/drawing/2014/main" id="{169AE696-9520-289B-F526-B36FF5AF134B}"/>
                </a:ext>
              </a:extLst>
            </p:cNvPr>
            <p:cNvSpPr/>
            <p:nvPr/>
          </p:nvSpPr>
          <p:spPr bwMode="auto">
            <a:xfrm>
              <a:off x="672185" y="2790031"/>
              <a:ext cx="100167" cy="174040"/>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34" name="Arrow: Chevron 33">
              <a:extLst>
                <a:ext uri="{FF2B5EF4-FFF2-40B4-BE49-F238E27FC236}">
                  <a16:creationId xmlns:a16="http://schemas.microsoft.com/office/drawing/2014/main" id="{F79977D3-0A00-766E-CF38-7FC347F1732F}"/>
                </a:ext>
              </a:extLst>
            </p:cNvPr>
            <p:cNvSpPr/>
            <p:nvPr/>
          </p:nvSpPr>
          <p:spPr bwMode="auto">
            <a:xfrm>
              <a:off x="606485" y="2790031"/>
              <a:ext cx="100167" cy="174040"/>
            </a:xfrm>
            <a:prstGeom prst="chevron">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sp>
        <p:nvSpPr>
          <p:cNvPr id="18" name="TextBox 17">
            <a:extLst>
              <a:ext uri="{FF2B5EF4-FFF2-40B4-BE49-F238E27FC236}">
                <a16:creationId xmlns:a16="http://schemas.microsoft.com/office/drawing/2014/main" id="{5806F681-DD5C-F8BE-E207-8E3E80FD1915}"/>
              </a:ext>
            </a:extLst>
          </p:cNvPr>
          <p:cNvSpPr txBox="1"/>
          <p:nvPr/>
        </p:nvSpPr>
        <p:spPr>
          <a:xfrm>
            <a:off x="6313716" y="1860858"/>
            <a:ext cx="530347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0C0"/>
                </a:solidFill>
                <a:effectLst/>
                <a:uLnTx/>
                <a:uFillTx/>
                <a:latin typeface="Segoe Sans Display Semibold"/>
                <a:ea typeface="+mn-ea"/>
                <a:cs typeface="+mn-cs"/>
              </a:rPr>
              <a:t>Copilot Studio agents</a:t>
            </a:r>
            <a:endParaRPr kumimoji="0" lang="en-US" sz="2000" b="0" i="0" u="none" strike="noStrike" kern="1200" cap="none" spc="0" normalizeH="0" baseline="0" noProof="0">
              <a:ln>
                <a:noFill/>
              </a:ln>
              <a:solidFill>
                <a:srgbClr val="0070C0"/>
              </a:solidFill>
              <a:effectLst/>
              <a:uLnTx/>
              <a:uFillTx/>
              <a:latin typeface="Segoe Sans Display"/>
              <a:ea typeface="+mn-ea"/>
              <a:cs typeface="+mn-cs"/>
            </a:endParaRPr>
          </a:p>
        </p:txBody>
      </p:sp>
      <p:sp>
        <p:nvSpPr>
          <p:cNvPr id="44" name="TextBox 43">
            <a:extLst>
              <a:ext uri="{FF2B5EF4-FFF2-40B4-BE49-F238E27FC236}">
                <a16:creationId xmlns:a16="http://schemas.microsoft.com/office/drawing/2014/main" id="{86E47D41-FAA3-991C-396F-8810F46A3474}"/>
              </a:ext>
            </a:extLst>
          </p:cNvPr>
          <p:cNvSpPr txBox="1"/>
          <p:nvPr/>
        </p:nvSpPr>
        <p:spPr>
          <a:xfrm>
            <a:off x="6599468" y="2519192"/>
            <a:ext cx="5090739" cy="1446550"/>
          </a:xfrm>
          <a:prstGeom prst="rect">
            <a:avLst/>
          </a:prstGeom>
          <a:noFill/>
        </p:spPr>
        <p:txBody>
          <a:bodyPr wrap="square">
            <a:spAutoFit/>
          </a:bodyPr>
          <a:lstStyle/>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mn-cs"/>
              </a:rPr>
              <a:t>Build your first Copilot Studio agent</a:t>
            </a:r>
          </a:p>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mn-cs"/>
              </a:rPr>
              <a:t>Build </a:t>
            </a:r>
            <a:r>
              <a:rPr lang="en-US" sz="1600">
                <a:solidFill>
                  <a:srgbClr val="000000"/>
                </a:solidFill>
                <a:latin typeface="Segoe Sans Display"/>
              </a:rPr>
              <a:t>agents serving internal and external use cases</a:t>
            </a:r>
            <a:endParaRPr kumimoji="0" lang="en-US" sz="1600" b="0" i="0" u="none" strike="noStrike" kern="1200" cap="none" spc="0" normalizeH="0" baseline="0" noProof="0">
              <a:ln>
                <a:noFill/>
              </a:ln>
              <a:solidFill>
                <a:srgbClr val="000000"/>
              </a:solidFill>
              <a:effectLst/>
              <a:uLnTx/>
              <a:uFillTx/>
              <a:latin typeface="Segoe Sans Display"/>
              <a:ea typeface="+mn-ea"/>
              <a:cs typeface="+mn-cs"/>
            </a:endParaRPr>
          </a:p>
          <a:p>
            <a:pPr marL="0" marR="0" lvl="0" indent="0" algn="l" defTabSz="914192" rtl="0" eaLnBrk="1" fontAlgn="auto" latinLnBrk="0" hangingPunct="1">
              <a:lnSpc>
                <a:spcPct val="100000"/>
              </a:lnSpc>
              <a:spcBef>
                <a:spcPts val="1200"/>
              </a:spcBef>
              <a:spcAft>
                <a:spcPts val="1200"/>
              </a:spcAft>
              <a:buClrTx/>
              <a:buSzPct val="90000"/>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mn-cs"/>
              </a:rPr>
              <a:t>Technical best practices</a:t>
            </a:r>
          </a:p>
        </p:txBody>
      </p:sp>
      <p:sp>
        <p:nvSpPr>
          <p:cNvPr id="3" name="TextBox 2">
            <a:extLst>
              <a:ext uri="{FF2B5EF4-FFF2-40B4-BE49-F238E27FC236}">
                <a16:creationId xmlns:a16="http://schemas.microsoft.com/office/drawing/2014/main" id="{0721C701-09BB-F6B5-52DD-BC2775A1A3A1}"/>
              </a:ext>
            </a:extLst>
          </p:cNvPr>
          <p:cNvSpPr txBox="1"/>
          <p:nvPr/>
        </p:nvSpPr>
        <p:spPr>
          <a:xfrm>
            <a:off x="6141475" y="4500749"/>
            <a:ext cx="5451860" cy="3693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000000"/>
                </a:solidFill>
                <a:effectLst/>
                <a:uLnTx/>
                <a:uFillTx/>
                <a:latin typeface="Segoe Sans Display Semibold" pitchFamily="2" charset="0"/>
                <a:cs typeface="Segoe Sans Display Semibold" pitchFamily="2" charset="0"/>
              </a:rPr>
              <a:t>February 19 at 8:00am-12:00pm PT   </a:t>
            </a:r>
          </a:p>
        </p:txBody>
      </p:sp>
      <p:sp>
        <p:nvSpPr>
          <p:cNvPr id="5" name="Rectangle: Rounded Corners 4">
            <a:extLst>
              <a:ext uri="{FF2B5EF4-FFF2-40B4-BE49-F238E27FC236}">
                <a16:creationId xmlns:a16="http://schemas.microsoft.com/office/drawing/2014/main" id="{E0633840-F240-D0BC-FD45-AB36446C851F}"/>
              </a:ext>
            </a:extLst>
          </p:cNvPr>
          <p:cNvSpPr/>
          <p:nvPr/>
        </p:nvSpPr>
        <p:spPr bwMode="auto">
          <a:xfrm>
            <a:off x="6512148" y="5070541"/>
            <a:ext cx="4735862" cy="467063"/>
          </a:xfrm>
          <a:prstGeom prst="roundRect">
            <a:avLst>
              <a:gd name="adj" fmla="val 45350"/>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Segoe UI"/>
              </a:rPr>
              <a:t>Register at </a:t>
            </a:r>
            <a:r>
              <a:rPr kumimoji="0" lang="en-US" sz="1600" b="0" i="0" u="sng" strike="noStrike" kern="1200" cap="none" spc="0" normalizeH="0" baseline="0" noProof="0">
                <a:ln>
                  <a:noFill/>
                </a:ln>
                <a:solidFill>
                  <a:srgbClr val="FFFFFF"/>
                </a:solidFill>
                <a:effectLst/>
                <a:uLnTx/>
                <a:uFillTx/>
                <a:latin typeface="Segoe Sans Display Semibold"/>
                <a:ea typeface="+mn-ea"/>
                <a:cs typeface="Segoe UI"/>
              </a:rPr>
              <a:t>aka.ms/</a:t>
            </a:r>
            <a:r>
              <a:rPr lang="en-US" sz="1600" u="sng">
                <a:solidFill>
                  <a:srgbClr val="FFFFFF"/>
                </a:solidFill>
                <a:latin typeface="Segoe Sans Display Semibold"/>
                <a:cs typeface="Segoe UI"/>
              </a:rPr>
              <a:t>L</a:t>
            </a:r>
            <a:r>
              <a:rPr kumimoji="0" lang="en-US" sz="1600" b="0" i="0" u="sng" strike="noStrike" kern="1200" cap="none" spc="0" normalizeH="0" baseline="0" noProof="0" err="1">
                <a:ln>
                  <a:noFill/>
                </a:ln>
                <a:solidFill>
                  <a:srgbClr val="FFFFFF"/>
                </a:solidFill>
                <a:effectLst/>
                <a:uLnTx/>
                <a:uFillTx/>
                <a:latin typeface="Segoe Sans Display Semibold"/>
                <a:ea typeface="+mn-ea"/>
                <a:cs typeface="Segoe UI"/>
              </a:rPr>
              <a:t>evel</a:t>
            </a:r>
            <a:r>
              <a:rPr lang="en-US" sz="1600" u="sng">
                <a:solidFill>
                  <a:srgbClr val="FFFFFF"/>
                </a:solidFill>
                <a:latin typeface="Segoe Sans Display Semibold"/>
                <a:cs typeface="Segoe UI"/>
              </a:rPr>
              <a:t>U</a:t>
            </a:r>
            <a:r>
              <a:rPr kumimoji="0" lang="en-US" sz="1600" b="0" i="0" u="sng" strike="noStrike" kern="1200" cap="none" spc="0" normalizeH="0" baseline="0" noProof="0" err="1">
                <a:ln>
                  <a:noFill/>
                </a:ln>
                <a:solidFill>
                  <a:srgbClr val="FFFFFF"/>
                </a:solidFill>
                <a:effectLst/>
                <a:uLnTx/>
                <a:uFillTx/>
                <a:latin typeface="Segoe Sans Display Semibold"/>
                <a:ea typeface="+mn-ea"/>
                <a:cs typeface="Segoe UI"/>
              </a:rPr>
              <a:t>pLabagent</a:t>
            </a:r>
            <a:r>
              <a:rPr lang="en-US" sz="1600" u="sng">
                <a:solidFill>
                  <a:srgbClr val="FFFFFF"/>
                </a:solidFill>
                <a:latin typeface="Segoe Sans Display Semibold"/>
                <a:cs typeface="Segoe UI"/>
              </a:rPr>
              <a:t>s</a:t>
            </a:r>
            <a:r>
              <a:rPr kumimoji="0" lang="en-US" sz="1600" b="0" i="0" u="sng" strike="noStrike" kern="1200" cap="none" spc="0" normalizeH="0" baseline="0" noProof="0" err="1">
                <a:ln>
                  <a:noFill/>
                </a:ln>
                <a:solidFill>
                  <a:srgbClr val="FFFFFF"/>
                </a:solidFill>
                <a:effectLst/>
                <a:uLnTx/>
                <a:uFillTx/>
                <a:latin typeface="Segoe Sans Display Semibold"/>
                <a:ea typeface="+mn-ea"/>
                <a:cs typeface="Segoe UI"/>
              </a:rPr>
              <a:t>eries</a:t>
            </a:r>
            <a:endParaRPr kumimoji="0" lang="en-US" sz="1600" b="0" i="0" u="sng" strike="noStrike" kern="1200" cap="none" spc="0" normalizeH="0" baseline="0" noProof="0">
              <a:ln>
                <a:noFill/>
              </a:ln>
              <a:solidFill>
                <a:srgbClr val="FFFFFF"/>
              </a:solidFill>
              <a:effectLst/>
              <a:uLnTx/>
              <a:uFillTx/>
              <a:latin typeface="Segoe Sans Display Semibold"/>
              <a:ea typeface="+mn-ea"/>
              <a:cs typeface="Segoe UI"/>
            </a:endParaRPr>
          </a:p>
        </p:txBody>
      </p:sp>
    </p:spTree>
    <p:extLst>
      <p:ext uri="{BB962C8B-B14F-4D97-AF65-F5344CB8AC3E}">
        <p14:creationId xmlns:p14="http://schemas.microsoft.com/office/powerpoint/2010/main" val="4223644090"/>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66F326CB0CFF4A9ECF2C5724B94906" ma:contentTypeVersion="18" ma:contentTypeDescription="Create a new document." ma:contentTypeScope="" ma:versionID="a5093eafb45b47850ce369ab07844b36">
  <xsd:schema xmlns:xsd="http://www.w3.org/2001/XMLSchema" xmlns:xs="http://www.w3.org/2001/XMLSchema" xmlns:p="http://schemas.microsoft.com/office/2006/metadata/properties" xmlns:ns1="http://schemas.microsoft.com/sharepoint/v3" xmlns:ns2="c9a53aed-14ce-4a99-8e0f-e45df5b5b343" xmlns:ns3="adffc8b4-b225-47f8-8a09-42c05175ba6a" targetNamespace="http://schemas.microsoft.com/office/2006/metadata/properties" ma:root="true" ma:fieldsID="2d7beec1a2e895b59de57b39909e7a5a" ns1:_="" ns2:_="" ns3:_="">
    <xsd:import namespace="http://schemas.microsoft.com/sharepoint/v3"/>
    <xsd:import namespace="c9a53aed-14ce-4a99-8e0f-e45df5b5b343"/>
    <xsd:import namespace="adffc8b4-b225-47f8-8a09-42c05175ba6a"/>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1:_ip_UnifiedCompliancePolicyProperties" minOccurs="0"/>
                <xsd:element ref="ns1:_ip_UnifiedCompliancePolicyUIAction"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9a53aed-14ce-4a99-8e0f-e45df5b5b3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ffc8b4-b225-47f8-8a09-42c05175ba6a"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20aec06-7299-46a9-86f9-b5350cfe59c4}" ma:internalName="TaxCatchAll" ma:showField="CatchAllData" ma:web="adffc8b4-b225-47f8-8a09-42c05175ba6a">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dffc8b4-b225-47f8-8a09-42c05175ba6a" xsi:nil="true"/>
    <_ip_UnifiedCompliancePolicyUIAction xmlns="http://schemas.microsoft.com/sharepoint/v3" xsi:nil="true"/>
    <_ip_UnifiedCompliancePolicyProperties xmlns="http://schemas.microsoft.com/sharepoint/v3" xsi:nil="true"/>
    <lcf76f155ced4ddcb4097134ff3c332f xmlns="c9a53aed-14ce-4a99-8e0f-e45df5b5b3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27858F-E956-438F-8D70-73F3933AE7B9}"/>
</file>

<file path=customXml/itemProps2.xml><?xml version="1.0" encoding="utf-8"?>
<ds:datastoreItem xmlns:ds="http://schemas.openxmlformats.org/officeDocument/2006/customXml" ds:itemID="{D748D729-61CC-408C-89EA-94C934F7C323}"/>
</file>

<file path=customXml/itemProps3.xml><?xml version="1.0" encoding="utf-8"?>
<ds:datastoreItem xmlns:ds="http://schemas.openxmlformats.org/officeDocument/2006/customXml" ds:itemID="{6D9D45AA-64D1-4A67-BF9E-A2B8EB436225}"/>
</file>

<file path=docProps/app.xml><?xml version="1.0" encoding="utf-8"?>
<Properties xmlns="http://schemas.openxmlformats.org/officeDocument/2006/extended-properties" xmlns:vt="http://schemas.openxmlformats.org/officeDocument/2006/docPropsVTypes">
  <TotalTime>1</TotalTime>
  <Words>5776</Words>
  <Application>Microsoft Office PowerPoint</Application>
  <PresentationFormat>Widescreen</PresentationFormat>
  <Paragraphs>1072</Paragraphs>
  <Slides>90</Slides>
  <Notes>90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90</vt:i4>
      </vt:variant>
    </vt:vector>
  </HeadingPairs>
  <TitlesOfParts>
    <vt:vector size="106" baseType="lpstr">
      <vt:lpstr>Aptos</vt:lpstr>
      <vt:lpstr>Aptos Display</vt:lpstr>
      <vt:lpstr>Arial</vt:lpstr>
      <vt:lpstr>Calibri</vt:lpstr>
      <vt:lpstr>Consolas</vt:lpstr>
      <vt:lpstr>Lucida Console</vt:lpstr>
      <vt:lpstr>Segoe Sans Display</vt:lpstr>
      <vt:lpstr>Segoe Sans Display Semibold</vt:lpstr>
      <vt:lpstr>Segoe Sans Text Semibold</vt:lpstr>
      <vt:lpstr>Segoe UI</vt:lpstr>
      <vt:lpstr>Segoe UI </vt:lpstr>
      <vt:lpstr>Segoe UI Semibold</vt:lpstr>
      <vt:lpstr>Segoe UI Variable Small Semibol</vt:lpstr>
      <vt:lpstr>Times New Roman</vt:lpstr>
      <vt:lpstr>Wingdings</vt:lpstr>
      <vt:lpstr>Office Theme</vt:lpstr>
      <vt:lpstr>Secure Data II: Data Protection &amp; Governance</vt:lpstr>
      <vt:lpstr>Securing Against External Threats Reducing Risk Within Your Organization    </vt:lpstr>
      <vt:lpstr>Handling Oversharing</vt:lpstr>
      <vt:lpstr>Oversharing Agenda</vt:lpstr>
      <vt:lpstr>Oversharing Agenda </vt:lpstr>
      <vt:lpstr>1</vt:lpstr>
      <vt:lpstr>2</vt:lpstr>
      <vt:lpstr>3</vt:lpstr>
      <vt:lpstr>How Copilot gets access to content</vt:lpstr>
      <vt:lpstr>Microsoft Copilot for Microsoft 365 architecture and content retrieval</vt:lpstr>
      <vt:lpstr>Microsoft Copilot for Microsoft 365 architecture and content retrieval </vt:lpstr>
      <vt:lpstr>Microsoft Copilot for Microsoft 365 architecture and content retrieval  </vt:lpstr>
      <vt:lpstr>Microsoft Copilot for Microsoft 365 architecture and content retrieval   </vt:lpstr>
      <vt:lpstr>Microsoft Copilot for Microsoft 365 architecture and content retrieva l</vt:lpstr>
      <vt:lpstr>Microsoft Copilot for Microsoft 365 architecture and content retrieval    </vt:lpstr>
      <vt:lpstr>Internal oversharing: Too much access and too few controls</vt:lpstr>
      <vt:lpstr>Oversharing is a biproduct of collaboration</vt:lpstr>
      <vt:lpstr>Common causes of Copilot oversharing in SharePoint</vt:lpstr>
      <vt:lpstr>Two powerful tools to oversharing  </vt:lpstr>
      <vt:lpstr>Oversharing Agenda  </vt:lpstr>
      <vt:lpstr>Address internal user oversharing concerns for M365 Copilot deployment</vt:lpstr>
      <vt:lpstr>Microsoft deployment blueprint to address  internal oversharing in Microsoft 365 Copilot</vt:lpstr>
      <vt:lpstr>Address internal oversharing concerns in Microsoft 365 Copilot </vt:lpstr>
      <vt:lpstr>Oversharing Agenda   </vt:lpstr>
      <vt:lpstr>Restricted SharePoint Search</vt:lpstr>
      <vt:lpstr>Which data can Copilot still retrieve &amp; use with RSS enabled? </vt:lpstr>
      <vt:lpstr>Enable SharePoint Restricted Search</vt:lpstr>
      <vt:lpstr>End-User Experience</vt:lpstr>
      <vt:lpstr>Restricted SharePoint Search - Key Takeaways</vt:lpstr>
      <vt:lpstr>Oversharing Agenda    </vt:lpstr>
      <vt:lpstr>Govern Copilot content access and quality with SAM</vt:lpstr>
      <vt:lpstr>SharePoint Advanced Management capabilities</vt:lpstr>
      <vt:lpstr>Oversharing control: Permission State Report with Actions</vt:lpstr>
      <vt:lpstr>Permission State Report [DEMO]</vt:lpstr>
      <vt:lpstr>Permission State Report [DEMO]   </vt:lpstr>
      <vt:lpstr>Permission State Report [DEMO] </vt:lpstr>
      <vt:lpstr>Permission State Report [DEMO]  </vt:lpstr>
      <vt:lpstr>5</vt:lpstr>
      <vt:lpstr>6</vt:lpstr>
      <vt:lpstr>7</vt:lpstr>
      <vt:lpstr>Site Access Review [DEMO]    </vt:lpstr>
      <vt:lpstr>Site Access Review [DEMO]</vt:lpstr>
      <vt:lpstr>Restricted Access Control (RAC)</vt:lpstr>
      <vt:lpstr>8 </vt:lpstr>
      <vt:lpstr>Restricted Content Discovery (RCD)</vt:lpstr>
      <vt:lpstr>RCD [DEMO]</vt:lpstr>
      <vt:lpstr>10</vt:lpstr>
      <vt:lpstr>11</vt:lpstr>
      <vt:lpstr>Oversharing Agenda     </vt:lpstr>
      <vt:lpstr>Microsoft Purview’s solutions  help you secure your AI data like never before </vt:lpstr>
      <vt:lpstr>Microsoft Purview’s solutions  help you secure your AI data like never before</vt:lpstr>
      <vt:lpstr>Microsoft Purview’s solutions  help you secure your AI data like never before  </vt:lpstr>
      <vt:lpstr>Addressing oversharing at file level with Purview</vt:lpstr>
      <vt:lpstr>Identify and mitigate risks related to AI usage</vt:lpstr>
      <vt:lpstr>Exclude sensitive files from Copilot processing</vt:lpstr>
      <vt:lpstr>12</vt:lpstr>
      <vt:lpstr>13</vt:lpstr>
      <vt:lpstr>14</vt:lpstr>
      <vt:lpstr>15</vt:lpstr>
      <vt:lpstr>16</vt:lpstr>
      <vt:lpstr>18</vt:lpstr>
      <vt:lpstr>20</vt:lpstr>
      <vt:lpstr>23</vt:lpstr>
      <vt:lpstr>24</vt:lpstr>
      <vt:lpstr>25</vt:lpstr>
      <vt:lpstr>26</vt:lpstr>
      <vt:lpstr>27</vt:lpstr>
      <vt:lpstr>28</vt:lpstr>
      <vt:lpstr>30</vt:lpstr>
      <vt:lpstr>32</vt:lpstr>
      <vt:lpstr>33</vt:lpstr>
      <vt:lpstr>Microsoft deployment blueprint to address  internal oversharing in Microsoft 365 Copilot </vt:lpstr>
      <vt:lpstr>Become Copilot Ready</vt:lpstr>
      <vt:lpstr>Microsoft 365 Security Features BP, E3, &amp; Add-ons Building a Secure Foundation for Microsoft Copilot </vt:lpstr>
      <vt:lpstr>Microsoft 365 Security Features BP, E3, &amp; Add-ons Building a Secure Foundation for Microsoft Copilot  </vt:lpstr>
      <vt:lpstr>Deploy Copilot Blueprint and tools to deploy Copilot with your customers</vt:lpstr>
      <vt:lpstr>Microsoft 365 Security Features BP, E3, &amp; Add-ons Building a Secure Foundation for Microsoft Copilot   </vt:lpstr>
      <vt:lpstr>The secure productivity foundations for Copilot</vt:lpstr>
      <vt:lpstr>Becoming Copilot Ready Layered Security</vt:lpstr>
      <vt:lpstr>Secure and govern Copilot with Microsoft Security</vt:lpstr>
      <vt:lpstr>Additional offerings for small and medium businesses</vt:lpstr>
      <vt:lpstr>Resources </vt:lpstr>
      <vt:lpstr>Links to learn more (1 of 2)</vt:lpstr>
      <vt:lpstr>Links to learn more (2 of 2)</vt:lpstr>
      <vt:lpstr>Utilizing the Security Managed Services Partner Kit</vt:lpstr>
      <vt:lpstr>New security managed services partner kit</vt:lpstr>
      <vt:lpstr>Learn more</vt:lpstr>
      <vt:lpstr>Session resources</vt:lpstr>
      <vt:lpstr>Copilot for Microsoft 365 Monthly updates for partners!</vt:lpstr>
      <vt:lpstr>NEW! Level Up CSP Q3 technical lab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Yeager</dc:creator>
  <cp:lastModifiedBy>Lisa  Yeager</cp:lastModifiedBy>
  <cp:revision>1</cp:revision>
  <dcterms:created xsi:type="dcterms:W3CDTF">2025-02-24T20:01:42Z</dcterms:created>
  <dcterms:modified xsi:type="dcterms:W3CDTF">2025-02-24T20:03:08Z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0x0101002366F326CB0CFF4A9ECF2C5724B94906</vt:lpwstr>
  </property>
</Properties>
</file>