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2.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9" r:id="rId4"/>
  </p:sldMasterIdLst>
  <p:notesMasterIdLst>
    <p:notesMasterId r:id="rId31"/>
  </p:notesMasterIdLst>
  <p:sldIdLst>
    <p:sldId id="2147477561" r:id="rId5"/>
    <p:sldId id="2147483619" r:id="rId6"/>
    <p:sldId id="300" r:id="rId7"/>
    <p:sldId id="301" r:id="rId8"/>
    <p:sldId id="302" r:id="rId9"/>
    <p:sldId id="277" r:id="rId10"/>
    <p:sldId id="2147483616" r:id="rId11"/>
    <p:sldId id="285" r:id="rId12"/>
    <p:sldId id="282" r:id="rId13"/>
    <p:sldId id="2147483620" r:id="rId14"/>
    <p:sldId id="286" r:id="rId15"/>
    <p:sldId id="2147483621" r:id="rId16"/>
    <p:sldId id="299" r:id="rId17"/>
    <p:sldId id="2147483623" r:id="rId18"/>
    <p:sldId id="2147481051" r:id="rId19"/>
    <p:sldId id="2147481057" r:id="rId20"/>
    <p:sldId id="2147483624" r:id="rId21"/>
    <p:sldId id="2147481054" r:id="rId22"/>
    <p:sldId id="2147481055" r:id="rId23"/>
    <p:sldId id="2147483625" r:id="rId24"/>
    <p:sldId id="2147483628" r:id="rId25"/>
    <p:sldId id="2147483629" r:id="rId26"/>
    <p:sldId id="440" r:id="rId27"/>
    <p:sldId id="270" r:id="rId28"/>
    <p:sldId id="2147483617" r:id="rId29"/>
    <p:sldId id="2147483627"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6830682-F6CC-4B2A-A59A-B2F40B522932}">
          <p14:sldIdLst>
            <p14:sldId id="2147477561"/>
            <p14:sldId id="2147483619"/>
          </p14:sldIdLst>
        </p14:section>
        <p14:section name="Why Change Management Matters" id="{D4C8338F-27E7-4BF4-8279-CBB6D1764DCD}">
          <p14:sldIdLst>
            <p14:sldId id="300"/>
            <p14:sldId id="301"/>
            <p14:sldId id="302"/>
          </p14:sldIdLst>
        </p14:section>
        <p14:section name="What is Change Management" id="{924349FA-44E5-426E-850F-A474330CC562}">
          <p14:sldIdLst>
            <p14:sldId id="277"/>
            <p14:sldId id="2147483616"/>
            <p14:sldId id="285"/>
            <p14:sldId id="282"/>
          </p14:sldIdLst>
        </p14:section>
        <p14:section name="Ownership" id="{FC01A737-0830-4C0E-B082-10F0BC521284}">
          <p14:sldIdLst>
            <p14:sldId id="2147483620"/>
            <p14:sldId id="286"/>
          </p14:sldIdLst>
        </p14:section>
        <p14:section name="Release Rings (Strategy)" id="{62772646-E95D-4729-8AA9-A49495058558}">
          <p14:sldIdLst>
            <p14:sldId id="2147483621"/>
            <p14:sldId id="299"/>
          </p14:sldIdLst>
        </p14:section>
        <p14:section name="Communication" id="{7E0F5F09-5582-4EEB-A3BB-14CBC16ECD3C}">
          <p14:sldIdLst>
            <p14:sldId id="2147483623"/>
            <p14:sldId id="2147481051"/>
            <p14:sldId id="2147481057"/>
          </p14:sldIdLst>
        </p14:section>
        <p14:section name="Skilling" id="{15D7DDDA-02D0-4C1B-8BAB-EFC87F285124}">
          <p14:sldIdLst>
            <p14:sldId id="2147483624"/>
            <p14:sldId id="2147481054"/>
            <p14:sldId id="2147481055"/>
          </p14:sldIdLst>
        </p14:section>
        <p14:section name="Customer Examples" id="{20AE51FF-F5DE-45AF-B4BA-3DEF95AD3CB8}">
          <p14:sldIdLst>
            <p14:sldId id="2147483625"/>
            <p14:sldId id="2147483628"/>
            <p14:sldId id="2147483629"/>
          </p14:sldIdLst>
        </p14:section>
        <p14:section name="Get Started" id="{40426878-EBE9-4007-8CA2-087C8464A93D}">
          <p14:sldIdLst>
            <p14:sldId id="440"/>
            <p14:sldId id="270"/>
            <p14:sldId id="2147483617"/>
            <p14:sldId id="214748362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030DC19-90BB-4F1E-0062-4F35FA699C44}" name="Clinton Bowman" initials="CB" userId="S::clbowman@microsoft.com::d576ffc9-78b1-4b8c-825c-b98cae748c41" providerId="AD"/>
  <p188:author id="{27ABD63E-623A-9426-1AA2-E93150B6E12F}" name="Joe Unwin" initials="JU" userId="S::unwinjoe@microsoft.com::b6081db6-9f8f-4a55-8af6-258c07072c96" providerId="AD"/>
  <p188:author id="{8CCDF05C-9913-2C10-7BD5-0DD63B55DE99}" name="Vid Chari" initials="" userId="S::vichari@microsoft.com::9217d3af-3a1e-4c18-ba25-206cd1ddbcf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C8E"/>
    <a:srgbClr val="171B24"/>
    <a:srgbClr val="FFB3BB"/>
    <a:srgbClr val="EFF0EF"/>
    <a:srgbClr val="FAFAFA"/>
    <a:srgbClr val="F2F2F2"/>
    <a:srgbClr val="F2958E"/>
    <a:srgbClr val="AAACEF"/>
    <a:srgbClr val="84C2F4"/>
    <a:srgbClr val="E185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938" autoAdjust="0"/>
  </p:normalViewPr>
  <p:slideViewPr>
    <p:cSldViewPr snapToGrid="0">
      <p:cViewPr varScale="1">
        <p:scale>
          <a:sx n="92" d="100"/>
          <a:sy n="92" d="100"/>
        </p:scale>
        <p:origin x="4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AEE606-4927-4077-8B85-4EBB4693CC26}"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B03E93-7F70-4AD4-B1C3-0F482D804905}" type="slidenum">
              <a:rPr lang="en-US" smtClean="0"/>
              <a:t>‹#›</a:t>
            </a:fld>
            <a:endParaRPr lang="en-US"/>
          </a:p>
        </p:txBody>
      </p:sp>
    </p:spTree>
    <p:extLst>
      <p:ext uri="{BB962C8B-B14F-4D97-AF65-F5344CB8AC3E}">
        <p14:creationId xmlns:p14="http://schemas.microsoft.com/office/powerpoint/2010/main" val="533356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microsoft.com/en/customers/story/25909-heineken-microsoft-copilot-studio#project-details-section"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microsoft.com/en-us/power-platform/blog/power-apps/lumen-optimizes-processes-by-90-and-scales-innovation-across-the-organization-with-managed-environments/?msockid=191f0d484f5e608e272519ba4e73615b"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323130"/>
                </a:solidFill>
                <a:latin typeface="Segoe UI" panose="020B0502040204020203" pitchFamily="34" charset="0"/>
              </a:rPr>
              <a:t>Presenter note: This slide is for your reference only, do not display to the audience. Before presenting, review the usage guidance carefully. This deck is designed as baseline slides within a broader Microsoft Modern Work &amp; Business Applications conversation, not as a standalone pitch. Adapt the talk track to your specific audience's context. Always share as PDF with customers and prevent notes from being visible.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501081-E19D-419D-B0AB-F3E6317950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2124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txBody>
          <a:bodyPr/>
          <a:lstStyle/>
          <a:p>
            <a:endParaRPr lang="en-US"/>
          </a:p>
        </p:txBody>
      </p:sp>
      <p:sp>
        <p:nvSpPr>
          <p:cNvPr id="3" name="Notes Placeholder 2"/>
          <p:cNvSpPr>
            <a:spLocks noGrp="1"/>
          </p:cNvSpPr>
          <p:nvPr>
            <p:ph type="body" idx="1"/>
          </p:nvPr>
        </p:nvSpPr>
        <p:spPr/>
        <p:txBody>
          <a:bodyPr/>
          <a:lstStyle/>
          <a:p>
            <a:endParaRPr lang="en-US" dirty="0">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7EBF2EA-E578-431E-BD5B-A94F6E005AD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2025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57DF4-2ECC-28FD-DD90-E8E1663881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C6BE9C-B037-45EA-670E-FBD30AC4189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86D08CB-F319-E2B9-01D4-28B0A3EBD95A}"/>
              </a:ext>
            </a:extLst>
          </p:cNvPr>
          <p:cNvSpPr>
            <a:spLocks noGrp="1"/>
          </p:cNvSpPr>
          <p:nvPr>
            <p:ph type="body" idx="1"/>
          </p:nvPr>
        </p:nvSpPr>
        <p:spPr/>
        <p:txBody>
          <a:bodyPr/>
          <a:lstStyle/>
          <a:p>
            <a:pPr algn="l"/>
            <a:r>
              <a:rPr lang="en-US" sz="1200">
                <a:solidFill>
                  <a:srgbClr val="323130"/>
                </a:solidFill>
                <a:latin typeface="Segoe UI" panose="020B0502040204020203" pitchFamily="34" charset="0"/>
              </a:rPr>
              <a:t>The nature of Change Management has evolved substantially from being a capability focused heavily on control, to enabling rapid evolution while maintaining strategic innovation and mitigating risks. </a:t>
            </a:r>
          </a:p>
          <a:p>
            <a:pPr algn="l"/>
            <a:endParaRPr lang="en-US" sz="1200">
              <a:solidFill>
                <a:srgbClr val="323130"/>
              </a:solidFill>
              <a:latin typeface="Segoe UI" panose="020B0502040204020203" pitchFamily="34" charset="0"/>
            </a:endParaRPr>
          </a:p>
          <a:p>
            <a:pPr algn="l"/>
            <a:r>
              <a:rPr lang="en-US" sz="1200">
                <a:solidFill>
                  <a:srgbClr val="323130"/>
                </a:solidFill>
                <a:latin typeface="Segoe UI" panose="020B0502040204020203" pitchFamily="34" charset="0"/>
              </a:rPr>
              <a:t>The purpose of Change Management is to enable and maximize the successful evolution of services and products by applying the appropriate level or control to minimize risks. </a:t>
            </a:r>
          </a:p>
          <a:p>
            <a:pPr algn="l"/>
            <a:endParaRPr lang="en-US" sz="1200">
              <a:solidFill>
                <a:srgbClr val="323130"/>
              </a:solidFill>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323130"/>
                </a:solidFill>
                <a:latin typeface="Segoe UI" panose="020B0502040204020203" pitchFamily="34" charset="0"/>
              </a:rPr>
              <a:t>Key message to emphasize</a:t>
            </a:r>
            <a:r>
              <a:rPr lang="en-US" sz="1200">
                <a:solidFill>
                  <a:srgbClr val="323130"/>
                </a:solidFill>
                <a:latin typeface="Segoe UI" panose="020B0502040204020203" pitchFamily="34" charset="0"/>
              </a:rPr>
              <a:t>: Change management is no longer just about slowing things down to review them; it's about creating the right frameworks so innovation can accelerate safely. The organizations that get this right don't choose between speed and control. They build systems where both coexist.</a:t>
            </a:r>
          </a:p>
        </p:txBody>
      </p:sp>
      <p:sp>
        <p:nvSpPr>
          <p:cNvPr id="4" name="Slide Number Placeholder 3">
            <a:extLst>
              <a:ext uri="{FF2B5EF4-FFF2-40B4-BE49-F238E27FC236}">
                <a16:creationId xmlns:a16="http://schemas.microsoft.com/office/drawing/2014/main" id="{F950A9E5-7302-DC0D-4341-BDD4991897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03D966-0B73-714A-AABC-5EE428DD18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8331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a:t>In the cloud service innovation is continuous and needs to be managed differently.</a:t>
            </a:r>
          </a:p>
          <a:p>
            <a:pPr marL="171450" indent="-171450">
              <a:buFont typeface="Arial" panose="020B0604020202020204" pitchFamily="34" charset="0"/>
              <a:buChar char="•"/>
            </a:pPr>
            <a:r>
              <a:rPr lang="en-US"/>
              <a:t>Customers need to understand how services are used and become advocates of productivity within the organization.</a:t>
            </a:r>
          </a:p>
          <a:p>
            <a:pPr marL="171450" indent="-171450">
              <a:buFont typeface="Arial" panose="020B0604020202020204" pitchFamily="34" charset="0"/>
              <a:buChar char="•"/>
            </a:pPr>
            <a:r>
              <a:rPr lang="en-US"/>
              <a:t>In the cloud, managing change is an evergreen program delivering continuous innovation to end users.</a:t>
            </a:r>
          </a:p>
          <a:p>
            <a:pPr marL="171450" indent="-171450">
              <a:buFont typeface="Arial" panose="020B0604020202020204" pitchFamily="34" charset="0"/>
              <a:buChar char="•"/>
            </a:pPr>
            <a:endParaRPr lang="en-US"/>
          </a:p>
          <a:p>
            <a:pPr marL="0" indent="0">
              <a:buFont typeface="Arial" panose="020B0604020202020204" pitchFamily="34" charset="0"/>
              <a:buNone/>
            </a:pPr>
            <a:r>
              <a:rPr lang="en-US"/>
              <a:t>Reinforce the scale of the opportunity: the tools to build agents are more accessible than ever. Citizen developers, business users, and professional developers are all building -- and that's a good thing. The challenge is making sure that democratized creation doesn't turn into unmanaged sprawl.</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5/6/2026 12:19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3579601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With a huge growth of agents, it becomes challenging for companies to manage and govern all of them securely. This poses two main risks. </a:t>
            </a:r>
          </a:p>
          <a:p>
            <a:endParaRPr lang="en-US" dirty="0"/>
          </a:p>
          <a:p>
            <a:pPr rtl="0" fontAlgn="ctr"/>
            <a:r>
              <a:rPr lang="en-US" sz="882" b="1" kern="1200" dirty="0">
                <a:solidFill>
                  <a:schemeClr val="tx1"/>
                </a:solidFill>
                <a:effectLst/>
                <a:latin typeface="Segoe UI" panose="020B0502040204020203" pitchFamily="34" charset="0"/>
                <a:ea typeface="+mn-ea"/>
                <a:cs typeface="+mn-cs"/>
              </a:rPr>
              <a:t>Scenario 1: Deployment in the default environment: </a:t>
            </a:r>
            <a:r>
              <a:rPr lang="en-US" sz="882" kern="1200" dirty="0">
                <a:solidFill>
                  <a:schemeClr val="tx1"/>
                </a:solidFill>
                <a:effectLst/>
                <a:latin typeface="Segoe UI" panose="020B0502040204020203" pitchFamily="34" charset="0"/>
                <a:ea typeface="+mn-ea"/>
                <a:cs typeface="+mn-cs"/>
              </a:rPr>
              <a:t>ALM limitations, Sharing limits, Personal dev environments &amp; environment routing, Need for environment isolation, DLP and SIEM integration for higher security</a:t>
            </a:r>
          </a:p>
          <a:p>
            <a:pPr rtl="0" fontAlgn="ctr"/>
            <a:endParaRPr lang="en-US" sz="882" kern="1200" dirty="0">
              <a:solidFill>
                <a:schemeClr val="tx1"/>
              </a:solidFill>
              <a:effectLst/>
              <a:latin typeface="Segoe UI" panose="020B0502040204020203" pitchFamily="34" charset="0"/>
              <a:ea typeface="+mn-ea"/>
              <a:cs typeface="+mn-cs"/>
            </a:endParaRPr>
          </a:p>
          <a:p>
            <a:pPr rtl="0" fontAlgn="ctr"/>
            <a:r>
              <a:rPr lang="en-US" sz="882" b="1" kern="1200" dirty="0">
                <a:solidFill>
                  <a:schemeClr val="tx1"/>
                </a:solidFill>
                <a:effectLst/>
                <a:latin typeface="Segoe UI" panose="020B0502040204020203" pitchFamily="34" charset="0"/>
                <a:ea typeface="+mn-ea"/>
                <a:cs typeface="+mn-cs"/>
              </a:rPr>
              <a:t>Scenario 2: Unmanaged agents: </a:t>
            </a:r>
            <a:r>
              <a:rPr lang="en-US" sz="882" kern="1200" dirty="0">
                <a:solidFill>
                  <a:schemeClr val="tx1"/>
                </a:solidFill>
                <a:effectLst/>
                <a:latin typeface="Segoe UI" panose="020B0502040204020203" pitchFamily="34" charset="0"/>
                <a:ea typeface="+mn-ea"/>
                <a:cs typeface="+mn-cs"/>
              </a:rPr>
              <a:t>Lack of ALM/pipeline rigor, sharing limits and governance gaps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5/6/2026 12:19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3101453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427FE-D7BB-023A-7653-7E8C73E49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642C9B-89CF-95ED-6C32-B080A10956C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7EE572-F497-DA40-A40C-C12EE8EBE7AA}"/>
              </a:ext>
            </a:extLst>
          </p:cNvPr>
          <p:cNvSpPr>
            <a:spLocks noGrp="1"/>
          </p:cNvSpPr>
          <p:nvPr>
            <p:ph type="body" idx="1"/>
          </p:nvPr>
        </p:nvSpPr>
        <p:spPr/>
        <p:txBody>
          <a:bodyPr/>
          <a:lstStyle/>
          <a:p>
            <a:r>
              <a:rPr lang="en-US" dirty="0">
                <a:cs typeface="Calibri" panose="020F0502020204030204"/>
              </a:rPr>
              <a:t>Before we can manage change, we need to define what 'change' actually now looks like. </a:t>
            </a:r>
          </a:p>
          <a:p>
            <a:endParaRPr lang="en-US" dirty="0">
              <a:cs typeface="Calibri" panose="020F0502020204030204"/>
            </a:endParaRPr>
          </a:p>
          <a:p>
            <a:r>
              <a:rPr lang="en-US" dirty="0">
                <a:cs typeface="Calibri" panose="020F0502020204030204"/>
              </a:rPr>
              <a:t>It turns out change doesn't come from one place, it comes from multiple directions simultaneously, and each type requires a different response.</a:t>
            </a:r>
          </a:p>
        </p:txBody>
      </p:sp>
      <p:sp>
        <p:nvSpPr>
          <p:cNvPr id="4" name="Slide Number Placeholder 3">
            <a:extLst>
              <a:ext uri="{FF2B5EF4-FFF2-40B4-BE49-F238E27FC236}">
                <a16:creationId xmlns:a16="http://schemas.microsoft.com/office/drawing/2014/main" id="{CD412D9C-F17C-E396-F65D-B846564096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C584F3-51FE-4E64-B870-AA5E24A7237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35943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C9EF6-CEF5-B1F3-8972-171C4FC3DC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C981EB-4532-5613-1B68-BAD431C6711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B3EE46-4F41-8562-9439-8C9AF7E39C9E}"/>
              </a:ext>
            </a:extLst>
          </p:cNvPr>
          <p:cNvSpPr>
            <a:spLocks noGrp="1"/>
          </p:cNvSpPr>
          <p:nvPr>
            <p:ph type="body" idx="1"/>
          </p:nvPr>
        </p:nvSpPr>
        <p:spPr/>
        <p:txBody>
          <a:bodyPr/>
          <a:lstStyle/>
          <a:p>
            <a:r>
              <a:rPr lang="en-US" dirty="0"/>
              <a:t>Firstly; What is Change Management (Behavioral Enablement) and the difference with Deployment (Technical Enablement)</a:t>
            </a:r>
          </a:p>
          <a:p>
            <a:endParaRPr lang="en-US" dirty="0"/>
          </a:p>
          <a:p>
            <a:r>
              <a:rPr lang="en-US" dirty="0"/>
              <a:t>Highlight “What it is” and the “goals” for both</a:t>
            </a:r>
          </a:p>
        </p:txBody>
      </p:sp>
      <p:sp>
        <p:nvSpPr>
          <p:cNvPr id="4" name="Slide Number Placeholder 3">
            <a:extLst>
              <a:ext uri="{FF2B5EF4-FFF2-40B4-BE49-F238E27FC236}">
                <a16:creationId xmlns:a16="http://schemas.microsoft.com/office/drawing/2014/main" id="{236B2B3D-8993-0B87-EECD-0A11717B036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0B1B71-AA82-464B-A393-9479827C6D1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9685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718EB-4E8A-3EA0-DA49-6F772D018A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F025D-129C-7754-841D-DE6D04504650}"/>
              </a:ext>
            </a:extLst>
          </p:cNvPr>
          <p:cNvSpPr>
            <a:spLocks noGrp="1" noRot="1" noChangeAspect="1"/>
          </p:cNvSpPr>
          <p:nvPr>
            <p:ph type="sldImg"/>
          </p:nvPr>
        </p:nvSpPr>
        <p:spPr>
          <a:xfrm>
            <a:off x="811213" y="1220788"/>
            <a:ext cx="5856287" cy="3294062"/>
          </a:xfrm>
        </p:spPr>
        <p:txBody>
          <a:bodyPr/>
          <a:lstStyle/>
          <a:p>
            <a:endParaRPr lang="en-US"/>
          </a:p>
        </p:txBody>
      </p:sp>
      <p:sp>
        <p:nvSpPr>
          <p:cNvPr id="3" name="Notes Placeholder 2">
            <a:extLst>
              <a:ext uri="{FF2B5EF4-FFF2-40B4-BE49-F238E27FC236}">
                <a16:creationId xmlns:a16="http://schemas.microsoft.com/office/drawing/2014/main" id="{6F40FD17-6022-F054-E1ED-46EBFF752D2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The nature of change management has evolved substantially over the last few decades, from a discipline centered on control to one focused on enabling rapid evolution while maintaining strategic alignment and mitigating risks. This now includes managing cloud‑driven updates, deployment risks, and the challenges introduced by unmanaged agents. Change management spans several disciplines, including business change management (Product and Service), project change management, and IT change management then the users themselves.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161616"/>
                </a:solidFill>
                <a:effectLst/>
                <a:latin typeface="Segoe UI" panose="020B0502040204020203" pitchFamily="34" charset="0"/>
              </a:rPr>
              <a:t>Despite the overwhelming benefits of rapid feature release and adoption, it's important to use a robust change management strategy. We recognize that managing change, especially continuous cloud change, can be challenging for organizations. IT departments and other lines of defense often believe that each change must be reviewed in depth before they deploy new software in their environments. This might be an advantageous strategy for a subset of high impact changes, but reviewing 100 percent of changes is a burdensome strategy that delays deployment of the endlessly evolving features that enable your users.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CB1B058-2DD4-F46F-4357-13A886CE21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5FABD56-7E30-471F-B77B-F411599753D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632854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2248B-3730-2731-7DD7-C08711982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F7A6F-0D03-2DD5-7AE4-A33F4E594B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9748B82-03A9-FDFD-DF98-A2CB9B373316}"/>
              </a:ext>
            </a:extLst>
          </p:cNvPr>
          <p:cNvSpPr>
            <a:spLocks noGrp="1"/>
          </p:cNvSpPr>
          <p:nvPr>
            <p:ph type="body" idx="1"/>
          </p:nvPr>
        </p:nvSpPr>
        <p:spPr/>
        <p:txBody>
          <a:bodyPr/>
          <a:lstStyle/>
          <a:p>
            <a:r>
              <a:rPr lang="en-US"/>
              <a:t>Change can be difficult to understand and manage. A more effective approach is to group related changes and apply clear processes to address them.</a:t>
            </a:r>
          </a:p>
          <a:p>
            <a:endParaRPr lang="en-US"/>
          </a:p>
          <a:p>
            <a:pPr marL="171450" indent="-171450">
              <a:buFont typeface="Arial" panose="020B0604020202020204" pitchFamily="34" charset="0"/>
              <a:buChar char="•"/>
            </a:pPr>
            <a:r>
              <a:rPr lang="en-US" b="1"/>
              <a:t>Platform change (Microsoft)</a:t>
            </a:r>
            <a:r>
              <a:rPr lang="en-US"/>
              <a:t>: Microsoft ships continuous updates. Most of these are positive, but some require admin action or impact existing solutions.</a:t>
            </a:r>
            <a:br>
              <a:rPr lang="en-US"/>
            </a:br>
            <a:endParaRPr lang="en-US"/>
          </a:p>
          <a:p>
            <a:pPr marL="171450" indent="-171450">
              <a:buFont typeface="Arial" panose="020B0604020202020204" pitchFamily="34" charset="0"/>
              <a:buChar char="•"/>
            </a:pPr>
            <a:r>
              <a:rPr lang="en-US" b="1"/>
              <a:t>Tenant change (IT Admin)</a:t>
            </a:r>
            <a:r>
              <a:rPr lang="en-US"/>
              <a:t>: The admin team is also introducing change every time they update environment strategy, connector policies, or routing rules etc.</a:t>
            </a:r>
            <a:br>
              <a:rPr lang="en-US"/>
            </a:br>
            <a:endParaRPr lang="en-US"/>
          </a:p>
          <a:p>
            <a:pPr marL="171450" indent="-171450">
              <a:buFont typeface="Arial" panose="020B0604020202020204" pitchFamily="34" charset="0"/>
              <a:buChar char="•"/>
            </a:pPr>
            <a:r>
              <a:rPr lang="en-US" b="1"/>
              <a:t>Solution change (Makers)</a:t>
            </a:r>
            <a:r>
              <a:rPr lang="en-US"/>
              <a:t>: Makers are deploying new agents, updating agents, and releasing to production, this can happen multiple times a day.</a:t>
            </a:r>
            <a:br>
              <a:rPr lang="en-US"/>
            </a:br>
            <a:endParaRPr lang="en-US"/>
          </a:p>
          <a:p>
            <a:pPr marL="171450" indent="-171450">
              <a:buFont typeface="Arial" panose="020B0604020202020204" pitchFamily="34" charset="0"/>
              <a:buChar char="•"/>
            </a:pPr>
            <a:r>
              <a:rPr lang="en-US" b="1"/>
              <a:t>User change (People)</a:t>
            </a:r>
            <a:r>
              <a:rPr lang="en-US"/>
              <a:t>: Users are changing their own workflows as they adopt agents. That adoption curve is a change management challenge too, especially when new agents are introduced.</a:t>
            </a:r>
          </a:p>
        </p:txBody>
      </p:sp>
      <p:sp>
        <p:nvSpPr>
          <p:cNvPr id="4" name="Slide Number Placeholder 3">
            <a:extLst>
              <a:ext uri="{FF2B5EF4-FFF2-40B4-BE49-F238E27FC236}">
                <a16:creationId xmlns:a16="http://schemas.microsoft.com/office/drawing/2014/main" id="{1660824A-0FFE-750F-4939-0D0E0CD3D7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03D966-0B73-714A-AABC-5EE428DD18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1518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948DE-0F94-1F20-51CC-032C97D8A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3F4A2-CE6C-9C49-444F-B6D7E53A505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BAF4D4-D892-1DDA-C616-A2966B531505}"/>
              </a:ext>
            </a:extLst>
          </p:cNvPr>
          <p:cNvSpPr>
            <a:spLocks noGrp="1"/>
          </p:cNvSpPr>
          <p:nvPr>
            <p:ph type="body" idx="1"/>
          </p:nvPr>
        </p:nvSpPr>
        <p:spPr/>
        <p:txBody>
          <a:bodyPr/>
          <a:lstStyle/>
          <a:p>
            <a:r>
              <a:rPr lang="en-US" dirty="0">
                <a:cs typeface="Calibri" panose="020F0502020204030204"/>
              </a:rPr>
              <a:t>Once we understand the types of change, the first question organizations ask is: who's responsible for what? </a:t>
            </a:r>
          </a:p>
          <a:p>
            <a:endParaRPr lang="en-US" dirty="0">
              <a:cs typeface="Calibri" panose="020F0502020204030204"/>
            </a:endParaRPr>
          </a:p>
          <a:p>
            <a:r>
              <a:rPr lang="en-US" dirty="0">
                <a:cs typeface="Calibri" panose="020F0502020204030204"/>
              </a:rPr>
              <a:t>Ownership is the foundation of any change management program. Without clear decision rights, changes happen inconsistently, accountability gaps emerge, and risk accumulates quietly until something breaks</a:t>
            </a:r>
          </a:p>
        </p:txBody>
      </p:sp>
      <p:sp>
        <p:nvSpPr>
          <p:cNvPr id="4" name="Slide Number Placeholder 3">
            <a:extLst>
              <a:ext uri="{FF2B5EF4-FFF2-40B4-BE49-F238E27FC236}">
                <a16:creationId xmlns:a16="http://schemas.microsoft.com/office/drawing/2014/main" id="{A6A29350-01BE-1DAA-A9D6-A961D44D99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C584F3-51FE-4E64-B870-AA5E24A7237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06569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8ABA7-5D51-E2AF-CE21-1E0CDEB122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84B54-A20C-BCAA-13E3-4D53E1BE0E2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5D73FF7-BD69-AC6F-5F73-2A23294B72D7}"/>
              </a:ext>
            </a:extLst>
          </p:cNvPr>
          <p:cNvSpPr>
            <a:spLocks noGrp="1"/>
          </p:cNvSpPr>
          <p:nvPr>
            <p:ph type="body" idx="1"/>
          </p:nvPr>
        </p:nvSpPr>
        <p:spPr/>
        <p:txBody>
          <a:bodyPr/>
          <a:lstStyle/>
          <a:p>
            <a:r>
              <a:rPr lang="en-US" dirty="0"/>
              <a:t>This table maps five key actions, agent sharing, connector governance, promoting agents to production, managing ownerless agents, and responding to platform updates, against three roles: </a:t>
            </a:r>
          </a:p>
          <a:p>
            <a:endParaRPr lang="en-US" dirty="0"/>
          </a:p>
          <a:p>
            <a:pPr marL="171450" indent="-171450">
              <a:buFont typeface="Arial" panose="020B0604020202020204" pitchFamily="34" charset="0"/>
              <a:buChar char="•"/>
            </a:pPr>
            <a:r>
              <a:rPr lang="en-US" dirty="0"/>
              <a:t>IT Admins</a:t>
            </a:r>
          </a:p>
          <a:p>
            <a:pPr marL="171450" indent="-171450">
              <a:buFont typeface="Arial" panose="020B0604020202020204" pitchFamily="34" charset="0"/>
              <a:buChar char="•"/>
            </a:pPr>
            <a:r>
              <a:rPr lang="en-US" dirty="0"/>
              <a:t>Makers</a:t>
            </a:r>
          </a:p>
          <a:p>
            <a:pPr marL="171450" indent="-171450">
              <a:buFont typeface="Arial" panose="020B0604020202020204" pitchFamily="34" charset="0"/>
              <a:buChar char="•"/>
            </a:pPr>
            <a:r>
              <a:rPr lang="en-US" dirty="0"/>
              <a:t>End Users</a:t>
            </a:r>
          </a:p>
          <a:p>
            <a:endParaRPr lang="en-US" dirty="0"/>
          </a:p>
          <a:p>
            <a:r>
              <a:rPr lang="en-US" dirty="0"/>
              <a:t>Not all features or changes have the potential to impact your security or compliance stature, so it might not be necessary to deeply analyze every single change. For changes that are impactful, we provide configuration options for controlling related features. To help users adopt new features, by default, these changes are generally on - action is required on your part to disable or limit these features.</a:t>
            </a:r>
          </a:p>
          <a:p>
            <a:endParaRPr lang="en-US" dirty="0"/>
          </a:p>
          <a:p>
            <a:r>
              <a:rPr lang="en-US" dirty="0"/>
              <a:t>The ability to control impactful changes is a differentiator offered by Microsoft. The technology industry is predominantly focused on innovation, which is generally assumed to have positive impact on users. It isn't common to find granularity of control over these innovations offered by technology leaders or other cloud providers. By respecting your right to control most impactful changes, we're demonstrating our commitment to partnership and ultimately your success. Furthermore, we're committed to improving the overall change experience. By providing transparency into our change process, procedures, and roadmap, and by monitoring customer feedback, we want to enable our customers to evaluate and deploy the rapidly increasing volume of updates that we release.</a:t>
            </a:r>
          </a:p>
          <a:p>
            <a:endParaRPr lang="en-US" dirty="0"/>
          </a:p>
          <a:p>
            <a:r>
              <a:rPr lang="en-US" dirty="0"/>
              <a:t>Highlight the "ownerless agents" row as a common blind spot: </a:t>
            </a:r>
          </a:p>
          <a:p>
            <a:r>
              <a:rPr lang="en-US" dirty="0"/>
              <a:t>"When the person who built an agent leaves the organization, or changes roles, that agent can become a governance liability. Having a defined process for lifecycle actions on ownerless assets is something many organizations overlook until it becomes a problem."</a:t>
            </a:r>
          </a:p>
          <a:p>
            <a:endParaRPr lang="en-US" dirty="0"/>
          </a:p>
        </p:txBody>
      </p:sp>
      <p:sp>
        <p:nvSpPr>
          <p:cNvPr id="4" name="Slide Number Placeholder 3">
            <a:extLst>
              <a:ext uri="{FF2B5EF4-FFF2-40B4-BE49-F238E27FC236}">
                <a16:creationId xmlns:a16="http://schemas.microsoft.com/office/drawing/2014/main" id="{255037E5-7377-276A-96EE-EA256C53A1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B6DBA25-EEB1-46C0-8126-D5B74A701FA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27099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CEBAB-594C-9032-B21C-377CD731E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D8DA6-0687-CEEB-008C-662B679156B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2D3944A-8643-165D-1B96-AAFD0AFBF781}"/>
              </a:ext>
            </a:extLst>
          </p:cNvPr>
          <p:cNvSpPr>
            <a:spLocks noGrp="1"/>
          </p:cNvSpPr>
          <p:nvPr>
            <p:ph type="body" idx="1"/>
          </p:nvPr>
        </p:nvSpPr>
        <p:spPr/>
        <p:txBody>
          <a:bodyPr/>
          <a:lstStyle/>
          <a:p>
            <a:r>
              <a:rPr lang="en-US" sz="1200" dirty="0">
                <a:solidFill>
                  <a:srgbClr val="323130"/>
                </a:solidFill>
                <a:latin typeface="Segoe UI" panose="020B0502040204020203" pitchFamily="34" charset="0"/>
              </a:rPr>
              <a:t>Ownership tells us who is responsible for change. </a:t>
            </a:r>
          </a:p>
          <a:p>
            <a:endParaRPr lang="en-US" sz="1200" dirty="0">
              <a:solidFill>
                <a:srgbClr val="323130"/>
              </a:solidFill>
              <a:latin typeface="Segoe UI" panose="020B0502040204020203" pitchFamily="34" charset="0"/>
            </a:endParaRPr>
          </a:p>
          <a:p>
            <a:r>
              <a:rPr lang="en-US" sz="1200" dirty="0">
                <a:solidFill>
                  <a:srgbClr val="323130"/>
                </a:solidFill>
                <a:latin typeface="Segoe UI" panose="020B0502040204020203" pitchFamily="34" charset="0"/>
              </a:rPr>
              <a:t>Release Rings tell us how to introduce change safely over time. </a:t>
            </a:r>
          </a:p>
          <a:p>
            <a:endParaRPr lang="en-US" sz="1200" dirty="0">
              <a:solidFill>
                <a:srgbClr val="323130"/>
              </a:solidFill>
              <a:latin typeface="Segoe UI" panose="020B0502040204020203" pitchFamily="34" charset="0"/>
            </a:endParaRPr>
          </a:p>
          <a:p>
            <a:r>
              <a:rPr lang="en-US" sz="1200" dirty="0">
                <a:solidFill>
                  <a:srgbClr val="323130"/>
                </a:solidFill>
                <a:latin typeface="Segoe UI" panose="020B0502040204020203" pitchFamily="34" charset="0"/>
              </a:rPr>
              <a:t>Instead of releasing changes to everyone at once, which amplifies risk, we stage the rollout, validate impact at each ring, and only expand when we have confidence</a:t>
            </a:r>
            <a:endParaRPr lang="en-US" dirty="0">
              <a:cs typeface="Calibri" panose="020F0502020204030204"/>
            </a:endParaRPr>
          </a:p>
        </p:txBody>
      </p:sp>
      <p:sp>
        <p:nvSpPr>
          <p:cNvPr id="4" name="Slide Number Placeholder 3">
            <a:extLst>
              <a:ext uri="{FF2B5EF4-FFF2-40B4-BE49-F238E27FC236}">
                <a16:creationId xmlns:a16="http://schemas.microsoft.com/office/drawing/2014/main" id="{D5921D4C-AE1D-2772-0D95-BD114B38B0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C584F3-51FE-4E64-B870-AA5E24A7237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8373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EB510-6B7C-9D1B-9AC7-61F31683F4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28B69-E221-A8D0-92DD-C950C33ACA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28B976-898A-2244-7A1A-A1289B413EB8}"/>
              </a:ext>
            </a:extLst>
          </p:cNvPr>
          <p:cNvSpPr>
            <a:spLocks noGrp="1"/>
          </p:cNvSpPr>
          <p:nvPr>
            <p:ph type="body" idx="1"/>
          </p:nvPr>
        </p:nvSpPr>
        <p:spPr/>
        <p:txBody>
          <a:bodyPr/>
          <a:lstStyle/>
          <a:p>
            <a:pPr algn="l"/>
            <a:r>
              <a:rPr lang="en-US" sz="1200" b="1">
                <a:solidFill>
                  <a:srgbClr val="323130"/>
                </a:solidFill>
                <a:latin typeface="Segoe UI" panose="020B0502040204020203" pitchFamily="34" charset="0"/>
              </a:rPr>
              <a:t>Ring 0 (Pilot/Platform Team)</a:t>
            </a:r>
            <a:r>
              <a:rPr lang="en-US" sz="1200">
                <a:solidFill>
                  <a:srgbClr val="323130"/>
                </a:solidFill>
                <a:latin typeface="Segoe UI" panose="020B0502040204020203" pitchFamily="34" charset="0"/>
              </a:rPr>
              <a:t>: Your inner circle, the platform team and a small pilot group. This is where you validate that things work, catch breaking changes early, and build the governance foundations.</a:t>
            </a:r>
          </a:p>
          <a:p>
            <a:pPr algn="l"/>
            <a:endParaRPr lang="en-US" sz="1200">
              <a:solidFill>
                <a:srgbClr val="323130"/>
              </a:solidFill>
              <a:latin typeface="Segoe UI" panose="020B0502040204020203" pitchFamily="34" charset="0"/>
            </a:endParaRPr>
          </a:p>
          <a:p>
            <a:pPr algn="l"/>
            <a:r>
              <a:rPr lang="en-US" sz="1200" b="1">
                <a:solidFill>
                  <a:srgbClr val="323130"/>
                </a:solidFill>
                <a:latin typeface="Segoe UI" panose="020B0502040204020203" pitchFamily="34" charset="0"/>
              </a:rPr>
              <a:t>Ring 1 (Advanced Makers)</a:t>
            </a:r>
            <a:r>
              <a:rPr lang="en-US" sz="1200">
                <a:solidFill>
                  <a:srgbClr val="323130"/>
                </a:solidFill>
                <a:latin typeface="Segoe UI" panose="020B0502040204020203" pitchFamily="34" charset="0"/>
              </a:rPr>
              <a:t>: Expand to real teams in governed environments. Advanced makers can identify real-world issues your platform team might miss. This is where you test that your ALM processes hold up under real usage.</a:t>
            </a:r>
          </a:p>
          <a:p>
            <a:pPr algn="l"/>
            <a:endParaRPr lang="en-US" sz="1200">
              <a:solidFill>
                <a:srgbClr val="323130"/>
              </a:solidFill>
              <a:latin typeface="Segoe UI" panose="020B0502040204020203" pitchFamily="34" charset="0"/>
            </a:endParaRPr>
          </a:p>
          <a:p>
            <a:pPr algn="l"/>
            <a:r>
              <a:rPr lang="en-US" sz="1200" b="1">
                <a:solidFill>
                  <a:srgbClr val="323130"/>
                </a:solidFill>
                <a:latin typeface="Segoe UI" panose="020B0502040204020203" pitchFamily="34" charset="0"/>
              </a:rPr>
              <a:t>Ring 2 (Enterprise)</a:t>
            </a:r>
            <a:r>
              <a:rPr lang="en-US" sz="1200">
                <a:solidFill>
                  <a:srgbClr val="323130"/>
                </a:solidFill>
                <a:latin typeface="Segoe UI" panose="020B0502040204020203" pitchFamily="34" charset="0"/>
              </a:rPr>
              <a:t>: Full enterprise rollout. By this point you've validated readiness, your processes are proven, and your users are prepared.</a:t>
            </a:r>
          </a:p>
          <a:p>
            <a:endParaRPr lang="en-US"/>
          </a:p>
        </p:txBody>
      </p:sp>
      <p:sp>
        <p:nvSpPr>
          <p:cNvPr id="4" name="Slide Number Placeholder 3">
            <a:extLst>
              <a:ext uri="{FF2B5EF4-FFF2-40B4-BE49-F238E27FC236}">
                <a16:creationId xmlns:a16="http://schemas.microsoft.com/office/drawing/2014/main" id="{7060B4B3-B060-3060-5F42-DBBDF2A72F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F0BFB-E1E1-4209-BBE7-213BAB0E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42943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719B0-FDFD-C31C-D058-D74CE33A18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69EE7-E562-62B9-DAD6-AC32633BF4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C871A75-205E-BAF7-B6A1-3DE7B2D49255}"/>
              </a:ext>
            </a:extLst>
          </p:cNvPr>
          <p:cNvSpPr>
            <a:spLocks noGrp="1"/>
          </p:cNvSpPr>
          <p:nvPr>
            <p:ph type="body" idx="1"/>
          </p:nvPr>
        </p:nvSpPr>
        <p:spPr/>
        <p:txBody>
          <a:bodyPr/>
          <a:lstStyle/>
          <a:p>
            <a:r>
              <a:rPr lang="en-US" sz="1200" dirty="0">
                <a:solidFill>
                  <a:srgbClr val="323130"/>
                </a:solidFill>
                <a:latin typeface="Segoe UI" panose="020B0502040204020203" pitchFamily="34" charset="0"/>
              </a:rPr>
              <a:t>Technology and process controls are necessary, but not sufficient. Change management ultimately succeeds or fails based on how well people understand and embrace what's changing. </a:t>
            </a:r>
          </a:p>
          <a:p>
            <a:endParaRPr lang="en-US" sz="1200" dirty="0">
              <a:solidFill>
                <a:srgbClr val="323130"/>
              </a:solidFill>
              <a:latin typeface="Segoe UI" panose="020B0502040204020203" pitchFamily="34" charset="0"/>
            </a:endParaRPr>
          </a:p>
          <a:p>
            <a:r>
              <a:rPr lang="en-US" sz="1200" dirty="0">
                <a:solidFill>
                  <a:srgbClr val="323130"/>
                </a:solidFill>
                <a:latin typeface="Segoe UI" panose="020B0502040204020203" pitchFamily="34" charset="0"/>
              </a:rPr>
              <a:t>Communication is the thread that holds all change management pillars together.</a:t>
            </a:r>
            <a:endParaRPr lang="en-US" dirty="0">
              <a:cs typeface="Calibri" panose="020F0502020204030204"/>
            </a:endParaRPr>
          </a:p>
        </p:txBody>
      </p:sp>
      <p:sp>
        <p:nvSpPr>
          <p:cNvPr id="4" name="Slide Number Placeholder 3">
            <a:extLst>
              <a:ext uri="{FF2B5EF4-FFF2-40B4-BE49-F238E27FC236}">
                <a16:creationId xmlns:a16="http://schemas.microsoft.com/office/drawing/2014/main" id="{5FD0E11C-5C7E-C19A-5600-AA9CE51069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C584F3-51FE-4E64-B870-AA5E24A7237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8791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0F265-F9C3-035E-FCC1-5F0369ED5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D1CC8-076E-EA7C-F4FA-0F981D8522D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AC8644-3358-4888-71CA-AF25E980F54E}"/>
              </a:ext>
            </a:extLst>
          </p:cNvPr>
          <p:cNvSpPr>
            <a:spLocks noGrp="1"/>
          </p:cNvSpPr>
          <p:nvPr>
            <p:ph type="body" idx="1"/>
          </p:nvPr>
        </p:nvSpPr>
        <p:spPr/>
        <p:txBody>
          <a:bodyPr/>
          <a:lstStyle/>
          <a:p>
            <a:pPr algn="l"/>
            <a:r>
              <a:rPr lang="en-US" sz="1200">
                <a:solidFill>
                  <a:srgbClr val="323130"/>
                </a:solidFill>
                <a:latin typeface="Segoe UI" panose="020B0502040204020203" pitchFamily="34" charset="0"/>
              </a:rPr>
              <a:t>Three things to emphasize here:</a:t>
            </a:r>
          </a:p>
          <a:p>
            <a:pPr algn="l"/>
            <a:endParaRPr lang="en-US" sz="1200">
              <a:solidFill>
                <a:srgbClr val="323130"/>
              </a:solidFill>
              <a:latin typeface="Segoe UI" panose="020B0502040204020203" pitchFamily="34" charset="0"/>
            </a:endParaRPr>
          </a:p>
          <a:p>
            <a:pPr marL="171450" indent="-171450" algn="l">
              <a:buFont typeface="Arial" panose="020B0604020202020204" pitchFamily="34" charset="0"/>
              <a:buChar char="•"/>
            </a:pPr>
            <a:r>
              <a:rPr lang="en-US" sz="1200">
                <a:solidFill>
                  <a:srgbClr val="323130"/>
                </a:solidFill>
                <a:latin typeface="Segoe UI" panose="020B0502040204020203" pitchFamily="34" charset="0"/>
              </a:rPr>
              <a:t>Adoption requires understanding. If users don't know why something changed, they may work around it or ignore it entirely, creating the shadow IT problem we're trying to avoid.</a:t>
            </a:r>
          </a:p>
          <a:p>
            <a:pPr marL="171450" indent="-171450" algn="l">
              <a:buFont typeface="Arial" panose="020B0604020202020204" pitchFamily="34" charset="0"/>
              <a:buChar char="•"/>
            </a:pPr>
            <a:r>
              <a:rPr lang="en-US" sz="1200">
                <a:solidFill>
                  <a:srgbClr val="323130"/>
                </a:solidFill>
                <a:latin typeface="Segoe UI" panose="020B0502040204020203" pitchFamily="34" charset="0"/>
              </a:rPr>
              <a:t>Good communication reduces resistance. Most resistance to change isn't about the change itself, it's about uncertainty and lack of context. When people understand the “why” they're far more likely to be willing to adapt.</a:t>
            </a:r>
          </a:p>
          <a:p>
            <a:pPr marL="171450" indent="-171450" algn="l">
              <a:buFont typeface="Arial" panose="020B0604020202020204" pitchFamily="34" charset="0"/>
              <a:buChar char="•"/>
            </a:pPr>
            <a:r>
              <a:rPr lang="en-US" sz="1200">
                <a:solidFill>
                  <a:srgbClr val="323130"/>
                </a:solidFill>
                <a:latin typeface="Segoe UI" panose="020B0502040204020203" pitchFamily="34" charset="0"/>
              </a:rPr>
              <a:t>This is continuous, not one-time. Every agent deployment, every policy update, every new governance rule needs a communication moment. The organizations that build this muscle early are the ones that can sustain adoption at scale.</a:t>
            </a:r>
          </a:p>
        </p:txBody>
      </p:sp>
      <p:sp>
        <p:nvSpPr>
          <p:cNvPr id="4" name="Slide Number Placeholder 3">
            <a:extLst>
              <a:ext uri="{FF2B5EF4-FFF2-40B4-BE49-F238E27FC236}">
                <a16:creationId xmlns:a16="http://schemas.microsoft.com/office/drawing/2014/main" id="{DD1DE075-623C-1917-57B0-F724F9F364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F0BFB-E1E1-4209-BBE7-213BAB0E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176044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A91DA-C0CC-9D32-DA60-5115896707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93FA7A-CAFF-35DF-DE4A-D7B6DF67410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1D50E0-1107-7BC1-A177-3EA709F78110}"/>
              </a:ext>
            </a:extLst>
          </p:cNvPr>
          <p:cNvSpPr>
            <a:spLocks noGrp="1"/>
          </p:cNvSpPr>
          <p:nvPr>
            <p:ph type="body" idx="1"/>
          </p:nvPr>
        </p:nvSpPr>
        <p:spPr/>
        <p:txBody>
          <a:bodyPr/>
          <a:lstStyle/>
          <a:p>
            <a:pPr marL="228600" indent="-228600" algn="l">
              <a:buFont typeface="+mj-lt"/>
              <a:buAutoNum type="arabicPeriod"/>
            </a:pPr>
            <a:r>
              <a:rPr lang="en-US" sz="1200" b="1">
                <a:solidFill>
                  <a:srgbClr val="323130"/>
                </a:solidFill>
                <a:latin typeface="Segoe UI" panose="020B0502040204020203" pitchFamily="34" charset="0"/>
              </a:rPr>
              <a:t>Announce</a:t>
            </a:r>
            <a:r>
              <a:rPr lang="en-US" sz="1200">
                <a:solidFill>
                  <a:srgbClr val="323130"/>
                </a:solidFill>
                <a:latin typeface="Segoe UI" panose="020B0502040204020203" pitchFamily="34" charset="0"/>
              </a:rPr>
              <a:t>: Early heads-up. What's coming and when. Doesn't need to be complete, just timely</a:t>
            </a:r>
          </a:p>
          <a:p>
            <a:pPr marL="228600" indent="-228600" algn="l">
              <a:buFont typeface="+mj-lt"/>
              <a:buAutoNum type="arabicPeriod"/>
            </a:pPr>
            <a:r>
              <a:rPr lang="en-US" sz="1200" b="1">
                <a:solidFill>
                  <a:srgbClr val="323130"/>
                </a:solidFill>
                <a:latin typeface="Segoe UI" panose="020B0502040204020203" pitchFamily="34" charset="0"/>
              </a:rPr>
              <a:t>Explain</a:t>
            </a:r>
            <a:r>
              <a:rPr lang="en-US" sz="1200">
                <a:solidFill>
                  <a:srgbClr val="323130"/>
                </a:solidFill>
                <a:latin typeface="Segoe UI" panose="020B0502040204020203" pitchFamily="34" charset="0"/>
              </a:rPr>
              <a:t>: The “why”, what's driving this change. What it means for each role</a:t>
            </a:r>
          </a:p>
          <a:p>
            <a:pPr marL="228600" indent="-228600" algn="l">
              <a:buFont typeface="+mj-lt"/>
              <a:buAutoNum type="arabicPeriod"/>
            </a:pPr>
            <a:r>
              <a:rPr lang="en-US" sz="1200" b="1">
                <a:solidFill>
                  <a:srgbClr val="323130"/>
                </a:solidFill>
                <a:latin typeface="Segoe UI" panose="020B0502040204020203" pitchFamily="34" charset="0"/>
              </a:rPr>
              <a:t>Enable</a:t>
            </a:r>
            <a:r>
              <a:rPr lang="en-US" sz="1200">
                <a:solidFill>
                  <a:srgbClr val="323130"/>
                </a:solidFill>
                <a:latin typeface="Segoe UI" panose="020B0502040204020203" pitchFamily="34" charset="0"/>
              </a:rPr>
              <a:t>: Training, guides, office hours, links to resources. Give people the tools to succeed</a:t>
            </a:r>
          </a:p>
          <a:p>
            <a:pPr marL="228600" indent="-228600" algn="l">
              <a:buFont typeface="+mj-lt"/>
              <a:buAutoNum type="arabicPeriod"/>
            </a:pPr>
            <a:r>
              <a:rPr lang="en-US" sz="1200" b="1">
                <a:solidFill>
                  <a:srgbClr val="323130"/>
                </a:solidFill>
                <a:latin typeface="Segoe UI" panose="020B0502040204020203" pitchFamily="34" charset="0"/>
              </a:rPr>
              <a:t>Listen</a:t>
            </a:r>
            <a:r>
              <a:rPr lang="en-US" sz="1200">
                <a:solidFill>
                  <a:srgbClr val="323130"/>
                </a:solidFill>
                <a:latin typeface="Segoe UI" panose="020B0502040204020203" pitchFamily="34" charset="0"/>
              </a:rPr>
              <a:t>: Feedback loops, pulse checks, open channels. Actively solicit responses and adjust based on what you hear</a:t>
            </a:r>
          </a:p>
          <a:p>
            <a:pPr marL="228600" indent="-228600" algn="l">
              <a:buFont typeface="+mj-lt"/>
              <a:buAutoNum type="arabicPeriod"/>
            </a:pPr>
            <a:r>
              <a:rPr lang="en-US" sz="1200" b="1">
                <a:solidFill>
                  <a:srgbClr val="323130"/>
                </a:solidFill>
                <a:latin typeface="Segoe UI" panose="020B0502040204020203" pitchFamily="34" charset="0"/>
              </a:rPr>
              <a:t>Reinforce</a:t>
            </a:r>
            <a:r>
              <a:rPr lang="en-US" sz="1200">
                <a:solidFill>
                  <a:srgbClr val="323130"/>
                </a:solidFill>
                <a:latin typeface="Segoe UI" panose="020B0502040204020203" pitchFamily="34" charset="0"/>
              </a:rPr>
              <a:t>: Reminders, FAQs, success stories, recap communications. The first announcement doesn't reach everyone. The reinforcement does</a:t>
            </a:r>
            <a:endParaRPr lang="en-US"/>
          </a:p>
          <a:p>
            <a:endParaRPr lang="en-US"/>
          </a:p>
          <a:p>
            <a:r>
              <a:rPr lang="en-US"/>
              <a:t>This cycle repeats with every change, not just the first. </a:t>
            </a:r>
          </a:p>
        </p:txBody>
      </p:sp>
      <p:sp>
        <p:nvSpPr>
          <p:cNvPr id="4" name="Slide Number Placeholder 3">
            <a:extLst>
              <a:ext uri="{FF2B5EF4-FFF2-40B4-BE49-F238E27FC236}">
                <a16:creationId xmlns:a16="http://schemas.microsoft.com/office/drawing/2014/main" id="{4F14B8CB-AEE2-3F67-87B9-E092707521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F0BFB-E1E1-4209-BBE7-213BAB0E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63624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A9DFA-41C7-3F9B-5BCC-74A60D21F3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B79053-4CC1-D97B-1306-BDD018C4BF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16B1C67-FB07-C5AD-4B2E-EA09C02BB797}"/>
              </a:ext>
            </a:extLst>
          </p:cNvPr>
          <p:cNvSpPr>
            <a:spLocks noGrp="1"/>
          </p:cNvSpPr>
          <p:nvPr>
            <p:ph type="body" idx="1"/>
          </p:nvPr>
        </p:nvSpPr>
        <p:spPr/>
        <p:txBody>
          <a:bodyPr/>
          <a:lstStyle/>
          <a:p>
            <a:r>
              <a:rPr lang="en-US" sz="1200" dirty="0">
                <a:solidFill>
                  <a:srgbClr val="323130"/>
                </a:solidFill>
                <a:latin typeface="Segoe UI" panose="020B0502040204020203" pitchFamily="34" charset="0"/>
              </a:rPr>
              <a:t>Communication tells people what's changing. Skilling gives them the capability to operate effectively in the new environment. </a:t>
            </a:r>
          </a:p>
          <a:p>
            <a:endParaRPr lang="en-US" sz="1200" dirty="0">
              <a:solidFill>
                <a:srgbClr val="323130"/>
              </a:solidFill>
              <a:latin typeface="Segoe UI" panose="020B0502040204020203" pitchFamily="34" charset="0"/>
            </a:endParaRPr>
          </a:p>
          <a:p>
            <a:r>
              <a:rPr lang="en-US" sz="1200" dirty="0">
                <a:solidFill>
                  <a:srgbClr val="323130"/>
                </a:solidFill>
                <a:latin typeface="Segoe UI" panose="020B0502040204020203" pitchFamily="34" charset="0"/>
              </a:rPr>
              <a:t>These two pillars are closely linked, you need both. But one of the most common mistakes organizations make is applying the same skilling program to everyone, regardless of their role. </a:t>
            </a:r>
          </a:p>
          <a:p>
            <a:endParaRPr lang="en-US" sz="1200" dirty="0">
              <a:solidFill>
                <a:srgbClr val="323130"/>
              </a:solidFill>
              <a:latin typeface="Segoe UI" panose="020B0502040204020203" pitchFamily="34" charset="0"/>
            </a:endParaRPr>
          </a:p>
          <a:p>
            <a:r>
              <a:rPr lang="en-US" sz="1200" dirty="0">
                <a:solidFill>
                  <a:srgbClr val="323130"/>
                </a:solidFill>
                <a:latin typeface="Segoe UI" panose="020B0502040204020203" pitchFamily="34" charset="0"/>
              </a:rPr>
              <a:t>That approach wastes time and leaves critical gaps, just like you need to tailor your communication for your audience you need to do the same when training those audiences</a:t>
            </a:r>
            <a:endParaRPr lang="en-US" dirty="0">
              <a:cs typeface="Calibri" panose="020F0502020204030204"/>
            </a:endParaRPr>
          </a:p>
        </p:txBody>
      </p:sp>
      <p:sp>
        <p:nvSpPr>
          <p:cNvPr id="4" name="Slide Number Placeholder 3">
            <a:extLst>
              <a:ext uri="{FF2B5EF4-FFF2-40B4-BE49-F238E27FC236}">
                <a16:creationId xmlns:a16="http://schemas.microsoft.com/office/drawing/2014/main" id="{75FDD1E2-67F4-CF63-06DD-C0BEBA4011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C584F3-51FE-4E64-B870-AA5E24A7237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68644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03D86-BE75-D3A8-5C6A-8F40142FE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781E1C-1D16-8064-E65A-083CC458E30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F54D098-8E3C-64CB-FE5C-2882BFD02C3C}"/>
              </a:ext>
            </a:extLst>
          </p:cNvPr>
          <p:cNvSpPr>
            <a:spLocks noGrp="1"/>
          </p:cNvSpPr>
          <p:nvPr>
            <p:ph type="body" idx="1"/>
          </p:nvPr>
        </p:nvSpPr>
        <p:spPr/>
        <p:txBody>
          <a:bodyPr/>
          <a:lstStyle/>
          <a:p>
            <a:pPr algn="l"/>
            <a:r>
              <a:rPr lang="en-US" sz="1200" b="1">
                <a:solidFill>
                  <a:srgbClr val="323130"/>
                </a:solidFill>
                <a:latin typeface="Segoe UI" panose="020B0502040204020203" pitchFamily="34" charset="0"/>
              </a:rPr>
              <a:t>IT Admins</a:t>
            </a:r>
            <a:r>
              <a:rPr lang="en-US" sz="1200">
                <a:solidFill>
                  <a:srgbClr val="323130"/>
                </a:solidFill>
                <a:latin typeface="Segoe UI" panose="020B0502040204020203" pitchFamily="34" charset="0"/>
              </a:rPr>
              <a:t>: This is a technical audience that needs depth on governance architecture, environment strategy, and lifecycle controls. They need to understand the full governance stack, not just the admin UI, but the principles behind it</a:t>
            </a:r>
          </a:p>
          <a:p>
            <a:pPr algn="l"/>
            <a:endParaRPr lang="en-US" sz="1200">
              <a:solidFill>
                <a:srgbClr val="323130"/>
              </a:solidFill>
              <a:latin typeface="Segoe UI" panose="020B0502040204020203" pitchFamily="34" charset="0"/>
            </a:endParaRPr>
          </a:p>
          <a:p>
            <a:pPr algn="l"/>
            <a:r>
              <a:rPr lang="en-US" sz="1200" b="1">
                <a:solidFill>
                  <a:srgbClr val="323130"/>
                </a:solidFill>
                <a:latin typeface="Segoe UI" panose="020B0502040204020203" pitchFamily="34" charset="0"/>
              </a:rPr>
              <a:t>Advanced Makers</a:t>
            </a:r>
            <a:r>
              <a:rPr lang="en-US" sz="1200">
                <a:solidFill>
                  <a:srgbClr val="323130"/>
                </a:solidFill>
                <a:latin typeface="Segoe UI" panose="020B0502040204020203" pitchFamily="34" charset="0"/>
              </a:rPr>
              <a:t>: These are the makers who own solutions, manage deployments, and run ALM processes. They need lightweight but rigorous training on solutions, pipelines, approvals, and validation, matched to the risk level of their work</a:t>
            </a:r>
          </a:p>
          <a:p>
            <a:pPr algn="l"/>
            <a:endParaRPr lang="en-US" sz="1200">
              <a:solidFill>
                <a:srgbClr val="323130"/>
              </a:solidFill>
              <a:latin typeface="Segoe UI" panose="020B0502040204020203" pitchFamily="34" charset="0"/>
            </a:endParaRPr>
          </a:p>
          <a:p>
            <a:pPr algn="l"/>
            <a:r>
              <a:rPr lang="en-US" sz="1200" b="1">
                <a:solidFill>
                  <a:srgbClr val="323130"/>
                </a:solidFill>
                <a:latin typeface="Segoe UI" panose="020B0502040204020203" pitchFamily="34" charset="0"/>
              </a:rPr>
              <a:t>New and Occasional Makers</a:t>
            </a:r>
            <a:r>
              <a:rPr lang="en-US" sz="1200">
                <a:solidFill>
                  <a:srgbClr val="323130"/>
                </a:solidFill>
                <a:latin typeface="Segoe UI" panose="020B0502040204020203" pitchFamily="34" charset="0"/>
              </a:rPr>
              <a:t>: This group needs safe defaults and quick-start guidance. The goal is to reduce the learning curve so they don't accidentally create sprawl or fragile solutions before they know the rules</a:t>
            </a:r>
          </a:p>
          <a:p>
            <a:pPr algn="l"/>
            <a:endParaRPr lang="en-US" sz="1200">
              <a:solidFill>
                <a:srgbClr val="323130"/>
              </a:solidFill>
              <a:latin typeface="Segoe UI" panose="020B0502040204020203" pitchFamily="34" charset="0"/>
            </a:endParaRPr>
          </a:p>
          <a:p>
            <a:pPr algn="l"/>
            <a:r>
              <a:rPr lang="en-US" sz="1200" b="1">
                <a:solidFill>
                  <a:srgbClr val="323130"/>
                </a:solidFill>
                <a:latin typeface="Segoe UI" panose="020B0502040204020203" pitchFamily="34" charset="0"/>
              </a:rPr>
              <a:t>End Users</a:t>
            </a:r>
            <a:r>
              <a:rPr lang="en-US" sz="1200">
                <a:solidFill>
                  <a:srgbClr val="323130"/>
                </a:solidFill>
                <a:latin typeface="Segoe UI" panose="020B0502040204020203" pitchFamily="34" charset="0"/>
              </a:rPr>
              <a:t>: Consuming agents is a skill too! End users need trust, clarity about what the agent does, and clear escalation paths when something goes wrong. Their skilling is about intentional adoption, workflow change </a:t>
            </a:r>
            <a:r>
              <a:rPr lang="en-US" sz="1200" err="1">
                <a:solidFill>
                  <a:srgbClr val="323130"/>
                </a:solidFill>
                <a:latin typeface="Segoe UI" panose="020B0502040204020203" pitchFamily="34" charset="0"/>
              </a:rPr>
              <a:t>etc</a:t>
            </a:r>
            <a:endParaRPr lang="en-US" sz="1200">
              <a:solidFill>
                <a:srgbClr val="323130"/>
              </a:solidFill>
              <a:latin typeface="Segoe UI" panose="020B0502040204020203" pitchFamily="34" charset="0"/>
            </a:endParaRPr>
          </a:p>
          <a:p>
            <a:endParaRPr lang="en-US"/>
          </a:p>
        </p:txBody>
      </p:sp>
      <p:sp>
        <p:nvSpPr>
          <p:cNvPr id="4" name="Slide Number Placeholder 3">
            <a:extLst>
              <a:ext uri="{FF2B5EF4-FFF2-40B4-BE49-F238E27FC236}">
                <a16:creationId xmlns:a16="http://schemas.microsoft.com/office/drawing/2014/main" id="{64D67C0E-3754-44C6-5098-AA88DD750F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F0BFB-E1E1-4209-BBE7-213BAB0E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04845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09126-0D09-6AAC-5958-D983DB416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74C159-B4A6-C11E-76D1-116BB2FDD6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41CD10-EC26-95C4-B44B-38157E9AE0D6}"/>
              </a:ext>
            </a:extLst>
          </p:cNvPr>
          <p:cNvSpPr>
            <a:spLocks noGrp="1"/>
          </p:cNvSpPr>
          <p:nvPr>
            <p:ph type="body" idx="1"/>
          </p:nvPr>
        </p:nvSpPr>
        <p:spPr/>
        <p:txBody>
          <a:bodyPr/>
          <a:lstStyle/>
          <a:p>
            <a:pPr algn="l"/>
            <a:r>
              <a:rPr lang="en-US" sz="1200" b="1">
                <a:solidFill>
                  <a:srgbClr val="323130"/>
                </a:solidFill>
                <a:latin typeface="Segoe UI" panose="020B0502040204020203" pitchFamily="34" charset="0"/>
              </a:rPr>
              <a:t>Building</a:t>
            </a:r>
            <a:r>
              <a:rPr lang="en-US" sz="1200">
                <a:solidFill>
                  <a:srgbClr val="323130"/>
                </a:solidFill>
                <a:latin typeface="Segoe UI" panose="020B0502040204020203" pitchFamily="34" charset="0"/>
              </a:rPr>
              <a:t>: When a maker is about to create something new, that's the moment to teach them about environment selection and zone expectations, not in a formal training session weeks earlier, or worse, later</a:t>
            </a:r>
          </a:p>
          <a:p>
            <a:pPr algn="l"/>
            <a:endParaRPr lang="en-US" sz="1200">
              <a:solidFill>
                <a:srgbClr val="323130"/>
              </a:solidFill>
              <a:latin typeface="Segoe UI" panose="020B0502040204020203" pitchFamily="34" charset="0"/>
            </a:endParaRPr>
          </a:p>
          <a:p>
            <a:pPr algn="l"/>
            <a:r>
              <a:rPr lang="en-US" sz="1200" b="1">
                <a:solidFill>
                  <a:srgbClr val="323130"/>
                </a:solidFill>
                <a:latin typeface="Segoe UI" panose="020B0502040204020203" pitchFamily="34" charset="0"/>
              </a:rPr>
              <a:t>Connecting</a:t>
            </a:r>
            <a:r>
              <a:rPr lang="en-US" sz="1200">
                <a:solidFill>
                  <a:srgbClr val="323130"/>
                </a:solidFill>
                <a:latin typeface="Segoe UI" panose="020B0502040204020203" pitchFamily="34" charset="0"/>
              </a:rPr>
              <a:t>: When they're about to connect to a data source, that's when connector governance and data classification guidance is most relevant</a:t>
            </a:r>
          </a:p>
          <a:p>
            <a:pPr algn="l"/>
            <a:endParaRPr lang="en-US" sz="1200">
              <a:solidFill>
                <a:srgbClr val="323130"/>
              </a:solidFill>
              <a:latin typeface="Segoe UI" panose="020B0502040204020203" pitchFamily="34" charset="0"/>
            </a:endParaRPr>
          </a:p>
          <a:p>
            <a:pPr algn="l"/>
            <a:r>
              <a:rPr lang="en-US" sz="1200" b="1">
                <a:solidFill>
                  <a:srgbClr val="323130"/>
                </a:solidFill>
                <a:latin typeface="Segoe UI" panose="020B0502040204020203" pitchFamily="34" charset="0"/>
              </a:rPr>
              <a:t>Sharing</a:t>
            </a:r>
            <a:r>
              <a:rPr lang="en-US" sz="1200">
                <a:solidFill>
                  <a:srgbClr val="323130"/>
                </a:solidFill>
                <a:latin typeface="Segoe UI" panose="020B0502040204020203" pitchFamily="34" charset="0"/>
              </a:rPr>
              <a:t>: Before they share an agent broadly, they need to understand the ownership and governance implications of doing so</a:t>
            </a:r>
          </a:p>
          <a:p>
            <a:pPr algn="l"/>
            <a:endParaRPr lang="en-US" sz="1200" b="1">
              <a:solidFill>
                <a:srgbClr val="323130"/>
              </a:solidFill>
              <a:latin typeface="Segoe UI" panose="020B0502040204020203" pitchFamily="34" charset="0"/>
            </a:endParaRPr>
          </a:p>
          <a:p>
            <a:pPr algn="l"/>
            <a:r>
              <a:rPr lang="en-US" sz="1200" b="1">
                <a:solidFill>
                  <a:srgbClr val="323130"/>
                </a:solidFill>
                <a:latin typeface="Segoe UI" panose="020B0502040204020203" pitchFamily="34" charset="0"/>
              </a:rPr>
              <a:t>Promoting (ALM)</a:t>
            </a:r>
            <a:r>
              <a:rPr lang="en-US" sz="1200">
                <a:solidFill>
                  <a:srgbClr val="323130"/>
                </a:solidFill>
                <a:latin typeface="Segoe UI" panose="020B0502040204020203" pitchFamily="34" charset="0"/>
              </a:rPr>
              <a:t>: When a solution is ready for production, that's when pipeline, approval, and validation training lands most effectively</a:t>
            </a:r>
          </a:p>
          <a:p>
            <a:pPr algn="l"/>
            <a:endParaRPr lang="en-US" sz="1200">
              <a:solidFill>
                <a:srgbClr val="323130"/>
              </a:solidFill>
              <a:latin typeface="Segoe UI" panose="020B0502040204020203" pitchFamily="34" charset="0"/>
            </a:endParaRPr>
          </a:p>
          <a:p>
            <a:pPr algn="l"/>
            <a:r>
              <a:rPr lang="en-US" sz="1200" b="1">
                <a:solidFill>
                  <a:srgbClr val="323130"/>
                </a:solidFill>
                <a:latin typeface="Segoe UI" panose="020B0502040204020203" pitchFamily="34" charset="0"/>
              </a:rPr>
              <a:t>Incidents</a:t>
            </a:r>
            <a:r>
              <a:rPr lang="en-US" sz="1200">
                <a:solidFill>
                  <a:srgbClr val="323130"/>
                </a:solidFill>
                <a:latin typeface="Segoe UI" panose="020B0502040204020203" pitchFamily="34" charset="0"/>
              </a:rPr>
              <a:t>: When something breaks, the troubleshooting and escalation guidance needs to be immediately accessible, not buried somewhere they haven't visited in months</a:t>
            </a:r>
          </a:p>
          <a:p>
            <a:endParaRPr lang="en-US"/>
          </a:p>
          <a:p>
            <a:r>
              <a:rPr lang="en-US" sz="1200">
                <a:solidFill>
                  <a:srgbClr val="323130"/>
                </a:solidFill>
                <a:latin typeface="Segoe UI" panose="020B0502040204020203" pitchFamily="34" charset="0"/>
              </a:rPr>
              <a:t>Just-in-time skilling anchored to real maker moments can be far more effective than front-loaded training that people forget by the time they need it. And because platform, tenant, and solution change are continuous, skilling must be continuous too</a:t>
            </a:r>
            <a:endParaRPr lang="en-US"/>
          </a:p>
        </p:txBody>
      </p:sp>
      <p:sp>
        <p:nvSpPr>
          <p:cNvPr id="4" name="Slide Number Placeholder 3">
            <a:extLst>
              <a:ext uri="{FF2B5EF4-FFF2-40B4-BE49-F238E27FC236}">
                <a16:creationId xmlns:a16="http://schemas.microsoft.com/office/drawing/2014/main" id="{9FE07834-81B3-C789-ECC5-8D094D6B030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F0BFB-E1E1-4209-BBE7-213BAB0E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738167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64A28-368D-4AEF-C7B6-3CC97D0B5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41C377-C91C-2421-24C7-E5148A10C0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3E0391-E4BF-F253-8BF3-B274BCCB0682}"/>
              </a:ext>
            </a:extLst>
          </p:cNvPr>
          <p:cNvSpPr>
            <a:spLocks noGrp="1"/>
          </p:cNvSpPr>
          <p:nvPr>
            <p:ph type="body" idx="1"/>
          </p:nvPr>
        </p:nvSpPr>
        <p:spPr/>
        <p:txBody>
          <a:bodyPr/>
          <a:lstStyle/>
          <a:p>
            <a:r>
              <a:rPr lang="en-US" sz="1200" dirty="0">
                <a:solidFill>
                  <a:srgbClr val="323130"/>
                </a:solidFill>
                <a:latin typeface="Segoe UI" panose="020B0502040204020203" pitchFamily="34" charset="0"/>
              </a:rPr>
              <a:t>Let's look at how some organizations are putting this into practice. These are customers who've deployed at scale and can speak concretely about results.</a:t>
            </a:r>
            <a:endParaRPr lang="en-US" dirty="0">
              <a:cs typeface="Calibri" panose="020F0502020204030204"/>
            </a:endParaRPr>
          </a:p>
        </p:txBody>
      </p:sp>
      <p:sp>
        <p:nvSpPr>
          <p:cNvPr id="4" name="Slide Number Placeholder 3">
            <a:extLst>
              <a:ext uri="{FF2B5EF4-FFF2-40B4-BE49-F238E27FC236}">
                <a16:creationId xmlns:a16="http://schemas.microsoft.com/office/drawing/2014/main" id="{57F62D2E-B1E0-3EF6-99BE-75A6D7E211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C584F3-51FE-4E64-B870-AA5E24A7237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552840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A15E1-2CB8-CC8E-B117-838F2752F2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9D480-BEAB-8939-4310-EC3BEC52ADB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FCB53BE-35B8-FDB5-BD12-7E037FEB0686}"/>
              </a:ext>
            </a:extLst>
          </p:cNvPr>
          <p:cNvSpPr>
            <a:spLocks noGrp="1"/>
          </p:cNvSpPr>
          <p:nvPr>
            <p:ph type="body" idx="1"/>
          </p:nvPr>
        </p:nvSpPr>
        <p:spPr/>
        <p:txBody>
          <a:bodyPr/>
          <a:lstStyle/>
          <a:p>
            <a:r>
              <a:rPr lang="en-US" dirty="0">
                <a:hlinkClick r:id="rId3"/>
              </a:rPr>
              <a:t>HEINEKEN uses Power Platform to streamline operations and harness the potential of AI | Microsoft Customer Stories</a:t>
            </a:r>
            <a:endParaRPr lang="en-US" dirty="0"/>
          </a:p>
        </p:txBody>
      </p:sp>
      <p:sp>
        <p:nvSpPr>
          <p:cNvPr id="4" name="Slide Number Placeholder 3">
            <a:extLst>
              <a:ext uri="{FF2B5EF4-FFF2-40B4-BE49-F238E27FC236}">
                <a16:creationId xmlns:a16="http://schemas.microsoft.com/office/drawing/2014/main" id="{48F8E6E8-53BF-2D77-B5EC-89C4D0A2B4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F0BFB-E1E1-4209-BBE7-213BAB0E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104383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B93E2-6477-D9DA-232C-289DBB899F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20F19-8F0F-C0DE-9B3C-D78A38C48D6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43EE6B-6FFB-781E-D08B-013F26C3449D}"/>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hlinkClick r:id="rId3"/>
              </a:rPr>
              <a:t>Lumen optimizes processes by 90% and scales innovation across the organization with Managed Environments - Microsoft Power Platform Blog</a:t>
            </a:r>
            <a:endParaRPr lang="en-US" dirty="0"/>
          </a:p>
        </p:txBody>
      </p:sp>
      <p:sp>
        <p:nvSpPr>
          <p:cNvPr id="4" name="Slide Number Placeholder 3">
            <a:extLst>
              <a:ext uri="{FF2B5EF4-FFF2-40B4-BE49-F238E27FC236}">
                <a16:creationId xmlns:a16="http://schemas.microsoft.com/office/drawing/2014/main" id="{B4B4E74A-0976-B771-3587-43A180D163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F0BFB-E1E1-4209-BBE7-213BAB0E3AF5}"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740444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Learn more about the features available and see them in action. </a:t>
            </a:r>
          </a:p>
          <a:p>
            <a:endParaRPr lang="en-US" dirty="0"/>
          </a:p>
          <a:p>
            <a:r>
              <a:rPr lang="en-US" dirty="0"/>
              <a:t>Don’t forget the L200 deck for a more in-depth approach and feature coverage.</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DCC5434-A3C5-45B4-8161-35214AEAD05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5/6/2026 12:19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556151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CCB81A-5DB0-4D02-A009-A50A12BD3ED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653719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71A8B-248A-CDC3-AEB4-FA6D73843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4E376D-1138-85B0-BA2E-965085CAAB0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0178A7F-3654-A8B5-E3BF-56288CBF92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09BF4B-40A8-3038-5352-5F0BC0BFB9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7B9D4F-5F19-438C-92E8-037C6AE8F8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02890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E4E7F-6A70-4979-C930-2DEB782F37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F67633-B545-E6FB-7062-881B4053414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8A8130-34BD-CE75-3AD5-C07BFC1DCA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6914B8-20D2-5086-3375-B6CC8F36AE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1CCB81A-5DB0-4D02-A009-A50A12BD3ED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148107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7.jpeg"/><Relationship Id="rId4" Type="http://schemas.microsoft.com/office/2007/relationships/hdphoto" Target="../media/hdphoto1.wdp"/></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Master" Target="../slideMasters/slideMaster1.xml"/><Relationship Id="rId5" Type="http://schemas.openxmlformats.org/officeDocument/2006/relationships/image" Target="../media/image28.jpeg"/><Relationship Id="rId4" Type="http://schemas.openxmlformats.org/officeDocument/2006/relationships/image" Target="../media/image27.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Master" Target="../slideMasters/slideMaster1.xml"/><Relationship Id="rId4" Type="http://schemas.openxmlformats.org/officeDocument/2006/relationships/image" Target="../media/image33.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Master" Target="../slideMasters/slideMaster1.xml"/><Relationship Id="rId5" Type="http://schemas.openxmlformats.org/officeDocument/2006/relationships/image" Target="../media/image37.jpeg"/><Relationship Id="rId4" Type="http://schemas.openxmlformats.org/officeDocument/2006/relationships/image" Target="../media/image36.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Master" Target="../slideMasters/slideMaster1.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Master" Target="../slideMasters/slideMaster1.xml"/><Relationship Id="rId4" Type="http://schemas.openxmlformats.org/officeDocument/2006/relationships/image" Target="../media/image45.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Master" Target="../slideMasters/slideMaster1.xml"/><Relationship Id="rId5" Type="http://schemas.openxmlformats.org/officeDocument/2006/relationships/image" Target="../media/image46.jpeg"/><Relationship Id="rId4" Type="http://schemas.openxmlformats.org/officeDocument/2006/relationships/image" Target="../media/image4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Master" Target="../slideMasters/slideMaster1.xml"/><Relationship Id="rId6" Type="http://schemas.openxmlformats.org/officeDocument/2006/relationships/image" Target="../media/image51.jpeg"/><Relationship Id="rId5" Type="http://schemas.openxmlformats.org/officeDocument/2006/relationships/image" Target="../media/image50.jpeg"/><Relationship Id="rId4" Type="http://schemas.openxmlformats.org/officeDocument/2006/relationships/image" Target="../media/image4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jpe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jpeg"/><Relationship Id="rId1" Type="http://schemas.openxmlformats.org/officeDocument/2006/relationships/slideMaster" Target="../slideMasters/slideMaster1.xml"/><Relationship Id="rId5" Type="http://schemas.openxmlformats.org/officeDocument/2006/relationships/image" Target="../media/image65.png"/><Relationship Id="rId4" Type="http://schemas.microsoft.com/office/2007/relationships/hdphoto" Target="../media/hdphoto3.wdp"/></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Master" Target="../slideMasters/slideMaster1.xml"/><Relationship Id="rId4" Type="http://schemas.microsoft.com/office/2007/relationships/hdphoto" Target="../media/hdphoto4.wdp"/></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73.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78.svg"/></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79.sv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80.sv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6" name="Picture 5" descr="A black background with white text&#10;&#10;AI-generated content may be incorrect.">
            <a:extLst>
              <a:ext uri="{FF2B5EF4-FFF2-40B4-BE49-F238E27FC236}">
                <a16:creationId xmlns:a16="http://schemas.microsoft.com/office/drawing/2014/main" id="{87EB78CB-2D42-05B4-A44B-341CA0A288ED}"/>
              </a:ext>
            </a:extLst>
          </p:cNvPr>
          <p:cNvPicPr>
            <a:picLocks noChangeAspect="1"/>
          </p:cNvPicPr>
          <p:nvPr userDrawn="1"/>
        </p:nvPicPr>
        <p:blipFill>
          <a:blip r:embed="rId3"/>
          <a:stretch>
            <a:fillRect/>
          </a:stretch>
        </p:blipFill>
        <p:spPr>
          <a:xfrm>
            <a:off x="571500" y="581978"/>
            <a:ext cx="1454782" cy="309085"/>
          </a:xfrm>
          <a:prstGeom prst="rect">
            <a:avLst/>
          </a:prstGeom>
        </p:spPr>
      </p:pic>
    </p:spTree>
    <p:extLst>
      <p:ext uri="{BB962C8B-B14F-4D97-AF65-F5344CB8AC3E}">
        <p14:creationId xmlns:p14="http://schemas.microsoft.com/office/powerpoint/2010/main" val="25658962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3" name="Picture 2" descr="A black background with white text&#10;&#10;AI-generated content may be incorrect.">
            <a:extLst>
              <a:ext uri="{FF2B5EF4-FFF2-40B4-BE49-F238E27FC236}">
                <a16:creationId xmlns:a16="http://schemas.microsoft.com/office/drawing/2014/main" id="{04E03F2E-1378-98F8-9B51-54C89B0A370F}"/>
              </a:ext>
            </a:extLst>
          </p:cNvPr>
          <p:cNvPicPr>
            <a:picLocks noChangeAspect="1"/>
          </p:cNvPicPr>
          <p:nvPr userDrawn="1"/>
        </p:nvPicPr>
        <p:blipFill>
          <a:blip r:embed="rId3"/>
          <a:stretch>
            <a:fillRect/>
          </a:stretch>
        </p:blipFill>
        <p:spPr>
          <a:xfrm>
            <a:off x="571500" y="581978"/>
            <a:ext cx="1454782" cy="309085"/>
          </a:xfrm>
          <a:prstGeom prst="rect">
            <a:avLst/>
          </a:prstGeom>
        </p:spPr>
      </p:pic>
    </p:spTree>
    <p:extLst>
      <p:ext uri="{BB962C8B-B14F-4D97-AF65-F5344CB8AC3E}">
        <p14:creationId xmlns:p14="http://schemas.microsoft.com/office/powerpoint/2010/main" val="22280299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2" name="Picture 1" descr="A black background with white text&#10;&#10;AI-generated content may be incorrect.">
            <a:extLst>
              <a:ext uri="{FF2B5EF4-FFF2-40B4-BE49-F238E27FC236}">
                <a16:creationId xmlns:a16="http://schemas.microsoft.com/office/drawing/2014/main" id="{ED05F2F1-18E8-317B-CB51-3A1DCF90F183}"/>
              </a:ext>
            </a:extLst>
          </p:cNvPr>
          <p:cNvPicPr>
            <a:picLocks noChangeAspect="1"/>
          </p:cNvPicPr>
          <p:nvPr userDrawn="1"/>
        </p:nvPicPr>
        <p:blipFill>
          <a:blip r:embed="rId3"/>
          <a:stretch>
            <a:fillRect/>
          </a:stretch>
        </p:blipFill>
        <p:spPr>
          <a:xfrm>
            <a:off x="571500" y="581978"/>
            <a:ext cx="1454782" cy="309085"/>
          </a:xfrm>
          <a:prstGeom prst="rect">
            <a:avLst/>
          </a:prstGeom>
        </p:spPr>
      </p:pic>
    </p:spTree>
    <p:extLst>
      <p:ext uri="{BB962C8B-B14F-4D97-AF65-F5344CB8AC3E}">
        <p14:creationId xmlns:p14="http://schemas.microsoft.com/office/powerpoint/2010/main" val="4701690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blipFill>
            <a:blip r:embed="rId3"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3" name="Picture 2" descr="A black background with white text&#10;&#10;AI-generated content may be incorrect.">
            <a:extLst>
              <a:ext uri="{FF2B5EF4-FFF2-40B4-BE49-F238E27FC236}">
                <a16:creationId xmlns:a16="http://schemas.microsoft.com/office/drawing/2014/main" id="{D60EDCE9-88F7-1F88-5B80-F58E959B7F68}"/>
              </a:ext>
            </a:extLst>
          </p:cNvPr>
          <p:cNvPicPr>
            <a:picLocks noChangeAspect="1"/>
          </p:cNvPicPr>
          <p:nvPr userDrawn="1"/>
        </p:nvPicPr>
        <p:blipFill>
          <a:blip r:embed="rId4"/>
          <a:stretch>
            <a:fillRect/>
          </a:stretch>
        </p:blipFill>
        <p:spPr>
          <a:xfrm>
            <a:off x="571500" y="581978"/>
            <a:ext cx="1454782" cy="309085"/>
          </a:xfrm>
          <a:prstGeom prst="rect">
            <a:avLst/>
          </a:prstGeom>
        </p:spPr>
      </p:pic>
    </p:spTree>
    <p:extLst>
      <p:ext uri="{BB962C8B-B14F-4D97-AF65-F5344CB8AC3E}">
        <p14:creationId xmlns:p14="http://schemas.microsoft.com/office/powerpoint/2010/main" val="36783176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91844485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58277137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3" name="Text Placeholder 4">
            <a:extLst>
              <a:ext uri="{FF2B5EF4-FFF2-40B4-BE49-F238E27FC236}">
                <a16:creationId xmlns:a16="http://schemas.microsoft.com/office/drawing/2014/main" id="{CDC3595B-25C2-CF43-259D-75A3671E709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610447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Sans Display" pitchFamily="2" charset="0"/>
                <a:cs typeface="Segoe Sans Display" pitchFamily="2"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3A3D27F9-7D19-8ECF-C50E-71D515E54BB8}"/>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425901327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4">
            <a:extLst>
              <a:ext uri="{FF2B5EF4-FFF2-40B4-BE49-F238E27FC236}">
                <a16:creationId xmlns:a16="http://schemas.microsoft.com/office/drawing/2014/main" id="{C112CDB0-015D-94C2-ECEE-970711F59EB7}"/>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60540142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 Placeholder 4">
            <a:extLst>
              <a:ext uri="{FF2B5EF4-FFF2-40B4-BE49-F238E27FC236}">
                <a16:creationId xmlns:a16="http://schemas.microsoft.com/office/drawing/2014/main" id="{A51E17F0-59B9-3EAE-0FC7-A1EBDE8F7BB3}"/>
              </a:ext>
            </a:extLst>
          </p:cNvPr>
          <p:cNvSpPr>
            <a:spLocks noGrp="1"/>
          </p:cNvSpPr>
          <p:nvPr>
            <p:ph type="body" sz="quarter" idx="18"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23966441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496CCFA2-2D28-1617-4A3E-368924E94312}"/>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329776708"/>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8AB70484-C812-6F3C-92DD-F6B2E1A813C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331570686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A97F131-E501-E84F-7717-E61457B6D3AC}"/>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419957142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3366802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021888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417728178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Sans Display" pitchFamily="2" charset="0"/>
              </a:defRPr>
            </a:lvl1pPr>
          </a:lstStyle>
          <a:p>
            <a:r>
              <a:rPr lang="en-US"/>
              <a:t>Click to edit Master title style</a:t>
            </a:r>
          </a:p>
        </p:txBody>
      </p:sp>
    </p:spTree>
    <p:extLst>
      <p:ext uri="{BB962C8B-B14F-4D97-AF65-F5344CB8AC3E}">
        <p14:creationId xmlns:p14="http://schemas.microsoft.com/office/powerpoint/2010/main" val="1287620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vic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6583680"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84200" y="292100"/>
            <a:ext cx="658368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2CFD743-438B-21E8-B2BA-FF8644B73E5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237275225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2875002"/>
            <a:ext cx="3840862" cy="1107996"/>
          </a:xfrm>
        </p:spPr>
        <p:txBody>
          <a:bodyPr anchor="ctr" anchorCtr="0"/>
          <a:lstStyle>
            <a:lvl1pPr>
              <a:defRPr>
                <a:solidFill>
                  <a:schemeClr val="tx1"/>
                </a:solidFill>
              </a:defRPr>
            </a:lvl1pPr>
          </a:lstStyle>
          <a:p>
            <a:r>
              <a:rPr lang="en-US"/>
              <a:t>Click to edit Master title style</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Tree>
    <p:extLst>
      <p:ext uri="{BB962C8B-B14F-4D97-AF65-F5344CB8AC3E}">
        <p14:creationId xmlns:p14="http://schemas.microsoft.com/office/powerpoint/2010/main" val="63128716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solidFill>
            <a:srgbClr val="E1D3C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745164" cy="1514157"/>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2743200"/>
            <a:ext cx="4749800" cy="352583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Tree>
    <p:extLst>
      <p:ext uri="{BB962C8B-B14F-4D97-AF65-F5344CB8AC3E}">
        <p14:creationId xmlns:p14="http://schemas.microsoft.com/office/powerpoint/2010/main" val="175415538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hidden="1">
            <a:extLst>
              <a:ext uri="{FF2B5EF4-FFF2-40B4-BE49-F238E27FC236}">
                <a16:creationId xmlns:a16="http://schemas.microsoft.com/office/drawing/2014/main" id="{4E2E619B-2D74-9B55-98E1-9E6126DE0DB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Tree>
    <p:extLst>
      <p:ext uri="{BB962C8B-B14F-4D97-AF65-F5344CB8AC3E}">
        <p14:creationId xmlns:p14="http://schemas.microsoft.com/office/powerpoint/2010/main" val="64586939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2914173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Graphic 4">
    <p:bg>
      <p:bgPr>
        <a:solidFill>
          <a:srgbClr val="FFF8F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58AEFBE-EE1F-0FBF-5C84-1DF6EC17775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853636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5710850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04812982"/>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3D4BC3CE-C968-246E-EAC3-B829FDF59F19}"/>
              </a:ext>
            </a:extLst>
          </p:cNvPr>
          <p:cNvSpPr>
            <a:spLocks noGrp="1"/>
          </p:cNvSpPr>
          <p:nvPr>
            <p:ph type="pic" sz="quarter" idx="11" hasCustomPrompt="1"/>
          </p:nvPr>
        </p:nvSpPr>
        <p:spPr bwMode="ltGray">
          <a:xfrm>
            <a:off x="5334000" y="0"/>
            <a:ext cx="6858000" cy="6858000"/>
          </a:xfr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4805465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811377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3" name="Picture Placeholder" descr="This photo is a 'placeholder' only. Drag or drop your photo here, or click and tap the center to insert a photo.">
            <a:extLst>
              <a:ext uri="{FF2B5EF4-FFF2-40B4-BE49-F238E27FC236}">
                <a16:creationId xmlns:a16="http://schemas.microsoft.com/office/drawing/2014/main" id="{84EB85E8-62D6-9C5F-D48A-055FCADA251A}"/>
              </a:ext>
            </a:extLst>
          </p:cNvPr>
          <p:cNvSpPr>
            <a:spLocks noGrp="1"/>
          </p:cNvSpPr>
          <p:nvPr>
            <p:ph type="pic" sz="quarter" idx="11" hasCustomPrompt="1"/>
          </p:nvPr>
        </p:nvSpPr>
        <p:spPr bwMode="ltGray">
          <a:xfrm>
            <a:off x="0" y="2286000"/>
            <a:ext cx="12192000" cy="4572000"/>
          </a:xfr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23066144"/>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84115840"/>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9518665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09958987"/>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4915285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504648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15739900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191824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3559987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21930456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2871401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62960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3809145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veloper Code Layou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8852995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de Bottom">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50368879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de Top">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Sans Display" pitchFamily="2"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602485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de Right sid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76955069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de Left sd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Sans Display" pitchFamily="2"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Sans Display" pitchFamily="2" charset="0"/>
                <a:cs typeface="Segoe Sans Display" pitchFamily="2"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273194464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7676995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Tree>
    <p:extLst>
      <p:ext uri="{BB962C8B-B14F-4D97-AF65-F5344CB8AC3E}">
        <p14:creationId xmlns:p14="http://schemas.microsoft.com/office/powerpoint/2010/main" val="26127231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20220877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85216" y="3977319"/>
            <a:ext cx="4177284" cy="246221"/>
          </a:xfr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22189949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2254429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Tree>
    <p:extLst>
      <p:ext uri="{BB962C8B-B14F-4D97-AF65-F5344CB8AC3E}">
        <p14:creationId xmlns:p14="http://schemas.microsoft.com/office/powerpoint/2010/main" val="41692245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29214143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Tree>
    <p:extLst>
      <p:ext uri="{BB962C8B-B14F-4D97-AF65-F5344CB8AC3E}">
        <p14:creationId xmlns:p14="http://schemas.microsoft.com/office/powerpoint/2010/main" val="14003168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ection Divider 2">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EC35758C-F131-7614-818F-2E39945DE704}"/>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2" name="Picture 21">
            <a:extLst>
              <a:ext uri="{FF2B5EF4-FFF2-40B4-BE49-F238E27FC236}">
                <a16:creationId xmlns:a16="http://schemas.microsoft.com/office/drawing/2014/main" id="{DF003619-5BE5-1CA6-EA88-D4717A72E269}"/>
              </a:ext>
            </a:extLst>
          </p:cNvPr>
          <p:cNvPicPr>
            <a:picLocks noChangeAspect="1"/>
          </p:cNvPicPr>
          <p:nvPr userDrawn="1"/>
        </p:nvPicPr>
        <p:blipFill>
          <a:blip r:embed="rId3">
            <a:extLst>
              <a:ext uri="{BEBA8EAE-BF5A-486C-A8C5-ECC9F3942E4B}">
                <a14:imgProps xmlns:a14="http://schemas.microsoft.com/office/drawing/2010/main">
                  <a14:imgLayer r:embed="rId4">
                    <a14:imgEffect>
                      <a14:sharpenSoften amount="-100000"/>
                    </a14:imgEffect>
                  </a14:imgLayer>
                </a14:imgProps>
              </a:ext>
            </a:extLst>
          </a:blip>
          <a:srcRect l="3750" t="7257" r="3750" b="7257"/>
          <a:stretch>
            <a:fillRect/>
          </a:stretch>
        </p:blipFill>
        <p:spPr>
          <a:xfrm>
            <a:off x="457200" y="497711"/>
            <a:ext cx="11277600" cy="5862578"/>
          </a:xfrm>
          <a:prstGeom prst="roundRect">
            <a:avLst>
              <a:gd name="adj" fmla="val 5216"/>
            </a:avLst>
          </a:prstGeom>
        </p:spPr>
      </p:pic>
      <p:sp>
        <p:nvSpPr>
          <p:cNvPr id="12" name="Rectangle: Rounded Corners 11">
            <a:extLst>
              <a:ext uri="{FF2B5EF4-FFF2-40B4-BE49-F238E27FC236}">
                <a16:creationId xmlns:a16="http://schemas.microsoft.com/office/drawing/2014/main" id="{BAA4FF14-4274-8AE3-51F4-FC46226116D4}"/>
              </a:ext>
            </a:extLst>
          </p:cNvPr>
          <p:cNvSpPr/>
          <p:nvPr userDrawn="1"/>
        </p:nvSpPr>
        <p:spPr bwMode="auto">
          <a:xfrm>
            <a:off x="585217" y="587375"/>
            <a:ext cx="11021568" cy="5683250"/>
          </a:xfrm>
          <a:prstGeom prst="roundRect">
            <a:avLst>
              <a:gd name="adj" fmla="val 3561"/>
            </a:avLst>
          </a:prstGeom>
          <a:solidFill>
            <a:schemeClr val="bg1">
              <a:alpha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932456" y="3035808"/>
            <a:ext cx="1000224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7240500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pos="6888">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ction Divider 1">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7711EE3-18CF-6EB0-DA8C-9AAAF98F36A4}"/>
              </a:ext>
            </a:extLst>
          </p:cNvPr>
          <p:cNvPicPr>
            <a:picLocks noChangeAspect="1"/>
          </p:cNvPicPr>
          <p:nvPr userDrawn="1"/>
        </p:nvPicPr>
        <p:blipFill>
          <a:blip r:embed="rId2">
            <a:alphaModFix amt="80000"/>
          </a:blip>
          <a:stretch>
            <a:fillRect/>
          </a:stretch>
        </p:blipFill>
        <p:spPr>
          <a:xfrm>
            <a:off x="0" y="0"/>
            <a:ext cx="12192000" cy="6858000"/>
          </a:xfrm>
          <a:prstGeom prst="rect">
            <a:avLst/>
          </a:prstGeom>
        </p:spPr>
      </p:pic>
      <p:pic>
        <p:nvPicPr>
          <p:cNvPr id="11" name="Picture 10">
            <a:extLst>
              <a:ext uri="{FF2B5EF4-FFF2-40B4-BE49-F238E27FC236}">
                <a16:creationId xmlns:a16="http://schemas.microsoft.com/office/drawing/2014/main" id="{AFCC56BA-208B-E1DB-FDDC-EB17727C83F5}"/>
              </a:ext>
            </a:extLst>
          </p:cNvPr>
          <p:cNvPicPr>
            <a:picLocks noChangeAspect="1"/>
          </p:cNvPicPr>
          <p:nvPr userDrawn="1"/>
        </p:nvPicPr>
        <p:blipFill>
          <a:blip r:embed="rId3">
            <a:extLst>
              <a:ext uri="{BEBA8EAE-BF5A-486C-A8C5-ECC9F3942E4B}">
                <a14:imgProps xmlns:a14="http://schemas.microsoft.com/office/drawing/2010/main">
                  <a14:imgLayer r:embed="rId4">
                    <a14:imgEffect>
                      <a14:sharpenSoften amount="-100000"/>
                    </a14:imgEffect>
                  </a14:imgLayer>
                </a14:imgProps>
              </a:ext>
            </a:extLst>
          </a:blip>
          <a:srcRect t="25111" b="25111"/>
          <a:stretch>
            <a:fillRect/>
          </a:stretch>
        </p:blipFill>
        <p:spPr>
          <a:xfrm>
            <a:off x="0" y="1722120"/>
            <a:ext cx="12192000" cy="3413760"/>
          </a:xfrm>
          <a:prstGeom prst="rect">
            <a:avLst/>
          </a:prstGeom>
        </p:spPr>
      </p:pic>
      <p:sp>
        <p:nvSpPr>
          <p:cNvPr id="6" name="Rectangle 5">
            <a:extLst>
              <a:ext uri="{FF2B5EF4-FFF2-40B4-BE49-F238E27FC236}">
                <a16:creationId xmlns:a16="http://schemas.microsoft.com/office/drawing/2014/main" id="{6A10B480-7D6A-59F4-6604-367D0BC01C4A}"/>
              </a:ext>
            </a:extLst>
          </p:cNvPr>
          <p:cNvSpPr/>
          <p:nvPr userDrawn="1"/>
        </p:nvSpPr>
        <p:spPr bwMode="auto">
          <a:xfrm>
            <a:off x="-2" y="1874520"/>
            <a:ext cx="12192002" cy="3108960"/>
          </a:xfrm>
          <a:prstGeom prst="rect">
            <a:avLst/>
          </a:prstGeom>
          <a:solidFill>
            <a:schemeClr val="bg1">
              <a:alpha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1500" y="3152001"/>
            <a:ext cx="10363200" cy="553998"/>
          </a:xfrm>
          <a:noFill/>
        </p:spPr>
        <p:txBody>
          <a:bodyPr wrap="square" lIns="0" tIns="0" rIns="0" bIns="0" anchor="ctr"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3" name="Picture 2">
            <a:extLst>
              <a:ext uri="{FF2B5EF4-FFF2-40B4-BE49-F238E27FC236}">
                <a16:creationId xmlns:a16="http://schemas.microsoft.com/office/drawing/2014/main" id="{566D407E-8F38-4FE1-0C86-44CC42495F1B}"/>
              </a:ext>
            </a:extLst>
          </p:cNvPr>
          <p:cNvPicPr>
            <a:picLocks noChangeAspect="1"/>
          </p:cNvPicPr>
          <p:nvPr userDrawn="1"/>
        </p:nvPicPr>
        <p:blipFill>
          <a:blip r:embed="rId5">
            <a:extLst>
              <a:ext uri="{28A0092B-C50C-407E-A947-70E740481C1C}">
                <a14:useLocalDpi xmlns:a14="http://schemas.microsoft.com/office/drawing/2010/main" val="0"/>
              </a:ext>
            </a:extLst>
          </a:blip>
          <a:srcRect l="15312" t="31887" r="13409" b="31887"/>
          <a:stretch>
            <a:fillRect/>
          </a:stretch>
        </p:blipFill>
        <p:spPr>
          <a:xfrm>
            <a:off x="355600" y="428197"/>
            <a:ext cx="1989523" cy="428197"/>
          </a:xfrm>
          <a:prstGeom prst="rect">
            <a:avLst/>
          </a:prstGeom>
        </p:spPr>
      </p:pic>
    </p:spTree>
    <p:extLst>
      <p:ext uri="{BB962C8B-B14F-4D97-AF65-F5344CB8AC3E}">
        <p14:creationId xmlns:p14="http://schemas.microsoft.com/office/powerpoint/2010/main" val="11691704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28">
          <p15:clr>
            <a:srgbClr val="FBAE40"/>
          </p15:clr>
        </p15:guide>
        <p15:guide id="4" pos="6888">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1714498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2998951392"/>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85216"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10228401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090566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with blue backgro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2E413-9F40-982E-AB70-A707EBC1795C}"/>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22886188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2530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18675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hasCustomPrompt="1"/>
          </p:nvPr>
        </p:nvSpPr>
        <p:spPr>
          <a:xfrm>
            <a:off x="913532" y="988864"/>
            <a:ext cx="2687322" cy="553998"/>
          </a:xfrm>
        </p:spPr>
        <p:txBody>
          <a:bodyPr/>
          <a:lstStyle>
            <a:lvl1pPr>
              <a:defRPr sz="3600">
                <a:solidFill>
                  <a:schemeClr val="tx1"/>
                </a:solidFill>
              </a:defRPr>
            </a:lvl1pPr>
          </a:lstStyle>
          <a:p>
            <a:r>
              <a:rPr lang="en-US"/>
              <a:t>Agenda</a:t>
            </a:r>
          </a:p>
        </p:txBody>
      </p:sp>
      <p:sp>
        <p:nvSpPr>
          <p:cNvPr id="21" name="Text Placeholder 20">
            <a:extLst>
              <a:ext uri="{FF2B5EF4-FFF2-40B4-BE49-F238E27FC236}">
                <a16:creationId xmlns:a16="http://schemas.microsoft.com/office/drawing/2014/main" id="{51E45E10-7F7C-D798-FDD1-D23E4BA7C86F}"/>
              </a:ext>
            </a:extLst>
          </p:cNvPr>
          <p:cNvSpPr>
            <a:spLocks noGrp="1"/>
          </p:cNvSpPr>
          <p:nvPr>
            <p:ph type="body" sz="quarter" idx="10"/>
          </p:nvPr>
        </p:nvSpPr>
        <p:spPr>
          <a:xfrm>
            <a:off x="4135120" y="1070297"/>
            <a:ext cx="7143345" cy="430887"/>
          </a:xfrm>
        </p:spPr>
        <p:txBody>
          <a:bodyPr anchor="t"/>
          <a:lstStyle>
            <a:lvl1pPr marL="0" indent="0">
              <a:buNone/>
              <a:defRPr sz="2800"/>
            </a:lvl1pPr>
            <a:lvl2pPr marL="228600" indent="0">
              <a:buNone/>
              <a:defRPr/>
            </a:lvl2pPr>
          </a:lstStyle>
          <a:p>
            <a:pPr lvl="0"/>
            <a:r>
              <a:rPr lang="en-US"/>
              <a:t>Click to edit Master text styles</a:t>
            </a:r>
          </a:p>
        </p:txBody>
      </p:sp>
      <p:sp>
        <p:nvSpPr>
          <p:cNvPr id="22" name="Text Placeholder 20">
            <a:extLst>
              <a:ext uri="{FF2B5EF4-FFF2-40B4-BE49-F238E27FC236}">
                <a16:creationId xmlns:a16="http://schemas.microsoft.com/office/drawing/2014/main" id="{8C4975B9-13D5-4CDF-CFB0-74F52496A564}"/>
              </a:ext>
            </a:extLst>
          </p:cNvPr>
          <p:cNvSpPr>
            <a:spLocks noGrp="1"/>
          </p:cNvSpPr>
          <p:nvPr>
            <p:ph type="body" sz="quarter" idx="11"/>
          </p:nvPr>
        </p:nvSpPr>
        <p:spPr>
          <a:xfrm>
            <a:off x="4135120" y="1813744"/>
            <a:ext cx="7143345" cy="430887"/>
          </a:xfrm>
        </p:spPr>
        <p:txBody>
          <a:bodyPr anchor="t"/>
          <a:lstStyle>
            <a:lvl1pPr marL="0" indent="0">
              <a:buNone/>
              <a:defRPr sz="2800"/>
            </a:lvl1pPr>
            <a:lvl2pPr marL="347663" indent="-227013">
              <a:buSzPct val="100000"/>
              <a:buFont typeface="Arial" panose="020B0604020202020204" pitchFamily="34" charset="0"/>
              <a:buChar char="•"/>
              <a:defRPr sz="2400"/>
            </a:lvl2pPr>
          </a:lstStyle>
          <a:p>
            <a:pPr lvl="0"/>
            <a:r>
              <a:rPr lang="en-US"/>
              <a:t>Click to edit Master text styles</a:t>
            </a:r>
          </a:p>
        </p:txBody>
      </p:sp>
      <p:sp>
        <p:nvSpPr>
          <p:cNvPr id="23" name="Text Placeholder 20">
            <a:extLst>
              <a:ext uri="{FF2B5EF4-FFF2-40B4-BE49-F238E27FC236}">
                <a16:creationId xmlns:a16="http://schemas.microsoft.com/office/drawing/2014/main" id="{ED4D522F-FA90-CBCE-45CE-D504D6490392}"/>
              </a:ext>
            </a:extLst>
          </p:cNvPr>
          <p:cNvSpPr>
            <a:spLocks noGrp="1"/>
          </p:cNvSpPr>
          <p:nvPr>
            <p:ph type="body" sz="quarter" idx="12"/>
          </p:nvPr>
        </p:nvSpPr>
        <p:spPr>
          <a:xfrm>
            <a:off x="4135120" y="2557191"/>
            <a:ext cx="7143345" cy="430887"/>
          </a:xfrm>
        </p:spPr>
        <p:txBody>
          <a:bodyPr anchor="t"/>
          <a:lstStyle>
            <a:lvl1pPr marL="0" indent="0">
              <a:buNone/>
              <a:defRPr sz="2800"/>
            </a:lvl1pPr>
            <a:lvl2pPr marL="228600" indent="0">
              <a:buNone/>
              <a:defRPr/>
            </a:lvl2pPr>
          </a:lstStyle>
          <a:p>
            <a:pPr lvl="0"/>
            <a:r>
              <a:rPr lang="en-US"/>
              <a:t>Click to edit Master text styles</a:t>
            </a:r>
          </a:p>
        </p:txBody>
      </p:sp>
      <p:sp>
        <p:nvSpPr>
          <p:cNvPr id="24" name="Text Placeholder 20">
            <a:extLst>
              <a:ext uri="{FF2B5EF4-FFF2-40B4-BE49-F238E27FC236}">
                <a16:creationId xmlns:a16="http://schemas.microsoft.com/office/drawing/2014/main" id="{5D78D0FF-5949-7FCC-7238-8DCB8383AF59}"/>
              </a:ext>
            </a:extLst>
          </p:cNvPr>
          <p:cNvSpPr>
            <a:spLocks noGrp="1"/>
          </p:cNvSpPr>
          <p:nvPr>
            <p:ph type="body" sz="quarter" idx="13"/>
          </p:nvPr>
        </p:nvSpPr>
        <p:spPr>
          <a:xfrm>
            <a:off x="4135120" y="3300638"/>
            <a:ext cx="7143345" cy="430887"/>
          </a:xfrm>
        </p:spPr>
        <p:txBody>
          <a:bodyPr anchor="t"/>
          <a:lstStyle>
            <a:lvl1pPr marL="0" indent="0">
              <a:buNone/>
              <a:defRPr sz="2800"/>
            </a:lvl1pPr>
            <a:lvl2pPr marL="228600" indent="0">
              <a:buNone/>
              <a:defRPr/>
            </a:lvl2pPr>
          </a:lstStyle>
          <a:p>
            <a:pPr lvl="0"/>
            <a:r>
              <a:rPr lang="en-US"/>
              <a:t>Click to edit Master text styles</a:t>
            </a:r>
          </a:p>
        </p:txBody>
      </p:sp>
      <p:sp>
        <p:nvSpPr>
          <p:cNvPr id="25" name="Text Placeholder 20">
            <a:extLst>
              <a:ext uri="{FF2B5EF4-FFF2-40B4-BE49-F238E27FC236}">
                <a16:creationId xmlns:a16="http://schemas.microsoft.com/office/drawing/2014/main" id="{6897A062-44C9-99A5-6B4B-C6DA241E7AD5}"/>
              </a:ext>
            </a:extLst>
          </p:cNvPr>
          <p:cNvSpPr>
            <a:spLocks noGrp="1"/>
          </p:cNvSpPr>
          <p:nvPr>
            <p:ph type="body" sz="quarter" idx="14"/>
          </p:nvPr>
        </p:nvSpPr>
        <p:spPr>
          <a:xfrm>
            <a:off x="4135120" y="4044085"/>
            <a:ext cx="7143345" cy="430887"/>
          </a:xfrm>
        </p:spPr>
        <p:txBody>
          <a:bodyPr anchor="t"/>
          <a:lstStyle>
            <a:lvl1pPr marL="0" indent="0">
              <a:buNone/>
              <a:defRPr sz="2800"/>
            </a:lvl1pPr>
            <a:lvl2pPr marL="228600" indent="0">
              <a:buNone/>
              <a:defRPr/>
            </a:lvl2pPr>
          </a:lstStyle>
          <a:p>
            <a:pPr lvl="0"/>
            <a:r>
              <a:rPr lang="en-US"/>
              <a:t>Click to edit Master text styles</a:t>
            </a:r>
          </a:p>
        </p:txBody>
      </p:sp>
      <p:sp>
        <p:nvSpPr>
          <p:cNvPr id="26" name="Text Placeholder 20">
            <a:extLst>
              <a:ext uri="{FF2B5EF4-FFF2-40B4-BE49-F238E27FC236}">
                <a16:creationId xmlns:a16="http://schemas.microsoft.com/office/drawing/2014/main" id="{2FB1604E-6377-B8B4-625F-B918030B5879}"/>
              </a:ext>
            </a:extLst>
          </p:cNvPr>
          <p:cNvSpPr>
            <a:spLocks noGrp="1"/>
          </p:cNvSpPr>
          <p:nvPr>
            <p:ph type="body" sz="quarter" idx="15"/>
          </p:nvPr>
        </p:nvSpPr>
        <p:spPr>
          <a:xfrm>
            <a:off x="4135120" y="4787531"/>
            <a:ext cx="7143345" cy="430887"/>
          </a:xfrm>
        </p:spPr>
        <p:txBody>
          <a:bodyPr anchor="t"/>
          <a:lstStyle>
            <a:lvl1pPr marL="0" indent="0">
              <a:buNone/>
              <a:defRPr sz="2800"/>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974307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genda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hasCustomPrompt="1"/>
          </p:nvPr>
        </p:nvSpPr>
        <p:spPr>
          <a:xfrm>
            <a:off x="304800" y="587375"/>
            <a:ext cx="3108325" cy="5681663"/>
          </a:xfrm>
          <a:prstGeom prst="roundRect">
            <a:avLst>
              <a:gd name="adj" fmla="val 6187"/>
            </a:avLst>
          </a:prstGeom>
          <a:gradFill>
            <a:gsLst>
              <a:gs pos="0">
                <a:schemeClr val="bg1">
                  <a:alpha val="25000"/>
                </a:schemeClr>
              </a:gs>
              <a:gs pos="100000">
                <a:schemeClr val="bg1"/>
              </a:gs>
            </a:gsLst>
            <a:path path="circle">
              <a:fillToRect l="100000" t="100000"/>
            </a:path>
          </a:gradFill>
          <a:ln>
            <a:solidFill>
              <a:schemeClr val="bg1"/>
            </a:solidFill>
          </a:ln>
        </p:spPr>
        <p:txBody>
          <a:bodyPr lIns="182880" tIns="320040">
            <a:noAutofit/>
          </a:bodyPr>
          <a:lstStyle>
            <a:lvl1pPr>
              <a:defRPr sz="3600">
                <a:solidFill>
                  <a:schemeClr val="tx1"/>
                </a:solidFill>
              </a:defRPr>
            </a:lvl1pPr>
          </a:lstStyle>
          <a:p>
            <a:r>
              <a:rPr lang="en-US"/>
              <a:t>Agenda</a:t>
            </a:r>
          </a:p>
        </p:txBody>
      </p:sp>
      <p:sp>
        <p:nvSpPr>
          <p:cNvPr id="21" name="Text Placeholder 20">
            <a:extLst>
              <a:ext uri="{FF2B5EF4-FFF2-40B4-BE49-F238E27FC236}">
                <a16:creationId xmlns:a16="http://schemas.microsoft.com/office/drawing/2014/main" id="{51E45E10-7F7C-D798-FDD1-D23E4BA7C86F}"/>
              </a:ext>
            </a:extLst>
          </p:cNvPr>
          <p:cNvSpPr>
            <a:spLocks noGrp="1"/>
          </p:cNvSpPr>
          <p:nvPr>
            <p:ph type="body" sz="quarter" idx="10"/>
          </p:nvPr>
        </p:nvSpPr>
        <p:spPr>
          <a:xfrm>
            <a:off x="3779520" y="1070297"/>
            <a:ext cx="7840980" cy="430887"/>
          </a:xfrm>
        </p:spPr>
        <p:txBody>
          <a:bodyPr anchor="t"/>
          <a:lstStyle>
            <a:lvl1pPr marL="0" indent="0">
              <a:buNone/>
              <a:defRPr sz="2800"/>
            </a:lvl1pPr>
            <a:lvl2pPr marL="228600" indent="0">
              <a:buNone/>
              <a:defRPr/>
            </a:lvl2pPr>
          </a:lstStyle>
          <a:p>
            <a:pPr lvl="0"/>
            <a:r>
              <a:rPr lang="en-US"/>
              <a:t>Click to edit Master text styles</a:t>
            </a:r>
          </a:p>
        </p:txBody>
      </p:sp>
      <p:sp>
        <p:nvSpPr>
          <p:cNvPr id="22" name="Text Placeholder 20">
            <a:extLst>
              <a:ext uri="{FF2B5EF4-FFF2-40B4-BE49-F238E27FC236}">
                <a16:creationId xmlns:a16="http://schemas.microsoft.com/office/drawing/2014/main" id="{8C4975B9-13D5-4CDF-CFB0-74F52496A564}"/>
              </a:ext>
            </a:extLst>
          </p:cNvPr>
          <p:cNvSpPr>
            <a:spLocks noGrp="1"/>
          </p:cNvSpPr>
          <p:nvPr>
            <p:ph type="body" sz="quarter" idx="11"/>
          </p:nvPr>
        </p:nvSpPr>
        <p:spPr>
          <a:xfrm>
            <a:off x="3779520" y="1813744"/>
            <a:ext cx="7840980" cy="874085"/>
          </a:xfrm>
        </p:spPr>
        <p:txBody>
          <a:bodyPr anchor="t"/>
          <a:lstStyle>
            <a:lvl1pPr marL="0" indent="0">
              <a:buNone/>
              <a:defRPr sz="2800"/>
            </a:lvl1pPr>
            <a:lvl2pPr marL="347663" indent="-227013">
              <a:spcBef>
                <a:spcPts val="400"/>
              </a:spcBef>
              <a:spcAft>
                <a:spcPts val="600"/>
              </a:spcAft>
              <a:buSzPct val="100000"/>
              <a:buFont typeface="Arial" panose="020B0604020202020204" pitchFamily="34" charset="0"/>
              <a:buChar char="•"/>
              <a:defRPr sz="2400"/>
            </a:lvl2pPr>
          </a:lstStyle>
          <a:p>
            <a:pPr lvl="0"/>
            <a:r>
              <a:rPr lang="en-US"/>
              <a:t>Click to edit Master text styles</a:t>
            </a:r>
          </a:p>
          <a:p>
            <a:pPr lvl="1"/>
            <a:endParaRPr lang="en-US"/>
          </a:p>
        </p:txBody>
      </p:sp>
      <p:sp>
        <p:nvSpPr>
          <p:cNvPr id="23" name="Text Placeholder 20">
            <a:extLst>
              <a:ext uri="{FF2B5EF4-FFF2-40B4-BE49-F238E27FC236}">
                <a16:creationId xmlns:a16="http://schemas.microsoft.com/office/drawing/2014/main" id="{ED4D522F-FA90-CBCE-45CE-D504D6490392}"/>
              </a:ext>
            </a:extLst>
          </p:cNvPr>
          <p:cNvSpPr>
            <a:spLocks noGrp="1"/>
          </p:cNvSpPr>
          <p:nvPr>
            <p:ph type="body" sz="quarter" idx="12"/>
          </p:nvPr>
        </p:nvSpPr>
        <p:spPr>
          <a:xfrm>
            <a:off x="3779520" y="2557191"/>
            <a:ext cx="7840980" cy="430887"/>
          </a:xfrm>
        </p:spPr>
        <p:txBody>
          <a:bodyPr anchor="t"/>
          <a:lstStyle>
            <a:lvl1pPr marL="0" indent="0">
              <a:buNone/>
              <a:defRPr sz="2800"/>
            </a:lvl1pPr>
            <a:lvl2pPr marL="228600" indent="0">
              <a:buNone/>
              <a:defRPr/>
            </a:lvl2pPr>
          </a:lstStyle>
          <a:p>
            <a:pPr lvl="0"/>
            <a:r>
              <a:rPr lang="en-US"/>
              <a:t>Click to edit Master text styles</a:t>
            </a:r>
          </a:p>
        </p:txBody>
      </p:sp>
      <p:sp>
        <p:nvSpPr>
          <p:cNvPr id="24" name="Text Placeholder 20">
            <a:extLst>
              <a:ext uri="{FF2B5EF4-FFF2-40B4-BE49-F238E27FC236}">
                <a16:creationId xmlns:a16="http://schemas.microsoft.com/office/drawing/2014/main" id="{5D78D0FF-5949-7FCC-7238-8DCB8383AF59}"/>
              </a:ext>
            </a:extLst>
          </p:cNvPr>
          <p:cNvSpPr>
            <a:spLocks noGrp="1"/>
          </p:cNvSpPr>
          <p:nvPr>
            <p:ph type="body" sz="quarter" idx="13"/>
          </p:nvPr>
        </p:nvSpPr>
        <p:spPr>
          <a:xfrm>
            <a:off x="3779520" y="3300638"/>
            <a:ext cx="7840980" cy="430887"/>
          </a:xfrm>
        </p:spPr>
        <p:txBody>
          <a:bodyPr anchor="t"/>
          <a:lstStyle>
            <a:lvl1pPr marL="0" indent="0">
              <a:buNone/>
              <a:defRPr sz="2800"/>
            </a:lvl1pPr>
            <a:lvl2pPr marL="228600" indent="0">
              <a:buNone/>
              <a:defRPr/>
            </a:lvl2pPr>
          </a:lstStyle>
          <a:p>
            <a:pPr lvl="0"/>
            <a:r>
              <a:rPr lang="en-US"/>
              <a:t>Click to edit Master text styles</a:t>
            </a:r>
          </a:p>
        </p:txBody>
      </p:sp>
      <p:sp>
        <p:nvSpPr>
          <p:cNvPr id="25" name="Text Placeholder 20">
            <a:extLst>
              <a:ext uri="{FF2B5EF4-FFF2-40B4-BE49-F238E27FC236}">
                <a16:creationId xmlns:a16="http://schemas.microsoft.com/office/drawing/2014/main" id="{6897A062-44C9-99A5-6B4B-C6DA241E7AD5}"/>
              </a:ext>
            </a:extLst>
          </p:cNvPr>
          <p:cNvSpPr>
            <a:spLocks noGrp="1"/>
          </p:cNvSpPr>
          <p:nvPr>
            <p:ph type="body" sz="quarter" idx="14"/>
          </p:nvPr>
        </p:nvSpPr>
        <p:spPr>
          <a:xfrm>
            <a:off x="3779520" y="4044085"/>
            <a:ext cx="7840980" cy="430887"/>
          </a:xfrm>
        </p:spPr>
        <p:txBody>
          <a:bodyPr anchor="t"/>
          <a:lstStyle>
            <a:lvl1pPr marL="0" indent="0">
              <a:buNone/>
              <a:defRPr sz="2800"/>
            </a:lvl1pPr>
            <a:lvl2pPr marL="228600" indent="0">
              <a:buNone/>
              <a:defRPr/>
            </a:lvl2pPr>
          </a:lstStyle>
          <a:p>
            <a:pPr lvl="0"/>
            <a:r>
              <a:rPr lang="en-US"/>
              <a:t>Click to edit Master text styles</a:t>
            </a:r>
          </a:p>
        </p:txBody>
      </p:sp>
      <p:sp>
        <p:nvSpPr>
          <p:cNvPr id="26" name="Text Placeholder 20">
            <a:extLst>
              <a:ext uri="{FF2B5EF4-FFF2-40B4-BE49-F238E27FC236}">
                <a16:creationId xmlns:a16="http://schemas.microsoft.com/office/drawing/2014/main" id="{2FB1604E-6377-B8B4-625F-B918030B5879}"/>
              </a:ext>
            </a:extLst>
          </p:cNvPr>
          <p:cNvSpPr>
            <a:spLocks noGrp="1"/>
          </p:cNvSpPr>
          <p:nvPr>
            <p:ph type="body" sz="quarter" idx="15"/>
          </p:nvPr>
        </p:nvSpPr>
        <p:spPr>
          <a:xfrm>
            <a:off x="3779520" y="4787531"/>
            <a:ext cx="7840980" cy="430887"/>
          </a:xfrm>
        </p:spPr>
        <p:txBody>
          <a:bodyPr anchor="t"/>
          <a:lstStyle>
            <a:lvl1pPr marL="0" indent="0">
              <a:buNone/>
              <a:defRPr sz="2800"/>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61990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83B56F-81D2-3B74-659E-75EE6D1D4858}"/>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172499983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Lst>
          </p:cNvPr>
          <p:cNvPicPr>
            <a:picLocks noChangeAspect="1"/>
          </p:cNvPicPr>
          <p:nvPr userDrawn="1"/>
        </p:nvPicPr>
        <p:blipFill>
          <a:blip>
            <a:lum bright="10000"/>
            <a:extLst>
              <a:ext uri="{96DAC541-7B7A-43D3-8B79-37D633B846F1}">
                <asvg:svgBlip xmlns:asvg="http://schemas.microsoft.com/office/drawing/2016/SVG/main" r:embed="rId3"/>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553998"/>
          </a:xfrm>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1A9544-8C8F-F52A-1876-F01F4D0915FE}"/>
              </a:ext>
            </a:extLst>
          </p:cNvPr>
          <p:cNvSpPr>
            <a:spLocks noGrp="1"/>
          </p:cNvSpPr>
          <p:nvPr>
            <p:ph type="body" sz="quarter" idx="11" hasCustomPrompt="1"/>
          </p:nvPr>
        </p:nvSpPr>
        <p:spPr>
          <a:xfrm>
            <a:off x="913532" y="843642"/>
            <a:ext cx="10363918"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41075252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377242828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76279265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71599568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570830" y="31212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571500" y="3647032"/>
            <a:ext cx="5957887" cy="246221"/>
          </a:xfrm>
        </p:spPr>
        <p:txBody>
          <a:bodyPr/>
          <a:lstStyle>
            <a:lvl1pPr marL="0" indent="0" algn="r">
              <a:buNone/>
              <a:defRPr sz="1600"/>
            </a:lvl1pPr>
          </a:lstStyle>
          <a:p>
            <a:pPr lvl="0"/>
            <a:r>
              <a:rPr lang="en-US"/>
              <a:t>Quote author, Title, Organization</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4F713963-A5EA-2AC4-41B1-2A1162C6E1A4}"/>
              </a:ext>
            </a:extLst>
          </p:cNvPr>
          <p:cNvSpPr>
            <a:spLocks noGrp="1"/>
          </p:cNvSpPr>
          <p:nvPr>
            <p:ph type="pic" sz="quarter" idx="11" hasCustomPrompt="1"/>
          </p:nvPr>
        </p:nvSpPr>
        <p:spPr bwMode="ltGray">
          <a:xfrm>
            <a:off x="7505699"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0800000">
            <a:off x="570830" y="585788"/>
            <a:ext cx="674370" cy="587754"/>
          </a:xfrm>
          <a:prstGeom prst="rect">
            <a:avLst/>
          </a:prstGeom>
        </p:spPr>
      </p:pic>
    </p:spTree>
    <p:extLst>
      <p:ext uri="{BB962C8B-B14F-4D97-AF65-F5344CB8AC3E}">
        <p14:creationId xmlns:p14="http://schemas.microsoft.com/office/powerpoint/2010/main" val="2691950903"/>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p:spPr>
        <p:txBody>
          <a:bodyPr/>
          <a:lstStyle>
            <a:lvl1pPr marL="0" indent="0" algn="r">
              <a:buNone/>
              <a:defRPr sz="1600"/>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158864563"/>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p:spPr>
        <p:txBody>
          <a:bodyPr/>
          <a:lstStyle>
            <a:lvl1pPr marL="0" indent="0" algn="r">
              <a:buNone/>
              <a:defRPr sz="1600"/>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2272443444"/>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117471" y="222068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117471" y="331796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117471" y="4415245"/>
            <a:ext cx="3991884" cy="663178"/>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none" lIns="182880" tIns="91440" rIns="182880" bIns="91440" anchor="ctr" anchorCtr="0"/>
          <a:lstStyle>
            <a:lvl1pPr marL="0" indent="0" algn="ctr">
              <a:buNone/>
              <a:defRPr/>
            </a:lvl1pPr>
            <a:lvl2pPr marL="228600" indent="0">
              <a:buNone/>
              <a:defRPr/>
            </a:lvl2pPr>
          </a:lstStyle>
          <a:p>
            <a:pPr lvl="0"/>
            <a:r>
              <a:rPr lang="en-US"/>
              <a:t>Click to edit Master text styles</a:t>
            </a:r>
          </a:p>
        </p:txBody>
      </p:sp>
      <p:sp>
        <p:nvSpPr>
          <p:cNvPr id="2" name="Title Placeholder 1">
            <a:extLst>
              <a:ext uri="{FF2B5EF4-FFF2-40B4-BE49-F238E27FC236}">
                <a16:creationId xmlns:a16="http://schemas.microsoft.com/office/drawing/2014/main" id="{8953A433-F2D5-7B5B-B3BD-45E3929D6926}"/>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Tree>
    <p:extLst>
      <p:ext uri="{BB962C8B-B14F-4D97-AF65-F5344CB8AC3E}">
        <p14:creationId xmlns:p14="http://schemas.microsoft.com/office/powerpoint/2010/main" val="90900876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Sans Display" pitchFamily="2" charset="0"/>
              </a:rPr>
              <a:t>© Copyright Microsoft Corporation. All rights reserved. </a:t>
            </a:r>
          </a:p>
        </p:txBody>
      </p:sp>
      <p:pic>
        <p:nvPicPr>
          <p:cNvPr id="3" name="Picture 2" descr="A black background with white text&#10;&#10;AI-generated content may be incorrect.">
            <a:extLst>
              <a:ext uri="{FF2B5EF4-FFF2-40B4-BE49-F238E27FC236}">
                <a16:creationId xmlns:a16="http://schemas.microsoft.com/office/drawing/2014/main" id="{90C61D91-9BB4-1227-BFAB-6332849052E8}"/>
              </a:ext>
            </a:extLst>
          </p:cNvPr>
          <p:cNvPicPr>
            <a:picLocks noChangeAspect="1"/>
          </p:cNvPicPr>
          <p:nvPr userDrawn="1"/>
        </p:nvPicPr>
        <p:blipFill>
          <a:blip r:embed="rId2"/>
          <a:stretch>
            <a:fillRect/>
          </a:stretch>
        </p:blipFill>
        <p:spPr>
          <a:xfrm>
            <a:off x="571500" y="581978"/>
            <a:ext cx="1454782" cy="309085"/>
          </a:xfrm>
          <a:prstGeom prst="rect">
            <a:avLst/>
          </a:prstGeom>
        </p:spPr>
      </p:pic>
    </p:spTree>
    <p:extLst>
      <p:ext uri="{BB962C8B-B14F-4D97-AF65-F5344CB8AC3E}">
        <p14:creationId xmlns:p14="http://schemas.microsoft.com/office/powerpoint/2010/main" val="193998298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lack Notes slide Layout">
    <p:bg bwMode="gray">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Sans Display" pitchFamily="2" charset="0"/>
                <a:ea typeface="Segoe Sans Display" pitchFamily="2" charset="0"/>
                <a:cs typeface="Segoe Sans Display" pitchFamily="2"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Sans Display" pitchFamily="2" charset="0"/>
                <a:ea typeface="Segoe Sans Display" pitchFamily="2" charset="0"/>
                <a:cs typeface="Segoe Sans Display" pitchFamily="2" charset="0"/>
              </a:defRPr>
            </a:lvl1pPr>
          </a:lstStyle>
          <a:p>
            <a:pPr lvl="0"/>
            <a:r>
              <a:rPr lang="en-US"/>
              <a:t>Next:</a:t>
            </a:r>
          </a:p>
        </p:txBody>
      </p:sp>
    </p:spTree>
    <p:extLst>
      <p:ext uri="{BB962C8B-B14F-4D97-AF65-F5344CB8AC3E}">
        <p14:creationId xmlns:p14="http://schemas.microsoft.com/office/powerpoint/2010/main" val="231892438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image" Target="../media/image1.svg"/><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77"/>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569199495"/>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94" r:id="rId15"/>
    <p:sldLayoutId id="2147483834" r:id="rId16"/>
    <p:sldLayoutId id="2147483835" r:id="rId17"/>
    <p:sldLayoutId id="2147483836" r:id="rId18"/>
    <p:sldLayoutId id="2147483837" r:id="rId19"/>
    <p:sldLayoutId id="2147483838" r:id="rId20"/>
    <p:sldLayoutId id="2147483839" r:id="rId21"/>
    <p:sldLayoutId id="2147483840" r:id="rId22"/>
    <p:sldLayoutId id="2147483841" r:id="rId23"/>
    <p:sldLayoutId id="2147483842" r:id="rId24"/>
    <p:sldLayoutId id="2147483843" r:id="rId25"/>
    <p:sldLayoutId id="2147483844" r:id="rId26"/>
    <p:sldLayoutId id="2147483845" r:id="rId27"/>
    <p:sldLayoutId id="2147483846" r:id="rId28"/>
    <p:sldLayoutId id="2147483847" r:id="rId29"/>
    <p:sldLayoutId id="2147483848" r:id="rId30"/>
    <p:sldLayoutId id="2147483849" r:id="rId31"/>
    <p:sldLayoutId id="2147483850" r:id="rId32"/>
    <p:sldLayoutId id="2147483851" r:id="rId33"/>
    <p:sldLayoutId id="2147483852" r:id="rId34"/>
    <p:sldLayoutId id="2147483853" r:id="rId35"/>
    <p:sldLayoutId id="2147483854" r:id="rId36"/>
    <p:sldLayoutId id="2147483855" r:id="rId37"/>
    <p:sldLayoutId id="2147483856" r:id="rId38"/>
    <p:sldLayoutId id="2147483857" r:id="rId39"/>
    <p:sldLayoutId id="2147483858" r:id="rId40"/>
    <p:sldLayoutId id="2147483859" r:id="rId41"/>
    <p:sldLayoutId id="2147483860" r:id="rId42"/>
    <p:sldLayoutId id="2147483861" r:id="rId43"/>
    <p:sldLayoutId id="2147483862" r:id="rId44"/>
    <p:sldLayoutId id="2147483863" r:id="rId45"/>
    <p:sldLayoutId id="2147483864" r:id="rId46"/>
    <p:sldLayoutId id="2147483865" r:id="rId47"/>
    <p:sldLayoutId id="2147483866" r:id="rId48"/>
    <p:sldLayoutId id="2147483867" r:id="rId49"/>
    <p:sldLayoutId id="2147483868" r:id="rId50"/>
    <p:sldLayoutId id="2147483869" r:id="rId51"/>
    <p:sldLayoutId id="2147483870" r:id="rId52"/>
    <p:sldLayoutId id="2147483871" r:id="rId53"/>
    <p:sldLayoutId id="2147483872" r:id="rId54"/>
    <p:sldLayoutId id="2147483873" r:id="rId55"/>
    <p:sldLayoutId id="2147483874" r:id="rId56"/>
    <p:sldLayoutId id="2147483875" r:id="rId57"/>
    <p:sldLayoutId id="2147483876" r:id="rId58"/>
    <p:sldLayoutId id="2147483877" r:id="rId59"/>
    <p:sldLayoutId id="2147483878" r:id="rId60"/>
    <p:sldLayoutId id="2147483879" r:id="rId61"/>
    <p:sldLayoutId id="2147483880" r:id="rId62"/>
    <p:sldLayoutId id="2147483881" r:id="rId63"/>
    <p:sldLayoutId id="2147483882" r:id="rId64"/>
    <p:sldLayoutId id="2147483883" r:id="rId65"/>
    <p:sldLayoutId id="2147483884" r:id="rId66"/>
    <p:sldLayoutId id="2147483885" r:id="rId67"/>
    <p:sldLayoutId id="2147483886" r:id="rId68"/>
    <p:sldLayoutId id="2147483887" r:id="rId69"/>
    <p:sldLayoutId id="2147483888" r:id="rId70"/>
    <p:sldLayoutId id="2147483889" r:id="rId71"/>
    <p:sldLayoutId id="2147483890" r:id="rId72"/>
    <p:sldLayoutId id="2147483891" r:id="rId73"/>
    <p:sldLayoutId id="2147483892" r:id="rId74"/>
    <p:sldLayoutId id="2147483893" r:id="rId75"/>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4.xml"/><Relationship Id="rId1" Type="http://schemas.openxmlformats.org/officeDocument/2006/relationships/slideLayout" Target="../slideLayouts/slideLayout59.xml"/></Relationships>
</file>

<file path=ppt/slides/_rels/slide5.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5.xml"/><Relationship Id="rId1" Type="http://schemas.openxmlformats.org/officeDocument/2006/relationships/slideLayout" Target="../slideLayouts/slideLayout59.xml"/></Relationships>
</file>

<file path=ppt/slides/_rels/slide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7.xml"/><Relationship Id="rId1" Type="http://schemas.openxmlformats.org/officeDocument/2006/relationships/slideLayout" Target="../slideLayouts/slideLayout59.xml"/><Relationship Id="rId4" Type="http://schemas.openxmlformats.org/officeDocument/2006/relationships/image" Target="../media/image84.sv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1.xml"/><Relationship Id="rId4" Type="http://schemas.openxmlformats.org/officeDocument/2006/relationships/image" Target="../media/image82.jpeg"/></Relationships>
</file>

<file path=ppt/slides/_rels/slide9.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85.png"/></Relationships>
</file>

<file path=ppt/slides/_rels/slide22.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86.png"/></Relationships>
</file>

<file path=ppt/slides/_rels/slide23.xml.rels><?xml version="1.0" encoding="UTF-8" standalone="yes"?>
<Relationships xmlns="http://schemas.openxmlformats.org/package/2006/relationships"><Relationship Id="rId8" Type="http://schemas.openxmlformats.org/officeDocument/2006/relationships/hyperlink" Target="https://aka.ms/LimitSharing" TargetMode="External"/><Relationship Id="rId13" Type="http://schemas.openxmlformats.org/officeDocument/2006/relationships/hyperlink" Target="https://aka.ms/SourceCodeIntegration" TargetMode="External"/><Relationship Id="rId18" Type="http://schemas.openxmlformats.org/officeDocument/2006/relationships/hyperlink" Target="https://aka.ms/paCodeApps" TargetMode="External"/><Relationship Id="rId26" Type="http://schemas.openxmlformats.org/officeDocument/2006/relationships/hyperlink" Target="https://aka.ms/MIPinMCS" TargetMode="External"/><Relationship Id="rId3" Type="http://schemas.openxmlformats.org/officeDocument/2006/relationships/notesSlide" Target="../notesSlides/notesSlide23.xml"/><Relationship Id="rId21" Type="http://schemas.openxmlformats.org/officeDocument/2006/relationships/hyperlink" Target="https://aka.ms/Usage" TargetMode="External"/><Relationship Id="rId7" Type="http://schemas.openxmlformats.org/officeDocument/2006/relationships/hyperlink" Target="https://aka.ms/EnvironmentGroups" TargetMode="External"/><Relationship Id="rId12" Type="http://schemas.openxmlformats.org/officeDocument/2006/relationships/hyperlink" Target="https://aka.ms/preferred-solution" TargetMode="External"/><Relationship Id="rId17" Type="http://schemas.openxmlformats.org/officeDocument/2006/relationships/hyperlink" Target="https://aka.ms/MonitoringHub" TargetMode="External"/><Relationship Id="rId25" Type="http://schemas.openxmlformats.org/officeDocument/2006/relationships/hyperlink" Target="https://aka.ms/CopilotStudioExtendedProtection" TargetMode="External"/><Relationship Id="rId2" Type="http://schemas.openxmlformats.org/officeDocument/2006/relationships/slideLayout" Target="../slideLayouts/slideLayout16.xml"/><Relationship Id="rId16" Type="http://schemas.openxmlformats.org/officeDocument/2006/relationships/hyperlink" Target="https://aka.ms/MonitorAlerts" TargetMode="External"/><Relationship Id="rId20" Type="http://schemas.openxmlformats.org/officeDocument/2006/relationships/hyperlink" Target="https://aka.ms/VirtualCOEPreview" TargetMode="External"/><Relationship Id="rId1" Type="http://schemas.openxmlformats.org/officeDocument/2006/relationships/tags" Target="../tags/tag2.xml"/><Relationship Id="rId6" Type="http://schemas.openxmlformats.org/officeDocument/2006/relationships/hyperlink" Target="https://aka.ms/EnvironmentRouting" TargetMode="External"/><Relationship Id="rId11" Type="http://schemas.openxmlformats.org/officeDocument/2006/relationships/hyperlink" Target="https://aka.ms/PowerPlatformInventory" TargetMode="External"/><Relationship Id="rId24" Type="http://schemas.openxmlformats.org/officeDocument/2006/relationships/hyperlink" Target="https://aka.ms/AgentChannels" TargetMode="External"/><Relationship Id="rId5" Type="http://schemas.openxmlformats.org/officeDocument/2006/relationships/hyperlink" Target="https://aka.ms/MakerOnboarding" TargetMode="External"/><Relationship Id="rId15" Type="http://schemas.openxmlformats.org/officeDocument/2006/relationships/hyperlink" Target="https://aka.ms/power-catalog" TargetMode="External"/><Relationship Id="rId23" Type="http://schemas.openxmlformats.org/officeDocument/2006/relationships/hyperlink" Target="https://aka.ms/LearnACP" TargetMode="External"/><Relationship Id="rId10" Type="http://schemas.openxmlformats.org/officeDocument/2006/relationships/hyperlink" Target="https://aka.ms/PowerPlatformCopilotHub" TargetMode="External"/><Relationship Id="rId19" Type="http://schemas.openxmlformats.org/officeDocument/2006/relationships/hyperlink" Target="https://aka.ms/ManageMCSCredit" TargetMode="External"/><Relationship Id="rId4" Type="http://schemas.openxmlformats.org/officeDocument/2006/relationships/image" Target="../media/image82.jpeg"/><Relationship Id="rId9" Type="http://schemas.openxmlformats.org/officeDocument/2006/relationships/hyperlink" Target="https://aka.ms/M365CCS" TargetMode="External"/><Relationship Id="rId14" Type="http://schemas.openxmlformats.org/officeDocument/2006/relationships/hyperlink" Target="https://aka.ms/default-pipeline" TargetMode="External"/><Relationship Id="rId22" Type="http://schemas.openxmlformats.org/officeDocument/2006/relationships/hyperlink" Target="https://aka.ms/PPAC"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24.xml"/><Relationship Id="rId1" Type="http://schemas.openxmlformats.org/officeDocument/2006/relationships/slideLayout" Target="../slideLayouts/slideLayout60.xml"/><Relationship Id="rId4" Type="http://schemas.openxmlformats.org/officeDocument/2006/relationships/image" Target="../media/image87.jpg"/></Relationships>
</file>

<file path=ppt/slides/_rels/slide25.xml.rels><?xml version="1.0" encoding="UTF-8" standalone="yes"?>
<Relationships xmlns="http://schemas.openxmlformats.org/package/2006/relationships"><Relationship Id="rId3" Type="http://schemas.openxmlformats.org/officeDocument/2006/relationships/image" Target="../media/image82.jpeg"/><Relationship Id="rId7" Type="http://schemas.openxmlformats.org/officeDocument/2006/relationships/hyperlink" Target="https://aka.ms/CopilotStudioBootcamp" TargetMode="External"/><Relationship Id="rId2" Type="http://schemas.openxmlformats.org/officeDocument/2006/relationships/notesSlide" Target="../notesSlides/notesSlide25.xml"/><Relationship Id="rId1" Type="http://schemas.openxmlformats.org/officeDocument/2006/relationships/slideLayout" Target="../slideLayouts/slideLayout15.xml"/><Relationship Id="rId6" Type="http://schemas.openxmlformats.org/officeDocument/2006/relationships/hyperlink" Target="https://aka.ms/PowerUpMyTeam" TargetMode="External"/><Relationship Id="rId5" Type="http://schemas.openxmlformats.org/officeDocument/2006/relationships/hyperlink" Target="https://aka.ms/kickstartme" TargetMode="External"/><Relationship Id="rId4" Type="http://schemas.openxmlformats.org/officeDocument/2006/relationships/image" Target="../media/image88.png"/></Relationships>
</file>

<file path=ppt/slides/_rels/slide26.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26.xml"/><Relationship Id="rId1" Type="http://schemas.openxmlformats.org/officeDocument/2006/relationships/slideLayout" Target="../slideLayouts/slideLayout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descr="A blurry image of a purple object&#10;&#10;AI-generated content may be incorrect.">
            <a:extLst>
              <a:ext uri="{FF2B5EF4-FFF2-40B4-BE49-F238E27FC236}">
                <a16:creationId xmlns:a16="http://schemas.microsoft.com/office/drawing/2014/main" id="{5831720B-6425-DFA3-58EC-14EB7221E49A}"/>
              </a:ext>
            </a:extLst>
          </p:cNvPr>
          <p:cNvPicPr>
            <a:picLocks noChangeAspect="1"/>
          </p:cNvPicPr>
          <p:nvPr/>
        </p:nvPicPr>
        <p:blipFill>
          <a:blip r:embed="rId3">
            <a:alphaModFix amt="50000"/>
          </a:blip>
          <a:srcRect l="25924"/>
          <a:stretch>
            <a:fillRect/>
          </a:stretch>
        </p:blipFill>
        <p:spPr>
          <a:xfrm flipV="1">
            <a:off x="0" y="0"/>
            <a:ext cx="12192000" cy="6858000"/>
          </a:xfrm>
          <a:prstGeom prst="rect">
            <a:avLst/>
          </a:prstGeom>
        </p:spPr>
      </p:pic>
      <p:sp>
        <p:nvSpPr>
          <p:cNvPr id="24" name="Rectangle: Rounded Corners 23">
            <a:extLst>
              <a:ext uri="{FF2B5EF4-FFF2-40B4-BE49-F238E27FC236}">
                <a16:creationId xmlns:a16="http://schemas.microsoft.com/office/drawing/2014/main" id="{602C3BB6-621F-53DD-4231-F72638744B9E}"/>
              </a:ext>
            </a:extLst>
          </p:cNvPr>
          <p:cNvSpPr/>
          <p:nvPr/>
        </p:nvSpPr>
        <p:spPr bwMode="auto">
          <a:xfrm>
            <a:off x="588963" y="1180339"/>
            <a:ext cx="11017250" cy="5405510"/>
          </a:xfrm>
          <a:prstGeom prst="roundRect">
            <a:avLst>
              <a:gd name="adj" fmla="val 2479"/>
            </a:avLst>
          </a:pr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16" name="Title 15">
            <a:extLst>
              <a:ext uri="{FF2B5EF4-FFF2-40B4-BE49-F238E27FC236}">
                <a16:creationId xmlns:a16="http://schemas.microsoft.com/office/drawing/2014/main" id="{D0769473-8EFB-A894-F382-16B1773938A3}"/>
              </a:ext>
            </a:extLst>
          </p:cNvPr>
          <p:cNvSpPr>
            <a:spLocks noGrp="1"/>
          </p:cNvSpPr>
          <p:nvPr>
            <p:ph type="title"/>
          </p:nvPr>
        </p:nvSpPr>
        <p:spPr>
          <a:xfrm>
            <a:off x="588963" y="457200"/>
            <a:ext cx="11017250" cy="554038"/>
          </a:xfrm>
        </p:spPr>
        <p:txBody>
          <a:bodyPr/>
          <a:lstStyle/>
          <a:p>
            <a:r>
              <a:rPr lang="en-US"/>
              <a:t>Speaker Guidance</a:t>
            </a:r>
          </a:p>
        </p:txBody>
      </p:sp>
      <p:sp>
        <p:nvSpPr>
          <p:cNvPr id="20" name="Rectangle 19">
            <a:extLst>
              <a:ext uri="{FF2B5EF4-FFF2-40B4-BE49-F238E27FC236}">
                <a16:creationId xmlns:a16="http://schemas.microsoft.com/office/drawing/2014/main" id="{6657BC32-4DE0-C749-622A-911269DCF2E3}"/>
              </a:ext>
            </a:extLst>
          </p:cNvPr>
          <p:cNvSpPr/>
          <p:nvPr/>
        </p:nvSpPr>
        <p:spPr>
          <a:xfrm>
            <a:off x="0" y="0"/>
            <a:ext cx="12192000" cy="390525"/>
          </a:xfrm>
          <a:prstGeom prst="rect">
            <a:avLst/>
          </a:prstGeom>
          <a:solidFill>
            <a:srgbClr val="CC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latin typeface="+mj-lt"/>
                <a:cs typeface="Segoe UI" panose="020B0502040204020203" pitchFamily="34" charset="0"/>
              </a:rPr>
              <a:t>Presenter Guidance</a:t>
            </a:r>
          </a:p>
        </p:txBody>
      </p:sp>
      <p:sp>
        <p:nvSpPr>
          <p:cNvPr id="21" name="TextBox 20">
            <a:extLst>
              <a:ext uri="{FF2B5EF4-FFF2-40B4-BE49-F238E27FC236}">
                <a16:creationId xmlns:a16="http://schemas.microsoft.com/office/drawing/2014/main" id="{E5D1B46A-2FF7-5ED0-3365-9BAADFBC6AEF}"/>
              </a:ext>
              <a:ext uri="{C183D7F6-B498-43B3-948B-1728B52AA6E4}">
                <adec:decorative xmlns:adec="http://schemas.microsoft.com/office/drawing/2017/decorative" val="0"/>
              </a:ext>
            </a:extLst>
          </p:cNvPr>
          <p:cNvSpPr txBox="1"/>
          <p:nvPr/>
        </p:nvSpPr>
        <p:spPr>
          <a:xfrm>
            <a:off x="8482288" y="6585849"/>
            <a:ext cx="3123925" cy="153888"/>
          </a:xfrm>
          <a:prstGeom prst="rect">
            <a:avLst/>
          </a:prstGeom>
          <a:noFill/>
        </p:spPr>
        <p:txBody>
          <a:bodyPr wrap="square" lIns="0" tIns="0" rIns="0" bIns="0" rtlCol="0" anchor="ctr">
            <a:spAutoFit/>
          </a:bodyPr>
          <a:lstStyle>
            <a:defPPr>
              <a:defRPr lang="en-US"/>
            </a:defPPr>
            <a:lvl1pPr algn="r">
              <a:defRPr kumimoji="0" sz="600" b="0" u="none" strike="noStrike" cap="none" spc="0" normalizeH="0" baseline="0">
                <a:ln>
                  <a:noFill/>
                </a:ln>
                <a:solidFill>
                  <a:schemeClr val="bg1">
                    <a:lumMod val="65000"/>
                  </a:schemeClr>
                </a:solidFill>
                <a:effectLst/>
                <a:uLnTx/>
                <a:uFillTx/>
                <a:latin typeface="Segoe UI" panose="020B0502040204020203" pitchFamily="34" charset="0"/>
                <a:ea typeface="Source Sans Pro" panose="020B0503030403020204" pitchFamily="34" charset="0"/>
                <a:cs typeface="Segoe UI" panose="020B0502040204020203" pitchFamily="34" charset="0"/>
              </a:defRPr>
            </a:lvl1p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Segoe UI Semibold" panose="020B0702040204020203" pitchFamily="34" charset="0"/>
                <a:ea typeface="Source Sans Pro" panose="020B0503030403020204" pitchFamily="34" charset="0"/>
                <a:cs typeface="Segoe UI Semibold" panose="020B0702040204020203" pitchFamily="34" charset="0"/>
              </a:rPr>
              <a:t>Microsoft confidential</a:t>
            </a:r>
            <a:r>
              <a:rPr kumimoji="0" lang="en-US" sz="1000" b="0" i="0" u="none" strike="noStrike" kern="1200" cap="none" spc="0" normalizeH="0" baseline="0" noProof="0">
                <a:ln>
                  <a:noFill/>
                </a:ln>
                <a:solidFill>
                  <a:srgbClr val="FF0000"/>
                </a:solidFill>
                <a:effectLst/>
                <a:uLnTx/>
                <a:uFillTx/>
                <a:latin typeface="Segoe UI Semilight" panose="020B0402040204020203" pitchFamily="34" charset="0"/>
                <a:ea typeface="Source Sans Pro" panose="020B0503030403020204" pitchFamily="34" charset="0"/>
                <a:cs typeface="Segoe UI Semilight" panose="020B0402040204020203" pitchFamily="34" charset="0"/>
              </a:rPr>
              <a:t>  |  For presenter info only</a:t>
            </a:r>
          </a:p>
        </p:txBody>
      </p:sp>
      <p:sp>
        <p:nvSpPr>
          <p:cNvPr id="26" name="Rectangle: Top Corners Rounded 25">
            <a:extLst>
              <a:ext uri="{FF2B5EF4-FFF2-40B4-BE49-F238E27FC236}">
                <a16:creationId xmlns:a16="http://schemas.microsoft.com/office/drawing/2014/main" id="{E3FD91DA-30EF-3E38-8EEB-DA94820436EC}"/>
              </a:ext>
            </a:extLst>
          </p:cNvPr>
          <p:cNvSpPr/>
          <p:nvPr/>
        </p:nvSpPr>
        <p:spPr bwMode="auto">
          <a:xfrm rot="16200000">
            <a:off x="-801628" y="2570930"/>
            <a:ext cx="5405509" cy="2624328"/>
          </a:xfrm>
          <a:prstGeom prst="round2SameRect">
            <a:avLst>
              <a:gd name="adj1" fmla="val 5052"/>
              <a:gd name="adj2" fmla="val 0"/>
            </a:avLst>
          </a:prstGeom>
          <a:gradFill flip="none" rotWithShape="1">
            <a:gsLst>
              <a:gs pos="15000">
                <a:srgbClr val="01A3FD"/>
              </a:gs>
              <a:gs pos="81000">
                <a:srgbClr val="D661FD"/>
              </a:gs>
            </a:gsLst>
            <a:lin ang="8100000" scaled="1"/>
            <a:tileRect/>
          </a:gradFill>
          <a:ln w="1079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SzPct val="90000"/>
            </a:pPr>
            <a:endParaRPr lang="en-US" sz="2400">
              <a:solidFill>
                <a:schemeClr val="bg1"/>
              </a:solidFill>
              <a:latin typeface="+mj-lt"/>
              <a:ea typeface="+mj-ea"/>
              <a:cs typeface="+mj-cs"/>
            </a:endParaRPr>
          </a:p>
        </p:txBody>
      </p:sp>
      <p:graphicFrame>
        <p:nvGraphicFramePr>
          <p:cNvPr id="22" name="Table 21">
            <a:extLst>
              <a:ext uri="{FF2B5EF4-FFF2-40B4-BE49-F238E27FC236}">
                <a16:creationId xmlns:a16="http://schemas.microsoft.com/office/drawing/2014/main" id="{4F788BFB-B11F-BE99-C644-419E969C0228}"/>
              </a:ext>
            </a:extLst>
          </p:cNvPr>
          <p:cNvGraphicFramePr>
            <a:graphicFrameLocks noGrp="1"/>
          </p:cNvGraphicFramePr>
          <p:nvPr>
            <p:extLst>
              <p:ext uri="{D42A27DB-BD31-4B8C-83A1-F6EECF244321}">
                <p14:modId xmlns:p14="http://schemas.microsoft.com/office/powerpoint/2010/main" val="3956510828"/>
              </p:ext>
            </p:extLst>
          </p:nvPr>
        </p:nvGraphicFramePr>
        <p:xfrm>
          <a:off x="588963" y="1180339"/>
          <a:ext cx="11017250" cy="5373569"/>
        </p:xfrm>
        <a:graphic>
          <a:graphicData uri="http://schemas.openxmlformats.org/drawingml/2006/table">
            <a:tbl>
              <a:tblPr firstRow="1" bandRow="1">
                <a:tableStyleId>{5C22544A-7EE6-4342-B048-85BDC9FD1C3A}</a:tableStyleId>
              </a:tblPr>
              <a:tblGrid>
                <a:gridCol w="2622584">
                  <a:extLst>
                    <a:ext uri="{9D8B030D-6E8A-4147-A177-3AD203B41FA5}">
                      <a16:colId xmlns:a16="http://schemas.microsoft.com/office/drawing/2014/main" val="20000"/>
                    </a:ext>
                  </a:extLst>
                </a:gridCol>
                <a:gridCol w="8394666">
                  <a:extLst>
                    <a:ext uri="{9D8B030D-6E8A-4147-A177-3AD203B41FA5}">
                      <a16:colId xmlns:a16="http://schemas.microsoft.com/office/drawing/2014/main" val="3690134324"/>
                    </a:ext>
                  </a:extLst>
                </a:gridCol>
              </a:tblGrid>
              <a:tr h="340162">
                <a:tc>
                  <a:txBody>
                    <a:bodyPr/>
                    <a:lstStyle/>
                    <a:p>
                      <a:r>
                        <a:rPr lang="en-US" sz="1600" b="0" dirty="0">
                          <a:solidFill>
                            <a:schemeClr val="bg1"/>
                          </a:solidFill>
                          <a:latin typeface="+mj-lt"/>
                          <a:cs typeface="Segoe UI Semibold"/>
                        </a:rPr>
                        <a:t>Title</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1" dirty="0">
                          <a:solidFill>
                            <a:schemeClr val="tx1"/>
                          </a:solidFill>
                          <a:latin typeface="+mj-lt"/>
                        </a:rPr>
                        <a:t>Change Management Pitch Deck (L100)</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40162">
                <a:tc>
                  <a:txBody>
                    <a:bodyPr/>
                    <a:lstStyle/>
                    <a:p>
                      <a:r>
                        <a:rPr lang="en-US" sz="1600" b="0" dirty="0">
                          <a:solidFill>
                            <a:schemeClr val="bg1"/>
                          </a:solidFill>
                          <a:latin typeface="+mj-lt"/>
                          <a:cs typeface="Segoe UI Semibold"/>
                        </a:rPr>
                        <a:t>Length</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dirty="0">
                          <a:solidFill>
                            <a:schemeClr val="tx1"/>
                          </a:solidFill>
                          <a:latin typeface="+mn-lt"/>
                        </a:rPr>
                        <a:t>20-25 minutes</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228638"/>
                  </a:ext>
                </a:extLst>
              </a:tr>
              <a:tr h="1252491">
                <a:tc>
                  <a:txBody>
                    <a:bodyPr/>
                    <a:lstStyle/>
                    <a:p>
                      <a:r>
                        <a:rPr lang="en-US" sz="1600" b="0" dirty="0">
                          <a:solidFill>
                            <a:schemeClr val="bg1"/>
                          </a:solidFill>
                          <a:latin typeface="+mj-lt"/>
                          <a:cs typeface="Segoe UI Semibold"/>
                        </a:rPr>
                        <a:t>Purpose</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rtl="0" eaLnBrk="1" fontAlgn="auto" latinLnBrk="0" hangingPunct="1">
                        <a:lnSpc>
                          <a:spcPct val="100000"/>
                        </a:lnSpc>
                        <a:spcBef>
                          <a:spcPts val="0"/>
                        </a:spcBef>
                        <a:spcAft>
                          <a:spcPts val="600"/>
                        </a:spcAft>
                        <a:buClrTx/>
                        <a:buSzTx/>
                        <a:buFontTx/>
                        <a:buAutoNum type="arabicPeriod"/>
                      </a:pPr>
                      <a:r>
                        <a:rPr kumimoji="0" lang="en-US" sz="1200" b="0" i="0" u="none" strike="noStrike" kern="1200" cap="none" spc="0" normalizeH="0" baseline="0" noProof="0" dirty="0">
                          <a:ln>
                            <a:noFill/>
                          </a:ln>
                          <a:solidFill>
                            <a:schemeClr val="tx1"/>
                          </a:solidFill>
                          <a:effectLst/>
                          <a:uLnTx/>
                          <a:uFillTx/>
                          <a:latin typeface="+mn-lt"/>
                          <a:ea typeface="Calibri"/>
                          <a:cs typeface="Segoe UI" panose="020B0502040204020203" pitchFamily="34" charset="0"/>
                        </a:rPr>
                        <a:t>Provide a high-level overview of </a:t>
                      </a:r>
                      <a:r>
                        <a:rPr lang="en-US" sz="1200" b="0" i="0" u="none" strike="noStrike" kern="1200" cap="none" spc="0" normalizeH="0" baseline="0" noProof="0" dirty="0">
                          <a:ln>
                            <a:noFill/>
                          </a:ln>
                          <a:solidFill>
                            <a:schemeClr val="tx1"/>
                          </a:solidFill>
                          <a:effectLst/>
                          <a:uLnTx/>
                          <a:uFillTx/>
                          <a:latin typeface="+mn-lt"/>
                          <a:ea typeface="Calibri"/>
                          <a:cs typeface="Segoe UI" panose="020B0502040204020203" pitchFamily="34" charset="0"/>
                        </a:rPr>
                        <a:t>how Microsoft believes organizations should balance Change Management of agents </a:t>
                      </a:r>
                      <a:r>
                        <a:rPr lang="en-US" sz="900" b="1" i="0" u="none" strike="noStrike" kern="1200" cap="none" spc="0" normalizeH="0" baseline="0" noProof="0" dirty="0">
                          <a:ln>
                            <a:noFill/>
                          </a:ln>
                          <a:solidFill>
                            <a:schemeClr val="tx1"/>
                          </a:solidFill>
                          <a:effectLst/>
                          <a:uLnTx/>
                          <a:uFillTx/>
                          <a:latin typeface="+mn-lt"/>
                          <a:ea typeface="Calibri"/>
                          <a:cs typeface="Segoe UI" panose="020B0502040204020203" pitchFamily="34" charset="0"/>
                        </a:rPr>
                        <a:t>(MCS Focus)</a:t>
                      </a:r>
                      <a:endParaRPr kumimoji="0" lang="en-US" sz="900" b="1" i="0" u="none" strike="noStrike" kern="1200" cap="none" spc="0" normalizeH="0" baseline="0" noProof="0" dirty="0">
                        <a:ln>
                          <a:noFill/>
                        </a:ln>
                        <a:solidFill>
                          <a:schemeClr val="tx1"/>
                        </a:solidFill>
                        <a:effectLst/>
                        <a:uLnTx/>
                        <a:uFillTx/>
                        <a:latin typeface="+mn-lt"/>
                        <a:ea typeface="Calibri"/>
                        <a:cs typeface="Segoe UI" panose="020B0502040204020203" pitchFamily="34" charset="0"/>
                      </a:endParaRPr>
                    </a:p>
                    <a:p>
                      <a:pPr marL="228600" marR="0" lvl="0" indent="-228600" algn="l" rtl="0" eaLnBrk="1" fontAlgn="auto" latinLnBrk="0" hangingPunct="1">
                        <a:lnSpc>
                          <a:spcPct val="100000"/>
                        </a:lnSpc>
                        <a:spcBef>
                          <a:spcPts val="0"/>
                        </a:spcBef>
                        <a:spcAft>
                          <a:spcPts val="600"/>
                        </a:spcAft>
                        <a:buClrTx/>
                        <a:buSzTx/>
                        <a:buFontTx/>
                        <a:buAutoNum type="arabicPeriod"/>
                      </a:pPr>
                      <a:r>
                        <a:rPr lang="en-US" sz="1200" b="0" i="0" u="none" strike="noStrike" kern="1200" cap="none" spc="0" normalizeH="0" baseline="0" noProof="0" dirty="0">
                          <a:ln>
                            <a:noFill/>
                          </a:ln>
                          <a:solidFill>
                            <a:schemeClr val="tx1"/>
                          </a:solidFill>
                          <a:effectLst/>
                          <a:uLnTx/>
                          <a:uFillTx/>
                          <a:latin typeface="+mn-lt"/>
                          <a:ea typeface="Calibri"/>
                          <a:cs typeface="Segoe UI" panose="020B0502040204020203" pitchFamily="34" charset="0"/>
                        </a:rPr>
                        <a:t>Explain what change means</a:t>
                      </a:r>
                    </a:p>
                    <a:p>
                      <a:pPr marL="228600" marR="0" lvl="0" indent="-228600" algn="l" rtl="0" eaLnBrk="1" fontAlgn="auto" latinLnBrk="0" hangingPunct="1">
                        <a:lnSpc>
                          <a:spcPct val="100000"/>
                        </a:lnSpc>
                        <a:spcBef>
                          <a:spcPts val="0"/>
                        </a:spcBef>
                        <a:spcAft>
                          <a:spcPts val="600"/>
                        </a:spcAft>
                        <a:buClrTx/>
                        <a:buSzTx/>
                        <a:buFontTx/>
                        <a:buAutoNum type="arabicPeriod"/>
                      </a:pPr>
                      <a:r>
                        <a:rPr lang="en-US" sz="1200" b="0" i="0" u="none" strike="noStrike" kern="1200" cap="none" spc="0" normalizeH="0" baseline="0" noProof="0" dirty="0">
                          <a:ln>
                            <a:noFill/>
                          </a:ln>
                          <a:solidFill>
                            <a:schemeClr val="tx1"/>
                          </a:solidFill>
                          <a:effectLst/>
                          <a:uLnTx/>
                          <a:uFillTx/>
                          <a:latin typeface="+mn-lt"/>
                          <a:ea typeface="Calibri"/>
                          <a:cs typeface="Segoe UI" panose="020B0502040204020203" pitchFamily="34" charset="0"/>
                        </a:rPr>
                        <a:t>Explain what the pillars of Change Management are and at high levels what each pillar include</a:t>
                      </a:r>
                    </a:p>
                    <a:p>
                      <a:pPr marL="228600" marR="0" lvl="0" indent="-228600" algn="l" defTabSz="914400" rtl="0" eaLnBrk="1" fontAlgn="auto" latinLnBrk="0" hangingPunct="1">
                        <a:lnSpc>
                          <a:spcPct val="100000"/>
                        </a:lnSpc>
                        <a:spcBef>
                          <a:spcPts val="0"/>
                        </a:spcBef>
                        <a:spcAft>
                          <a:spcPts val="600"/>
                        </a:spcAft>
                        <a:buClrTx/>
                        <a:buSzTx/>
                        <a:buFontTx/>
                        <a:buAutoNum type="arabicPeriod"/>
                        <a:tabLst/>
                        <a:defRPr/>
                      </a:pPr>
                      <a:r>
                        <a:rPr lang="en-US" sz="1200" b="0" i="0" u="none" strike="noStrike" kern="1200" cap="none" spc="0" normalizeH="0" baseline="0" noProof="0" dirty="0">
                          <a:ln>
                            <a:noFill/>
                          </a:ln>
                          <a:solidFill>
                            <a:schemeClr val="tx1"/>
                          </a:solidFill>
                          <a:effectLst/>
                          <a:uLnTx/>
                          <a:uFillTx/>
                          <a:latin typeface="+mn-lt"/>
                          <a:ea typeface="Calibri"/>
                          <a:cs typeface="Segoe UI" panose="020B0502040204020203" pitchFamily="34" charset="0"/>
                        </a:rPr>
                        <a:t>Level set on a framework of what features exist to help</a:t>
                      </a:r>
                    </a:p>
                    <a:p>
                      <a:pPr marL="228600" marR="0" lvl="0" indent="-228600" algn="l" defTabSz="914400" rtl="0" eaLnBrk="1" fontAlgn="auto" latinLnBrk="0" hangingPunct="1">
                        <a:lnSpc>
                          <a:spcPct val="100000"/>
                        </a:lnSpc>
                        <a:spcBef>
                          <a:spcPts val="0"/>
                        </a:spcBef>
                        <a:spcAft>
                          <a:spcPts val="600"/>
                        </a:spcAft>
                        <a:buClrTx/>
                        <a:buSzTx/>
                        <a:buFontTx/>
                        <a:buAutoNum type="arabicPeriod"/>
                        <a:tabLst/>
                        <a:defRPr/>
                      </a:pPr>
                      <a:r>
                        <a:rPr kumimoji="0" lang="en-US" sz="1200" b="0" i="0" u="none" strike="noStrike" kern="1200" cap="none" spc="0" normalizeH="0" baseline="0" noProof="0" dirty="0">
                          <a:ln>
                            <a:noFill/>
                          </a:ln>
                          <a:solidFill>
                            <a:schemeClr val="tx1"/>
                          </a:solidFill>
                          <a:effectLst/>
                          <a:uLnTx/>
                          <a:uFillTx/>
                          <a:latin typeface="+mn-lt"/>
                          <a:ea typeface="Calibri"/>
                          <a:cs typeface="Segoe UI" panose="020B0502040204020203" pitchFamily="34" charset="0"/>
                        </a:rPr>
                        <a:t>Understand how to skill all areas of the business to manage change</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40162">
                <a:tc>
                  <a:txBody>
                    <a:bodyPr/>
                    <a:lstStyle/>
                    <a:p>
                      <a:r>
                        <a:rPr lang="en-US" sz="1600" b="0" dirty="0">
                          <a:solidFill>
                            <a:schemeClr val="bg1"/>
                          </a:solidFill>
                          <a:latin typeface="+mj-lt"/>
                          <a:cs typeface="Segoe UI Semibold"/>
                        </a:rPr>
                        <a:t>Audience</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200" spc="0" dirty="0">
                          <a:solidFill>
                            <a:schemeClr val="tx1"/>
                          </a:solidFill>
                          <a:latin typeface="+mn-lt"/>
                          <a:cs typeface="Segoe UI"/>
                        </a:rPr>
                        <a:t>Executive, operational and IT management of businesses</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40162">
                <a:tc>
                  <a:txBody>
                    <a:bodyPr/>
                    <a:lstStyle/>
                    <a:p>
                      <a:r>
                        <a:rPr lang="en-US" sz="1600" b="0" dirty="0">
                          <a:solidFill>
                            <a:schemeClr val="bg1"/>
                          </a:solidFill>
                          <a:latin typeface="+mj-lt"/>
                          <a:cs typeface="Segoe UI Semibold"/>
                        </a:rPr>
                        <a:t>Content level</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dirty="0">
                          <a:solidFill>
                            <a:schemeClr val="tx1"/>
                          </a:solidFill>
                          <a:latin typeface="+mn-lt"/>
                        </a:rPr>
                        <a:t>1</a:t>
                      </a:r>
                      <a:r>
                        <a:rPr lang="en-US" sz="1200" b="0">
                          <a:solidFill>
                            <a:schemeClr val="tx1"/>
                          </a:solidFill>
                          <a:latin typeface="+mn-lt"/>
                        </a:rPr>
                        <a:t>00</a:t>
                      </a:r>
                      <a:endParaRPr lang="en-US" sz="1200" b="0" dirty="0">
                        <a:solidFill>
                          <a:schemeClr val="tx1"/>
                        </a:solidFill>
                        <a:latin typeface="+mn-lt"/>
                      </a:endParaRP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40162">
                <a:tc>
                  <a:txBody>
                    <a:bodyPr/>
                    <a:lstStyle/>
                    <a:p>
                      <a:r>
                        <a:rPr lang="en-US" sz="1600" b="0" dirty="0">
                          <a:solidFill>
                            <a:schemeClr val="bg1"/>
                          </a:solidFill>
                          <a:latin typeface="+mj-lt"/>
                          <a:cs typeface="Segoe UI Semibold"/>
                        </a:rPr>
                        <a:t>Deck owners</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dirty="0">
                          <a:solidFill>
                            <a:schemeClr val="tx1"/>
                          </a:solidFill>
                          <a:latin typeface="+mn-lt"/>
                        </a:rPr>
                        <a:t>Joe Unwin</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1884825">
                <a:tc>
                  <a:txBody>
                    <a:bodyPr/>
                    <a:lstStyle/>
                    <a:p>
                      <a:r>
                        <a:rPr lang="en-US" sz="1600" b="0" dirty="0">
                          <a:solidFill>
                            <a:schemeClr val="bg1"/>
                          </a:solidFill>
                          <a:latin typeface="+mj-lt"/>
                          <a:cs typeface="Segoe UI Semibold" panose="020B0702040204020203" pitchFamily="34" charset="0"/>
                        </a:rPr>
                        <a:t>Usage guidance</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rtl="0" eaLnBrk="1" fontAlgn="auto" latinLnBrk="0" hangingPunct="1">
                        <a:lnSpc>
                          <a:spcPct val="100000"/>
                        </a:lnSpc>
                        <a:spcBef>
                          <a:spcPts val="0"/>
                        </a:spcBef>
                        <a:spcAft>
                          <a:spcPts val="600"/>
                        </a:spcAft>
                        <a:buClrTx/>
                        <a:buSzTx/>
                        <a:buFont typeface="+mj-lt"/>
                        <a:buAutoNum type="arabicPeriod"/>
                      </a:pPr>
                      <a:r>
                        <a:rPr lang="en-US" sz="1200" b="0" i="0" u="none" strike="noStrike" kern="1200" cap="none" spc="0" normalizeH="0" baseline="0" noProof="0" dirty="0">
                          <a:ln>
                            <a:noFill/>
                          </a:ln>
                          <a:solidFill>
                            <a:schemeClr val="tx1"/>
                          </a:solidFill>
                          <a:effectLst/>
                          <a:uLnTx/>
                          <a:uFillTx/>
                          <a:latin typeface="+mn-lt"/>
                          <a:ea typeface="+mn-ea"/>
                          <a:cs typeface="Segoe UI"/>
                        </a:rPr>
                        <a:t>Review </a:t>
                      </a:r>
                      <a:r>
                        <a:rPr kumimoji="0" lang="en-US" sz="1200" b="0" i="0" u="none" strike="noStrike" kern="1200" cap="none" spc="0" normalizeH="0" baseline="0" noProof="0" dirty="0">
                          <a:ln>
                            <a:noFill/>
                          </a:ln>
                          <a:solidFill>
                            <a:schemeClr val="tx1"/>
                          </a:solidFill>
                          <a:effectLst/>
                          <a:uLnTx/>
                          <a:uFillTx/>
                          <a:latin typeface="+mn-lt"/>
                          <a:ea typeface="+mn-ea"/>
                          <a:cs typeface="Segoe UI"/>
                        </a:rPr>
                        <a:t>the </a:t>
                      </a:r>
                      <a:r>
                        <a:rPr lang="en-US" sz="1200" b="0" i="0" u="none" strike="noStrike" kern="1200" cap="none" spc="0" normalizeH="0" baseline="0" noProof="0" dirty="0">
                          <a:ln>
                            <a:noFill/>
                          </a:ln>
                          <a:solidFill>
                            <a:schemeClr val="tx1"/>
                          </a:solidFill>
                          <a:effectLst/>
                          <a:uLnTx/>
                          <a:uFillTx/>
                          <a:latin typeface="+mn-lt"/>
                          <a:ea typeface="+mn-ea"/>
                          <a:cs typeface="Segoe UI"/>
                        </a:rPr>
                        <a:t>talk track included in each notes section to ensure messaging is consistent.</a:t>
                      </a:r>
                      <a:endParaRPr kumimoji="0" lang="en-US" sz="1200" b="0" i="0" u="none" strike="noStrike" kern="1200" cap="none" spc="0" normalizeH="0" baseline="0" noProof="0" dirty="0">
                        <a:ln>
                          <a:noFill/>
                        </a:ln>
                        <a:solidFill>
                          <a:schemeClr val="tx1"/>
                        </a:solidFill>
                        <a:effectLst/>
                        <a:uLnTx/>
                        <a:uFillTx/>
                        <a:latin typeface="+mn-lt"/>
                        <a:ea typeface="+mn-ea"/>
                        <a:cs typeface="Segoe UI"/>
                      </a:endParaRPr>
                    </a:p>
                    <a:p>
                      <a:pPr marL="228600" marR="0" lvl="0" indent="-228600" algn="l">
                        <a:lnSpc>
                          <a:spcPct val="100000"/>
                        </a:lnSpc>
                        <a:spcBef>
                          <a:spcPts val="0"/>
                        </a:spcBef>
                        <a:spcAft>
                          <a:spcPts val="600"/>
                        </a:spcAft>
                        <a:buClrTx/>
                        <a:buSzTx/>
                        <a:buAutoNum type="arabicPeriod"/>
                      </a:pPr>
                      <a:r>
                        <a:rPr lang="en-US" sz="1200" b="0" i="0" spc="0" dirty="0">
                          <a:solidFill>
                            <a:schemeClr val="tx1"/>
                          </a:solidFill>
                          <a:effectLst/>
                          <a:latin typeface="+mn-lt"/>
                          <a:cs typeface="Segoe UI"/>
                        </a:rPr>
                        <a:t>Review the accompanying Power Platform Admin and Governance whitepaper and </a:t>
                      </a:r>
                      <a:r>
                        <a:rPr lang="en-US" sz="1200" b="1" i="0" spc="0" dirty="0">
                          <a:solidFill>
                            <a:schemeClr val="tx1"/>
                          </a:solidFill>
                          <a:effectLst/>
                          <a:latin typeface="+mn-lt"/>
                          <a:cs typeface="Segoe UI"/>
                        </a:rPr>
                        <a:t>Change Management L200</a:t>
                      </a:r>
                      <a:r>
                        <a:rPr lang="en-US" sz="1200" b="0" i="0" spc="0" dirty="0">
                          <a:solidFill>
                            <a:schemeClr val="tx1"/>
                          </a:solidFill>
                          <a:effectLst/>
                          <a:latin typeface="+mn-lt"/>
                          <a:cs typeface="Segoe UI"/>
                        </a:rPr>
                        <a:t> deck to understand the all up governance talk track at a deeper level if needed</a:t>
                      </a:r>
                    </a:p>
                    <a:p>
                      <a:pPr marL="228600" marR="0" lvl="0" indent="-228600" algn="l">
                        <a:lnSpc>
                          <a:spcPct val="100000"/>
                        </a:lnSpc>
                        <a:spcBef>
                          <a:spcPts val="0"/>
                        </a:spcBef>
                        <a:spcAft>
                          <a:spcPts val="600"/>
                        </a:spcAft>
                        <a:buClr>
                          <a:srgbClr val="000000"/>
                        </a:buClr>
                        <a:buSzTx/>
                        <a:buAutoNum type="arabicPeriod"/>
                      </a:pPr>
                      <a:r>
                        <a:rPr lang="en-US" sz="1200" b="0" i="0" u="none" strike="noStrike" kern="1200" cap="none" spc="0" normalizeH="0" baseline="0" noProof="0" dirty="0">
                          <a:ln>
                            <a:noFill/>
                          </a:ln>
                          <a:solidFill>
                            <a:schemeClr val="tx1"/>
                          </a:solidFill>
                          <a:effectLst/>
                          <a:uLnTx/>
                          <a:uFillTx/>
                          <a:latin typeface="+mn-lt"/>
                          <a:cs typeface="Segoe UI"/>
                        </a:rPr>
                        <a:t>IMPORTANT: </a:t>
                      </a:r>
                      <a:r>
                        <a:rPr lang="en-US" sz="1200" b="1" i="0" u="none" strike="noStrike" kern="1200" cap="none" spc="0" normalizeH="0" baseline="0" noProof="0" dirty="0">
                          <a:ln>
                            <a:noFill/>
                          </a:ln>
                          <a:solidFill>
                            <a:schemeClr val="tx1"/>
                          </a:solidFill>
                          <a:effectLst/>
                          <a:uLnTx/>
                          <a:uFillTx/>
                          <a:latin typeface="+mj-lt"/>
                          <a:cs typeface="Segoe UI"/>
                        </a:rPr>
                        <a:t>Please note this isn't a standalone deck.</a:t>
                      </a:r>
                      <a:r>
                        <a:rPr lang="en-US" sz="1200" b="0" i="0" u="none" strike="noStrike" kern="1200" cap="none" spc="0" normalizeH="0" baseline="0" noProof="0" dirty="0">
                          <a:ln>
                            <a:noFill/>
                          </a:ln>
                          <a:solidFill>
                            <a:schemeClr val="tx1"/>
                          </a:solidFill>
                          <a:effectLst/>
                          <a:uLnTx/>
                          <a:uFillTx/>
                          <a:latin typeface="+mj-lt"/>
                          <a:cs typeface="Segoe UI"/>
                        </a:rPr>
                        <a:t> </a:t>
                      </a:r>
                      <a:r>
                        <a:rPr lang="en-US" sz="1200" b="0" i="0" u="none" strike="noStrike" kern="1200" cap="none" spc="0" normalizeH="0" baseline="0" noProof="0" dirty="0">
                          <a:ln>
                            <a:noFill/>
                          </a:ln>
                          <a:solidFill>
                            <a:schemeClr val="tx1"/>
                          </a:solidFill>
                          <a:effectLst/>
                          <a:uLnTx/>
                          <a:uFillTx/>
                          <a:latin typeface="+mn-lt"/>
                          <a:cs typeface="Segoe UI"/>
                        </a:rPr>
                        <a:t>These are baseline slides to address Change Management in any MW &amp; BA conversation and has references to Change Management &amp; Governance which have their own decks. </a:t>
                      </a:r>
                    </a:p>
                    <a:p>
                      <a:pPr marL="228600" marR="0" lvl="0" indent="-228600" algn="l" defTabSz="932742" rtl="0" eaLnBrk="1" fontAlgn="auto" latinLnBrk="0" hangingPunct="1">
                        <a:lnSpc>
                          <a:spcPct val="100000"/>
                        </a:lnSpc>
                        <a:spcBef>
                          <a:spcPts val="0"/>
                        </a:spcBef>
                        <a:spcAft>
                          <a:spcPts val="600"/>
                        </a:spcAft>
                        <a:buClrTx/>
                        <a:buSzTx/>
                        <a:buFont typeface="+mj-lt"/>
                        <a:buAutoNum type="arabicPeriod"/>
                        <a:tabLst/>
                        <a:defRPr/>
                      </a:pPr>
                      <a:r>
                        <a:rPr kumimoji="0" lang="en-US" sz="1200" b="0" i="0" u="none" strike="noStrike" kern="1200" cap="none" spc="0" normalizeH="0" baseline="0" noProof="0" dirty="0">
                          <a:ln>
                            <a:noFill/>
                          </a:ln>
                          <a:solidFill>
                            <a:schemeClr val="tx1"/>
                          </a:solidFill>
                          <a:effectLst/>
                          <a:uLnTx/>
                          <a:uFillTx/>
                          <a:latin typeface="+mn-lt"/>
                          <a:ea typeface="+mn-ea"/>
                          <a:cs typeface="Segoe UI"/>
                        </a:rPr>
                        <a:t>IMPORTANT: If you share these slides with a customer or partner, please share as PDF to reduce the file size and ensure the notes are not visible/accessible</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40162">
                <a:tc>
                  <a:txBody>
                    <a:bodyPr/>
                    <a:lstStyle/>
                    <a:p>
                      <a:r>
                        <a:rPr lang="en-US" sz="1600" b="0" dirty="0">
                          <a:solidFill>
                            <a:schemeClr val="bg1"/>
                          </a:solidFill>
                          <a:latin typeface="+mj-lt"/>
                          <a:cs typeface="Segoe UI Semibold"/>
                        </a:rPr>
                        <a:t>Last edited</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200" b="0" dirty="0">
                          <a:solidFill>
                            <a:schemeClr val="tx1"/>
                          </a:solidFill>
                          <a:latin typeface="+mn-lt"/>
                        </a:rPr>
                        <a:t>March 2026</a:t>
                      </a:r>
                    </a:p>
                  </a:txBody>
                  <a:tcPr marL="91414" marR="91414" marT="45706" marB="4570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72153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29">
            <a:extLst>
              <a:ext uri="{FF2B5EF4-FFF2-40B4-BE49-F238E27FC236}">
                <a16:creationId xmlns:a16="http://schemas.microsoft.com/office/drawing/2014/main" id="{1CA83798-1F9C-E45A-4412-A1DE88B8A0FB}"/>
              </a:ext>
            </a:extLst>
          </p:cNvPr>
          <p:cNvSpPr>
            <a:spLocks noGrp="1"/>
          </p:cNvSpPr>
          <p:nvPr>
            <p:ph type="title"/>
          </p:nvPr>
        </p:nvSpPr>
        <p:spPr>
          <a:xfrm>
            <a:off x="584200" y="2918222"/>
            <a:ext cx="6948714" cy="615553"/>
          </a:xfrm>
        </p:spPr>
        <p:txBody>
          <a:bodyPr/>
          <a:lstStyle/>
          <a:p>
            <a:r>
              <a:rPr lang="en-US" dirty="0">
                <a:gradFill>
                  <a:gsLst>
                    <a:gs pos="32000">
                      <a:srgbClr val="C03BC4"/>
                    </a:gs>
                    <a:gs pos="100000">
                      <a:srgbClr val="0078D4"/>
                    </a:gs>
                  </a:gsLst>
                  <a:path path="circle">
                    <a:fillToRect l="100000" t="100000"/>
                  </a:path>
                </a:gradFill>
              </a:rPr>
              <a:t>Change Management</a:t>
            </a:r>
            <a:endParaRPr lang="en-IN" dirty="0">
              <a:gradFill>
                <a:gsLst>
                  <a:gs pos="32000">
                    <a:srgbClr val="C03BC4"/>
                  </a:gs>
                  <a:gs pos="100000">
                    <a:srgbClr val="0078D4"/>
                  </a:gs>
                </a:gsLst>
                <a:path path="circle">
                  <a:fillToRect l="100000" t="100000"/>
                </a:path>
              </a:gradFill>
            </a:endParaRPr>
          </a:p>
        </p:txBody>
      </p:sp>
      <p:sp>
        <p:nvSpPr>
          <p:cNvPr id="3" name="Text Placeholder 2">
            <a:extLst>
              <a:ext uri="{FF2B5EF4-FFF2-40B4-BE49-F238E27FC236}">
                <a16:creationId xmlns:a16="http://schemas.microsoft.com/office/drawing/2014/main" id="{79A216C5-F67B-ADBA-DDA3-DC9C4C6D03F4}"/>
              </a:ext>
            </a:extLst>
          </p:cNvPr>
          <p:cNvSpPr>
            <a:spLocks noGrp="1"/>
          </p:cNvSpPr>
          <p:nvPr>
            <p:ph type="body" sz="quarter" idx="12"/>
          </p:nvPr>
        </p:nvSpPr>
        <p:spPr>
          <a:xfrm>
            <a:off x="584200" y="3698240"/>
            <a:ext cx="9144000" cy="246221"/>
          </a:xfrm>
        </p:spPr>
        <p:txBody>
          <a:bodyPr/>
          <a:lstStyle/>
          <a:p>
            <a:r>
              <a:rPr lang="en-US" dirty="0"/>
              <a:t>Aligning people, product and platform as change accelerates</a:t>
            </a:r>
          </a:p>
        </p:txBody>
      </p:sp>
      <p:pic>
        <p:nvPicPr>
          <p:cNvPr id="6" name="Picture 5">
            <a:extLst>
              <a:ext uri="{FF2B5EF4-FFF2-40B4-BE49-F238E27FC236}">
                <a16:creationId xmlns:a16="http://schemas.microsoft.com/office/drawing/2014/main" id="{448E37DB-1A3E-C703-40FA-713367135230}"/>
              </a:ext>
              <a:ext uri="{C183D7F6-B498-43B3-948B-1728B52AA6E4}">
                <adec:decorative xmlns:adec="http://schemas.microsoft.com/office/drawing/2017/decorative" val="1"/>
              </a:ext>
            </a:extLst>
          </p:cNvPr>
          <p:cNvPicPr>
            <a:picLocks noChangeAspect="1"/>
          </p:cNvPicPr>
          <p:nvPr/>
        </p:nvPicPr>
        <p:blipFill>
          <a:blip r:embed="rId3" cstate="screen">
            <a:alphaModFix/>
            <a:extLst>
              <a:ext uri="{28A0092B-C50C-407E-A947-70E740481C1C}">
                <a14:useLocalDpi xmlns:a14="http://schemas.microsoft.com/office/drawing/2010/main"/>
              </a:ext>
            </a:extLst>
          </a:blip>
          <a:srcRect/>
          <a:stretch/>
        </p:blipFill>
        <p:spPr>
          <a:xfrm>
            <a:off x="8095169" y="2"/>
            <a:ext cx="4102718" cy="6858001"/>
          </a:xfrm>
          <a:prstGeom prst="rect">
            <a:avLst/>
          </a:prstGeom>
        </p:spPr>
      </p:pic>
    </p:spTree>
    <p:extLst>
      <p:ext uri="{BB962C8B-B14F-4D97-AF65-F5344CB8AC3E}">
        <p14:creationId xmlns:p14="http://schemas.microsoft.com/office/powerpoint/2010/main" val="36942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3DFCC-12D4-721A-EB1F-7CBA62D44A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2AFA3-5A23-1328-5AE4-0F5F48B9D262}"/>
              </a:ext>
              <a:ext uri="{C183D7F6-B498-43B3-948B-1728B52AA6E4}">
                <adec:decorative xmlns:adec="http://schemas.microsoft.com/office/drawing/2017/decorative" val="1"/>
              </a:ext>
            </a:extLst>
          </p:cNvPr>
          <p:cNvSpPr>
            <a:spLocks noGrp="1"/>
          </p:cNvSpPr>
          <p:nvPr>
            <p:ph type="title"/>
          </p:nvPr>
        </p:nvSpPr>
        <p:spPr>
          <a:xfrm>
            <a:off x="588263" y="-863600"/>
            <a:ext cx="11018520" cy="553998"/>
          </a:xfrm>
        </p:spPr>
        <p:txBody>
          <a:bodyPr vert="horz" wrap="square" lIns="0" tIns="0" rIns="0" bIns="0" rtlCol="0" anchor="b">
            <a:spAutoFit/>
          </a:bodyPr>
          <a:lstStyle/>
          <a:p>
            <a:r>
              <a:rPr lang="en-IN"/>
              <a:t>Innovation and Risk</a:t>
            </a:r>
            <a:endParaRPr lang="en-US"/>
          </a:p>
        </p:txBody>
      </p:sp>
      <p:pic>
        <p:nvPicPr>
          <p:cNvPr id="4" name="Picture 3" descr="A blurry image of a purple object&#10;&#10;AI-generated content may be incorrect.">
            <a:extLst>
              <a:ext uri="{FF2B5EF4-FFF2-40B4-BE49-F238E27FC236}">
                <a16:creationId xmlns:a16="http://schemas.microsoft.com/office/drawing/2014/main" id="{C96ECB06-CC96-7B5A-CA63-8B50375EA3DE}"/>
              </a:ext>
            </a:extLst>
          </p:cNvPr>
          <p:cNvPicPr>
            <a:picLocks noChangeAspect="1"/>
          </p:cNvPicPr>
          <p:nvPr/>
        </p:nvPicPr>
        <p:blipFill>
          <a:blip r:embed="rId3">
            <a:alphaModFix amt="70000"/>
          </a:blip>
          <a:srcRect l="25924"/>
          <a:stretch>
            <a:fillRect/>
          </a:stretch>
        </p:blipFill>
        <p:spPr>
          <a:xfrm flipV="1">
            <a:off x="0" y="0"/>
            <a:ext cx="12192000" cy="6858000"/>
          </a:xfrm>
          <a:prstGeom prst="rect">
            <a:avLst/>
          </a:prstGeom>
        </p:spPr>
      </p:pic>
      <p:sp>
        <p:nvSpPr>
          <p:cNvPr id="5" name="Rectangle: Rounded Corners 11">
            <a:extLst>
              <a:ext uri="{FF2B5EF4-FFF2-40B4-BE49-F238E27FC236}">
                <a16:creationId xmlns:a16="http://schemas.microsoft.com/office/drawing/2014/main" id="{2C2CCD18-7C07-1773-9A1E-796F5DCCDD7F}"/>
              </a:ext>
              <a:ext uri="{C183D7F6-B498-43B3-948B-1728B52AA6E4}">
                <adec:decorative xmlns:adec="http://schemas.microsoft.com/office/drawing/2017/decorative" val="1"/>
              </a:ext>
            </a:extLst>
          </p:cNvPr>
          <p:cNvSpPr>
            <a:spLocks/>
          </p:cNvSpPr>
          <p:nvPr/>
        </p:nvSpPr>
        <p:spPr>
          <a:xfrm>
            <a:off x="571500" y="571501"/>
            <a:ext cx="11049000" cy="5715000"/>
          </a:xfrm>
          <a:prstGeom prst="roundRect">
            <a:avLst>
              <a:gd name="adj" fmla="val 4295"/>
            </a:avLst>
          </a:pr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grpSp>
        <p:nvGrpSpPr>
          <p:cNvPr id="7" name="Group 6">
            <a:extLst>
              <a:ext uri="{FF2B5EF4-FFF2-40B4-BE49-F238E27FC236}">
                <a16:creationId xmlns:a16="http://schemas.microsoft.com/office/drawing/2014/main" id="{2F8E1304-D3A0-A121-6209-A1386B8D9C66}"/>
              </a:ext>
              <a:ext uri="{C183D7F6-B498-43B3-948B-1728B52AA6E4}">
                <adec:decorative xmlns:adec="http://schemas.microsoft.com/office/drawing/2017/decorative" val="1"/>
              </a:ext>
            </a:extLst>
          </p:cNvPr>
          <p:cNvGrpSpPr/>
          <p:nvPr/>
        </p:nvGrpSpPr>
        <p:grpSpPr>
          <a:xfrm>
            <a:off x="2633703" y="1137425"/>
            <a:ext cx="6924595" cy="4583153"/>
            <a:chOff x="2472967" y="1031038"/>
            <a:chExt cx="7246066" cy="4795925"/>
          </a:xfrm>
        </p:grpSpPr>
        <p:grpSp>
          <p:nvGrpSpPr>
            <p:cNvPr id="8" name="Group 7">
              <a:extLst>
                <a:ext uri="{FF2B5EF4-FFF2-40B4-BE49-F238E27FC236}">
                  <a16:creationId xmlns:a16="http://schemas.microsoft.com/office/drawing/2014/main" id="{F5914E3F-B543-7413-7A27-033A49E80DCF}"/>
                </a:ext>
                <a:ext uri="{C183D7F6-B498-43B3-948B-1728B52AA6E4}">
                  <adec:decorative xmlns:adec="http://schemas.microsoft.com/office/drawing/2017/decorative" val="1"/>
                </a:ext>
              </a:extLst>
            </p:cNvPr>
            <p:cNvGrpSpPr/>
            <p:nvPr/>
          </p:nvGrpSpPr>
          <p:grpSpPr>
            <a:xfrm>
              <a:off x="2550669" y="1031038"/>
              <a:ext cx="7090662" cy="4304396"/>
              <a:chOff x="2550669" y="1031038"/>
              <a:chExt cx="7090662" cy="4304396"/>
            </a:xfrm>
            <a:solidFill>
              <a:srgbClr val="FFFFFF">
                <a:alpha val="60000"/>
              </a:srgbClr>
            </a:solidFill>
          </p:grpSpPr>
          <p:sp>
            <p:nvSpPr>
              <p:cNvPr id="20" name="Freeform: Shape 19">
                <a:extLst>
                  <a:ext uri="{FF2B5EF4-FFF2-40B4-BE49-F238E27FC236}">
                    <a16:creationId xmlns:a16="http://schemas.microsoft.com/office/drawing/2014/main" id="{71904B67-3AAE-A853-60E0-DFB0A4928F5E}"/>
                  </a:ext>
                </a:extLst>
              </p:cNvPr>
              <p:cNvSpPr/>
              <p:nvPr/>
            </p:nvSpPr>
            <p:spPr>
              <a:xfrm>
                <a:off x="5984195" y="1031038"/>
                <a:ext cx="223626" cy="4304396"/>
              </a:xfrm>
              <a:custGeom>
                <a:avLst/>
                <a:gdLst>
                  <a:gd name="connsiteX0" fmla="*/ 130534 w 263685"/>
                  <a:gd name="connsiteY0" fmla="*/ 0 h 5075464"/>
                  <a:gd name="connsiteX1" fmla="*/ 130534 w 263685"/>
                  <a:gd name="connsiteY1" fmla="*/ 0 h 5075464"/>
                  <a:gd name="connsiteX2" fmla="*/ 263685 w 263685"/>
                  <a:gd name="connsiteY2" fmla="*/ 133151 h 5075464"/>
                  <a:gd name="connsiteX3" fmla="*/ 263685 w 263685"/>
                  <a:gd name="connsiteY3" fmla="*/ 4944912 h 5075464"/>
                  <a:gd name="connsiteX4" fmla="*/ 130534 w 263685"/>
                  <a:gd name="connsiteY4" fmla="*/ 5075465 h 5075464"/>
                  <a:gd name="connsiteX5" fmla="*/ 130534 w 263685"/>
                  <a:gd name="connsiteY5" fmla="*/ 5075465 h 5075464"/>
                  <a:gd name="connsiteX6" fmla="*/ 0 w 263685"/>
                  <a:gd name="connsiteY6" fmla="*/ 4944912 h 5075464"/>
                  <a:gd name="connsiteX7" fmla="*/ 0 w 263685"/>
                  <a:gd name="connsiteY7" fmla="*/ 133151 h 5075464"/>
                  <a:gd name="connsiteX8" fmla="*/ 130534 w 263685"/>
                  <a:gd name="connsiteY8" fmla="*/ 0 h 5075464"/>
                  <a:gd name="connsiteX9" fmla="*/ 130534 w 263685"/>
                  <a:gd name="connsiteY9" fmla="*/ 0 h 507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3685" h="5075464">
                    <a:moveTo>
                      <a:pt x="130534" y="0"/>
                    </a:moveTo>
                    <a:lnTo>
                      <a:pt x="130534" y="0"/>
                    </a:lnTo>
                    <a:cubicBezTo>
                      <a:pt x="203643" y="0"/>
                      <a:pt x="263685" y="60042"/>
                      <a:pt x="263685" y="133151"/>
                    </a:cubicBezTo>
                    <a:lnTo>
                      <a:pt x="263685" y="4944912"/>
                    </a:lnTo>
                    <a:cubicBezTo>
                      <a:pt x="263685" y="5015403"/>
                      <a:pt x="203643" y="5075465"/>
                      <a:pt x="130534" y="5075465"/>
                    </a:cubicBezTo>
                    <a:lnTo>
                      <a:pt x="130534" y="5075465"/>
                    </a:lnTo>
                    <a:cubicBezTo>
                      <a:pt x="60042" y="5075465"/>
                      <a:pt x="0" y="5015423"/>
                      <a:pt x="0" y="4944912"/>
                    </a:cubicBezTo>
                    <a:lnTo>
                      <a:pt x="0" y="133151"/>
                    </a:lnTo>
                    <a:cubicBezTo>
                      <a:pt x="0" y="60042"/>
                      <a:pt x="60042" y="0"/>
                      <a:pt x="130534" y="0"/>
                    </a:cubicBezTo>
                    <a:lnTo>
                      <a:pt x="130534" y="0"/>
                    </a:lnTo>
                    <a:close/>
                  </a:path>
                </a:pathLst>
              </a:custGeom>
              <a:solidFill>
                <a:schemeClr val="accent1">
                  <a:lumMod val="40000"/>
                  <a:lumOff val="60000"/>
                  <a:alpha val="64000"/>
                </a:scheme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0" cap="none" spc="0" normalizeH="0" baseline="0" noProof="0">
                  <a:ln w="3175">
                    <a:noFill/>
                  </a:ln>
                  <a:gradFill>
                    <a:gsLst>
                      <a:gs pos="22936">
                        <a:srgbClr val="F4F3F5"/>
                      </a:gs>
                      <a:gs pos="38000">
                        <a:srgbClr val="F4F3F5"/>
                      </a:gs>
                    </a:gsLst>
                    <a:path path="circle">
                      <a:fillToRect l="100000" t="100000"/>
                    </a:path>
                  </a:gradFill>
                  <a:effectLst/>
                  <a:uLnTx/>
                  <a:uFillTx/>
                  <a:latin typeface="Segoe Sans Display Semibold"/>
                  <a:ea typeface="+mn-ea"/>
                  <a:cs typeface="Segoe UI" pitchFamily="34" charset="0"/>
                </a:endParaRPr>
              </a:p>
            </p:txBody>
          </p:sp>
          <p:sp>
            <p:nvSpPr>
              <p:cNvPr id="21" name="Freeform: Shape 20">
                <a:extLst>
                  <a:ext uri="{FF2B5EF4-FFF2-40B4-BE49-F238E27FC236}">
                    <a16:creationId xmlns:a16="http://schemas.microsoft.com/office/drawing/2014/main" id="{4702792B-408D-A08C-697B-B89F22223B9B}"/>
                  </a:ext>
                </a:extLst>
              </p:cNvPr>
              <p:cNvSpPr/>
              <p:nvPr/>
            </p:nvSpPr>
            <p:spPr>
              <a:xfrm>
                <a:off x="2550669" y="1667145"/>
                <a:ext cx="2925955" cy="1861722"/>
              </a:xfrm>
              <a:custGeom>
                <a:avLst/>
                <a:gdLst>
                  <a:gd name="connsiteX0" fmla="*/ 0 w 2370528"/>
                  <a:gd name="connsiteY0" fmla="*/ 1704869 h 1757078"/>
                  <a:gd name="connsiteX1" fmla="*/ 1148710 w 2370528"/>
                  <a:gd name="connsiteY1" fmla="*/ 54827 h 1757078"/>
                  <a:gd name="connsiteX2" fmla="*/ 1185254 w 2370528"/>
                  <a:gd name="connsiteY2" fmla="*/ 0 h 1757078"/>
                  <a:gd name="connsiteX3" fmla="*/ 1224417 w 2370528"/>
                  <a:gd name="connsiteY3" fmla="*/ 54827 h 1757078"/>
                  <a:gd name="connsiteX4" fmla="*/ 2370528 w 2370528"/>
                  <a:gd name="connsiteY4" fmla="*/ 1704869 h 1757078"/>
                  <a:gd name="connsiteX5" fmla="*/ 2294821 w 2370528"/>
                  <a:gd name="connsiteY5" fmla="*/ 1757079 h 1757078"/>
                  <a:gd name="connsiteX6" fmla="*/ 1185254 w 2370528"/>
                  <a:gd name="connsiteY6" fmla="*/ 161864 h 1757078"/>
                  <a:gd name="connsiteX7" fmla="*/ 75707 w 2370528"/>
                  <a:gd name="connsiteY7" fmla="*/ 1757079 h 1757078"/>
                  <a:gd name="connsiteX8" fmla="*/ 0 w 2370528"/>
                  <a:gd name="connsiteY8" fmla="*/ 1704869 h 175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0528" h="1757078">
                    <a:moveTo>
                      <a:pt x="0" y="1704869"/>
                    </a:moveTo>
                    <a:lnTo>
                      <a:pt x="1148710" y="54827"/>
                    </a:lnTo>
                    <a:lnTo>
                      <a:pt x="1185254" y="0"/>
                    </a:lnTo>
                    <a:lnTo>
                      <a:pt x="1224417" y="54827"/>
                    </a:lnTo>
                    <a:lnTo>
                      <a:pt x="2370528" y="1704869"/>
                    </a:lnTo>
                    <a:lnTo>
                      <a:pt x="2294821" y="1757079"/>
                    </a:lnTo>
                    <a:lnTo>
                      <a:pt x="1185254" y="161864"/>
                    </a:lnTo>
                    <a:lnTo>
                      <a:pt x="75707" y="1757079"/>
                    </a:lnTo>
                    <a:lnTo>
                      <a:pt x="0" y="1704869"/>
                    </a:lnTo>
                    <a:close/>
                  </a:path>
                </a:pathLst>
              </a:custGeom>
              <a:solidFill>
                <a:schemeClr val="accent1">
                  <a:lumMod val="40000"/>
                  <a:lumOff val="60000"/>
                  <a:alpha val="64000"/>
                </a:scheme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0" cap="none" spc="0" normalizeH="0" baseline="0" noProof="0">
                  <a:ln w="3175">
                    <a:noFill/>
                  </a:ln>
                  <a:gradFill>
                    <a:gsLst>
                      <a:gs pos="22936">
                        <a:srgbClr val="F4F3F5"/>
                      </a:gs>
                      <a:gs pos="38000">
                        <a:srgbClr val="F4F3F5"/>
                      </a:gs>
                    </a:gsLst>
                    <a:path path="circle">
                      <a:fillToRect l="100000" t="100000"/>
                    </a:path>
                  </a:gradFill>
                  <a:effectLst/>
                  <a:uLnTx/>
                  <a:uFillTx/>
                  <a:latin typeface="Segoe Sans Display Semibold"/>
                  <a:ea typeface="+mn-ea"/>
                  <a:cs typeface="Segoe UI" pitchFamily="34" charset="0"/>
                </a:endParaRPr>
              </a:p>
            </p:txBody>
          </p:sp>
          <p:sp>
            <p:nvSpPr>
              <p:cNvPr id="22" name="Freeform: Shape 21">
                <a:extLst>
                  <a:ext uri="{FF2B5EF4-FFF2-40B4-BE49-F238E27FC236}">
                    <a16:creationId xmlns:a16="http://schemas.microsoft.com/office/drawing/2014/main" id="{BB23838A-2973-4380-4365-DC01D16873EA}"/>
                  </a:ext>
                </a:extLst>
              </p:cNvPr>
              <p:cNvSpPr/>
              <p:nvPr/>
            </p:nvSpPr>
            <p:spPr>
              <a:xfrm>
                <a:off x="3869722" y="1496014"/>
                <a:ext cx="2160954" cy="385265"/>
              </a:xfrm>
              <a:custGeom>
                <a:avLst/>
                <a:gdLst>
                  <a:gd name="connsiteX0" fmla="*/ 2506297 w 2548056"/>
                  <a:gd name="connsiteY0" fmla="*/ 0 h 454280"/>
                  <a:gd name="connsiteX1" fmla="*/ 0 w 2548056"/>
                  <a:gd name="connsiteY1" fmla="*/ 336794 h 454280"/>
                  <a:gd name="connsiteX2" fmla="*/ 0 w 2548056"/>
                  <a:gd name="connsiteY2" fmla="*/ 454280 h 454280"/>
                  <a:gd name="connsiteX3" fmla="*/ 2548057 w 2548056"/>
                  <a:gd name="connsiteY3" fmla="*/ 362908 h 454280"/>
                  <a:gd name="connsiteX4" fmla="*/ 2506297 w 2548056"/>
                  <a:gd name="connsiteY4" fmla="*/ 0 h 454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8056" h="454280">
                    <a:moveTo>
                      <a:pt x="2506297" y="0"/>
                    </a:moveTo>
                    <a:lnTo>
                      <a:pt x="0" y="336794"/>
                    </a:lnTo>
                    <a:lnTo>
                      <a:pt x="0" y="454280"/>
                    </a:lnTo>
                    <a:lnTo>
                      <a:pt x="2548057" y="362908"/>
                    </a:lnTo>
                    <a:lnTo>
                      <a:pt x="2506297" y="0"/>
                    </a:lnTo>
                    <a:close/>
                  </a:path>
                </a:pathLst>
              </a:custGeom>
              <a:solidFill>
                <a:schemeClr val="accent1">
                  <a:lumMod val="40000"/>
                  <a:lumOff val="60000"/>
                  <a:alpha val="64000"/>
                </a:scheme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0" cap="none" spc="0" normalizeH="0" baseline="0" noProof="0">
                  <a:ln w="3175">
                    <a:noFill/>
                  </a:ln>
                  <a:gradFill>
                    <a:gsLst>
                      <a:gs pos="22936">
                        <a:srgbClr val="F4F3F5"/>
                      </a:gs>
                      <a:gs pos="38000">
                        <a:srgbClr val="F4F3F5"/>
                      </a:gs>
                    </a:gsLst>
                    <a:path path="circle">
                      <a:fillToRect l="100000" t="100000"/>
                    </a:path>
                  </a:gradFill>
                  <a:effectLst/>
                  <a:uLnTx/>
                  <a:uFillTx/>
                  <a:latin typeface="Segoe Sans Display Semibold"/>
                  <a:ea typeface="+mn-ea"/>
                  <a:cs typeface="Segoe UI" pitchFamily="34" charset="0"/>
                </a:endParaRPr>
              </a:p>
            </p:txBody>
          </p:sp>
          <p:sp>
            <p:nvSpPr>
              <p:cNvPr id="23" name="Freeform: Shape 22">
                <a:extLst>
                  <a:ext uri="{FF2B5EF4-FFF2-40B4-BE49-F238E27FC236}">
                    <a16:creationId xmlns:a16="http://schemas.microsoft.com/office/drawing/2014/main" id="{E469A40C-B8D0-A08D-16E8-ABBEF8C09D80}"/>
                  </a:ext>
                </a:extLst>
              </p:cNvPr>
              <p:cNvSpPr/>
              <p:nvPr/>
            </p:nvSpPr>
            <p:spPr>
              <a:xfrm>
                <a:off x="6715376" y="1667145"/>
                <a:ext cx="2925955" cy="1861722"/>
              </a:xfrm>
              <a:custGeom>
                <a:avLst/>
                <a:gdLst>
                  <a:gd name="connsiteX0" fmla="*/ 2370528 w 2370528"/>
                  <a:gd name="connsiteY0" fmla="*/ 1704869 h 1757078"/>
                  <a:gd name="connsiteX1" fmla="*/ 1221819 w 2370528"/>
                  <a:gd name="connsiteY1" fmla="*/ 54827 h 1757078"/>
                  <a:gd name="connsiteX2" fmla="*/ 1185274 w 2370528"/>
                  <a:gd name="connsiteY2" fmla="*/ 0 h 1757078"/>
                  <a:gd name="connsiteX3" fmla="*/ 1146112 w 2370528"/>
                  <a:gd name="connsiteY3" fmla="*/ 54827 h 1757078"/>
                  <a:gd name="connsiteX4" fmla="*/ 0 w 2370528"/>
                  <a:gd name="connsiteY4" fmla="*/ 1704869 h 1757078"/>
                  <a:gd name="connsiteX5" fmla="*/ 75726 w 2370528"/>
                  <a:gd name="connsiteY5" fmla="*/ 1757079 h 1757078"/>
                  <a:gd name="connsiteX6" fmla="*/ 1185274 w 2370528"/>
                  <a:gd name="connsiteY6" fmla="*/ 161864 h 1757078"/>
                  <a:gd name="connsiteX7" fmla="*/ 2294822 w 2370528"/>
                  <a:gd name="connsiteY7" fmla="*/ 1757079 h 1757078"/>
                  <a:gd name="connsiteX8" fmla="*/ 2370528 w 2370528"/>
                  <a:gd name="connsiteY8" fmla="*/ 1704869 h 175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0528" h="1757078">
                    <a:moveTo>
                      <a:pt x="2370528" y="1704869"/>
                    </a:moveTo>
                    <a:lnTo>
                      <a:pt x="1221819" y="54827"/>
                    </a:lnTo>
                    <a:lnTo>
                      <a:pt x="1185274" y="0"/>
                    </a:lnTo>
                    <a:lnTo>
                      <a:pt x="1146112" y="54827"/>
                    </a:lnTo>
                    <a:lnTo>
                      <a:pt x="0" y="1704869"/>
                    </a:lnTo>
                    <a:lnTo>
                      <a:pt x="75726" y="1757079"/>
                    </a:lnTo>
                    <a:lnTo>
                      <a:pt x="1185274" y="161864"/>
                    </a:lnTo>
                    <a:lnTo>
                      <a:pt x="2294822" y="1757079"/>
                    </a:lnTo>
                    <a:lnTo>
                      <a:pt x="2370528" y="1704869"/>
                    </a:lnTo>
                    <a:close/>
                  </a:path>
                </a:pathLst>
              </a:custGeom>
              <a:solidFill>
                <a:schemeClr val="accent1">
                  <a:lumMod val="40000"/>
                  <a:lumOff val="60000"/>
                  <a:alpha val="64000"/>
                </a:scheme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0" cap="none" spc="0" normalizeH="0" baseline="0" noProof="0">
                  <a:ln w="3175">
                    <a:noFill/>
                  </a:ln>
                  <a:gradFill>
                    <a:gsLst>
                      <a:gs pos="22936">
                        <a:srgbClr val="F4F3F5"/>
                      </a:gs>
                      <a:gs pos="38000">
                        <a:srgbClr val="F4F3F5"/>
                      </a:gs>
                    </a:gsLst>
                    <a:path path="circle">
                      <a:fillToRect l="100000" t="100000"/>
                    </a:path>
                  </a:gradFill>
                  <a:effectLst/>
                  <a:uLnTx/>
                  <a:uFillTx/>
                  <a:latin typeface="Segoe Sans Display Semibold"/>
                  <a:ea typeface="+mn-ea"/>
                  <a:cs typeface="Segoe UI" pitchFamily="34" charset="0"/>
                </a:endParaRPr>
              </a:p>
            </p:txBody>
          </p:sp>
          <p:sp>
            <p:nvSpPr>
              <p:cNvPr id="24" name="Freeform: Shape 23">
                <a:extLst>
                  <a:ext uri="{FF2B5EF4-FFF2-40B4-BE49-F238E27FC236}">
                    <a16:creationId xmlns:a16="http://schemas.microsoft.com/office/drawing/2014/main" id="{1EF665AB-87AA-B271-482C-011F11C7448E}"/>
                  </a:ext>
                </a:extLst>
              </p:cNvPr>
              <p:cNvSpPr/>
              <p:nvPr/>
            </p:nvSpPr>
            <p:spPr>
              <a:xfrm>
                <a:off x="6161323" y="1496014"/>
                <a:ext cx="2160954" cy="385265"/>
              </a:xfrm>
              <a:custGeom>
                <a:avLst/>
                <a:gdLst>
                  <a:gd name="connsiteX0" fmla="*/ 41760 w 2548056"/>
                  <a:gd name="connsiteY0" fmla="*/ 0 h 454280"/>
                  <a:gd name="connsiteX1" fmla="*/ 2548057 w 2548056"/>
                  <a:gd name="connsiteY1" fmla="*/ 336794 h 454280"/>
                  <a:gd name="connsiteX2" fmla="*/ 2548057 w 2548056"/>
                  <a:gd name="connsiteY2" fmla="*/ 454280 h 454280"/>
                  <a:gd name="connsiteX3" fmla="*/ 0 w 2548056"/>
                  <a:gd name="connsiteY3" fmla="*/ 362908 h 454280"/>
                  <a:gd name="connsiteX4" fmla="*/ 41760 w 2548056"/>
                  <a:gd name="connsiteY4" fmla="*/ 0 h 454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8056" h="454280">
                    <a:moveTo>
                      <a:pt x="41760" y="0"/>
                    </a:moveTo>
                    <a:lnTo>
                      <a:pt x="2548057" y="336794"/>
                    </a:lnTo>
                    <a:lnTo>
                      <a:pt x="2548057" y="454280"/>
                    </a:lnTo>
                    <a:lnTo>
                      <a:pt x="0" y="362908"/>
                    </a:lnTo>
                    <a:lnTo>
                      <a:pt x="41760" y="0"/>
                    </a:lnTo>
                    <a:close/>
                  </a:path>
                </a:pathLst>
              </a:custGeom>
              <a:solidFill>
                <a:schemeClr val="accent1">
                  <a:lumMod val="40000"/>
                  <a:lumOff val="60000"/>
                  <a:alpha val="64000"/>
                </a:schemeClr>
              </a:solidFill>
            </p:spPr>
            <p:txBody>
              <a:bodyPr wrap="square" lIns="0" tIns="0" rIns="0" bIns="45720" rtlCol="0" anchor="ctr" anchorCtr="0">
                <a:noAutofit/>
              </a:bodyPr>
              <a:lstStyle/>
              <a:p>
                <a:pPr marL="0" marR="0" lvl="0" indent="0" algn="ctr" defTabSz="2275850" rtl="0" eaLnBrk="1" fontAlgn="base" latinLnBrk="0" hangingPunct="1">
                  <a:lnSpc>
                    <a:spcPct val="100000"/>
                  </a:lnSpc>
                  <a:spcBef>
                    <a:spcPts val="200"/>
                  </a:spcBef>
                  <a:spcAft>
                    <a:spcPct val="0"/>
                  </a:spcAft>
                  <a:buClrTx/>
                  <a:buSzTx/>
                  <a:buFontTx/>
                  <a:buNone/>
                  <a:tabLst>
                    <a:tab pos="3701239" algn="l"/>
                  </a:tabLst>
                  <a:defRPr/>
                </a:pPr>
                <a:endParaRPr kumimoji="0" lang="en-US" sz="1765" b="1" i="0" u="none" strike="noStrike" kern="0" cap="none" spc="0" normalizeH="0" baseline="0" noProof="0">
                  <a:ln w="3175">
                    <a:noFill/>
                  </a:ln>
                  <a:gradFill>
                    <a:gsLst>
                      <a:gs pos="22936">
                        <a:srgbClr val="F4F3F5"/>
                      </a:gs>
                      <a:gs pos="38000">
                        <a:srgbClr val="F4F3F5"/>
                      </a:gs>
                    </a:gsLst>
                    <a:path path="circle">
                      <a:fillToRect l="100000" t="100000"/>
                    </a:path>
                  </a:gradFill>
                  <a:effectLst/>
                  <a:uLnTx/>
                  <a:uFillTx/>
                  <a:latin typeface="Segoe Sans Display Semibold"/>
                  <a:ea typeface="+mn-ea"/>
                  <a:cs typeface="Segoe UI" pitchFamily="34" charset="0"/>
                </a:endParaRPr>
              </a:p>
            </p:txBody>
          </p:sp>
        </p:grpSp>
        <p:sp>
          <p:nvSpPr>
            <p:cNvPr id="9" name="TextBox 8">
              <a:extLst>
                <a:ext uri="{FF2B5EF4-FFF2-40B4-BE49-F238E27FC236}">
                  <a16:creationId xmlns:a16="http://schemas.microsoft.com/office/drawing/2014/main" id="{F8B5EFBB-762F-4528-7C06-1108AD60D78F}"/>
                </a:ext>
              </a:extLst>
            </p:cNvPr>
            <p:cNvSpPr txBox="1"/>
            <p:nvPr/>
          </p:nvSpPr>
          <p:spPr>
            <a:xfrm>
              <a:off x="3137381" y="3975682"/>
              <a:ext cx="1752531" cy="430887"/>
            </a:xfrm>
            <a:prstGeom prst="rect">
              <a:avLst/>
            </a:prstGeom>
            <a:noFill/>
          </p:spPr>
          <p:txBody>
            <a:bodyPr wrap="none" lIns="0" tIns="0" rIns="0" bIns="0" rtlCol="0" anchor="ctr" anchorCtr="1">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w="3175">
                    <a:noFill/>
                  </a:ln>
                  <a:solidFill>
                    <a:srgbClr val="0078D4"/>
                  </a:solidFill>
                  <a:effectLst/>
                  <a:uLnTx/>
                  <a:uFillTx/>
                  <a:latin typeface="Segoe Sans Display Semibold"/>
                  <a:ea typeface="+mn-ea"/>
                  <a:cs typeface="Segoe UI" pitchFamily="34" charset="0"/>
                </a:rPr>
                <a:t>Innovation</a:t>
              </a:r>
            </a:p>
          </p:txBody>
        </p:sp>
        <p:sp>
          <p:nvSpPr>
            <p:cNvPr id="10" name="TextBox 9">
              <a:extLst>
                <a:ext uri="{FF2B5EF4-FFF2-40B4-BE49-F238E27FC236}">
                  <a16:creationId xmlns:a16="http://schemas.microsoft.com/office/drawing/2014/main" id="{1E019E91-07B5-30A2-ACDA-9CB609A2B8BB}"/>
                </a:ext>
              </a:extLst>
            </p:cNvPr>
            <p:cNvSpPr txBox="1"/>
            <p:nvPr/>
          </p:nvSpPr>
          <p:spPr>
            <a:xfrm>
              <a:off x="7847333" y="3975682"/>
              <a:ext cx="662041" cy="430887"/>
            </a:xfrm>
            <a:prstGeom prst="rect">
              <a:avLst/>
            </a:prstGeom>
            <a:noFill/>
          </p:spPr>
          <p:txBody>
            <a:bodyPr wrap="none" lIns="0" tIns="0" rIns="0" bIns="0" rtlCol="0" anchor="ctr" anchorCtr="1">
              <a:no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800" b="0" i="0" u="none" strike="noStrike" kern="0" cap="none" spc="0" normalizeH="0" baseline="0" noProof="0">
                  <a:ln w="3175">
                    <a:noFill/>
                  </a:ln>
                  <a:solidFill>
                    <a:srgbClr val="C03BC4"/>
                  </a:solidFill>
                  <a:effectLst/>
                  <a:uLnTx/>
                  <a:uFillTx/>
                  <a:latin typeface="Segoe Sans Display Semibold"/>
                  <a:ea typeface="+mn-ea"/>
                  <a:cs typeface="Segoe UI" pitchFamily="34" charset="0"/>
                </a:rPr>
                <a:t>Risk</a:t>
              </a:r>
            </a:p>
          </p:txBody>
        </p:sp>
        <p:sp>
          <p:nvSpPr>
            <p:cNvPr id="11" name="Freeform: Shape 10">
              <a:extLst>
                <a:ext uri="{FF2B5EF4-FFF2-40B4-BE49-F238E27FC236}">
                  <a16:creationId xmlns:a16="http://schemas.microsoft.com/office/drawing/2014/main" id="{3DE2285D-3390-985B-3C66-95C3623D1D4D}"/>
                </a:ext>
                <a:ext uri="{C183D7F6-B498-43B3-948B-1728B52AA6E4}">
                  <adec:decorative xmlns:adec="http://schemas.microsoft.com/office/drawing/2017/decorative" val="1"/>
                </a:ext>
              </a:extLst>
            </p:cNvPr>
            <p:cNvSpPr/>
            <p:nvPr/>
          </p:nvSpPr>
          <p:spPr>
            <a:xfrm>
              <a:off x="5348767" y="5162729"/>
              <a:ext cx="1494516" cy="283408"/>
            </a:xfrm>
            <a:custGeom>
              <a:avLst/>
              <a:gdLst>
                <a:gd name="connsiteX0" fmla="*/ 1762217 w 1762236"/>
                <a:gd name="connsiteY0" fmla="*/ 279350 h 334176"/>
                <a:gd name="connsiteX1" fmla="*/ 1762217 w 1762236"/>
                <a:gd name="connsiteY1" fmla="*/ 279350 h 334176"/>
                <a:gd name="connsiteX2" fmla="*/ 1757002 w 1762236"/>
                <a:gd name="connsiteY2" fmla="*/ 334177 h 334176"/>
                <a:gd name="connsiteX3" fmla="*/ 5215 w 1762236"/>
                <a:gd name="connsiteY3" fmla="*/ 334177 h 334176"/>
                <a:gd name="connsiteX4" fmla="*/ 0 w 1762236"/>
                <a:gd name="connsiteY4" fmla="*/ 279350 h 334176"/>
                <a:gd name="connsiteX5" fmla="*/ 0 w 1762236"/>
                <a:gd name="connsiteY5" fmla="*/ 279350 h 334176"/>
                <a:gd name="connsiteX6" fmla="*/ 279350 w 1762236"/>
                <a:gd name="connsiteY6" fmla="*/ 0 h 334176"/>
                <a:gd name="connsiteX7" fmla="*/ 1482886 w 1762236"/>
                <a:gd name="connsiteY7" fmla="*/ 0 h 334176"/>
                <a:gd name="connsiteX8" fmla="*/ 1762236 w 1762236"/>
                <a:gd name="connsiteY8" fmla="*/ 279350 h 334176"/>
                <a:gd name="connsiteX9" fmla="*/ 1762236 w 1762236"/>
                <a:gd name="connsiteY9" fmla="*/ 279350 h 334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62236" h="334176">
                  <a:moveTo>
                    <a:pt x="1762217" y="279350"/>
                  </a:moveTo>
                  <a:lnTo>
                    <a:pt x="1762217" y="279350"/>
                  </a:lnTo>
                  <a:cubicBezTo>
                    <a:pt x="1762217" y="297632"/>
                    <a:pt x="1759619" y="318512"/>
                    <a:pt x="1757002" y="334177"/>
                  </a:cubicBezTo>
                  <a:lnTo>
                    <a:pt x="5215" y="334177"/>
                  </a:lnTo>
                  <a:cubicBezTo>
                    <a:pt x="2617" y="318512"/>
                    <a:pt x="0" y="297632"/>
                    <a:pt x="0" y="279350"/>
                  </a:cubicBezTo>
                  <a:lnTo>
                    <a:pt x="0" y="279350"/>
                  </a:lnTo>
                  <a:cubicBezTo>
                    <a:pt x="0" y="125319"/>
                    <a:pt x="125319" y="0"/>
                    <a:pt x="279350" y="0"/>
                  </a:cubicBezTo>
                  <a:lnTo>
                    <a:pt x="1482886" y="0"/>
                  </a:lnTo>
                  <a:cubicBezTo>
                    <a:pt x="1636917" y="0"/>
                    <a:pt x="1762236" y="125319"/>
                    <a:pt x="1762236" y="279350"/>
                  </a:cubicBezTo>
                  <a:lnTo>
                    <a:pt x="1762236" y="279350"/>
                  </a:ln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
          <p:nvSpPr>
            <p:cNvPr id="12" name="Freeform: Shape 11">
              <a:extLst>
                <a:ext uri="{FF2B5EF4-FFF2-40B4-BE49-F238E27FC236}">
                  <a16:creationId xmlns:a16="http://schemas.microsoft.com/office/drawing/2014/main" id="{1B51E232-49D6-7517-0D04-737415BC14A0}"/>
                </a:ext>
                <a:ext uri="{C183D7F6-B498-43B3-948B-1728B52AA6E4}">
                  <adec:decorative xmlns:adec="http://schemas.microsoft.com/office/drawing/2017/decorative" val="1"/>
                </a:ext>
              </a:extLst>
            </p:cNvPr>
            <p:cNvSpPr/>
            <p:nvPr/>
          </p:nvSpPr>
          <p:spPr>
            <a:xfrm>
              <a:off x="4850595" y="5446137"/>
              <a:ext cx="2490844" cy="380826"/>
            </a:xfrm>
            <a:custGeom>
              <a:avLst/>
              <a:gdLst>
                <a:gd name="connsiteX0" fmla="*/ 2937041 w 2937041"/>
                <a:gd name="connsiteY0" fmla="*/ 224523 h 449045"/>
                <a:gd name="connsiteX1" fmla="*/ 2937041 w 2937041"/>
                <a:gd name="connsiteY1" fmla="*/ 224523 h 449045"/>
                <a:gd name="connsiteX2" fmla="*/ 2715136 w 2937041"/>
                <a:gd name="connsiteY2" fmla="*/ 449045 h 449045"/>
                <a:gd name="connsiteX3" fmla="*/ 221906 w 2937041"/>
                <a:gd name="connsiteY3" fmla="*/ 449045 h 449045"/>
                <a:gd name="connsiteX4" fmla="*/ 0 w 2937041"/>
                <a:gd name="connsiteY4" fmla="*/ 224523 h 449045"/>
                <a:gd name="connsiteX5" fmla="*/ 0 w 2937041"/>
                <a:gd name="connsiteY5" fmla="*/ 224523 h 449045"/>
                <a:gd name="connsiteX6" fmla="*/ 221906 w 2937041"/>
                <a:gd name="connsiteY6" fmla="*/ 0 h 449045"/>
                <a:gd name="connsiteX7" fmla="*/ 2715136 w 2937041"/>
                <a:gd name="connsiteY7" fmla="*/ 0 h 449045"/>
                <a:gd name="connsiteX8" fmla="*/ 2937041 w 2937041"/>
                <a:gd name="connsiteY8" fmla="*/ 224523 h 449045"/>
                <a:gd name="connsiteX9" fmla="*/ 2937041 w 2937041"/>
                <a:gd name="connsiteY9" fmla="*/ 224523 h 44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37041" h="449045">
                  <a:moveTo>
                    <a:pt x="2937041" y="224523"/>
                  </a:moveTo>
                  <a:lnTo>
                    <a:pt x="2937041" y="224523"/>
                  </a:lnTo>
                  <a:cubicBezTo>
                    <a:pt x="2937041" y="347243"/>
                    <a:pt x="2837837" y="449045"/>
                    <a:pt x="2715136" y="449045"/>
                  </a:cubicBezTo>
                  <a:lnTo>
                    <a:pt x="221906" y="449045"/>
                  </a:lnTo>
                  <a:cubicBezTo>
                    <a:pt x="99204" y="449045"/>
                    <a:pt x="0" y="347224"/>
                    <a:pt x="0" y="224523"/>
                  </a:cubicBezTo>
                  <a:lnTo>
                    <a:pt x="0" y="224523"/>
                  </a:lnTo>
                  <a:cubicBezTo>
                    <a:pt x="0" y="101821"/>
                    <a:pt x="99204" y="0"/>
                    <a:pt x="221906" y="0"/>
                  </a:cubicBezTo>
                  <a:lnTo>
                    <a:pt x="2715136" y="0"/>
                  </a:lnTo>
                  <a:cubicBezTo>
                    <a:pt x="2837837" y="0"/>
                    <a:pt x="2937041" y="101821"/>
                    <a:pt x="2937041" y="224523"/>
                  </a:cubicBezTo>
                  <a:lnTo>
                    <a:pt x="2937041" y="224523"/>
                  </a:ln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
          <p:nvSpPr>
            <p:cNvPr id="13" name="Freeform: Shape 12">
              <a:extLst>
                <a:ext uri="{FF2B5EF4-FFF2-40B4-BE49-F238E27FC236}">
                  <a16:creationId xmlns:a16="http://schemas.microsoft.com/office/drawing/2014/main" id="{FB02D3EB-286C-9699-EFA5-93031B1D737A}"/>
                </a:ext>
                <a:ext uri="{C183D7F6-B498-43B3-948B-1728B52AA6E4}">
                  <adec:decorative xmlns:adec="http://schemas.microsoft.com/office/drawing/2017/decorative" val="1"/>
                </a:ext>
              </a:extLst>
            </p:cNvPr>
            <p:cNvSpPr/>
            <p:nvPr/>
          </p:nvSpPr>
          <p:spPr>
            <a:xfrm>
              <a:off x="2472967" y="3389668"/>
              <a:ext cx="3081359" cy="458135"/>
            </a:xfrm>
            <a:custGeom>
              <a:avLst/>
              <a:gdLst>
                <a:gd name="connsiteX0" fmla="*/ 0 w 2636830"/>
                <a:gd name="connsiteY0" fmla="*/ 91372 h 561336"/>
                <a:gd name="connsiteX1" fmla="*/ 0 w 2636830"/>
                <a:gd name="connsiteY1" fmla="*/ 91372 h 561336"/>
                <a:gd name="connsiteX2" fmla="*/ 7832 w 2636830"/>
                <a:gd name="connsiteY2" fmla="*/ 0 h 561336"/>
                <a:gd name="connsiteX3" fmla="*/ 2628998 w 2636830"/>
                <a:gd name="connsiteY3" fmla="*/ 0 h 561336"/>
                <a:gd name="connsiteX4" fmla="*/ 2636831 w 2636830"/>
                <a:gd name="connsiteY4" fmla="*/ 91372 h 561336"/>
                <a:gd name="connsiteX5" fmla="*/ 2636831 w 2636830"/>
                <a:gd name="connsiteY5" fmla="*/ 91372 h 561336"/>
                <a:gd name="connsiteX6" fmla="*/ 2219134 w 2636830"/>
                <a:gd name="connsiteY6" fmla="*/ 561336 h 561336"/>
                <a:gd name="connsiteX7" fmla="*/ 417716 w 2636830"/>
                <a:gd name="connsiteY7" fmla="*/ 561336 h 561336"/>
                <a:gd name="connsiteX8" fmla="*/ 0 w 2636830"/>
                <a:gd name="connsiteY8" fmla="*/ 91372 h 561336"/>
                <a:gd name="connsiteX9" fmla="*/ 0 w 2636830"/>
                <a:gd name="connsiteY9" fmla="*/ 91372 h 561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36830" h="561336">
                  <a:moveTo>
                    <a:pt x="0" y="91372"/>
                  </a:moveTo>
                  <a:lnTo>
                    <a:pt x="0" y="91372"/>
                  </a:lnTo>
                  <a:cubicBezTo>
                    <a:pt x="0" y="60042"/>
                    <a:pt x="2617" y="28713"/>
                    <a:pt x="7832" y="0"/>
                  </a:cubicBezTo>
                  <a:lnTo>
                    <a:pt x="2628998" y="0"/>
                  </a:lnTo>
                  <a:cubicBezTo>
                    <a:pt x="2634213" y="28713"/>
                    <a:pt x="2636831" y="60061"/>
                    <a:pt x="2636831" y="91372"/>
                  </a:cubicBezTo>
                  <a:lnTo>
                    <a:pt x="2636831" y="91372"/>
                  </a:lnTo>
                  <a:cubicBezTo>
                    <a:pt x="2636831" y="349842"/>
                    <a:pt x="2448872" y="561336"/>
                    <a:pt x="2219134" y="561336"/>
                  </a:cubicBezTo>
                  <a:lnTo>
                    <a:pt x="417716" y="561336"/>
                  </a:lnTo>
                  <a:cubicBezTo>
                    <a:pt x="187978" y="561336"/>
                    <a:pt x="0" y="349842"/>
                    <a:pt x="0" y="91372"/>
                  </a:cubicBezTo>
                  <a:lnTo>
                    <a:pt x="0" y="91372"/>
                  </a:lnTo>
                  <a:close/>
                </a:path>
              </a:pathLst>
            </a:custGeom>
            <a:solidFill>
              <a:schemeClr val="accent1"/>
            </a:solidFill>
          </p:spPr>
          <p:txBody>
            <a:bodyPr wrap="non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600" b="1" i="0" u="none" strike="noStrike" kern="0" cap="none" spc="0" normalizeH="0" baseline="0" noProof="0">
                <a:ln w="3175">
                  <a:noFill/>
                </a:ln>
                <a:gradFill>
                  <a:gsLst>
                    <a:gs pos="92661">
                      <a:srgbClr val="FFFFFF"/>
                    </a:gs>
                    <a:gs pos="78000">
                      <a:srgbClr val="FFFFFF"/>
                    </a:gs>
                  </a:gsLst>
                  <a:path path="circle">
                    <a:fillToRect l="100000" b="100000"/>
                  </a:path>
                </a:gradFill>
                <a:effectLst/>
                <a:uLnTx/>
                <a:uFillTx/>
                <a:latin typeface="Segoe Sans Display Semibold"/>
                <a:ea typeface="+mn-ea"/>
                <a:cs typeface="Segoe Sans Display Semibold" pitchFamily="2" charset="0"/>
              </a:endParaRPr>
            </a:p>
          </p:txBody>
        </p:sp>
        <p:sp>
          <p:nvSpPr>
            <p:cNvPr id="14" name="Freeform: Shape 13">
              <a:extLst>
                <a:ext uri="{FF2B5EF4-FFF2-40B4-BE49-F238E27FC236}">
                  <a16:creationId xmlns:a16="http://schemas.microsoft.com/office/drawing/2014/main" id="{8F9E731E-7B3D-FCBF-D9AB-8397DBBA6764}"/>
                </a:ext>
                <a:ext uri="{C183D7F6-B498-43B3-948B-1728B52AA6E4}">
                  <adec:decorative xmlns:adec="http://schemas.microsoft.com/office/drawing/2017/decorative" val="1"/>
                </a:ext>
              </a:extLst>
            </p:cNvPr>
            <p:cNvSpPr/>
            <p:nvPr/>
          </p:nvSpPr>
          <p:spPr>
            <a:xfrm>
              <a:off x="3790012" y="1611156"/>
              <a:ext cx="447251" cy="447268"/>
            </a:xfrm>
            <a:custGeom>
              <a:avLst/>
              <a:gdLst>
                <a:gd name="connsiteX0" fmla="*/ 263685 w 527369"/>
                <a:gd name="connsiteY0" fmla="*/ 0 h 527389"/>
                <a:gd name="connsiteX1" fmla="*/ 527370 w 527369"/>
                <a:gd name="connsiteY1" fmla="*/ 263685 h 527389"/>
                <a:gd name="connsiteX2" fmla="*/ 263685 w 527369"/>
                <a:gd name="connsiteY2" fmla="*/ 527389 h 527389"/>
                <a:gd name="connsiteX3" fmla="*/ 0 w 527369"/>
                <a:gd name="connsiteY3" fmla="*/ 263685 h 527389"/>
                <a:gd name="connsiteX4" fmla="*/ 263685 w 527369"/>
                <a:gd name="connsiteY4" fmla="*/ 0 h 527389"/>
                <a:gd name="connsiteX5" fmla="*/ 263685 w 527369"/>
                <a:gd name="connsiteY5" fmla="*/ 0 h 527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69" h="527389">
                  <a:moveTo>
                    <a:pt x="263685" y="0"/>
                  </a:moveTo>
                  <a:cubicBezTo>
                    <a:pt x="409884" y="0"/>
                    <a:pt x="527370" y="117506"/>
                    <a:pt x="527370" y="263685"/>
                  </a:cubicBezTo>
                  <a:cubicBezTo>
                    <a:pt x="527370" y="409864"/>
                    <a:pt x="409884" y="527389"/>
                    <a:pt x="263685" y="527389"/>
                  </a:cubicBezTo>
                  <a:cubicBezTo>
                    <a:pt x="117486" y="527389"/>
                    <a:pt x="0" y="409903"/>
                    <a:pt x="0" y="263685"/>
                  </a:cubicBezTo>
                  <a:cubicBezTo>
                    <a:pt x="0" y="117467"/>
                    <a:pt x="117486" y="0"/>
                    <a:pt x="263685" y="0"/>
                  </a:cubicBezTo>
                  <a:lnTo>
                    <a:pt x="263685" y="0"/>
                  </a:ln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
          <p:nvSpPr>
            <p:cNvPr id="15" name="Freeform: Shape 14">
              <a:extLst>
                <a:ext uri="{FF2B5EF4-FFF2-40B4-BE49-F238E27FC236}">
                  <a16:creationId xmlns:a16="http://schemas.microsoft.com/office/drawing/2014/main" id="{D5880E15-8990-AF55-EE45-7D660D2CD4BD}"/>
                </a:ext>
                <a:ext uri="{C183D7F6-B498-43B3-948B-1728B52AA6E4}">
                  <adec:decorative xmlns:adec="http://schemas.microsoft.com/office/drawing/2017/decorative" val="1"/>
                </a:ext>
              </a:extLst>
            </p:cNvPr>
            <p:cNvSpPr/>
            <p:nvPr/>
          </p:nvSpPr>
          <p:spPr>
            <a:xfrm>
              <a:off x="6637674" y="3389668"/>
              <a:ext cx="3081359" cy="458135"/>
            </a:xfrm>
            <a:custGeom>
              <a:avLst/>
              <a:gdLst>
                <a:gd name="connsiteX0" fmla="*/ 2636831 w 2636830"/>
                <a:gd name="connsiteY0" fmla="*/ 91372 h 561336"/>
                <a:gd name="connsiteX1" fmla="*/ 2636831 w 2636830"/>
                <a:gd name="connsiteY1" fmla="*/ 91372 h 561336"/>
                <a:gd name="connsiteX2" fmla="*/ 2628998 w 2636830"/>
                <a:gd name="connsiteY2" fmla="*/ 0 h 561336"/>
                <a:gd name="connsiteX3" fmla="*/ 7832 w 2636830"/>
                <a:gd name="connsiteY3" fmla="*/ 0 h 561336"/>
                <a:gd name="connsiteX4" fmla="*/ 0 w 2636830"/>
                <a:gd name="connsiteY4" fmla="*/ 91372 h 561336"/>
                <a:gd name="connsiteX5" fmla="*/ 0 w 2636830"/>
                <a:gd name="connsiteY5" fmla="*/ 91372 h 561336"/>
                <a:gd name="connsiteX6" fmla="*/ 417716 w 2636830"/>
                <a:gd name="connsiteY6" fmla="*/ 561336 h 561336"/>
                <a:gd name="connsiteX7" fmla="*/ 2219095 w 2636830"/>
                <a:gd name="connsiteY7" fmla="*/ 561336 h 561336"/>
                <a:gd name="connsiteX8" fmla="*/ 2636811 w 2636830"/>
                <a:gd name="connsiteY8" fmla="*/ 91372 h 561336"/>
                <a:gd name="connsiteX9" fmla="*/ 2636811 w 2636830"/>
                <a:gd name="connsiteY9" fmla="*/ 91372 h 561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36830" h="561336">
                  <a:moveTo>
                    <a:pt x="2636831" y="91372"/>
                  </a:moveTo>
                  <a:lnTo>
                    <a:pt x="2636831" y="91372"/>
                  </a:lnTo>
                  <a:cubicBezTo>
                    <a:pt x="2636831" y="60042"/>
                    <a:pt x="2634233" y="28713"/>
                    <a:pt x="2628998" y="0"/>
                  </a:cubicBezTo>
                  <a:lnTo>
                    <a:pt x="7832" y="0"/>
                  </a:lnTo>
                  <a:cubicBezTo>
                    <a:pt x="2617" y="28713"/>
                    <a:pt x="0" y="60061"/>
                    <a:pt x="0" y="91372"/>
                  </a:cubicBezTo>
                  <a:lnTo>
                    <a:pt x="0" y="91372"/>
                  </a:lnTo>
                  <a:cubicBezTo>
                    <a:pt x="0" y="349842"/>
                    <a:pt x="187978" y="561336"/>
                    <a:pt x="417716" y="561336"/>
                  </a:cubicBezTo>
                  <a:lnTo>
                    <a:pt x="2219095" y="561336"/>
                  </a:lnTo>
                  <a:cubicBezTo>
                    <a:pt x="2448833" y="561336"/>
                    <a:pt x="2636811" y="349842"/>
                    <a:pt x="2636811" y="91372"/>
                  </a:cubicBezTo>
                  <a:lnTo>
                    <a:pt x="2636811" y="91372"/>
                  </a:lnTo>
                  <a:close/>
                </a:path>
              </a:pathLst>
            </a:custGeom>
            <a:solidFill>
              <a:schemeClr val="accent2"/>
            </a:solidFill>
          </p:spPr>
          <p:txBody>
            <a:bodyPr wrap="non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1600" b="1" i="0" u="none" strike="noStrike" kern="0" cap="none" spc="0" normalizeH="0" baseline="0" noProof="0">
                <a:ln w="3175">
                  <a:noFill/>
                </a:ln>
                <a:gradFill>
                  <a:gsLst>
                    <a:gs pos="92661">
                      <a:srgbClr val="FFFFFF"/>
                    </a:gs>
                    <a:gs pos="78000">
                      <a:srgbClr val="FFFFFF"/>
                    </a:gs>
                  </a:gsLst>
                  <a:path path="circle">
                    <a:fillToRect l="100000" b="100000"/>
                  </a:path>
                </a:gradFill>
                <a:effectLst/>
                <a:uLnTx/>
                <a:uFillTx/>
                <a:latin typeface="Segoe Sans Display Semibold"/>
                <a:ea typeface="+mn-ea"/>
                <a:cs typeface="Segoe Sans Display Semibold" pitchFamily="2" charset="0"/>
              </a:endParaRPr>
            </a:p>
          </p:txBody>
        </p:sp>
        <p:sp>
          <p:nvSpPr>
            <p:cNvPr id="16" name="Freeform: Shape 15">
              <a:extLst>
                <a:ext uri="{FF2B5EF4-FFF2-40B4-BE49-F238E27FC236}">
                  <a16:creationId xmlns:a16="http://schemas.microsoft.com/office/drawing/2014/main" id="{F3D23740-0AFD-DA74-88A8-F313324DEA55}"/>
                </a:ext>
                <a:ext uri="{C183D7F6-B498-43B3-948B-1728B52AA6E4}">
                  <adec:decorative xmlns:adec="http://schemas.microsoft.com/office/drawing/2017/decorative" val="1"/>
                </a:ext>
              </a:extLst>
            </p:cNvPr>
            <p:cNvSpPr/>
            <p:nvPr/>
          </p:nvSpPr>
          <p:spPr>
            <a:xfrm>
              <a:off x="7954736" y="1611156"/>
              <a:ext cx="447252" cy="447268"/>
            </a:xfrm>
            <a:custGeom>
              <a:avLst/>
              <a:gdLst>
                <a:gd name="connsiteX0" fmla="*/ 263685 w 527370"/>
                <a:gd name="connsiteY0" fmla="*/ 0 h 527389"/>
                <a:gd name="connsiteX1" fmla="*/ 0 w 527370"/>
                <a:gd name="connsiteY1" fmla="*/ 263685 h 527389"/>
                <a:gd name="connsiteX2" fmla="*/ 263685 w 527370"/>
                <a:gd name="connsiteY2" fmla="*/ 527389 h 527389"/>
                <a:gd name="connsiteX3" fmla="*/ 527370 w 527370"/>
                <a:gd name="connsiteY3" fmla="*/ 263685 h 527389"/>
                <a:gd name="connsiteX4" fmla="*/ 263685 w 527370"/>
                <a:gd name="connsiteY4" fmla="*/ 0 h 527389"/>
                <a:gd name="connsiteX5" fmla="*/ 263685 w 527370"/>
                <a:gd name="connsiteY5" fmla="*/ 0 h 527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70" h="527389">
                  <a:moveTo>
                    <a:pt x="263685" y="0"/>
                  </a:moveTo>
                  <a:cubicBezTo>
                    <a:pt x="117486" y="0"/>
                    <a:pt x="0" y="117506"/>
                    <a:pt x="0" y="263685"/>
                  </a:cubicBezTo>
                  <a:cubicBezTo>
                    <a:pt x="0" y="409864"/>
                    <a:pt x="117486" y="527389"/>
                    <a:pt x="263685" y="527389"/>
                  </a:cubicBezTo>
                  <a:cubicBezTo>
                    <a:pt x="409884" y="527389"/>
                    <a:pt x="527370" y="409903"/>
                    <a:pt x="527370" y="263685"/>
                  </a:cubicBezTo>
                  <a:cubicBezTo>
                    <a:pt x="527370" y="117467"/>
                    <a:pt x="409884" y="0"/>
                    <a:pt x="263685" y="0"/>
                  </a:cubicBezTo>
                  <a:lnTo>
                    <a:pt x="263685" y="0"/>
                  </a:ln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
          <p:nvSpPr>
            <p:cNvPr id="17" name="Freeform: Shape 16">
              <a:extLst>
                <a:ext uri="{FF2B5EF4-FFF2-40B4-BE49-F238E27FC236}">
                  <a16:creationId xmlns:a16="http://schemas.microsoft.com/office/drawing/2014/main" id="{8CB21B4F-5E21-6B3B-2162-9158A4EC9609}"/>
                </a:ext>
                <a:ext uri="{C183D7F6-B498-43B3-948B-1728B52AA6E4}">
                  <adec:decorative xmlns:adec="http://schemas.microsoft.com/office/drawing/2017/decorative" val="1"/>
                </a:ext>
              </a:extLst>
            </p:cNvPr>
            <p:cNvSpPr/>
            <p:nvPr/>
          </p:nvSpPr>
          <p:spPr>
            <a:xfrm>
              <a:off x="5787140" y="1327731"/>
              <a:ext cx="617737" cy="615550"/>
            </a:xfrm>
            <a:custGeom>
              <a:avLst/>
              <a:gdLst>
                <a:gd name="connsiteX0" fmla="*/ 362889 w 728395"/>
                <a:gd name="connsiteY0" fmla="*/ 0 h 725816"/>
                <a:gd name="connsiteX1" fmla="*/ 728396 w 728395"/>
                <a:gd name="connsiteY1" fmla="*/ 362909 h 725816"/>
                <a:gd name="connsiteX2" fmla="*/ 362889 w 728395"/>
                <a:gd name="connsiteY2" fmla="*/ 725817 h 725816"/>
                <a:gd name="connsiteX3" fmla="*/ 0 w 728395"/>
                <a:gd name="connsiteY3" fmla="*/ 362909 h 725816"/>
                <a:gd name="connsiteX4" fmla="*/ 362889 w 728395"/>
                <a:gd name="connsiteY4" fmla="*/ 0 h 725816"/>
                <a:gd name="connsiteX5" fmla="*/ 362889 w 728395"/>
                <a:gd name="connsiteY5" fmla="*/ 0 h 725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8395" h="725816">
                  <a:moveTo>
                    <a:pt x="362889" y="0"/>
                  </a:moveTo>
                  <a:cubicBezTo>
                    <a:pt x="563915" y="0"/>
                    <a:pt x="728396" y="161864"/>
                    <a:pt x="728396" y="362909"/>
                  </a:cubicBezTo>
                  <a:cubicBezTo>
                    <a:pt x="728396" y="563953"/>
                    <a:pt x="563915" y="725817"/>
                    <a:pt x="362889" y="725817"/>
                  </a:cubicBezTo>
                  <a:cubicBezTo>
                    <a:pt x="161864" y="725817"/>
                    <a:pt x="0" y="563934"/>
                    <a:pt x="0" y="362909"/>
                  </a:cubicBezTo>
                  <a:cubicBezTo>
                    <a:pt x="0" y="161883"/>
                    <a:pt x="164481" y="0"/>
                    <a:pt x="362889" y="0"/>
                  </a:cubicBezTo>
                  <a:lnTo>
                    <a:pt x="362889" y="0"/>
                  </a:ln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
          <p:nvSpPr>
            <p:cNvPr id="18" name="Graphic 51">
              <a:extLst>
                <a:ext uri="{FF2B5EF4-FFF2-40B4-BE49-F238E27FC236}">
                  <a16:creationId xmlns:a16="http://schemas.microsoft.com/office/drawing/2014/main" id="{5B197B44-158D-4143-ADB5-37346C720F1F}"/>
                </a:ext>
                <a:ext uri="{C183D7F6-B498-43B3-948B-1728B52AA6E4}">
                  <adec:decorative xmlns:adec="http://schemas.microsoft.com/office/drawing/2017/decorative" val="1"/>
                </a:ext>
              </a:extLst>
            </p:cNvPr>
            <p:cNvSpPr>
              <a:spLocks noChangeAspect="1"/>
            </p:cNvSpPr>
            <p:nvPr/>
          </p:nvSpPr>
          <p:spPr>
            <a:xfrm>
              <a:off x="7888757" y="2527747"/>
              <a:ext cx="579195" cy="643554"/>
            </a:xfrm>
            <a:custGeom>
              <a:avLst/>
              <a:gdLst>
                <a:gd name="connsiteX0" fmla="*/ 90011 w 171450"/>
                <a:gd name="connsiteY0" fmla="*/ 1429 h 190501"/>
                <a:gd name="connsiteX1" fmla="*/ 164306 w 171450"/>
                <a:gd name="connsiteY1" fmla="*/ 28575 h 190501"/>
                <a:gd name="connsiteX2" fmla="*/ 171450 w 171450"/>
                <a:gd name="connsiteY2" fmla="*/ 35719 h 190501"/>
                <a:gd name="connsiteX3" fmla="*/ 171450 w 171450"/>
                <a:gd name="connsiteY3" fmla="*/ 85725 h 190501"/>
                <a:gd name="connsiteX4" fmla="*/ 88344 w 171450"/>
                <a:gd name="connsiteY4" fmla="*/ 190005 h 190501"/>
                <a:gd name="connsiteX5" fmla="*/ 83106 w 171450"/>
                <a:gd name="connsiteY5" fmla="*/ 190005 h 190501"/>
                <a:gd name="connsiteX6" fmla="*/ 0 w 171450"/>
                <a:gd name="connsiteY6" fmla="*/ 85725 h 190501"/>
                <a:gd name="connsiteX7" fmla="*/ 0 w 171450"/>
                <a:gd name="connsiteY7" fmla="*/ 35719 h 190501"/>
                <a:gd name="connsiteX8" fmla="*/ 7144 w 171450"/>
                <a:gd name="connsiteY8" fmla="*/ 28575 h 190501"/>
                <a:gd name="connsiteX9" fmla="*/ 81439 w 171450"/>
                <a:gd name="connsiteY9" fmla="*/ 1429 h 190501"/>
                <a:gd name="connsiteX10" fmla="*/ 90011 w 171450"/>
                <a:gd name="connsiteY10" fmla="*/ 1429 h 190501"/>
                <a:gd name="connsiteX11" fmla="*/ 85725 w 171450"/>
                <a:gd name="connsiteY11" fmla="*/ 133350 h 190501"/>
                <a:gd name="connsiteX12" fmla="*/ 78581 w 171450"/>
                <a:gd name="connsiteY12" fmla="*/ 140494 h 190501"/>
                <a:gd name="connsiteX13" fmla="*/ 85725 w 171450"/>
                <a:gd name="connsiteY13" fmla="*/ 147638 h 190501"/>
                <a:gd name="connsiteX14" fmla="*/ 92869 w 171450"/>
                <a:gd name="connsiteY14" fmla="*/ 140494 h 190501"/>
                <a:gd name="connsiteX15" fmla="*/ 85725 w 171450"/>
                <a:gd name="connsiteY15" fmla="*/ 133350 h 190501"/>
                <a:gd name="connsiteX16" fmla="*/ 85725 w 171450"/>
                <a:gd name="connsiteY16" fmla="*/ 47454 h 190501"/>
                <a:gd name="connsiteX17" fmla="*/ 78648 w 171450"/>
                <a:gd name="connsiteY17" fmla="*/ 53626 h 190501"/>
                <a:gd name="connsiteX18" fmla="*/ 78581 w 171450"/>
                <a:gd name="connsiteY18" fmla="*/ 54597 h 190501"/>
                <a:gd name="connsiteX19" fmla="*/ 78581 w 171450"/>
                <a:gd name="connsiteY19" fmla="*/ 116510 h 190501"/>
                <a:gd name="connsiteX20" fmla="*/ 78648 w 171450"/>
                <a:gd name="connsiteY20" fmla="*/ 117481 h 190501"/>
                <a:gd name="connsiteX21" fmla="*/ 86698 w 171450"/>
                <a:gd name="connsiteY21" fmla="*/ 123585 h 190501"/>
                <a:gd name="connsiteX22" fmla="*/ 92802 w 171450"/>
                <a:gd name="connsiteY22" fmla="*/ 117481 h 190501"/>
                <a:gd name="connsiteX23" fmla="*/ 92869 w 171450"/>
                <a:gd name="connsiteY23" fmla="*/ 116510 h 190501"/>
                <a:gd name="connsiteX24" fmla="*/ 92869 w 171450"/>
                <a:gd name="connsiteY24" fmla="*/ 54597 h 190501"/>
                <a:gd name="connsiteX25" fmla="*/ 92802 w 171450"/>
                <a:gd name="connsiteY25" fmla="*/ 53626 h 190501"/>
                <a:gd name="connsiteX26" fmla="*/ 85725 w 171450"/>
                <a:gd name="connsiteY26" fmla="*/ 47454 h 19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1450" h="190501">
                  <a:moveTo>
                    <a:pt x="90011" y="1429"/>
                  </a:moveTo>
                  <a:cubicBezTo>
                    <a:pt x="114224" y="19593"/>
                    <a:pt x="138941" y="28575"/>
                    <a:pt x="164306" y="28575"/>
                  </a:cubicBezTo>
                  <a:cubicBezTo>
                    <a:pt x="168252" y="28575"/>
                    <a:pt x="171450" y="31773"/>
                    <a:pt x="171450" y="35719"/>
                  </a:cubicBezTo>
                  <a:lnTo>
                    <a:pt x="171450" y="85725"/>
                  </a:lnTo>
                  <a:cubicBezTo>
                    <a:pt x="171450" y="133360"/>
                    <a:pt x="143275" y="168364"/>
                    <a:pt x="88344" y="190005"/>
                  </a:cubicBezTo>
                  <a:cubicBezTo>
                    <a:pt x="86661" y="190668"/>
                    <a:pt x="84789" y="190668"/>
                    <a:pt x="83106" y="190005"/>
                  </a:cubicBezTo>
                  <a:cubicBezTo>
                    <a:pt x="28175" y="168364"/>
                    <a:pt x="0" y="133350"/>
                    <a:pt x="0" y="85725"/>
                  </a:cubicBezTo>
                  <a:lnTo>
                    <a:pt x="0" y="35719"/>
                  </a:lnTo>
                  <a:cubicBezTo>
                    <a:pt x="0" y="31773"/>
                    <a:pt x="3198" y="28575"/>
                    <a:pt x="7144" y="28575"/>
                  </a:cubicBezTo>
                  <a:cubicBezTo>
                    <a:pt x="32509" y="28575"/>
                    <a:pt x="57226" y="19593"/>
                    <a:pt x="81439" y="1429"/>
                  </a:cubicBezTo>
                  <a:cubicBezTo>
                    <a:pt x="83979" y="-476"/>
                    <a:pt x="87471" y="-476"/>
                    <a:pt x="90011" y="1429"/>
                  </a:cubicBezTo>
                  <a:close/>
                  <a:moveTo>
                    <a:pt x="85725" y="133350"/>
                  </a:moveTo>
                  <a:cubicBezTo>
                    <a:pt x="81780" y="133350"/>
                    <a:pt x="78581" y="136549"/>
                    <a:pt x="78581" y="140494"/>
                  </a:cubicBezTo>
                  <a:cubicBezTo>
                    <a:pt x="78581" y="144439"/>
                    <a:pt x="81780" y="147638"/>
                    <a:pt x="85725" y="147638"/>
                  </a:cubicBezTo>
                  <a:cubicBezTo>
                    <a:pt x="89670" y="147638"/>
                    <a:pt x="92869" y="144439"/>
                    <a:pt x="92869" y="140494"/>
                  </a:cubicBezTo>
                  <a:cubicBezTo>
                    <a:pt x="92869" y="136549"/>
                    <a:pt x="89670" y="133350"/>
                    <a:pt x="85725" y="133350"/>
                  </a:cubicBezTo>
                  <a:close/>
                  <a:moveTo>
                    <a:pt x="85725" y="47454"/>
                  </a:moveTo>
                  <a:cubicBezTo>
                    <a:pt x="82155" y="47454"/>
                    <a:pt x="79134" y="50089"/>
                    <a:pt x="78648" y="53626"/>
                  </a:cubicBezTo>
                  <a:lnTo>
                    <a:pt x="78581" y="54597"/>
                  </a:lnTo>
                  <a:lnTo>
                    <a:pt x="78581" y="116510"/>
                  </a:lnTo>
                  <a:lnTo>
                    <a:pt x="78648" y="117481"/>
                  </a:lnTo>
                  <a:cubicBezTo>
                    <a:pt x="79186" y="121389"/>
                    <a:pt x="82790" y="124122"/>
                    <a:pt x="86698" y="123585"/>
                  </a:cubicBezTo>
                  <a:cubicBezTo>
                    <a:pt x="89871" y="123148"/>
                    <a:pt x="92366" y="120654"/>
                    <a:pt x="92802" y="117481"/>
                  </a:cubicBezTo>
                  <a:lnTo>
                    <a:pt x="92869" y="116510"/>
                  </a:lnTo>
                  <a:lnTo>
                    <a:pt x="92869" y="54597"/>
                  </a:lnTo>
                  <a:lnTo>
                    <a:pt x="92802" y="53626"/>
                  </a:lnTo>
                  <a:cubicBezTo>
                    <a:pt x="92316" y="50089"/>
                    <a:pt x="89295" y="47454"/>
                    <a:pt x="85725" y="47454"/>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
          <p:nvSpPr>
            <p:cNvPr id="19" name="Graphic 127">
              <a:extLst>
                <a:ext uri="{FF2B5EF4-FFF2-40B4-BE49-F238E27FC236}">
                  <a16:creationId xmlns:a16="http://schemas.microsoft.com/office/drawing/2014/main" id="{17DE9DCC-A0AA-6066-20E7-FF01DCC4C5F3}"/>
                </a:ext>
                <a:ext uri="{C183D7F6-B498-43B3-948B-1728B52AA6E4}">
                  <adec:decorative xmlns:adec="http://schemas.microsoft.com/office/drawing/2017/decorative" val="1"/>
                </a:ext>
              </a:extLst>
            </p:cNvPr>
            <p:cNvSpPr>
              <a:spLocks noChangeAspect="1"/>
            </p:cNvSpPr>
            <p:nvPr/>
          </p:nvSpPr>
          <p:spPr>
            <a:xfrm>
              <a:off x="3770368" y="2513991"/>
              <a:ext cx="486556" cy="671066"/>
            </a:xfrm>
            <a:custGeom>
              <a:avLst/>
              <a:gdLst>
                <a:gd name="connsiteX0" fmla="*/ 102756 w 138112"/>
                <a:gd name="connsiteY0" fmla="*/ 161906 h 190490"/>
                <a:gd name="connsiteX1" fmla="*/ 99993 w 138112"/>
                <a:gd name="connsiteY1" fmla="*/ 173898 h 190490"/>
                <a:gd name="connsiteX2" fmla="*/ 80753 w 138112"/>
                <a:gd name="connsiteY2" fmla="*/ 190424 h 190490"/>
                <a:gd name="connsiteX3" fmla="*/ 79105 w 138112"/>
                <a:gd name="connsiteY3" fmla="*/ 190490 h 190490"/>
                <a:gd name="connsiteX4" fmla="*/ 58998 w 138112"/>
                <a:gd name="connsiteY4" fmla="*/ 190490 h 190490"/>
                <a:gd name="connsiteX5" fmla="*/ 38548 w 138112"/>
                <a:gd name="connsiteY5" fmla="*/ 175470 h 190490"/>
                <a:gd name="connsiteX6" fmla="*/ 38110 w 138112"/>
                <a:gd name="connsiteY6" fmla="*/ 173879 h 190490"/>
                <a:gd name="connsiteX7" fmla="*/ 35347 w 138112"/>
                <a:gd name="connsiteY7" fmla="*/ 161906 h 190490"/>
                <a:gd name="connsiteX8" fmla="*/ 102756 w 138112"/>
                <a:gd name="connsiteY8" fmla="*/ 161906 h 190490"/>
                <a:gd name="connsiteX9" fmla="*/ 69056 w 138112"/>
                <a:gd name="connsiteY9" fmla="*/ 0 h 190490"/>
                <a:gd name="connsiteX10" fmla="*/ 138113 w 138112"/>
                <a:gd name="connsiteY10" fmla="*/ 69056 h 190490"/>
                <a:gd name="connsiteX11" fmla="*/ 111776 w 138112"/>
                <a:gd name="connsiteY11" fmla="*/ 124682 h 190490"/>
                <a:gd name="connsiteX12" fmla="*/ 111100 w 138112"/>
                <a:gd name="connsiteY12" fmla="*/ 125873 h 190490"/>
                <a:gd name="connsiteX13" fmla="*/ 106070 w 138112"/>
                <a:gd name="connsiteY13" fmla="*/ 147618 h 190490"/>
                <a:gd name="connsiteX14" fmla="*/ 32042 w 138112"/>
                <a:gd name="connsiteY14" fmla="*/ 147618 h 190490"/>
                <a:gd name="connsiteX15" fmla="*/ 27032 w 138112"/>
                <a:gd name="connsiteY15" fmla="*/ 125873 h 190490"/>
                <a:gd name="connsiteX16" fmla="*/ 26356 w 138112"/>
                <a:gd name="connsiteY16" fmla="*/ 124692 h 190490"/>
                <a:gd name="connsiteX17" fmla="*/ 0 w 138112"/>
                <a:gd name="connsiteY17" fmla="*/ 69047 h 190490"/>
                <a:gd name="connsiteX18" fmla="*/ 69056 w 138112"/>
                <a:gd name="connsiteY18" fmla="*/ 0 h 19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8112" h="190490">
                  <a:moveTo>
                    <a:pt x="102756" y="161906"/>
                  </a:moveTo>
                  <a:lnTo>
                    <a:pt x="99993" y="173898"/>
                  </a:lnTo>
                  <a:cubicBezTo>
                    <a:pt x="97878" y="183018"/>
                    <a:pt x="90087" y="189708"/>
                    <a:pt x="80753" y="190424"/>
                  </a:cubicBezTo>
                  <a:lnTo>
                    <a:pt x="79105" y="190490"/>
                  </a:lnTo>
                  <a:lnTo>
                    <a:pt x="58998" y="190490"/>
                  </a:lnTo>
                  <a:cubicBezTo>
                    <a:pt x="49631" y="190490"/>
                    <a:pt x="41349" y="184408"/>
                    <a:pt x="38548" y="175470"/>
                  </a:cubicBezTo>
                  <a:lnTo>
                    <a:pt x="38110" y="173879"/>
                  </a:lnTo>
                  <a:lnTo>
                    <a:pt x="35347" y="161906"/>
                  </a:lnTo>
                  <a:lnTo>
                    <a:pt x="102756" y="161906"/>
                  </a:lnTo>
                  <a:close/>
                  <a:moveTo>
                    <a:pt x="69056" y="0"/>
                  </a:moveTo>
                  <a:cubicBezTo>
                    <a:pt x="107195" y="0"/>
                    <a:pt x="138113" y="30918"/>
                    <a:pt x="138113" y="69056"/>
                  </a:cubicBezTo>
                  <a:cubicBezTo>
                    <a:pt x="138113" y="89402"/>
                    <a:pt x="129197" y="108042"/>
                    <a:pt x="111776" y="124682"/>
                  </a:cubicBezTo>
                  <a:cubicBezTo>
                    <a:pt x="111439" y="125004"/>
                    <a:pt x="111203" y="125419"/>
                    <a:pt x="111100" y="125873"/>
                  </a:cubicBezTo>
                  <a:lnTo>
                    <a:pt x="106070" y="147618"/>
                  </a:lnTo>
                  <a:lnTo>
                    <a:pt x="32042" y="147618"/>
                  </a:lnTo>
                  <a:lnTo>
                    <a:pt x="27032" y="125873"/>
                  </a:lnTo>
                  <a:cubicBezTo>
                    <a:pt x="26926" y="125421"/>
                    <a:pt x="26691" y="125011"/>
                    <a:pt x="26356" y="124692"/>
                  </a:cubicBezTo>
                  <a:cubicBezTo>
                    <a:pt x="8925" y="108042"/>
                    <a:pt x="0" y="89402"/>
                    <a:pt x="0" y="69047"/>
                  </a:cubicBezTo>
                  <a:cubicBezTo>
                    <a:pt x="5" y="30912"/>
                    <a:pt x="30921" y="0"/>
                    <a:pt x="69056" y="0"/>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grpSp>
    </p:spTree>
    <p:extLst>
      <p:ext uri="{BB962C8B-B14F-4D97-AF65-F5344CB8AC3E}">
        <p14:creationId xmlns:p14="http://schemas.microsoft.com/office/powerpoint/2010/main" val="3511878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rry image of a purple object&#10;&#10;AI-generated content may be incorrect.">
            <a:extLst>
              <a:ext uri="{FF2B5EF4-FFF2-40B4-BE49-F238E27FC236}">
                <a16:creationId xmlns:a16="http://schemas.microsoft.com/office/drawing/2014/main" id="{4052C314-B61D-13E4-970A-BA8553A0C306}"/>
              </a:ext>
            </a:extLst>
          </p:cNvPr>
          <p:cNvPicPr>
            <a:picLocks noChangeAspect="1"/>
          </p:cNvPicPr>
          <p:nvPr/>
        </p:nvPicPr>
        <p:blipFill>
          <a:blip r:embed="rId3">
            <a:alphaModFix amt="70000"/>
          </a:blip>
          <a:srcRect l="25924"/>
          <a:stretch>
            <a:fillRect/>
          </a:stretch>
        </p:blipFill>
        <p:spPr>
          <a:xfrm flipV="1">
            <a:off x="0" y="0"/>
            <a:ext cx="12192000" cy="6858000"/>
          </a:xfrm>
          <a:prstGeom prst="rect">
            <a:avLst/>
          </a:prstGeom>
        </p:spPr>
      </p:pic>
      <p:sp>
        <p:nvSpPr>
          <p:cNvPr id="6" name="Rectangle: Rounded Corners 11">
            <a:extLst>
              <a:ext uri="{FF2B5EF4-FFF2-40B4-BE49-F238E27FC236}">
                <a16:creationId xmlns:a16="http://schemas.microsoft.com/office/drawing/2014/main" id="{DA57DDBE-A2F5-1A4B-21BD-07D846D39AB2}"/>
              </a:ext>
              <a:ext uri="{C183D7F6-B498-43B3-948B-1728B52AA6E4}">
                <adec:decorative xmlns:adec="http://schemas.microsoft.com/office/drawing/2017/decorative" val="1"/>
              </a:ext>
            </a:extLst>
          </p:cNvPr>
          <p:cNvSpPr>
            <a:spLocks/>
          </p:cNvSpPr>
          <p:nvPr/>
        </p:nvSpPr>
        <p:spPr>
          <a:xfrm>
            <a:off x="571500" y="571501"/>
            <a:ext cx="11049000" cy="5715000"/>
          </a:xfrm>
          <a:prstGeom prst="roundRect">
            <a:avLst>
              <a:gd name="adj" fmla="val 4295"/>
            </a:avLst>
          </a:pr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17" name="Graphic 127">
            <a:extLst>
              <a:ext uri="{FF2B5EF4-FFF2-40B4-BE49-F238E27FC236}">
                <a16:creationId xmlns:a16="http://schemas.microsoft.com/office/drawing/2014/main" id="{2782A616-4CE2-1118-7754-1ADA81B0697F}"/>
              </a:ext>
              <a:ext uri="{C183D7F6-B498-43B3-948B-1728B52AA6E4}">
                <adec:decorative xmlns:adec="http://schemas.microsoft.com/office/drawing/2017/decorative" val="1"/>
              </a:ext>
            </a:extLst>
          </p:cNvPr>
          <p:cNvSpPr>
            <a:spLocks noChangeAspect="1"/>
          </p:cNvSpPr>
          <p:nvPr/>
        </p:nvSpPr>
        <p:spPr>
          <a:xfrm>
            <a:off x="5852722" y="1168605"/>
            <a:ext cx="486556" cy="671066"/>
          </a:xfrm>
          <a:custGeom>
            <a:avLst/>
            <a:gdLst>
              <a:gd name="connsiteX0" fmla="*/ 102756 w 138112"/>
              <a:gd name="connsiteY0" fmla="*/ 161906 h 190490"/>
              <a:gd name="connsiteX1" fmla="*/ 99993 w 138112"/>
              <a:gd name="connsiteY1" fmla="*/ 173898 h 190490"/>
              <a:gd name="connsiteX2" fmla="*/ 80753 w 138112"/>
              <a:gd name="connsiteY2" fmla="*/ 190424 h 190490"/>
              <a:gd name="connsiteX3" fmla="*/ 79105 w 138112"/>
              <a:gd name="connsiteY3" fmla="*/ 190490 h 190490"/>
              <a:gd name="connsiteX4" fmla="*/ 58998 w 138112"/>
              <a:gd name="connsiteY4" fmla="*/ 190490 h 190490"/>
              <a:gd name="connsiteX5" fmla="*/ 38548 w 138112"/>
              <a:gd name="connsiteY5" fmla="*/ 175470 h 190490"/>
              <a:gd name="connsiteX6" fmla="*/ 38110 w 138112"/>
              <a:gd name="connsiteY6" fmla="*/ 173879 h 190490"/>
              <a:gd name="connsiteX7" fmla="*/ 35347 w 138112"/>
              <a:gd name="connsiteY7" fmla="*/ 161906 h 190490"/>
              <a:gd name="connsiteX8" fmla="*/ 102756 w 138112"/>
              <a:gd name="connsiteY8" fmla="*/ 161906 h 190490"/>
              <a:gd name="connsiteX9" fmla="*/ 69056 w 138112"/>
              <a:gd name="connsiteY9" fmla="*/ 0 h 190490"/>
              <a:gd name="connsiteX10" fmla="*/ 138113 w 138112"/>
              <a:gd name="connsiteY10" fmla="*/ 69056 h 190490"/>
              <a:gd name="connsiteX11" fmla="*/ 111776 w 138112"/>
              <a:gd name="connsiteY11" fmla="*/ 124682 h 190490"/>
              <a:gd name="connsiteX12" fmla="*/ 111100 w 138112"/>
              <a:gd name="connsiteY12" fmla="*/ 125873 h 190490"/>
              <a:gd name="connsiteX13" fmla="*/ 106070 w 138112"/>
              <a:gd name="connsiteY13" fmla="*/ 147618 h 190490"/>
              <a:gd name="connsiteX14" fmla="*/ 32042 w 138112"/>
              <a:gd name="connsiteY14" fmla="*/ 147618 h 190490"/>
              <a:gd name="connsiteX15" fmla="*/ 27032 w 138112"/>
              <a:gd name="connsiteY15" fmla="*/ 125873 h 190490"/>
              <a:gd name="connsiteX16" fmla="*/ 26356 w 138112"/>
              <a:gd name="connsiteY16" fmla="*/ 124692 h 190490"/>
              <a:gd name="connsiteX17" fmla="*/ 0 w 138112"/>
              <a:gd name="connsiteY17" fmla="*/ 69047 h 190490"/>
              <a:gd name="connsiteX18" fmla="*/ 69056 w 138112"/>
              <a:gd name="connsiteY18" fmla="*/ 0 h 19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8112" h="190490">
                <a:moveTo>
                  <a:pt x="102756" y="161906"/>
                </a:moveTo>
                <a:lnTo>
                  <a:pt x="99993" y="173898"/>
                </a:lnTo>
                <a:cubicBezTo>
                  <a:pt x="97878" y="183018"/>
                  <a:pt x="90087" y="189708"/>
                  <a:pt x="80753" y="190424"/>
                </a:cubicBezTo>
                <a:lnTo>
                  <a:pt x="79105" y="190490"/>
                </a:lnTo>
                <a:lnTo>
                  <a:pt x="58998" y="190490"/>
                </a:lnTo>
                <a:cubicBezTo>
                  <a:pt x="49631" y="190490"/>
                  <a:pt x="41349" y="184408"/>
                  <a:pt x="38548" y="175470"/>
                </a:cubicBezTo>
                <a:lnTo>
                  <a:pt x="38110" y="173879"/>
                </a:lnTo>
                <a:lnTo>
                  <a:pt x="35347" y="161906"/>
                </a:lnTo>
                <a:lnTo>
                  <a:pt x="102756" y="161906"/>
                </a:lnTo>
                <a:close/>
                <a:moveTo>
                  <a:pt x="69056" y="0"/>
                </a:moveTo>
                <a:cubicBezTo>
                  <a:pt x="107195" y="0"/>
                  <a:pt x="138113" y="30918"/>
                  <a:pt x="138113" y="69056"/>
                </a:cubicBezTo>
                <a:cubicBezTo>
                  <a:pt x="138113" y="89402"/>
                  <a:pt x="129197" y="108042"/>
                  <a:pt x="111776" y="124682"/>
                </a:cubicBezTo>
                <a:cubicBezTo>
                  <a:pt x="111439" y="125004"/>
                  <a:pt x="111203" y="125419"/>
                  <a:pt x="111100" y="125873"/>
                </a:cubicBezTo>
                <a:lnTo>
                  <a:pt x="106070" y="147618"/>
                </a:lnTo>
                <a:lnTo>
                  <a:pt x="32042" y="147618"/>
                </a:lnTo>
                <a:lnTo>
                  <a:pt x="27032" y="125873"/>
                </a:lnTo>
                <a:cubicBezTo>
                  <a:pt x="26926" y="125421"/>
                  <a:pt x="26691" y="125011"/>
                  <a:pt x="26356" y="124692"/>
                </a:cubicBezTo>
                <a:cubicBezTo>
                  <a:pt x="8925" y="108042"/>
                  <a:pt x="0" y="89402"/>
                  <a:pt x="0" y="69047"/>
                </a:cubicBezTo>
                <a:cubicBezTo>
                  <a:pt x="5" y="30912"/>
                  <a:pt x="30921" y="0"/>
                  <a:pt x="69056" y="0"/>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
        <p:nvSpPr>
          <p:cNvPr id="24" name="Title 1">
            <a:extLst>
              <a:ext uri="{FF2B5EF4-FFF2-40B4-BE49-F238E27FC236}">
                <a16:creationId xmlns:a16="http://schemas.microsoft.com/office/drawing/2014/main" id="{F2B62F6B-49D4-BA8F-2240-DA479125834C}"/>
              </a:ext>
            </a:extLst>
          </p:cNvPr>
          <p:cNvSpPr txBox="1">
            <a:spLocks/>
          </p:cNvSpPr>
          <p:nvPr/>
        </p:nvSpPr>
        <p:spPr>
          <a:xfrm>
            <a:off x="4967288" y="2125565"/>
            <a:ext cx="2257425" cy="492443"/>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algn="ctr"/>
            <a:r>
              <a:rPr lang="en-US" sz="3200"/>
              <a:t>Innovation</a:t>
            </a:r>
          </a:p>
        </p:txBody>
      </p:sp>
      <p:sp>
        <p:nvSpPr>
          <p:cNvPr id="25" name="Rounded Rectangle 56">
            <a:extLst>
              <a:ext uri="{FF2B5EF4-FFF2-40B4-BE49-F238E27FC236}">
                <a16:creationId xmlns:a16="http://schemas.microsoft.com/office/drawing/2014/main" id="{90347054-EED9-B82D-83E6-0E6E14961952}"/>
              </a:ext>
            </a:extLst>
          </p:cNvPr>
          <p:cNvSpPr/>
          <p:nvPr/>
        </p:nvSpPr>
        <p:spPr>
          <a:xfrm>
            <a:off x="1721252" y="2966936"/>
            <a:ext cx="3503512" cy="2532164"/>
          </a:xfrm>
          <a:prstGeom prst="roundRect">
            <a:avLst>
              <a:gd name="adj" fmla="val 6610"/>
            </a:avLst>
          </a:prstGeom>
          <a:solidFill>
            <a:schemeClr val="bg1"/>
          </a:solidFill>
          <a:ln w="6350">
            <a:noFill/>
            <a:headEnd type="none" w="med" len="med"/>
            <a:tailEnd type="none" w="med" len="med"/>
          </a:ln>
          <a:effectLst>
            <a:outerShdw blurRad="63500" algn="ctr" rotWithShape="0">
              <a:schemeClr val="bg1">
                <a:lumMod val="50000"/>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901014" fontAlgn="base">
              <a:spcBef>
                <a:spcPts val="1200"/>
              </a:spcBef>
            </a:pPr>
            <a:r>
              <a:rPr lang="en-US" sz="2000" kern="0">
                <a:solidFill>
                  <a:schemeClr val="tx1"/>
                </a:solidFill>
                <a:latin typeface="+mj-lt"/>
                <a:cs typeface="Segoe UI" pitchFamily="34" charset="0"/>
              </a:rPr>
              <a:t>Easier than ever </a:t>
            </a:r>
            <a:br>
              <a:rPr lang="en-US" sz="2000" kern="0">
                <a:solidFill>
                  <a:schemeClr val="tx1"/>
                </a:solidFill>
                <a:latin typeface="+mj-lt"/>
                <a:cs typeface="Segoe UI" pitchFamily="34" charset="0"/>
              </a:rPr>
            </a:br>
            <a:r>
              <a:rPr lang="en-US" sz="2000" kern="0">
                <a:solidFill>
                  <a:schemeClr val="tx1"/>
                </a:solidFill>
                <a:latin typeface="+mj-lt"/>
                <a:cs typeface="Segoe UI" pitchFamily="34" charset="0"/>
              </a:rPr>
              <a:t>to build</a:t>
            </a:r>
          </a:p>
        </p:txBody>
      </p:sp>
      <p:grpSp>
        <p:nvGrpSpPr>
          <p:cNvPr id="26" name="Group 25">
            <a:extLst>
              <a:ext uri="{FF2B5EF4-FFF2-40B4-BE49-F238E27FC236}">
                <a16:creationId xmlns:a16="http://schemas.microsoft.com/office/drawing/2014/main" id="{37333A14-BF2C-9753-C7EF-4FCF67004F05}"/>
              </a:ext>
            </a:extLst>
          </p:cNvPr>
          <p:cNvGrpSpPr/>
          <p:nvPr/>
        </p:nvGrpSpPr>
        <p:grpSpPr>
          <a:xfrm>
            <a:off x="5785648" y="3924516"/>
            <a:ext cx="620704" cy="617004"/>
            <a:chOff x="5830285" y="2608404"/>
            <a:chExt cx="534604" cy="531418"/>
          </a:xfrm>
        </p:grpSpPr>
        <p:sp>
          <p:nvSpPr>
            <p:cNvPr id="27" name="Oval 26">
              <a:extLst>
                <a:ext uri="{FF2B5EF4-FFF2-40B4-BE49-F238E27FC236}">
                  <a16:creationId xmlns:a16="http://schemas.microsoft.com/office/drawing/2014/main" id="{5D8D06BE-86AC-60D9-522A-5CD6225A1BC9}"/>
                </a:ext>
              </a:extLst>
            </p:cNvPr>
            <p:cNvSpPr>
              <a:spLocks/>
            </p:cNvSpPr>
            <p:nvPr/>
          </p:nvSpPr>
          <p:spPr>
            <a:xfrm>
              <a:off x="5830285" y="2608404"/>
              <a:ext cx="534604" cy="531418"/>
            </a:xfrm>
            <a:prstGeom prst="ellipse">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lgn="ctr" defTabSz="1219170"/>
              <a:endParaRPr lang="en-US">
                <a:solidFill>
                  <a:schemeClr val="tx1"/>
                </a:solidFill>
                <a:latin typeface="+mj-lt"/>
              </a:endParaRPr>
            </a:p>
          </p:txBody>
        </p:sp>
        <p:sp>
          <p:nvSpPr>
            <p:cNvPr id="28" name="Graphic 4" descr="Icon of a right arrow head">
              <a:extLst>
                <a:ext uri="{FF2B5EF4-FFF2-40B4-BE49-F238E27FC236}">
                  <a16:creationId xmlns:a16="http://schemas.microsoft.com/office/drawing/2014/main" id="{41C7A6C2-2B66-33A6-5C5D-96F529E52484}"/>
                </a:ext>
              </a:extLst>
            </p:cNvPr>
            <p:cNvSpPr/>
            <p:nvPr/>
          </p:nvSpPr>
          <p:spPr>
            <a:xfrm>
              <a:off x="6043050" y="2743368"/>
              <a:ext cx="147174" cy="261489"/>
            </a:xfrm>
            <a:custGeom>
              <a:avLst/>
              <a:gdLst>
                <a:gd name="connsiteX0" fmla="*/ 4986 w 147174"/>
                <a:gd name="connsiteY0" fmla="*/ 4781 h 261489"/>
                <a:gd name="connsiteX1" fmla="*/ 4986 w 147174"/>
                <a:gd name="connsiteY1" fmla="*/ 27873 h 261489"/>
                <a:gd name="connsiteX2" fmla="*/ 107755 w 147174"/>
                <a:gd name="connsiteY2" fmla="*/ 130642 h 261489"/>
                <a:gd name="connsiteX3" fmla="*/ 4986 w 147174"/>
                <a:gd name="connsiteY3" fmla="*/ 233412 h 261489"/>
                <a:gd name="connsiteX4" fmla="*/ 4584 w 147174"/>
                <a:gd name="connsiteY4" fmla="*/ 256504 h 261489"/>
                <a:gd name="connsiteX5" fmla="*/ 27676 w 147174"/>
                <a:gd name="connsiteY5" fmla="*/ 256905 h 261489"/>
                <a:gd name="connsiteX6" fmla="*/ 28077 w 147174"/>
                <a:gd name="connsiteY6" fmla="*/ 256504 h 261489"/>
                <a:gd name="connsiteX7" fmla="*/ 142393 w 147174"/>
                <a:gd name="connsiteY7" fmla="*/ 142188 h 261489"/>
                <a:gd name="connsiteX8" fmla="*/ 142393 w 147174"/>
                <a:gd name="connsiteY8" fmla="*/ 119097 h 261489"/>
                <a:gd name="connsiteX9" fmla="*/ 28077 w 147174"/>
                <a:gd name="connsiteY9" fmla="*/ 4781 h 261489"/>
                <a:gd name="connsiteX10" fmla="*/ 4986 w 147174"/>
                <a:gd name="connsiteY10" fmla="*/ 4781 h 26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174" h="261489">
                  <a:moveTo>
                    <a:pt x="4986" y="4781"/>
                  </a:moveTo>
                  <a:cubicBezTo>
                    <a:pt x="-1390" y="11159"/>
                    <a:pt x="-1390" y="21496"/>
                    <a:pt x="4986" y="27873"/>
                  </a:cubicBezTo>
                  <a:lnTo>
                    <a:pt x="107755" y="130642"/>
                  </a:lnTo>
                  <a:lnTo>
                    <a:pt x="4986" y="233412"/>
                  </a:lnTo>
                  <a:cubicBezTo>
                    <a:pt x="-1502" y="239678"/>
                    <a:pt x="-1681" y="250015"/>
                    <a:pt x="4584" y="256504"/>
                  </a:cubicBezTo>
                  <a:cubicBezTo>
                    <a:pt x="10850" y="262990"/>
                    <a:pt x="21188" y="263171"/>
                    <a:pt x="27676" y="256905"/>
                  </a:cubicBezTo>
                  <a:cubicBezTo>
                    <a:pt x="27812" y="256773"/>
                    <a:pt x="27946" y="256639"/>
                    <a:pt x="28077" y="256504"/>
                  </a:cubicBezTo>
                  <a:lnTo>
                    <a:pt x="142393" y="142188"/>
                  </a:lnTo>
                  <a:cubicBezTo>
                    <a:pt x="148768" y="135811"/>
                    <a:pt x="148768" y="125474"/>
                    <a:pt x="142393" y="119097"/>
                  </a:cubicBezTo>
                  <a:lnTo>
                    <a:pt x="28077" y="4781"/>
                  </a:lnTo>
                  <a:cubicBezTo>
                    <a:pt x="21700" y="-1594"/>
                    <a:pt x="11363" y="-1594"/>
                    <a:pt x="4986" y="4781"/>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SzPct val="90000"/>
              </a:pPr>
              <a:endParaRPr lang="en-US">
                <a:solidFill>
                  <a:schemeClr val="bg1"/>
                </a:solidFill>
                <a:latin typeface="+mj-lt"/>
                <a:ea typeface="+mj-ea"/>
                <a:cs typeface="+mj-cs"/>
              </a:endParaRPr>
            </a:p>
          </p:txBody>
        </p:sp>
      </p:grpSp>
      <p:sp>
        <p:nvSpPr>
          <p:cNvPr id="29" name="Rounded Rectangle 56">
            <a:extLst>
              <a:ext uri="{FF2B5EF4-FFF2-40B4-BE49-F238E27FC236}">
                <a16:creationId xmlns:a16="http://schemas.microsoft.com/office/drawing/2014/main" id="{2FAFBFCB-72C5-49BC-029D-78B2F2E6429F}"/>
              </a:ext>
            </a:extLst>
          </p:cNvPr>
          <p:cNvSpPr/>
          <p:nvPr/>
        </p:nvSpPr>
        <p:spPr>
          <a:xfrm>
            <a:off x="6967236" y="2966936"/>
            <a:ext cx="3503512" cy="2532164"/>
          </a:xfrm>
          <a:prstGeom prst="roundRect">
            <a:avLst>
              <a:gd name="adj" fmla="val 6610"/>
            </a:avLst>
          </a:prstGeom>
          <a:solidFill>
            <a:schemeClr val="bg1"/>
          </a:solidFill>
          <a:ln w="6350">
            <a:noFill/>
            <a:headEnd type="none" w="med" len="med"/>
            <a:tailEnd type="none" w="med" len="med"/>
          </a:ln>
          <a:effectLst>
            <a:outerShdw blurRad="63500" algn="ctr" rotWithShape="0">
              <a:schemeClr val="bg1">
                <a:lumMod val="50000"/>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901014" fontAlgn="base">
              <a:spcBef>
                <a:spcPts val="1200"/>
              </a:spcBef>
            </a:pPr>
            <a:r>
              <a:rPr lang="en-US" sz="2000" kern="0">
                <a:solidFill>
                  <a:schemeClr val="tx1"/>
                </a:solidFill>
                <a:latin typeface="+mj-lt"/>
                <a:cs typeface="Segoe UI" pitchFamily="34" charset="0"/>
              </a:rPr>
              <a:t>More makers </a:t>
            </a:r>
            <a:br>
              <a:rPr lang="en-US" sz="2000" kern="0">
                <a:solidFill>
                  <a:schemeClr val="tx1"/>
                </a:solidFill>
                <a:latin typeface="+mj-lt"/>
                <a:cs typeface="Segoe UI" pitchFamily="34" charset="0"/>
              </a:rPr>
            </a:br>
            <a:r>
              <a:rPr lang="en-US" sz="2000" kern="0">
                <a:solidFill>
                  <a:schemeClr val="tx1"/>
                </a:solidFill>
                <a:latin typeface="+mj-lt"/>
                <a:cs typeface="Segoe UI" pitchFamily="34" charset="0"/>
              </a:rPr>
              <a:t>building more</a:t>
            </a:r>
          </a:p>
        </p:txBody>
      </p:sp>
    </p:spTree>
    <p:extLst>
      <p:ext uri="{BB962C8B-B14F-4D97-AF65-F5344CB8AC3E}">
        <p14:creationId xmlns:p14="http://schemas.microsoft.com/office/powerpoint/2010/main" val="180152474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FF849-0500-E799-79E8-2D5F2480B742}"/>
            </a:ext>
          </a:extLst>
        </p:cNvPr>
        <p:cNvGrpSpPr/>
        <p:nvPr/>
      </p:nvGrpSpPr>
      <p:grpSpPr>
        <a:xfrm>
          <a:off x="0" y="0"/>
          <a:ext cx="0" cy="0"/>
          <a:chOff x="0" y="0"/>
          <a:chExt cx="0" cy="0"/>
        </a:xfrm>
      </p:grpSpPr>
      <p:pic>
        <p:nvPicPr>
          <p:cNvPr id="14" name="Picture 13" descr="A blurry image of a purple object&#10;&#10;AI-generated content may be incorrect.">
            <a:extLst>
              <a:ext uri="{FF2B5EF4-FFF2-40B4-BE49-F238E27FC236}">
                <a16:creationId xmlns:a16="http://schemas.microsoft.com/office/drawing/2014/main" id="{1109B082-BC17-E69D-798F-96476DA53D0E}"/>
              </a:ext>
            </a:extLst>
          </p:cNvPr>
          <p:cNvPicPr>
            <a:picLocks noChangeAspect="1"/>
          </p:cNvPicPr>
          <p:nvPr/>
        </p:nvPicPr>
        <p:blipFill>
          <a:blip r:embed="rId3">
            <a:alphaModFix amt="70000"/>
          </a:blip>
          <a:srcRect l="25924"/>
          <a:stretch>
            <a:fillRect/>
          </a:stretch>
        </p:blipFill>
        <p:spPr>
          <a:xfrm flipV="1">
            <a:off x="0" y="0"/>
            <a:ext cx="12192000" cy="6858000"/>
          </a:xfrm>
          <a:prstGeom prst="rect">
            <a:avLst/>
          </a:prstGeom>
        </p:spPr>
      </p:pic>
      <p:sp>
        <p:nvSpPr>
          <p:cNvPr id="3" name="Rectangle: Rounded Corners 11">
            <a:extLst>
              <a:ext uri="{FF2B5EF4-FFF2-40B4-BE49-F238E27FC236}">
                <a16:creationId xmlns:a16="http://schemas.microsoft.com/office/drawing/2014/main" id="{178CD5D5-910D-5690-5F2F-AE97D81B3145}"/>
              </a:ext>
              <a:ext uri="{C183D7F6-B498-43B3-948B-1728B52AA6E4}">
                <adec:decorative xmlns:adec="http://schemas.microsoft.com/office/drawing/2017/decorative" val="1"/>
              </a:ext>
            </a:extLst>
          </p:cNvPr>
          <p:cNvSpPr>
            <a:spLocks/>
          </p:cNvSpPr>
          <p:nvPr/>
        </p:nvSpPr>
        <p:spPr>
          <a:xfrm>
            <a:off x="571500" y="571501"/>
            <a:ext cx="11049000" cy="5715000"/>
          </a:xfrm>
          <a:prstGeom prst="roundRect">
            <a:avLst>
              <a:gd name="adj" fmla="val 4295"/>
            </a:avLst>
          </a:pr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5" name="Title 1">
            <a:extLst>
              <a:ext uri="{FF2B5EF4-FFF2-40B4-BE49-F238E27FC236}">
                <a16:creationId xmlns:a16="http://schemas.microsoft.com/office/drawing/2014/main" id="{1EB6870A-36D0-85AD-73EB-A943C38C9581}"/>
              </a:ext>
            </a:extLst>
          </p:cNvPr>
          <p:cNvSpPr txBox="1">
            <a:spLocks/>
          </p:cNvSpPr>
          <p:nvPr/>
        </p:nvSpPr>
        <p:spPr>
          <a:xfrm>
            <a:off x="4967288" y="2125565"/>
            <a:ext cx="2257425" cy="492443"/>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algn="ctr"/>
            <a:r>
              <a:rPr lang="en-US" sz="3200"/>
              <a:t>Risk</a:t>
            </a:r>
          </a:p>
        </p:txBody>
      </p:sp>
      <p:sp>
        <p:nvSpPr>
          <p:cNvPr id="10" name="Rounded Rectangle 56">
            <a:extLst>
              <a:ext uri="{FF2B5EF4-FFF2-40B4-BE49-F238E27FC236}">
                <a16:creationId xmlns:a16="http://schemas.microsoft.com/office/drawing/2014/main" id="{A9048702-7BC3-6FFB-D3C9-765682E56AF8}"/>
              </a:ext>
            </a:extLst>
          </p:cNvPr>
          <p:cNvSpPr/>
          <p:nvPr/>
        </p:nvSpPr>
        <p:spPr>
          <a:xfrm>
            <a:off x="1721252" y="2966936"/>
            <a:ext cx="3503512" cy="2532164"/>
          </a:xfrm>
          <a:prstGeom prst="roundRect">
            <a:avLst>
              <a:gd name="adj" fmla="val 6610"/>
            </a:avLst>
          </a:prstGeom>
          <a:solidFill>
            <a:schemeClr val="bg1"/>
          </a:solidFill>
          <a:ln w="6350">
            <a:noFill/>
            <a:headEnd type="none" w="med" len="med"/>
            <a:tailEnd type="none" w="med" len="med"/>
          </a:ln>
          <a:effectLst>
            <a:outerShdw blurRad="63500" algn="ctr" rotWithShape="0">
              <a:schemeClr val="bg1">
                <a:lumMod val="50000"/>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901014" fontAlgn="base">
              <a:spcBef>
                <a:spcPts val="1200"/>
              </a:spcBef>
            </a:pPr>
            <a:r>
              <a:rPr lang="en-US" kern="0">
                <a:solidFill>
                  <a:schemeClr val="tx1"/>
                </a:solidFill>
                <a:latin typeface="+mj-lt"/>
                <a:cs typeface="Segoe UI" pitchFamily="34" charset="0"/>
              </a:rPr>
              <a:t>Deployment in the default environment</a:t>
            </a:r>
          </a:p>
          <a:p>
            <a:pPr algn="ctr" defTabSz="2901014" fontAlgn="base">
              <a:spcBef>
                <a:spcPts val="1200"/>
              </a:spcBef>
            </a:pPr>
            <a:r>
              <a:rPr lang="en-US" sz="1600" kern="0">
                <a:solidFill>
                  <a:schemeClr val="tx1"/>
                </a:solidFill>
                <a:cs typeface="Segoe UI" pitchFamily="34" charset="0"/>
              </a:rPr>
              <a:t>ALM limitations, Sharing limits, Personal dev environments &amp; environment routing, Need for environment isolation, DLP and SIEM integration for higher security</a:t>
            </a:r>
          </a:p>
        </p:txBody>
      </p:sp>
      <p:sp>
        <p:nvSpPr>
          <p:cNvPr id="16" name="Graphic 51">
            <a:extLst>
              <a:ext uri="{FF2B5EF4-FFF2-40B4-BE49-F238E27FC236}">
                <a16:creationId xmlns:a16="http://schemas.microsoft.com/office/drawing/2014/main" id="{F13761F3-66C4-5F03-1ACD-0058253B9E71}"/>
              </a:ext>
              <a:ext uri="{C183D7F6-B498-43B3-948B-1728B52AA6E4}">
                <adec:decorative xmlns:adec="http://schemas.microsoft.com/office/drawing/2017/decorative" val="1"/>
              </a:ext>
            </a:extLst>
          </p:cNvPr>
          <p:cNvSpPr>
            <a:spLocks noChangeAspect="1"/>
          </p:cNvSpPr>
          <p:nvPr/>
        </p:nvSpPr>
        <p:spPr>
          <a:xfrm>
            <a:off x="5806402" y="1182361"/>
            <a:ext cx="579195" cy="643554"/>
          </a:xfrm>
          <a:custGeom>
            <a:avLst/>
            <a:gdLst>
              <a:gd name="connsiteX0" fmla="*/ 90011 w 171450"/>
              <a:gd name="connsiteY0" fmla="*/ 1429 h 190501"/>
              <a:gd name="connsiteX1" fmla="*/ 164306 w 171450"/>
              <a:gd name="connsiteY1" fmla="*/ 28575 h 190501"/>
              <a:gd name="connsiteX2" fmla="*/ 171450 w 171450"/>
              <a:gd name="connsiteY2" fmla="*/ 35719 h 190501"/>
              <a:gd name="connsiteX3" fmla="*/ 171450 w 171450"/>
              <a:gd name="connsiteY3" fmla="*/ 85725 h 190501"/>
              <a:gd name="connsiteX4" fmla="*/ 88344 w 171450"/>
              <a:gd name="connsiteY4" fmla="*/ 190005 h 190501"/>
              <a:gd name="connsiteX5" fmla="*/ 83106 w 171450"/>
              <a:gd name="connsiteY5" fmla="*/ 190005 h 190501"/>
              <a:gd name="connsiteX6" fmla="*/ 0 w 171450"/>
              <a:gd name="connsiteY6" fmla="*/ 85725 h 190501"/>
              <a:gd name="connsiteX7" fmla="*/ 0 w 171450"/>
              <a:gd name="connsiteY7" fmla="*/ 35719 h 190501"/>
              <a:gd name="connsiteX8" fmla="*/ 7144 w 171450"/>
              <a:gd name="connsiteY8" fmla="*/ 28575 h 190501"/>
              <a:gd name="connsiteX9" fmla="*/ 81439 w 171450"/>
              <a:gd name="connsiteY9" fmla="*/ 1429 h 190501"/>
              <a:gd name="connsiteX10" fmla="*/ 90011 w 171450"/>
              <a:gd name="connsiteY10" fmla="*/ 1429 h 190501"/>
              <a:gd name="connsiteX11" fmla="*/ 85725 w 171450"/>
              <a:gd name="connsiteY11" fmla="*/ 133350 h 190501"/>
              <a:gd name="connsiteX12" fmla="*/ 78581 w 171450"/>
              <a:gd name="connsiteY12" fmla="*/ 140494 h 190501"/>
              <a:gd name="connsiteX13" fmla="*/ 85725 w 171450"/>
              <a:gd name="connsiteY13" fmla="*/ 147638 h 190501"/>
              <a:gd name="connsiteX14" fmla="*/ 92869 w 171450"/>
              <a:gd name="connsiteY14" fmla="*/ 140494 h 190501"/>
              <a:gd name="connsiteX15" fmla="*/ 85725 w 171450"/>
              <a:gd name="connsiteY15" fmla="*/ 133350 h 190501"/>
              <a:gd name="connsiteX16" fmla="*/ 85725 w 171450"/>
              <a:gd name="connsiteY16" fmla="*/ 47454 h 190501"/>
              <a:gd name="connsiteX17" fmla="*/ 78648 w 171450"/>
              <a:gd name="connsiteY17" fmla="*/ 53626 h 190501"/>
              <a:gd name="connsiteX18" fmla="*/ 78581 w 171450"/>
              <a:gd name="connsiteY18" fmla="*/ 54597 h 190501"/>
              <a:gd name="connsiteX19" fmla="*/ 78581 w 171450"/>
              <a:gd name="connsiteY19" fmla="*/ 116510 h 190501"/>
              <a:gd name="connsiteX20" fmla="*/ 78648 w 171450"/>
              <a:gd name="connsiteY20" fmla="*/ 117481 h 190501"/>
              <a:gd name="connsiteX21" fmla="*/ 86698 w 171450"/>
              <a:gd name="connsiteY21" fmla="*/ 123585 h 190501"/>
              <a:gd name="connsiteX22" fmla="*/ 92802 w 171450"/>
              <a:gd name="connsiteY22" fmla="*/ 117481 h 190501"/>
              <a:gd name="connsiteX23" fmla="*/ 92869 w 171450"/>
              <a:gd name="connsiteY23" fmla="*/ 116510 h 190501"/>
              <a:gd name="connsiteX24" fmla="*/ 92869 w 171450"/>
              <a:gd name="connsiteY24" fmla="*/ 54597 h 190501"/>
              <a:gd name="connsiteX25" fmla="*/ 92802 w 171450"/>
              <a:gd name="connsiteY25" fmla="*/ 53626 h 190501"/>
              <a:gd name="connsiteX26" fmla="*/ 85725 w 171450"/>
              <a:gd name="connsiteY26" fmla="*/ 47454 h 19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1450" h="190501">
                <a:moveTo>
                  <a:pt x="90011" y="1429"/>
                </a:moveTo>
                <a:cubicBezTo>
                  <a:pt x="114224" y="19593"/>
                  <a:pt x="138941" y="28575"/>
                  <a:pt x="164306" y="28575"/>
                </a:cubicBezTo>
                <a:cubicBezTo>
                  <a:pt x="168252" y="28575"/>
                  <a:pt x="171450" y="31773"/>
                  <a:pt x="171450" y="35719"/>
                </a:cubicBezTo>
                <a:lnTo>
                  <a:pt x="171450" y="85725"/>
                </a:lnTo>
                <a:cubicBezTo>
                  <a:pt x="171450" y="133360"/>
                  <a:pt x="143275" y="168364"/>
                  <a:pt x="88344" y="190005"/>
                </a:cubicBezTo>
                <a:cubicBezTo>
                  <a:pt x="86661" y="190668"/>
                  <a:pt x="84789" y="190668"/>
                  <a:pt x="83106" y="190005"/>
                </a:cubicBezTo>
                <a:cubicBezTo>
                  <a:pt x="28175" y="168364"/>
                  <a:pt x="0" y="133350"/>
                  <a:pt x="0" y="85725"/>
                </a:cubicBezTo>
                <a:lnTo>
                  <a:pt x="0" y="35719"/>
                </a:lnTo>
                <a:cubicBezTo>
                  <a:pt x="0" y="31773"/>
                  <a:pt x="3198" y="28575"/>
                  <a:pt x="7144" y="28575"/>
                </a:cubicBezTo>
                <a:cubicBezTo>
                  <a:pt x="32509" y="28575"/>
                  <a:pt x="57226" y="19593"/>
                  <a:pt x="81439" y="1429"/>
                </a:cubicBezTo>
                <a:cubicBezTo>
                  <a:pt x="83979" y="-476"/>
                  <a:pt x="87471" y="-476"/>
                  <a:pt x="90011" y="1429"/>
                </a:cubicBezTo>
                <a:close/>
                <a:moveTo>
                  <a:pt x="85725" y="133350"/>
                </a:moveTo>
                <a:cubicBezTo>
                  <a:pt x="81780" y="133350"/>
                  <a:pt x="78581" y="136549"/>
                  <a:pt x="78581" y="140494"/>
                </a:cubicBezTo>
                <a:cubicBezTo>
                  <a:pt x="78581" y="144439"/>
                  <a:pt x="81780" y="147638"/>
                  <a:pt x="85725" y="147638"/>
                </a:cubicBezTo>
                <a:cubicBezTo>
                  <a:pt x="89670" y="147638"/>
                  <a:pt x="92869" y="144439"/>
                  <a:pt x="92869" y="140494"/>
                </a:cubicBezTo>
                <a:cubicBezTo>
                  <a:pt x="92869" y="136549"/>
                  <a:pt x="89670" y="133350"/>
                  <a:pt x="85725" y="133350"/>
                </a:cubicBezTo>
                <a:close/>
                <a:moveTo>
                  <a:pt x="85725" y="47454"/>
                </a:moveTo>
                <a:cubicBezTo>
                  <a:pt x="82155" y="47454"/>
                  <a:pt x="79134" y="50089"/>
                  <a:pt x="78648" y="53626"/>
                </a:cubicBezTo>
                <a:lnTo>
                  <a:pt x="78581" y="54597"/>
                </a:lnTo>
                <a:lnTo>
                  <a:pt x="78581" y="116510"/>
                </a:lnTo>
                <a:lnTo>
                  <a:pt x="78648" y="117481"/>
                </a:lnTo>
                <a:cubicBezTo>
                  <a:pt x="79186" y="121389"/>
                  <a:pt x="82790" y="124122"/>
                  <a:pt x="86698" y="123585"/>
                </a:cubicBezTo>
                <a:cubicBezTo>
                  <a:pt x="89871" y="123148"/>
                  <a:pt x="92366" y="120654"/>
                  <a:pt x="92802" y="117481"/>
                </a:cubicBezTo>
                <a:lnTo>
                  <a:pt x="92869" y="116510"/>
                </a:lnTo>
                <a:lnTo>
                  <a:pt x="92869" y="54597"/>
                </a:lnTo>
                <a:lnTo>
                  <a:pt x="92802" y="53626"/>
                </a:lnTo>
                <a:cubicBezTo>
                  <a:pt x="92316" y="50089"/>
                  <a:pt x="89295" y="47454"/>
                  <a:pt x="85725" y="47454"/>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grpSp>
        <p:nvGrpSpPr>
          <p:cNvPr id="20" name="Group 19">
            <a:extLst>
              <a:ext uri="{FF2B5EF4-FFF2-40B4-BE49-F238E27FC236}">
                <a16:creationId xmlns:a16="http://schemas.microsoft.com/office/drawing/2014/main" id="{8D968B73-8E25-DF09-B93F-ACC864D7F464}"/>
              </a:ext>
            </a:extLst>
          </p:cNvPr>
          <p:cNvGrpSpPr/>
          <p:nvPr/>
        </p:nvGrpSpPr>
        <p:grpSpPr>
          <a:xfrm>
            <a:off x="5785648" y="3924516"/>
            <a:ext cx="620704" cy="617004"/>
            <a:chOff x="5830285" y="2608404"/>
            <a:chExt cx="534604" cy="531418"/>
          </a:xfrm>
        </p:grpSpPr>
        <p:sp>
          <p:nvSpPr>
            <p:cNvPr id="18" name="Oval 17">
              <a:extLst>
                <a:ext uri="{FF2B5EF4-FFF2-40B4-BE49-F238E27FC236}">
                  <a16:creationId xmlns:a16="http://schemas.microsoft.com/office/drawing/2014/main" id="{2A6F8097-7884-72F2-8A81-BE8D6F00A8EB}"/>
                </a:ext>
              </a:extLst>
            </p:cNvPr>
            <p:cNvSpPr>
              <a:spLocks/>
            </p:cNvSpPr>
            <p:nvPr/>
          </p:nvSpPr>
          <p:spPr>
            <a:xfrm>
              <a:off x="5830285" y="2608404"/>
              <a:ext cx="534604" cy="531418"/>
            </a:xfrm>
            <a:prstGeom prst="ellipse">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lgn="ctr" defTabSz="1219170"/>
              <a:endParaRPr lang="en-US">
                <a:solidFill>
                  <a:schemeClr val="tx1"/>
                </a:solidFill>
                <a:latin typeface="+mj-lt"/>
              </a:endParaRPr>
            </a:p>
          </p:txBody>
        </p:sp>
        <p:sp>
          <p:nvSpPr>
            <p:cNvPr id="19" name="Graphic 4" descr="Icon of a right arrow head">
              <a:extLst>
                <a:ext uri="{FF2B5EF4-FFF2-40B4-BE49-F238E27FC236}">
                  <a16:creationId xmlns:a16="http://schemas.microsoft.com/office/drawing/2014/main" id="{6A7912E1-5F13-9E89-21AE-B200AD4111B7}"/>
                </a:ext>
              </a:extLst>
            </p:cNvPr>
            <p:cNvSpPr/>
            <p:nvPr/>
          </p:nvSpPr>
          <p:spPr>
            <a:xfrm>
              <a:off x="6043050" y="2743368"/>
              <a:ext cx="147174" cy="261489"/>
            </a:xfrm>
            <a:custGeom>
              <a:avLst/>
              <a:gdLst>
                <a:gd name="connsiteX0" fmla="*/ 4986 w 147174"/>
                <a:gd name="connsiteY0" fmla="*/ 4781 h 261489"/>
                <a:gd name="connsiteX1" fmla="*/ 4986 w 147174"/>
                <a:gd name="connsiteY1" fmla="*/ 27873 h 261489"/>
                <a:gd name="connsiteX2" fmla="*/ 107755 w 147174"/>
                <a:gd name="connsiteY2" fmla="*/ 130642 h 261489"/>
                <a:gd name="connsiteX3" fmla="*/ 4986 w 147174"/>
                <a:gd name="connsiteY3" fmla="*/ 233412 h 261489"/>
                <a:gd name="connsiteX4" fmla="*/ 4584 w 147174"/>
                <a:gd name="connsiteY4" fmla="*/ 256504 h 261489"/>
                <a:gd name="connsiteX5" fmla="*/ 27676 w 147174"/>
                <a:gd name="connsiteY5" fmla="*/ 256905 h 261489"/>
                <a:gd name="connsiteX6" fmla="*/ 28077 w 147174"/>
                <a:gd name="connsiteY6" fmla="*/ 256504 h 261489"/>
                <a:gd name="connsiteX7" fmla="*/ 142393 w 147174"/>
                <a:gd name="connsiteY7" fmla="*/ 142188 h 261489"/>
                <a:gd name="connsiteX8" fmla="*/ 142393 w 147174"/>
                <a:gd name="connsiteY8" fmla="*/ 119097 h 261489"/>
                <a:gd name="connsiteX9" fmla="*/ 28077 w 147174"/>
                <a:gd name="connsiteY9" fmla="*/ 4781 h 261489"/>
                <a:gd name="connsiteX10" fmla="*/ 4986 w 147174"/>
                <a:gd name="connsiteY10" fmla="*/ 4781 h 26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174" h="261489">
                  <a:moveTo>
                    <a:pt x="4986" y="4781"/>
                  </a:moveTo>
                  <a:cubicBezTo>
                    <a:pt x="-1390" y="11159"/>
                    <a:pt x="-1390" y="21496"/>
                    <a:pt x="4986" y="27873"/>
                  </a:cubicBezTo>
                  <a:lnTo>
                    <a:pt x="107755" y="130642"/>
                  </a:lnTo>
                  <a:lnTo>
                    <a:pt x="4986" y="233412"/>
                  </a:lnTo>
                  <a:cubicBezTo>
                    <a:pt x="-1502" y="239678"/>
                    <a:pt x="-1681" y="250015"/>
                    <a:pt x="4584" y="256504"/>
                  </a:cubicBezTo>
                  <a:cubicBezTo>
                    <a:pt x="10850" y="262990"/>
                    <a:pt x="21188" y="263171"/>
                    <a:pt x="27676" y="256905"/>
                  </a:cubicBezTo>
                  <a:cubicBezTo>
                    <a:pt x="27812" y="256773"/>
                    <a:pt x="27946" y="256639"/>
                    <a:pt x="28077" y="256504"/>
                  </a:cubicBezTo>
                  <a:lnTo>
                    <a:pt x="142393" y="142188"/>
                  </a:lnTo>
                  <a:cubicBezTo>
                    <a:pt x="148768" y="135811"/>
                    <a:pt x="148768" y="125474"/>
                    <a:pt x="142393" y="119097"/>
                  </a:cubicBezTo>
                  <a:lnTo>
                    <a:pt x="28077" y="4781"/>
                  </a:lnTo>
                  <a:cubicBezTo>
                    <a:pt x="21700" y="-1594"/>
                    <a:pt x="11363" y="-1594"/>
                    <a:pt x="4986" y="4781"/>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SzPct val="90000"/>
              </a:pPr>
              <a:endParaRPr lang="en-US">
                <a:solidFill>
                  <a:schemeClr val="bg1"/>
                </a:solidFill>
                <a:latin typeface="+mj-lt"/>
                <a:ea typeface="+mj-ea"/>
                <a:cs typeface="+mj-cs"/>
              </a:endParaRPr>
            </a:p>
          </p:txBody>
        </p:sp>
      </p:grpSp>
      <p:sp>
        <p:nvSpPr>
          <p:cNvPr id="22" name="Rounded Rectangle 56">
            <a:extLst>
              <a:ext uri="{FF2B5EF4-FFF2-40B4-BE49-F238E27FC236}">
                <a16:creationId xmlns:a16="http://schemas.microsoft.com/office/drawing/2014/main" id="{2E581FD4-51FE-878E-83C7-84C4E2728E0E}"/>
              </a:ext>
            </a:extLst>
          </p:cNvPr>
          <p:cNvSpPr/>
          <p:nvPr/>
        </p:nvSpPr>
        <p:spPr>
          <a:xfrm>
            <a:off x="6967236" y="2966936"/>
            <a:ext cx="3503512" cy="2532164"/>
          </a:xfrm>
          <a:prstGeom prst="roundRect">
            <a:avLst>
              <a:gd name="adj" fmla="val 6610"/>
            </a:avLst>
          </a:prstGeom>
          <a:solidFill>
            <a:schemeClr val="bg1"/>
          </a:solidFill>
          <a:ln w="6350">
            <a:noFill/>
            <a:headEnd type="none" w="med" len="med"/>
            <a:tailEnd type="none" w="med" len="med"/>
          </a:ln>
          <a:effectLst>
            <a:outerShdw blurRad="63500" algn="ctr" rotWithShape="0">
              <a:schemeClr val="bg1">
                <a:lumMod val="50000"/>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2901014" fontAlgn="base">
              <a:spcBef>
                <a:spcPts val="1200"/>
              </a:spcBef>
            </a:pPr>
            <a:r>
              <a:rPr lang="en-US" kern="0">
                <a:solidFill>
                  <a:schemeClr val="tx1"/>
                </a:solidFill>
                <a:latin typeface="+mj-lt"/>
                <a:cs typeface="Segoe UI" pitchFamily="34" charset="0"/>
              </a:rPr>
              <a:t>Unmanaged agents</a:t>
            </a:r>
          </a:p>
          <a:p>
            <a:pPr algn="ctr" defTabSz="2901014" fontAlgn="base">
              <a:spcBef>
                <a:spcPts val="1200"/>
              </a:spcBef>
            </a:pPr>
            <a:r>
              <a:rPr lang="en-US" sz="1600" kern="0">
                <a:solidFill>
                  <a:schemeClr val="tx1"/>
                </a:solidFill>
                <a:cs typeface="Segoe UI" pitchFamily="34" charset="0"/>
              </a:rPr>
              <a:t>Lack of ALM/pipeline rigor, sharing limits and governance gaps</a:t>
            </a:r>
          </a:p>
        </p:txBody>
      </p:sp>
    </p:spTree>
    <p:extLst>
      <p:ext uri="{BB962C8B-B14F-4D97-AF65-F5344CB8AC3E}">
        <p14:creationId xmlns:p14="http://schemas.microsoft.com/office/powerpoint/2010/main" val="189425672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10F2D-DFBB-77A1-7F76-D576C625AF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4FCF67-FC63-5318-5540-6FE7436572FE}"/>
              </a:ext>
            </a:extLst>
          </p:cNvPr>
          <p:cNvSpPr>
            <a:spLocks noGrp="1"/>
          </p:cNvSpPr>
          <p:nvPr>
            <p:ph type="title"/>
          </p:nvPr>
        </p:nvSpPr>
        <p:spPr>
          <a:xfrm>
            <a:off x="588264" y="3152001"/>
            <a:ext cx="6117336" cy="553998"/>
          </a:xfrm>
        </p:spPr>
        <p:txBody>
          <a:bodyPr wrap="square">
            <a:spAutoFit/>
          </a:bodyPr>
          <a:lstStyle/>
          <a:p>
            <a:r>
              <a:rPr lang="en-US" b="1" dirty="0">
                <a:gradFill>
                  <a:gsLst>
                    <a:gs pos="0">
                      <a:srgbClr val="B63EC5"/>
                    </a:gs>
                    <a:gs pos="100000">
                      <a:srgbClr val="0070C0"/>
                    </a:gs>
                  </a:gsLst>
                  <a:path path="circle">
                    <a:fillToRect l="100000" t="100000"/>
                  </a:path>
                </a:gradFill>
                <a:latin typeface="Segoe Sans Display Semibold" pitchFamily="2" charset="0"/>
              </a:rPr>
              <a:t>What is Change Management</a:t>
            </a:r>
          </a:p>
        </p:txBody>
      </p:sp>
      <p:pic>
        <p:nvPicPr>
          <p:cNvPr id="3" name="Picture 2">
            <a:extLst>
              <a:ext uri="{FF2B5EF4-FFF2-40B4-BE49-F238E27FC236}">
                <a16:creationId xmlns:a16="http://schemas.microsoft.com/office/drawing/2014/main" id="{26910BDD-D209-0049-3F6F-F69AE1D3C418}"/>
              </a:ext>
              <a:ext uri="{C183D7F6-B498-43B3-948B-1728B52AA6E4}">
                <adec:decorative xmlns:adec="http://schemas.microsoft.com/office/drawing/2017/decorative" val="1"/>
              </a:ext>
            </a:extLst>
          </p:cNvPr>
          <p:cNvPicPr>
            <a:picLocks noChangeAspect="1"/>
          </p:cNvPicPr>
          <p:nvPr/>
        </p:nvPicPr>
        <p:blipFill>
          <a:blip r:embed="rId3" cstate="screen">
            <a:alphaModFix/>
            <a:extLst>
              <a:ext uri="{28A0092B-C50C-407E-A947-70E740481C1C}">
                <a14:useLocalDpi xmlns:a14="http://schemas.microsoft.com/office/drawing/2010/main"/>
              </a:ext>
            </a:extLst>
          </a:blip>
          <a:srcRect/>
          <a:stretch/>
        </p:blipFill>
        <p:spPr>
          <a:xfrm>
            <a:off x="8095169" y="2"/>
            <a:ext cx="4102718" cy="6858001"/>
          </a:xfrm>
          <a:prstGeom prst="rect">
            <a:avLst/>
          </a:prstGeom>
        </p:spPr>
      </p:pic>
    </p:spTree>
    <p:extLst>
      <p:ext uri="{BB962C8B-B14F-4D97-AF65-F5344CB8AC3E}">
        <p14:creationId xmlns:p14="http://schemas.microsoft.com/office/powerpoint/2010/main" val="188964694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1E778-1D71-F37B-4846-423D925B6D92}"/>
            </a:ext>
          </a:extLst>
        </p:cNvPr>
        <p:cNvGrpSpPr/>
        <p:nvPr/>
      </p:nvGrpSpPr>
      <p:grpSpPr>
        <a:xfrm>
          <a:off x="0" y="0"/>
          <a:ext cx="0" cy="0"/>
          <a:chOff x="0" y="0"/>
          <a:chExt cx="0" cy="0"/>
        </a:xfrm>
      </p:grpSpPr>
      <p:pic>
        <p:nvPicPr>
          <p:cNvPr id="13" name="Picture 12" descr="A blurry image of a purple object&#10;&#10;AI-generated content may be incorrect.">
            <a:extLst>
              <a:ext uri="{FF2B5EF4-FFF2-40B4-BE49-F238E27FC236}">
                <a16:creationId xmlns:a16="http://schemas.microsoft.com/office/drawing/2014/main" id="{3563E2A5-64F3-49DA-DB92-AE0C1E384229}"/>
              </a:ext>
            </a:extLst>
          </p:cNvPr>
          <p:cNvPicPr>
            <a:picLocks noChangeAspect="1"/>
          </p:cNvPicPr>
          <p:nvPr/>
        </p:nvPicPr>
        <p:blipFill>
          <a:blip r:embed="rId3">
            <a:alphaModFix amt="70000"/>
          </a:blip>
          <a:srcRect l="25924"/>
          <a:stretch>
            <a:fillRect/>
          </a:stretch>
        </p:blipFill>
        <p:spPr>
          <a:xfrm flipV="1">
            <a:off x="0" y="0"/>
            <a:ext cx="12192000" cy="6858000"/>
          </a:xfrm>
          <a:prstGeom prst="rect">
            <a:avLst/>
          </a:prstGeom>
        </p:spPr>
      </p:pic>
      <p:pic>
        <p:nvPicPr>
          <p:cNvPr id="22" name="Graphic 21">
            <a:extLst>
              <a:ext uri="{FF2B5EF4-FFF2-40B4-BE49-F238E27FC236}">
                <a16:creationId xmlns:a16="http://schemas.microsoft.com/office/drawing/2014/main" id="{3652AACA-A9E6-DC1D-4EC9-7CDEE9DC3AD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5638800" y="231424"/>
            <a:ext cx="914400" cy="914400"/>
          </a:xfrm>
          <a:prstGeom prst="rect">
            <a:avLst/>
          </a:prstGeom>
          <a:effectLst/>
        </p:spPr>
      </p:pic>
      <p:sp>
        <p:nvSpPr>
          <p:cNvPr id="23" name="Title 1">
            <a:extLst>
              <a:ext uri="{FF2B5EF4-FFF2-40B4-BE49-F238E27FC236}">
                <a16:creationId xmlns:a16="http://schemas.microsoft.com/office/drawing/2014/main" id="{60694EF6-BDB1-CE3A-8F30-5BC786CA4D49}"/>
              </a:ext>
            </a:extLst>
          </p:cNvPr>
          <p:cNvSpPr txBox="1">
            <a:spLocks/>
          </p:cNvSpPr>
          <p:nvPr/>
        </p:nvSpPr>
        <p:spPr>
          <a:xfrm>
            <a:off x="4419601" y="1131026"/>
            <a:ext cx="3352800" cy="492443"/>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algn="ctr"/>
            <a:r>
              <a:rPr lang="en-US" sz="3200"/>
              <a:t>Copilot Studio</a:t>
            </a:r>
          </a:p>
        </p:txBody>
      </p:sp>
      <p:sp>
        <p:nvSpPr>
          <p:cNvPr id="28" name="Rectangle: Top Corners Rounded 27">
            <a:extLst>
              <a:ext uri="{FF2B5EF4-FFF2-40B4-BE49-F238E27FC236}">
                <a16:creationId xmlns:a16="http://schemas.microsoft.com/office/drawing/2014/main" id="{B53F8547-4921-20F0-262D-F75E6B16E9BA}"/>
              </a:ext>
            </a:extLst>
          </p:cNvPr>
          <p:cNvSpPr/>
          <p:nvPr/>
        </p:nvSpPr>
        <p:spPr bwMode="auto">
          <a:xfrm rot="16200000">
            <a:off x="-1433781" y="4269293"/>
            <a:ext cx="3623888" cy="386674"/>
          </a:xfrm>
          <a:prstGeom prst="round2SameRect">
            <a:avLst>
              <a:gd name="adj1" fmla="val 41824"/>
              <a:gd name="adj2" fmla="val 0"/>
            </a:avLst>
          </a:prstGeom>
          <a:solidFill>
            <a:schemeClr val="accent1"/>
          </a:soli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defRPr/>
            </a:pPr>
            <a:r>
              <a:rPr lang="en-US" sz="1400" b="1">
                <a:solidFill>
                  <a:srgbClr val="FFFFFF"/>
                </a:solidFill>
                <a:latin typeface="+mj-lt"/>
                <a:cs typeface="Segoe Sans Display Semibold" pitchFamily="2" charset="0"/>
              </a:rPr>
              <a:t>Change Management</a:t>
            </a:r>
          </a:p>
        </p:txBody>
      </p:sp>
      <p:sp>
        <p:nvSpPr>
          <p:cNvPr id="29" name="Rectangle: Top Corners Rounded 28">
            <a:extLst>
              <a:ext uri="{FF2B5EF4-FFF2-40B4-BE49-F238E27FC236}">
                <a16:creationId xmlns:a16="http://schemas.microsoft.com/office/drawing/2014/main" id="{6A6959BA-B4AD-95E1-1B9E-B9CEC1D6D924}"/>
              </a:ext>
            </a:extLst>
          </p:cNvPr>
          <p:cNvSpPr/>
          <p:nvPr/>
        </p:nvSpPr>
        <p:spPr bwMode="auto">
          <a:xfrm rot="5400000" flipH="1">
            <a:off x="10001893" y="4269293"/>
            <a:ext cx="3623888" cy="386674"/>
          </a:xfrm>
          <a:prstGeom prst="round2SameRect">
            <a:avLst>
              <a:gd name="adj1" fmla="val 41824"/>
              <a:gd name="adj2" fmla="val 0"/>
            </a:avLst>
          </a:prstGeom>
          <a:solidFill>
            <a:schemeClr val="accent2"/>
          </a:soli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46304" numCol="1" spcCol="0" rtlCol="0" fromWordArt="0" anchor="ctr" anchorCtr="0" forceAA="0" compatLnSpc="1">
            <a:prstTxWarp prst="textNoShape">
              <a:avLst/>
            </a:prstTxWarp>
            <a:noAutofit/>
          </a:bodyPr>
          <a:lstStyle/>
          <a:p>
            <a:pPr algn="ctr"/>
            <a:r>
              <a:rPr lang="en-US" sz="1400">
                <a:ln w="3175">
                  <a:noFill/>
                </a:ln>
                <a:solidFill>
                  <a:schemeClr val="bg1"/>
                </a:solidFill>
                <a:latin typeface="+mj-lt"/>
              </a:rPr>
              <a:t>Deployment</a:t>
            </a:r>
            <a:endParaRPr lang="en-US" sz="1600">
              <a:ln w="3175">
                <a:noFill/>
              </a:ln>
              <a:solidFill>
                <a:schemeClr val="bg1"/>
              </a:solidFill>
              <a:latin typeface="+mj-lt"/>
            </a:endParaRPr>
          </a:p>
        </p:txBody>
      </p:sp>
      <p:sp>
        <p:nvSpPr>
          <p:cNvPr id="31" name="TextBox 30">
            <a:extLst>
              <a:ext uri="{FF2B5EF4-FFF2-40B4-BE49-F238E27FC236}">
                <a16:creationId xmlns:a16="http://schemas.microsoft.com/office/drawing/2014/main" id="{7834A7EF-C9C5-E344-41D2-D125510FD8C7}"/>
              </a:ext>
            </a:extLst>
          </p:cNvPr>
          <p:cNvSpPr txBox="1">
            <a:spLocks/>
          </p:cNvSpPr>
          <p:nvPr/>
        </p:nvSpPr>
        <p:spPr>
          <a:xfrm>
            <a:off x="2924175" y="1671969"/>
            <a:ext cx="6343650" cy="276999"/>
          </a:xfrm>
          <a:prstGeom prst="rect">
            <a:avLst/>
          </a:prstGeom>
          <a:noFill/>
        </p:spPr>
        <p:txBody>
          <a:bodyPr wrap="square" lIns="0" tIns="0" rIns="0" bIns="0" rtlCol="0" anchor="ctr">
            <a:spAutoFit/>
          </a:bodyPr>
          <a:lstStyle/>
          <a:p>
            <a:pPr lvl="0" algn="ctr" defTabSz="304793" fontAlgn="base">
              <a:spcBef>
                <a:spcPct val="0"/>
              </a:spcBef>
              <a:spcAft>
                <a:spcPct val="0"/>
              </a:spcAft>
              <a:defRPr/>
            </a:pPr>
            <a:r>
              <a:rPr lang="en-US" b="1">
                <a:ln w="3175">
                  <a:noFill/>
                </a:ln>
                <a:gradFill flip="none">
                  <a:gsLst>
                    <a:gs pos="0">
                      <a:srgbClr val="0078D4"/>
                    </a:gs>
                    <a:gs pos="100000">
                      <a:srgbClr val="C03BC4"/>
                    </a:gs>
                  </a:gsLst>
                  <a:lin ang="0" scaled="1"/>
                  <a:tileRect/>
                </a:gradFill>
                <a:latin typeface="+mj-lt"/>
              </a:rPr>
              <a:t>Change Management · Deployment</a:t>
            </a:r>
          </a:p>
        </p:txBody>
      </p:sp>
      <p:sp>
        <p:nvSpPr>
          <p:cNvPr id="26" name="Rounded Rectangle 64">
            <a:extLst>
              <a:ext uri="{FF2B5EF4-FFF2-40B4-BE49-F238E27FC236}">
                <a16:creationId xmlns:a16="http://schemas.microsoft.com/office/drawing/2014/main" id="{96BE896C-723E-4749-8A68-E1CDBA47BBC5}"/>
              </a:ext>
              <a:ext uri="{C183D7F6-B498-43B3-948B-1728B52AA6E4}">
                <adec:decorative xmlns:adec="http://schemas.microsoft.com/office/drawing/2017/decorative" val="1"/>
              </a:ext>
            </a:extLst>
          </p:cNvPr>
          <p:cNvSpPr>
            <a:spLocks/>
          </p:cNvSpPr>
          <p:nvPr/>
        </p:nvSpPr>
        <p:spPr bwMode="auto">
          <a:xfrm>
            <a:off x="571500" y="2333626"/>
            <a:ext cx="5387340" cy="4258008"/>
          </a:xfrm>
          <a:prstGeom prst="roundRect">
            <a:avLst>
              <a:gd name="adj" fmla="val 4203"/>
            </a:avLst>
          </a:pr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27" name="Rounded Rectangle 64">
            <a:extLst>
              <a:ext uri="{FF2B5EF4-FFF2-40B4-BE49-F238E27FC236}">
                <a16:creationId xmlns:a16="http://schemas.microsoft.com/office/drawing/2014/main" id="{493C7635-AF62-60EB-B2D2-80D1CF1E5722}"/>
              </a:ext>
              <a:ext uri="{C183D7F6-B498-43B3-948B-1728B52AA6E4}">
                <adec:decorative xmlns:adec="http://schemas.microsoft.com/office/drawing/2017/decorative" val="1"/>
              </a:ext>
            </a:extLst>
          </p:cNvPr>
          <p:cNvSpPr>
            <a:spLocks/>
          </p:cNvSpPr>
          <p:nvPr/>
        </p:nvSpPr>
        <p:spPr bwMode="auto">
          <a:xfrm>
            <a:off x="6233160" y="2333626"/>
            <a:ext cx="5387340" cy="4258008"/>
          </a:xfrm>
          <a:prstGeom prst="roundRect">
            <a:avLst>
              <a:gd name="adj" fmla="val 4203"/>
            </a:avLst>
          </a:pr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32" name="Rectangle: Rounded Corners 31">
            <a:extLst>
              <a:ext uri="{FF2B5EF4-FFF2-40B4-BE49-F238E27FC236}">
                <a16:creationId xmlns:a16="http://schemas.microsoft.com/office/drawing/2014/main" id="{E1367D97-7DD6-9EBC-5C1E-55D7ED671F2A}"/>
              </a:ext>
            </a:extLst>
          </p:cNvPr>
          <p:cNvSpPr>
            <a:spLocks/>
          </p:cNvSpPr>
          <p:nvPr/>
        </p:nvSpPr>
        <p:spPr bwMode="auto">
          <a:xfrm>
            <a:off x="1858329" y="2165547"/>
            <a:ext cx="2813684" cy="328513"/>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0" rIns="144000" bIns="18000" numCol="1" spcCol="0" rtlCol="0" fromWordArt="0" anchor="ctr" anchorCtr="0" forceAA="0" compatLnSpc="1">
            <a:prstTxWarp prst="textNoShape">
              <a:avLst/>
            </a:prstTxWarp>
            <a:spAutoFit/>
          </a:bodyPr>
          <a:lstStyle/>
          <a:p>
            <a:pPr lvl="0" algn="ctr" defTabSz="932472" fontAlgn="base">
              <a:spcBef>
                <a:spcPct val="0"/>
              </a:spcBef>
              <a:spcAft>
                <a:spcPct val="0"/>
              </a:spcAft>
              <a:defRPr/>
            </a:pPr>
            <a:r>
              <a:rPr lang="en-US" sz="1400" b="1">
                <a:solidFill>
                  <a:srgbClr val="FFFFFF"/>
                </a:solidFill>
                <a:latin typeface="+mj-lt"/>
                <a:cs typeface="Segoe Sans Display Semibold" pitchFamily="2" charset="0"/>
              </a:rPr>
              <a:t>Behavioral Enablement</a:t>
            </a:r>
          </a:p>
        </p:txBody>
      </p:sp>
      <p:sp>
        <p:nvSpPr>
          <p:cNvPr id="33" name="Rectangle: Rounded Corners 32">
            <a:extLst>
              <a:ext uri="{FF2B5EF4-FFF2-40B4-BE49-F238E27FC236}">
                <a16:creationId xmlns:a16="http://schemas.microsoft.com/office/drawing/2014/main" id="{19C168FF-7147-5016-427D-04C9CB3359A0}"/>
              </a:ext>
            </a:extLst>
          </p:cNvPr>
          <p:cNvSpPr>
            <a:spLocks/>
          </p:cNvSpPr>
          <p:nvPr/>
        </p:nvSpPr>
        <p:spPr bwMode="auto">
          <a:xfrm>
            <a:off x="7519989" y="2165547"/>
            <a:ext cx="2813684" cy="328513"/>
          </a:xfrm>
          <a:prstGeom prst="roundRect">
            <a:avLst>
              <a:gd name="adj" fmla="val 50000"/>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0" rIns="144000" bIns="18000" numCol="1" spcCol="0" rtlCol="0" fromWordArt="0" anchor="ctr" anchorCtr="0" forceAA="0" compatLnSpc="1">
            <a:prstTxWarp prst="textNoShape">
              <a:avLst/>
            </a:prstTxWarp>
            <a:spAutoFit/>
          </a:bodyPr>
          <a:lstStyle/>
          <a:p>
            <a:pPr lvl="0" algn="ctr" defTabSz="932472" fontAlgn="base">
              <a:spcBef>
                <a:spcPct val="0"/>
              </a:spcBef>
              <a:spcAft>
                <a:spcPct val="0"/>
              </a:spcAft>
              <a:defRPr/>
            </a:pPr>
            <a:r>
              <a:rPr lang="en-US" sz="1400" b="1">
                <a:solidFill>
                  <a:srgbClr val="FFFFFF"/>
                </a:solidFill>
                <a:latin typeface="+mj-lt"/>
                <a:cs typeface="Segoe Sans Display Semibold" pitchFamily="2" charset="0"/>
              </a:rPr>
              <a:t>Technical Enablement</a:t>
            </a:r>
          </a:p>
        </p:txBody>
      </p:sp>
      <p:sp>
        <p:nvSpPr>
          <p:cNvPr id="34" name="TextBox 33">
            <a:extLst>
              <a:ext uri="{FF2B5EF4-FFF2-40B4-BE49-F238E27FC236}">
                <a16:creationId xmlns:a16="http://schemas.microsoft.com/office/drawing/2014/main" id="{15D5EA83-435F-9728-A2DA-F483DFF15FD6}"/>
              </a:ext>
            </a:extLst>
          </p:cNvPr>
          <p:cNvSpPr txBox="1">
            <a:spLocks/>
          </p:cNvSpPr>
          <p:nvPr/>
        </p:nvSpPr>
        <p:spPr>
          <a:xfrm>
            <a:off x="769619" y="3692569"/>
            <a:ext cx="4991100" cy="354925"/>
          </a:xfrm>
          <a:prstGeom prst="round2SameRect">
            <a:avLst>
              <a:gd name="adj1" fmla="val 0"/>
              <a:gd name="adj2" fmla="val 21469"/>
            </a:avLst>
          </a:prstGeom>
          <a:solidFill>
            <a:schemeClr val="accent1">
              <a:lumMod val="20000"/>
              <a:lumOff val="8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Sans Display Semibold"/>
                <a:ea typeface="+mn-ea"/>
                <a:cs typeface="+mn-cs"/>
              </a:rPr>
              <a:t>Focus Areas</a:t>
            </a:r>
            <a:endParaRPr kumimoji="0" lang="en-US" sz="1600" b="0" i="0" u="none" strike="noStrike" kern="1200" cap="none" spc="0" normalizeH="0" baseline="0" noProof="0">
              <a:ln w="3175">
                <a:noFill/>
              </a:ln>
              <a:solidFill>
                <a:srgbClr val="000000"/>
              </a:solidFill>
              <a:effectLst/>
              <a:uLnTx/>
              <a:uFillTx/>
              <a:latin typeface="Segoe Sans Display Semibold"/>
              <a:ea typeface="+mn-ea"/>
              <a:cs typeface="+mn-cs"/>
            </a:endParaRPr>
          </a:p>
        </p:txBody>
      </p:sp>
      <p:sp>
        <p:nvSpPr>
          <p:cNvPr id="36" name="TextBox 35">
            <a:extLst>
              <a:ext uri="{FF2B5EF4-FFF2-40B4-BE49-F238E27FC236}">
                <a16:creationId xmlns:a16="http://schemas.microsoft.com/office/drawing/2014/main" id="{7686C0D7-821C-D8CB-B7FC-D3B48BD94E5F}"/>
              </a:ext>
            </a:extLst>
          </p:cNvPr>
          <p:cNvSpPr txBox="1">
            <a:spLocks/>
          </p:cNvSpPr>
          <p:nvPr/>
        </p:nvSpPr>
        <p:spPr>
          <a:xfrm>
            <a:off x="769619" y="4127040"/>
            <a:ext cx="4991100" cy="1282402"/>
          </a:xfrm>
          <a:prstGeom prst="rect">
            <a:avLst/>
          </a:prstGeom>
          <a:noFill/>
        </p:spPr>
        <p:txBody>
          <a:bodyPr wrap="square" lIns="0" tIns="0" rIns="0" bIns="0" rtlCol="0">
            <a:spAutoFit/>
          </a:bodyPr>
          <a:lstStyle/>
          <a:p>
            <a:pPr marL="195263" indent="-195263">
              <a:spcAft>
                <a:spcPts val="800"/>
              </a:spcAft>
              <a:buFont typeface="Arial" panose="020B0604020202020204" pitchFamily="34" charset="0"/>
              <a:buChar char="•"/>
            </a:pPr>
            <a:r>
              <a:rPr lang="en-US" sz="1400">
                <a:cs typeface="Segoe UI" panose="020B0502040204020203" pitchFamily="34" charset="0"/>
              </a:rPr>
              <a:t>Communication plans (why Copilot Studio matters, </a:t>
            </a:r>
            <a:br>
              <a:rPr lang="en-US" sz="1400">
                <a:cs typeface="Segoe UI" panose="020B0502040204020203" pitchFamily="34" charset="0"/>
              </a:rPr>
            </a:br>
            <a:r>
              <a:rPr lang="en-US" sz="1400">
                <a:cs typeface="Segoe UI" panose="020B0502040204020203" pitchFamily="34" charset="0"/>
              </a:rPr>
              <a:t>benefits etc.).</a:t>
            </a:r>
          </a:p>
          <a:p>
            <a:pPr marL="195263" indent="-195263">
              <a:spcAft>
                <a:spcPts val="800"/>
              </a:spcAft>
              <a:buFont typeface="Arial" panose="020B0604020202020204" pitchFamily="34" charset="0"/>
              <a:buChar char="•"/>
            </a:pPr>
            <a:r>
              <a:rPr lang="en-US" sz="1400">
                <a:cs typeface="Segoe UI" panose="020B0502040204020203" pitchFamily="34" charset="0"/>
              </a:rPr>
              <a:t>Training and enablement for IT admins, makers &amp; </a:t>
            </a:r>
            <a:br>
              <a:rPr lang="en-US" sz="1400">
                <a:cs typeface="Segoe UI" panose="020B0502040204020203" pitchFamily="34" charset="0"/>
              </a:rPr>
            </a:br>
            <a:r>
              <a:rPr lang="en-US" sz="1400">
                <a:cs typeface="Segoe UI" panose="020B0502040204020203" pitchFamily="34" charset="0"/>
              </a:rPr>
              <a:t>business users.</a:t>
            </a:r>
          </a:p>
          <a:p>
            <a:pPr marL="195263" indent="-195263">
              <a:spcAft>
                <a:spcPts val="800"/>
              </a:spcAft>
              <a:buFont typeface="Arial" panose="020B0604020202020204" pitchFamily="34" charset="0"/>
              <a:buChar char="•"/>
            </a:pPr>
            <a:r>
              <a:rPr lang="en-US" sz="1400">
                <a:cs typeface="Segoe UI" panose="020B0502040204020203" pitchFamily="34" charset="0"/>
              </a:rPr>
              <a:t>Driving behavioral change &amp; overcoming resistance.</a:t>
            </a:r>
          </a:p>
        </p:txBody>
      </p:sp>
      <p:sp>
        <p:nvSpPr>
          <p:cNvPr id="37" name="TextBox 36">
            <a:extLst>
              <a:ext uri="{FF2B5EF4-FFF2-40B4-BE49-F238E27FC236}">
                <a16:creationId xmlns:a16="http://schemas.microsoft.com/office/drawing/2014/main" id="{AD5ED749-A35F-C20F-8307-CB0BCC652AD6}"/>
              </a:ext>
            </a:extLst>
          </p:cNvPr>
          <p:cNvSpPr txBox="1">
            <a:spLocks/>
          </p:cNvSpPr>
          <p:nvPr/>
        </p:nvSpPr>
        <p:spPr>
          <a:xfrm>
            <a:off x="769619" y="2603815"/>
            <a:ext cx="4991100" cy="354925"/>
          </a:xfrm>
          <a:prstGeom prst="round2SameRect">
            <a:avLst>
              <a:gd name="adj1" fmla="val 0"/>
              <a:gd name="adj2" fmla="val 21469"/>
            </a:avLst>
          </a:prstGeom>
          <a:solidFill>
            <a:schemeClr val="accent1">
              <a:lumMod val="20000"/>
              <a:lumOff val="8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Sans Display Semibold"/>
                <a:ea typeface="+mn-ea"/>
                <a:cs typeface="+mn-cs"/>
              </a:rPr>
              <a:t>What It Is</a:t>
            </a:r>
            <a:endParaRPr kumimoji="0" lang="en-US" sz="1600" b="0" i="0" u="none" strike="noStrike" kern="1200" cap="none" spc="0" normalizeH="0" baseline="0" noProof="0">
              <a:ln w="3175">
                <a:noFill/>
              </a:ln>
              <a:solidFill>
                <a:srgbClr val="000000"/>
              </a:solidFill>
              <a:effectLst/>
              <a:uLnTx/>
              <a:uFillTx/>
              <a:latin typeface="Segoe Sans Display Semibold"/>
              <a:ea typeface="+mn-ea"/>
              <a:cs typeface="+mn-cs"/>
            </a:endParaRPr>
          </a:p>
        </p:txBody>
      </p:sp>
      <p:sp>
        <p:nvSpPr>
          <p:cNvPr id="38" name="TextBox 37">
            <a:extLst>
              <a:ext uri="{FF2B5EF4-FFF2-40B4-BE49-F238E27FC236}">
                <a16:creationId xmlns:a16="http://schemas.microsoft.com/office/drawing/2014/main" id="{83BA41C2-022B-1CEA-FB34-F8D72D47FD00}"/>
              </a:ext>
            </a:extLst>
          </p:cNvPr>
          <p:cNvSpPr txBox="1">
            <a:spLocks/>
          </p:cNvSpPr>
          <p:nvPr/>
        </p:nvSpPr>
        <p:spPr>
          <a:xfrm>
            <a:off x="769619" y="3038286"/>
            <a:ext cx="4991100" cy="430887"/>
          </a:xfrm>
          <a:prstGeom prst="rect">
            <a:avLst/>
          </a:prstGeom>
          <a:noFill/>
        </p:spPr>
        <p:txBody>
          <a:bodyPr wrap="square" lIns="0" tIns="0" rIns="0" bIns="0" rtlCol="0">
            <a:spAutoFit/>
          </a:bodyPr>
          <a:lstStyle/>
          <a:p>
            <a:pPr>
              <a:spcAft>
                <a:spcPts val="800"/>
              </a:spcAft>
            </a:pPr>
            <a:r>
              <a:rPr lang="en-US" sz="1400">
                <a:cs typeface="Segoe UI" panose="020B0502040204020203" pitchFamily="34" charset="0"/>
              </a:rPr>
              <a:t>The behavioral and organizational side of adoption, helping people understand, accept &amp; effectively use Copilot Studio.</a:t>
            </a:r>
          </a:p>
        </p:txBody>
      </p:sp>
      <p:sp>
        <p:nvSpPr>
          <p:cNvPr id="39" name="TextBox 38">
            <a:extLst>
              <a:ext uri="{FF2B5EF4-FFF2-40B4-BE49-F238E27FC236}">
                <a16:creationId xmlns:a16="http://schemas.microsoft.com/office/drawing/2014/main" id="{584EBAF1-56CB-9F4E-17FC-1A1088AAA196}"/>
              </a:ext>
            </a:extLst>
          </p:cNvPr>
          <p:cNvSpPr txBox="1">
            <a:spLocks/>
          </p:cNvSpPr>
          <p:nvPr/>
        </p:nvSpPr>
        <p:spPr>
          <a:xfrm>
            <a:off x="769619" y="5586244"/>
            <a:ext cx="4991100" cy="354925"/>
          </a:xfrm>
          <a:prstGeom prst="round2SameRect">
            <a:avLst>
              <a:gd name="adj1" fmla="val 0"/>
              <a:gd name="adj2" fmla="val 21469"/>
            </a:avLst>
          </a:prstGeom>
          <a:solidFill>
            <a:schemeClr val="accent1">
              <a:lumMod val="20000"/>
              <a:lumOff val="8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Sans Display Semibold"/>
                <a:ea typeface="+mn-ea"/>
                <a:cs typeface="+mn-cs"/>
              </a:rPr>
              <a:t>Goals</a:t>
            </a:r>
            <a:endParaRPr kumimoji="0" lang="en-US" sz="1600" b="0" i="0" u="none" strike="noStrike" kern="1200" cap="none" spc="0" normalizeH="0" baseline="0" noProof="0">
              <a:ln w="3175">
                <a:noFill/>
              </a:ln>
              <a:solidFill>
                <a:srgbClr val="000000"/>
              </a:solidFill>
              <a:effectLst/>
              <a:uLnTx/>
              <a:uFillTx/>
              <a:latin typeface="Segoe Sans Display Semibold"/>
              <a:ea typeface="+mn-ea"/>
              <a:cs typeface="+mn-cs"/>
            </a:endParaRPr>
          </a:p>
        </p:txBody>
      </p:sp>
      <p:sp>
        <p:nvSpPr>
          <p:cNvPr id="40" name="TextBox 39">
            <a:extLst>
              <a:ext uri="{FF2B5EF4-FFF2-40B4-BE49-F238E27FC236}">
                <a16:creationId xmlns:a16="http://schemas.microsoft.com/office/drawing/2014/main" id="{BB87734B-D100-D947-ACC0-495A0F9F2FFE}"/>
              </a:ext>
            </a:extLst>
          </p:cNvPr>
          <p:cNvSpPr txBox="1">
            <a:spLocks/>
          </p:cNvSpPr>
          <p:nvPr/>
        </p:nvSpPr>
        <p:spPr>
          <a:xfrm>
            <a:off x="769619" y="6020715"/>
            <a:ext cx="4991100" cy="430887"/>
          </a:xfrm>
          <a:prstGeom prst="rect">
            <a:avLst/>
          </a:prstGeom>
          <a:noFill/>
        </p:spPr>
        <p:txBody>
          <a:bodyPr wrap="square" lIns="0" tIns="0" rIns="0" bIns="0" rtlCol="0">
            <a:spAutoFit/>
          </a:bodyPr>
          <a:lstStyle/>
          <a:p>
            <a:pPr>
              <a:spcAft>
                <a:spcPts val="800"/>
              </a:spcAft>
            </a:pPr>
            <a:r>
              <a:rPr lang="en-US" sz="1400"/>
              <a:t>Ensure users embrace the new capabilities and integrate them into their workflows.</a:t>
            </a:r>
            <a:endParaRPr lang="en-US" sz="1400">
              <a:cs typeface="Segoe UI" panose="020B0502040204020203" pitchFamily="34" charset="0"/>
            </a:endParaRPr>
          </a:p>
        </p:txBody>
      </p:sp>
      <p:sp>
        <p:nvSpPr>
          <p:cNvPr id="41" name="TextBox 40">
            <a:extLst>
              <a:ext uri="{FF2B5EF4-FFF2-40B4-BE49-F238E27FC236}">
                <a16:creationId xmlns:a16="http://schemas.microsoft.com/office/drawing/2014/main" id="{0F68BF09-46CE-EFF4-509B-4C89930D6D3F}"/>
              </a:ext>
            </a:extLst>
          </p:cNvPr>
          <p:cNvSpPr txBox="1">
            <a:spLocks/>
          </p:cNvSpPr>
          <p:nvPr/>
        </p:nvSpPr>
        <p:spPr>
          <a:xfrm>
            <a:off x="6431281" y="3692569"/>
            <a:ext cx="4991100" cy="354925"/>
          </a:xfrm>
          <a:prstGeom prst="round2SameRect">
            <a:avLst>
              <a:gd name="adj1" fmla="val 0"/>
              <a:gd name="adj2" fmla="val 21469"/>
            </a:avLst>
          </a:prstGeom>
          <a:solidFill>
            <a:schemeClr val="accent2">
              <a:lumMod val="20000"/>
              <a:lumOff val="8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Sans Display Semibold"/>
                <a:ea typeface="+mn-ea"/>
                <a:cs typeface="+mn-cs"/>
              </a:rPr>
              <a:t>Focus Areas</a:t>
            </a:r>
            <a:endParaRPr kumimoji="0" lang="en-US" sz="1600" b="0" i="0" u="none" strike="noStrike" kern="1200" cap="none" spc="0" normalizeH="0" baseline="0" noProof="0">
              <a:ln w="3175">
                <a:noFill/>
              </a:ln>
              <a:solidFill>
                <a:srgbClr val="000000"/>
              </a:solidFill>
              <a:effectLst/>
              <a:uLnTx/>
              <a:uFillTx/>
              <a:latin typeface="Segoe Sans Display Semibold"/>
              <a:ea typeface="+mn-ea"/>
              <a:cs typeface="+mn-cs"/>
            </a:endParaRPr>
          </a:p>
        </p:txBody>
      </p:sp>
      <p:sp>
        <p:nvSpPr>
          <p:cNvPr id="42" name="TextBox 41">
            <a:extLst>
              <a:ext uri="{FF2B5EF4-FFF2-40B4-BE49-F238E27FC236}">
                <a16:creationId xmlns:a16="http://schemas.microsoft.com/office/drawing/2014/main" id="{E3A58286-5C1A-0529-9AA1-B8259A068A32}"/>
              </a:ext>
            </a:extLst>
          </p:cNvPr>
          <p:cNvSpPr txBox="1">
            <a:spLocks/>
          </p:cNvSpPr>
          <p:nvPr/>
        </p:nvSpPr>
        <p:spPr>
          <a:xfrm>
            <a:off x="6431281" y="4127040"/>
            <a:ext cx="4991100" cy="1282402"/>
          </a:xfrm>
          <a:prstGeom prst="rect">
            <a:avLst/>
          </a:prstGeom>
          <a:noFill/>
        </p:spPr>
        <p:txBody>
          <a:bodyPr wrap="square" lIns="0" tIns="0" rIns="0" bIns="0" rtlCol="0">
            <a:spAutoFit/>
          </a:bodyPr>
          <a:lstStyle/>
          <a:p>
            <a:pPr marL="195263" indent="-195263">
              <a:spcAft>
                <a:spcPts val="800"/>
              </a:spcAft>
              <a:buFont typeface="Arial" panose="020B0604020202020204" pitchFamily="34" charset="0"/>
              <a:buChar char="•"/>
            </a:pPr>
            <a:r>
              <a:rPr lang="en-US" sz="1400">
                <a:cs typeface="Segoe UI" panose="020B0502040204020203" pitchFamily="34" charset="0"/>
              </a:rPr>
              <a:t>Configuring environments (e.g. connectors, security </a:t>
            </a:r>
            <a:br>
              <a:rPr lang="en-US" sz="1400">
                <a:cs typeface="Segoe UI" panose="020B0502040204020203" pitchFamily="34" charset="0"/>
              </a:rPr>
            </a:br>
            <a:r>
              <a:rPr lang="en-US" sz="1400">
                <a:cs typeface="Segoe UI" panose="020B0502040204020203" pitchFamily="34" charset="0"/>
              </a:rPr>
              <a:t>policies etc.).</a:t>
            </a:r>
          </a:p>
          <a:p>
            <a:pPr marL="195263" indent="-195263">
              <a:spcAft>
                <a:spcPts val="800"/>
              </a:spcAft>
              <a:buFont typeface="Arial" panose="020B0604020202020204" pitchFamily="34" charset="0"/>
              <a:buChar char="•"/>
            </a:pPr>
            <a:r>
              <a:rPr lang="en-US" sz="1400">
                <a:cs typeface="Segoe UI" panose="020B0502040204020203" pitchFamily="34" charset="0"/>
              </a:rPr>
              <a:t>Setting up governance (Managed Access Control, DLP policies etc.). Ensuring compliance &amp; readiness.</a:t>
            </a:r>
          </a:p>
          <a:p>
            <a:pPr marL="195263" indent="-195263">
              <a:spcAft>
                <a:spcPts val="800"/>
              </a:spcAft>
              <a:buFont typeface="Arial" panose="020B0604020202020204" pitchFamily="34" charset="0"/>
              <a:buChar char="•"/>
            </a:pPr>
            <a:r>
              <a:rPr lang="en-US" sz="1400">
                <a:cs typeface="Segoe UI" panose="020B0502040204020203" pitchFamily="34" charset="0"/>
              </a:rPr>
              <a:t>ALM, managing solution movement across dev/test/prod.</a:t>
            </a:r>
          </a:p>
        </p:txBody>
      </p:sp>
      <p:sp>
        <p:nvSpPr>
          <p:cNvPr id="43" name="TextBox 42">
            <a:extLst>
              <a:ext uri="{FF2B5EF4-FFF2-40B4-BE49-F238E27FC236}">
                <a16:creationId xmlns:a16="http://schemas.microsoft.com/office/drawing/2014/main" id="{6531AAB2-0290-505B-3F1D-FA1678F074E2}"/>
              </a:ext>
            </a:extLst>
          </p:cNvPr>
          <p:cNvSpPr txBox="1">
            <a:spLocks/>
          </p:cNvSpPr>
          <p:nvPr/>
        </p:nvSpPr>
        <p:spPr>
          <a:xfrm>
            <a:off x="6431281" y="2603815"/>
            <a:ext cx="4991100" cy="354925"/>
          </a:xfrm>
          <a:prstGeom prst="round2SameRect">
            <a:avLst>
              <a:gd name="adj1" fmla="val 0"/>
              <a:gd name="adj2" fmla="val 21469"/>
            </a:avLst>
          </a:prstGeom>
          <a:solidFill>
            <a:schemeClr val="accent2">
              <a:lumMod val="20000"/>
              <a:lumOff val="8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Sans Display Semibold"/>
                <a:ea typeface="+mn-ea"/>
                <a:cs typeface="+mn-cs"/>
              </a:rPr>
              <a:t>What It Is</a:t>
            </a:r>
            <a:endParaRPr kumimoji="0" lang="en-US" sz="1600" b="0" i="0" u="none" strike="noStrike" kern="1200" cap="none" spc="0" normalizeH="0" baseline="0" noProof="0">
              <a:ln w="3175">
                <a:noFill/>
              </a:ln>
              <a:solidFill>
                <a:srgbClr val="000000"/>
              </a:solidFill>
              <a:effectLst/>
              <a:uLnTx/>
              <a:uFillTx/>
              <a:latin typeface="Segoe Sans Display Semibold"/>
              <a:ea typeface="+mn-ea"/>
              <a:cs typeface="+mn-cs"/>
            </a:endParaRPr>
          </a:p>
        </p:txBody>
      </p:sp>
      <p:sp>
        <p:nvSpPr>
          <p:cNvPr id="44" name="TextBox 43">
            <a:extLst>
              <a:ext uri="{FF2B5EF4-FFF2-40B4-BE49-F238E27FC236}">
                <a16:creationId xmlns:a16="http://schemas.microsoft.com/office/drawing/2014/main" id="{EAF284CE-DDF3-F9CC-26B1-FAA94D675A67}"/>
              </a:ext>
            </a:extLst>
          </p:cNvPr>
          <p:cNvSpPr txBox="1">
            <a:spLocks/>
          </p:cNvSpPr>
          <p:nvPr/>
        </p:nvSpPr>
        <p:spPr>
          <a:xfrm>
            <a:off x="6431281" y="3038286"/>
            <a:ext cx="4991100" cy="430887"/>
          </a:xfrm>
          <a:prstGeom prst="rect">
            <a:avLst/>
          </a:prstGeom>
          <a:noFill/>
        </p:spPr>
        <p:txBody>
          <a:bodyPr wrap="square" lIns="0" tIns="0" rIns="0" bIns="0" rtlCol="0">
            <a:spAutoFit/>
          </a:bodyPr>
          <a:lstStyle/>
          <a:p>
            <a:pPr>
              <a:spcAft>
                <a:spcPts val="800"/>
              </a:spcAft>
            </a:pPr>
            <a:r>
              <a:rPr lang="en-US" sz="1400">
                <a:cs typeface="Segoe UI" panose="020B0502040204020203" pitchFamily="34" charset="0"/>
              </a:rPr>
              <a:t>The technical process of rolling out Copilot Studio capabilities into an organization’s environment.</a:t>
            </a:r>
          </a:p>
        </p:txBody>
      </p:sp>
      <p:sp>
        <p:nvSpPr>
          <p:cNvPr id="45" name="TextBox 44">
            <a:extLst>
              <a:ext uri="{FF2B5EF4-FFF2-40B4-BE49-F238E27FC236}">
                <a16:creationId xmlns:a16="http://schemas.microsoft.com/office/drawing/2014/main" id="{85E578F2-3201-646C-14C9-171F2F806672}"/>
              </a:ext>
            </a:extLst>
          </p:cNvPr>
          <p:cNvSpPr txBox="1">
            <a:spLocks/>
          </p:cNvSpPr>
          <p:nvPr/>
        </p:nvSpPr>
        <p:spPr>
          <a:xfrm>
            <a:off x="6431281" y="5586244"/>
            <a:ext cx="4991100" cy="354925"/>
          </a:xfrm>
          <a:prstGeom prst="round2SameRect">
            <a:avLst>
              <a:gd name="adj1" fmla="val 0"/>
              <a:gd name="adj2" fmla="val 21469"/>
            </a:avLst>
          </a:prstGeom>
          <a:solidFill>
            <a:schemeClr val="accent2">
              <a:lumMod val="20000"/>
              <a:lumOff val="80000"/>
            </a:schemeClr>
          </a:solidFill>
        </p:spPr>
        <p:txBody>
          <a:bodyPr wrap="square"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w="3175">
                  <a:noFill/>
                </a:ln>
                <a:solidFill>
                  <a:srgbClr val="000000"/>
                </a:solidFill>
                <a:effectLst/>
                <a:uLnTx/>
                <a:uFillTx/>
                <a:latin typeface="Segoe Sans Display Semibold"/>
                <a:ea typeface="+mn-ea"/>
                <a:cs typeface="+mn-cs"/>
              </a:rPr>
              <a:t>Goals</a:t>
            </a:r>
            <a:endParaRPr kumimoji="0" lang="en-US" sz="1600" b="0" i="0" u="none" strike="noStrike" kern="1200" cap="none" spc="0" normalizeH="0" baseline="0" noProof="0">
              <a:ln w="3175">
                <a:noFill/>
              </a:ln>
              <a:solidFill>
                <a:srgbClr val="000000"/>
              </a:solidFill>
              <a:effectLst/>
              <a:uLnTx/>
              <a:uFillTx/>
              <a:latin typeface="Segoe Sans Display Semibold"/>
              <a:ea typeface="+mn-ea"/>
              <a:cs typeface="+mn-cs"/>
            </a:endParaRPr>
          </a:p>
        </p:txBody>
      </p:sp>
      <p:sp>
        <p:nvSpPr>
          <p:cNvPr id="46" name="TextBox 45">
            <a:extLst>
              <a:ext uri="{FF2B5EF4-FFF2-40B4-BE49-F238E27FC236}">
                <a16:creationId xmlns:a16="http://schemas.microsoft.com/office/drawing/2014/main" id="{211CC5D7-5D83-4537-4CED-3B0C8F8B5074}"/>
              </a:ext>
            </a:extLst>
          </p:cNvPr>
          <p:cNvSpPr txBox="1">
            <a:spLocks/>
          </p:cNvSpPr>
          <p:nvPr/>
        </p:nvSpPr>
        <p:spPr>
          <a:xfrm>
            <a:off x="6431281" y="6020715"/>
            <a:ext cx="4991100" cy="430887"/>
          </a:xfrm>
          <a:prstGeom prst="rect">
            <a:avLst/>
          </a:prstGeom>
          <a:noFill/>
        </p:spPr>
        <p:txBody>
          <a:bodyPr wrap="square" lIns="0" tIns="0" rIns="0" bIns="0" rtlCol="0">
            <a:spAutoFit/>
          </a:bodyPr>
          <a:lstStyle/>
          <a:p>
            <a:pPr>
              <a:spcAft>
                <a:spcPts val="800"/>
              </a:spcAft>
            </a:pPr>
            <a:r>
              <a:rPr lang="en-US" sz="1400"/>
              <a:t>Make the solution available and functional for users in a secure &amp; scalable way.</a:t>
            </a:r>
            <a:endParaRPr lang="en-US" sz="1400">
              <a:cs typeface="Segoe UI" panose="020B0502040204020203" pitchFamily="34" charset="0"/>
            </a:endParaRPr>
          </a:p>
        </p:txBody>
      </p:sp>
    </p:spTree>
    <p:extLst>
      <p:ext uri="{BB962C8B-B14F-4D97-AF65-F5344CB8AC3E}">
        <p14:creationId xmlns:p14="http://schemas.microsoft.com/office/powerpoint/2010/main" val="31791548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42" presetClass="path" presetSubtype="0" decel="100000" fill="hold" nodeType="withEffect">
                                  <p:stCondLst>
                                    <p:cond delay="0"/>
                                  </p:stCondLst>
                                  <p:childTnLst>
                                    <p:animMotion origin="layout" path="M 0 -2.96296E-6 L 0 0.03542 " pathEditMode="relative" rAng="0" ptsTypes="AA">
                                      <p:cBhvr>
                                        <p:cTn id="9" dur="700" spd="-100000" fill="hold"/>
                                        <p:tgtEl>
                                          <p:spTgt spid="22"/>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42" presetClass="path" presetSubtype="0" decel="100000" fill="hold" grpId="1" nodeType="withEffect">
                                  <p:stCondLst>
                                    <p:cond delay="0"/>
                                  </p:stCondLst>
                                  <p:childTnLst>
                                    <p:animMotion origin="layout" path="M 1.45833E-6 -4.44444E-6 L 1.45833E-6 0.03542 " pathEditMode="relative" rAng="0" ptsTypes="AA">
                                      <p:cBhvr>
                                        <p:cTn id="14" dur="700" spd="-100000" fill="hold"/>
                                        <p:tgtEl>
                                          <p:spTgt spid="26"/>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par>
                                <p:cTn id="18" presetID="42" presetClass="path" presetSubtype="0" decel="100000" fill="hold" grpId="1" nodeType="withEffect">
                                  <p:stCondLst>
                                    <p:cond delay="0"/>
                                  </p:stCondLst>
                                  <p:childTnLst>
                                    <p:animMotion origin="layout" path="M -1.45833E-6 -4.44444E-6 L -1.45833E-6 0.03542 " pathEditMode="relative" rAng="0" ptsTypes="AA">
                                      <p:cBhvr>
                                        <p:cTn id="19" dur="700" spd="-100000" fill="hold"/>
                                        <p:tgtEl>
                                          <p:spTgt spid="27"/>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par>
                                <p:cTn id="23" presetID="42" presetClass="path" presetSubtype="0" decel="100000" fill="hold" grpId="1" nodeType="withEffect">
                                  <p:stCondLst>
                                    <p:cond delay="0"/>
                                  </p:stCondLst>
                                  <p:childTnLst>
                                    <p:animMotion origin="layout" path="M 1.45833E-6 -3.33333E-6 L 1.45833E-6 0.03542 " pathEditMode="relative" rAng="0" ptsTypes="AA">
                                      <p:cBhvr>
                                        <p:cTn id="24" dur="700" spd="-100000" fill="hold"/>
                                        <p:tgtEl>
                                          <p:spTgt spid="32"/>
                                        </p:tgtEl>
                                        <p:attrNameLst>
                                          <p:attrName>ppt_x</p:attrName>
                                          <p:attrName>ppt_y</p:attrName>
                                        </p:attrNameLst>
                                      </p:cBhvr>
                                      <p:rCtr x="0" y="1759"/>
                                    </p:animMotion>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42" presetClass="path" presetSubtype="0" decel="100000" fill="hold" grpId="1" nodeType="withEffect">
                                  <p:stCondLst>
                                    <p:cond delay="0"/>
                                  </p:stCondLst>
                                  <p:childTnLst>
                                    <p:animMotion origin="layout" path="M -1.45833E-6 -3.33333E-6 L -1.45833E-6 0.03542 " pathEditMode="relative" rAng="0" ptsTypes="AA">
                                      <p:cBhvr>
                                        <p:cTn id="29" dur="700" spd="-100000" fill="hold"/>
                                        <p:tgtEl>
                                          <p:spTgt spid="33"/>
                                        </p:tgtEl>
                                        <p:attrNameLst>
                                          <p:attrName>ppt_x</p:attrName>
                                          <p:attrName>ppt_y</p:attrName>
                                        </p:attrNameLst>
                                      </p:cBhvr>
                                      <p:rCtr x="0" y="1759"/>
                                    </p:animMotion>
                                  </p:childTnLst>
                                </p:cTn>
                              </p:par>
                              <p:par>
                                <p:cTn id="30" presetID="10" presetClass="entr" presetSubtype="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500"/>
                                        <p:tgtEl>
                                          <p:spTgt spid="34"/>
                                        </p:tgtEl>
                                      </p:cBhvr>
                                    </p:animEffect>
                                  </p:childTnLst>
                                </p:cTn>
                              </p:par>
                              <p:par>
                                <p:cTn id="33" presetID="42" presetClass="path" presetSubtype="0" decel="100000" fill="hold" grpId="1" nodeType="withEffect">
                                  <p:stCondLst>
                                    <p:cond delay="0"/>
                                  </p:stCondLst>
                                  <p:childTnLst>
                                    <p:animMotion origin="layout" path="M 2.08333E-7 -2.96296E-6 L 2.08333E-7 0.03542 " pathEditMode="relative" rAng="0" ptsTypes="AA">
                                      <p:cBhvr>
                                        <p:cTn id="34" dur="700" spd="-100000" fill="hold"/>
                                        <p:tgtEl>
                                          <p:spTgt spid="34"/>
                                        </p:tgtEl>
                                        <p:attrNameLst>
                                          <p:attrName>ppt_x</p:attrName>
                                          <p:attrName>ppt_y</p:attrName>
                                        </p:attrNameLst>
                                      </p:cBhvr>
                                      <p:rCtr x="0" y="1759"/>
                                    </p:animMotion>
                                  </p:childTnLst>
                                </p:cTn>
                              </p:par>
                              <p:par>
                                <p:cTn id="35" presetID="10"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500"/>
                                        <p:tgtEl>
                                          <p:spTgt spid="37"/>
                                        </p:tgtEl>
                                      </p:cBhvr>
                                    </p:animEffect>
                                  </p:childTnLst>
                                </p:cTn>
                              </p:par>
                              <p:par>
                                <p:cTn id="38" presetID="42" presetClass="path" presetSubtype="0" decel="100000" fill="hold" grpId="1" nodeType="withEffect">
                                  <p:stCondLst>
                                    <p:cond delay="0"/>
                                  </p:stCondLst>
                                  <p:childTnLst>
                                    <p:animMotion origin="layout" path="M 2.08333E-7 -2.96296E-6 L 2.08333E-7 0.03542 " pathEditMode="relative" rAng="0" ptsTypes="AA">
                                      <p:cBhvr>
                                        <p:cTn id="39" dur="700" spd="-100000" fill="hold"/>
                                        <p:tgtEl>
                                          <p:spTgt spid="37"/>
                                        </p:tgtEl>
                                        <p:attrNameLst>
                                          <p:attrName>ppt_x</p:attrName>
                                          <p:attrName>ppt_y</p:attrName>
                                        </p:attrNameLst>
                                      </p:cBhvr>
                                      <p:rCtr x="0" y="1759"/>
                                    </p:animMotion>
                                  </p:childTnLst>
                                </p:cTn>
                              </p:par>
                              <p:par>
                                <p:cTn id="40" presetID="10" presetClass="entr" presetSubtype="0" fill="hold" grpId="0" nodeType="with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500"/>
                                        <p:tgtEl>
                                          <p:spTgt spid="39"/>
                                        </p:tgtEl>
                                      </p:cBhvr>
                                    </p:animEffect>
                                  </p:childTnLst>
                                </p:cTn>
                              </p:par>
                              <p:par>
                                <p:cTn id="43" presetID="42" presetClass="path" presetSubtype="0" decel="100000" fill="hold" grpId="1" nodeType="withEffect">
                                  <p:stCondLst>
                                    <p:cond delay="0"/>
                                  </p:stCondLst>
                                  <p:childTnLst>
                                    <p:animMotion origin="layout" path="M 2.08333E-7 -2.96296E-6 L 2.08333E-7 0.03542 " pathEditMode="relative" rAng="0" ptsTypes="AA">
                                      <p:cBhvr>
                                        <p:cTn id="44" dur="700" spd="-100000" fill="hold"/>
                                        <p:tgtEl>
                                          <p:spTgt spid="39"/>
                                        </p:tgtEl>
                                        <p:attrNameLst>
                                          <p:attrName>ppt_x</p:attrName>
                                          <p:attrName>ppt_y</p:attrName>
                                        </p:attrNameLst>
                                      </p:cBhvr>
                                      <p:rCtr x="0" y="1759"/>
                                    </p:animMotion>
                                  </p:childTnLst>
                                </p:cTn>
                              </p:par>
                              <p:par>
                                <p:cTn id="45" presetID="10"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fade">
                                      <p:cBhvr>
                                        <p:cTn id="47" dur="500"/>
                                        <p:tgtEl>
                                          <p:spTgt spid="41"/>
                                        </p:tgtEl>
                                      </p:cBhvr>
                                    </p:animEffect>
                                  </p:childTnLst>
                                </p:cTn>
                              </p:par>
                              <p:par>
                                <p:cTn id="48" presetID="42" presetClass="path" presetSubtype="0" decel="100000" fill="hold" grpId="1" nodeType="withEffect">
                                  <p:stCondLst>
                                    <p:cond delay="0"/>
                                  </p:stCondLst>
                                  <p:childTnLst>
                                    <p:animMotion origin="layout" path="M 2.08333E-7 -2.96296E-6 L 2.08333E-7 0.03542 " pathEditMode="relative" rAng="0" ptsTypes="AA">
                                      <p:cBhvr>
                                        <p:cTn id="49" dur="700" spd="-100000" fill="hold"/>
                                        <p:tgtEl>
                                          <p:spTgt spid="41"/>
                                        </p:tgtEl>
                                        <p:attrNameLst>
                                          <p:attrName>ppt_x</p:attrName>
                                          <p:attrName>ppt_y</p:attrName>
                                        </p:attrNameLst>
                                      </p:cBhvr>
                                      <p:rCtr x="0" y="1759"/>
                                    </p:animMotion>
                                  </p:childTnLst>
                                </p:cTn>
                              </p:par>
                              <p:par>
                                <p:cTn id="50" presetID="10"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500"/>
                                        <p:tgtEl>
                                          <p:spTgt spid="43"/>
                                        </p:tgtEl>
                                      </p:cBhvr>
                                    </p:animEffect>
                                  </p:childTnLst>
                                </p:cTn>
                              </p:par>
                              <p:par>
                                <p:cTn id="53" presetID="42" presetClass="path" presetSubtype="0" decel="100000" fill="hold" grpId="1" nodeType="withEffect">
                                  <p:stCondLst>
                                    <p:cond delay="0"/>
                                  </p:stCondLst>
                                  <p:childTnLst>
                                    <p:animMotion origin="layout" path="M 2.08333E-7 -2.96296E-6 L 2.08333E-7 0.03542 " pathEditMode="relative" rAng="0" ptsTypes="AA">
                                      <p:cBhvr>
                                        <p:cTn id="54" dur="700" spd="-100000" fill="hold"/>
                                        <p:tgtEl>
                                          <p:spTgt spid="43"/>
                                        </p:tgtEl>
                                        <p:attrNameLst>
                                          <p:attrName>ppt_x</p:attrName>
                                          <p:attrName>ppt_y</p:attrName>
                                        </p:attrNameLst>
                                      </p:cBhvr>
                                      <p:rCtr x="0" y="1759"/>
                                    </p:animMotion>
                                  </p:childTnLst>
                                </p:cTn>
                              </p:par>
                              <p:par>
                                <p:cTn id="55" presetID="10" presetClass="entr" presetSubtype="0" fill="hold" grpId="0" nodeType="with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fade">
                                      <p:cBhvr>
                                        <p:cTn id="57" dur="500"/>
                                        <p:tgtEl>
                                          <p:spTgt spid="45"/>
                                        </p:tgtEl>
                                      </p:cBhvr>
                                    </p:animEffect>
                                  </p:childTnLst>
                                </p:cTn>
                              </p:par>
                              <p:par>
                                <p:cTn id="58" presetID="42" presetClass="path" presetSubtype="0" decel="100000" fill="hold" grpId="1" nodeType="withEffect">
                                  <p:stCondLst>
                                    <p:cond delay="0"/>
                                  </p:stCondLst>
                                  <p:childTnLst>
                                    <p:animMotion origin="layout" path="M 2.08333E-7 -2.96296E-6 L 2.08333E-7 0.03542 " pathEditMode="relative" rAng="0" ptsTypes="AA">
                                      <p:cBhvr>
                                        <p:cTn id="59" dur="700" spd="-100000" fill="hold"/>
                                        <p:tgtEl>
                                          <p:spTgt spid="45"/>
                                        </p:tgtEl>
                                        <p:attrNameLst>
                                          <p:attrName>ppt_x</p:attrName>
                                          <p:attrName>ppt_y</p:attrName>
                                        </p:attrNameLst>
                                      </p:cBhvr>
                                      <p:rCtr x="0" y="1759"/>
                                    </p:animMotion>
                                  </p:childTnLst>
                                </p:cTn>
                              </p:par>
                              <p:par>
                                <p:cTn id="60" presetID="10" presetClass="entr" presetSubtype="0"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500"/>
                                        <p:tgtEl>
                                          <p:spTgt spid="2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fade">
                                      <p:cBhvr>
                                        <p:cTn id="65" dur="500"/>
                                        <p:tgtEl>
                                          <p:spTgt spid="28"/>
                                        </p:tgtEl>
                                      </p:cBhvr>
                                    </p:animEffect>
                                  </p:childTnLst>
                                </p:cTn>
                              </p:par>
                            </p:childTnLst>
                          </p:cTn>
                        </p:par>
                        <p:par>
                          <p:cTn id="66" fill="hold">
                            <p:stCondLst>
                              <p:cond delay="700"/>
                            </p:stCondLst>
                            <p:childTnLst>
                              <p:par>
                                <p:cTn id="67" presetID="10" presetClass="entr" presetSubtype="0" fill="hold" grpId="0" nodeType="afterEffect">
                                  <p:stCondLst>
                                    <p:cond delay="0"/>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500"/>
                                        <p:tgtEl>
                                          <p:spTgt spid="3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500"/>
                                        <p:tgtEl>
                                          <p:spTgt spid="3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animEffect transition="in" filter="fade">
                                      <p:cBhvr>
                                        <p:cTn id="75" dur="500"/>
                                        <p:tgtEl>
                                          <p:spTgt spid="4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5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animEffect transition="in" filter="fade">
                                      <p:cBhvr>
                                        <p:cTn id="81" dur="500"/>
                                        <p:tgtEl>
                                          <p:spTgt spid="4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5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par>
                                <p:cTn id="88" presetID="42" presetClass="path" presetSubtype="0" decel="100000" fill="hold" grpId="1" nodeType="withEffect">
                                  <p:stCondLst>
                                    <p:cond delay="0"/>
                                  </p:stCondLst>
                                  <p:childTnLst>
                                    <p:animMotion origin="layout" path="M 0 1.11111E-6 L 0 0.03542 " pathEditMode="relative" rAng="0" ptsTypes="AA">
                                      <p:cBhvr>
                                        <p:cTn id="89" dur="700" spd="-100000" fill="hold"/>
                                        <p:tgtEl>
                                          <p:spTgt spid="31"/>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1" grpId="0" animBg="1"/>
      <p:bldP spid="31" grpId="1" animBg="1"/>
      <p:bldP spid="26" grpId="0" animBg="1"/>
      <p:bldP spid="26" grpId="1" animBg="1"/>
      <p:bldP spid="27" grpId="0" animBg="1"/>
      <p:bldP spid="27" grpId="1" animBg="1"/>
      <p:bldP spid="32" grpId="0" animBg="1"/>
      <p:bldP spid="32" grpId="1" animBg="1"/>
      <p:bldP spid="33" grpId="0" animBg="1"/>
      <p:bldP spid="33" grpId="1" animBg="1"/>
      <p:bldP spid="34" grpId="0" animBg="1"/>
      <p:bldP spid="34" grpId="1" animBg="1"/>
      <p:bldP spid="36" grpId="0"/>
      <p:bldP spid="37" grpId="0" animBg="1"/>
      <p:bldP spid="37" grpId="1" animBg="1"/>
      <p:bldP spid="38" grpId="0"/>
      <p:bldP spid="39" grpId="0" animBg="1"/>
      <p:bldP spid="39" grpId="1" animBg="1"/>
      <p:bldP spid="40" grpId="0"/>
      <p:bldP spid="41" grpId="0" animBg="1"/>
      <p:bldP spid="41" grpId="1" animBg="1"/>
      <p:bldP spid="42" grpId="0"/>
      <p:bldP spid="43" grpId="0" animBg="1"/>
      <p:bldP spid="43" grpId="1" animBg="1"/>
      <p:bldP spid="44" grpId="0"/>
      <p:bldP spid="45" grpId="0" animBg="1"/>
      <p:bldP spid="45" grpId="1" animBg="1"/>
      <p:bldP spid="4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3A0EF-8AB0-76B4-17E9-A0F9D46B246C}"/>
            </a:ext>
          </a:extLst>
        </p:cNvPr>
        <p:cNvGrpSpPr/>
        <p:nvPr/>
      </p:nvGrpSpPr>
      <p:grpSpPr>
        <a:xfrm>
          <a:off x="0" y="0"/>
          <a:ext cx="0" cy="0"/>
          <a:chOff x="0" y="0"/>
          <a:chExt cx="0" cy="0"/>
        </a:xfrm>
      </p:grpSpPr>
      <p:pic>
        <p:nvPicPr>
          <p:cNvPr id="15" name="Picture 14" descr="A blurry image of a purple object&#10;&#10;AI-generated content may be incorrect.">
            <a:extLst>
              <a:ext uri="{FF2B5EF4-FFF2-40B4-BE49-F238E27FC236}">
                <a16:creationId xmlns:a16="http://schemas.microsoft.com/office/drawing/2014/main" id="{52A7F7F1-1F86-7CF5-DB1D-8D0DC9A7A18E}"/>
              </a:ext>
            </a:extLst>
          </p:cNvPr>
          <p:cNvPicPr>
            <a:picLocks noChangeAspect="1"/>
          </p:cNvPicPr>
          <p:nvPr/>
        </p:nvPicPr>
        <p:blipFill>
          <a:blip r:embed="rId4">
            <a:alphaModFix amt="50000"/>
          </a:blip>
          <a:srcRect l="25924"/>
          <a:stretch>
            <a:fillRect/>
          </a:stretch>
        </p:blipFill>
        <p:spPr>
          <a:xfrm flipV="1">
            <a:off x="0" y="0"/>
            <a:ext cx="12192000" cy="6858000"/>
          </a:xfrm>
          <a:prstGeom prst="rect">
            <a:avLst/>
          </a:prstGeom>
        </p:spPr>
      </p:pic>
      <p:sp>
        <p:nvSpPr>
          <p:cNvPr id="61" name="Rectangle 60">
            <a:extLst>
              <a:ext uri="{FF2B5EF4-FFF2-40B4-BE49-F238E27FC236}">
                <a16:creationId xmlns:a16="http://schemas.microsoft.com/office/drawing/2014/main" id="{FC39EBDD-9721-5048-B744-B77D230DA3C3}"/>
              </a:ext>
            </a:extLst>
          </p:cNvPr>
          <p:cNvSpPr/>
          <p:nvPr/>
        </p:nvSpPr>
        <p:spPr bwMode="auto">
          <a:xfrm>
            <a:off x="3871882" y="2211423"/>
            <a:ext cx="4458994" cy="3438525"/>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41" name="!!Rounded Rectangle 15">
            <a:extLst>
              <a:ext uri="{FF2B5EF4-FFF2-40B4-BE49-F238E27FC236}">
                <a16:creationId xmlns:a16="http://schemas.microsoft.com/office/drawing/2014/main" id="{C82CAF13-ACDA-44B2-852F-C2661800B905}"/>
              </a:ext>
              <a:ext uri="{C183D7F6-B498-43B3-948B-1728B52AA6E4}">
                <adec:decorative xmlns:adec="http://schemas.microsoft.com/office/drawing/2017/decorative" val="1"/>
              </a:ext>
            </a:extLst>
          </p:cNvPr>
          <p:cNvSpPr>
            <a:spLocks/>
          </p:cNvSpPr>
          <p:nvPr/>
        </p:nvSpPr>
        <p:spPr bwMode="auto">
          <a:xfrm>
            <a:off x="3869043" y="1473720"/>
            <a:ext cx="4461833" cy="4592805"/>
          </a:xfrm>
          <a:prstGeom prst="roundRect">
            <a:avLst>
              <a:gd name="adj" fmla="val 5667"/>
            </a:avLst>
          </a:prstGeom>
          <a:gradFill flip="none" rotWithShape="1">
            <a:gsLst>
              <a:gs pos="20000">
                <a:srgbClr val="702573">
                  <a:alpha val="8000"/>
                </a:srgbClr>
              </a:gs>
              <a:gs pos="80000">
                <a:srgbClr val="2A446F">
                  <a:alpha val="8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725" tIns="68580" rIns="85725" bIns="68580" numCol="1" spcCol="0" rtlCol="0" fromWordArt="0" anchor="ctr" anchorCtr="0" forceAA="0" compatLnSpc="1">
            <a:prstTxWarp prst="textNoShape">
              <a:avLst/>
            </a:prstTxWarp>
            <a:noAutofit/>
          </a:bodyPr>
          <a:lstStyle/>
          <a:p>
            <a:pPr marL="0" marR="0" lvl="0" indent="0" algn="ctr" defTabSz="437143"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50" normalizeH="0" baseline="0" noProof="0">
              <a:ln w="3175">
                <a:noFill/>
              </a:ln>
              <a:solidFill>
                <a:srgbClr val="000000"/>
              </a:solidFill>
              <a:effectLst/>
              <a:uLnTx/>
              <a:uFillTx/>
              <a:latin typeface="Segoe Sans Display Semibold" pitchFamily="2" charset="0"/>
              <a:ea typeface="+mn-ea"/>
              <a:cs typeface="Segoe Sans Display" pitchFamily="2" charset="0"/>
              <a:sym typeface="+mn-lt"/>
            </a:endParaRPr>
          </a:p>
        </p:txBody>
      </p:sp>
      <p:sp>
        <p:nvSpPr>
          <p:cNvPr id="2" name="Title 1">
            <a:extLst>
              <a:ext uri="{FF2B5EF4-FFF2-40B4-BE49-F238E27FC236}">
                <a16:creationId xmlns:a16="http://schemas.microsoft.com/office/drawing/2014/main" id="{07F0019E-B046-BB7B-C71D-C69CF81E3476}"/>
              </a:ext>
            </a:extLst>
          </p:cNvPr>
          <p:cNvSpPr>
            <a:spLocks noGrp="1"/>
          </p:cNvSpPr>
          <p:nvPr>
            <p:ph type="title"/>
          </p:nvPr>
        </p:nvSpPr>
        <p:spPr>
          <a:xfrm>
            <a:off x="588263" y="457200"/>
            <a:ext cx="11018520" cy="553998"/>
          </a:xfrm>
        </p:spPr>
        <p:txBody>
          <a:bodyPr/>
          <a:lstStyle/>
          <a:p>
            <a:pPr algn="ctr"/>
            <a:r>
              <a:rPr lang="en-US"/>
              <a:t>Change doesn’t have to slow innovation</a:t>
            </a:r>
          </a:p>
        </p:txBody>
      </p:sp>
      <p:sp>
        <p:nvSpPr>
          <p:cNvPr id="48" name="Title 1">
            <a:extLst>
              <a:ext uri="{FF2B5EF4-FFF2-40B4-BE49-F238E27FC236}">
                <a16:creationId xmlns:a16="http://schemas.microsoft.com/office/drawing/2014/main" id="{27C78726-BB76-0E07-C167-40ABE1C4B8A0}"/>
              </a:ext>
              <a:ext uri="{C183D7F6-B498-43B3-948B-1728B52AA6E4}">
                <adec:decorative xmlns:adec="http://schemas.microsoft.com/office/drawing/2017/decorative" val="0"/>
              </a:ext>
            </a:extLst>
          </p:cNvPr>
          <p:cNvSpPr txBox="1">
            <a:spLocks/>
          </p:cNvSpPr>
          <p:nvPr/>
        </p:nvSpPr>
        <p:spPr>
          <a:xfrm>
            <a:off x="4772720" y="1683674"/>
            <a:ext cx="2646558" cy="338554"/>
          </a:xfrm>
          <a:prstGeom prst="rect">
            <a:avLst/>
          </a:prstGeom>
          <a:noFill/>
          <a:ln>
            <a:noFill/>
            <a:prstDash/>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defTabSz="1930227" fontAlgn="base">
              <a:spcBef>
                <a:spcPct val="0"/>
              </a:spcBef>
              <a:spcAft>
                <a:spcPct val="0"/>
              </a:spcAft>
              <a:tabLst>
                <a:tab pos="1963747" algn="l"/>
              </a:tabLst>
              <a:defRPr sz="2400" b="1" spc="-50">
                <a:ln w="3175">
                  <a:noFill/>
                </a:ln>
                <a:latin typeface="Segoe Sans Display Semibold" pitchFamily="2" charset="0"/>
                <a:cs typeface="Segoe Sans Display" pitchFamily="2" charset="0"/>
              </a:defRPr>
            </a:lvl1pPr>
          </a:lstStyle>
          <a:p>
            <a:pPr marL="0" marR="0" lvl="0" indent="0" algn="ctr" defTabSz="1930227" rtl="0" eaLnBrk="1" fontAlgn="base" latinLnBrk="0" hangingPunct="1">
              <a:lnSpc>
                <a:spcPct val="100000"/>
              </a:lnSpc>
              <a:spcBef>
                <a:spcPct val="0"/>
              </a:spcBef>
              <a:spcAft>
                <a:spcPct val="0"/>
              </a:spcAft>
              <a:buClrTx/>
              <a:buSzTx/>
              <a:buFontTx/>
              <a:buNone/>
              <a:tabLst>
                <a:tab pos="1963747" algn="l"/>
              </a:tabLst>
              <a:defRPr/>
            </a:pPr>
            <a:r>
              <a:rPr kumimoji="0" lang="en-US" sz="2200" b="1" i="0" u="none" strike="noStrike" kern="1200" cap="none" spc="-50" normalizeH="0" baseline="0" noProof="0">
                <a:ln w="3175">
                  <a:noFill/>
                </a:ln>
                <a:solidFill>
                  <a:srgbClr val="000000"/>
                </a:solidFill>
                <a:effectLst/>
                <a:uLnTx/>
                <a:uFillTx/>
                <a:latin typeface="+mj-lt"/>
                <a:ea typeface="+mn-ea"/>
                <a:cs typeface="Segoe Sans Display" pitchFamily="2" charset="0"/>
              </a:rPr>
              <a:t>Change Management</a:t>
            </a:r>
          </a:p>
        </p:txBody>
      </p:sp>
      <p:sp>
        <p:nvSpPr>
          <p:cNvPr id="4" name="!!Rounded Rectangle 15" hidden="1">
            <a:extLst>
              <a:ext uri="{FF2B5EF4-FFF2-40B4-BE49-F238E27FC236}">
                <a16:creationId xmlns:a16="http://schemas.microsoft.com/office/drawing/2014/main" id="{5FA7E5FB-C5CC-26BB-72FC-E925DEB3BDCE}"/>
              </a:ext>
              <a:ext uri="{C183D7F6-B498-43B3-948B-1728B52AA6E4}">
                <adec:decorative xmlns:adec="http://schemas.microsoft.com/office/drawing/2017/decorative" val="1"/>
              </a:ext>
            </a:extLst>
          </p:cNvPr>
          <p:cNvSpPr>
            <a:spLocks/>
          </p:cNvSpPr>
          <p:nvPr/>
        </p:nvSpPr>
        <p:spPr bwMode="auto">
          <a:xfrm>
            <a:off x="594912" y="2743200"/>
            <a:ext cx="11002176" cy="3525838"/>
          </a:xfrm>
          <a:prstGeom prst="roundRect">
            <a:avLst>
              <a:gd name="adj" fmla="val 5667"/>
            </a:avLst>
          </a:prstGeom>
          <a:gradFill flip="none" rotWithShape="1">
            <a:gsLst>
              <a:gs pos="30000">
                <a:srgbClr val="702573">
                  <a:alpha val="10000"/>
                </a:srgbClr>
              </a:gs>
              <a:gs pos="0">
                <a:srgbClr val="73262F">
                  <a:alpha val="10000"/>
                </a:srgbClr>
              </a:gs>
              <a:gs pos="80000">
                <a:srgbClr val="2A446F">
                  <a:alpha val="1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725" tIns="68580" rIns="85725" bIns="68580" numCol="1" spcCol="0" rtlCol="0" fromWordArt="0" anchor="t" anchorCtr="0" forceAA="0" compatLnSpc="1">
            <a:prstTxWarp prst="textNoShape">
              <a:avLst/>
            </a:prstTxWarp>
            <a:noAutofit/>
          </a:bodyPr>
          <a:lstStyle/>
          <a:p>
            <a:pPr marL="0" marR="0" lvl="0" indent="0" algn="l" defTabSz="437143" rtl="0" eaLnBrk="1" fontAlgn="base" latinLnBrk="0" hangingPunct="1">
              <a:lnSpc>
                <a:spcPct val="100000"/>
              </a:lnSpc>
              <a:spcBef>
                <a:spcPct val="0"/>
              </a:spcBef>
              <a:spcAft>
                <a:spcPct val="0"/>
              </a:spcAft>
              <a:buClrTx/>
              <a:buSzTx/>
              <a:buFontTx/>
              <a:buNone/>
              <a:tabLst/>
              <a:defRPr/>
            </a:pPr>
            <a:endParaRPr kumimoji="0" lang="en-US" sz="1875" b="0" i="0" u="none" strike="noStrike" kern="1200" cap="none" spc="0" normalizeH="0" baseline="0" noProof="0">
              <a:ln>
                <a:noFill/>
              </a:ln>
              <a:solidFill>
                <a:srgbClr val="F4F3F5"/>
              </a:solidFill>
              <a:effectLst/>
              <a:uLnTx/>
              <a:uFillTx/>
              <a:latin typeface="Segoe Sans Display" pitchFamily="2" charset="0"/>
              <a:ea typeface="+mn-ea"/>
              <a:cs typeface="Segoe Sans Display" pitchFamily="2" charset="0"/>
              <a:sym typeface="+mn-lt"/>
            </a:endParaRPr>
          </a:p>
        </p:txBody>
      </p:sp>
      <p:sp>
        <p:nvSpPr>
          <p:cNvPr id="22" name="Rectangle: Rounded Corners 50">
            <a:extLst>
              <a:ext uri="{FF2B5EF4-FFF2-40B4-BE49-F238E27FC236}">
                <a16:creationId xmlns:a16="http://schemas.microsoft.com/office/drawing/2014/main" id="{B8BF4E22-ADD2-B4A8-61FC-2D5ED6CAEFB1}"/>
              </a:ext>
            </a:extLst>
          </p:cNvPr>
          <p:cNvSpPr/>
          <p:nvPr/>
        </p:nvSpPr>
        <p:spPr bwMode="auto">
          <a:xfrm>
            <a:off x="4109057" y="2431321"/>
            <a:ext cx="1274522" cy="336351"/>
          </a:xfrm>
          <a:prstGeom prst="roundRect">
            <a:avLst>
              <a:gd name="adj" fmla="val 50000"/>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45720" tIns="18000" rIns="45720" bIns="36000"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Ownership</a:t>
            </a:r>
          </a:p>
        </p:txBody>
      </p:sp>
      <p:sp>
        <p:nvSpPr>
          <p:cNvPr id="52" name="TextBox 51">
            <a:extLst>
              <a:ext uri="{FF2B5EF4-FFF2-40B4-BE49-F238E27FC236}">
                <a16:creationId xmlns:a16="http://schemas.microsoft.com/office/drawing/2014/main" id="{06D42C8A-6104-D1A1-BF82-6DA8823661EB}"/>
              </a:ext>
            </a:extLst>
          </p:cNvPr>
          <p:cNvSpPr txBox="1"/>
          <p:nvPr/>
        </p:nvSpPr>
        <p:spPr>
          <a:xfrm>
            <a:off x="5591175" y="2414830"/>
            <a:ext cx="2570284" cy="369332"/>
          </a:xfrm>
          <a:prstGeom prst="rect">
            <a:avLst/>
          </a:prstGeom>
          <a:noFill/>
        </p:spPr>
        <p:txBody>
          <a:bodyPr wrap="square" lIns="0" tIns="0" rIns="0" bIns="0" rtlCol="0" anchor="ctr">
            <a:spAutoFit/>
          </a:bodyPr>
          <a:lstStyle/>
          <a:p>
            <a:r>
              <a:rPr lang="en-US" sz="1200"/>
              <a:t>Who can introduce which changes, where, and with what accountability.</a:t>
            </a:r>
          </a:p>
        </p:txBody>
      </p:sp>
      <p:sp>
        <p:nvSpPr>
          <p:cNvPr id="62" name="Rectangle: Rounded Corners 61">
            <a:extLst>
              <a:ext uri="{FF2B5EF4-FFF2-40B4-BE49-F238E27FC236}">
                <a16:creationId xmlns:a16="http://schemas.microsoft.com/office/drawing/2014/main" id="{122D08CD-864C-8F97-5C18-AD0842137B0E}"/>
              </a:ext>
            </a:extLst>
          </p:cNvPr>
          <p:cNvSpPr/>
          <p:nvPr/>
        </p:nvSpPr>
        <p:spPr bwMode="auto">
          <a:xfrm>
            <a:off x="3870462" y="1473720"/>
            <a:ext cx="4458994" cy="4592805"/>
          </a:xfrm>
          <a:prstGeom prst="roundRect">
            <a:avLst>
              <a:gd name="adj" fmla="val 5359"/>
            </a:avLst>
          </a:prstGeom>
          <a:noFill/>
          <a:ln w="22225">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solidFill>
                <a:schemeClr val="accent1"/>
              </a:solidFill>
              <a:latin typeface="+mj-lt"/>
            </a:endParaRPr>
          </a:p>
        </p:txBody>
      </p:sp>
      <p:sp>
        <p:nvSpPr>
          <p:cNvPr id="21" name="Rectangle: Rounded Corners 146">
            <a:extLst>
              <a:ext uri="{FF2B5EF4-FFF2-40B4-BE49-F238E27FC236}">
                <a16:creationId xmlns:a16="http://schemas.microsoft.com/office/drawing/2014/main" id="{81F8CCF5-313A-A306-BBFF-461D3EE033AE}"/>
              </a:ext>
              <a:ext uri="{C183D7F6-B498-43B3-948B-1728B52AA6E4}">
                <adec:decorative xmlns:adec="http://schemas.microsoft.com/office/drawing/2017/decorative" val="0"/>
              </a:ext>
            </a:extLst>
          </p:cNvPr>
          <p:cNvSpPr/>
          <p:nvPr/>
        </p:nvSpPr>
        <p:spPr bwMode="auto">
          <a:xfrm>
            <a:off x="5491065" y="5862485"/>
            <a:ext cx="1209865" cy="400509"/>
          </a:xfrm>
          <a:prstGeom prst="roundRect">
            <a:avLst>
              <a:gd name="adj" fmla="val 37388"/>
            </a:avLst>
          </a:prstGeom>
          <a:gradFill flip="none" rotWithShape="1">
            <a:gsLst>
              <a:gs pos="15000">
                <a:srgbClr val="01A3FD"/>
              </a:gs>
              <a:gs pos="81000">
                <a:srgbClr val="D661FD"/>
              </a:gs>
            </a:gsLst>
            <a:lin ang="2700000" scaled="1"/>
            <a:tileRect/>
          </a:gradFill>
          <a:ln w="10795" cap="flat" cmpd="sng" algn="ctr">
            <a:noFill/>
            <a:prstDash val="solid"/>
          </a:ln>
          <a:effectLst/>
        </p:spPr>
        <p:txBody>
          <a:bodyPr anchor="ct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algn="ctr"/>
            <a:r>
              <a:rPr lang="en-US" sz="1600">
                <a:solidFill>
                  <a:schemeClr val="bg1"/>
                </a:solidFill>
                <a:latin typeface="+mj-lt"/>
              </a:rPr>
              <a:t>Stabilize</a:t>
            </a:r>
          </a:p>
        </p:txBody>
      </p:sp>
      <p:sp>
        <p:nvSpPr>
          <p:cNvPr id="13" name="!!Rounded Rectangle 15">
            <a:extLst>
              <a:ext uri="{FF2B5EF4-FFF2-40B4-BE49-F238E27FC236}">
                <a16:creationId xmlns:a16="http://schemas.microsoft.com/office/drawing/2014/main" id="{587F7CDC-F6A0-0B56-8D26-7FD55BF16DBA}"/>
              </a:ext>
              <a:ext uri="{C183D7F6-B498-43B3-948B-1728B52AA6E4}">
                <adec:decorative xmlns:adec="http://schemas.microsoft.com/office/drawing/2017/decorative" val="1"/>
              </a:ext>
            </a:extLst>
          </p:cNvPr>
          <p:cNvSpPr>
            <a:spLocks/>
          </p:cNvSpPr>
          <p:nvPr/>
        </p:nvSpPr>
        <p:spPr bwMode="auto">
          <a:xfrm>
            <a:off x="8538472" y="2237357"/>
            <a:ext cx="3106230" cy="3197410"/>
          </a:xfrm>
          <a:prstGeom prst="roundRect">
            <a:avLst>
              <a:gd name="adj" fmla="val 5667"/>
            </a:avLst>
          </a:prstGeom>
          <a:solidFill>
            <a:schemeClr val="bg1">
              <a:alpha val="42000"/>
            </a:schemeClr>
          </a:solidFill>
          <a:ln w="3175">
            <a:solidFill>
              <a:srgbClr val="F2F2F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chemeClr val="bg1"/>
              </a:solidFill>
              <a:latin typeface="+mj-lt"/>
              <a:cs typeface="Segoe UI" pitchFamily="34" charset="0"/>
              <a:sym typeface="+mn-lt"/>
            </a:endParaRPr>
          </a:p>
        </p:txBody>
      </p:sp>
      <p:sp>
        <p:nvSpPr>
          <p:cNvPr id="51" name="Title 1">
            <a:extLst>
              <a:ext uri="{FF2B5EF4-FFF2-40B4-BE49-F238E27FC236}">
                <a16:creationId xmlns:a16="http://schemas.microsoft.com/office/drawing/2014/main" id="{4E954A8C-C20B-C395-62E5-C2D553F64555}"/>
              </a:ext>
              <a:ext uri="{C183D7F6-B498-43B3-948B-1728B52AA6E4}">
                <adec:decorative xmlns:adec="http://schemas.microsoft.com/office/drawing/2017/decorative" val="0"/>
              </a:ext>
            </a:extLst>
          </p:cNvPr>
          <p:cNvSpPr txBox="1">
            <a:spLocks/>
          </p:cNvSpPr>
          <p:nvPr/>
        </p:nvSpPr>
        <p:spPr>
          <a:xfrm>
            <a:off x="9328333" y="2452998"/>
            <a:ext cx="1526508" cy="307777"/>
          </a:xfrm>
          <a:prstGeom prst="rect">
            <a:avLst/>
          </a:prstGeom>
          <a:noFill/>
          <a:ln>
            <a:noFill/>
            <a:prstDash/>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defTabSz="1930227" fontAlgn="base">
              <a:spcBef>
                <a:spcPct val="0"/>
              </a:spcBef>
              <a:spcAft>
                <a:spcPct val="0"/>
              </a:spcAft>
              <a:tabLst>
                <a:tab pos="1963747" algn="l"/>
              </a:tabLst>
              <a:defRPr sz="2400" b="1" spc="-50">
                <a:ln w="3175">
                  <a:noFill/>
                </a:ln>
                <a:latin typeface="Segoe Sans Display Semibold" pitchFamily="2" charset="0"/>
                <a:cs typeface="Segoe Sans Display" pitchFamily="2" charset="0"/>
              </a:defRPr>
            </a:lvl1pPr>
          </a:lstStyle>
          <a:p>
            <a:pPr marL="0" marR="0" lvl="0" indent="0" algn="ctr" defTabSz="1930227" rtl="0" eaLnBrk="1" fontAlgn="base" latinLnBrk="0" hangingPunct="1">
              <a:lnSpc>
                <a:spcPct val="100000"/>
              </a:lnSpc>
              <a:spcBef>
                <a:spcPct val="0"/>
              </a:spcBef>
              <a:spcAft>
                <a:spcPct val="0"/>
              </a:spcAft>
              <a:buClrTx/>
              <a:buSzTx/>
              <a:buFontTx/>
              <a:buNone/>
              <a:tabLst>
                <a:tab pos="1963747" algn="l"/>
              </a:tabLst>
              <a:defRPr/>
            </a:pPr>
            <a:r>
              <a:rPr kumimoji="0" lang="en-US" sz="2000" b="1" i="0" u="none" strike="noStrike" kern="1200" cap="none" spc="-50" normalizeH="0" baseline="0" noProof="0">
                <a:ln w="3175">
                  <a:noFill/>
                </a:ln>
                <a:solidFill>
                  <a:srgbClr val="000000"/>
                </a:solidFill>
                <a:effectLst/>
                <a:uLnTx/>
                <a:uFillTx/>
                <a:latin typeface="+mj-lt"/>
                <a:ea typeface="+mn-ea"/>
                <a:cs typeface="Segoe Sans Display" pitchFamily="2" charset="0"/>
              </a:rPr>
              <a:t>Inconsistency</a:t>
            </a:r>
            <a:endParaRPr kumimoji="0" lang="en-US" sz="2400" b="1" i="0" u="none" strike="noStrike" kern="1200" cap="none" spc="-50" normalizeH="0" baseline="0" noProof="0">
              <a:ln w="3175">
                <a:noFill/>
              </a:ln>
              <a:solidFill>
                <a:srgbClr val="000000"/>
              </a:solidFill>
              <a:effectLst/>
              <a:uLnTx/>
              <a:uFillTx/>
              <a:latin typeface="+mj-lt"/>
              <a:ea typeface="+mn-ea"/>
              <a:cs typeface="Segoe Sans Display" pitchFamily="2" charset="0"/>
            </a:endParaRPr>
          </a:p>
        </p:txBody>
      </p:sp>
      <p:sp>
        <p:nvSpPr>
          <p:cNvPr id="39" name="Rectangle: Rounded Corners 50">
            <a:extLst>
              <a:ext uri="{FF2B5EF4-FFF2-40B4-BE49-F238E27FC236}">
                <a16:creationId xmlns:a16="http://schemas.microsoft.com/office/drawing/2014/main" id="{ED19B276-75AD-E201-7370-44C259A9DFD6}"/>
              </a:ext>
            </a:extLst>
          </p:cNvPr>
          <p:cNvSpPr/>
          <p:nvPr/>
        </p:nvSpPr>
        <p:spPr bwMode="auto">
          <a:xfrm>
            <a:off x="8725256" y="3029654"/>
            <a:ext cx="1806399" cy="336351"/>
          </a:xfrm>
          <a:prstGeom prst="roundRect">
            <a:avLst>
              <a:gd name="adj" fmla="val 50000"/>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none" lIns="90000" tIns="18000" rIns="90000" bIns="36000"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ea typeface="+mn-ea"/>
                <a:cs typeface="Segoe Sans Display" pitchFamily="2" charset="0"/>
              </a:rPr>
              <a:t>Inconsistent</a:t>
            </a:r>
            <a:r>
              <a:rPr kumimoji="0" lang="en-US" sz="1200" b="0" i="0" u="none" strike="noStrike" kern="1200" cap="none" spc="0" normalizeH="0" noProof="0">
                <a:ln>
                  <a:noFill/>
                </a:ln>
                <a:solidFill>
                  <a:srgbClr val="000000"/>
                </a:solidFill>
                <a:effectLst/>
                <a:uLnTx/>
                <a:uFillTx/>
                <a:ea typeface="+mn-ea"/>
                <a:cs typeface="Segoe Sans Display" pitchFamily="2" charset="0"/>
              </a:rPr>
              <a:t> practices</a:t>
            </a:r>
            <a:endParaRPr kumimoji="0" lang="en-US" sz="1200" b="0" i="0" u="none" strike="noStrike" kern="1200" cap="none" spc="0" normalizeH="0" baseline="0" noProof="0">
              <a:ln>
                <a:noFill/>
              </a:ln>
              <a:solidFill>
                <a:srgbClr val="000000"/>
              </a:solidFill>
              <a:effectLst/>
              <a:uLnTx/>
              <a:uFillTx/>
              <a:ea typeface="+mn-ea"/>
              <a:cs typeface="Segoe Sans Display" pitchFamily="2" charset="0"/>
            </a:endParaRPr>
          </a:p>
        </p:txBody>
      </p:sp>
      <p:sp>
        <p:nvSpPr>
          <p:cNvPr id="40" name="Rectangle: Rounded Corners 51">
            <a:extLst>
              <a:ext uri="{FF2B5EF4-FFF2-40B4-BE49-F238E27FC236}">
                <a16:creationId xmlns:a16="http://schemas.microsoft.com/office/drawing/2014/main" id="{B8CC95A8-BA03-EE9C-4AD5-C55895BB0771}"/>
              </a:ext>
            </a:extLst>
          </p:cNvPr>
          <p:cNvSpPr/>
          <p:nvPr/>
        </p:nvSpPr>
        <p:spPr bwMode="auto">
          <a:xfrm>
            <a:off x="9416543" y="3576136"/>
            <a:ext cx="2050813" cy="336351"/>
          </a:xfrm>
          <a:prstGeom prst="roundRect">
            <a:avLst>
              <a:gd name="adj" fmla="val 50000"/>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none" lIns="90000" tIns="18000" rIns="90000" bIns="36000"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ea typeface="+mn-ea"/>
                <a:cs typeface="Segoe Sans Display" pitchFamily="2" charset="0"/>
              </a:rPr>
              <a:t>Unmanaged</a:t>
            </a:r>
            <a:r>
              <a:rPr kumimoji="0" lang="en-US" sz="1200" b="0" i="0" u="none" strike="noStrike" kern="1200" cap="none" spc="0" normalizeH="0" noProof="0">
                <a:ln>
                  <a:noFill/>
                </a:ln>
                <a:solidFill>
                  <a:srgbClr val="000000"/>
                </a:solidFill>
                <a:effectLst/>
                <a:uLnTx/>
                <a:uFillTx/>
                <a:ea typeface="+mn-ea"/>
                <a:cs typeface="Segoe Sans Display" pitchFamily="2" charset="0"/>
              </a:rPr>
              <a:t> agent</a:t>
            </a:r>
            <a:r>
              <a:rPr kumimoji="0" lang="en-US" sz="1200" b="0" i="0" u="none" strike="noStrike" kern="1200" cap="none" spc="0" normalizeH="0" baseline="0" noProof="0">
                <a:ln>
                  <a:noFill/>
                </a:ln>
                <a:solidFill>
                  <a:srgbClr val="000000"/>
                </a:solidFill>
                <a:effectLst/>
                <a:uLnTx/>
                <a:uFillTx/>
                <a:ea typeface="+mn-ea"/>
                <a:cs typeface="Segoe Sans Display" pitchFamily="2" charset="0"/>
              </a:rPr>
              <a:t> sprawl</a:t>
            </a:r>
          </a:p>
        </p:txBody>
      </p:sp>
      <p:sp>
        <p:nvSpPr>
          <p:cNvPr id="7" name="Rectangle: Rounded Corners 50">
            <a:extLst>
              <a:ext uri="{FF2B5EF4-FFF2-40B4-BE49-F238E27FC236}">
                <a16:creationId xmlns:a16="http://schemas.microsoft.com/office/drawing/2014/main" id="{8273204D-C3A9-66EC-4E73-7A81A09BB7C2}"/>
              </a:ext>
            </a:extLst>
          </p:cNvPr>
          <p:cNvSpPr/>
          <p:nvPr/>
        </p:nvSpPr>
        <p:spPr bwMode="auto">
          <a:xfrm>
            <a:off x="8729402" y="4147967"/>
            <a:ext cx="1567846" cy="336351"/>
          </a:xfrm>
          <a:prstGeom prst="roundRect">
            <a:avLst>
              <a:gd name="adj" fmla="val 50000"/>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none" lIns="90000" tIns="18000" rIns="90000" bIns="36000"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ea typeface="+mn-ea"/>
                <a:cs typeface="Segoe Sans Display" pitchFamily="2" charset="0"/>
              </a:rPr>
              <a:t>Unclear ownership</a:t>
            </a:r>
          </a:p>
        </p:txBody>
      </p:sp>
      <p:sp>
        <p:nvSpPr>
          <p:cNvPr id="8" name="Rectangle: Rounded Corners 50">
            <a:extLst>
              <a:ext uri="{FF2B5EF4-FFF2-40B4-BE49-F238E27FC236}">
                <a16:creationId xmlns:a16="http://schemas.microsoft.com/office/drawing/2014/main" id="{64649A85-68FB-4364-2217-1AEF6A478C73}"/>
              </a:ext>
            </a:extLst>
          </p:cNvPr>
          <p:cNvSpPr/>
          <p:nvPr/>
        </p:nvSpPr>
        <p:spPr bwMode="auto">
          <a:xfrm>
            <a:off x="9508466" y="4719922"/>
            <a:ext cx="1962755" cy="336351"/>
          </a:xfrm>
          <a:prstGeom prst="roundRect">
            <a:avLst>
              <a:gd name="adj" fmla="val 50000"/>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none" lIns="90000" tIns="18000" rIns="90000" bIns="36000"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ea typeface="+mn-ea"/>
                <a:cs typeface="Segoe Sans Display" pitchFamily="2" charset="0"/>
              </a:rPr>
              <a:t>Change without context</a:t>
            </a:r>
          </a:p>
        </p:txBody>
      </p:sp>
      <p:sp>
        <p:nvSpPr>
          <p:cNvPr id="12" name="Rectangle: Rounded Corners 146">
            <a:extLst>
              <a:ext uri="{FF2B5EF4-FFF2-40B4-BE49-F238E27FC236}">
                <a16:creationId xmlns:a16="http://schemas.microsoft.com/office/drawing/2014/main" id="{40337E47-0148-82CC-E305-F8F436CCE047}"/>
              </a:ext>
              <a:ext uri="{C183D7F6-B498-43B3-948B-1728B52AA6E4}">
                <adec:decorative xmlns:adec="http://schemas.microsoft.com/office/drawing/2017/decorative" val="0"/>
              </a:ext>
            </a:extLst>
          </p:cNvPr>
          <p:cNvSpPr/>
          <p:nvPr/>
        </p:nvSpPr>
        <p:spPr bwMode="auto">
          <a:xfrm>
            <a:off x="9486654" y="5223505"/>
            <a:ext cx="1209865" cy="400509"/>
          </a:xfrm>
          <a:prstGeom prst="roundRect">
            <a:avLst>
              <a:gd name="adj" fmla="val 27930"/>
            </a:avLst>
          </a:prstGeom>
          <a:solidFill>
            <a:schemeClr val="accent2"/>
          </a:solidFill>
          <a:ln w="25400" cap="flat">
            <a:noFill/>
            <a:round/>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717626"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4F3F5"/>
                </a:solidFill>
                <a:effectLst/>
                <a:uLnTx/>
                <a:uFillTx/>
                <a:latin typeface="+mj-lt"/>
                <a:ea typeface="+mn-ea"/>
                <a:cs typeface="+mn-cs"/>
              </a:rPr>
              <a:t>Risk</a:t>
            </a:r>
          </a:p>
        </p:txBody>
      </p:sp>
      <p:sp>
        <p:nvSpPr>
          <p:cNvPr id="26" name="!!Rounded Rectangle 15">
            <a:extLst>
              <a:ext uri="{FF2B5EF4-FFF2-40B4-BE49-F238E27FC236}">
                <a16:creationId xmlns:a16="http://schemas.microsoft.com/office/drawing/2014/main" id="{A88CB5F3-3A42-3A63-34A7-F749A8D6F3E7}"/>
              </a:ext>
              <a:ext uri="{C183D7F6-B498-43B3-948B-1728B52AA6E4}">
                <adec:decorative xmlns:adec="http://schemas.microsoft.com/office/drawing/2017/decorative" val="1"/>
              </a:ext>
            </a:extLst>
          </p:cNvPr>
          <p:cNvSpPr>
            <a:spLocks/>
          </p:cNvSpPr>
          <p:nvPr/>
        </p:nvSpPr>
        <p:spPr bwMode="auto">
          <a:xfrm>
            <a:off x="585685" y="2246123"/>
            <a:ext cx="3106230" cy="3197410"/>
          </a:xfrm>
          <a:prstGeom prst="roundRect">
            <a:avLst>
              <a:gd name="adj" fmla="val 5667"/>
            </a:avLst>
          </a:prstGeom>
          <a:solidFill>
            <a:schemeClr val="bg1">
              <a:alpha val="42000"/>
            </a:schemeClr>
          </a:solidFill>
          <a:ln w="3175">
            <a:solidFill>
              <a:srgbClr val="F2F2F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chemeClr val="bg1"/>
              </a:solidFill>
              <a:latin typeface="+mj-lt"/>
              <a:cs typeface="Segoe UI" pitchFamily="34" charset="0"/>
              <a:sym typeface="+mn-lt"/>
            </a:endParaRPr>
          </a:p>
        </p:txBody>
      </p:sp>
      <p:sp>
        <p:nvSpPr>
          <p:cNvPr id="45" name="Title 1">
            <a:extLst>
              <a:ext uri="{FF2B5EF4-FFF2-40B4-BE49-F238E27FC236}">
                <a16:creationId xmlns:a16="http://schemas.microsoft.com/office/drawing/2014/main" id="{159C4BE9-3B90-C206-F5E7-9AE789E339D1}"/>
              </a:ext>
              <a:ext uri="{C183D7F6-B498-43B3-948B-1728B52AA6E4}">
                <adec:decorative xmlns:adec="http://schemas.microsoft.com/office/drawing/2017/decorative" val="0"/>
              </a:ext>
            </a:extLst>
          </p:cNvPr>
          <p:cNvSpPr txBox="1">
            <a:spLocks/>
          </p:cNvSpPr>
          <p:nvPr/>
        </p:nvSpPr>
        <p:spPr>
          <a:xfrm>
            <a:off x="1685436" y="2452998"/>
            <a:ext cx="906723" cy="307777"/>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algn="ctr" defTabSz="2413689" fontAlgn="base">
              <a:spcBef>
                <a:spcPct val="0"/>
              </a:spcBef>
              <a:spcAft>
                <a:spcPct val="0"/>
              </a:spcAft>
              <a:tabLst>
                <a:tab pos="2455604" algn="l"/>
              </a:tabLst>
              <a:defRPr sz="4400" spc="-50">
                <a:ln w="3175">
                  <a:noFill/>
                </a:ln>
                <a:gradFill>
                  <a:gsLst>
                    <a:gs pos="32110">
                      <a:srgbClr val="000000"/>
                    </a:gs>
                    <a:gs pos="56000">
                      <a:srgbClr val="000000"/>
                    </a:gs>
                  </a:gsLst>
                  <a:path path="circle">
                    <a:fillToRect l="100000" t="100000"/>
                  </a:path>
                </a:gradFill>
                <a:latin typeface="Segoe UI Variable Display Semib" pitchFamily="2" charset="0"/>
                <a:cs typeface="Segoe Sans Display Semibold" pitchFamily="2" charset="0"/>
              </a:defRPr>
            </a:lvl1pPr>
          </a:lstStyle>
          <a:p>
            <a:pPr marL="0" marR="0" lvl="0" indent="0" algn="ctr" defTabSz="1930227" rtl="0" eaLnBrk="1" fontAlgn="base" latinLnBrk="0" hangingPunct="1">
              <a:lnSpc>
                <a:spcPct val="100000"/>
              </a:lnSpc>
              <a:spcBef>
                <a:spcPct val="0"/>
              </a:spcBef>
              <a:spcAft>
                <a:spcPct val="0"/>
              </a:spcAft>
              <a:buClrTx/>
              <a:buSzTx/>
              <a:buFontTx/>
              <a:buNone/>
              <a:tabLst>
                <a:tab pos="1963747" algn="l"/>
              </a:tabLst>
              <a:defRPr/>
            </a:pPr>
            <a:r>
              <a:rPr kumimoji="0" lang="en-US" sz="2000" b="1" i="0" u="none" strike="noStrike" kern="1200" cap="none" spc="-50" normalizeH="0" baseline="0" noProof="0">
                <a:ln w="3175">
                  <a:noFill/>
                </a:ln>
                <a:solidFill>
                  <a:srgbClr val="000000"/>
                </a:solidFill>
                <a:effectLst/>
                <a:uLnTx/>
                <a:uFillTx/>
                <a:latin typeface="+mj-lt"/>
                <a:ea typeface="+mn-ea"/>
                <a:cs typeface="Segoe Sans Display" pitchFamily="2" charset="0"/>
              </a:rPr>
              <a:t>Change</a:t>
            </a:r>
            <a:endParaRPr kumimoji="0" lang="en-US" sz="1800" b="1" i="0" u="none" strike="noStrike" kern="1200" cap="none" spc="-50" normalizeH="0" baseline="0" noProof="0">
              <a:ln w="3175">
                <a:noFill/>
              </a:ln>
              <a:solidFill>
                <a:srgbClr val="000000"/>
              </a:solidFill>
              <a:effectLst/>
              <a:uLnTx/>
              <a:uFillTx/>
              <a:latin typeface="+mj-lt"/>
              <a:ea typeface="+mn-ea"/>
              <a:cs typeface="Segoe Sans Display" pitchFamily="2" charset="0"/>
            </a:endParaRPr>
          </a:p>
        </p:txBody>
      </p:sp>
      <p:sp>
        <p:nvSpPr>
          <p:cNvPr id="20" name="Rectangle: Rounded Corners 53">
            <a:extLst>
              <a:ext uri="{FF2B5EF4-FFF2-40B4-BE49-F238E27FC236}">
                <a16:creationId xmlns:a16="http://schemas.microsoft.com/office/drawing/2014/main" id="{643F2ACC-8AD8-8F65-0DD6-486097F8704C}"/>
              </a:ext>
            </a:extLst>
          </p:cNvPr>
          <p:cNvSpPr/>
          <p:nvPr/>
        </p:nvSpPr>
        <p:spPr bwMode="auto">
          <a:xfrm>
            <a:off x="817117" y="3003490"/>
            <a:ext cx="2169503" cy="336351"/>
          </a:xfrm>
          <a:prstGeom prst="roundRect">
            <a:avLst>
              <a:gd name="adj" fmla="val 83992"/>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90000" tIns="18000" rIns="90000" bIns="36000" numCol="1" spcCol="0" rtlCol="0" fromWordArt="0" anchor="ctr" anchorCtr="0" forceAA="0" compatLnSpc="1">
            <a:prstTxWarp prst="textNoShape">
              <a:avLst/>
            </a:prstTxWarp>
            <a:spAutoFit/>
          </a:bodyPr>
          <a:lstStyle/>
          <a:p>
            <a:pPr lvl="0" algn="ctr" fontAlgn="base">
              <a:spcBef>
                <a:spcPct val="0"/>
              </a:spcBef>
              <a:spcAft>
                <a:spcPct val="0"/>
              </a:spcAft>
              <a:defRPr/>
            </a:pPr>
            <a:r>
              <a:rPr lang="en-US" sz="1200">
                <a:solidFill>
                  <a:srgbClr val="000000"/>
                </a:solidFill>
                <a:cs typeface="Segoe Sans Display" pitchFamily="2" charset="0"/>
              </a:rPr>
              <a:t>Rapid creation of agents</a:t>
            </a:r>
            <a:endParaRPr kumimoji="0" lang="en-US" sz="1200" b="0" i="0" u="none" strike="noStrike" kern="1200" cap="none" spc="0" normalizeH="0" baseline="0" noProof="0">
              <a:ln>
                <a:noFill/>
              </a:ln>
              <a:solidFill>
                <a:srgbClr val="000000"/>
              </a:solidFill>
              <a:effectLst/>
              <a:uLnTx/>
              <a:uFillTx/>
              <a:cs typeface="Segoe Sans Display" pitchFamily="2" charset="0"/>
            </a:endParaRPr>
          </a:p>
        </p:txBody>
      </p:sp>
      <p:sp>
        <p:nvSpPr>
          <p:cNvPr id="25" name="Rectangle: Rounded Corners 43">
            <a:extLst>
              <a:ext uri="{FF2B5EF4-FFF2-40B4-BE49-F238E27FC236}">
                <a16:creationId xmlns:a16="http://schemas.microsoft.com/office/drawing/2014/main" id="{8879C7D8-63F5-06B8-BB90-A8426C07337C}"/>
              </a:ext>
            </a:extLst>
          </p:cNvPr>
          <p:cNvSpPr/>
          <p:nvPr/>
        </p:nvSpPr>
        <p:spPr bwMode="auto">
          <a:xfrm>
            <a:off x="1331025" y="3580684"/>
            <a:ext cx="2169502" cy="336351"/>
          </a:xfrm>
          <a:prstGeom prst="roundRect">
            <a:avLst>
              <a:gd name="adj" fmla="val 83992"/>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90000" tIns="18000" rIns="90000" bIns="36000"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a:solidFill>
                  <a:srgbClr val="000000"/>
                </a:solidFill>
                <a:cs typeface="Segoe Sans Display" pitchFamily="2" charset="0"/>
              </a:rPr>
              <a:t>Microsoft service updates</a:t>
            </a:r>
            <a:endParaRPr kumimoji="0" lang="en-US" sz="1200" b="0" i="0" u="none" strike="noStrike" kern="1200" cap="none" spc="0" normalizeH="0" baseline="0" noProof="0">
              <a:ln>
                <a:noFill/>
              </a:ln>
              <a:solidFill>
                <a:srgbClr val="000000"/>
              </a:solidFill>
              <a:effectLst/>
              <a:uLnTx/>
              <a:uFillTx/>
              <a:cs typeface="Segoe Sans Display" pitchFamily="2" charset="0"/>
            </a:endParaRPr>
          </a:p>
        </p:txBody>
      </p:sp>
      <p:sp>
        <p:nvSpPr>
          <p:cNvPr id="18" name="Rectangle: Rounded Corners 42">
            <a:extLst>
              <a:ext uri="{FF2B5EF4-FFF2-40B4-BE49-F238E27FC236}">
                <a16:creationId xmlns:a16="http://schemas.microsoft.com/office/drawing/2014/main" id="{454A0180-756E-851B-776C-E3D27C5C3C74}"/>
              </a:ext>
            </a:extLst>
          </p:cNvPr>
          <p:cNvSpPr/>
          <p:nvPr/>
        </p:nvSpPr>
        <p:spPr bwMode="auto">
          <a:xfrm>
            <a:off x="817117" y="4152638"/>
            <a:ext cx="1946756" cy="336351"/>
          </a:xfrm>
          <a:prstGeom prst="roundRect">
            <a:avLst>
              <a:gd name="adj" fmla="val 50000"/>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90000" tIns="18000" rIns="90000" bIns="36000"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ea typeface="+mn-ea"/>
                <a:cs typeface="Segoe Sans Display" pitchFamily="2" charset="0"/>
              </a:rPr>
              <a:t>Daily maker iterations</a:t>
            </a:r>
          </a:p>
        </p:txBody>
      </p:sp>
      <p:sp>
        <p:nvSpPr>
          <p:cNvPr id="6" name="Rectangle: Rounded Corners 43">
            <a:extLst>
              <a:ext uri="{FF2B5EF4-FFF2-40B4-BE49-F238E27FC236}">
                <a16:creationId xmlns:a16="http://schemas.microsoft.com/office/drawing/2014/main" id="{329CA136-A772-058A-D49F-578895375BA7}"/>
              </a:ext>
            </a:extLst>
          </p:cNvPr>
          <p:cNvSpPr/>
          <p:nvPr/>
        </p:nvSpPr>
        <p:spPr bwMode="auto">
          <a:xfrm>
            <a:off x="1331025" y="4724592"/>
            <a:ext cx="2185292" cy="336351"/>
          </a:xfrm>
          <a:prstGeom prst="roundRect">
            <a:avLst>
              <a:gd name="adj" fmla="val 83992"/>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90000" tIns="18000" rIns="90000" bIns="36000"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200">
                <a:solidFill>
                  <a:srgbClr val="000000"/>
                </a:solidFill>
                <a:cs typeface="Segoe Sans Display" pitchFamily="2" charset="0"/>
              </a:rPr>
              <a:t>Feedback-driven changes</a:t>
            </a:r>
            <a:endParaRPr kumimoji="0" lang="en-US" sz="1200" b="0" i="0" u="none" strike="noStrike" kern="1200" cap="none" spc="0" normalizeH="0" baseline="0" noProof="0">
              <a:ln>
                <a:noFill/>
              </a:ln>
              <a:solidFill>
                <a:srgbClr val="000000"/>
              </a:solidFill>
              <a:effectLst/>
              <a:uLnTx/>
              <a:uFillTx/>
              <a:cs typeface="Segoe Sans Display" pitchFamily="2" charset="0"/>
            </a:endParaRPr>
          </a:p>
        </p:txBody>
      </p:sp>
      <p:sp>
        <p:nvSpPr>
          <p:cNvPr id="11" name="Rectangle: Rounded Corners 146">
            <a:extLst>
              <a:ext uri="{FF2B5EF4-FFF2-40B4-BE49-F238E27FC236}">
                <a16:creationId xmlns:a16="http://schemas.microsoft.com/office/drawing/2014/main" id="{7C7E2356-2706-7D11-08DD-D3B3AC7AA235}"/>
              </a:ext>
              <a:ext uri="{C183D7F6-B498-43B3-948B-1728B52AA6E4}">
                <adec:decorative xmlns:adec="http://schemas.microsoft.com/office/drawing/2017/decorative" val="0"/>
              </a:ext>
            </a:extLst>
          </p:cNvPr>
          <p:cNvSpPr/>
          <p:nvPr/>
        </p:nvSpPr>
        <p:spPr bwMode="auto">
          <a:xfrm>
            <a:off x="1533864" y="5214738"/>
            <a:ext cx="1209865" cy="400509"/>
          </a:xfrm>
          <a:prstGeom prst="roundRect">
            <a:avLst>
              <a:gd name="adj" fmla="val 37388"/>
            </a:avLst>
          </a:prstGeom>
          <a:solidFill>
            <a:schemeClr val="accent1"/>
          </a:solidFill>
          <a:ln w="25400" cap="flat">
            <a:noFill/>
            <a:round/>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717626" rtl="0" eaLnBrk="1" latinLnBrk="0" hangingPunct="1">
              <a:defRPr sz="1413" kern="1200">
                <a:solidFill>
                  <a:schemeClr val="tx1"/>
                </a:solidFill>
                <a:latin typeface="+mn-lt"/>
                <a:ea typeface="+mn-ea"/>
                <a:cs typeface="+mn-cs"/>
              </a:defRPr>
            </a:lvl1pPr>
            <a:lvl2pPr marL="358814" algn="l" defTabSz="717626" rtl="0" eaLnBrk="1" latinLnBrk="0" hangingPunct="1">
              <a:defRPr sz="1413" kern="1200">
                <a:solidFill>
                  <a:schemeClr val="tx1"/>
                </a:solidFill>
                <a:latin typeface="+mn-lt"/>
                <a:ea typeface="+mn-ea"/>
                <a:cs typeface="+mn-cs"/>
              </a:defRPr>
            </a:lvl2pPr>
            <a:lvl3pPr marL="717626" algn="l" defTabSz="717626" rtl="0" eaLnBrk="1" latinLnBrk="0" hangingPunct="1">
              <a:defRPr sz="1413" kern="1200">
                <a:solidFill>
                  <a:schemeClr val="tx1"/>
                </a:solidFill>
                <a:latin typeface="+mn-lt"/>
                <a:ea typeface="+mn-ea"/>
                <a:cs typeface="+mn-cs"/>
              </a:defRPr>
            </a:lvl3pPr>
            <a:lvl4pPr marL="1076440" algn="l" defTabSz="717626" rtl="0" eaLnBrk="1" latinLnBrk="0" hangingPunct="1">
              <a:defRPr sz="1413" kern="1200">
                <a:solidFill>
                  <a:schemeClr val="tx1"/>
                </a:solidFill>
                <a:latin typeface="+mn-lt"/>
                <a:ea typeface="+mn-ea"/>
                <a:cs typeface="+mn-cs"/>
              </a:defRPr>
            </a:lvl4pPr>
            <a:lvl5pPr marL="1435252" algn="l" defTabSz="717626" rtl="0" eaLnBrk="1" latinLnBrk="0" hangingPunct="1">
              <a:defRPr sz="1413" kern="1200">
                <a:solidFill>
                  <a:schemeClr val="tx1"/>
                </a:solidFill>
                <a:latin typeface="+mn-lt"/>
                <a:ea typeface="+mn-ea"/>
                <a:cs typeface="+mn-cs"/>
              </a:defRPr>
            </a:lvl5pPr>
            <a:lvl6pPr marL="1794066" algn="l" defTabSz="717626" rtl="0" eaLnBrk="1" latinLnBrk="0" hangingPunct="1">
              <a:defRPr sz="1413" kern="1200">
                <a:solidFill>
                  <a:schemeClr val="tx1"/>
                </a:solidFill>
                <a:latin typeface="+mn-lt"/>
                <a:ea typeface="+mn-ea"/>
                <a:cs typeface="+mn-cs"/>
              </a:defRPr>
            </a:lvl6pPr>
            <a:lvl7pPr marL="2152877" algn="l" defTabSz="717626" rtl="0" eaLnBrk="1" latinLnBrk="0" hangingPunct="1">
              <a:defRPr sz="1413" kern="1200">
                <a:solidFill>
                  <a:schemeClr val="tx1"/>
                </a:solidFill>
                <a:latin typeface="+mn-lt"/>
                <a:ea typeface="+mn-ea"/>
                <a:cs typeface="+mn-cs"/>
              </a:defRPr>
            </a:lvl7pPr>
            <a:lvl8pPr marL="2511691" algn="l" defTabSz="717626" rtl="0" eaLnBrk="1" latinLnBrk="0" hangingPunct="1">
              <a:defRPr sz="1413" kern="1200">
                <a:solidFill>
                  <a:schemeClr val="tx1"/>
                </a:solidFill>
                <a:latin typeface="+mn-lt"/>
                <a:ea typeface="+mn-ea"/>
                <a:cs typeface="+mn-cs"/>
              </a:defRPr>
            </a:lvl8pPr>
            <a:lvl9pPr marL="2870503" algn="l" defTabSz="717626" rtl="0" eaLnBrk="1" latinLnBrk="0" hangingPunct="1">
              <a:defRPr sz="1413" kern="1200">
                <a:solidFill>
                  <a:schemeClr val="tx1"/>
                </a:solidFill>
                <a:latin typeface="+mn-lt"/>
                <a:ea typeface="+mn-ea"/>
                <a:cs typeface="+mn-cs"/>
              </a:defRPr>
            </a:lvl9pPr>
          </a:lstStyle>
          <a:p>
            <a:pPr marL="0" marR="0" lvl="0" indent="0" algn="ctr" defTabSz="717626"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4F3F5"/>
                </a:solidFill>
                <a:effectLst/>
                <a:uLnTx/>
                <a:uFillTx/>
                <a:latin typeface="+mj-lt"/>
                <a:ea typeface="+mn-ea"/>
                <a:cs typeface="+mn-cs"/>
              </a:rPr>
              <a:t>Change</a:t>
            </a:r>
          </a:p>
        </p:txBody>
      </p:sp>
      <p:sp>
        <p:nvSpPr>
          <p:cNvPr id="30" name="Rectangle: Rounded Corners 50">
            <a:extLst>
              <a:ext uri="{FF2B5EF4-FFF2-40B4-BE49-F238E27FC236}">
                <a16:creationId xmlns:a16="http://schemas.microsoft.com/office/drawing/2014/main" id="{4867917E-64FF-ACC6-E2B7-86FC1D4B8418}"/>
              </a:ext>
            </a:extLst>
          </p:cNvPr>
          <p:cNvSpPr/>
          <p:nvPr/>
        </p:nvSpPr>
        <p:spPr bwMode="auto">
          <a:xfrm>
            <a:off x="4109057" y="3109977"/>
            <a:ext cx="1274522" cy="336351"/>
          </a:xfrm>
          <a:prstGeom prst="roundRect">
            <a:avLst>
              <a:gd name="adj" fmla="val 50000"/>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45720" tIns="18000" rIns="45720" bIns="36000"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Release Rings</a:t>
            </a:r>
          </a:p>
        </p:txBody>
      </p:sp>
      <p:sp>
        <p:nvSpPr>
          <p:cNvPr id="31" name="TextBox 30">
            <a:extLst>
              <a:ext uri="{FF2B5EF4-FFF2-40B4-BE49-F238E27FC236}">
                <a16:creationId xmlns:a16="http://schemas.microsoft.com/office/drawing/2014/main" id="{7B098CFB-335A-3042-13E4-E062E50F8586}"/>
              </a:ext>
            </a:extLst>
          </p:cNvPr>
          <p:cNvSpPr txBox="1"/>
          <p:nvPr/>
        </p:nvSpPr>
        <p:spPr>
          <a:xfrm>
            <a:off x="5591175" y="3093486"/>
            <a:ext cx="2570284" cy="369332"/>
          </a:xfrm>
          <a:prstGeom prst="rect">
            <a:avLst/>
          </a:prstGeom>
          <a:noFill/>
        </p:spPr>
        <p:txBody>
          <a:bodyPr wrap="square" lIns="0" tIns="0" rIns="0" bIns="0" rtlCol="0" anchor="ctr">
            <a:spAutoFit/>
          </a:bodyPr>
          <a:lstStyle/>
          <a:p>
            <a:r>
              <a:rPr lang="en-US" sz="1200"/>
              <a:t>Introduce change in controlled stages to validate impact before rollout.</a:t>
            </a:r>
          </a:p>
        </p:txBody>
      </p:sp>
      <p:sp>
        <p:nvSpPr>
          <p:cNvPr id="33" name="Rectangle: Rounded Corners 50">
            <a:extLst>
              <a:ext uri="{FF2B5EF4-FFF2-40B4-BE49-F238E27FC236}">
                <a16:creationId xmlns:a16="http://schemas.microsoft.com/office/drawing/2014/main" id="{488D0434-C23B-EFA1-AAF3-9E5B43F7ECEF}"/>
              </a:ext>
            </a:extLst>
          </p:cNvPr>
          <p:cNvSpPr/>
          <p:nvPr/>
        </p:nvSpPr>
        <p:spPr bwMode="auto">
          <a:xfrm>
            <a:off x="4109057" y="3788633"/>
            <a:ext cx="1274522" cy="336351"/>
          </a:xfrm>
          <a:prstGeom prst="roundRect">
            <a:avLst>
              <a:gd name="adj" fmla="val 50000"/>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45720" tIns="18000" rIns="45720" bIns="36000"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Platform</a:t>
            </a:r>
          </a:p>
        </p:txBody>
      </p:sp>
      <p:sp>
        <p:nvSpPr>
          <p:cNvPr id="34" name="TextBox 33">
            <a:extLst>
              <a:ext uri="{FF2B5EF4-FFF2-40B4-BE49-F238E27FC236}">
                <a16:creationId xmlns:a16="http://schemas.microsoft.com/office/drawing/2014/main" id="{41DDC772-3F45-ACA4-250F-951BC7311AF9}"/>
              </a:ext>
            </a:extLst>
          </p:cNvPr>
          <p:cNvSpPr txBox="1"/>
          <p:nvPr/>
        </p:nvSpPr>
        <p:spPr>
          <a:xfrm>
            <a:off x="5591175" y="3772142"/>
            <a:ext cx="2570284" cy="369332"/>
          </a:xfrm>
          <a:prstGeom prst="rect">
            <a:avLst/>
          </a:prstGeom>
          <a:noFill/>
        </p:spPr>
        <p:txBody>
          <a:bodyPr wrap="square" lIns="0" tIns="0" rIns="0" bIns="0" rtlCol="0" anchor="ctr">
            <a:spAutoFit/>
          </a:bodyPr>
          <a:lstStyle/>
          <a:p>
            <a:r>
              <a:rPr lang="en-US" sz="1200"/>
              <a:t>Use platform guardrails to apply standards consistently at scale.</a:t>
            </a:r>
          </a:p>
        </p:txBody>
      </p:sp>
      <p:sp>
        <p:nvSpPr>
          <p:cNvPr id="36" name="Rectangle: Rounded Corners 50">
            <a:extLst>
              <a:ext uri="{FF2B5EF4-FFF2-40B4-BE49-F238E27FC236}">
                <a16:creationId xmlns:a16="http://schemas.microsoft.com/office/drawing/2014/main" id="{AC0BCAA0-B2E7-A5B0-CD98-E0D3B8E9A888}"/>
              </a:ext>
            </a:extLst>
          </p:cNvPr>
          <p:cNvSpPr/>
          <p:nvPr/>
        </p:nvSpPr>
        <p:spPr bwMode="auto">
          <a:xfrm>
            <a:off x="4109057" y="4467289"/>
            <a:ext cx="1274522" cy="336351"/>
          </a:xfrm>
          <a:prstGeom prst="roundRect">
            <a:avLst>
              <a:gd name="adj" fmla="val 50000"/>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45720" tIns="18000" rIns="45720" bIns="36000"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Communication</a:t>
            </a:r>
          </a:p>
        </p:txBody>
      </p:sp>
      <p:sp>
        <p:nvSpPr>
          <p:cNvPr id="37" name="TextBox 36">
            <a:extLst>
              <a:ext uri="{FF2B5EF4-FFF2-40B4-BE49-F238E27FC236}">
                <a16:creationId xmlns:a16="http://schemas.microsoft.com/office/drawing/2014/main" id="{FF693082-5834-8B46-C81E-C7F0A1DB82FD}"/>
              </a:ext>
            </a:extLst>
          </p:cNvPr>
          <p:cNvSpPr txBox="1"/>
          <p:nvPr/>
        </p:nvSpPr>
        <p:spPr>
          <a:xfrm>
            <a:off x="5591175" y="4450798"/>
            <a:ext cx="2570284" cy="369332"/>
          </a:xfrm>
          <a:prstGeom prst="rect">
            <a:avLst/>
          </a:prstGeom>
          <a:noFill/>
        </p:spPr>
        <p:txBody>
          <a:bodyPr wrap="square" lIns="0" tIns="0" rIns="0" bIns="0" rtlCol="0" anchor="ctr">
            <a:spAutoFit/>
          </a:bodyPr>
          <a:lstStyle/>
          <a:p>
            <a:r>
              <a:rPr lang="en-US" sz="1200"/>
              <a:t>Ensure every change is understood, contextualized, and reinforced.</a:t>
            </a:r>
          </a:p>
        </p:txBody>
      </p:sp>
      <p:sp>
        <p:nvSpPr>
          <p:cNvPr id="42" name="Rectangle: Rounded Corners 50">
            <a:extLst>
              <a:ext uri="{FF2B5EF4-FFF2-40B4-BE49-F238E27FC236}">
                <a16:creationId xmlns:a16="http://schemas.microsoft.com/office/drawing/2014/main" id="{3A009FFE-2AA6-E23D-D527-7A7587C81959}"/>
              </a:ext>
            </a:extLst>
          </p:cNvPr>
          <p:cNvSpPr/>
          <p:nvPr/>
        </p:nvSpPr>
        <p:spPr bwMode="auto">
          <a:xfrm>
            <a:off x="4109057" y="5145946"/>
            <a:ext cx="1274522" cy="336351"/>
          </a:xfrm>
          <a:prstGeom prst="roundRect">
            <a:avLst>
              <a:gd name="adj" fmla="val 50000"/>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45720" tIns="18000" rIns="45720" bIns="36000" numCol="1" spcCol="0" rtlCol="0" fromWordArt="0" anchor="ctr" anchorCtr="0" forceAA="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Skilling</a:t>
            </a:r>
          </a:p>
        </p:txBody>
      </p:sp>
      <p:sp>
        <p:nvSpPr>
          <p:cNvPr id="43" name="TextBox 42">
            <a:extLst>
              <a:ext uri="{FF2B5EF4-FFF2-40B4-BE49-F238E27FC236}">
                <a16:creationId xmlns:a16="http://schemas.microsoft.com/office/drawing/2014/main" id="{4A25383B-5457-89D2-16CD-AD8EA996B546}"/>
              </a:ext>
            </a:extLst>
          </p:cNvPr>
          <p:cNvSpPr txBox="1"/>
          <p:nvPr/>
        </p:nvSpPr>
        <p:spPr>
          <a:xfrm>
            <a:off x="5591175" y="5129455"/>
            <a:ext cx="2570284" cy="369332"/>
          </a:xfrm>
          <a:prstGeom prst="rect">
            <a:avLst/>
          </a:prstGeom>
          <a:noFill/>
        </p:spPr>
        <p:txBody>
          <a:bodyPr wrap="square" lIns="0" tIns="0" rIns="0" bIns="0" rtlCol="0" anchor="ctr">
            <a:spAutoFit/>
          </a:bodyPr>
          <a:lstStyle/>
          <a:p>
            <a:r>
              <a:rPr lang="en-US" sz="1200"/>
              <a:t>Equip each role with the knowledge needed to change safely.</a:t>
            </a:r>
          </a:p>
        </p:txBody>
      </p:sp>
    </p:spTree>
    <p:custDataLst>
      <p:tags r:id="rId1"/>
    </p:custDataLst>
    <p:extLst>
      <p:ext uri="{BB962C8B-B14F-4D97-AF65-F5344CB8AC3E}">
        <p14:creationId xmlns:p14="http://schemas.microsoft.com/office/powerpoint/2010/main" val="2999581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
                                        <p:tgtEl>
                                          <p:spTgt spid="4"/>
                                        </p:tgtEl>
                                      </p:cBhvr>
                                    </p:animEffect>
                                  </p:childTnLst>
                                </p:cTn>
                              </p:par>
                              <p:par>
                                <p:cTn id="8" presetID="42" presetClass="path" presetSubtype="0" decel="100000" fill="hold" grpId="1" nodeType="withEffect">
                                  <p:stCondLst>
                                    <p:cond delay="200"/>
                                  </p:stCondLst>
                                  <p:childTnLst>
                                    <p:animMotion origin="layout" path="M 0 0.03889 L 0 -4.44444E-6 " pathEditMode="relative" rAng="0" ptsTypes="AA">
                                      <p:cBhvr>
                                        <p:cTn id="9" dur="500" fill="hold"/>
                                        <p:tgtEl>
                                          <p:spTgt spid="4"/>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2F84F-F00D-F6D0-D952-E8CC810A1C14}"/>
            </a:ext>
          </a:extLst>
        </p:cNvPr>
        <p:cNvGrpSpPr/>
        <p:nvPr/>
      </p:nvGrpSpPr>
      <p:grpSpPr>
        <a:xfrm>
          <a:off x="0" y="0"/>
          <a:ext cx="0" cy="0"/>
          <a:chOff x="0" y="0"/>
          <a:chExt cx="0" cy="0"/>
        </a:xfrm>
      </p:grpSpPr>
      <p:pic>
        <p:nvPicPr>
          <p:cNvPr id="27" name="Picture 26" descr="A blurry image of a purple object&#10;&#10;AI-generated content may be incorrect.">
            <a:extLst>
              <a:ext uri="{FF2B5EF4-FFF2-40B4-BE49-F238E27FC236}">
                <a16:creationId xmlns:a16="http://schemas.microsoft.com/office/drawing/2014/main" id="{F2F35D29-3A6B-59C6-CEE7-9E40C512943F}"/>
              </a:ext>
            </a:extLst>
          </p:cNvPr>
          <p:cNvPicPr>
            <a:picLocks noChangeAspect="1"/>
          </p:cNvPicPr>
          <p:nvPr/>
        </p:nvPicPr>
        <p:blipFill>
          <a:blip r:embed="rId3">
            <a:alphaModFix amt="70000"/>
          </a:blip>
          <a:srcRect l="25924"/>
          <a:stretch>
            <a:fillRect/>
          </a:stretch>
        </p:blipFill>
        <p:spPr>
          <a:xfrm flipV="1">
            <a:off x="0" y="0"/>
            <a:ext cx="12192000" cy="6858000"/>
          </a:xfrm>
          <a:prstGeom prst="rect">
            <a:avLst/>
          </a:prstGeom>
        </p:spPr>
      </p:pic>
      <p:sp>
        <p:nvSpPr>
          <p:cNvPr id="96" name="Rounded Rectangle 8">
            <a:extLst>
              <a:ext uri="{FF2B5EF4-FFF2-40B4-BE49-F238E27FC236}">
                <a16:creationId xmlns:a16="http://schemas.microsoft.com/office/drawing/2014/main" id="{1541A55B-7397-5D92-E3C4-492F0E094044}"/>
              </a:ext>
              <a:ext uri="{C183D7F6-B498-43B3-948B-1728B52AA6E4}">
                <adec:decorative xmlns:adec="http://schemas.microsoft.com/office/drawing/2017/decorative" val="1"/>
              </a:ext>
            </a:extLst>
          </p:cNvPr>
          <p:cNvSpPr/>
          <p:nvPr/>
        </p:nvSpPr>
        <p:spPr>
          <a:xfrm>
            <a:off x="9020394" y="2096704"/>
            <a:ext cx="2744678" cy="3999295"/>
          </a:xfrm>
          <a:prstGeom prst="roundRect">
            <a:avLst>
              <a:gd name="adj" fmla="val 3240"/>
            </a:avLst>
          </a:pr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97" name="Rounded Rectangle 8">
            <a:extLst>
              <a:ext uri="{FF2B5EF4-FFF2-40B4-BE49-F238E27FC236}">
                <a16:creationId xmlns:a16="http://schemas.microsoft.com/office/drawing/2014/main" id="{1A6CD831-3A17-805C-FFC5-5C291E537749}"/>
              </a:ext>
              <a:ext uri="{C183D7F6-B498-43B3-948B-1728B52AA6E4}">
                <adec:decorative xmlns:adec="http://schemas.microsoft.com/office/drawing/2017/decorative" val="1"/>
              </a:ext>
            </a:extLst>
          </p:cNvPr>
          <p:cNvSpPr/>
          <p:nvPr/>
        </p:nvSpPr>
        <p:spPr>
          <a:xfrm>
            <a:off x="6182439" y="2096704"/>
            <a:ext cx="2744678" cy="3999295"/>
          </a:xfrm>
          <a:prstGeom prst="roundRect">
            <a:avLst>
              <a:gd name="adj" fmla="val 3240"/>
            </a:avLst>
          </a:pr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98" name="Rounded Rectangle 8">
            <a:extLst>
              <a:ext uri="{FF2B5EF4-FFF2-40B4-BE49-F238E27FC236}">
                <a16:creationId xmlns:a16="http://schemas.microsoft.com/office/drawing/2014/main" id="{3EAFB692-EE19-78E1-3DD5-EEF47CBA1F55}"/>
              </a:ext>
              <a:ext uri="{C183D7F6-B498-43B3-948B-1728B52AA6E4}">
                <adec:decorative xmlns:adec="http://schemas.microsoft.com/office/drawing/2017/decorative" val="1"/>
              </a:ext>
            </a:extLst>
          </p:cNvPr>
          <p:cNvSpPr/>
          <p:nvPr/>
        </p:nvSpPr>
        <p:spPr>
          <a:xfrm>
            <a:off x="513366" y="2096704"/>
            <a:ext cx="2744678" cy="3999295"/>
          </a:xfrm>
          <a:prstGeom prst="roundRect">
            <a:avLst>
              <a:gd name="adj" fmla="val 3240"/>
            </a:avLst>
          </a:pr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12" name="Rectangle 11">
            <a:extLst>
              <a:ext uri="{FF2B5EF4-FFF2-40B4-BE49-F238E27FC236}">
                <a16:creationId xmlns:a16="http://schemas.microsoft.com/office/drawing/2014/main" id="{3B5E9B53-32B6-5BA8-7F5E-1C03396B296C}"/>
              </a:ext>
              <a:ext uri="{C183D7F6-B498-43B3-948B-1728B52AA6E4}">
                <adec:decorative xmlns:adec="http://schemas.microsoft.com/office/drawing/2017/decorative" val="1"/>
              </a:ext>
            </a:extLst>
          </p:cNvPr>
          <p:cNvSpPr/>
          <p:nvPr/>
        </p:nvSpPr>
        <p:spPr bwMode="auto">
          <a:xfrm flipH="1">
            <a:off x="514105" y="2764405"/>
            <a:ext cx="2743200" cy="1493270"/>
          </a:xfrm>
          <a:prstGeom prst="rect">
            <a:avLst/>
          </a:prstGeom>
          <a:solidFill>
            <a:schemeClr val="accent1">
              <a:lumMod val="20000"/>
              <a:lumOff val="80000"/>
              <a:alpha val="24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6" name="Oval 5">
            <a:extLst>
              <a:ext uri="{FF2B5EF4-FFF2-40B4-BE49-F238E27FC236}">
                <a16:creationId xmlns:a16="http://schemas.microsoft.com/office/drawing/2014/main" id="{7CF80A46-F123-4151-61DD-587A6E689E6A}"/>
              </a:ext>
              <a:ext uri="{C183D7F6-B498-43B3-948B-1728B52AA6E4}">
                <adec:decorative xmlns:adec="http://schemas.microsoft.com/office/drawing/2017/decorative" val="1"/>
              </a:ext>
            </a:extLst>
          </p:cNvPr>
          <p:cNvSpPr>
            <a:spLocks/>
          </p:cNvSpPr>
          <p:nvPr/>
        </p:nvSpPr>
        <p:spPr>
          <a:xfrm>
            <a:off x="1529862" y="1737461"/>
            <a:ext cx="711688" cy="711684"/>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sp>
        <p:nvSpPr>
          <p:cNvPr id="7" name="Oval 6">
            <a:extLst>
              <a:ext uri="{FF2B5EF4-FFF2-40B4-BE49-F238E27FC236}">
                <a16:creationId xmlns:a16="http://schemas.microsoft.com/office/drawing/2014/main" id="{1A2F1D71-C819-F0B4-1AF8-64E837DD0866}"/>
              </a:ext>
              <a:ext uri="{C183D7F6-B498-43B3-948B-1728B52AA6E4}">
                <adec:decorative xmlns:adec="http://schemas.microsoft.com/office/drawing/2017/decorative" val="1"/>
              </a:ext>
            </a:extLst>
          </p:cNvPr>
          <p:cNvSpPr>
            <a:spLocks/>
          </p:cNvSpPr>
          <p:nvPr/>
        </p:nvSpPr>
        <p:spPr>
          <a:xfrm>
            <a:off x="7198934" y="1737461"/>
            <a:ext cx="711688" cy="711684"/>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sp>
        <p:nvSpPr>
          <p:cNvPr id="9" name="Oval 8">
            <a:extLst>
              <a:ext uri="{FF2B5EF4-FFF2-40B4-BE49-F238E27FC236}">
                <a16:creationId xmlns:a16="http://schemas.microsoft.com/office/drawing/2014/main" id="{7058FEA7-17F3-7004-1E8C-77AC7BFBEC9D}"/>
              </a:ext>
              <a:ext uri="{C183D7F6-B498-43B3-948B-1728B52AA6E4}">
                <adec:decorative xmlns:adec="http://schemas.microsoft.com/office/drawing/2017/decorative" val="1"/>
              </a:ext>
            </a:extLst>
          </p:cNvPr>
          <p:cNvSpPr>
            <a:spLocks/>
          </p:cNvSpPr>
          <p:nvPr/>
        </p:nvSpPr>
        <p:spPr>
          <a:xfrm>
            <a:off x="10036889" y="1737461"/>
            <a:ext cx="711688" cy="711684"/>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sp>
        <p:nvSpPr>
          <p:cNvPr id="13" name="Rectangle 12">
            <a:extLst>
              <a:ext uri="{FF2B5EF4-FFF2-40B4-BE49-F238E27FC236}">
                <a16:creationId xmlns:a16="http://schemas.microsoft.com/office/drawing/2014/main" id="{110E9FE8-E630-6DB4-3727-DC57847F0914}"/>
              </a:ext>
              <a:ext uri="{C183D7F6-B498-43B3-948B-1728B52AA6E4}">
                <adec:decorative xmlns:adec="http://schemas.microsoft.com/office/drawing/2017/decorative" val="1"/>
              </a:ext>
            </a:extLst>
          </p:cNvPr>
          <p:cNvSpPr/>
          <p:nvPr/>
        </p:nvSpPr>
        <p:spPr bwMode="auto">
          <a:xfrm flipH="1">
            <a:off x="6183178" y="2764405"/>
            <a:ext cx="2743200" cy="1493270"/>
          </a:xfrm>
          <a:prstGeom prst="rect">
            <a:avLst/>
          </a:prstGeom>
          <a:solidFill>
            <a:schemeClr val="accent1">
              <a:lumMod val="20000"/>
              <a:lumOff val="80000"/>
              <a:alpha val="24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4" name="Rectangle 13">
            <a:extLst>
              <a:ext uri="{FF2B5EF4-FFF2-40B4-BE49-F238E27FC236}">
                <a16:creationId xmlns:a16="http://schemas.microsoft.com/office/drawing/2014/main" id="{D23BC2A4-FB76-65C7-BC11-A98EF892E5F3}"/>
              </a:ext>
              <a:ext uri="{C183D7F6-B498-43B3-948B-1728B52AA6E4}">
                <adec:decorative xmlns:adec="http://schemas.microsoft.com/office/drawing/2017/decorative" val="1"/>
              </a:ext>
            </a:extLst>
          </p:cNvPr>
          <p:cNvSpPr/>
          <p:nvPr/>
        </p:nvSpPr>
        <p:spPr bwMode="auto">
          <a:xfrm flipH="1">
            <a:off x="9021133" y="2764405"/>
            <a:ext cx="2743200" cy="1493270"/>
          </a:xfrm>
          <a:prstGeom prst="rect">
            <a:avLst/>
          </a:prstGeom>
          <a:solidFill>
            <a:schemeClr val="accent1">
              <a:lumMod val="20000"/>
              <a:lumOff val="80000"/>
              <a:alpha val="24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29" name="Graphic 17" descr="Folder with solid fill">
            <a:extLst>
              <a:ext uri="{FF2B5EF4-FFF2-40B4-BE49-F238E27FC236}">
                <a16:creationId xmlns:a16="http://schemas.microsoft.com/office/drawing/2014/main" id="{E321433F-000A-39D6-E446-2731A27E201D}"/>
              </a:ext>
              <a:ext uri="{C183D7F6-B498-43B3-948B-1728B52AA6E4}">
                <adec:decorative xmlns:adec="http://schemas.microsoft.com/office/drawing/2017/decorative" val="1"/>
              </a:ext>
            </a:extLst>
          </p:cNvPr>
          <p:cNvSpPr/>
          <p:nvPr/>
        </p:nvSpPr>
        <p:spPr>
          <a:xfrm>
            <a:off x="7400022" y="1976190"/>
            <a:ext cx="309511" cy="234224"/>
          </a:xfrm>
          <a:custGeom>
            <a:avLst/>
            <a:gdLst>
              <a:gd name="csX0" fmla="*/ 292781 w 309511"/>
              <a:gd name="csY0" fmla="*/ 234225 h 234224"/>
              <a:gd name="csX1" fmla="*/ 16730 w 309511"/>
              <a:gd name="csY1" fmla="*/ 234225 h 234224"/>
              <a:gd name="csX2" fmla="*/ 0 w 309511"/>
              <a:gd name="csY2" fmla="*/ 217494 h 234224"/>
              <a:gd name="csX3" fmla="*/ 0 w 309511"/>
              <a:gd name="csY3" fmla="*/ 16730 h 234224"/>
              <a:gd name="csX4" fmla="*/ 16730 w 309511"/>
              <a:gd name="csY4" fmla="*/ 0 h 234224"/>
              <a:gd name="csX5" fmla="*/ 95363 w 309511"/>
              <a:gd name="csY5" fmla="*/ 0 h 234224"/>
              <a:gd name="csX6" fmla="*/ 104565 w 309511"/>
              <a:gd name="csY6" fmla="*/ 2928 h 234224"/>
              <a:gd name="csX7" fmla="*/ 150573 w 309511"/>
              <a:gd name="csY7" fmla="*/ 33461 h 234224"/>
              <a:gd name="csX8" fmla="*/ 292781 w 309511"/>
              <a:gd name="csY8" fmla="*/ 33461 h 234224"/>
              <a:gd name="csX9" fmla="*/ 309511 w 309511"/>
              <a:gd name="csY9" fmla="*/ 50191 h 234224"/>
              <a:gd name="csX10" fmla="*/ 309511 w 309511"/>
              <a:gd name="csY10" fmla="*/ 217494 h 234224"/>
              <a:gd name="csX11" fmla="*/ 292781 w 309511"/>
              <a:gd name="csY11" fmla="*/ 234225 h 2342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09511" h="234224">
                <a:moveTo>
                  <a:pt x="292781" y="234225"/>
                </a:moveTo>
                <a:lnTo>
                  <a:pt x="16730" y="234225"/>
                </a:lnTo>
                <a:cubicBezTo>
                  <a:pt x="7529" y="234225"/>
                  <a:pt x="0" y="226696"/>
                  <a:pt x="0" y="217494"/>
                </a:cubicBezTo>
                <a:lnTo>
                  <a:pt x="0" y="16730"/>
                </a:lnTo>
                <a:cubicBezTo>
                  <a:pt x="0" y="7529"/>
                  <a:pt x="7529" y="0"/>
                  <a:pt x="16730" y="0"/>
                </a:cubicBezTo>
                <a:lnTo>
                  <a:pt x="95363" y="0"/>
                </a:lnTo>
                <a:cubicBezTo>
                  <a:pt x="98709" y="0"/>
                  <a:pt x="102055" y="837"/>
                  <a:pt x="104565" y="2928"/>
                </a:cubicBezTo>
                <a:lnTo>
                  <a:pt x="150573" y="33461"/>
                </a:lnTo>
                <a:lnTo>
                  <a:pt x="292781" y="33461"/>
                </a:lnTo>
                <a:cubicBezTo>
                  <a:pt x="301983" y="33461"/>
                  <a:pt x="309511" y="40989"/>
                  <a:pt x="309511" y="50191"/>
                </a:cubicBezTo>
                <a:lnTo>
                  <a:pt x="309511" y="217494"/>
                </a:lnTo>
                <a:cubicBezTo>
                  <a:pt x="309511" y="226696"/>
                  <a:pt x="301983" y="234225"/>
                  <a:pt x="292781" y="234225"/>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
        <p:nvSpPr>
          <p:cNvPr id="28" name="Graphic 20">
            <a:extLst>
              <a:ext uri="{FF2B5EF4-FFF2-40B4-BE49-F238E27FC236}">
                <a16:creationId xmlns:a16="http://schemas.microsoft.com/office/drawing/2014/main" id="{71433606-2844-2577-5572-AC71DC3F5D96}"/>
              </a:ext>
              <a:ext uri="{C183D7F6-B498-43B3-948B-1728B52AA6E4}">
                <adec:decorative xmlns:adec="http://schemas.microsoft.com/office/drawing/2017/decorative" val="1"/>
              </a:ext>
            </a:extLst>
          </p:cNvPr>
          <p:cNvSpPr/>
          <p:nvPr/>
        </p:nvSpPr>
        <p:spPr>
          <a:xfrm>
            <a:off x="10252270" y="1917735"/>
            <a:ext cx="281036" cy="351243"/>
          </a:xfrm>
          <a:custGeom>
            <a:avLst/>
            <a:gdLst>
              <a:gd name="csX0" fmla="*/ 241535 w 281036"/>
              <a:gd name="csY0" fmla="*/ 210702 h 351243"/>
              <a:gd name="csX1" fmla="*/ 281036 w 281036"/>
              <a:gd name="csY1" fmla="*/ 250204 h 351243"/>
              <a:gd name="csX2" fmla="*/ 281036 w 281036"/>
              <a:gd name="csY2" fmla="*/ 266336 h 351243"/>
              <a:gd name="csX3" fmla="*/ 272032 w 281036"/>
              <a:gd name="csY3" fmla="*/ 294422 h 351243"/>
              <a:gd name="csX4" fmla="*/ 140461 w 281036"/>
              <a:gd name="csY4" fmla="*/ 351244 h 351243"/>
              <a:gd name="csX5" fmla="*/ 8965 w 281036"/>
              <a:gd name="csY5" fmla="*/ 294394 h 351243"/>
              <a:gd name="csX6" fmla="*/ 0 w 281036"/>
              <a:gd name="csY6" fmla="*/ 266363 h 351243"/>
              <a:gd name="csX7" fmla="*/ 0 w 281036"/>
              <a:gd name="csY7" fmla="*/ 250204 h 351243"/>
              <a:gd name="csX8" fmla="*/ 39502 w 281036"/>
              <a:gd name="csY8" fmla="*/ 210702 h 351243"/>
              <a:gd name="csX9" fmla="*/ 241535 w 281036"/>
              <a:gd name="csY9" fmla="*/ 210702 h 351243"/>
              <a:gd name="csX10" fmla="*/ 140461 w 281036"/>
              <a:gd name="csY10" fmla="*/ 0 h 351243"/>
              <a:gd name="csX11" fmla="*/ 228288 w 281036"/>
              <a:gd name="csY11" fmla="*/ 87827 h 351243"/>
              <a:gd name="csX12" fmla="*/ 140461 w 281036"/>
              <a:gd name="csY12" fmla="*/ 175654 h 351243"/>
              <a:gd name="csX13" fmla="*/ 52634 w 281036"/>
              <a:gd name="csY13" fmla="*/ 87827 h 351243"/>
              <a:gd name="csX14" fmla="*/ 140461 w 281036"/>
              <a:gd name="csY14" fmla="*/ 0 h 3512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81036" h="351243">
                <a:moveTo>
                  <a:pt x="241535" y="210702"/>
                </a:moveTo>
                <a:cubicBezTo>
                  <a:pt x="263351" y="210702"/>
                  <a:pt x="281036" y="228387"/>
                  <a:pt x="281036" y="250204"/>
                </a:cubicBezTo>
                <a:lnTo>
                  <a:pt x="281036" y="266336"/>
                </a:lnTo>
                <a:cubicBezTo>
                  <a:pt x="281036" y="276408"/>
                  <a:pt x="277889" y="286227"/>
                  <a:pt x="272032" y="294422"/>
                </a:cubicBezTo>
                <a:cubicBezTo>
                  <a:pt x="244880" y="332419"/>
                  <a:pt x="200540" y="351244"/>
                  <a:pt x="140461" y="351244"/>
                </a:cubicBezTo>
                <a:cubicBezTo>
                  <a:pt x="80370" y="351244"/>
                  <a:pt x="36053" y="332412"/>
                  <a:pt x="8965" y="294394"/>
                </a:cubicBezTo>
                <a:cubicBezTo>
                  <a:pt x="3134" y="286210"/>
                  <a:pt x="0" y="276412"/>
                  <a:pt x="0" y="266363"/>
                </a:cubicBezTo>
                <a:lnTo>
                  <a:pt x="0" y="250204"/>
                </a:lnTo>
                <a:cubicBezTo>
                  <a:pt x="0" y="228387"/>
                  <a:pt x="17686" y="210702"/>
                  <a:pt x="39502" y="210702"/>
                </a:cubicBezTo>
                <a:lnTo>
                  <a:pt x="241535" y="210702"/>
                </a:lnTo>
                <a:close/>
                <a:moveTo>
                  <a:pt x="140461" y="0"/>
                </a:moveTo>
                <a:cubicBezTo>
                  <a:pt x="188966" y="0"/>
                  <a:pt x="228288" y="39321"/>
                  <a:pt x="228288" y="87827"/>
                </a:cubicBezTo>
                <a:cubicBezTo>
                  <a:pt x="228288" y="136332"/>
                  <a:pt x="188966" y="175654"/>
                  <a:pt x="140461" y="175654"/>
                </a:cubicBezTo>
                <a:cubicBezTo>
                  <a:pt x="91955" y="175654"/>
                  <a:pt x="52634" y="136332"/>
                  <a:pt x="52634" y="87827"/>
                </a:cubicBezTo>
                <a:cubicBezTo>
                  <a:pt x="52634" y="39321"/>
                  <a:pt x="91955" y="0"/>
                  <a:pt x="140461" y="0"/>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
        <p:nvSpPr>
          <p:cNvPr id="8" name="Rounded Rectangle 8">
            <a:extLst>
              <a:ext uri="{FF2B5EF4-FFF2-40B4-BE49-F238E27FC236}">
                <a16:creationId xmlns:a16="http://schemas.microsoft.com/office/drawing/2014/main" id="{34B2DEBA-0A3C-1388-312B-9F562F266873}"/>
              </a:ext>
              <a:ext uri="{C183D7F6-B498-43B3-948B-1728B52AA6E4}">
                <adec:decorative xmlns:adec="http://schemas.microsoft.com/office/drawing/2017/decorative" val="1"/>
              </a:ext>
            </a:extLst>
          </p:cNvPr>
          <p:cNvSpPr/>
          <p:nvPr/>
        </p:nvSpPr>
        <p:spPr>
          <a:xfrm>
            <a:off x="3349477" y="2096704"/>
            <a:ext cx="2744678" cy="3999295"/>
          </a:xfrm>
          <a:prstGeom prst="roundRect">
            <a:avLst>
              <a:gd name="adj" fmla="val 3240"/>
            </a:avLst>
          </a:pr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19" name="Oval 18">
            <a:extLst>
              <a:ext uri="{FF2B5EF4-FFF2-40B4-BE49-F238E27FC236}">
                <a16:creationId xmlns:a16="http://schemas.microsoft.com/office/drawing/2014/main" id="{48FECCEF-3E7B-CC81-28B1-6E0C10137DB0}"/>
              </a:ext>
              <a:ext uri="{C183D7F6-B498-43B3-948B-1728B52AA6E4}">
                <adec:decorative xmlns:adec="http://schemas.microsoft.com/office/drawing/2017/decorative" val="1"/>
              </a:ext>
            </a:extLst>
          </p:cNvPr>
          <p:cNvSpPr>
            <a:spLocks/>
          </p:cNvSpPr>
          <p:nvPr/>
        </p:nvSpPr>
        <p:spPr>
          <a:xfrm>
            <a:off x="4365972" y="1737461"/>
            <a:ext cx="711688" cy="711684"/>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sp>
        <p:nvSpPr>
          <p:cNvPr id="22" name="Rectangle 21">
            <a:extLst>
              <a:ext uri="{FF2B5EF4-FFF2-40B4-BE49-F238E27FC236}">
                <a16:creationId xmlns:a16="http://schemas.microsoft.com/office/drawing/2014/main" id="{8C4DB66A-3917-2CDC-51D9-E7337C0AED73}"/>
              </a:ext>
              <a:ext uri="{C183D7F6-B498-43B3-948B-1728B52AA6E4}">
                <adec:decorative xmlns:adec="http://schemas.microsoft.com/office/drawing/2017/decorative" val="1"/>
              </a:ext>
            </a:extLst>
          </p:cNvPr>
          <p:cNvSpPr/>
          <p:nvPr/>
        </p:nvSpPr>
        <p:spPr bwMode="auto">
          <a:xfrm flipH="1">
            <a:off x="3350216" y="2764405"/>
            <a:ext cx="2743200" cy="1493270"/>
          </a:xfrm>
          <a:prstGeom prst="rect">
            <a:avLst/>
          </a:prstGeom>
          <a:solidFill>
            <a:schemeClr val="accent1">
              <a:lumMod val="20000"/>
              <a:lumOff val="80000"/>
              <a:alpha val="24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grpSp>
        <p:nvGrpSpPr>
          <p:cNvPr id="39" name="Group 38">
            <a:extLst>
              <a:ext uri="{FF2B5EF4-FFF2-40B4-BE49-F238E27FC236}">
                <a16:creationId xmlns:a16="http://schemas.microsoft.com/office/drawing/2014/main" id="{F5F09C24-622B-CB1E-8616-46C91DCDEA67}"/>
              </a:ext>
            </a:extLst>
          </p:cNvPr>
          <p:cNvGrpSpPr/>
          <p:nvPr/>
        </p:nvGrpSpPr>
        <p:grpSpPr>
          <a:xfrm>
            <a:off x="4566930" y="1934113"/>
            <a:ext cx="309773" cy="318378"/>
            <a:chOff x="4566930" y="1934113"/>
            <a:chExt cx="309773" cy="318378"/>
          </a:xfrm>
          <a:gradFill>
            <a:gsLst>
              <a:gs pos="15000">
                <a:srgbClr val="01A3FD"/>
              </a:gs>
              <a:gs pos="81000">
                <a:srgbClr val="D661FD"/>
              </a:gs>
            </a:gsLst>
            <a:lin ang="2700000" scaled="1"/>
          </a:gradFill>
        </p:grpSpPr>
        <p:sp>
          <p:nvSpPr>
            <p:cNvPr id="31" name="Freeform: Shape 30">
              <a:extLst>
                <a:ext uri="{FF2B5EF4-FFF2-40B4-BE49-F238E27FC236}">
                  <a16:creationId xmlns:a16="http://schemas.microsoft.com/office/drawing/2014/main" id="{EEBC6BA8-6F5C-E6AF-0718-93C83CEAB98A}"/>
                </a:ext>
              </a:extLst>
            </p:cNvPr>
            <p:cNvSpPr/>
            <p:nvPr/>
          </p:nvSpPr>
          <p:spPr>
            <a:xfrm>
              <a:off x="4708909" y="2175048"/>
              <a:ext cx="25814" cy="34419"/>
            </a:xfrm>
            <a:custGeom>
              <a:avLst/>
              <a:gdLst>
                <a:gd name="csX0" fmla="*/ 0 w 25814"/>
                <a:gd name="csY0" fmla="*/ 0 h 34419"/>
                <a:gd name="csX1" fmla="*/ 25815 w 25814"/>
                <a:gd name="csY1" fmla="*/ 0 h 34419"/>
                <a:gd name="csX2" fmla="*/ 25815 w 25814"/>
                <a:gd name="csY2" fmla="*/ 34419 h 34419"/>
                <a:gd name="csX3" fmla="*/ 0 w 25814"/>
                <a:gd name="csY3" fmla="*/ 34419 h 34419"/>
              </a:gdLst>
              <a:ahLst/>
              <a:cxnLst>
                <a:cxn ang="0">
                  <a:pos x="csX0" y="csY0"/>
                </a:cxn>
                <a:cxn ang="0">
                  <a:pos x="csX1" y="csY1"/>
                </a:cxn>
                <a:cxn ang="0">
                  <a:pos x="csX2" y="csY2"/>
                </a:cxn>
                <a:cxn ang="0">
                  <a:pos x="csX3" y="csY3"/>
                </a:cxn>
              </a:cxnLst>
              <a:rect l="l" t="t" r="r" b="b"/>
              <a:pathLst>
                <a:path w="25814" h="34419">
                  <a:moveTo>
                    <a:pt x="0" y="0"/>
                  </a:moveTo>
                  <a:lnTo>
                    <a:pt x="25815" y="0"/>
                  </a:lnTo>
                  <a:lnTo>
                    <a:pt x="25815" y="34419"/>
                  </a:lnTo>
                  <a:lnTo>
                    <a:pt x="0" y="34419"/>
                  </a:lnTo>
                  <a:close/>
                </a:path>
              </a:pathLst>
            </a:custGeom>
            <a:grpFill/>
            <a:ln w="10795" cap="flat" cmpd="sng" algn="ctr">
              <a:noFill/>
              <a:prstDash val="solid"/>
            </a:ln>
            <a:effectLst/>
          </p:spPr>
          <p:txBody>
            <a:bodyPr/>
            <a:lstStyle/>
            <a:p>
              <a:endParaRPr lang="en-US"/>
            </a:p>
          </p:txBody>
        </p:sp>
        <p:sp>
          <p:nvSpPr>
            <p:cNvPr id="32" name="Freeform: Shape 31">
              <a:extLst>
                <a:ext uri="{FF2B5EF4-FFF2-40B4-BE49-F238E27FC236}">
                  <a16:creationId xmlns:a16="http://schemas.microsoft.com/office/drawing/2014/main" id="{8CE02D95-0290-FFC6-CDA5-884D1B5D6125}"/>
                </a:ext>
              </a:extLst>
            </p:cNvPr>
            <p:cNvSpPr/>
            <p:nvPr/>
          </p:nvSpPr>
          <p:spPr>
            <a:xfrm>
              <a:off x="4708909" y="2226677"/>
              <a:ext cx="25814" cy="25814"/>
            </a:xfrm>
            <a:custGeom>
              <a:avLst/>
              <a:gdLst>
                <a:gd name="csX0" fmla="*/ 0 w 25814"/>
                <a:gd name="csY0" fmla="*/ 0 h 25814"/>
                <a:gd name="csX1" fmla="*/ 25815 w 25814"/>
                <a:gd name="csY1" fmla="*/ 0 h 25814"/>
                <a:gd name="csX2" fmla="*/ 25815 w 25814"/>
                <a:gd name="csY2" fmla="*/ 25815 h 25814"/>
                <a:gd name="csX3" fmla="*/ 0 w 25814"/>
                <a:gd name="csY3" fmla="*/ 25815 h 25814"/>
              </a:gdLst>
              <a:ahLst/>
              <a:cxnLst>
                <a:cxn ang="0">
                  <a:pos x="csX0" y="csY0"/>
                </a:cxn>
                <a:cxn ang="0">
                  <a:pos x="csX1" y="csY1"/>
                </a:cxn>
                <a:cxn ang="0">
                  <a:pos x="csX2" y="csY2"/>
                </a:cxn>
                <a:cxn ang="0">
                  <a:pos x="csX3" y="csY3"/>
                </a:cxn>
              </a:cxnLst>
              <a:rect l="l" t="t" r="r" b="b"/>
              <a:pathLst>
                <a:path w="25814" h="25814">
                  <a:moveTo>
                    <a:pt x="0" y="0"/>
                  </a:moveTo>
                  <a:lnTo>
                    <a:pt x="25815" y="0"/>
                  </a:lnTo>
                  <a:lnTo>
                    <a:pt x="25815" y="25815"/>
                  </a:lnTo>
                  <a:lnTo>
                    <a:pt x="0" y="25815"/>
                  </a:lnTo>
                  <a:close/>
                </a:path>
              </a:pathLst>
            </a:custGeom>
            <a:grpFill/>
            <a:ln w="10795" cap="flat" cmpd="sng" algn="ctr">
              <a:noFill/>
              <a:prstDash val="solid"/>
            </a:ln>
            <a:effectLst/>
          </p:spPr>
          <p:txBody>
            <a:bodyPr/>
            <a:lstStyle/>
            <a:p>
              <a:endParaRPr lang="en-US"/>
            </a:p>
          </p:txBody>
        </p:sp>
        <p:sp>
          <p:nvSpPr>
            <p:cNvPr id="33" name="Freeform: Shape 32">
              <a:extLst>
                <a:ext uri="{FF2B5EF4-FFF2-40B4-BE49-F238E27FC236}">
                  <a16:creationId xmlns:a16="http://schemas.microsoft.com/office/drawing/2014/main" id="{DAD83578-D308-491E-CD9C-C1C0526D47ED}"/>
                </a:ext>
              </a:extLst>
            </p:cNvPr>
            <p:cNvSpPr/>
            <p:nvPr/>
          </p:nvSpPr>
          <p:spPr>
            <a:xfrm>
              <a:off x="4751933" y="2226677"/>
              <a:ext cx="124770" cy="25814"/>
            </a:xfrm>
            <a:custGeom>
              <a:avLst/>
              <a:gdLst>
                <a:gd name="csX0" fmla="*/ 0 w 124770"/>
                <a:gd name="csY0" fmla="*/ 0 h 25814"/>
                <a:gd name="csX1" fmla="*/ 124770 w 124770"/>
                <a:gd name="csY1" fmla="*/ 0 h 25814"/>
                <a:gd name="csX2" fmla="*/ 124770 w 124770"/>
                <a:gd name="csY2" fmla="*/ 25815 h 25814"/>
                <a:gd name="csX3" fmla="*/ 0 w 124770"/>
                <a:gd name="csY3" fmla="*/ 25815 h 25814"/>
              </a:gdLst>
              <a:ahLst/>
              <a:cxnLst>
                <a:cxn ang="0">
                  <a:pos x="csX0" y="csY0"/>
                </a:cxn>
                <a:cxn ang="0">
                  <a:pos x="csX1" y="csY1"/>
                </a:cxn>
                <a:cxn ang="0">
                  <a:pos x="csX2" y="csY2"/>
                </a:cxn>
                <a:cxn ang="0">
                  <a:pos x="csX3" y="csY3"/>
                </a:cxn>
              </a:cxnLst>
              <a:rect l="l" t="t" r="r" b="b"/>
              <a:pathLst>
                <a:path w="124770" h="25814">
                  <a:moveTo>
                    <a:pt x="0" y="0"/>
                  </a:moveTo>
                  <a:lnTo>
                    <a:pt x="124770" y="0"/>
                  </a:lnTo>
                  <a:lnTo>
                    <a:pt x="124770" y="25815"/>
                  </a:lnTo>
                  <a:lnTo>
                    <a:pt x="0" y="25815"/>
                  </a:lnTo>
                  <a:close/>
                </a:path>
              </a:pathLst>
            </a:custGeom>
            <a:grpFill/>
            <a:ln w="10795" cap="flat" cmpd="sng" algn="ctr">
              <a:noFill/>
              <a:prstDash val="solid"/>
            </a:ln>
            <a:effectLst/>
          </p:spPr>
          <p:txBody>
            <a:bodyPr/>
            <a:lstStyle/>
            <a:p>
              <a:endParaRPr lang="en-US"/>
            </a:p>
          </p:txBody>
        </p:sp>
        <p:sp>
          <p:nvSpPr>
            <p:cNvPr id="34" name="Freeform: Shape 33">
              <a:extLst>
                <a:ext uri="{FF2B5EF4-FFF2-40B4-BE49-F238E27FC236}">
                  <a16:creationId xmlns:a16="http://schemas.microsoft.com/office/drawing/2014/main" id="{5B9622BA-13DB-EC08-E008-33C26DFEF67D}"/>
                </a:ext>
              </a:extLst>
            </p:cNvPr>
            <p:cNvSpPr/>
            <p:nvPr/>
          </p:nvSpPr>
          <p:spPr>
            <a:xfrm>
              <a:off x="4566930" y="2226677"/>
              <a:ext cx="124770" cy="25814"/>
            </a:xfrm>
            <a:custGeom>
              <a:avLst/>
              <a:gdLst>
                <a:gd name="csX0" fmla="*/ 0 w 124770"/>
                <a:gd name="csY0" fmla="*/ 0 h 25814"/>
                <a:gd name="csX1" fmla="*/ 124770 w 124770"/>
                <a:gd name="csY1" fmla="*/ 0 h 25814"/>
                <a:gd name="csX2" fmla="*/ 124770 w 124770"/>
                <a:gd name="csY2" fmla="*/ 25815 h 25814"/>
                <a:gd name="csX3" fmla="*/ 0 w 124770"/>
                <a:gd name="csY3" fmla="*/ 25815 h 25814"/>
              </a:gdLst>
              <a:ahLst/>
              <a:cxnLst>
                <a:cxn ang="0">
                  <a:pos x="csX0" y="csY0"/>
                </a:cxn>
                <a:cxn ang="0">
                  <a:pos x="csX1" y="csY1"/>
                </a:cxn>
                <a:cxn ang="0">
                  <a:pos x="csX2" y="csY2"/>
                </a:cxn>
                <a:cxn ang="0">
                  <a:pos x="csX3" y="csY3"/>
                </a:cxn>
              </a:cxnLst>
              <a:rect l="l" t="t" r="r" b="b"/>
              <a:pathLst>
                <a:path w="124770" h="25814">
                  <a:moveTo>
                    <a:pt x="0" y="0"/>
                  </a:moveTo>
                  <a:lnTo>
                    <a:pt x="124770" y="0"/>
                  </a:lnTo>
                  <a:lnTo>
                    <a:pt x="124770" y="25815"/>
                  </a:lnTo>
                  <a:lnTo>
                    <a:pt x="0" y="25815"/>
                  </a:lnTo>
                  <a:close/>
                </a:path>
              </a:pathLst>
            </a:custGeom>
            <a:grpFill/>
            <a:ln w="10795" cap="flat" cmpd="sng" algn="ctr">
              <a:noFill/>
              <a:prstDash val="solid"/>
            </a:ln>
            <a:effectLst/>
          </p:spPr>
          <p:txBody>
            <a:bodyPr/>
            <a:lstStyle/>
            <a:p>
              <a:endParaRPr lang="en-US"/>
            </a:p>
          </p:txBody>
        </p:sp>
        <p:sp>
          <p:nvSpPr>
            <p:cNvPr id="35" name="Freeform: Shape 34">
              <a:extLst>
                <a:ext uri="{FF2B5EF4-FFF2-40B4-BE49-F238E27FC236}">
                  <a16:creationId xmlns:a16="http://schemas.microsoft.com/office/drawing/2014/main" id="{C4CC9C27-985A-6331-D676-04B891704D3D}"/>
                </a:ext>
              </a:extLst>
            </p:cNvPr>
            <p:cNvSpPr/>
            <p:nvPr/>
          </p:nvSpPr>
          <p:spPr>
            <a:xfrm>
              <a:off x="4584139" y="2106210"/>
              <a:ext cx="275354" cy="68838"/>
            </a:xfrm>
            <a:custGeom>
              <a:avLst/>
              <a:gdLst>
                <a:gd name="csX0" fmla="*/ 259952 w 275354"/>
                <a:gd name="csY0" fmla="*/ 0 h 68838"/>
                <a:gd name="csX1" fmla="*/ 15403 w 275354"/>
                <a:gd name="csY1" fmla="*/ 0 h 68838"/>
                <a:gd name="csX2" fmla="*/ 0 w 275354"/>
                <a:gd name="csY2" fmla="*/ 15403 h 68838"/>
                <a:gd name="csX3" fmla="*/ 0 w 275354"/>
                <a:gd name="csY3" fmla="*/ 53436 h 68838"/>
                <a:gd name="csX4" fmla="*/ 15403 w 275354"/>
                <a:gd name="csY4" fmla="*/ 68839 h 68838"/>
                <a:gd name="csX5" fmla="*/ 259952 w 275354"/>
                <a:gd name="csY5" fmla="*/ 68839 h 68838"/>
                <a:gd name="csX6" fmla="*/ 275355 w 275354"/>
                <a:gd name="csY6" fmla="*/ 53436 h 68838"/>
                <a:gd name="csX7" fmla="*/ 275355 w 275354"/>
                <a:gd name="csY7" fmla="*/ 15403 h 68838"/>
                <a:gd name="csX8" fmla="*/ 259952 w 275354"/>
                <a:gd name="csY8" fmla="*/ 0 h 68838"/>
                <a:gd name="csX9" fmla="*/ 43024 w 275354"/>
                <a:gd name="csY9" fmla="*/ 43024 h 68838"/>
                <a:gd name="csX10" fmla="*/ 34419 w 275354"/>
                <a:gd name="csY10" fmla="*/ 34419 h 68838"/>
                <a:gd name="csX11" fmla="*/ 43024 w 275354"/>
                <a:gd name="csY11" fmla="*/ 25815 h 68838"/>
                <a:gd name="csX12" fmla="*/ 51629 w 275354"/>
                <a:gd name="csY12" fmla="*/ 34419 h 68838"/>
                <a:gd name="csX13" fmla="*/ 43024 w 275354"/>
                <a:gd name="csY13" fmla="*/ 43024 h 68838"/>
                <a:gd name="csX14" fmla="*/ 86048 w 275354"/>
                <a:gd name="csY14" fmla="*/ 43024 h 68838"/>
                <a:gd name="csX15" fmla="*/ 77444 w 275354"/>
                <a:gd name="csY15" fmla="*/ 34419 h 68838"/>
                <a:gd name="csX16" fmla="*/ 86048 w 275354"/>
                <a:gd name="csY16" fmla="*/ 25815 h 68838"/>
                <a:gd name="csX17" fmla="*/ 94653 w 275354"/>
                <a:gd name="csY17" fmla="*/ 34419 h 68838"/>
                <a:gd name="csX18" fmla="*/ 86048 w 275354"/>
                <a:gd name="csY18" fmla="*/ 43024 h 68838"/>
                <a:gd name="csX19" fmla="*/ 129073 w 275354"/>
                <a:gd name="csY19" fmla="*/ 43024 h 68838"/>
                <a:gd name="csX20" fmla="*/ 120468 w 275354"/>
                <a:gd name="csY20" fmla="*/ 34419 h 68838"/>
                <a:gd name="csX21" fmla="*/ 129073 w 275354"/>
                <a:gd name="csY21" fmla="*/ 25815 h 68838"/>
                <a:gd name="csX22" fmla="*/ 137677 w 275354"/>
                <a:gd name="csY22" fmla="*/ 34419 h 68838"/>
                <a:gd name="csX23" fmla="*/ 129073 w 275354"/>
                <a:gd name="csY23" fmla="*/ 43024 h 68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75354" h="68838">
                  <a:moveTo>
                    <a:pt x="259952" y="0"/>
                  </a:moveTo>
                  <a:lnTo>
                    <a:pt x="15403" y="0"/>
                  </a:lnTo>
                  <a:cubicBezTo>
                    <a:pt x="6896" y="0"/>
                    <a:pt x="0" y="6896"/>
                    <a:pt x="0" y="15403"/>
                  </a:cubicBezTo>
                  <a:lnTo>
                    <a:pt x="0" y="53436"/>
                  </a:lnTo>
                  <a:cubicBezTo>
                    <a:pt x="0" y="61943"/>
                    <a:pt x="6896" y="68839"/>
                    <a:pt x="15403" y="68839"/>
                  </a:cubicBezTo>
                  <a:lnTo>
                    <a:pt x="259952" y="68839"/>
                  </a:lnTo>
                  <a:cubicBezTo>
                    <a:pt x="268459" y="68839"/>
                    <a:pt x="275355" y="61943"/>
                    <a:pt x="275355" y="53436"/>
                  </a:cubicBezTo>
                  <a:lnTo>
                    <a:pt x="275355" y="15403"/>
                  </a:lnTo>
                  <a:cubicBezTo>
                    <a:pt x="275355" y="6896"/>
                    <a:pt x="268459" y="0"/>
                    <a:pt x="259952" y="0"/>
                  </a:cubicBezTo>
                  <a:close/>
                  <a:moveTo>
                    <a:pt x="43024" y="43024"/>
                  </a:moveTo>
                  <a:cubicBezTo>
                    <a:pt x="38272" y="43024"/>
                    <a:pt x="34419" y="39172"/>
                    <a:pt x="34419" y="34419"/>
                  </a:cubicBezTo>
                  <a:cubicBezTo>
                    <a:pt x="34419" y="29667"/>
                    <a:pt x="38272" y="25815"/>
                    <a:pt x="43024" y="25815"/>
                  </a:cubicBezTo>
                  <a:cubicBezTo>
                    <a:pt x="47777" y="25815"/>
                    <a:pt x="51629" y="29667"/>
                    <a:pt x="51629" y="34419"/>
                  </a:cubicBezTo>
                  <a:cubicBezTo>
                    <a:pt x="51629" y="39172"/>
                    <a:pt x="47777" y="43024"/>
                    <a:pt x="43024" y="43024"/>
                  </a:cubicBezTo>
                  <a:close/>
                  <a:moveTo>
                    <a:pt x="86048" y="43024"/>
                  </a:moveTo>
                  <a:cubicBezTo>
                    <a:pt x="81296" y="43024"/>
                    <a:pt x="77444" y="39172"/>
                    <a:pt x="77444" y="34419"/>
                  </a:cubicBezTo>
                  <a:cubicBezTo>
                    <a:pt x="77444" y="29667"/>
                    <a:pt x="81296" y="25815"/>
                    <a:pt x="86048" y="25815"/>
                  </a:cubicBezTo>
                  <a:cubicBezTo>
                    <a:pt x="90801" y="25815"/>
                    <a:pt x="94653" y="29667"/>
                    <a:pt x="94653" y="34419"/>
                  </a:cubicBezTo>
                  <a:cubicBezTo>
                    <a:pt x="94653" y="39172"/>
                    <a:pt x="90801" y="43024"/>
                    <a:pt x="86048" y="43024"/>
                  </a:cubicBezTo>
                  <a:close/>
                  <a:moveTo>
                    <a:pt x="129073" y="43024"/>
                  </a:moveTo>
                  <a:cubicBezTo>
                    <a:pt x="124320" y="43024"/>
                    <a:pt x="120468" y="39172"/>
                    <a:pt x="120468" y="34419"/>
                  </a:cubicBezTo>
                  <a:cubicBezTo>
                    <a:pt x="120468" y="29667"/>
                    <a:pt x="124320" y="25815"/>
                    <a:pt x="129073" y="25815"/>
                  </a:cubicBezTo>
                  <a:cubicBezTo>
                    <a:pt x="133825" y="25815"/>
                    <a:pt x="137677" y="29667"/>
                    <a:pt x="137677" y="34419"/>
                  </a:cubicBezTo>
                  <a:cubicBezTo>
                    <a:pt x="137677" y="39172"/>
                    <a:pt x="133825" y="43024"/>
                    <a:pt x="129073" y="43024"/>
                  </a:cubicBezTo>
                  <a:close/>
                </a:path>
              </a:pathLst>
            </a:custGeom>
            <a:grpFill/>
            <a:ln w="10795" cap="flat" cmpd="sng" algn="ctr">
              <a:noFill/>
              <a:prstDash val="solid"/>
            </a:ln>
            <a:effectLst/>
          </p:spPr>
          <p:txBody>
            <a:bodyPr/>
            <a:lstStyle/>
            <a:p>
              <a:endParaRPr lang="en-US"/>
            </a:p>
          </p:txBody>
        </p:sp>
        <p:sp>
          <p:nvSpPr>
            <p:cNvPr id="36" name="Freeform: Shape 35">
              <a:extLst>
                <a:ext uri="{FF2B5EF4-FFF2-40B4-BE49-F238E27FC236}">
                  <a16:creationId xmlns:a16="http://schemas.microsoft.com/office/drawing/2014/main" id="{C43BB91A-87B9-BF0F-642C-95381612A0F8}"/>
                </a:ext>
              </a:extLst>
            </p:cNvPr>
            <p:cNvSpPr/>
            <p:nvPr/>
          </p:nvSpPr>
          <p:spPr>
            <a:xfrm>
              <a:off x="4584139" y="2020161"/>
              <a:ext cx="275354" cy="68838"/>
            </a:xfrm>
            <a:custGeom>
              <a:avLst/>
              <a:gdLst>
                <a:gd name="csX0" fmla="*/ 259952 w 275354"/>
                <a:gd name="csY0" fmla="*/ 0 h 68838"/>
                <a:gd name="csX1" fmla="*/ 15403 w 275354"/>
                <a:gd name="csY1" fmla="*/ 0 h 68838"/>
                <a:gd name="csX2" fmla="*/ 0 w 275354"/>
                <a:gd name="csY2" fmla="*/ 15403 h 68838"/>
                <a:gd name="csX3" fmla="*/ 0 w 275354"/>
                <a:gd name="csY3" fmla="*/ 53436 h 68838"/>
                <a:gd name="csX4" fmla="*/ 15403 w 275354"/>
                <a:gd name="csY4" fmla="*/ 68839 h 68838"/>
                <a:gd name="csX5" fmla="*/ 259952 w 275354"/>
                <a:gd name="csY5" fmla="*/ 68839 h 68838"/>
                <a:gd name="csX6" fmla="*/ 275355 w 275354"/>
                <a:gd name="csY6" fmla="*/ 53436 h 68838"/>
                <a:gd name="csX7" fmla="*/ 275355 w 275354"/>
                <a:gd name="csY7" fmla="*/ 15403 h 68838"/>
                <a:gd name="csX8" fmla="*/ 259952 w 275354"/>
                <a:gd name="csY8" fmla="*/ 0 h 68838"/>
                <a:gd name="csX9" fmla="*/ 43024 w 275354"/>
                <a:gd name="csY9" fmla="*/ 43024 h 68838"/>
                <a:gd name="csX10" fmla="*/ 34419 w 275354"/>
                <a:gd name="csY10" fmla="*/ 34419 h 68838"/>
                <a:gd name="csX11" fmla="*/ 43024 w 275354"/>
                <a:gd name="csY11" fmla="*/ 25815 h 68838"/>
                <a:gd name="csX12" fmla="*/ 51629 w 275354"/>
                <a:gd name="csY12" fmla="*/ 34419 h 68838"/>
                <a:gd name="csX13" fmla="*/ 43024 w 275354"/>
                <a:gd name="csY13" fmla="*/ 43024 h 68838"/>
                <a:gd name="csX14" fmla="*/ 86048 w 275354"/>
                <a:gd name="csY14" fmla="*/ 43024 h 68838"/>
                <a:gd name="csX15" fmla="*/ 77444 w 275354"/>
                <a:gd name="csY15" fmla="*/ 34419 h 68838"/>
                <a:gd name="csX16" fmla="*/ 86048 w 275354"/>
                <a:gd name="csY16" fmla="*/ 25815 h 68838"/>
                <a:gd name="csX17" fmla="*/ 94653 w 275354"/>
                <a:gd name="csY17" fmla="*/ 34419 h 68838"/>
                <a:gd name="csX18" fmla="*/ 86048 w 275354"/>
                <a:gd name="csY18" fmla="*/ 43024 h 68838"/>
                <a:gd name="csX19" fmla="*/ 129073 w 275354"/>
                <a:gd name="csY19" fmla="*/ 43024 h 68838"/>
                <a:gd name="csX20" fmla="*/ 120468 w 275354"/>
                <a:gd name="csY20" fmla="*/ 34419 h 68838"/>
                <a:gd name="csX21" fmla="*/ 129073 w 275354"/>
                <a:gd name="csY21" fmla="*/ 25815 h 68838"/>
                <a:gd name="csX22" fmla="*/ 137677 w 275354"/>
                <a:gd name="csY22" fmla="*/ 34419 h 68838"/>
                <a:gd name="csX23" fmla="*/ 129073 w 275354"/>
                <a:gd name="csY23" fmla="*/ 43024 h 68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75354" h="68838">
                  <a:moveTo>
                    <a:pt x="259952" y="0"/>
                  </a:moveTo>
                  <a:lnTo>
                    <a:pt x="15403" y="0"/>
                  </a:lnTo>
                  <a:cubicBezTo>
                    <a:pt x="6896" y="0"/>
                    <a:pt x="0" y="6896"/>
                    <a:pt x="0" y="15403"/>
                  </a:cubicBezTo>
                  <a:lnTo>
                    <a:pt x="0" y="53436"/>
                  </a:lnTo>
                  <a:cubicBezTo>
                    <a:pt x="0" y="61943"/>
                    <a:pt x="6896" y="68839"/>
                    <a:pt x="15403" y="68839"/>
                  </a:cubicBezTo>
                  <a:lnTo>
                    <a:pt x="259952" y="68839"/>
                  </a:lnTo>
                  <a:cubicBezTo>
                    <a:pt x="268459" y="68839"/>
                    <a:pt x="275355" y="61943"/>
                    <a:pt x="275355" y="53436"/>
                  </a:cubicBezTo>
                  <a:lnTo>
                    <a:pt x="275355" y="15403"/>
                  </a:lnTo>
                  <a:cubicBezTo>
                    <a:pt x="275355" y="6896"/>
                    <a:pt x="268459" y="0"/>
                    <a:pt x="259952" y="0"/>
                  </a:cubicBezTo>
                  <a:close/>
                  <a:moveTo>
                    <a:pt x="43024" y="43024"/>
                  </a:moveTo>
                  <a:cubicBezTo>
                    <a:pt x="38272" y="43024"/>
                    <a:pt x="34419" y="39172"/>
                    <a:pt x="34419" y="34419"/>
                  </a:cubicBezTo>
                  <a:cubicBezTo>
                    <a:pt x="34419" y="29667"/>
                    <a:pt x="38272" y="25815"/>
                    <a:pt x="43024" y="25815"/>
                  </a:cubicBezTo>
                  <a:cubicBezTo>
                    <a:pt x="47777" y="25815"/>
                    <a:pt x="51629" y="29667"/>
                    <a:pt x="51629" y="34419"/>
                  </a:cubicBezTo>
                  <a:cubicBezTo>
                    <a:pt x="51629" y="39172"/>
                    <a:pt x="47777" y="43024"/>
                    <a:pt x="43024" y="43024"/>
                  </a:cubicBezTo>
                  <a:close/>
                  <a:moveTo>
                    <a:pt x="86048" y="43024"/>
                  </a:moveTo>
                  <a:cubicBezTo>
                    <a:pt x="81296" y="43024"/>
                    <a:pt x="77444" y="39172"/>
                    <a:pt x="77444" y="34419"/>
                  </a:cubicBezTo>
                  <a:cubicBezTo>
                    <a:pt x="77444" y="29667"/>
                    <a:pt x="81296" y="25815"/>
                    <a:pt x="86048" y="25815"/>
                  </a:cubicBezTo>
                  <a:cubicBezTo>
                    <a:pt x="90801" y="25815"/>
                    <a:pt x="94653" y="29667"/>
                    <a:pt x="94653" y="34419"/>
                  </a:cubicBezTo>
                  <a:cubicBezTo>
                    <a:pt x="94653" y="39172"/>
                    <a:pt x="90801" y="43024"/>
                    <a:pt x="86048" y="43024"/>
                  </a:cubicBezTo>
                  <a:close/>
                  <a:moveTo>
                    <a:pt x="129073" y="43024"/>
                  </a:moveTo>
                  <a:cubicBezTo>
                    <a:pt x="124320" y="43024"/>
                    <a:pt x="120468" y="39172"/>
                    <a:pt x="120468" y="34419"/>
                  </a:cubicBezTo>
                  <a:cubicBezTo>
                    <a:pt x="120468" y="29667"/>
                    <a:pt x="124320" y="25815"/>
                    <a:pt x="129073" y="25815"/>
                  </a:cubicBezTo>
                  <a:cubicBezTo>
                    <a:pt x="133825" y="25815"/>
                    <a:pt x="137677" y="29667"/>
                    <a:pt x="137677" y="34419"/>
                  </a:cubicBezTo>
                  <a:cubicBezTo>
                    <a:pt x="137677" y="39172"/>
                    <a:pt x="133825" y="43024"/>
                    <a:pt x="129073" y="43024"/>
                  </a:cubicBezTo>
                  <a:close/>
                </a:path>
              </a:pathLst>
            </a:custGeom>
            <a:grpFill/>
            <a:ln w="10795" cap="flat" cmpd="sng" algn="ctr">
              <a:noFill/>
              <a:prstDash val="solid"/>
            </a:ln>
            <a:effectLst/>
          </p:spPr>
          <p:txBody>
            <a:bodyPr/>
            <a:lstStyle/>
            <a:p>
              <a:endParaRPr lang="en-US"/>
            </a:p>
          </p:txBody>
        </p:sp>
        <p:sp>
          <p:nvSpPr>
            <p:cNvPr id="37" name="Freeform: Shape 36">
              <a:extLst>
                <a:ext uri="{FF2B5EF4-FFF2-40B4-BE49-F238E27FC236}">
                  <a16:creationId xmlns:a16="http://schemas.microsoft.com/office/drawing/2014/main" id="{3544D6A5-DF62-2136-AAB6-53DABB8EEADA}"/>
                </a:ext>
              </a:extLst>
            </p:cNvPr>
            <p:cNvSpPr/>
            <p:nvPr/>
          </p:nvSpPr>
          <p:spPr>
            <a:xfrm>
              <a:off x="4584139" y="1934113"/>
              <a:ext cx="275354" cy="68838"/>
            </a:xfrm>
            <a:custGeom>
              <a:avLst/>
              <a:gdLst>
                <a:gd name="csX0" fmla="*/ 259952 w 275354"/>
                <a:gd name="csY0" fmla="*/ 0 h 68838"/>
                <a:gd name="csX1" fmla="*/ 15403 w 275354"/>
                <a:gd name="csY1" fmla="*/ 0 h 68838"/>
                <a:gd name="csX2" fmla="*/ 0 w 275354"/>
                <a:gd name="csY2" fmla="*/ 15403 h 68838"/>
                <a:gd name="csX3" fmla="*/ 0 w 275354"/>
                <a:gd name="csY3" fmla="*/ 53436 h 68838"/>
                <a:gd name="csX4" fmla="*/ 15403 w 275354"/>
                <a:gd name="csY4" fmla="*/ 68839 h 68838"/>
                <a:gd name="csX5" fmla="*/ 259952 w 275354"/>
                <a:gd name="csY5" fmla="*/ 68839 h 68838"/>
                <a:gd name="csX6" fmla="*/ 275355 w 275354"/>
                <a:gd name="csY6" fmla="*/ 53436 h 68838"/>
                <a:gd name="csX7" fmla="*/ 275355 w 275354"/>
                <a:gd name="csY7" fmla="*/ 15403 h 68838"/>
                <a:gd name="csX8" fmla="*/ 259952 w 275354"/>
                <a:gd name="csY8" fmla="*/ 0 h 68838"/>
                <a:gd name="csX9" fmla="*/ 43024 w 275354"/>
                <a:gd name="csY9" fmla="*/ 43024 h 68838"/>
                <a:gd name="csX10" fmla="*/ 34419 w 275354"/>
                <a:gd name="csY10" fmla="*/ 34419 h 68838"/>
                <a:gd name="csX11" fmla="*/ 43024 w 275354"/>
                <a:gd name="csY11" fmla="*/ 25815 h 68838"/>
                <a:gd name="csX12" fmla="*/ 51629 w 275354"/>
                <a:gd name="csY12" fmla="*/ 34419 h 68838"/>
                <a:gd name="csX13" fmla="*/ 43024 w 275354"/>
                <a:gd name="csY13" fmla="*/ 43024 h 68838"/>
                <a:gd name="csX14" fmla="*/ 86048 w 275354"/>
                <a:gd name="csY14" fmla="*/ 43024 h 68838"/>
                <a:gd name="csX15" fmla="*/ 77444 w 275354"/>
                <a:gd name="csY15" fmla="*/ 34419 h 68838"/>
                <a:gd name="csX16" fmla="*/ 86048 w 275354"/>
                <a:gd name="csY16" fmla="*/ 25815 h 68838"/>
                <a:gd name="csX17" fmla="*/ 94653 w 275354"/>
                <a:gd name="csY17" fmla="*/ 34419 h 68838"/>
                <a:gd name="csX18" fmla="*/ 86048 w 275354"/>
                <a:gd name="csY18" fmla="*/ 43024 h 68838"/>
                <a:gd name="csX19" fmla="*/ 129073 w 275354"/>
                <a:gd name="csY19" fmla="*/ 43024 h 68838"/>
                <a:gd name="csX20" fmla="*/ 120468 w 275354"/>
                <a:gd name="csY20" fmla="*/ 34419 h 68838"/>
                <a:gd name="csX21" fmla="*/ 129073 w 275354"/>
                <a:gd name="csY21" fmla="*/ 25815 h 68838"/>
                <a:gd name="csX22" fmla="*/ 137677 w 275354"/>
                <a:gd name="csY22" fmla="*/ 34419 h 68838"/>
                <a:gd name="csX23" fmla="*/ 129073 w 275354"/>
                <a:gd name="csY23" fmla="*/ 43024 h 688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275354" h="68838">
                  <a:moveTo>
                    <a:pt x="259952" y="0"/>
                  </a:moveTo>
                  <a:lnTo>
                    <a:pt x="15403" y="0"/>
                  </a:lnTo>
                  <a:cubicBezTo>
                    <a:pt x="6896" y="0"/>
                    <a:pt x="0" y="6896"/>
                    <a:pt x="0" y="15403"/>
                  </a:cubicBezTo>
                  <a:lnTo>
                    <a:pt x="0" y="53436"/>
                  </a:lnTo>
                  <a:cubicBezTo>
                    <a:pt x="0" y="61943"/>
                    <a:pt x="6896" y="68839"/>
                    <a:pt x="15403" y="68839"/>
                  </a:cubicBezTo>
                  <a:lnTo>
                    <a:pt x="259952" y="68839"/>
                  </a:lnTo>
                  <a:cubicBezTo>
                    <a:pt x="268459" y="68839"/>
                    <a:pt x="275355" y="61943"/>
                    <a:pt x="275355" y="53436"/>
                  </a:cubicBezTo>
                  <a:lnTo>
                    <a:pt x="275355" y="15403"/>
                  </a:lnTo>
                  <a:cubicBezTo>
                    <a:pt x="275355" y="6896"/>
                    <a:pt x="268459" y="0"/>
                    <a:pt x="259952" y="0"/>
                  </a:cubicBezTo>
                  <a:close/>
                  <a:moveTo>
                    <a:pt x="43024" y="43024"/>
                  </a:moveTo>
                  <a:cubicBezTo>
                    <a:pt x="38272" y="43024"/>
                    <a:pt x="34419" y="39172"/>
                    <a:pt x="34419" y="34419"/>
                  </a:cubicBezTo>
                  <a:cubicBezTo>
                    <a:pt x="34419" y="29667"/>
                    <a:pt x="38272" y="25815"/>
                    <a:pt x="43024" y="25815"/>
                  </a:cubicBezTo>
                  <a:cubicBezTo>
                    <a:pt x="47777" y="25815"/>
                    <a:pt x="51629" y="29667"/>
                    <a:pt x="51629" y="34419"/>
                  </a:cubicBezTo>
                  <a:cubicBezTo>
                    <a:pt x="51629" y="39172"/>
                    <a:pt x="47777" y="43024"/>
                    <a:pt x="43024" y="43024"/>
                  </a:cubicBezTo>
                  <a:close/>
                  <a:moveTo>
                    <a:pt x="86048" y="43024"/>
                  </a:moveTo>
                  <a:cubicBezTo>
                    <a:pt x="81296" y="43024"/>
                    <a:pt x="77444" y="39172"/>
                    <a:pt x="77444" y="34419"/>
                  </a:cubicBezTo>
                  <a:cubicBezTo>
                    <a:pt x="77444" y="29667"/>
                    <a:pt x="81296" y="25815"/>
                    <a:pt x="86048" y="25815"/>
                  </a:cubicBezTo>
                  <a:cubicBezTo>
                    <a:pt x="90801" y="25815"/>
                    <a:pt x="94653" y="29667"/>
                    <a:pt x="94653" y="34419"/>
                  </a:cubicBezTo>
                  <a:cubicBezTo>
                    <a:pt x="94653" y="39172"/>
                    <a:pt x="90801" y="43024"/>
                    <a:pt x="86048" y="43024"/>
                  </a:cubicBezTo>
                  <a:close/>
                  <a:moveTo>
                    <a:pt x="129073" y="43024"/>
                  </a:moveTo>
                  <a:cubicBezTo>
                    <a:pt x="124320" y="43024"/>
                    <a:pt x="120468" y="39172"/>
                    <a:pt x="120468" y="34419"/>
                  </a:cubicBezTo>
                  <a:cubicBezTo>
                    <a:pt x="120468" y="29667"/>
                    <a:pt x="124320" y="25815"/>
                    <a:pt x="129073" y="25815"/>
                  </a:cubicBezTo>
                  <a:cubicBezTo>
                    <a:pt x="133825" y="25815"/>
                    <a:pt x="137677" y="29667"/>
                    <a:pt x="137677" y="34419"/>
                  </a:cubicBezTo>
                  <a:cubicBezTo>
                    <a:pt x="137677" y="39172"/>
                    <a:pt x="133825" y="43024"/>
                    <a:pt x="129073" y="43024"/>
                  </a:cubicBezTo>
                  <a:close/>
                </a:path>
              </a:pathLst>
            </a:custGeom>
            <a:grpFill/>
            <a:ln w="10795" cap="flat" cmpd="sng" algn="ctr">
              <a:noFill/>
              <a:prstDash val="solid"/>
            </a:ln>
            <a:effectLst/>
          </p:spPr>
          <p:txBody>
            <a:bodyPr/>
            <a:lstStyle/>
            <a:p>
              <a:endParaRPr lang="en-US"/>
            </a:p>
          </p:txBody>
        </p:sp>
      </p:grpSp>
      <p:sp>
        <p:nvSpPr>
          <p:cNvPr id="103" name="TextBox 102">
            <a:extLst>
              <a:ext uri="{FF2B5EF4-FFF2-40B4-BE49-F238E27FC236}">
                <a16:creationId xmlns:a16="http://schemas.microsoft.com/office/drawing/2014/main" id="{DA71087E-3B64-052A-7369-3FBAADCE8D7C}"/>
              </a:ext>
            </a:extLst>
          </p:cNvPr>
          <p:cNvSpPr txBox="1"/>
          <p:nvPr/>
        </p:nvSpPr>
        <p:spPr>
          <a:xfrm>
            <a:off x="1186467" y="2629514"/>
            <a:ext cx="1398480" cy="272415"/>
          </a:xfrm>
          <a:prstGeom prst="roundRect">
            <a:avLst>
              <a:gd name="adj" fmla="val 50000"/>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defPPr>
              <a:defRPr lang="en-US"/>
            </a:defPPr>
            <a:lvl1pPr algn="ctr" defTabSz="1219170">
              <a:defRPr>
                <a:ea typeface="Calibri" pitchFamily="34" charset="-122"/>
                <a:cs typeface="Calibri" pitchFamily="34" charset="-12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914400">
              <a:defRPr/>
            </a:pPr>
            <a:r>
              <a:rPr lang="en-US" sz="1050" b="1">
                <a:solidFill>
                  <a:srgbClr val="0078D4"/>
                </a:solidFill>
                <a:latin typeface="Segoe Sans Display Semibold"/>
                <a:ea typeface="+mn-ea"/>
                <a:cs typeface="Segoe Sans Display Semibold" pitchFamily="2" charset="0"/>
              </a:rPr>
              <a:t>Microsoft</a:t>
            </a:r>
          </a:p>
        </p:txBody>
      </p:sp>
      <p:sp>
        <p:nvSpPr>
          <p:cNvPr id="104" name="TextBox 103">
            <a:extLst>
              <a:ext uri="{FF2B5EF4-FFF2-40B4-BE49-F238E27FC236}">
                <a16:creationId xmlns:a16="http://schemas.microsoft.com/office/drawing/2014/main" id="{4A170F23-B2EA-F61B-0604-08035A547536}"/>
              </a:ext>
            </a:extLst>
          </p:cNvPr>
          <p:cNvSpPr txBox="1"/>
          <p:nvPr/>
        </p:nvSpPr>
        <p:spPr>
          <a:xfrm>
            <a:off x="957512" y="3057779"/>
            <a:ext cx="1856406" cy="307777"/>
          </a:xfrm>
          <a:prstGeom prst="rect">
            <a:avLst/>
          </a:prstGeom>
          <a:noFill/>
        </p:spPr>
        <p:txBody>
          <a:bodyPr wrap="none" rtlCol="0">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w="3175">
                  <a:noFill/>
                </a:ln>
                <a:gradFill>
                  <a:gsLst>
                    <a:gs pos="0">
                      <a:srgbClr val="0078D4"/>
                    </a:gs>
                    <a:gs pos="94000">
                      <a:srgbClr val="C73ECC"/>
                    </a:gs>
                  </a:gsLst>
                  <a:lin ang="0" scaled="1"/>
                </a:gradFill>
                <a:effectLst/>
                <a:uLnTx/>
                <a:uFillTx/>
                <a:latin typeface="+mj-lt"/>
                <a:ea typeface="+mn-ea"/>
                <a:cs typeface="+mn-cs"/>
              </a:rPr>
              <a:t>PLATFORM CHANGE</a:t>
            </a:r>
          </a:p>
        </p:txBody>
      </p:sp>
      <p:sp>
        <p:nvSpPr>
          <p:cNvPr id="105" name="TextBox 104">
            <a:extLst>
              <a:ext uri="{FF2B5EF4-FFF2-40B4-BE49-F238E27FC236}">
                <a16:creationId xmlns:a16="http://schemas.microsoft.com/office/drawing/2014/main" id="{6822E41B-D1EF-1E7D-0D41-BE62A6393B68}"/>
              </a:ext>
            </a:extLst>
          </p:cNvPr>
          <p:cNvSpPr txBox="1"/>
          <p:nvPr/>
        </p:nvSpPr>
        <p:spPr>
          <a:xfrm>
            <a:off x="608123" y="3482921"/>
            <a:ext cx="2555166" cy="461665"/>
          </a:xfrm>
          <a:prstGeom prst="rect">
            <a:avLst/>
          </a:prstGeom>
          <a:noFill/>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91F2C"/>
                </a:solidFill>
                <a:effectLst/>
                <a:uLnTx/>
                <a:uFillTx/>
                <a:latin typeface="+mj-lt"/>
                <a:ea typeface="+mn-ea"/>
                <a:cs typeface="Segoe Sans Display Semibold" pitchFamily="2" charset="0"/>
              </a:rPr>
              <a:t>Microsoft updates introduce new capabilities, security enhancements, and admin experience changes</a:t>
            </a:r>
          </a:p>
        </p:txBody>
      </p:sp>
      <p:sp>
        <p:nvSpPr>
          <p:cNvPr id="2" name="TextBox 1">
            <a:extLst>
              <a:ext uri="{FF2B5EF4-FFF2-40B4-BE49-F238E27FC236}">
                <a16:creationId xmlns:a16="http://schemas.microsoft.com/office/drawing/2014/main" id="{87C76064-ECA4-4149-E7C2-DF153D09AB95}"/>
              </a:ext>
            </a:extLst>
          </p:cNvPr>
          <p:cNvSpPr txBox="1"/>
          <p:nvPr/>
        </p:nvSpPr>
        <p:spPr>
          <a:xfrm>
            <a:off x="608122" y="4476118"/>
            <a:ext cx="2555166" cy="1489199"/>
          </a:xfrm>
          <a:prstGeom prst="rect">
            <a:avLst/>
          </a:prstGeom>
          <a:noFill/>
        </p:spPr>
        <p:txBody>
          <a:bodyPr wrap="square" lIns="0" tIns="0" rIns="0" bIns="0" anchor="t">
            <a:noAutofit/>
          </a:bodyPr>
          <a:lstStyle/>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91F2C"/>
                </a:solidFill>
                <a:effectLst/>
                <a:uLnTx/>
                <a:uFillTx/>
                <a:ea typeface="+mn-ea"/>
                <a:cs typeface="+mn-cs"/>
              </a:rPr>
              <a:t>New features</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91F2C"/>
                </a:solidFill>
                <a:effectLst/>
                <a:uLnTx/>
                <a:uFillTx/>
                <a:ea typeface="+mn-ea"/>
                <a:cs typeface="+mn-cs"/>
              </a:rPr>
              <a:t>Deprecations</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91F2C"/>
                </a:solidFill>
                <a:effectLst/>
                <a:uLnTx/>
                <a:uFillTx/>
                <a:ea typeface="+mn-ea"/>
                <a:cs typeface="+mn-cs"/>
              </a:rPr>
              <a:t>Security and admin changes</a:t>
            </a:r>
            <a:endParaRPr kumimoji="0" lang="en-IN" sz="1200" b="0" i="0" u="none" strike="noStrike" kern="1200" cap="none" spc="0" normalizeH="0" baseline="0" noProof="0">
              <a:ln>
                <a:noFill/>
              </a:ln>
              <a:solidFill>
                <a:srgbClr val="091F2C"/>
              </a:solidFill>
              <a:effectLst/>
              <a:uLnTx/>
              <a:uFillTx/>
              <a:ea typeface="+mn-ea"/>
              <a:cs typeface="+mn-cs"/>
            </a:endParaRPr>
          </a:p>
        </p:txBody>
      </p:sp>
      <p:sp>
        <p:nvSpPr>
          <p:cNvPr id="23" name="TextBox 22">
            <a:extLst>
              <a:ext uri="{FF2B5EF4-FFF2-40B4-BE49-F238E27FC236}">
                <a16:creationId xmlns:a16="http://schemas.microsoft.com/office/drawing/2014/main" id="{D82655CE-7300-D0F1-7537-05F0DD9AB308}"/>
              </a:ext>
            </a:extLst>
          </p:cNvPr>
          <p:cNvSpPr txBox="1">
            <a:spLocks/>
          </p:cNvSpPr>
          <p:nvPr/>
        </p:nvSpPr>
        <p:spPr>
          <a:xfrm>
            <a:off x="4022575" y="2629514"/>
            <a:ext cx="1398480" cy="272415"/>
          </a:xfrm>
          <a:prstGeom prst="roundRect">
            <a:avLst>
              <a:gd name="adj" fmla="val 50000"/>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defPPr>
              <a:defRPr lang="en-US"/>
            </a:defPPr>
            <a:lvl1pPr algn="ctr">
              <a:defRPr sz="1050" b="1">
                <a:solidFill>
                  <a:srgbClr val="0078D4"/>
                </a:solidFill>
                <a:latin typeface="Segoe Sans Display Semibold"/>
                <a:cs typeface="Segoe Sans Display Semi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IT Admin</a:t>
            </a:r>
          </a:p>
        </p:txBody>
      </p:sp>
      <p:sp>
        <p:nvSpPr>
          <p:cNvPr id="24" name="TextBox 23">
            <a:extLst>
              <a:ext uri="{FF2B5EF4-FFF2-40B4-BE49-F238E27FC236}">
                <a16:creationId xmlns:a16="http://schemas.microsoft.com/office/drawing/2014/main" id="{5F9025AE-D0B5-BEF1-2F03-5D1211F5E84F}"/>
              </a:ext>
            </a:extLst>
          </p:cNvPr>
          <p:cNvSpPr txBox="1"/>
          <p:nvPr/>
        </p:nvSpPr>
        <p:spPr>
          <a:xfrm>
            <a:off x="3902523" y="3057779"/>
            <a:ext cx="1638590" cy="307777"/>
          </a:xfrm>
          <a:prstGeom prst="rect">
            <a:avLst/>
          </a:prstGeom>
          <a:noFill/>
        </p:spPr>
        <p:txBody>
          <a:bodyPr wrap="none" rtlCol="0">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w="3175">
                  <a:noFill/>
                </a:ln>
                <a:gradFill>
                  <a:gsLst>
                    <a:gs pos="0">
                      <a:srgbClr val="0078D4"/>
                    </a:gs>
                    <a:gs pos="94000">
                      <a:srgbClr val="C73ECC"/>
                    </a:gs>
                  </a:gsLst>
                  <a:lin ang="0" scaled="1"/>
                </a:gradFill>
                <a:effectLst/>
                <a:uLnTx/>
                <a:uFillTx/>
                <a:latin typeface="+mj-lt"/>
                <a:ea typeface="+mn-ea"/>
                <a:cs typeface="+mn-cs"/>
              </a:rPr>
              <a:t>TENANT CHANGE</a:t>
            </a:r>
          </a:p>
        </p:txBody>
      </p:sp>
      <p:sp>
        <p:nvSpPr>
          <p:cNvPr id="25" name="TextBox 24">
            <a:extLst>
              <a:ext uri="{FF2B5EF4-FFF2-40B4-BE49-F238E27FC236}">
                <a16:creationId xmlns:a16="http://schemas.microsoft.com/office/drawing/2014/main" id="{A795470C-7DBF-3638-0C56-2B160C2A39BF}"/>
              </a:ext>
            </a:extLst>
          </p:cNvPr>
          <p:cNvSpPr txBox="1"/>
          <p:nvPr/>
        </p:nvSpPr>
        <p:spPr>
          <a:xfrm>
            <a:off x="3444234" y="3478850"/>
            <a:ext cx="2555166" cy="461665"/>
          </a:xfrm>
          <a:prstGeom prst="rect">
            <a:avLst/>
          </a:prstGeom>
          <a:noFill/>
        </p:spPr>
        <p:txBody>
          <a:bodyPr wrap="square" lIns="0" tIns="0" rIns="0" bIns="0" anchor="t">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prstClr val="black">
                    <a:lumMod val="75000"/>
                    <a:lumOff val="25000"/>
                  </a:prstClr>
                </a:solidFill>
                <a:effectLst/>
                <a:uLnTx/>
                <a:uFillTx/>
                <a:latin typeface="Segoe UI Semibold" panose="020B0502040204020203" pitchFamily="34" charset="0"/>
                <a:cs typeface="Segoe UI Semibold"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91F2C"/>
                </a:solidFill>
                <a:effectLst/>
                <a:uLnTx/>
                <a:uFillTx/>
                <a:latin typeface="+mj-lt"/>
                <a:ea typeface="+mn-ea"/>
                <a:cs typeface="Segoe Sans Display Semibold" pitchFamily="2" charset="0"/>
              </a:rPr>
              <a:t>Admin decisions shape environment strategy, governance rules, and platform behavior</a:t>
            </a:r>
          </a:p>
        </p:txBody>
      </p:sp>
      <p:sp>
        <p:nvSpPr>
          <p:cNvPr id="17" name="TextBox 16">
            <a:extLst>
              <a:ext uri="{FF2B5EF4-FFF2-40B4-BE49-F238E27FC236}">
                <a16:creationId xmlns:a16="http://schemas.microsoft.com/office/drawing/2014/main" id="{8BBDE706-D62D-28CD-F023-8FBA48DE46A7}"/>
              </a:ext>
            </a:extLst>
          </p:cNvPr>
          <p:cNvSpPr txBox="1"/>
          <p:nvPr/>
        </p:nvSpPr>
        <p:spPr>
          <a:xfrm>
            <a:off x="3444233" y="4476118"/>
            <a:ext cx="2555166" cy="1489199"/>
          </a:xfrm>
          <a:prstGeom prst="rect">
            <a:avLst/>
          </a:prstGeom>
          <a:noFill/>
        </p:spPr>
        <p:txBody>
          <a:bodyPr wrap="square" lIns="0" tIns="0" rIns="0" bIns="0" anchor="t">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prstClr val="black">
                    <a:lumMod val="75000"/>
                    <a:lumOff val="25000"/>
                  </a:prstClr>
                </a:solidFill>
                <a:effectLst/>
                <a:uLnTx/>
                <a:uFillTx/>
                <a:latin typeface="Segoe UI Semibold" panose="020B0502040204020203" pitchFamily="34" charset="0"/>
                <a:cs typeface="Segoe UI Semibold" panose="020B0502040204020203" pitchFamily="34" charset="0"/>
              </a:defRPr>
            </a:lvl1pPr>
          </a:lstStyle>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91F2C"/>
                </a:solidFill>
                <a:effectLst/>
                <a:uLnTx/>
                <a:uFillTx/>
                <a:latin typeface="+mn-lt"/>
                <a:ea typeface="+mn-ea"/>
                <a:cs typeface="Segoe UI Semibold" panose="020B0502040204020203" pitchFamily="34" charset="0"/>
              </a:rPr>
              <a:t>Environment strategy</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91F2C"/>
                </a:solidFill>
                <a:effectLst/>
                <a:uLnTx/>
                <a:uFillTx/>
                <a:latin typeface="+mn-lt"/>
                <a:ea typeface="+mn-ea"/>
                <a:cs typeface="Segoe UI Semibold" panose="020B0502040204020203" pitchFamily="34" charset="0"/>
              </a:rPr>
              <a:t>Routing &amp; environment groups</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91F2C"/>
                </a:solidFill>
                <a:effectLst/>
                <a:uLnTx/>
                <a:uFillTx/>
                <a:latin typeface="+mn-lt"/>
                <a:ea typeface="+mn-ea"/>
                <a:cs typeface="Segoe UI Semibold" panose="020B0502040204020203" pitchFamily="34" charset="0"/>
              </a:rPr>
              <a:t>Connector governance</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91F2C"/>
                </a:solidFill>
                <a:effectLst/>
                <a:uLnTx/>
                <a:uFillTx/>
                <a:latin typeface="+mn-lt"/>
                <a:ea typeface="+mn-ea"/>
                <a:cs typeface="Segoe UI Semibold" panose="020B0502040204020203" pitchFamily="34" charset="0"/>
              </a:rPr>
              <a:t>Policy updates</a:t>
            </a:r>
            <a:endParaRPr kumimoji="0" lang="en-IN" sz="1200" b="0" i="0" u="none" strike="noStrike" kern="1200" cap="none" spc="0" normalizeH="0" baseline="0" noProof="0">
              <a:ln>
                <a:noFill/>
              </a:ln>
              <a:solidFill>
                <a:srgbClr val="091F2C"/>
              </a:solidFill>
              <a:effectLst/>
              <a:uLnTx/>
              <a:uFillTx/>
              <a:latin typeface="+mn-lt"/>
              <a:ea typeface="+mn-ea"/>
              <a:cs typeface="Segoe UI Semibold" panose="020B0502040204020203" pitchFamily="34" charset="0"/>
            </a:endParaRPr>
          </a:p>
        </p:txBody>
      </p:sp>
      <p:sp>
        <p:nvSpPr>
          <p:cNvPr id="107" name="TextBox 106">
            <a:extLst>
              <a:ext uri="{FF2B5EF4-FFF2-40B4-BE49-F238E27FC236}">
                <a16:creationId xmlns:a16="http://schemas.microsoft.com/office/drawing/2014/main" id="{AFF03631-76E7-42FA-3362-2E73C76DB353}"/>
              </a:ext>
            </a:extLst>
          </p:cNvPr>
          <p:cNvSpPr txBox="1"/>
          <p:nvPr/>
        </p:nvSpPr>
        <p:spPr>
          <a:xfrm>
            <a:off x="6855538" y="2629514"/>
            <a:ext cx="1398480" cy="272415"/>
          </a:xfrm>
          <a:prstGeom prst="roundRect">
            <a:avLst>
              <a:gd name="adj" fmla="val 50000"/>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defPPr>
              <a:defRPr lang="en-US"/>
            </a:defPPr>
            <a:lvl1pPr algn="ctr">
              <a:defRPr sz="1050" b="1">
                <a:solidFill>
                  <a:srgbClr val="0078D4"/>
                </a:solidFill>
                <a:latin typeface="Segoe Sans Display Semibold"/>
                <a:cs typeface="Segoe Sans Display Semi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Maker and Team</a:t>
            </a:r>
          </a:p>
        </p:txBody>
      </p:sp>
      <p:sp>
        <p:nvSpPr>
          <p:cNvPr id="108" name="TextBox 107">
            <a:extLst>
              <a:ext uri="{FF2B5EF4-FFF2-40B4-BE49-F238E27FC236}">
                <a16:creationId xmlns:a16="http://schemas.microsoft.com/office/drawing/2014/main" id="{ED0C22CA-46BD-BEE2-C979-3B922223009E}"/>
              </a:ext>
            </a:extLst>
          </p:cNvPr>
          <p:cNvSpPr txBox="1"/>
          <p:nvPr/>
        </p:nvSpPr>
        <p:spPr>
          <a:xfrm>
            <a:off x="6641806" y="3057779"/>
            <a:ext cx="1825949" cy="307777"/>
          </a:xfrm>
          <a:prstGeom prst="rect">
            <a:avLst/>
          </a:prstGeom>
          <a:noFill/>
        </p:spPr>
        <p:txBody>
          <a:bodyPr wrap="none" rtlCol="0">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w="3175">
                  <a:noFill/>
                </a:ln>
                <a:gradFill>
                  <a:gsLst>
                    <a:gs pos="0">
                      <a:srgbClr val="0078D4"/>
                    </a:gs>
                    <a:gs pos="94000">
                      <a:srgbClr val="C73ECC"/>
                    </a:gs>
                  </a:gsLst>
                  <a:lin ang="0" scaled="1"/>
                </a:gradFill>
                <a:effectLst/>
                <a:uLnTx/>
                <a:uFillTx/>
                <a:latin typeface="+mj-lt"/>
                <a:ea typeface="+mn-ea"/>
                <a:cs typeface="+mn-cs"/>
              </a:rPr>
              <a:t>SOLUTION CHANGE</a:t>
            </a:r>
          </a:p>
        </p:txBody>
      </p:sp>
      <p:sp>
        <p:nvSpPr>
          <p:cNvPr id="110" name="TextBox 109">
            <a:extLst>
              <a:ext uri="{FF2B5EF4-FFF2-40B4-BE49-F238E27FC236}">
                <a16:creationId xmlns:a16="http://schemas.microsoft.com/office/drawing/2014/main" id="{EBA20CF6-A5A6-89CD-7731-97A2B7D5BCD6}"/>
              </a:ext>
            </a:extLst>
          </p:cNvPr>
          <p:cNvSpPr txBox="1"/>
          <p:nvPr/>
        </p:nvSpPr>
        <p:spPr>
          <a:xfrm>
            <a:off x="6277195" y="3482921"/>
            <a:ext cx="2555166" cy="646331"/>
          </a:xfrm>
          <a:prstGeom prst="rect">
            <a:avLst/>
          </a:prstGeom>
          <a:noFill/>
        </p:spPr>
        <p:txBody>
          <a:bodyPr wrap="square" lIns="0" tIns="0" rIns="0" bIns="0" anchor="t">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prstClr val="black">
                    <a:lumMod val="75000"/>
                    <a:lumOff val="25000"/>
                  </a:prstClr>
                </a:solidFill>
                <a:effectLst/>
                <a:uLnTx/>
                <a:uFillTx/>
                <a:latin typeface="Segoe UI Semibold" panose="020B0502040204020203" pitchFamily="34" charset="0"/>
                <a:cs typeface="Segoe UI Semibold"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91F2C"/>
                </a:solidFill>
                <a:effectLst/>
                <a:uLnTx/>
                <a:uFillTx/>
                <a:latin typeface="+mj-lt"/>
                <a:ea typeface="+mn-ea"/>
                <a:cs typeface="Segoe Sans Display Semibold"/>
              </a:rPr>
              <a:t>Makers modify apps, automations, and agents through ongoing releases</a:t>
            </a:r>
          </a:p>
        </p:txBody>
      </p:sp>
      <p:sp>
        <p:nvSpPr>
          <p:cNvPr id="3" name="TextBox 2">
            <a:extLst>
              <a:ext uri="{FF2B5EF4-FFF2-40B4-BE49-F238E27FC236}">
                <a16:creationId xmlns:a16="http://schemas.microsoft.com/office/drawing/2014/main" id="{E6F5D8FE-7DE0-7C4E-3383-82FDC77CBF12}"/>
              </a:ext>
            </a:extLst>
          </p:cNvPr>
          <p:cNvSpPr txBox="1"/>
          <p:nvPr/>
        </p:nvSpPr>
        <p:spPr>
          <a:xfrm>
            <a:off x="6277195" y="4476118"/>
            <a:ext cx="2555166" cy="1489199"/>
          </a:xfrm>
          <a:prstGeom prst="rect">
            <a:avLst/>
          </a:prstGeom>
          <a:noFill/>
        </p:spPr>
        <p:txBody>
          <a:bodyPr wrap="square" lIns="0" tIns="0" rIns="0" bIns="0" anchor="t">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prstClr val="black">
                    <a:lumMod val="75000"/>
                    <a:lumOff val="25000"/>
                  </a:prstClr>
                </a:solidFill>
                <a:effectLst/>
                <a:uLnTx/>
                <a:uFillTx/>
                <a:latin typeface="Segoe UI Semibold" panose="020B0502040204020203" pitchFamily="34" charset="0"/>
                <a:cs typeface="Segoe UI Semibold" panose="020B0502040204020203" pitchFamily="34" charset="0"/>
              </a:defRPr>
            </a:lvl1pPr>
          </a:lstStyle>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91F2C"/>
                </a:solidFill>
                <a:effectLst/>
                <a:uLnTx/>
                <a:uFillTx/>
                <a:latin typeface="+mn-lt"/>
                <a:ea typeface="+mn-ea"/>
                <a:cs typeface="Segoe UI Semibold"/>
              </a:rPr>
              <a:t>New agents</a:t>
            </a:r>
          </a:p>
          <a:p>
            <a:pPr marL="0" marR="0" lvl="0" indent="0" algn="ctr" defTabSz="914400" rtl="0" eaLnBrk="1" fontAlgn="ctr" latinLnBrk="0" hangingPunct="1">
              <a:lnSpc>
                <a:spcPct val="100000"/>
              </a:lnSpc>
              <a:spcBef>
                <a:spcPts val="0"/>
              </a:spcBef>
              <a:spcAft>
                <a:spcPts val="800"/>
              </a:spcAft>
              <a:buClrTx/>
              <a:buSzTx/>
              <a:buFontTx/>
              <a:buNone/>
              <a:tabLst/>
              <a:defRPr/>
            </a:pPr>
            <a:r>
              <a:rPr lang="en-US" b="0">
                <a:solidFill>
                  <a:srgbClr val="091F2C"/>
                </a:solidFill>
                <a:latin typeface="+mn-lt"/>
                <a:cs typeface="Segoe UI Semibold"/>
              </a:rPr>
              <a:t>Modifying existing agents</a:t>
            </a:r>
            <a:endParaRPr kumimoji="0" lang="en-US" sz="1200" b="0" i="0" u="none" strike="noStrike" kern="1200" cap="none" spc="0" normalizeH="0" baseline="0" noProof="0">
              <a:ln>
                <a:noFill/>
              </a:ln>
              <a:solidFill>
                <a:srgbClr val="091F2C"/>
              </a:solidFill>
              <a:effectLst/>
              <a:uLnTx/>
              <a:uFillTx/>
              <a:latin typeface="+mn-lt"/>
              <a:ea typeface="+mn-ea"/>
              <a:cs typeface="Segoe UI Semibold"/>
            </a:endParaRP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91F2C"/>
                </a:solidFill>
                <a:effectLst/>
                <a:uLnTx/>
                <a:uFillTx/>
                <a:latin typeface="+mn-lt"/>
                <a:ea typeface="+mn-ea"/>
                <a:cs typeface="Segoe UI Semibold"/>
              </a:rPr>
              <a:t>Schema changes</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91F2C"/>
                </a:solidFill>
                <a:effectLst/>
                <a:uLnTx/>
                <a:uFillTx/>
                <a:latin typeface="+mn-lt"/>
                <a:ea typeface="+mn-ea"/>
                <a:cs typeface="Segoe UI Semibold"/>
              </a:rPr>
              <a:t>Integrations</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91F2C"/>
                </a:solidFill>
                <a:effectLst/>
                <a:uLnTx/>
                <a:uFillTx/>
                <a:latin typeface="+mn-lt"/>
                <a:ea typeface="+mn-ea"/>
                <a:cs typeface="Segoe UI Semibold"/>
              </a:rPr>
              <a:t>Releases to production</a:t>
            </a:r>
            <a:endParaRPr kumimoji="0" lang="en-IN" sz="1200" b="0" i="0" u="none" strike="noStrike" kern="1200" cap="none" spc="0" normalizeH="0" baseline="0" noProof="0">
              <a:ln>
                <a:noFill/>
              </a:ln>
              <a:solidFill>
                <a:srgbClr val="091F2C"/>
              </a:solidFill>
              <a:effectLst/>
              <a:uLnTx/>
              <a:uFillTx/>
              <a:latin typeface="+mn-lt"/>
              <a:ea typeface="+mn-ea"/>
              <a:cs typeface="Segoe UI Semibold"/>
            </a:endParaRPr>
          </a:p>
        </p:txBody>
      </p:sp>
      <p:sp>
        <p:nvSpPr>
          <p:cNvPr id="123" name="TextBox 122">
            <a:extLst>
              <a:ext uri="{FF2B5EF4-FFF2-40B4-BE49-F238E27FC236}">
                <a16:creationId xmlns:a16="http://schemas.microsoft.com/office/drawing/2014/main" id="{7EC9FAC8-2BB4-E35A-01F1-23880471B10A}"/>
              </a:ext>
            </a:extLst>
          </p:cNvPr>
          <p:cNvSpPr txBox="1"/>
          <p:nvPr/>
        </p:nvSpPr>
        <p:spPr>
          <a:xfrm>
            <a:off x="9693493" y="2629514"/>
            <a:ext cx="1398480" cy="272415"/>
          </a:xfrm>
          <a:prstGeom prst="roundRect">
            <a:avLst>
              <a:gd name="adj" fmla="val 50000"/>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defPPr>
              <a:defRPr lang="en-US"/>
            </a:defPPr>
            <a:lvl1pPr algn="ctr">
              <a:defRPr sz="1050" b="1">
                <a:solidFill>
                  <a:srgbClr val="0078D4"/>
                </a:solidFill>
                <a:latin typeface="Segoe Sans Display Semibold"/>
                <a:cs typeface="Segoe Sans Display Semibold" pitchFamily="2"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People</a:t>
            </a:r>
          </a:p>
        </p:txBody>
      </p:sp>
      <p:sp>
        <p:nvSpPr>
          <p:cNvPr id="124" name="TextBox 123">
            <a:extLst>
              <a:ext uri="{FF2B5EF4-FFF2-40B4-BE49-F238E27FC236}">
                <a16:creationId xmlns:a16="http://schemas.microsoft.com/office/drawing/2014/main" id="{5DE03BC9-4406-3C9B-57C7-FD170C52FBEA}"/>
              </a:ext>
            </a:extLst>
          </p:cNvPr>
          <p:cNvSpPr txBox="1"/>
          <p:nvPr/>
        </p:nvSpPr>
        <p:spPr>
          <a:xfrm>
            <a:off x="9696870" y="3057779"/>
            <a:ext cx="1391728" cy="307777"/>
          </a:xfrm>
          <a:prstGeom prst="rect">
            <a:avLst/>
          </a:prstGeom>
          <a:noFill/>
        </p:spPr>
        <p:txBody>
          <a:bodyPr wrap="none" rtlCol="0">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w="3175">
                  <a:noFill/>
                </a:ln>
                <a:gradFill>
                  <a:gsLst>
                    <a:gs pos="0">
                      <a:srgbClr val="0078D4"/>
                    </a:gs>
                    <a:gs pos="94000">
                      <a:srgbClr val="C73ECC"/>
                    </a:gs>
                  </a:gsLst>
                  <a:lin ang="0" scaled="1"/>
                </a:gradFill>
                <a:effectLst/>
                <a:uLnTx/>
                <a:uFillTx/>
                <a:latin typeface="+mj-lt"/>
                <a:ea typeface="+mn-ea"/>
                <a:cs typeface="+mn-cs"/>
              </a:rPr>
              <a:t>USER CHANGE</a:t>
            </a:r>
          </a:p>
        </p:txBody>
      </p:sp>
      <p:sp>
        <p:nvSpPr>
          <p:cNvPr id="125" name="TextBox 124">
            <a:extLst>
              <a:ext uri="{FF2B5EF4-FFF2-40B4-BE49-F238E27FC236}">
                <a16:creationId xmlns:a16="http://schemas.microsoft.com/office/drawing/2014/main" id="{6D15E303-8A2A-9D85-3A6C-E9F7E1331486}"/>
              </a:ext>
            </a:extLst>
          </p:cNvPr>
          <p:cNvSpPr txBox="1"/>
          <p:nvPr/>
        </p:nvSpPr>
        <p:spPr>
          <a:xfrm>
            <a:off x="9115151" y="3482921"/>
            <a:ext cx="2555166" cy="646331"/>
          </a:xfrm>
          <a:prstGeom prst="rect">
            <a:avLst/>
          </a:prstGeom>
          <a:noFill/>
        </p:spPr>
        <p:txBody>
          <a:bodyPr wrap="square" lIns="0" tIns="0" rIns="0" bIns="0" anchor="t">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prstClr val="black">
                    <a:lumMod val="75000"/>
                    <a:lumOff val="25000"/>
                  </a:prstClr>
                </a:solidFill>
                <a:effectLst/>
                <a:uLnTx/>
                <a:uFillTx/>
                <a:latin typeface="Segoe UI Semibold" panose="020B0502040204020203" pitchFamily="34" charset="0"/>
                <a:cs typeface="Segoe UI Semibold" panose="020B0502040204020203" pitchFamily="34" charset="0"/>
              </a:defRPr>
            </a:lvl1p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91F2C"/>
                </a:solidFill>
                <a:effectLst/>
                <a:uLnTx/>
                <a:uFillTx/>
                <a:latin typeface="+mj-lt"/>
                <a:ea typeface="+mn-ea"/>
                <a:cs typeface="Segoe Sans Display Semibold"/>
              </a:rPr>
              <a:t>People adopt agents and workflows through skilling and adoption</a:t>
            </a:r>
          </a:p>
        </p:txBody>
      </p:sp>
      <p:sp>
        <p:nvSpPr>
          <p:cNvPr id="4" name="TextBox 3">
            <a:extLst>
              <a:ext uri="{FF2B5EF4-FFF2-40B4-BE49-F238E27FC236}">
                <a16:creationId xmlns:a16="http://schemas.microsoft.com/office/drawing/2014/main" id="{9E338599-58F4-4EC8-7AE7-AF7CE04E2C1C}"/>
              </a:ext>
            </a:extLst>
          </p:cNvPr>
          <p:cNvSpPr txBox="1"/>
          <p:nvPr/>
        </p:nvSpPr>
        <p:spPr>
          <a:xfrm>
            <a:off x="9115150" y="4476118"/>
            <a:ext cx="2555166" cy="1489199"/>
          </a:xfrm>
          <a:prstGeom prst="rect">
            <a:avLst/>
          </a:prstGeom>
          <a:noFill/>
        </p:spPr>
        <p:txBody>
          <a:bodyPr wrap="square" lIns="0" tIns="0" rIns="0" bIns="0" anchor="t">
            <a:noAutofit/>
          </a:bodyPr>
          <a:lstStyle>
            <a:defPPr>
              <a:defRPr lang="en-US"/>
            </a:defPPr>
            <a:lvl1pPr marR="0" lvl="0" indent="0" algn="ctr" fontAlgn="auto">
              <a:lnSpc>
                <a:spcPct val="100000"/>
              </a:lnSpc>
              <a:spcBef>
                <a:spcPts val="0"/>
              </a:spcBef>
              <a:spcAft>
                <a:spcPts val="0"/>
              </a:spcAft>
              <a:buClrTx/>
              <a:buSzTx/>
              <a:buFontTx/>
              <a:buNone/>
              <a:tabLst/>
              <a:defRPr kumimoji="0" sz="1200" b="1" i="0" u="none" strike="noStrike" cap="none" spc="0" normalizeH="0" baseline="0">
                <a:ln>
                  <a:noFill/>
                </a:ln>
                <a:solidFill>
                  <a:prstClr val="black">
                    <a:lumMod val="75000"/>
                    <a:lumOff val="25000"/>
                  </a:prstClr>
                </a:solidFill>
                <a:effectLst/>
                <a:uLnTx/>
                <a:uFillTx/>
                <a:latin typeface="Segoe UI Semibold" panose="020B0502040204020203" pitchFamily="34" charset="0"/>
                <a:cs typeface="Segoe UI Semibold" panose="020B0502040204020203" pitchFamily="34" charset="0"/>
              </a:defRPr>
            </a:lvl1pPr>
          </a:lstStyle>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91F2C"/>
                </a:solidFill>
                <a:effectLst/>
                <a:uLnTx/>
                <a:uFillTx/>
                <a:latin typeface="+mn-lt"/>
                <a:ea typeface="+mn-ea"/>
                <a:cs typeface="Segoe UI Semibold" panose="020B0502040204020203" pitchFamily="34" charset="0"/>
              </a:rPr>
              <a:t>Product usage (skilling)</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91F2C"/>
                </a:solidFill>
                <a:effectLst/>
                <a:uLnTx/>
                <a:uFillTx/>
                <a:latin typeface="+mn-lt"/>
                <a:ea typeface="+mn-ea"/>
                <a:cs typeface="Segoe UI Semibold" panose="020B0502040204020203" pitchFamily="34" charset="0"/>
              </a:rPr>
              <a:t>Sharing</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200" b="0" i="0" u="none" strike="noStrike" kern="1200" cap="none" spc="0" normalizeH="0" baseline="0" noProof="0">
                <a:ln>
                  <a:noFill/>
                </a:ln>
                <a:solidFill>
                  <a:srgbClr val="091F2C"/>
                </a:solidFill>
                <a:effectLst/>
                <a:uLnTx/>
                <a:uFillTx/>
                <a:latin typeface="+mn-lt"/>
                <a:ea typeface="+mn-ea"/>
                <a:cs typeface="Segoe UI Semibold" panose="020B0502040204020203" pitchFamily="34" charset="0"/>
              </a:rPr>
              <a:t>Workflow changes</a:t>
            </a:r>
          </a:p>
          <a:p>
            <a:pPr marL="0" marR="0" lvl="0" indent="0" algn="ctr" defTabSz="914400" rtl="0" eaLnBrk="1" fontAlgn="ctr" latinLnBrk="0" hangingPunct="1">
              <a:lnSpc>
                <a:spcPct val="100000"/>
              </a:lnSpc>
              <a:spcBef>
                <a:spcPts val="0"/>
              </a:spcBef>
              <a:spcAft>
                <a:spcPts val="800"/>
              </a:spcAft>
              <a:buClrTx/>
              <a:buSzTx/>
              <a:buFontTx/>
              <a:buNone/>
              <a:tabLst/>
              <a:defRPr/>
            </a:pPr>
            <a:r>
              <a:rPr lang="en-US" b="0">
                <a:solidFill>
                  <a:srgbClr val="091F2C"/>
                </a:solidFill>
                <a:latin typeface="+mn-lt"/>
              </a:rPr>
              <a:t>Adoption</a:t>
            </a:r>
            <a:endParaRPr kumimoji="0" lang="en-IN" sz="1200" b="0" i="0" u="none" strike="noStrike" kern="1200" cap="none" spc="0" normalizeH="0" baseline="0" noProof="0">
              <a:ln>
                <a:noFill/>
              </a:ln>
              <a:solidFill>
                <a:srgbClr val="091F2C"/>
              </a:solidFill>
              <a:effectLst/>
              <a:uLnTx/>
              <a:uFillTx/>
              <a:latin typeface="+mn-lt"/>
              <a:ea typeface="+mn-ea"/>
              <a:cs typeface="Segoe UI Semibold" panose="020B0502040204020203" pitchFamily="34" charset="0"/>
            </a:endParaRPr>
          </a:p>
        </p:txBody>
      </p:sp>
      <p:sp>
        <p:nvSpPr>
          <p:cNvPr id="11" name="Title 10">
            <a:extLst>
              <a:ext uri="{FF2B5EF4-FFF2-40B4-BE49-F238E27FC236}">
                <a16:creationId xmlns:a16="http://schemas.microsoft.com/office/drawing/2014/main" id="{76DF67DF-3EC2-6481-35F7-EB7832A61FA2}"/>
              </a:ext>
            </a:extLst>
          </p:cNvPr>
          <p:cNvSpPr>
            <a:spLocks noGrp="1"/>
          </p:cNvSpPr>
          <p:nvPr>
            <p:ph type="title"/>
          </p:nvPr>
        </p:nvSpPr>
        <p:spPr/>
        <p:txBody>
          <a:bodyPr/>
          <a:lstStyle/>
          <a:p>
            <a:pPr algn="ctr"/>
            <a:r>
              <a:rPr lang="en-US"/>
              <a:t>What does "change" mean? </a:t>
            </a:r>
          </a:p>
        </p:txBody>
      </p:sp>
      <p:sp>
        <p:nvSpPr>
          <p:cNvPr id="38" name="Graphic 15" descr="Cloud with solid fill">
            <a:extLst>
              <a:ext uri="{FF2B5EF4-FFF2-40B4-BE49-F238E27FC236}">
                <a16:creationId xmlns:a16="http://schemas.microsoft.com/office/drawing/2014/main" id="{94BF738A-0446-2088-BDF9-44513477E585}"/>
              </a:ext>
              <a:ext uri="{C183D7F6-B498-43B3-948B-1728B52AA6E4}">
                <adec:decorative xmlns:adec="http://schemas.microsoft.com/office/drawing/2017/decorative" val="1"/>
              </a:ext>
            </a:extLst>
          </p:cNvPr>
          <p:cNvSpPr/>
          <p:nvPr/>
        </p:nvSpPr>
        <p:spPr>
          <a:xfrm>
            <a:off x="1699253" y="1987280"/>
            <a:ext cx="372547" cy="212109"/>
          </a:xfrm>
          <a:custGeom>
            <a:avLst/>
            <a:gdLst>
              <a:gd name="csX0" fmla="*/ 319946 w 372547"/>
              <a:gd name="csY0" fmla="*/ 105580 h 212109"/>
              <a:gd name="csX1" fmla="*/ 315526 w 372547"/>
              <a:gd name="csY1" fmla="*/ 105580 h 212109"/>
              <a:gd name="csX2" fmla="*/ 315526 w 372547"/>
              <a:gd name="csY2" fmla="*/ 105580 h 212109"/>
              <a:gd name="csX3" fmla="*/ 287678 w 372547"/>
              <a:gd name="csY3" fmla="*/ 51652 h 212109"/>
              <a:gd name="csX4" fmla="*/ 227119 w 372547"/>
              <a:gd name="csY4" fmla="*/ 43254 h 212109"/>
              <a:gd name="csX5" fmla="*/ 137829 w 372547"/>
              <a:gd name="csY5" fmla="*/ 2145 h 212109"/>
              <a:gd name="csX6" fmla="*/ 76829 w 372547"/>
              <a:gd name="csY6" fmla="*/ 79058 h 212109"/>
              <a:gd name="csX7" fmla="*/ 76829 w 372547"/>
              <a:gd name="csY7" fmla="*/ 79942 h 212109"/>
              <a:gd name="csX8" fmla="*/ 13176 w 372547"/>
              <a:gd name="csY8" fmla="*/ 105580 h 212109"/>
              <a:gd name="csX9" fmla="*/ 6104 w 372547"/>
              <a:gd name="csY9" fmla="*/ 173653 h 212109"/>
              <a:gd name="csX10" fmla="*/ 63126 w 372547"/>
              <a:gd name="csY10" fmla="*/ 211668 h 212109"/>
              <a:gd name="csX11" fmla="*/ 63126 w 372547"/>
              <a:gd name="csY11" fmla="*/ 212110 h 212109"/>
              <a:gd name="csX12" fmla="*/ 319504 w 372547"/>
              <a:gd name="csY12" fmla="*/ 212110 h 212109"/>
              <a:gd name="csX13" fmla="*/ 372548 w 372547"/>
              <a:gd name="csY13" fmla="*/ 159066 h 212109"/>
              <a:gd name="csX14" fmla="*/ 319946 w 372547"/>
              <a:gd name="csY14" fmla="*/ 105580 h 2121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72547" h="212109">
                <a:moveTo>
                  <a:pt x="319946" y="105580"/>
                </a:moveTo>
                <a:cubicBezTo>
                  <a:pt x="318620" y="105580"/>
                  <a:pt x="316852" y="105580"/>
                  <a:pt x="315526" y="105580"/>
                </a:cubicBezTo>
                <a:cubicBezTo>
                  <a:pt x="315526" y="105580"/>
                  <a:pt x="315526" y="105580"/>
                  <a:pt x="315526" y="105580"/>
                </a:cubicBezTo>
                <a:cubicBezTo>
                  <a:pt x="315526" y="83921"/>
                  <a:pt x="304917" y="64029"/>
                  <a:pt x="287678" y="51652"/>
                </a:cubicBezTo>
                <a:cubicBezTo>
                  <a:pt x="269996" y="39275"/>
                  <a:pt x="247453" y="36181"/>
                  <a:pt x="227119" y="43254"/>
                </a:cubicBezTo>
                <a:cubicBezTo>
                  <a:pt x="210322" y="10543"/>
                  <a:pt x="173192" y="-6254"/>
                  <a:pt x="137829" y="2145"/>
                </a:cubicBezTo>
                <a:cubicBezTo>
                  <a:pt x="102467" y="10543"/>
                  <a:pt x="76829" y="42370"/>
                  <a:pt x="76829" y="79058"/>
                </a:cubicBezTo>
                <a:cubicBezTo>
                  <a:pt x="76829" y="79058"/>
                  <a:pt x="76829" y="79500"/>
                  <a:pt x="76829" y="79942"/>
                </a:cubicBezTo>
                <a:cubicBezTo>
                  <a:pt x="52517" y="75964"/>
                  <a:pt x="28205" y="86131"/>
                  <a:pt x="13176" y="105580"/>
                </a:cubicBezTo>
                <a:cubicBezTo>
                  <a:pt x="-1411" y="125471"/>
                  <a:pt x="-4063" y="151551"/>
                  <a:pt x="6104" y="173653"/>
                </a:cubicBezTo>
                <a:cubicBezTo>
                  <a:pt x="16712" y="195754"/>
                  <a:pt x="38814" y="210341"/>
                  <a:pt x="63126" y="211668"/>
                </a:cubicBezTo>
                <a:lnTo>
                  <a:pt x="63126" y="212110"/>
                </a:lnTo>
                <a:lnTo>
                  <a:pt x="319504" y="212110"/>
                </a:lnTo>
                <a:cubicBezTo>
                  <a:pt x="348678" y="212110"/>
                  <a:pt x="372548" y="188240"/>
                  <a:pt x="372548" y="159066"/>
                </a:cubicBezTo>
                <a:cubicBezTo>
                  <a:pt x="372548" y="129892"/>
                  <a:pt x="349120" y="105580"/>
                  <a:pt x="319946" y="105580"/>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Tree>
    <p:extLst>
      <p:ext uri="{BB962C8B-B14F-4D97-AF65-F5344CB8AC3E}">
        <p14:creationId xmlns:p14="http://schemas.microsoft.com/office/powerpoint/2010/main" val="2833633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
                                        <p:tgtEl>
                                          <p:spTgt spid="11"/>
                                        </p:tgtEl>
                                      </p:cBhvr>
                                    </p:animEffect>
                                  </p:childTnLst>
                                </p:cTn>
                              </p:par>
                              <p:par>
                                <p:cTn id="8" presetID="42" presetClass="path" presetSubtype="0" decel="100000" fill="hold" grpId="1" nodeType="withEffect">
                                  <p:stCondLst>
                                    <p:cond delay="0"/>
                                  </p:stCondLst>
                                  <p:childTnLst>
                                    <p:animMotion origin="layout" path="M -2.08333E-7 0.03889 L -2.08333E-7 -4.44444E-6 " pathEditMode="relative" rAng="0" ptsTypes="AA">
                                      <p:cBhvr>
                                        <p:cTn id="9" dur="500" fill="hold"/>
                                        <p:tgtEl>
                                          <p:spTgt spid="11"/>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1538C-4AB2-45A2-8521-F076A382C6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590EBA-7EC0-879A-6FB8-CD4016225736}"/>
              </a:ext>
            </a:extLst>
          </p:cNvPr>
          <p:cNvSpPr>
            <a:spLocks noGrp="1"/>
          </p:cNvSpPr>
          <p:nvPr>
            <p:ph type="title"/>
          </p:nvPr>
        </p:nvSpPr>
        <p:spPr>
          <a:xfrm>
            <a:off x="588264" y="3152001"/>
            <a:ext cx="6117336" cy="553998"/>
          </a:xfrm>
        </p:spPr>
        <p:txBody>
          <a:bodyPr wrap="square">
            <a:spAutoFit/>
          </a:bodyPr>
          <a:lstStyle/>
          <a:p>
            <a:r>
              <a:rPr lang="en-US" b="1" dirty="0">
                <a:gradFill>
                  <a:gsLst>
                    <a:gs pos="0">
                      <a:srgbClr val="B63EC5"/>
                    </a:gs>
                    <a:gs pos="100000">
                      <a:srgbClr val="0070C0"/>
                    </a:gs>
                  </a:gsLst>
                  <a:path path="circle">
                    <a:fillToRect l="100000" t="100000"/>
                  </a:path>
                </a:gradFill>
                <a:latin typeface="Segoe Sans Display Semibold" pitchFamily="2" charset="0"/>
              </a:rPr>
              <a:t>Ownership</a:t>
            </a:r>
          </a:p>
        </p:txBody>
      </p:sp>
      <p:pic>
        <p:nvPicPr>
          <p:cNvPr id="3" name="Picture 2">
            <a:extLst>
              <a:ext uri="{FF2B5EF4-FFF2-40B4-BE49-F238E27FC236}">
                <a16:creationId xmlns:a16="http://schemas.microsoft.com/office/drawing/2014/main" id="{D6461451-55B9-8FBD-336A-F9E15B8B9EAD}"/>
              </a:ext>
              <a:ext uri="{C183D7F6-B498-43B3-948B-1728B52AA6E4}">
                <adec:decorative xmlns:adec="http://schemas.microsoft.com/office/drawing/2017/decorative" val="1"/>
              </a:ext>
            </a:extLst>
          </p:cNvPr>
          <p:cNvPicPr>
            <a:picLocks noChangeAspect="1"/>
          </p:cNvPicPr>
          <p:nvPr/>
        </p:nvPicPr>
        <p:blipFill>
          <a:blip r:embed="rId3" cstate="screen">
            <a:alphaModFix/>
            <a:extLst>
              <a:ext uri="{28A0092B-C50C-407E-A947-70E740481C1C}">
                <a14:useLocalDpi xmlns:a14="http://schemas.microsoft.com/office/drawing/2010/main"/>
              </a:ext>
            </a:extLst>
          </a:blip>
          <a:srcRect/>
          <a:stretch/>
        </p:blipFill>
        <p:spPr>
          <a:xfrm>
            <a:off x="8095169" y="2"/>
            <a:ext cx="4102718" cy="6858001"/>
          </a:xfrm>
          <a:prstGeom prst="rect">
            <a:avLst/>
          </a:prstGeom>
        </p:spPr>
      </p:pic>
    </p:spTree>
    <p:extLst>
      <p:ext uri="{BB962C8B-B14F-4D97-AF65-F5344CB8AC3E}">
        <p14:creationId xmlns:p14="http://schemas.microsoft.com/office/powerpoint/2010/main" val="231584852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2FCE7-14EF-5383-8FD0-43886A9FDEDC}"/>
            </a:ext>
          </a:extLst>
        </p:cNvPr>
        <p:cNvGrpSpPr/>
        <p:nvPr/>
      </p:nvGrpSpPr>
      <p:grpSpPr>
        <a:xfrm>
          <a:off x="0" y="0"/>
          <a:ext cx="0" cy="0"/>
          <a:chOff x="0" y="0"/>
          <a:chExt cx="0" cy="0"/>
        </a:xfrm>
      </p:grpSpPr>
      <p:pic>
        <p:nvPicPr>
          <p:cNvPr id="8" name="Picture 7" descr="A blurry image of a purple object&#10;&#10;AI-generated content may be incorrect.">
            <a:extLst>
              <a:ext uri="{FF2B5EF4-FFF2-40B4-BE49-F238E27FC236}">
                <a16:creationId xmlns:a16="http://schemas.microsoft.com/office/drawing/2014/main" id="{7B81363D-AFD3-8917-BC95-40F6E96AC435}"/>
              </a:ext>
            </a:extLst>
          </p:cNvPr>
          <p:cNvPicPr>
            <a:picLocks noChangeAspect="1"/>
          </p:cNvPicPr>
          <p:nvPr/>
        </p:nvPicPr>
        <p:blipFill>
          <a:blip r:embed="rId3">
            <a:alphaModFix amt="70000"/>
          </a:blip>
          <a:srcRect l="25924"/>
          <a:stretch>
            <a:fillRect/>
          </a:stretch>
        </p:blipFill>
        <p:spPr>
          <a:xfrm flipV="1">
            <a:off x="0" y="0"/>
            <a:ext cx="12192000" cy="6858000"/>
          </a:xfrm>
          <a:prstGeom prst="rect">
            <a:avLst/>
          </a:prstGeom>
        </p:spPr>
      </p:pic>
      <p:grpSp>
        <p:nvGrpSpPr>
          <p:cNvPr id="103" name="Group 102">
            <a:extLst>
              <a:ext uri="{FF2B5EF4-FFF2-40B4-BE49-F238E27FC236}">
                <a16:creationId xmlns:a16="http://schemas.microsoft.com/office/drawing/2014/main" id="{0AEC6487-A9DC-35F5-5B34-B8BE67B3F30B}"/>
              </a:ext>
            </a:extLst>
          </p:cNvPr>
          <p:cNvGrpSpPr/>
          <p:nvPr/>
        </p:nvGrpSpPr>
        <p:grpSpPr>
          <a:xfrm>
            <a:off x="3448587" y="1533525"/>
            <a:ext cx="7819136" cy="478154"/>
            <a:chOff x="3448587" y="1589797"/>
            <a:chExt cx="7819136" cy="421882"/>
          </a:xfrm>
          <a:gradFill flip="none" rotWithShape="1">
            <a:gsLst>
              <a:gs pos="15000">
                <a:srgbClr val="01A3FD"/>
              </a:gs>
              <a:gs pos="81000">
                <a:srgbClr val="D661FD"/>
              </a:gs>
            </a:gsLst>
            <a:lin ang="0" scaled="1"/>
            <a:tileRect/>
          </a:gradFill>
        </p:grpSpPr>
        <p:sp>
          <p:nvSpPr>
            <p:cNvPr id="100" name="Rectangle: Top Corners Rounded 99">
              <a:extLst>
                <a:ext uri="{FF2B5EF4-FFF2-40B4-BE49-F238E27FC236}">
                  <a16:creationId xmlns:a16="http://schemas.microsoft.com/office/drawing/2014/main" id="{B4657339-7571-B9B6-BA31-95C8E73D5B5C}"/>
                </a:ext>
              </a:extLst>
            </p:cNvPr>
            <p:cNvSpPr/>
            <p:nvPr/>
          </p:nvSpPr>
          <p:spPr bwMode="auto">
            <a:xfrm>
              <a:off x="3448587" y="1589797"/>
              <a:ext cx="2380718" cy="421882"/>
            </a:xfrm>
            <a:prstGeom prst="round2SameRect">
              <a:avLst>
                <a:gd name="adj1" fmla="val 32809"/>
                <a:gd name="adj2" fmla="val 0"/>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sz="1600">
                  <a:solidFill>
                    <a:schemeClr val="bg1"/>
                  </a:solidFill>
                  <a:latin typeface="+mj-lt"/>
                  <a:ea typeface="Segoe UI" pitchFamily="34" charset="0"/>
                  <a:cs typeface="Segoe UI" pitchFamily="34" charset="0"/>
                </a:rPr>
                <a:t>End-users</a:t>
              </a:r>
            </a:p>
          </p:txBody>
        </p:sp>
        <p:sp>
          <p:nvSpPr>
            <p:cNvPr id="101" name="Rectangle: Top Corners Rounded 100">
              <a:extLst>
                <a:ext uri="{FF2B5EF4-FFF2-40B4-BE49-F238E27FC236}">
                  <a16:creationId xmlns:a16="http://schemas.microsoft.com/office/drawing/2014/main" id="{03D80328-AFEE-6462-5791-3B17CC464443}"/>
                </a:ext>
              </a:extLst>
            </p:cNvPr>
            <p:cNvSpPr/>
            <p:nvPr/>
          </p:nvSpPr>
          <p:spPr bwMode="auto">
            <a:xfrm>
              <a:off x="6167795" y="1589797"/>
              <a:ext cx="2380718" cy="421882"/>
            </a:xfrm>
            <a:prstGeom prst="round2SameRect">
              <a:avLst>
                <a:gd name="adj1" fmla="val 32809"/>
                <a:gd name="adj2" fmla="val 0"/>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a:solidFill>
                    <a:schemeClr val="bg1"/>
                  </a:solidFill>
                  <a:latin typeface="+mj-lt"/>
                  <a:ea typeface="Segoe UI" pitchFamily="34" charset="0"/>
                  <a:cs typeface="Segoe UI" pitchFamily="34" charset="0"/>
                </a:rPr>
                <a:t>Makers / Developers</a:t>
              </a:r>
            </a:p>
          </p:txBody>
        </p:sp>
        <p:sp>
          <p:nvSpPr>
            <p:cNvPr id="102" name="Rectangle: Top Corners Rounded 101">
              <a:extLst>
                <a:ext uri="{FF2B5EF4-FFF2-40B4-BE49-F238E27FC236}">
                  <a16:creationId xmlns:a16="http://schemas.microsoft.com/office/drawing/2014/main" id="{A4632E4F-91E2-90C9-31DE-8846590A57F9}"/>
                </a:ext>
              </a:extLst>
            </p:cNvPr>
            <p:cNvSpPr/>
            <p:nvPr/>
          </p:nvSpPr>
          <p:spPr bwMode="auto">
            <a:xfrm>
              <a:off x="8887005" y="1589797"/>
              <a:ext cx="2380718" cy="421882"/>
            </a:xfrm>
            <a:prstGeom prst="round2SameRect">
              <a:avLst>
                <a:gd name="adj1" fmla="val 32809"/>
                <a:gd name="adj2" fmla="val 0"/>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a:spcAft>
                  <a:spcPts val="1200"/>
                </a:spcAft>
                <a:defRPr/>
              </a:pPr>
              <a:r>
                <a:rPr lang="en-US" sz="1600" kern="0">
                  <a:solidFill>
                    <a:prstClr val="white"/>
                  </a:solidFill>
                  <a:latin typeface="Segoe Sans Display Semibold"/>
                </a:rPr>
                <a:t>IT Admin</a:t>
              </a:r>
            </a:p>
          </p:txBody>
        </p:sp>
      </p:grpSp>
      <p:sp>
        <p:nvSpPr>
          <p:cNvPr id="13" name="Title 12">
            <a:extLst>
              <a:ext uri="{FF2B5EF4-FFF2-40B4-BE49-F238E27FC236}">
                <a16:creationId xmlns:a16="http://schemas.microsoft.com/office/drawing/2014/main" id="{B3D719DD-5A73-9137-488F-133BDE853FD4}"/>
              </a:ext>
            </a:extLst>
          </p:cNvPr>
          <p:cNvSpPr>
            <a:spLocks noGrp="1"/>
          </p:cNvSpPr>
          <p:nvPr>
            <p:ph type="title"/>
          </p:nvPr>
        </p:nvSpPr>
        <p:spPr>
          <a:xfrm>
            <a:off x="588263" y="457200"/>
            <a:ext cx="11018520" cy="553998"/>
          </a:xfrm>
        </p:spPr>
        <p:txBody>
          <a:bodyPr/>
          <a:lstStyle/>
          <a:p>
            <a:r>
              <a:rPr lang="en-US"/>
              <a:t>Establish Decision and Ownership Rights</a:t>
            </a:r>
          </a:p>
        </p:txBody>
      </p:sp>
      <p:sp>
        <p:nvSpPr>
          <p:cNvPr id="34" name="Rectangle: Rounded Corners 11">
            <a:extLst>
              <a:ext uri="{FF2B5EF4-FFF2-40B4-BE49-F238E27FC236}">
                <a16:creationId xmlns:a16="http://schemas.microsoft.com/office/drawing/2014/main" id="{1A944891-B63E-47DE-9901-F544EF7D41B7}"/>
              </a:ext>
              <a:ext uri="{C183D7F6-B498-43B3-948B-1728B52AA6E4}">
                <adec:decorative xmlns:adec="http://schemas.microsoft.com/office/drawing/2017/decorative" val="1"/>
              </a:ext>
            </a:extLst>
          </p:cNvPr>
          <p:cNvSpPr>
            <a:spLocks/>
          </p:cNvSpPr>
          <p:nvPr/>
        </p:nvSpPr>
        <p:spPr>
          <a:xfrm>
            <a:off x="588963" y="2011680"/>
            <a:ext cx="11017250" cy="4246787"/>
          </a:xfrm>
          <a:prstGeom prst="roundRect">
            <a:avLst>
              <a:gd name="adj" fmla="val 5694"/>
            </a:avLst>
          </a:pr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35" name="Rectangle: Rounded Corners 34">
            <a:extLst>
              <a:ext uri="{FF2B5EF4-FFF2-40B4-BE49-F238E27FC236}">
                <a16:creationId xmlns:a16="http://schemas.microsoft.com/office/drawing/2014/main" id="{2F0EF483-E757-A307-7A17-36C34824729F}"/>
              </a:ext>
            </a:extLst>
          </p:cNvPr>
          <p:cNvSpPr>
            <a:spLocks/>
          </p:cNvSpPr>
          <p:nvPr/>
        </p:nvSpPr>
        <p:spPr bwMode="auto">
          <a:xfrm>
            <a:off x="769398" y="2187695"/>
            <a:ext cx="2301462" cy="676402"/>
          </a:xfrm>
          <a:prstGeom prst="roundRect">
            <a:avLst>
              <a:gd name="adj" fmla="val 13347"/>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b="1">
                <a:solidFill>
                  <a:srgbClr val="091F2C"/>
                </a:solidFill>
                <a:latin typeface="+mj-lt"/>
                <a:cs typeface="Segoe UI" pitchFamily="34" charset="0"/>
              </a:rPr>
              <a:t>Agent sharing</a:t>
            </a:r>
          </a:p>
        </p:txBody>
      </p:sp>
      <p:sp>
        <p:nvSpPr>
          <p:cNvPr id="36" name="Rectangle: Rounded Corners 35">
            <a:extLst>
              <a:ext uri="{FF2B5EF4-FFF2-40B4-BE49-F238E27FC236}">
                <a16:creationId xmlns:a16="http://schemas.microsoft.com/office/drawing/2014/main" id="{79376B44-202B-0996-80EC-3187C40290E6}"/>
              </a:ext>
            </a:extLst>
          </p:cNvPr>
          <p:cNvSpPr>
            <a:spLocks/>
          </p:cNvSpPr>
          <p:nvPr/>
        </p:nvSpPr>
        <p:spPr bwMode="auto">
          <a:xfrm>
            <a:off x="769398" y="2992283"/>
            <a:ext cx="2301462" cy="676402"/>
          </a:xfrm>
          <a:prstGeom prst="roundRect">
            <a:avLst>
              <a:gd name="adj" fmla="val 13347"/>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b="1">
                <a:solidFill>
                  <a:srgbClr val="091F2C"/>
                </a:solidFill>
                <a:latin typeface="+mj-lt"/>
                <a:cs typeface="Segoe UI" pitchFamily="34" charset="0"/>
              </a:rPr>
              <a:t>Allow / block connectors</a:t>
            </a:r>
          </a:p>
        </p:txBody>
      </p:sp>
      <p:sp>
        <p:nvSpPr>
          <p:cNvPr id="37" name="Rectangle: Rounded Corners 36">
            <a:extLst>
              <a:ext uri="{FF2B5EF4-FFF2-40B4-BE49-F238E27FC236}">
                <a16:creationId xmlns:a16="http://schemas.microsoft.com/office/drawing/2014/main" id="{7E2A5ABF-FB1D-749E-ABD3-8E2334A15F60}"/>
              </a:ext>
            </a:extLst>
          </p:cNvPr>
          <p:cNvSpPr>
            <a:spLocks/>
          </p:cNvSpPr>
          <p:nvPr/>
        </p:nvSpPr>
        <p:spPr bwMode="auto">
          <a:xfrm>
            <a:off x="769398" y="3796871"/>
            <a:ext cx="2301462" cy="676402"/>
          </a:xfrm>
          <a:prstGeom prst="roundRect">
            <a:avLst>
              <a:gd name="adj" fmla="val 13347"/>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b="1">
                <a:solidFill>
                  <a:srgbClr val="091F2C"/>
                </a:solidFill>
                <a:latin typeface="+mj-lt"/>
                <a:cs typeface="Segoe UI" pitchFamily="34" charset="0"/>
              </a:rPr>
              <a:t>Promote an agent</a:t>
            </a:r>
          </a:p>
        </p:txBody>
      </p:sp>
      <p:sp>
        <p:nvSpPr>
          <p:cNvPr id="38" name="Rectangle: Rounded Corners 37">
            <a:extLst>
              <a:ext uri="{FF2B5EF4-FFF2-40B4-BE49-F238E27FC236}">
                <a16:creationId xmlns:a16="http://schemas.microsoft.com/office/drawing/2014/main" id="{F1C9E5E6-EE98-61F8-B977-A73B36D0AE17}"/>
              </a:ext>
            </a:extLst>
          </p:cNvPr>
          <p:cNvSpPr>
            <a:spLocks/>
          </p:cNvSpPr>
          <p:nvPr/>
        </p:nvSpPr>
        <p:spPr bwMode="auto">
          <a:xfrm>
            <a:off x="769398" y="4601459"/>
            <a:ext cx="2301462" cy="676402"/>
          </a:xfrm>
          <a:prstGeom prst="roundRect">
            <a:avLst>
              <a:gd name="adj" fmla="val 13347"/>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b="1">
                <a:solidFill>
                  <a:srgbClr val="091F2C"/>
                </a:solidFill>
                <a:latin typeface="+mj-lt"/>
                <a:cs typeface="Segoe UI" pitchFamily="34" charset="0"/>
              </a:rPr>
              <a:t>Manage </a:t>
            </a:r>
            <a:br>
              <a:rPr lang="en-US" sz="1400" b="1">
                <a:solidFill>
                  <a:srgbClr val="091F2C"/>
                </a:solidFill>
                <a:latin typeface="+mj-lt"/>
                <a:cs typeface="Segoe UI" pitchFamily="34" charset="0"/>
              </a:rPr>
            </a:br>
            <a:r>
              <a:rPr lang="en-US" sz="1400" b="1">
                <a:solidFill>
                  <a:srgbClr val="091F2C"/>
                </a:solidFill>
                <a:latin typeface="+mj-lt"/>
                <a:cs typeface="Segoe UI" pitchFamily="34" charset="0"/>
              </a:rPr>
              <a:t>ownerless agents</a:t>
            </a:r>
          </a:p>
        </p:txBody>
      </p:sp>
      <p:sp>
        <p:nvSpPr>
          <p:cNvPr id="59" name="Rectangle: Rounded Corners 58">
            <a:extLst>
              <a:ext uri="{FF2B5EF4-FFF2-40B4-BE49-F238E27FC236}">
                <a16:creationId xmlns:a16="http://schemas.microsoft.com/office/drawing/2014/main" id="{CC9D82F7-BD19-6604-7586-A4C97736863E}"/>
              </a:ext>
            </a:extLst>
          </p:cNvPr>
          <p:cNvSpPr>
            <a:spLocks/>
          </p:cNvSpPr>
          <p:nvPr/>
        </p:nvSpPr>
        <p:spPr bwMode="auto">
          <a:xfrm>
            <a:off x="769398" y="5406050"/>
            <a:ext cx="2301462" cy="676402"/>
          </a:xfrm>
          <a:prstGeom prst="roundRect">
            <a:avLst>
              <a:gd name="adj" fmla="val 13347"/>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lgn="ctr" defTabSz="932472" fontAlgn="base">
              <a:spcBef>
                <a:spcPct val="0"/>
              </a:spcBef>
              <a:spcAft>
                <a:spcPct val="0"/>
              </a:spcAft>
              <a:defRPr/>
            </a:pPr>
            <a:r>
              <a:rPr lang="en-US" sz="1400" b="1">
                <a:solidFill>
                  <a:srgbClr val="091F2C"/>
                </a:solidFill>
                <a:latin typeface="+mj-lt"/>
                <a:cs typeface="Segoe UI" pitchFamily="34" charset="0"/>
              </a:rPr>
              <a:t>Platform updates</a:t>
            </a:r>
          </a:p>
        </p:txBody>
      </p:sp>
      <p:grpSp>
        <p:nvGrpSpPr>
          <p:cNvPr id="82" name="Group 81">
            <a:extLst>
              <a:ext uri="{FF2B5EF4-FFF2-40B4-BE49-F238E27FC236}">
                <a16:creationId xmlns:a16="http://schemas.microsoft.com/office/drawing/2014/main" id="{0F196788-E201-1F77-F003-AD29CC3DC14D}"/>
              </a:ext>
            </a:extLst>
          </p:cNvPr>
          <p:cNvGrpSpPr/>
          <p:nvPr/>
        </p:nvGrpSpPr>
        <p:grpSpPr>
          <a:xfrm>
            <a:off x="3541164" y="2433563"/>
            <a:ext cx="2195564" cy="3403021"/>
            <a:chOff x="3541164" y="2433563"/>
            <a:chExt cx="2195564" cy="3403021"/>
          </a:xfrm>
        </p:grpSpPr>
        <p:sp>
          <p:nvSpPr>
            <p:cNvPr id="39" name="TextBox 38">
              <a:extLst>
                <a:ext uri="{FF2B5EF4-FFF2-40B4-BE49-F238E27FC236}">
                  <a16:creationId xmlns:a16="http://schemas.microsoft.com/office/drawing/2014/main" id="{F2427D33-2DD5-14EB-2FE3-136D7D59970B}"/>
                </a:ext>
              </a:extLst>
            </p:cNvPr>
            <p:cNvSpPr txBox="1">
              <a:spLocks/>
            </p:cNvSpPr>
            <p:nvPr/>
          </p:nvSpPr>
          <p:spPr>
            <a:xfrm>
              <a:off x="3541164" y="2433563"/>
              <a:ext cx="2195564" cy="18466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rPr>
                <a:t>Request access</a:t>
              </a:r>
            </a:p>
          </p:txBody>
        </p:sp>
        <p:sp>
          <p:nvSpPr>
            <p:cNvPr id="42" name="TextBox 41">
              <a:extLst>
                <a:ext uri="{FF2B5EF4-FFF2-40B4-BE49-F238E27FC236}">
                  <a16:creationId xmlns:a16="http://schemas.microsoft.com/office/drawing/2014/main" id="{15B4901D-347F-9313-E98C-DFB2A020E4F7}"/>
                </a:ext>
              </a:extLst>
            </p:cNvPr>
            <p:cNvSpPr txBox="1">
              <a:spLocks/>
            </p:cNvSpPr>
            <p:nvPr/>
          </p:nvSpPr>
          <p:spPr>
            <a:xfrm>
              <a:off x="3541164" y="3238152"/>
              <a:ext cx="2195564" cy="184666"/>
            </a:xfrm>
            <a:prstGeom prst="rect">
              <a:avLst/>
            </a:prstGeom>
            <a:noFill/>
          </p:spPr>
          <p:txBody>
            <a:bodyPr wrap="square" lIns="0" tIns="0" rIns="0" bIns="0" anchor="ctr">
              <a:spAutoFit/>
            </a:bodyPr>
            <a:lstStyle/>
            <a:p>
              <a:pPr lvl="0" algn="ctr">
                <a:defRPr/>
              </a:pPr>
              <a:r>
                <a:rPr lang="en-US" sz="1200" kern="0">
                  <a:solidFill>
                    <a:srgbClr val="091F2C"/>
                  </a:solidFill>
                  <a:cs typeface="Segoe UI Semibold" panose="020B0502040204020203" pitchFamily="34" charset="0"/>
                </a:rPr>
                <a:t>No direct change rights</a:t>
              </a:r>
              <a:endPar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endParaRPr>
            </a:p>
          </p:txBody>
        </p:sp>
        <p:sp>
          <p:nvSpPr>
            <p:cNvPr id="47" name="TextBox 46">
              <a:extLst>
                <a:ext uri="{FF2B5EF4-FFF2-40B4-BE49-F238E27FC236}">
                  <a16:creationId xmlns:a16="http://schemas.microsoft.com/office/drawing/2014/main" id="{EE4D919B-999C-05D5-8F93-5F57D98EA38D}"/>
                </a:ext>
              </a:extLst>
            </p:cNvPr>
            <p:cNvSpPr txBox="1">
              <a:spLocks/>
            </p:cNvSpPr>
            <p:nvPr/>
          </p:nvSpPr>
          <p:spPr>
            <a:xfrm>
              <a:off x="3541164" y="4042741"/>
              <a:ext cx="2195564" cy="184666"/>
            </a:xfrm>
            <a:prstGeom prst="rect">
              <a:avLst/>
            </a:prstGeom>
            <a:noFill/>
          </p:spPr>
          <p:txBody>
            <a:bodyPr wrap="square" lIns="0" tIns="0" rIns="0" bIns="0" anchor="ctr">
              <a:spAutoFit/>
            </a:bodyPr>
            <a:lstStyle/>
            <a:p>
              <a:pPr lvl="0" algn="ctr">
                <a:defRPr/>
              </a:pPr>
              <a:r>
                <a:rPr lang="en-US" sz="1200" kern="0">
                  <a:solidFill>
                    <a:srgbClr val="091F2C"/>
                  </a:solidFill>
                  <a:cs typeface="Segoe UI Semibold" panose="020B0502040204020203" pitchFamily="34" charset="0"/>
                </a:rPr>
                <a:t>Consume the released agent</a:t>
              </a:r>
              <a:endPar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endParaRPr>
            </a:p>
          </p:txBody>
        </p:sp>
        <p:sp>
          <p:nvSpPr>
            <p:cNvPr id="50" name="TextBox 49">
              <a:extLst>
                <a:ext uri="{FF2B5EF4-FFF2-40B4-BE49-F238E27FC236}">
                  <a16:creationId xmlns:a16="http://schemas.microsoft.com/office/drawing/2014/main" id="{B1074B06-71B4-9BFD-1747-87D53E527765}"/>
                </a:ext>
              </a:extLst>
            </p:cNvPr>
            <p:cNvSpPr txBox="1">
              <a:spLocks/>
            </p:cNvSpPr>
            <p:nvPr/>
          </p:nvSpPr>
          <p:spPr>
            <a:xfrm>
              <a:off x="3541164" y="4754997"/>
              <a:ext cx="2195564" cy="369332"/>
            </a:xfrm>
            <a:prstGeom prst="rect">
              <a:avLst/>
            </a:prstGeom>
            <a:noFill/>
          </p:spPr>
          <p:txBody>
            <a:bodyPr wrap="square" lIns="0" tIns="0" rIns="0" bIns="0" anchor="ctr">
              <a:spAutoFit/>
            </a:bodyPr>
            <a:lstStyle/>
            <a:p>
              <a:pPr lvl="0" algn="ctr">
                <a:defRPr/>
              </a:pPr>
              <a:r>
                <a:rPr lang="en-US" sz="1200" kern="0">
                  <a:solidFill>
                    <a:srgbClr val="091F2C"/>
                  </a:solidFill>
                  <a:cs typeface="Segoe UI Semibold" panose="020B0502040204020203" pitchFamily="34" charset="0"/>
                </a:rPr>
                <a:t>Informed (if an agent is disabled or removed)</a:t>
              </a:r>
              <a:endPar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endParaRPr>
            </a:p>
          </p:txBody>
        </p:sp>
        <p:sp>
          <p:nvSpPr>
            <p:cNvPr id="61" name="TextBox 60">
              <a:extLst>
                <a:ext uri="{FF2B5EF4-FFF2-40B4-BE49-F238E27FC236}">
                  <a16:creationId xmlns:a16="http://schemas.microsoft.com/office/drawing/2014/main" id="{1CAA5465-EF7B-4FF0-CF7C-C9C162DA2EDD}"/>
                </a:ext>
              </a:extLst>
            </p:cNvPr>
            <p:cNvSpPr txBox="1">
              <a:spLocks/>
            </p:cNvSpPr>
            <p:nvPr/>
          </p:nvSpPr>
          <p:spPr>
            <a:xfrm>
              <a:off x="3541164" y="5651918"/>
              <a:ext cx="2195564" cy="184666"/>
            </a:xfrm>
            <a:prstGeom prst="rect">
              <a:avLst/>
            </a:prstGeom>
            <a:noFill/>
          </p:spPr>
          <p:txBody>
            <a:bodyPr wrap="square" lIns="0" tIns="0" rIns="0" bIns="0" anchor="ctr">
              <a:spAutoFit/>
            </a:bodyPr>
            <a:lstStyle/>
            <a:p>
              <a:pPr lvl="0" algn="ctr">
                <a:defRPr/>
              </a:pPr>
              <a:r>
                <a:rPr lang="en-US" sz="1200" kern="0">
                  <a:solidFill>
                    <a:srgbClr val="091F2C"/>
                  </a:solidFill>
                  <a:cs typeface="Segoe UI Semibold" panose="020B0502040204020203" pitchFamily="34" charset="0"/>
                </a:rPr>
                <a:t>Notified of experience changes</a:t>
              </a:r>
              <a:endPar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endParaRPr>
            </a:p>
          </p:txBody>
        </p:sp>
      </p:grpSp>
      <p:grpSp>
        <p:nvGrpSpPr>
          <p:cNvPr id="81" name="Group 80">
            <a:extLst>
              <a:ext uri="{FF2B5EF4-FFF2-40B4-BE49-F238E27FC236}">
                <a16:creationId xmlns:a16="http://schemas.microsoft.com/office/drawing/2014/main" id="{1E0FFF73-EEBB-0CAC-4E49-B503F158A425}"/>
              </a:ext>
            </a:extLst>
          </p:cNvPr>
          <p:cNvGrpSpPr/>
          <p:nvPr/>
        </p:nvGrpSpPr>
        <p:grpSpPr>
          <a:xfrm>
            <a:off x="6260372" y="2433563"/>
            <a:ext cx="2195564" cy="3403021"/>
            <a:chOff x="6260373" y="2433563"/>
            <a:chExt cx="2195564" cy="3403021"/>
          </a:xfrm>
        </p:grpSpPr>
        <p:sp>
          <p:nvSpPr>
            <p:cNvPr id="40" name="TextBox 39">
              <a:extLst>
                <a:ext uri="{FF2B5EF4-FFF2-40B4-BE49-F238E27FC236}">
                  <a16:creationId xmlns:a16="http://schemas.microsoft.com/office/drawing/2014/main" id="{044B6242-10DE-9250-9D6B-12A2EA789E8F}"/>
                </a:ext>
              </a:extLst>
            </p:cNvPr>
            <p:cNvSpPr txBox="1">
              <a:spLocks/>
            </p:cNvSpPr>
            <p:nvPr/>
          </p:nvSpPr>
          <p:spPr>
            <a:xfrm>
              <a:off x="6260373" y="2433563"/>
              <a:ext cx="2195564" cy="18466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rPr>
                <a:t>Can share only within policy</a:t>
              </a:r>
            </a:p>
          </p:txBody>
        </p:sp>
        <p:sp>
          <p:nvSpPr>
            <p:cNvPr id="43" name="TextBox 42">
              <a:extLst>
                <a:ext uri="{FF2B5EF4-FFF2-40B4-BE49-F238E27FC236}">
                  <a16:creationId xmlns:a16="http://schemas.microsoft.com/office/drawing/2014/main" id="{E365ECD3-E747-DA38-B1A3-AC14884870CC}"/>
                </a:ext>
              </a:extLst>
            </p:cNvPr>
            <p:cNvSpPr txBox="1">
              <a:spLocks/>
            </p:cNvSpPr>
            <p:nvPr/>
          </p:nvSpPr>
          <p:spPr>
            <a:xfrm>
              <a:off x="6260373" y="3238152"/>
              <a:ext cx="2195564" cy="184666"/>
            </a:xfrm>
            <a:prstGeom prst="rect">
              <a:avLst/>
            </a:prstGeom>
            <a:noFill/>
          </p:spPr>
          <p:txBody>
            <a:bodyPr wrap="square" lIns="0" tIns="0" rIns="0" bIns="0" anchor="ctr">
              <a:spAutoFit/>
            </a:bodyPr>
            <a:lstStyle/>
            <a:p>
              <a:pPr lvl="0" algn="ctr">
                <a:defRPr/>
              </a:pPr>
              <a:r>
                <a:rPr lang="en-US" sz="1200" kern="0">
                  <a:solidFill>
                    <a:srgbClr val="091F2C"/>
                  </a:solidFill>
                  <a:cs typeface="Segoe UI Semibold" panose="020B0502040204020203" pitchFamily="34" charset="0"/>
                </a:rPr>
                <a:t>Build within the allowed set</a:t>
              </a:r>
              <a:endPar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endParaRPr>
            </a:p>
          </p:txBody>
        </p:sp>
        <p:sp>
          <p:nvSpPr>
            <p:cNvPr id="48" name="TextBox 47">
              <a:extLst>
                <a:ext uri="{FF2B5EF4-FFF2-40B4-BE49-F238E27FC236}">
                  <a16:creationId xmlns:a16="http://schemas.microsoft.com/office/drawing/2014/main" id="{CEC73C18-87CC-5660-61FA-D3DB7EC95D5E}"/>
                </a:ext>
              </a:extLst>
            </p:cNvPr>
            <p:cNvSpPr txBox="1">
              <a:spLocks/>
            </p:cNvSpPr>
            <p:nvPr/>
          </p:nvSpPr>
          <p:spPr>
            <a:xfrm>
              <a:off x="6260373" y="3950408"/>
              <a:ext cx="2195564" cy="369332"/>
            </a:xfrm>
            <a:prstGeom prst="rect">
              <a:avLst/>
            </a:prstGeom>
            <a:noFill/>
          </p:spPr>
          <p:txBody>
            <a:bodyPr wrap="square" lIns="0" tIns="0" rIns="0" bIns="0" anchor="ctr">
              <a:spAutoFit/>
            </a:bodyPr>
            <a:lstStyle/>
            <a:p>
              <a:pPr lvl="0" algn="ctr">
                <a:defRPr/>
              </a:pPr>
              <a:r>
                <a:rPr lang="en-US" sz="1200" kern="0">
                  <a:solidFill>
                    <a:srgbClr val="091F2C"/>
                  </a:solidFill>
                  <a:cs typeface="Segoe UI Semibold" panose="020B0502040204020203" pitchFamily="34" charset="0"/>
                </a:rPr>
                <a:t>Solution owners/makers</a:t>
              </a:r>
              <a:br>
                <a:rPr lang="en-US" sz="1200" kern="0">
                  <a:solidFill>
                    <a:srgbClr val="091F2C"/>
                  </a:solidFill>
                  <a:cs typeface="Segoe UI Semibold" panose="020B0502040204020203" pitchFamily="34" charset="0"/>
                </a:rPr>
              </a:br>
              <a:r>
                <a:rPr lang="en-US" sz="1200" kern="0">
                  <a:solidFill>
                    <a:srgbClr val="091F2C"/>
                  </a:solidFill>
                  <a:cs typeface="Segoe UI Semibold" panose="020B0502040204020203" pitchFamily="34" charset="0"/>
                </a:rPr>
                <a:t>package changes</a:t>
              </a:r>
              <a:endPar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endParaRPr>
            </a:p>
          </p:txBody>
        </p:sp>
        <p:sp>
          <p:nvSpPr>
            <p:cNvPr id="57" name="TextBox 56">
              <a:extLst>
                <a:ext uri="{FF2B5EF4-FFF2-40B4-BE49-F238E27FC236}">
                  <a16:creationId xmlns:a16="http://schemas.microsoft.com/office/drawing/2014/main" id="{F1F6BAFF-6EA8-DB26-2421-C3312E977D10}"/>
                </a:ext>
              </a:extLst>
            </p:cNvPr>
            <p:cNvSpPr txBox="1">
              <a:spLocks/>
            </p:cNvSpPr>
            <p:nvPr/>
          </p:nvSpPr>
          <p:spPr>
            <a:xfrm>
              <a:off x="6260373" y="4662664"/>
              <a:ext cx="2195564" cy="553998"/>
            </a:xfrm>
            <a:prstGeom prst="rect">
              <a:avLst/>
            </a:prstGeom>
            <a:noFill/>
          </p:spPr>
          <p:txBody>
            <a:bodyPr wrap="square" lIns="0" tIns="0" rIns="0" bIns="0" anchor="ctr">
              <a:spAutoFit/>
            </a:bodyPr>
            <a:lstStyle/>
            <a:p>
              <a:pPr lvl="0" algn="ctr">
                <a:defRPr/>
              </a:pPr>
              <a:r>
                <a:rPr lang="en-US" sz="1200" kern="0">
                  <a:solidFill>
                    <a:srgbClr val="091F2C"/>
                  </a:solidFill>
                  <a:cs typeface="Segoe UI Semibold" panose="020B0502040204020203" pitchFamily="34" charset="0"/>
                </a:rPr>
                <a:t>Solution owners remediate (update, re-test, or transition ownership plan)</a:t>
              </a:r>
              <a:endPar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endParaRPr>
            </a:p>
          </p:txBody>
        </p:sp>
        <p:sp>
          <p:nvSpPr>
            <p:cNvPr id="62" name="TextBox 61">
              <a:extLst>
                <a:ext uri="{FF2B5EF4-FFF2-40B4-BE49-F238E27FC236}">
                  <a16:creationId xmlns:a16="http://schemas.microsoft.com/office/drawing/2014/main" id="{A9B2D2E4-196C-0C22-1165-BD46A39A9F74}"/>
                </a:ext>
              </a:extLst>
            </p:cNvPr>
            <p:cNvSpPr txBox="1">
              <a:spLocks/>
            </p:cNvSpPr>
            <p:nvPr/>
          </p:nvSpPr>
          <p:spPr>
            <a:xfrm>
              <a:off x="6260373" y="5651918"/>
              <a:ext cx="2195564" cy="184666"/>
            </a:xfrm>
            <a:prstGeom prst="rect">
              <a:avLst/>
            </a:prstGeom>
            <a:noFill/>
          </p:spPr>
          <p:txBody>
            <a:bodyPr wrap="square" lIns="0" tIns="0" rIns="0" bIns="0" anchor="ctr">
              <a:spAutoFit/>
            </a:bodyPr>
            <a:lstStyle/>
            <a:p>
              <a:pPr lvl="0" algn="ctr">
                <a:defRPr/>
              </a:pPr>
              <a:r>
                <a:rPr lang="en-US" sz="1200" kern="0">
                  <a:solidFill>
                    <a:srgbClr val="091F2C"/>
                  </a:solidFill>
                  <a:cs typeface="Segoe UI Semibold" panose="020B0502040204020203" pitchFamily="34" charset="0"/>
                </a:rPr>
                <a:t>Adjust solutions if impacted</a:t>
              </a:r>
              <a:endPar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endParaRPr>
            </a:p>
          </p:txBody>
        </p:sp>
      </p:grpSp>
      <p:grpSp>
        <p:nvGrpSpPr>
          <p:cNvPr id="80" name="Group 79">
            <a:extLst>
              <a:ext uri="{FF2B5EF4-FFF2-40B4-BE49-F238E27FC236}">
                <a16:creationId xmlns:a16="http://schemas.microsoft.com/office/drawing/2014/main" id="{05946829-F9E9-3ED4-B313-DB0976932B6B}"/>
              </a:ext>
            </a:extLst>
          </p:cNvPr>
          <p:cNvGrpSpPr/>
          <p:nvPr/>
        </p:nvGrpSpPr>
        <p:grpSpPr>
          <a:xfrm>
            <a:off x="8979582" y="2341230"/>
            <a:ext cx="2195564" cy="3680020"/>
            <a:chOff x="8979582" y="2341230"/>
            <a:chExt cx="2195564" cy="3680020"/>
          </a:xfrm>
        </p:grpSpPr>
        <p:sp>
          <p:nvSpPr>
            <p:cNvPr id="41" name="TextBox 40">
              <a:extLst>
                <a:ext uri="{FF2B5EF4-FFF2-40B4-BE49-F238E27FC236}">
                  <a16:creationId xmlns:a16="http://schemas.microsoft.com/office/drawing/2014/main" id="{E752233C-4385-C415-BC04-EBF258ABBAA9}"/>
                </a:ext>
              </a:extLst>
            </p:cNvPr>
            <p:cNvSpPr txBox="1">
              <a:spLocks/>
            </p:cNvSpPr>
            <p:nvPr/>
          </p:nvSpPr>
          <p:spPr>
            <a:xfrm>
              <a:off x="8979582" y="2341230"/>
              <a:ext cx="2195564" cy="369332"/>
            </a:xfrm>
            <a:prstGeom prst="rect">
              <a:avLst/>
            </a:prstGeom>
            <a:noFill/>
          </p:spPr>
          <p:txBody>
            <a:bodyPr wrap="square" lIns="0" tIns="0" rIns="0" bIns="0" anchor="ctr">
              <a:spAutoFit/>
            </a:bodyPr>
            <a:lstStyle/>
            <a:p>
              <a:pPr lvl="0" algn="ctr">
                <a:defRPr/>
              </a:pPr>
              <a:r>
                <a:rPr lang="en-US" sz="1200" kern="0">
                  <a:solidFill>
                    <a:srgbClr val="091F2C"/>
                  </a:solidFill>
                  <a:cs typeface="Segoe UI Semibold" panose="020B0502040204020203" pitchFamily="34" charset="0"/>
                </a:rPr>
                <a:t>Platform/Zone owners set sharing limits</a:t>
              </a:r>
              <a:endPar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endParaRPr>
            </a:p>
          </p:txBody>
        </p:sp>
        <p:sp>
          <p:nvSpPr>
            <p:cNvPr id="46" name="TextBox 45">
              <a:extLst>
                <a:ext uri="{FF2B5EF4-FFF2-40B4-BE49-F238E27FC236}">
                  <a16:creationId xmlns:a16="http://schemas.microsoft.com/office/drawing/2014/main" id="{27BFB34B-E714-B4BE-2CF9-E01BB083BD80}"/>
                </a:ext>
              </a:extLst>
            </p:cNvPr>
            <p:cNvSpPr txBox="1">
              <a:spLocks/>
            </p:cNvSpPr>
            <p:nvPr/>
          </p:nvSpPr>
          <p:spPr>
            <a:xfrm>
              <a:off x="8979582" y="3145819"/>
              <a:ext cx="2195564" cy="369332"/>
            </a:xfrm>
            <a:prstGeom prst="rect">
              <a:avLst/>
            </a:prstGeom>
            <a:noFill/>
          </p:spPr>
          <p:txBody>
            <a:bodyPr wrap="square" lIns="0" tIns="0" rIns="0" bIns="0" anchor="ctr">
              <a:spAutoFit/>
            </a:bodyPr>
            <a:lstStyle/>
            <a:p>
              <a:pPr lvl="0" algn="ctr">
                <a:defRPr/>
              </a:pPr>
              <a:r>
                <a:rPr lang="en-US" sz="1200" kern="0">
                  <a:solidFill>
                    <a:srgbClr val="091F2C"/>
                  </a:solidFill>
                  <a:cs typeface="Segoe UI Semibold" panose="020B0502040204020203" pitchFamily="34" charset="0"/>
                </a:rPr>
                <a:t>Platform/Zone owners decide what’s allowed </a:t>
              </a:r>
              <a:endPar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endParaRPr>
            </a:p>
          </p:txBody>
        </p:sp>
        <p:sp>
          <p:nvSpPr>
            <p:cNvPr id="49" name="TextBox 48">
              <a:extLst>
                <a:ext uri="{FF2B5EF4-FFF2-40B4-BE49-F238E27FC236}">
                  <a16:creationId xmlns:a16="http://schemas.microsoft.com/office/drawing/2014/main" id="{2469FEC0-4677-6BA3-1650-057B46F904AE}"/>
                </a:ext>
              </a:extLst>
            </p:cNvPr>
            <p:cNvSpPr txBox="1">
              <a:spLocks/>
            </p:cNvSpPr>
            <p:nvPr/>
          </p:nvSpPr>
          <p:spPr>
            <a:xfrm>
              <a:off x="8979582" y="3950408"/>
              <a:ext cx="2195564" cy="369332"/>
            </a:xfrm>
            <a:prstGeom prst="rect">
              <a:avLst/>
            </a:prstGeom>
            <a:noFill/>
          </p:spPr>
          <p:txBody>
            <a:bodyPr wrap="square" lIns="0" tIns="0" rIns="0" bIns="0" anchor="ctr">
              <a:spAutoFit/>
            </a:bodyPr>
            <a:lstStyle/>
            <a:p>
              <a:pPr lvl="0" algn="ctr">
                <a:defRPr/>
              </a:pPr>
              <a:r>
                <a:rPr lang="en-US" sz="1200" kern="0">
                  <a:solidFill>
                    <a:srgbClr val="091F2C"/>
                  </a:solidFill>
                  <a:cs typeface="Segoe UI Semibold" panose="020B0502040204020203" pitchFamily="34" charset="0"/>
                </a:rPr>
                <a:t>Approval of “production-grade” releases</a:t>
              </a:r>
              <a:endPar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endParaRPr>
            </a:p>
          </p:txBody>
        </p:sp>
        <p:sp>
          <p:nvSpPr>
            <p:cNvPr id="58" name="TextBox 57">
              <a:extLst>
                <a:ext uri="{FF2B5EF4-FFF2-40B4-BE49-F238E27FC236}">
                  <a16:creationId xmlns:a16="http://schemas.microsoft.com/office/drawing/2014/main" id="{E5B248C2-2DFA-003E-8298-7897F9A2F1EB}"/>
                </a:ext>
              </a:extLst>
            </p:cNvPr>
            <p:cNvSpPr txBox="1">
              <a:spLocks/>
            </p:cNvSpPr>
            <p:nvPr/>
          </p:nvSpPr>
          <p:spPr>
            <a:xfrm>
              <a:off x="8979582" y="4754997"/>
              <a:ext cx="2195564" cy="369332"/>
            </a:xfrm>
            <a:prstGeom prst="rect">
              <a:avLst/>
            </a:prstGeom>
            <a:noFill/>
          </p:spPr>
          <p:txBody>
            <a:bodyPr wrap="square" lIns="0" tIns="0" rIns="0" bIns="0" anchor="ctr">
              <a:spAutoFit/>
            </a:bodyPr>
            <a:lstStyle/>
            <a:p>
              <a:pPr lvl="0" algn="ctr">
                <a:defRPr/>
              </a:pPr>
              <a:r>
                <a:rPr lang="en-US" sz="1200" kern="0">
                  <a:solidFill>
                    <a:srgbClr val="091F2C"/>
                  </a:solidFill>
                  <a:cs typeface="Segoe UI Semibold" panose="020B0502040204020203" pitchFamily="34" charset="0"/>
                </a:rPr>
                <a:t>Executes lifecycle actions through governance tools</a:t>
              </a:r>
              <a:endPar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endParaRPr>
            </a:p>
          </p:txBody>
        </p:sp>
        <p:sp>
          <p:nvSpPr>
            <p:cNvPr id="64" name="TextBox 63">
              <a:extLst>
                <a:ext uri="{FF2B5EF4-FFF2-40B4-BE49-F238E27FC236}">
                  <a16:creationId xmlns:a16="http://schemas.microsoft.com/office/drawing/2014/main" id="{FF7812DA-47F2-6FDC-D8AA-BF391A8ECBA1}"/>
                </a:ext>
              </a:extLst>
            </p:cNvPr>
            <p:cNvSpPr txBox="1">
              <a:spLocks/>
            </p:cNvSpPr>
            <p:nvPr/>
          </p:nvSpPr>
          <p:spPr>
            <a:xfrm>
              <a:off x="8979582" y="5467252"/>
              <a:ext cx="2195564" cy="553998"/>
            </a:xfrm>
            <a:prstGeom prst="rect">
              <a:avLst/>
            </a:prstGeom>
            <a:noFill/>
          </p:spPr>
          <p:txBody>
            <a:bodyPr wrap="square" lIns="0" tIns="0" rIns="0" bIns="0" anchor="ctr">
              <a:spAutoFit/>
            </a:bodyPr>
            <a:lstStyle/>
            <a:p>
              <a:pPr lvl="0" algn="ctr">
                <a:defRPr/>
              </a:pPr>
              <a:r>
                <a:rPr lang="en-US" sz="1200" kern="0">
                  <a:solidFill>
                    <a:srgbClr val="091F2C"/>
                  </a:solidFill>
                  <a:cs typeface="Segoe UI Semibold" panose="020B0502040204020203" pitchFamily="34" charset="0"/>
                </a:rPr>
                <a:t>Review upcoming Microsoft changes, assess impact, and communicate/prepare </a:t>
              </a:r>
              <a:endParaRPr kumimoji="0" lang="en-US" sz="1200" b="0" i="0" u="none" strike="noStrike" kern="0" cap="none" spc="0" normalizeH="0" baseline="0" noProof="0">
                <a:ln>
                  <a:noFill/>
                </a:ln>
                <a:solidFill>
                  <a:srgbClr val="091F2C"/>
                </a:solidFill>
                <a:effectLst/>
                <a:uLnTx/>
                <a:uFillTx/>
                <a:ea typeface="+mn-ea"/>
                <a:cs typeface="Segoe UI Semibold" panose="020B0502040204020203" pitchFamily="34" charset="0"/>
              </a:endParaRPr>
            </a:p>
          </p:txBody>
        </p:sp>
      </p:grpSp>
      <p:cxnSp>
        <p:nvCxnSpPr>
          <p:cNvPr id="84" name="Straight Connector 83">
            <a:extLst>
              <a:ext uri="{FF2B5EF4-FFF2-40B4-BE49-F238E27FC236}">
                <a16:creationId xmlns:a16="http://schemas.microsoft.com/office/drawing/2014/main" id="{165557ED-4A65-B69C-868A-BC593BBCCE72}"/>
              </a:ext>
            </a:extLst>
          </p:cNvPr>
          <p:cNvCxnSpPr>
            <a:cxnSpLocks/>
          </p:cNvCxnSpPr>
          <p:nvPr/>
        </p:nvCxnSpPr>
        <p:spPr>
          <a:xfrm>
            <a:off x="3541164" y="2928190"/>
            <a:ext cx="763398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2F9FE6C-39B6-563A-F9FA-6772908D5B5B}"/>
              </a:ext>
            </a:extLst>
          </p:cNvPr>
          <p:cNvCxnSpPr>
            <a:cxnSpLocks/>
          </p:cNvCxnSpPr>
          <p:nvPr/>
        </p:nvCxnSpPr>
        <p:spPr>
          <a:xfrm>
            <a:off x="3541164" y="3732778"/>
            <a:ext cx="763398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719547C-72CB-B583-43CC-BC69810F4421}"/>
              </a:ext>
            </a:extLst>
          </p:cNvPr>
          <p:cNvCxnSpPr>
            <a:cxnSpLocks/>
          </p:cNvCxnSpPr>
          <p:nvPr/>
        </p:nvCxnSpPr>
        <p:spPr>
          <a:xfrm>
            <a:off x="3541164" y="4537366"/>
            <a:ext cx="763398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CB96E379-8712-2D64-DC4C-5DD03DECEB6C}"/>
              </a:ext>
            </a:extLst>
          </p:cNvPr>
          <p:cNvCxnSpPr>
            <a:cxnSpLocks/>
          </p:cNvCxnSpPr>
          <p:nvPr/>
        </p:nvCxnSpPr>
        <p:spPr>
          <a:xfrm>
            <a:off x="3541164" y="5341954"/>
            <a:ext cx="7633982" cy="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3517030-112A-9F13-38CD-6F7B3FB5B153}"/>
              </a:ext>
            </a:extLst>
          </p:cNvPr>
          <p:cNvCxnSpPr>
            <a:cxnSpLocks/>
          </p:cNvCxnSpPr>
          <p:nvPr/>
        </p:nvCxnSpPr>
        <p:spPr>
          <a:xfrm>
            <a:off x="8717758" y="5467252"/>
            <a:ext cx="0" cy="55399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C974B38-F63B-0519-7353-8736B715B207}"/>
              </a:ext>
            </a:extLst>
          </p:cNvPr>
          <p:cNvCxnSpPr>
            <a:cxnSpLocks/>
          </p:cNvCxnSpPr>
          <p:nvPr/>
        </p:nvCxnSpPr>
        <p:spPr>
          <a:xfrm>
            <a:off x="5998550" y="5467252"/>
            <a:ext cx="0" cy="55399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7E4962D-EF25-5407-A2D0-5A3893AE61DB}"/>
              </a:ext>
            </a:extLst>
          </p:cNvPr>
          <p:cNvCxnSpPr>
            <a:cxnSpLocks/>
          </p:cNvCxnSpPr>
          <p:nvPr/>
        </p:nvCxnSpPr>
        <p:spPr>
          <a:xfrm>
            <a:off x="8717758" y="4662661"/>
            <a:ext cx="0" cy="55399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5ED4416F-963D-24DB-0029-C11416079DA1}"/>
              </a:ext>
            </a:extLst>
          </p:cNvPr>
          <p:cNvCxnSpPr>
            <a:cxnSpLocks/>
          </p:cNvCxnSpPr>
          <p:nvPr/>
        </p:nvCxnSpPr>
        <p:spPr>
          <a:xfrm>
            <a:off x="5998550" y="4662661"/>
            <a:ext cx="0" cy="55399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5AC6D141-5C8D-E23D-2BA4-A1DADB41E630}"/>
              </a:ext>
            </a:extLst>
          </p:cNvPr>
          <p:cNvCxnSpPr>
            <a:cxnSpLocks/>
          </p:cNvCxnSpPr>
          <p:nvPr/>
        </p:nvCxnSpPr>
        <p:spPr>
          <a:xfrm>
            <a:off x="8717758" y="3858073"/>
            <a:ext cx="0" cy="55399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B4E8FF4-200C-D787-DB96-6AEFBF8129DE}"/>
              </a:ext>
            </a:extLst>
          </p:cNvPr>
          <p:cNvCxnSpPr>
            <a:cxnSpLocks/>
          </p:cNvCxnSpPr>
          <p:nvPr/>
        </p:nvCxnSpPr>
        <p:spPr>
          <a:xfrm>
            <a:off x="5998550" y="3858073"/>
            <a:ext cx="0" cy="55399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1D966BBE-5B6C-3A07-ADBA-191AD6537996}"/>
              </a:ext>
            </a:extLst>
          </p:cNvPr>
          <p:cNvCxnSpPr>
            <a:cxnSpLocks/>
          </p:cNvCxnSpPr>
          <p:nvPr/>
        </p:nvCxnSpPr>
        <p:spPr>
          <a:xfrm>
            <a:off x="8717758" y="3053485"/>
            <a:ext cx="0" cy="55399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A9C734F-56B8-5424-7DCF-BBA7FBF81BA5}"/>
              </a:ext>
            </a:extLst>
          </p:cNvPr>
          <p:cNvCxnSpPr>
            <a:cxnSpLocks/>
          </p:cNvCxnSpPr>
          <p:nvPr/>
        </p:nvCxnSpPr>
        <p:spPr>
          <a:xfrm>
            <a:off x="5998550" y="3053485"/>
            <a:ext cx="0" cy="55399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B922748F-3493-DDB2-D85B-930D10138558}"/>
              </a:ext>
            </a:extLst>
          </p:cNvPr>
          <p:cNvCxnSpPr>
            <a:cxnSpLocks/>
          </p:cNvCxnSpPr>
          <p:nvPr/>
        </p:nvCxnSpPr>
        <p:spPr>
          <a:xfrm>
            <a:off x="8717758" y="2248897"/>
            <a:ext cx="0" cy="55399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54A5F824-FB20-ACCD-8225-C01F8E41F7C4}"/>
              </a:ext>
            </a:extLst>
          </p:cNvPr>
          <p:cNvCxnSpPr>
            <a:cxnSpLocks/>
          </p:cNvCxnSpPr>
          <p:nvPr/>
        </p:nvCxnSpPr>
        <p:spPr>
          <a:xfrm>
            <a:off x="5998550" y="2248897"/>
            <a:ext cx="0" cy="553998"/>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206486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0B051-D9DD-3529-63BF-B2FCE5CD1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5A2365-0B3C-4FFF-FDDA-87317D91CD2D}"/>
              </a:ext>
            </a:extLst>
          </p:cNvPr>
          <p:cNvSpPr>
            <a:spLocks noGrp="1"/>
          </p:cNvSpPr>
          <p:nvPr>
            <p:ph type="title"/>
          </p:nvPr>
        </p:nvSpPr>
        <p:spPr>
          <a:xfrm>
            <a:off x="588264" y="3152001"/>
            <a:ext cx="6117336" cy="553998"/>
          </a:xfrm>
        </p:spPr>
        <p:txBody>
          <a:bodyPr wrap="square">
            <a:spAutoFit/>
          </a:bodyPr>
          <a:lstStyle/>
          <a:p>
            <a:r>
              <a:rPr lang="en-US" b="1" dirty="0">
                <a:gradFill>
                  <a:gsLst>
                    <a:gs pos="0">
                      <a:srgbClr val="B63EC5"/>
                    </a:gs>
                    <a:gs pos="100000">
                      <a:srgbClr val="0070C0"/>
                    </a:gs>
                  </a:gsLst>
                  <a:path path="circle">
                    <a:fillToRect l="100000" t="100000"/>
                  </a:path>
                </a:gradFill>
                <a:latin typeface="Segoe Sans Display Semibold" pitchFamily="2" charset="0"/>
              </a:rPr>
              <a:t>Release Rings</a:t>
            </a:r>
          </a:p>
        </p:txBody>
      </p:sp>
      <p:pic>
        <p:nvPicPr>
          <p:cNvPr id="3" name="Picture 2">
            <a:extLst>
              <a:ext uri="{FF2B5EF4-FFF2-40B4-BE49-F238E27FC236}">
                <a16:creationId xmlns:a16="http://schemas.microsoft.com/office/drawing/2014/main" id="{33545173-F778-9D70-608C-A98EDDA31CFA}"/>
              </a:ext>
              <a:ext uri="{C183D7F6-B498-43B3-948B-1728B52AA6E4}">
                <adec:decorative xmlns:adec="http://schemas.microsoft.com/office/drawing/2017/decorative" val="1"/>
              </a:ext>
            </a:extLst>
          </p:cNvPr>
          <p:cNvPicPr>
            <a:picLocks noChangeAspect="1"/>
          </p:cNvPicPr>
          <p:nvPr/>
        </p:nvPicPr>
        <p:blipFill>
          <a:blip r:embed="rId3" cstate="screen">
            <a:alphaModFix/>
            <a:extLst>
              <a:ext uri="{28A0092B-C50C-407E-A947-70E740481C1C}">
                <a14:useLocalDpi xmlns:a14="http://schemas.microsoft.com/office/drawing/2010/main"/>
              </a:ext>
            </a:extLst>
          </a:blip>
          <a:srcRect/>
          <a:stretch/>
        </p:blipFill>
        <p:spPr>
          <a:xfrm>
            <a:off x="8095169" y="2"/>
            <a:ext cx="4102718" cy="6858001"/>
          </a:xfrm>
          <a:prstGeom prst="rect">
            <a:avLst/>
          </a:prstGeom>
        </p:spPr>
      </p:pic>
    </p:spTree>
    <p:extLst>
      <p:ext uri="{BB962C8B-B14F-4D97-AF65-F5344CB8AC3E}">
        <p14:creationId xmlns:p14="http://schemas.microsoft.com/office/powerpoint/2010/main" val="89163005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6E740-561C-906B-55CB-EA85FAF9A064}"/>
            </a:ext>
          </a:extLst>
        </p:cNvPr>
        <p:cNvGrpSpPr/>
        <p:nvPr/>
      </p:nvGrpSpPr>
      <p:grpSpPr>
        <a:xfrm>
          <a:off x="0" y="0"/>
          <a:ext cx="0" cy="0"/>
          <a:chOff x="0" y="0"/>
          <a:chExt cx="0" cy="0"/>
        </a:xfrm>
      </p:grpSpPr>
      <p:pic>
        <p:nvPicPr>
          <p:cNvPr id="58" name="Picture 57" descr="A blurry image of a purple object&#10;&#10;AI-generated content may be incorrect.">
            <a:extLst>
              <a:ext uri="{FF2B5EF4-FFF2-40B4-BE49-F238E27FC236}">
                <a16:creationId xmlns:a16="http://schemas.microsoft.com/office/drawing/2014/main" id="{CC1EB39C-DE1F-86E3-13AC-F3F8D59A31FB}"/>
              </a:ext>
            </a:extLst>
          </p:cNvPr>
          <p:cNvPicPr>
            <a:picLocks noChangeAspect="1"/>
          </p:cNvPicPr>
          <p:nvPr/>
        </p:nvPicPr>
        <p:blipFill>
          <a:blip r:embed="rId3">
            <a:alphaModFix amt="70000"/>
          </a:blip>
          <a:srcRect l="25924"/>
          <a:stretch>
            <a:fillRect/>
          </a:stretch>
        </p:blipFill>
        <p:spPr>
          <a:xfrm flipV="1">
            <a:off x="0" y="0"/>
            <a:ext cx="12192000" cy="6858000"/>
          </a:xfrm>
          <a:prstGeom prst="rect">
            <a:avLst/>
          </a:prstGeom>
        </p:spPr>
      </p:pic>
      <p:sp>
        <p:nvSpPr>
          <p:cNvPr id="7" name="Title 6">
            <a:extLst>
              <a:ext uri="{FF2B5EF4-FFF2-40B4-BE49-F238E27FC236}">
                <a16:creationId xmlns:a16="http://schemas.microsoft.com/office/drawing/2014/main" id="{8B94B66B-2164-40F9-F000-4341B0C5F62C}"/>
              </a:ext>
            </a:extLst>
          </p:cNvPr>
          <p:cNvSpPr>
            <a:spLocks noGrp="1"/>
          </p:cNvSpPr>
          <p:nvPr>
            <p:ph type="title"/>
          </p:nvPr>
        </p:nvSpPr>
        <p:spPr/>
        <p:txBody>
          <a:bodyPr/>
          <a:lstStyle/>
          <a:p>
            <a:r>
              <a:rPr lang="en-US"/>
              <a:t>Release Rings</a:t>
            </a:r>
          </a:p>
        </p:txBody>
      </p:sp>
      <p:sp>
        <p:nvSpPr>
          <p:cNvPr id="10" name="Rectangle: Rounded Corners 15">
            <a:extLst>
              <a:ext uri="{FF2B5EF4-FFF2-40B4-BE49-F238E27FC236}">
                <a16:creationId xmlns:a16="http://schemas.microsoft.com/office/drawing/2014/main" id="{2E0EBEAE-40AA-855F-2729-8DA96176EAD7}"/>
              </a:ext>
              <a:ext uri="{C183D7F6-B498-43B3-948B-1728B52AA6E4}">
                <adec:decorative xmlns:adec="http://schemas.microsoft.com/office/drawing/2017/decorative" val="1"/>
              </a:ext>
            </a:extLst>
          </p:cNvPr>
          <p:cNvSpPr>
            <a:spLocks/>
          </p:cNvSpPr>
          <p:nvPr/>
        </p:nvSpPr>
        <p:spPr bwMode="auto">
          <a:xfrm>
            <a:off x="537088" y="2293410"/>
            <a:ext cx="3604465" cy="3726390"/>
          </a:xfrm>
          <a:prstGeom prst="roundRect">
            <a:avLst>
              <a:gd name="adj" fmla="val 4984"/>
            </a:avLst>
          </a:prstGeom>
          <a:solidFill>
            <a:schemeClr val="bg1">
              <a:alpha val="55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GB" sz="2000">
              <a:solidFill>
                <a:srgbClr val="FFFFFF"/>
              </a:solidFill>
              <a:latin typeface="Segoe Sans Display"/>
              <a:cs typeface="Segoe UI" pitchFamily="34" charset="0"/>
            </a:endParaRPr>
          </a:p>
        </p:txBody>
      </p:sp>
      <p:sp>
        <p:nvSpPr>
          <p:cNvPr id="35" name="Rectangle: Rounded Corners 15">
            <a:extLst>
              <a:ext uri="{FF2B5EF4-FFF2-40B4-BE49-F238E27FC236}">
                <a16:creationId xmlns:a16="http://schemas.microsoft.com/office/drawing/2014/main" id="{530F92D9-0B99-CBFE-320D-0412943E2B37}"/>
              </a:ext>
              <a:ext uri="{C183D7F6-B498-43B3-948B-1728B52AA6E4}">
                <adec:decorative xmlns:adec="http://schemas.microsoft.com/office/drawing/2017/decorative" val="1"/>
              </a:ext>
            </a:extLst>
          </p:cNvPr>
          <p:cNvSpPr>
            <a:spLocks/>
          </p:cNvSpPr>
          <p:nvPr/>
        </p:nvSpPr>
        <p:spPr bwMode="auto">
          <a:xfrm>
            <a:off x="4311129" y="2293410"/>
            <a:ext cx="3604465" cy="3726390"/>
          </a:xfrm>
          <a:prstGeom prst="roundRect">
            <a:avLst>
              <a:gd name="adj" fmla="val 4984"/>
            </a:avLst>
          </a:prstGeom>
          <a:solidFill>
            <a:schemeClr val="bg1">
              <a:alpha val="55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GB" sz="2000">
              <a:solidFill>
                <a:srgbClr val="FFFFFF"/>
              </a:solidFill>
              <a:latin typeface="Segoe Sans Display"/>
              <a:cs typeface="Segoe UI" pitchFamily="34" charset="0"/>
            </a:endParaRPr>
          </a:p>
        </p:txBody>
      </p:sp>
      <p:sp>
        <p:nvSpPr>
          <p:cNvPr id="36" name="Rectangle: Rounded Corners 15">
            <a:extLst>
              <a:ext uri="{FF2B5EF4-FFF2-40B4-BE49-F238E27FC236}">
                <a16:creationId xmlns:a16="http://schemas.microsoft.com/office/drawing/2014/main" id="{196317A3-C89C-31EB-A684-32A7C752460A}"/>
              </a:ext>
              <a:ext uri="{C183D7F6-B498-43B3-948B-1728B52AA6E4}">
                <adec:decorative xmlns:adec="http://schemas.microsoft.com/office/drawing/2017/decorative" val="1"/>
              </a:ext>
            </a:extLst>
          </p:cNvPr>
          <p:cNvSpPr>
            <a:spLocks/>
          </p:cNvSpPr>
          <p:nvPr/>
        </p:nvSpPr>
        <p:spPr bwMode="auto">
          <a:xfrm>
            <a:off x="8050450" y="2293410"/>
            <a:ext cx="3604465" cy="3726390"/>
          </a:xfrm>
          <a:prstGeom prst="roundRect">
            <a:avLst>
              <a:gd name="adj" fmla="val 4984"/>
            </a:avLst>
          </a:prstGeom>
          <a:solidFill>
            <a:schemeClr val="bg1">
              <a:alpha val="55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GB" sz="2000">
              <a:solidFill>
                <a:srgbClr val="FFFFFF"/>
              </a:solidFill>
              <a:latin typeface="Segoe Sans Display"/>
              <a:cs typeface="Segoe UI" pitchFamily="34" charset="0"/>
            </a:endParaRPr>
          </a:p>
        </p:txBody>
      </p:sp>
      <p:grpSp>
        <p:nvGrpSpPr>
          <p:cNvPr id="38" name="Group 37">
            <a:extLst>
              <a:ext uri="{FF2B5EF4-FFF2-40B4-BE49-F238E27FC236}">
                <a16:creationId xmlns:a16="http://schemas.microsoft.com/office/drawing/2014/main" id="{91D396C2-8604-B618-1EC6-7F12C4CFC472}"/>
              </a:ext>
            </a:extLst>
          </p:cNvPr>
          <p:cNvGrpSpPr/>
          <p:nvPr/>
        </p:nvGrpSpPr>
        <p:grpSpPr>
          <a:xfrm>
            <a:off x="1681250" y="1689413"/>
            <a:ext cx="1316140" cy="1316140"/>
            <a:chOff x="1773426" y="2449557"/>
            <a:chExt cx="3163824" cy="3163824"/>
          </a:xfrm>
        </p:grpSpPr>
        <p:sp>
          <p:nvSpPr>
            <p:cNvPr id="41" name="Oval 40">
              <a:extLst>
                <a:ext uri="{FF2B5EF4-FFF2-40B4-BE49-F238E27FC236}">
                  <a16:creationId xmlns:a16="http://schemas.microsoft.com/office/drawing/2014/main" id="{4826951E-CC85-9FAF-DA25-511731AD206D}"/>
                </a:ext>
              </a:extLst>
            </p:cNvPr>
            <p:cNvSpPr>
              <a:spLocks/>
            </p:cNvSpPr>
            <p:nvPr/>
          </p:nvSpPr>
          <p:spPr bwMode="auto">
            <a:xfrm flipH="1">
              <a:off x="1773426" y="2449557"/>
              <a:ext cx="3163824" cy="3163824"/>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solidFill>
                  <a:schemeClr val="accent1"/>
                </a:solidFill>
                <a:latin typeface="+mj-lt"/>
              </a:endParaRPr>
            </a:p>
          </p:txBody>
        </p:sp>
        <p:sp>
          <p:nvSpPr>
            <p:cNvPr id="42" name="Oval 41">
              <a:extLst>
                <a:ext uri="{FF2B5EF4-FFF2-40B4-BE49-F238E27FC236}">
                  <a16:creationId xmlns:a16="http://schemas.microsoft.com/office/drawing/2014/main" id="{1477E55C-32F2-C330-359E-DCC198C680F1}"/>
                </a:ext>
              </a:extLst>
            </p:cNvPr>
            <p:cNvSpPr>
              <a:spLocks/>
            </p:cNvSpPr>
            <p:nvPr/>
          </p:nvSpPr>
          <p:spPr bwMode="auto">
            <a:xfrm flipH="1">
              <a:off x="1773426" y="2449557"/>
              <a:ext cx="3163824" cy="3163824"/>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solidFill>
                  <a:schemeClr val="accent1"/>
                </a:solidFill>
                <a:latin typeface="+mj-lt"/>
              </a:endParaRPr>
            </a:p>
          </p:txBody>
        </p:sp>
      </p:grpSp>
      <p:sp>
        <p:nvSpPr>
          <p:cNvPr id="39" name="TextBox 38">
            <a:extLst>
              <a:ext uri="{FF2B5EF4-FFF2-40B4-BE49-F238E27FC236}">
                <a16:creationId xmlns:a16="http://schemas.microsoft.com/office/drawing/2014/main" id="{1ECD5276-E9A3-AB84-8344-6340C29C0A6E}"/>
              </a:ext>
            </a:extLst>
          </p:cNvPr>
          <p:cNvSpPr txBox="1"/>
          <p:nvPr/>
        </p:nvSpPr>
        <p:spPr>
          <a:xfrm>
            <a:off x="1882303" y="2162817"/>
            <a:ext cx="914033" cy="400110"/>
          </a:xfrm>
          <a:prstGeom prst="rect">
            <a:avLst/>
          </a:prstGeom>
        </p:spPr>
        <p:txBody>
          <a:bodyPr wrap="none" rtlCol="0">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w="3175">
                  <a:noFill/>
                </a:ln>
                <a:gradFill>
                  <a:gsLst>
                    <a:gs pos="0">
                      <a:srgbClr val="0078D4"/>
                    </a:gs>
                    <a:gs pos="94000">
                      <a:srgbClr val="C73ECC"/>
                    </a:gs>
                  </a:gsLst>
                  <a:lin ang="0" scaled="1"/>
                </a:gradFill>
                <a:effectLst/>
                <a:uLnTx/>
                <a:uFillTx/>
                <a:latin typeface="Segoe Sans Display Semibold"/>
                <a:ea typeface="+mn-ea"/>
                <a:cs typeface="+mn-cs"/>
              </a:rPr>
              <a:t>Ring 0</a:t>
            </a:r>
          </a:p>
        </p:txBody>
      </p:sp>
      <p:grpSp>
        <p:nvGrpSpPr>
          <p:cNvPr id="44" name="Group 43">
            <a:extLst>
              <a:ext uri="{FF2B5EF4-FFF2-40B4-BE49-F238E27FC236}">
                <a16:creationId xmlns:a16="http://schemas.microsoft.com/office/drawing/2014/main" id="{74099833-9E6A-5F83-0D13-9D1EFA8AA985}"/>
              </a:ext>
            </a:extLst>
          </p:cNvPr>
          <p:cNvGrpSpPr/>
          <p:nvPr/>
        </p:nvGrpSpPr>
        <p:grpSpPr>
          <a:xfrm>
            <a:off x="5455291" y="1689413"/>
            <a:ext cx="1316140" cy="1316140"/>
            <a:chOff x="1773426" y="2449557"/>
            <a:chExt cx="3163824" cy="3163824"/>
          </a:xfrm>
        </p:grpSpPr>
        <p:sp>
          <p:nvSpPr>
            <p:cNvPr id="47" name="Oval 46">
              <a:extLst>
                <a:ext uri="{FF2B5EF4-FFF2-40B4-BE49-F238E27FC236}">
                  <a16:creationId xmlns:a16="http://schemas.microsoft.com/office/drawing/2014/main" id="{D16217DB-5B64-EC9C-BC3B-ABAB535CC62B}"/>
                </a:ext>
              </a:extLst>
            </p:cNvPr>
            <p:cNvSpPr>
              <a:spLocks/>
            </p:cNvSpPr>
            <p:nvPr/>
          </p:nvSpPr>
          <p:spPr bwMode="auto">
            <a:xfrm flipH="1">
              <a:off x="1773426" y="2449557"/>
              <a:ext cx="3163824" cy="3163824"/>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solidFill>
                  <a:schemeClr val="accent1"/>
                </a:solidFill>
                <a:latin typeface="+mj-lt"/>
              </a:endParaRPr>
            </a:p>
          </p:txBody>
        </p:sp>
        <p:sp>
          <p:nvSpPr>
            <p:cNvPr id="48" name="Oval 47">
              <a:extLst>
                <a:ext uri="{FF2B5EF4-FFF2-40B4-BE49-F238E27FC236}">
                  <a16:creationId xmlns:a16="http://schemas.microsoft.com/office/drawing/2014/main" id="{3389E38B-D19D-D594-93EF-BFD68488B850}"/>
                </a:ext>
              </a:extLst>
            </p:cNvPr>
            <p:cNvSpPr>
              <a:spLocks/>
            </p:cNvSpPr>
            <p:nvPr/>
          </p:nvSpPr>
          <p:spPr bwMode="auto">
            <a:xfrm flipH="1">
              <a:off x="1773426" y="2449557"/>
              <a:ext cx="3163824" cy="3163824"/>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solidFill>
                  <a:schemeClr val="accent1"/>
                </a:solidFill>
                <a:latin typeface="+mj-lt"/>
              </a:endParaRPr>
            </a:p>
          </p:txBody>
        </p:sp>
      </p:grpSp>
      <p:sp>
        <p:nvSpPr>
          <p:cNvPr id="45" name="TextBox 44">
            <a:extLst>
              <a:ext uri="{FF2B5EF4-FFF2-40B4-BE49-F238E27FC236}">
                <a16:creationId xmlns:a16="http://schemas.microsoft.com/office/drawing/2014/main" id="{3F82E21D-2FC8-6BCB-748F-E93D11FE9971}"/>
              </a:ext>
            </a:extLst>
          </p:cNvPr>
          <p:cNvSpPr txBox="1"/>
          <p:nvPr/>
        </p:nvSpPr>
        <p:spPr>
          <a:xfrm>
            <a:off x="5675580" y="2162817"/>
            <a:ext cx="875561" cy="400110"/>
          </a:xfrm>
          <a:prstGeom prst="rect">
            <a:avLst/>
          </a:prstGeom>
        </p:spPr>
        <p:txBody>
          <a:bodyPr wrap="none" rtlCol="0">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w="3175">
                  <a:noFill/>
                </a:ln>
                <a:gradFill>
                  <a:gsLst>
                    <a:gs pos="0">
                      <a:srgbClr val="0078D4"/>
                    </a:gs>
                    <a:gs pos="94000">
                      <a:srgbClr val="C73ECC"/>
                    </a:gs>
                  </a:gsLst>
                  <a:lin ang="0" scaled="1"/>
                </a:gradFill>
                <a:effectLst/>
                <a:uLnTx/>
                <a:uFillTx/>
                <a:latin typeface="Segoe Sans Display Semibold"/>
                <a:ea typeface="+mn-ea"/>
                <a:cs typeface="+mn-cs"/>
              </a:rPr>
              <a:t>Ring 1</a:t>
            </a:r>
          </a:p>
        </p:txBody>
      </p:sp>
      <p:grpSp>
        <p:nvGrpSpPr>
          <p:cNvPr id="50" name="Group 49">
            <a:extLst>
              <a:ext uri="{FF2B5EF4-FFF2-40B4-BE49-F238E27FC236}">
                <a16:creationId xmlns:a16="http://schemas.microsoft.com/office/drawing/2014/main" id="{2BE8A007-61EE-1785-F0AD-93F3AC561F98}"/>
              </a:ext>
            </a:extLst>
          </p:cNvPr>
          <p:cNvGrpSpPr/>
          <p:nvPr/>
        </p:nvGrpSpPr>
        <p:grpSpPr>
          <a:xfrm>
            <a:off x="9194610" y="1689413"/>
            <a:ext cx="1316140" cy="1316140"/>
            <a:chOff x="1773426" y="2449557"/>
            <a:chExt cx="3163824" cy="3163824"/>
          </a:xfrm>
        </p:grpSpPr>
        <p:sp>
          <p:nvSpPr>
            <p:cNvPr id="53" name="Oval 52">
              <a:extLst>
                <a:ext uri="{FF2B5EF4-FFF2-40B4-BE49-F238E27FC236}">
                  <a16:creationId xmlns:a16="http://schemas.microsoft.com/office/drawing/2014/main" id="{1C2DADFA-C69C-D865-9696-54185832F4C0}"/>
                </a:ext>
              </a:extLst>
            </p:cNvPr>
            <p:cNvSpPr>
              <a:spLocks/>
            </p:cNvSpPr>
            <p:nvPr/>
          </p:nvSpPr>
          <p:spPr bwMode="auto">
            <a:xfrm flipH="1">
              <a:off x="1773426" y="2449557"/>
              <a:ext cx="3163824" cy="3163824"/>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solidFill>
                  <a:schemeClr val="accent1"/>
                </a:solidFill>
                <a:latin typeface="+mj-lt"/>
              </a:endParaRPr>
            </a:p>
          </p:txBody>
        </p:sp>
        <p:sp>
          <p:nvSpPr>
            <p:cNvPr id="54" name="Oval 53">
              <a:extLst>
                <a:ext uri="{FF2B5EF4-FFF2-40B4-BE49-F238E27FC236}">
                  <a16:creationId xmlns:a16="http://schemas.microsoft.com/office/drawing/2014/main" id="{FDEF06B0-F005-282A-B4C3-DC75DC1E16F0}"/>
                </a:ext>
              </a:extLst>
            </p:cNvPr>
            <p:cNvSpPr>
              <a:spLocks/>
            </p:cNvSpPr>
            <p:nvPr/>
          </p:nvSpPr>
          <p:spPr bwMode="auto">
            <a:xfrm flipH="1">
              <a:off x="1773426" y="2449557"/>
              <a:ext cx="3163824" cy="3163824"/>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solidFill>
                  <a:schemeClr val="accent1"/>
                </a:solidFill>
                <a:latin typeface="+mj-lt"/>
              </a:endParaRPr>
            </a:p>
          </p:txBody>
        </p:sp>
      </p:grpSp>
      <p:sp>
        <p:nvSpPr>
          <p:cNvPr id="51" name="TextBox 50">
            <a:extLst>
              <a:ext uri="{FF2B5EF4-FFF2-40B4-BE49-F238E27FC236}">
                <a16:creationId xmlns:a16="http://schemas.microsoft.com/office/drawing/2014/main" id="{20506A3A-A7AB-A9FA-9A85-D877F79C05D5}"/>
              </a:ext>
            </a:extLst>
          </p:cNvPr>
          <p:cNvSpPr txBox="1"/>
          <p:nvPr/>
        </p:nvSpPr>
        <p:spPr>
          <a:xfrm>
            <a:off x="9395663" y="2162817"/>
            <a:ext cx="914033" cy="400110"/>
          </a:xfrm>
          <a:prstGeom prst="rect">
            <a:avLst/>
          </a:prstGeom>
        </p:spPr>
        <p:txBody>
          <a:bodyPr wrap="none" rtlCol="0">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w="3175">
                  <a:noFill/>
                </a:ln>
                <a:gradFill>
                  <a:gsLst>
                    <a:gs pos="0">
                      <a:srgbClr val="0078D4"/>
                    </a:gs>
                    <a:gs pos="94000">
                      <a:srgbClr val="C73ECC"/>
                    </a:gs>
                  </a:gsLst>
                  <a:lin ang="0" scaled="1"/>
                </a:gradFill>
                <a:effectLst/>
                <a:uLnTx/>
                <a:uFillTx/>
                <a:latin typeface="Segoe Sans Display Semibold"/>
                <a:ea typeface="+mn-ea"/>
                <a:cs typeface="+mn-cs"/>
              </a:rPr>
              <a:t>Ring 2</a:t>
            </a:r>
          </a:p>
        </p:txBody>
      </p:sp>
      <p:sp>
        <p:nvSpPr>
          <p:cNvPr id="55" name="TextBox 54">
            <a:extLst>
              <a:ext uri="{FF2B5EF4-FFF2-40B4-BE49-F238E27FC236}">
                <a16:creationId xmlns:a16="http://schemas.microsoft.com/office/drawing/2014/main" id="{0B276726-64C7-EE13-9FFE-3872DB8EBF0D}"/>
              </a:ext>
            </a:extLst>
          </p:cNvPr>
          <p:cNvSpPr txBox="1"/>
          <p:nvPr/>
        </p:nvSpPr>
        <p:spPr>
          <a:xfrm>
            <a:off x="716240" y="3785368"/>
            <a:ext cx="3246160" cy="1918474"/>
          </a:xfrm>
          <a:prstGeom prst="rect">
            <a:avLst/>
          </a:prstGeom>
          <a:noFill/>
        </p:spPr>
        <p:txBody>
          <a:bodyPr wrap="square" lIns="0" tIns="0" rIns="0" bIns="0" anchor="t">
            <a:spAutoFit/>
          </a:bodyPr>
          <a:lstStyle/>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Validate new platform features</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Test governance settings &amp; rules</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Trial admin workflows (e.g., routing, sharing limits, connector policies)</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Identify breaking changes early</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Collect fast feedback from </a:t>
            </a:r>
            <a:br>
              <a:rPr kumimoji="0" lang="en-US" sz="1400" b="0" i="0" u="none" strike="noStrike" kern="1200" cap="none" spc="0" normalizeH="0" baseline="0" noProof="0">
                <a:ln>
                  <a:noFill/>
                </a:ln>
                <a:solidFill>
                  <a:srgbClr val="091F2C"/>
                </a:solidFill>
                <a:effectLst/>
                <a:uLnTx/>
                <a:uFillTx/>
                <a:ea typeface="+mn-ea"/>
                <a:cs typeface="+mn-cs"/>
              </a:rPr>
            </a:br>
            <a:r>
              <a:rPr kumimoji="0" lang="en-US" sz="1400" b="0" i="0" u="none" strike="noStrike" kern="1200" cap="none" spc="0" normalizeH="0" baseline="0" noProof="0">
                <a:ln>
                  <a:noFill/>
                </a:ln>
                <a:solidFill>
                  <a:srgbClr val="091F2C"/>
                </a:solidFill>
                <a:effectLst/>
                <a:uLnTx/>
                <a:uFillTx/>
                <a:ea typeface="+mn-ea"/>
                <a:cs typeface="+mn-cs"/>
              </a:rPr>
              <a:t>platform owners</a:t>
            </a:r>
            <a:endParaRPr kumimoji="0" lang="en-IN" sz="1400" b="0" i="0" u="none" strike="noStrike" kern="1200" cap="none" spc="0" normalizeH="0" baseline="0" noProof="0">
              <a:ln>
                <a:noFill/>
              </a:ln>
              <a:solidFill>
                <a:srgbClr val="091F2C"/>
              </a:solidFill>
              <a:effectLst/>
              <a:uLnTx/>
              <a:uFillTx/>
              <a:ea typeface="+mn-ea"/>
              <a:cs typeface="+mn-cs"/>
            </a:endParaRPr>
          </a:p>
        </p:txBody>
      </p:sp>
      <p:sp>
        <p:nvSpPr>
          <p:cNvPr id="56" name="TextBox 55">
            <a:extLst>
              <a:ext uri="{FF2B5EF4-FFF2-40B4-BE49-F238E27FC236}">
                <a16:creationId xmlns:a16="http://schemas.microsoft.com/office/drawing/2014/main" id="{30F64C4E-C08E-87D8-3938-CC10FE9AF25E}"/>
              </a:ext>
            </a:extLst>
          </p:cNvPr>
          <p:cNvSpPr txBox="1"/>
          <p:nvPr/>
        </p:nvSpPr>
        <p:spPr>
          <a:xfrm>
            <a:off x="4490280" y="3785368"/>
            <a:ext cx="3246160" cy="1703030"/>
          </a:xfrm>
          <a:prstGeom prst="rect">
            <a:avLst/>
          </a:prstGeom>
          <a:noFill/>
        </p:spPr>
        <p:txBody>
          <a:bodyPr wrap="square" lIns="0" tIns="0" rIns="0" bIns="0" anchor="t">
            <a:spAutoFit/>
          </a:bodyPr>
          <a:lstStyle/>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Departmental testing in governed environments</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Feedback loop with power users</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Evaluate impact to existing agents</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Validate usability &amp; training needs</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Confirm zone‑level standards hold up</a:t>
            </a:r>
            <a:endParaRPr kumimoji="0" lang="en-IN" sz="1400" b="0" i="0" u="none" strike="noStrike" kern="1200" cap="none" spc="0" normalizeH="0" baseline="0" noProof="0">
              <a:ln>
                <a:noFill/>
              </a:ln>
              <a:solidFill>
                <a:srgbClr val="091F2C"/>
              </a:solidFill>
              <a:effectLst/>
              <a:uLnTx/>
              <a:uFillTx/>
              <a:ea typeface="+mn-ea"/>
              <a:cs typeface="+mn-cs"/>
            </a:endParaRPr>
          </a:p>
        </p:txBody>
      </p:sp>
      <p:sp>
        <p:nvSpPr>
          <p:cNvPr id="57" name="TextBox 56">
            <a:extLst>
              <a:ext uri="{FF2B5EF4-FFF2-40B4-BE49-F238E27FC236}">
                <a16:creationId xmlns:a16="http://schemas.microsoft.com/office/drawing/2014/main" id="{40D021F0-526D-5403-B0B2-2EC06377DEBF}"/>
              </a:ext>
            </a:extLst>
          </p:cNvPr>
          <p:cNvSpPr txBox="1"/>
          <p:nvPr/>
        </p:nvSpPr>
        <p:spPr>
          <a:xfrm>
            <a:off x="8229602" y="3785368"/>
            <a:ext cx="3246160" cy="1703030"/>
          </a:xfrm>
          <a:prstGeom prst="rect">
            <a:avLst/>
          </a:prstGeom>
          <a:noFill/>
        </p:spPr>
        <p:txBody>
          <a:bodyPr wrap="square" lIns="0" tIns="0" rIns="0" bIns="0" anchor="t">
            <a:spAutoFit/>
          </a:bodyPr>
          <a:lstStyle/>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Deploy to all managed environments</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Adopt standard monitoring &amp; alerting</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Business‑critical workloads included</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Communicate change to all users</a:t>
            </a:r>
          </a:p>
          <a:p>
            <a:pPr marL="0" marR="0" lvl="0" indent="0" algn="ctr" defTabSz="914400" rtl="0" eaLnBrk="1" fontAlgn="ctr"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91F2C"/>
                </a:solidFill>
                <a:effectLst/>
                <a:uLnTx/>
                <a:uFillTx/>
                <a:ea typeface="+mn-ea"/>
                <a:cs typeface="+mn-cs"/>
              </a:rPr>
              <a:t>Apply refresh cadence for </a:t>
            </a:r>
            <a:br>
              <a:rPr kumimoji="0" lang="en-US" sz="1400" b="0" i="0" u="none" strike="noStrike" kern="1200" cap="none" spc="0" normalizeH="0" baseline="0" noProof="0">
                <a:ln>
                  <a:noFill/>
                </a:ln>
                <a:solidFill>
                  <a:srgbClr val="091F2C"/>
                </a:solidFill>
                <a:effectLst/>
                <a:uLnTx/>
                <a:uFillTx/>
                <a:ea typeface="+mn-ea"/>
                <a:cs typeface="+mn-cs"/>
              </a:rPr>
            </a:br>
            <a:r>
              <a:rPr kumimoji="0" lang="en-US" sz="1400" b="0" i="0" u="none" strike="noStrike" kern="1200" cap="none" spc="0" normalizeH="0" baseline="0" noProof="0">
                <a:ln>
                  <a:noFill/>
                </a:ln>
                <a:solidFill>
                  <a:srgbClr val="091F2C"/>
                </a:solidFill>
                <a:effectLst/>
                <a:uLnTx/>
                <a:uFillTx/>
                <a:ea typeface="+mn-ea"/>
                <a:cs typeface="+mn-cs"/>
              </a:rPr>
              <a:t>predictable rollout</a:t>
            </a:r>
            <a:endParaRPr kumimoji="0" lang="en-IN" sz="1400" b="0" i="0" u="none" strike="noStrike" kern="1200" cap="none" spc="0" normalizeH="0" baseline="0" noProof="0">
              <a:ln>
                <a:noFill/>
              </a:ln>
              <a:solidFill>
                <a:srgbClr val="091F2C"/>
              </a:solidFill>
              <a:effectLst/>
              <a:uLnTx/>
              <a:uFillTx/>
              <a:ea typeface="+mn-ea"/>
              <a:cs typeface="+mn-cs"/>
            </a:endParaRPr>
          </a:p>
        </p:txBody>
      </p:sp>
      <p:sp>
        <p:nvSpPr>
          <p:cNvPr id="59" name="Oval 58">
            <a:extLst>
              <a:ext uri="{FF2B5EF4-FFF2-40B4-BE49-F238E27FC236}">
                <a16:creationId xmlns:a16="http://schemas.microsoft.com/office/drawing/2014/main" id="{B11532B8-0077-2335-F5A1-FE0FF676DCBE}"/>
              </a:ext>
            </a:extLst>
          </p:cNvPr>
          <p:cNvSpPr/>
          <p:nvPr/>
        </p:nvSpPr>
        <p:spPr bwMode="auto">
          <a:xfrm>
            <a:off x="904597" y="1570579"/>
            <a:ext cx="2869446" cy="2033681"/>
          </a:xfrm>
          <a:prstGeom prst="ellipse">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t" anchorCtr="0" forceAA="0" compatLnSpc="1">
            <a:prstTxWarp prst="textArchDown">
              <a:avLst>
                <a:gd name="adj" fmla="val 2892892"/>
              </a:avLst>
            </a:prstTxWarp>
            <a:noAutofit/>
          </a:bodyPr>
          <a:lstStyle/>
          <a:p>
            <a:pPr lvl="0" algn="ctr">
              <a:defRPr/>
            </a:pPr>
            <a:r>
              <a:rPr lang="en-US" sz="1600" kern="0">
                <a:gradFill>
                  <a:gsLst>
                    <a:gs pos="0">
                      <a:srgbClr val="0078D4"/>
                    </a:gs>
                    <a:gs pos="94000">
                      <a:srgbClr val="C73ECC"/>
                    </a:gs>
                  </a:gsLst>
                  <a:lin ang="0" scaled="1"/>
                </a:gradFill>
                <a:latin typeface="+mj-lt"/>
                <a:cs typeface="Segoe UI Semibold" panose="020B0502040204020203" pitchFamily="34" charset="0"/>
              </a:rPr>
              <a:t>Pilot / Platform Team</a:t>
            </a:r>
          </a:p>
        </p:txBody>
      </p:sp>
      <p:sp>
        <p:nvSpPr>
          <p:cNvPr id="61" name="Oval 60">
            <a:extLst>
              <a:ext uri="{FF2B5EF4-FFF2-40B4-BE49-F238E27FC236}">
                <a16:creationId xmlns:a16="http://schemas.microsoft.com/office/drawing/2014/main" id="{AB661FEF-BDD9-D42B-E133-9498A2FCCE4B}"/>
              </a:ext>
            </a:extLst>
          </p:cNvPr>
          <p:cNvSpPr/>
          <p:nvPr/>
        </p:nvSpPr>
        <p:spPr bwMode="auto">
          <a:xfrm>
            <a:off x="4678638" y="1570579"/>
            <a:ext cx="2869446" cy="2033681"/>
          </a:xfrm>
          <a:prstGeom prst="ellipse">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t" anchorCtr="0" forceAA="0" compatLnSpc="1">
            <a:prstTxWarp prst="textArchDown">
              <a:avLst>
                <a:gd name="adj" fmla="val 2892892"/>
              </a:avLst>
            </a:prstTxWarp>
            <a:noAutofit/>
          </a:bodyPr>
          <a:lstStyle/>
          <a:p>
            <a:pPr lvl="0" algn="ctr">
              <a:defRPr/>
            </a:pPr>
            <a:r>
              <a:rPr lang="en-US" sz="1200" kern="0">
                <a:gradFill>
                  <a:gsLst>
                    <a:gs pos="0">
                      <a:srgbClr val="0078D4"/>
                    </a:gs>
                    <a:gs pos="94000">
                      <a:srgbClr val="C73ECC"/>
                    </a:gs>
                  </a:gsLst>
                  <a:lin ang="0" scaled="1"/>
                </a:gradFill>
                <a:latin typeface="+mj-lt"/>
                <a:cs typeface="Segoe UI Semibold" panose="020B0502040204020203" pitchFamily="34" charset="0"/>
              </a:rPr>
              <a:t>Advanced Makers</a:t>
            </a:r>
          </a:p>
        </p:txBody>
      </p:sp>
      <p:sp>
        <p:nvSpPr>
          <p:cNvPr id="62" name="Oval 61">
            <a:extLst>
              <a:ext uri="{FF2B5EF4-FFF2-40B4-BE49-F238E27FC236}">
                <a16:creationId xmlns:a16="http://schemas.microsoft.com/office/drawing/2014/main" id="{C3D26108-D83F-8020-9D65-82CB873C694B}"/>
              </a:ext>
            </a:extLst>
          </p:cNvPr>
          <p:cNvSpPr/>
          <p:nvPr/>
        </p:nvSpPr>
        <p:spPr bwMode="auto">
          <a:xfrm>
            <a:off x="8417959" y="1570579"/>
            <a:ext cx="2869446" cy="2033681"/>
          </a:xfrm>
          <a:prstGeom prst="ellipse">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880" tIns="146304" rIns="182880" bIns="146304" numCol="1" spcCol="0" rtlCol="0" fromWordArt="0" anchor="t" anchorCtr="0" forceAA="0" compatLnSpc="1">
            <a:prstTxWarp prst="textArchDown">
              <a:avLst>
                <a:gd name="adj" fmla="val 3510765"/>
              </a:avLst>
            </a:prstTxWarp>
            <a:noAutofit/>
          </a:bodyPr>
          <a:lstStyle/>
          <a:p>
            <a:pPr lvl="0" algn="ctr">
              <a:defRPr/>
            </a:pPr>
            <a:r>
              <a:rPr lang="en-US" sz="1200" kern="0">
                <a:gradFill>
                  <a:gsLst>
                    <a:gs pos="0">
                      <a:srgbClr val="0078D4"/>
                    </a:gs>
                    <a:gs pos="94000">
                      <a:srgbClr val="C73ECC"/>
                    </a:gs>
                  </a:gsLst>
                  <a:lin ang="0" scaled="1"/>
                </a:gradFill>
                <a:latin typeface="+mj-lt"/>
                <a:cs typeface="Segoe UI Semibold" panose="020B0502040204020203" pitchFamily="34" charset="0"/>
              </a:rPr>
              <a:t>Enterprise</a:t>
            </a:r>
          </a:p>
        </p:txBody>
      </p:sp>
    </p:spTree>
    <p:extLst>
      <p:ext uri="{BB962C8B-B14F-4D97-AF65-F5344CB8AC3E}">
        <p14:creationId xmlns:p14="http://schemas.microsoft.com/office/powerpoint/2010/main" val="708788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64EA7-D283-1F92-4491-59FB3AC2A0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9CA285-CDCF-E260-B35D-C67E64EE52F2}"/>
              </a:ext>
            </a:extLst>
          </p:cNvPr>
          <p:cNvSpPr>
            <a:spLocks noGrp="1"/>
          </p:cNvSpPr>
          <p:nvPr>
            <p:ph type="title"/>
          </p:nvPr>
        </p:nvSpPr>
        <p:spPr>
          <a:xfrm>
            <a:off x="588264" y="3152001"/>
            <a:ext cx="6117336" cy="553998"/>
          </a:xfrm>
        </p:spPr>
        <p:txBody>
          <a:bodyPr wrap="square">
            <a:spAutoFit/>
          </a:bodyPr>
          <a:lstStyle/>
          <a:p>
            <a:r>
              <a:rPr lang="en-US" b="1" dirty="0">
                <a:gradFill>
                  <a:gsLst>
                    <a:gs pos="0">
                      <a:srgbClr val="B63EC5"/>
                    </a:gs>
                    <a:gs pos="100000">
                      <a:srgbClr val="0070C0"/>
                    </a:gs>
                  </a:gsLst>
                  <a:path path="circle">
                    <a:fillToRect l="100000" t="100000"/>
                  </a:path>
                </a:gradFill>
                <a:latin typeface="Segoe Sans Display Semibold" pitchFamily="2" charset="0"/>
              </a:rPr>
              <a:t>Communication</a:t>
            </a:r>
          </a:p>
        </p:txBody>
      </p:sp>
      <p:pic>
        <p:nvPicPr>
          <p:cNvPr id="3" name="Picture 2">
            <a:extLst>
              <a:ext uri="{FF2B5EF4-FFF2-40B4-BE49-F238E27FC236}">
                <a16:creationId xmlns:a16="http://schemas.microsoft.com/office/drawing/2014/main" id="{5B3B638C-F05E-D34F-646E-B918CFABCBA3}"/>
              </a:ext>
              <a:ext uri="{C183D7F6-B498-43B3-948B-1728B52AA6E4}">
                <adec:decorative xmlns:adec="http://schemas.microsoft.com/office/drawing/2017/decorative" val="1"/>
              </a:ext>
            </a:extLst>
          </p:cNvPr>
          <p:cNvPicPr>
            <a:picLocks noChangeAspect="1"/>
          </p:cNvPicPr>
          <p:nvPr/>
        </p:nvPicPr>
        <p:blipFill>
          <a:blip r:embed="rId3" cstate="screen">
            <a:alphaModFix/>
            <a:extLst>
              <a:ext uri="{28A0092B-C50C-407E-A947-70E740481C1C}">
                <a14:useLocalDpi xmlns:a14="http://schemas.microsoft.com/office/drawing/2010/main"/>
              </a:ext>
            </a:extLst>
          </a:blip>
          <a:srcRect/>
          <a:stretch/>
        </p:blipFill>
        <p:spPr>
          <a:xfrm>
            <a:off x="8095169" y="2"/>
            <a:ext cx="4102718" cy="6858001"/>
          </a:xfrm>
          <a:prstGeom prst="rect">
            <a:avLst/>
          </a:prstGeom>
        </p:spPr>
      </p:pic>
    </p:spTree>
    <p:extLst>
      <p:ext uri="{BB962C8B-B14F-4D97-AF65-F5344CB8AC3E}">
        <p14:creationId xmlns:p14="http://schemas.microsoft.com/office/powerpoint/2010/main" val="405224682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26D44-F9DD-9F00-7401-41DE5F041576}"/>
            </a:ext>
          </a:extLst>
        </p:cNvPr>
        <p:cNvGrpSpPr/>
        <p:nvPr/>
      </p:nvGrpSpPr>
      <p:grpSpPr>
        <a:xfrm>
          <a:off x="0" y="0"/>
          <a:ext cx="0" cy="0"/>
          <a:chOff x="0" y="0"/>
          <a:chExt cx="0" cy="0"/>
        </a:xfrm>
      </p:grpSpPr>
      <p:pic>
        <p:nvPicPr>
          <p:cNvPr id="7" name="Picture 6" descr="A blurry image of a purple object&#10;&#10;AI-generated content may be incorrect.">
            <a:extLst>
              <a:ext uri="{FF2B5EF4-FFF2-40B4-BE49-F238E27FC236}">
                <a16:creationId xmlns:a16="http://schemas.microsoft.com/office/drawing/2014/main" id="{6BA60555-C491-331F-C2EB-A2DE2AE4B0C2}"/>
              </a:ext>
            </a:extLst>
          </p:cNvPr>
          <p:cNvPicPr>
            <a:picLocks noChangeAspect="1"/>
          </p:cNvPicPr>
          <p:nvPr/>
        </p:nvPicPr>
        <p:blipFill>
          <a:blip r:embed="rId3">
            <a:alphaModFix amt="70000"/>
          </a:blip>
          <a:srcRect l="25924"/>
          <a:stretch>
            <a:fillRect/>
          </a:stretch>
        </p:blipFill>
        <p:spPr>
          <a:xfrm flipV="1">
            <a:off x="0" y="0"/>
            <a:ext cx="12192000" cy="6858000"/>
          </a:xfrm>
          <a:prstGeom prst="rect">
            <a:avLst/>
          </a:prstGeom>
        </p:spPr>
      </p:pic>
      <p:sp>
        <p:nvSpPr>
          <p:cNvPr id="18" name="Title 17">
            <a:extLst>
              <a:ext uri="{FF2B5EF4-FFF2-40B4-BE49-F238E27FC236}">
                <a16:creationId xmlns:a16="http://schemas.microsoft.com/office/drawing/2014/main" id="{EC8F8EC3-3E35-41FA-9FDC-CED45E1831C4}"/>
              </a:ext>
            </a:extLst>
          </p:cNvPr>
          <p:cNvSpPr>
            <a:spLocks noGrp="1"/>
          </p:cNvSpPr>
          <p:nvPr>
            <p:ph type="title"/>
          </p:nvPr>
        </p:nvSpPr>
        <p:spPr>
          <a:xfrm>
            <a:off x="588963" y="457200"/>
            <a:ext cx="11017250" cy="554038"/>
          </a:xfrm>
        </p:spPr>
        <p:txBody>
          <a:bodyPr/>
          <a:lstStyle/>
          <a:p>
            <a:r>
              <a:rPr lang="en-US"/>
              <a:t>Why communication matters</a:t>
            </a:r>
          </a:p>
        </p:txBody>
      </p:sp>
      <p:sp>
        <p:nvSpPr>
          <p:cNvPr id="42" name="Freeform: Shape 41">
            <a:extLst>
              <a:ext uri="{FF2B5EF4-FFF2-40B4-BE49-F238E27FC236}">
                <a16:creationId xmlns:a16="http://schemas.microsoft.com/office/drawing/2014/main" id="{6999F295-41CD-36FC-AA95-428AFF38AE23}"/>
              </a:ext>
              <a:ext uri="{C183D7F6-B498-43B3-948B-1728B52AA6E4}">
                <adec:decorative xmlns:adec="http://schemas.microsoft.com/office/drawing/2017/decorative" val="1"/>
              </a:ext>
            </a:extLst>
          </p:cNvPr>
          <p:cNvSpPr/>
          <p:nvPr/>
        </p:nvSpPr>
        <p:spPr>
          <a:xfrm>
            <a:off x="8012239" y="2096704"/>
            <a:ext cx="3593974" cy="3999295"/>
          </a:xfrm>
          <a:custGeom>
            <a:avLst/>
            <a:gdLst>
              <a:gd name="csX0" fmla="*/ 220526 w 3593974"/>
              <a:gd name="csY0" fmla="*/ 0 h 3999295"/>
              <a:gd name="csX1" fmla="*/ 3373448 w 3593974"/>
              <a:gd name="csY1" fmla="*/ 0 h 3999295"/>
              <a:gd name="csX2" fmla="*/ 3593974 w 3593974"/>
              <a:gd name="csY2" fmla="*/ 220526 h 3999295"/>
              <a:gd name="csX3" fmla="*/ 3593974 w 3593974"/>
              <a:gd name="csY3" fmla="*/ 3778769 h 3999295"/>
              <a:gd name="csX4" fmla="*/ 3373448 w 3593974"/>
              <a:gd name="csY4" fmla="*/ 3999295 h 3999295"/>
              <a:gd name="csX5" fmla="*/ 220526 w 3593974"/>
              <a:gd name="csY5" fmla="*/ 3999295 h 3999295"/>
              <a:gd name="csX6" fmla="*/ 0 w 3593974"/>
              <a:gd name="csY6" fmla="*/ 3778769 h 3999295"/>
              <a:gd name="csX7" fmla="*/ 0 w 3593974"/>
              <a:gd name="csY7" fmla="*/ 2333716 h 3999295"/>
              <a:gd name="csX8" fmla="*/ 11104 w 3593974"/>
              <a:gd name="csY8" fmla="*/ 2332603 h 3999295"/>
              <a:gd name="csX9" fmla="*/ 284099 w 3593974"/>
              <a:gd name="csY9" fmla="*/ 1999647 h 3999295"/>
              <a:gd name="csX10" fmla="*/ 11104 w 3593974"/>
              <a:gd name="csY10" fmla="*/ 1666691 h 3999295"/>
              <a:gd name="csX11" fmla="*/ 0 w 3593974"/>
              <a:gd name="csY11" fmla="*/ 1665578 h 3999295"/>
              <a:gd name="csX12" fmla="*/ 0 w 3593974"/>
              <a:gd name="csY12" fmla="*/ 220526 h 3999295"/>
              <a:gd name="csX13" fmla="*/ 220526 w 3593974"/>
              <a:gd name="csY13" fmla="*/ 0 h 39992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593974" h="3999295">
                <a:moveTo>
                  <a:pt x="220526" y="0"/>
                </a:moveTo>
                <a:lnTo>
                  <a:pt x="3373448" y="0"/>
                </a:lnTo>
                <a:cubicBezTo>
                  <a:pt x="3495241" y="0"/>
                  <a:pt x="3593974" y="98733"/>
                  <a:pt x="3593974" y="220526"/>
                </a:cubicBezTo>
                <a:lnTo>
                  <a:pt x="3593974" y="3778769"/>
                </a:lnTo>
                <a:cubicBezTo>
                  <a:pt x="3593974" y="3900562"/>
                  <a:pt x="3495241" y="3999295"/>
                  <a:pt x="3373448" y="3999295"/>
                </a:cubicBezTo>
                <a:lnTo>
                  <a:pt x="220526" y="3999295"/>
                </a:lnTo>
                <a:cubicBezTo>
                  <a:pt x="98733" y="3999295"/>
                  <a:pt x="0" y="3900562"/>
                  <a:pt x="0" y="3778769"/>
                </a:cubicBezTo>
                <a:lnTo>
                  <a:pt x="0" y="2333716"/>
                </a:lnTo>
                <a:lnTo>
                  <a:pt x="11104" y="2332603"/>
                </a:lnTo>
                <a:cubicBezTo>
                  <a:pt x="166902" y="2300913"/>
                  <a:pt x="284099" y="2163885"/>
                  <a:pt x="284099" y="1999647"/>
                </a:cubicBezTo>
                <a:cubicBezTo>
                  <a:pt x="284099" y="1835410"/>
                  <a:pt x="166902" y="1698382"/>
                  <a:pt x="11104" y="1666691"/>
                </a:cubicBezTo>
                <a:lnTo>
                  <a:pt x="0" y="1665578"/>
                </a:lnTo>
                <a:lnTo>
                  <a:pt x="0" y="220526"/>
                </a:lnTo>
                <a:cubicBezTo>
                  <a:pt x="0" y="98733"/>
                  <a:pt x="98733" y="0"/>
                  <a:pt x="220526" y="0"/>
                </a:cubicBezTo>
                <a:close/>
              </a:path>
            </a:pathLst>
          </a:cu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37" name="Freeform: Shape 36">
            <a:extLst>
              <a:ext uri="{FF2B5EF4-FFF2-40B4-BE49-F238E27FC236}">
                <a16:creationId xmlns:a16="http://schemas.microsoft.com/office/drawing/2014/main" id="{3D0EA386-D937-AF4C-128A-E3E78C868985}"/>
              </a:ext>
              <a:ext uri="{C183D7F6-B498-43B3-948B-1728B52AA6E4}">
                <adec:decorative xmlns:adec="http://schemas.microsoft.com/office/drawing/2017/decorative" val="1"/>
              </a:ext>
            </a:extLst>
          </p:cNvPr>
          <p:cNvSpPr/>
          <p:nvPr/>
        </p:nvSpPr>
        <p:spPr>
          <a:xfrm>
            <a:off x="588963" y="2096704"/>
            <a:ext cx="3593974" cy="3999295"/>
          </a:xfrm>
          <a:custGeom>
            <a:avLst/>
            <a:gdLst>
              <a:gd name="csX0" fmla="*/ 220526 w 3593974"/>
              <a:gd name="csY0" fmla="*/ 0 h 3999295"/>
              <a:gd name="csX1" fmla="*/ 3373448 w 3593974"/>
              <a:gd name="csY1" fmla="*/ 0 h 3999295"/>
              <a:gd name="csX2" fmla="*/ 3593974 w 3593974"/>
              <a:gd name="csY2" fmla="*/ 220526 h 3999295"/>
              <a:gd name="csX3" fmla="*/ 3593974 w 3593974"/>
              <a:gd name="csY3" fmla="*/ 1665785 h 3999295"/>
              <a:gd name="csX4" fmla="*/ 3584932 w 3593974"/>
              <a:gd name="csY4" fmla="*/ 1666691 h 3999295"/>
              <a:gd name="csX5" fmla="*/ 3311937 w 3593974"/>
              <a:gd name="csY5" fmla="*/ 1999647 h 3999295"/>
              <a:gd name="csX6" fmla="*/ 3584932 w 3593974"/>
              <a:gd name="csY6" fmla="*/ 2332603 h 3999295"/>
              <a:gd name="csX7" fmla="*/ 3593974 w 3593974"/>
              <a:gd name="csY7" fmla="*/ 2333510 h 3999295"/>
              <a:gd name="csX8" fmla="*/ 3593974 w 3593974"/>
              <a:gd name="csY8" fmla="*/ 3778769 h 3999295"/>
              <a:gd name="csX9" fmla="*/ 3373448 w 3593974"/>
              <a:gd name="csY9" fmla="*/ 3999295 h 3999295"/>
              <a:gd name="csX10" fmla="*/ 220526 w 3593974"/>
              <a:gd name="csY10" fmla="*/ 3999295 h 3999295"/>
              <a:gd name="csX11" fmla="*/ 0 w 3593974"/>
              <a:gd name="csY11" fmla="*/ 3778769 h 3999295"/>
              <a:gd name="csX12" fmla="*/ 0 w 3593974"/>
              <a:gd name="csY12" fmla="*/ 220526 h 3999295"/>
              <a:gd name="csX13" fmla="*/ 220526 w 3593974"/>
              <a:gd name="csY13" fmla="*/ 0 h 39992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593974" h="3999295">
                <a:moveTo>
                  <a:pt x="220526" y="0"/>
                </a:moveTo>
                <a:lnTo>
                  <a:pt x="3373448" y="0"/>
                </a:lnTo>
                <a:cubicBezTo>
                  <a:pt x="3495241" y="0"/>
                  <a:pt x="3593974" y="98733"/>
                  <a:pt x="3593974" y="220526"/>
                </a:cubicBezTo>
                <a:lnTo>
                  <a:pt x="3593974" y="1665785"/>
                </a:lnTo>
                <a:lnTo>
                  <a:pt x="3584932" y="1666691"/>
                </a:lnTo>
                <a:cubicBezTo>
                  <a:pt x="3429134" y="1698382"/>
                  <a:pt x="3311937" y="1835410"/>
                  <a:pt x="3311937" y="1999647"/>
                </a:cubicBezTo>
                <a:cubicBezTo>
                  <a:pt x="3311937" y="2163885"/>
                  <a:pt x="3429134" y="2300913"/>
                  <a:pt x="3584932" y="2332603"/>
                </a:cubicBezTo>
                <a:lnTo>
                  <a:pt x="3593974" y="2333510"/>
                </a:lnTo>
                <a:lnTo>
                  <a:pt x="3593974" y="3778769"/>
                </a:lnTo>
                <a:cubicBezTo>
                  <a:pt x="3593974" y="3900562"/>
                  <a:pt x="3495241" y="3999295"/>
                  <a:pt x="3373448" y="3999295"/>
                </a:cubicBezTo>
                <a:lnTo>
                  <a:pt x="220526" y="3999295"/>
                </a:lnTo>
                <a:cubicBezTo>
                  <a:pt x="98733" y="3999295"/>
                  <a:pt x="0" y="3900562"/>
                  <a:pt x="0" y="3778769"/>
                </a:cubicBezTo>
                <a:lnTo>
                  <a:pt x="0" y="220526"/>
                </a:lnTo>
                <a:cubicBezTo>
                  <a:pt x="0" y="98733"/>
                  <a:pt x="98733" y="0"/>
                  <a:pt x="220526" y="0"/>
                </a:cubicBezTo>
                <a:close/>
              </a:path>
            </a:pathLst>
          </a:cu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40" name="Freeform: Shape 39">
            <a:extLst>
              <a:ext uri="{FF2B5EF4-FFF2-40B4-BE49-F238E27FC236}">
                <a16:creationId xmlns:a16="http://schemas.microsoft.com/office/drawing/2014/main" id="{862C7F10-3AD2-085B-A625-F5CF3951E79E}"/>
              </a:ext>
              <a:ext uri="{C183D7F6-B498-43B3-948B-1728B52AA6E4}">
                <adec:decorative xmlns:adec="http://schemas.microsoft.com/office/drawing/2017/decorative" val="1"/>
              </a:ext>
            </a:extLst>
          </p:cNvPr>
          <p:cNvSpPr/>
          <p:nvPr/>
        </p:nvSpPr>
        <p:spPr>
          <a:xfrm>
            <a:off x="4302663" y="2096704"/>
            <a:ext cx="3593974" cy="3999295"/>
          </a:xfrm>
          <a:custGeom>
            <a:avLst/>
            <a:gdLst>
              <a:gd name="csX0" fmla="*/ 220526 w 3593974"/>
              <a:gd name="csY0" fmla="*/ 0 h 3999295"/>
              <a:gd name="csX1" fmla="*/ 3373448 w 3593974"/>
              <a:gd name="csY1" fmla="*/ 0 h 3999295"/>
              <a:gd name="csX2" fmla="*/ 3593974 w 3593974"/>
              <a:gd name="csY2" fmla="*/ 220526 h 3999295"/>
              <a:gd name="csX3" fmla="*/ 3593974 w 3593974"/>
              <a:gd name="csY3" fmla="*/ 1665578 h 3999295"/>
              <a:gd name="csX4" fmla="*/ 3582871 w 3593974"/>
              <a:gd name="csY4" fmla="*/ 1666691 h 3999295"/>
              <a:gd name="csX5" fmla="*/ 3309875 w 3593974"/>
              <a:gd name="csY5" fmla="*/ 1999647 h 3999295"/>
              <a:gd name="csX6" fmla="*/ 3582871 w 3593974"/>
              <a:gd name="csY6" fmla="*/ 2332603 h 3999295"/>
              <a:gd name="csX7" fmla="*/ 3593974 w 3593974"/>
              <a:gd name="csY7" fmla="*/ 2333716 h 3999295"/>
              <a:gd name="csX8" fmla="*/ 3593974 w 3593974"/>
              <a:gd name="csY8" fmla="*/ 3778769 h 3999295"/>
              <a:gd name="csX9" fmla="*/ 3373448 w 3593974"/>
              <a:gd name="csY9" fmla="*/ 3999295 h 3999295"/>
              <a:gd name="csX10" fmla="*/ 220526 w 3593974"/>
              <a:gd name="csY10" fmla="*/ 3999295 h 3999295"/>
              <a:gd name="csX11" fmla="*/ 0 w 3593974"/>
              <a:gd name="csY11" fmla="*/ 3778769 h 3999295"/>
              <a:gd name="csX12" fmla="*/ 0 w 3593974"/>
              <a:gd name="csY12" fmla="*/ 2333510 h 3999295"/>
              <a:gd name="csX13" fmla="*/ 9042 w 3593974"/>
              <a:gd name="csY13" fmla="*/ 2332603 h 3999295"/>
              <a:gd name="csX14" fmla="*/ 282037 w 3593974"/>
              <a:gd name="csY14" fmla="*/ 1999647 h 3999295"/>
              <a:gd name="csX15" fmla="*/ 9042 w 3593974"/>
              <a:gd name="csY15" fmla="*/ 1666691 h 3999295"/>
              <a:gd name="csX16" fmla="*/ 0 w 3593974"/>
              <a:gd name="csY16" fmla="*/ 1665785 h 3999295"/>
              <a:gd name="csX17" fmla="*/ 0 w 3593974"/>
              <a:gd name="csY17" fmla="*/ 220526 h 3999295"/>
              <a:gd name="csX18" fmla="*/ 220526 w 3593974"/>
              <a:gd name="csY18" fmla="*/ 0 h 39992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93974" h="3999295">
                <a:moveTo>
                  <a:pt x="220526" y="0"/>
                </a:moveTo>
                <a:lnTo>
                  <a:pt x="3373448" y="0"/>
                </a:lnTo>
                <a:cubicBezTo>
                  <a:pt x="3495241" y="0"/>
                  <a:pt x="3593974" y="98733"/>
                  <a:pt x="3593974" y="220526"/>
                </a:cubicBezTo>
                <a:lnTo>
                  <a:pt x="3593974" y="1665578"/>
                </a:lnTo>
                <a:lnTo>
                  <a:pt x="3582871" y="1666691"/>
                </a:lnTo>
                <a:cubicBezTo>
                  <a:pt x="3427073" y="1698382"/>
                  <a:pt x="3309875" y="1835410"/>
                  <a:pt x="3309875" y="1999647"/>
                </a:cubicBezTo>
                <a:cubicBezTo>
                  <a:pt x="3309875" y="2163885"/>
                  <a:pt x="3427073" y="2300913"/>
                  <a:pt x="3582871" y="2332603"/>
                </a:cubicBezTo>
                <a:lnTo>
                  <a:pt x="3593974" y="2333716"/>
                </a:lnTo>
                <a:lnTo>
                  <a:pt x="3593974" y="3778769"/>
                </a:lnTo>
                <a:cubicBezTo>
                  <a:pt x="3593974" y="3900562"/>
                  <a:pt x="3495241" y="3999295"/>
                  <a:pt x="3373448" y="3999295"/>
                </a:cubicBezTo>
                <a:lnTo>
                  <a:pt x="220526" y="3999295"/>
                </a:lnTo>
                <a:cubicBezTo>
                  <a:pt x="98733" y="3999295"/>
                  <a:pt x="0" y="3900562"/>
                  <a:pt x="0" y="3778769"/>
                </a:cubicBezTo>
                <a:lnTo>
                  <a:pt x="0" y="2333510"/>
                </a:lnTo>
                <a:lnTo>
                  <a:pt x="9042" y="2332603"/>
                </a:lnTo>
                <a:cubicBezTo>
                  <a:pt x="164840" y="2300913"/>
                  <a:pt x="282037" y="2163885"/>
                  <a:pt x="282037" y="1999647"/>
                </a:cubicBezTo>
                <a:cubicBezTo>
                  <a:pt x="282037" y="1835410"/>
                  <a:pt x="164840" y="1698382"/>
                  <a:pt x="9042" y="1666691"/>
                </a:cubicBezTo>
                <a:lnTo>
                  <a:pt x="0" y="1665785"/>
                </a:lnTo>
                <a:lnTo>
                  <a:pt x="0" y="220526"/>
                </a:lnTo>
                <a:cubicBezTo>
                  <a:pt x="0" y="98733"/>
                  <a:pt x="98733" y="0"/>
                  <a:pt x="220526" y="0"/>
                </a:cubicBezTo>
                <a:close/>
              </a:path>
            </a:pathLst>
          </a:cu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9" name="Oval 8">
            <a:extLst>
              <a:ext uri="{FF2B5EF4-FFF2-40B4-BE49-F238E27FC236}">
                <a16:creationId xmlns:a16="http://schemas.microsoft.com/office/drawing/2014/main" id="{4F932B0F-2F1E-C30C-13ED-FABEAA9D3B07}"/>
              </a:ext>
            </a:extLst>
          </p:cNvPr>
          <p:cNvSpPr>
            <a:spLocks/>
          </p:cNvSpPr>
          <p:nvPr/>
        </p:nvSpPr>
        <p:spPr>
          <a:xfrm>
            <a:off x="2017904" y="1730851"/>
            <a:ext cx="736092" cy="731706"/>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a:gradFill flip="none" rotWithShape="1">
                  <a:gsLst>
                    <a:gs pos="100000">
                      <a:srgbClr val="D661FD"/>
                    </a:gs>
                    <a:gs pos="0">
                      <a:srgbClr val="01A3FD"/>
                    </a:gs>
                  </a:gsLst>
                  <a:lin ang="2700000" scaled="1"/>
                  <a:tileRect/>
                </a:gradFill>
                <a:latin typeface="+mj-lt"/>
              </a:rPr>
              <a:t>1</a:t>
            </a:r>
            <a:endParaRPr lang="en-US" sz="2800" b="1">
              <a:gradFill flip="none" rotWithShape="1">
                <a:gsLst>
                  <a:gs pos="100000">
                    <a:srgbClr val="D661FD"/>
                  </a:gs>
                  <a:gs pos="0">
                    <a:srgbClr val="01A3FD"/>
                  </a:gs>
                </a:gsLst>
                <a:lin ang="2700000" scaled="1"/>
                <a:tileRect/>
              </a:gradFill>
              <a:latin typeface="+mj-lt"/>
            </a:endParaRPr>
          </a:p>
        </p:txBody>
      </p:sp>
      <p:sp>
        <p:nvSpPr>
          <p:cNvPr id="10" name="Oval 9">
            <a:extLst>
              <a:ext uri="{FF2B5EF4-FFF2-40B4-BE49-F238E27FC236}">
                <a16:creationId xmlns:a16="http://schemas.microsoft.com/office/drawing/2014/main" id="{CEF7E85C-906C-B1E3-9606-E631060AA696}"/>
              </a:ext>
            </a:extLst>
          </p:cNvPr>
          <p:cNvSpPr>
            <a:spLocks/>
          </p:cNvSpPr>
          <p:nvPr/>
        </p:nvSpPr>
        <p:spPr>
          <a:xfrm>
            <a:off x="5731604" y="1730851"/>
            <a:ext cx="736092" cy="731706"/>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a:gradFill flip="none" rotWithShape="1">
                  <a:gsLst>
                    <a:gs pos="100000">
                      <a:srgbClr val="D661FD"/>
                    </a:gs>
                    <a:gs pos="0">
                      <a:srgbClr val="01A3FD"/>
                    </a:gs>
                  </a:gsLst>
                  <a:lin ang="2700000" scaled="1"/>
                  <a:tileRect/>
                </a:gradFill>
                <a:latin typeface="+mj-lt"/>
              </a:rPr>
              <a:t>2</a:t>
            </a:r>
            <a:endParaRPr lang="en-US" sz="2800" b="1">
              <a:gradFill flip="none" rotWithShape="1">
                <a:gsLst>
                  <a:gs pos="100000">
                    <a:srgbClr val="D661FD"/>
                  </a:gs>
                  <a:gs pos="0">
                    <a:srgbClr val="01A3FD"/>
                  </a:gs>
                </a:gsLst>
                <a:lin ang="2700000" scaled="1"/>
                <a:tileRect/>
              </a:gradFill>
              <a:latin typeface="+mj-lt"/>
            </a:endParaRPr>
          </a:p>
        </p:txBody>
      </p:sp>
      <p:sp>
        <p:nvSpPr>
          <p:cNvPr id="11" name="Oval 10">
            <a:extLst>
              <a:ext uri="{FF2B5EF4-FFF2-40B4-BE49-F238E27FC236}">
                <a16:creationId xmlns:a16="http://schemas.microsoft.com/office/drawing/2014/main" id="{72D094B7-67C9-8649-2AA1-B546AEB74840}"/>
              </a:ext>
            </a:extLst>
          </p:cNvPr>
          <p:cNvSpPr>
            <a:spLocks/>
          </p:cNvSpPr>
          <p:nvPr/>
        </p:nvSpPr>
        <p:spPr>
          <a:xfrm>
            <a:off x="9441180" y="1730851"/>
            <a:ext cx="736092" cy="731706"/>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a:gradFill flip="none" rotWithShape="1">
                  <a:gsLst>
                    <a:gs pos="100000">
                      <a:srgbClr val="D661FD"/>
                    </a:gs>
                    <a:gs pos="0">
                      <a:srgbClr val="01A3FD"/>
                    </a:gs>
                  </a:gsLst>
                  <a:lin ang="2700000" scaled="1"/>
                  <a:tileRect/>
                </a:gradFill>
                <a:latin typeface="+mj-lt"/>
              </a:rPr>
              <a:t>3</a:t>
            </a:r>
            <a:endParaRPr lang="en-US" sz="2800" b="1">
              <a:gradFill flip="none" rotWithShape="1">
                <a:gsLst>
                  <a:gs pos="100000">
                    <a:srgbClr val="D661FD"/>
                  </a:gs>
                  <a:gs pos="0">
                    <a:srgbClr val="01A3FD"/>
                  </a:gs>
                </a:gsLst>
                <a:lin ang="2700000" scaled="1"/>
                <a:tileRect/>
              </a:gradFill>
              <a:latin typeface="+mj-lt"/>
            </a:endParaRPr>
          </a:p>
        </p:txBody>
      </p:sp>
      <p:grpSp>
        <p:nvGrpSpPr>
          <p:cNvPr id="29" name="Group 28">
            <a:extLst>
              <a:ext uri="{FF2B5EF4-FFF2-40B4-BE49-F238E27FC236}">
                <a16:creationId xmlns:a16="http://schemas.microsoft.com/office/drawing/2014/main" id="{7FF70CC1-2EB3-57BB-7B9A-3106281EB2CF}"/>
              </a:ext>
            </a:extLst>
          </p:cNvPr>
          <p:cNvGrpSpPr/>
          <p:nvPr/>
        </p:nvGrpSpPr>
        <p:grpSpPr>
          <a:xfrm>
            <a:off x="3986603" y="3841682"/>
            <a:ext cx="512394" cy="509338"/>
            <a:chOff x="5830285" y="2608404"/>
            <a:chExt cx="534604" cy="531418"/>
          </a:xfrm>
        </p:grpSpPr>
        <p:sp>
          <p:nvSpPr>
            <p:cNvPr id="30" name="Oval 29">
              <a:extLst>
                <a:ext uri="{FF2B5EF4-FFF2-40B4-BE49-F238E27FC236}">
                  <a16:creationId xmlns:a16="http://schemas.microsoft.com/office/drawing/2014/main" id="{4E4FDC73-3AA5-8899-C168-99EC21A7E40F}"/>
                </a:ext>
              </a:extLst>
            </p:cNvPr>
            <p:cNvSpPr>
              <a:spLocks/>
            </p:cNvSpPr>
            <p:nvPr/>
          </p:nvSpPr>
          <p:spPr>
            <a:xfrm>
              <a:off x="5830285" y="2608404"/>
              <a:ext cx="534604" cy="531418"/>
            </a:xfrm>
            <a:prstGeom prst="ellipse">
              <a:avLst/>
            </a:pr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31" name="Graphic 4" descr="Icon of a right arrow head">
              <a:extLst>
                <a:ext uri="{FF2B5EF4-FFF2-40B4-BE49-F238E27FC236}">
                  <a16:creationId xmlns:a16="http://schemas.microsoft.com/office/drawing/2014/main" id="{3FC7769F-75F4-2F28-F68A-71DB7AB9779B}"/>
                </a:ext>
              </a:extLst>
            </p:cNvPr>
            <p:cNvSpPr/>
            <p:nvPr/>
          </p:nvSpPr>
          <p:spPr>
            <a:xfrm>
              <a:off x="6043050" y="2743368"/>
              <a:ext cx="147174" cy="261489"/>
            </a:xfrm>
            <a:custGeom>
              <a:avLst/>
              <a:gdLst>
                <a:gd name="connsiteX0" fmla="*/ 4986 w 147174"/>
                <a:gd name="connsiteY0" fmla="*/ 4781 h 261489"/>
                <a:gd name="connsiteX1" fmla="*/ 4986 w 147174"/>
                <a:gd name="connsiteY1" fmla="*/ 27873 h 261489"/>
                <a:gd name="connsiteX2" fmla="*/ 107755 w 147174"/>
                <a:gd name="connsiteY2" fmla="*/ 130642 h 261489"/>
                <a:gd name="connsiteX3" fmla="*/ 4986 w 147174"/>
                <a:gd name="connsiteY3" fmla="*/ 233412 h 261489"/>
                <a:gd name="connsiteX4" fmla="*/ 4584 w 147174"/>
                <a:gd name="connsiteY4" fmla="*/ 256504 h 261489"/>
                <a:gd name="connsiteX5" fmla="*/ 27676 w 147174"/>
                <a:gd name="connsiteY5" fmla="*/ 256905 h 261489"/>
                <a:gd name="connsiteX6" fmla="*/ 28077 w 147174"/>
                <a:gd name="connsiteY6" fmla="*/ 256504 h 261489"/>
                <a:gd name="connsiteX7" fmla="*/ 142393 w 147174"/>
                <a:gd name="connsiteY7" fmla="*/ 142188 h 261489"/>
                <a:gd name="connsiteX8" fmla="*/ 142393 w 147174"/>
                <a:gd name="connsiteY8" fmla="*/ 119097 h 261489"/>
                <a:gd name="connsiteX9" fmla="*/ 28077 w 147174"/>
                <a:gd name="connsiteY9" fmla="*/ 4781 h 261489"/>
                <a:gd name="connsiteX10" fmla="*/ 4986 w 147174"/>
                <a:gd name="connsiteY10" fmla="*/ 4781 h 26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174" h="261489">
                  <a:moveTo>
                    <a:pt x="4986" y="4781"/>
                  </a:moveTo>
                  <a:cubicBezTo>
                    <a:pt x="-1390" y="11159"/>
                    <a:pt x="-1390" y="21496"/>
                    <a:pt x="4986" y="27873"/>
                  </a:cubicBezTo>
                  <a:lnTo>
                    <a:pt x="107755" y="130642"/>
                  </a:lnTo>
                  <a:lnTo>
                    <a:pt x="4986" y="233412"/>
                  </a:lnTo>
                  <a:cubicBezTo>
                    <a:pt x="-1502" y="239678"/>
                    <a:pt x="-1681" y="250015"/>
                    <a:pt x="4584" y="256504"/>
                  </a:cubicBezTo>
                  <a:cubicBezTo>
                    <a:pt x="10850" y="262990"/>
                    <a:pt x="21188" y="263171"/>
                    <a:pt x="27676" y="256905"/>
                  </a:cubicBezTo>
                  <a:cubicBezTo>
                    <a:pt x="27812" y="256773"/>
                    <a:pt x="27946" y="256639"/>
                    <a:pt x="28077" y="256504"/>
                  </a:cubicBezTo>
                  <a:lnTo>
                    <a:pt x="142393" y="142188"/>
                  </a:lnTo>
                  <a:cubicBezTo>
                    <a:pt x="148768" y="135811"/>
                    <a:pt x="148768" y="125474"/>
                    <a:pt x="142393" y="119097"/>
                  </a:cubicBezTo>
                  <a:lnTo>
                    <a:pt x="28077" y="4781"/>
                  </a:lnTo>
                  <a:cubicBezTo>
                    <a:pt x="21700" y="-1594"/>
                    <a:pt x="11363" y="-1594"/>
                    <a:pt x="4986" y="4781"/>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SzPct val="90000"/>
              </a:pPr>
              <a:endParaRPr lang="en-US">
                <a:solidFill>
                  <a:schemeClr val="bg1"/>
                </a:solidFill>
                <a:latin typeface="+mj-lt"/>
                <a:ea typeface="+mj-ea"/>
                <a:cs typeface="+mj-cs"/>
              </a:endParaRPr>
            </a:p>
          </p:txBody>
        </p:sp>
      </p:grpSp>
      <p:grpSp>
        <p:nvGrpSpPr>
          <p:cNvPr id="32" name="Group 31">
            <a:extLst>
              <a:ext uri="{FF2B5EF4-FFF2-40B4-BE49-F238E27FC236}">
                <a16:creationId xmlns:a16="http://schemas.microsoft.com/office/drawing/2014/main" id="{3AC59605-DB4B-237C-A812-C33024412D54}"/>
              </a:ext>
            </a:extLst>
          </p:cNvPr>
          <p:cNvGrpSpPr/>
          <p:nvPr/>
        </p:nvGrpSpPr>
        <p:grpSpPr>
          <a:xfrm>
            <a:off x="7698241" y="3841682"/>
            <a:ext cx="512394" cy="509338"/>
            <a:chOff x="5830285" y="2608404"/>
            <a:chExt cx="534604" cy="531418"/>
          </a:xfrm>
        </p:grpSpPr>
        <p:sp>
          <p:nvSpPr>
            <p:cNvPr id="33" name="Oval 32">
              <a:extLst>
                <a:ext uri="{FF2B5EF4-FFF2-40B4-BE49-F238E27FC236}">
                  <a16:creationId xmlns:a16="http://schemas.microsoft.com/office/drawing/2014/main" id="{53983800-FDD1-1C27-16AE-69E3DCF1992C}"/>
                </a:ext>
              </a:extLst>
            </p:cNvPr>
            <p:cNvSpPr>
              <a:spLocks/>
            </p:cNvSpPr>
            <p:nvPr/>
          </p:nvSpPr>
          <p:spPr>
            <a:xfrm>
              <a:off x="5830285" y="2608404"/>
              <a:ext cx="534604" cy="531418"/>
            </a:xfrm>
            <a:prstGeom prst="ellipse">
              <a:avLst/>
            </a:pr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34" name="Graphic 4" descr="Icon of a right arrow head">
              <a:extLst>
                <a:ext uri="{FF2B5EF4-FFF2-40B4-BE49-F238E27FC236}">
                  <a16:creationId xmlns:a16="http://schemas.microsoft.com/office/drawing/2014/main" id="{D5FB9D94-2EBF-46BE-A324-1F4EEDB6617C}"/>
                </a:ext>
              </a:extLst>
            </p:cNvPr>
            <p:cNvSpPr/>
            <p:nvPr/>
          </p:nvSpPr>
          <p:spPr>
            <a:xfrm>
              <a:off x="6043050" y="2743368"/>
              <a:ext cx="147174" cy="261489"/>
            </a:xfrm>
            <a:custGeom>
              <a:avLst/>
              <a:gdLst>
                <a:gd name="connsiteX0" fmla="*/ 4986 w 147174"/>
                <a:gd name="connsiteY0" fmla="*/ 4781 h 261489"/>
                <a:gd name="connsiteX1" fmla="*/ 4986 w 147174"/>
                <a:gd name="connsiteY1" fmla="*/ 27873 h 261489"/>
                <a:gd name="connsiteX2" fmla="*/ 107755 w 147174"/>
                <a:gd name="connsiteY2" fmla="*/ 130642 h 261489"/>
                <a:gd name="connsiteX3" fmla="*/ 4986 w 147174"/>
                <a:gd name="connsiteY3" fmla="*/ 233412 h 261489"/>
                <a:gd name="connsiteX4" fmla="*/ 4584 w 147174"/>
                <a:gd name="connsiteY4" fmla="*/ 256504 h 261489"/>
                <a:gd name="connsiteX5" fmla="*/ 27676 w 147174"/>
                <a:gd name="connsiteY5" fmla="*/ 256905 h 261489"/>
                <a:gd name="connsiteX6" fmla="*/ 28077 w 147174"/>
                <a:gd name="connsiteY6" fmla="*/ 256504 h 261489"/>
                <a:gd name="connsiteX7" fmla="*/ 142393 w 147174"/>
                <a:gd name="connsiteY7" fmla="*/ 142188 h 261489"/>
                <a:gd name="connsiteX8" fmla="*/ 142393 w 147174"/>
                <a:gd name="connsiteY8" fmla="*/ 119097 h 261489"/>
                <a:gd name="connsiteX9" fmla="*/ 28077 w 147174"/>
                <a:gd name="connsiteY9" fmla="*/ 4781 h 261489"/>
                <a:gd name="connsiteX10" fmla="*/ 4986 w 147174"/>
                <a:gd name="connsiteY10" fmla="*/ 4781 h 26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174" h="261489">
                  <a:moveTo>
                    <a:pt x="4986" y="4781"/>
                  </a:moveTo>
                  <a:cubicBezTo>
                    <a:pt x="-1390" y="11159"/>
                    <a:pt x="-1390" y="21496"/>
                    <a:pt x="4986" y="27873"/>
                  </a:cubicBezTo>
                  <a:lnTo>
                    <a:pt x="107755" y="130642"/>
                  </a:lnTo>
                  <a:lnTo>
                    <a:pt x="4986" y="233412"/>
                  </a:lnTo>
                  <a:cubicBezTo>
                    <a:pt x="-1502" y="239678"/>
                    <a:pt x="-1681" y="250015"/>
                    <a:pt x="4584" y="256504"/>
                  </a:cubicBezTo>
                  <a:cubicBezTo>
                    <a:pt x="10850" y="262990"/>
                    <a:pt x="21188" y="263171"/>
                    <a:pt x="27676" y="256905"/>
                  </a:cubicBezTo>
                  <a:cubicBezTo>
                    <a:pt x="27812" y="256773"/>
                    <a:pt x="27946" y="256639"/>
                    <a:pt x="28077" y="256504"/>
                  </a:cubicBezTo>
                  <a:lnTo>
                    <a:pt x="142393" y="142188"/>
                  </a:lnTo>
                  <a:cubicBezTo>
                    <a:pt x="148768" y="135811"/>
                    <a:pt x="148768" y="125474"/>
                    <a:pt x="142393" y="119097"/>
                  </a:cubicBezTo>
                  <a:lnTo>
                    <a:pt x="28077" y="4781"/>
                  </a:lnTo>
                  <a:cubicBezTo>
                    <a:pt x="21700" y="-1594"/>
                    <a:pt x="11363" y="-1594"/>
                    <a:pt x="4986" y="4781"/>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SzPct val="90000"/>
              </a:pPr>
              <a:endParaRPr lang="en-US">
                <a:solidFill>
                  <a:schemeClr val="bg1"/>
                </a:solidFill>
                <a:latin typeface="+mj-lt"/>
                <a:ea typeface="+mj-ea"/>
                <a:cs typeface="+mj-cs"/>
              </a:endParaRPr>
            </a:p>
          </p:txBody>
        </p:sp>
      </p:grpSp>
      <p:sp>
        <p:nvSpPr>
          <p:cNvPr id="43" name="TextBox 42">
            <a:extLst>
              <a:ext uri="{FF2B5EF4-FFF2-40B4-BE49-F238E27FC236}">
                <a16:creationId xmlns:a16="http://schemas.microsoft.com/office/drawing/2014/main" id="{AB766A14-9992-BB99-6862-6B0A214FFA82}"/>
              </a:ext>
            </a:extLst>
          </p:cNvPr>
          <p:cNvSpPr txBox="1"/>
          <p:nvPr/>
        </p:nvSpPr>
        <p:spPr>
          <a:xfrm>
            <a:off x="1125188" y="3760466"/>
            <a:ext cx="2521526" cy="1477328"/>
          </a:xfrm>
          <a:prstGeom prst="rect">
            <a:avLst/>
          </a:prstGeom>
          <a:noFill/>
        </p:spPr>
        <p:txBody>
          <a:bodyPr wrap="square" lIns="0" tIns="0" rIns="0" bIns="0" rtlCol="0" anchor="t">
            <a:spAutoFit/>
          </a:bodyPr>
          <a:lstStyle/>
          <a:p>
            <a:pPr algn="ctr" defTabSz="914367">
              <a:spcBef>
                <a:spcPct val="0"/>
              </a:spcBef>
              <a:spcAft>
                <a:spcPct val="0"/>
              </a:spcAft>
              <a:defRPr/>
            </a:pPr>
            <a:r>
              <a:rPr lang="en-US" sz="2400">
                <a:solidFill>
                  <a:schemeClr val="tx2"/>
                </a:solidFill>
                <a:latin typeface="+mj-lt"/>
                <a:ea typeface="+mj-ea"/>
                <a:cs typeface="+mj-cs"/>
              </a:rPr>
              <a:t>Employees may not be able to adopt what they do not understand</a:t>
            </a:r>
          </a:p>
        </p:txBody>
      </p:sp>
      <p:sp>
        <p:nvSpPr>
          <p:cNvPr id="44" name="TextBox 43">
            <a:extLst>
              <a:ext uri="{FF2B5EF4-FFF2-40B4-BE49-F238E27FC236}">
                <a16:creationId xmlns:a16="http://schemas.microsoft.com/office/drawing/2014/main" id="{6402A732-06FE-E214-4631-EC3C9A155B62}"/>
              </a:ext>
            </a:extLst>
          </p:cNvPr>
          <p:cNvSpPr txBox="1"/>
          <p:nvPr/>
        </p:nvSpPr>
        <p:spPr>
          <a:xfrm>
            <a:off x="4739100" y="3760466"/>
            <a:ext cx="2721100" cy="1846659"/>
          </a:xfrm>
          <a:prstGeom prst="rect">
            <a:avLst/>
          </a:prstGeom>
          <a:noFill/>
        </p:spPr>
        <p:txBody>
          <a:bodyPr wrap="square" lIns="0" tIns="0" rIns="0" bIns="0" rtlCol="0" anchor="t">
            <a:spAutoFit/>
          </a:bodyPr>
          <a:lstStyle/>
          <a:p>
            <a:pPr algn="ctr" defTabSz="914367">
              <a:spcBef>
                <a:spcPct val="0"/>
              </a:spcBef>
              <a:spcAft>
                <a:spcPct val="0"/>
              </a:spcAft>
              <a:defRPr/>
            </a:pPr>
            <a:r>
              <a:rPr lang="en-US" sz="2400">
                <a:solidFill>
                  <a:schemeClr val="tx2"/>
                </a:solidFill>
                <a:latin typeface="+mj-lt"/>
                <a:ea typeface="+mj-ea"/>
                <a:cs typeface="+mj-cs"/>
              </a:rPr>
              <a:t>Clarity can help reduce resistance, build trust, and accelerate adoption</a:t>
            </a:r>
          </a:p>
        </p:txBody>
      </p:sp>
      <p:sp>
        <p:nvSpPr>
          <p:cNvPr id="45" name="TextBox 44">
            <a:extLst>
              <a:ext uri="{FF2B5EF4-FFF2-40B4-BE49-F238E27FC236}">
                <a16:creationId xmlns:a16="http://schemas.microsoft.com/office/drawing/2014/main" id="{44F1F4B6-F5D1-5FF8-CA5D-79D96D94C9CA}"/>
              </a:ext>
            </a:extLst>
          </p:cNvPr>
          <p:cNvSpPr txBox="1"/>
          <p:nvPr/>
        </p:nvSpPr>
        <p:spPr>
          <a:xfrm>
            <a:off x="8548463" y="3760466"/>
            <a:ext cx="2521526" cy="1846659"/>
          </a:xfrm>
          <a:prstGeom prst="rect">
            <a:avLst/>
          </a:prstGeom>
          <a:noFill/>
        </p:spPr>
        <p:txBody>
          <a:bodyPr wrap="square" lIns="0" tIns="0" rIns="0" bIns="0" rtlCol="0" anchor="t">
            <a:spAutoFit/>
          </a:bodyPr>
          <a:lstStyle/>
          <a:p>
            <a:pPr algn="ctr" defTabSz="914367">
              <a:spcBef>
                <a:spcPct val="0"/>
              </a:spcBef>
              <a:spcAft>
                <a:spcPct val="0"/>
              </a:spcAft>
              <a:defRPr/>
            </a:pPr>
            <a:r>
              <a:rPr lang="en-US" sz="2400">
                <a:solidFill>
                  <a:schemeClr val="tx2"/>
                </a:solidFill>
                <a:latin typeface="+mj-lt"/>
                <a:ea typeface="+mj-ea"/>
                <a:cs typeface="+mj-cs"/>
              </a:rPr>
              <a:t>Communication isn't a one-time event, it's a continuous thread</a:t>
            </a:r>
          </a:p>
        </p:txBody>
      </p:sp>
      <p:sp>
        <p:nvSpPr>
          <p:cNvPr id="55" name="Graphic 49">
            <a:extLst>
              <a:ext uri="{FF2B5EF4-FFF2-40B4-BE49-F238E27FC236}">
                <a16:creationId xmlns:a16="http://schemas.microsoft.com/office/drawing/2014/main" id="{B0D96DBD-8506-D786-3142-1F3BD909963B}"/>
              </a:ext>
            </a:extLst>
          </p:cNvPr>
          <p:cNvSpPr/>
          <p:nvPr/>
        </p:nvSpPr>
        <p:spPr>
          <a:xfrm>
            <a:off x="2142990" y="2986372"/>
            <a:ext cx="538938" cy="539927"/>
          </a:xfrm>
          <a:custGeom>
            <a:avLst/>
            <a:gdLst>
              <a:gd name="csX0" fmla="*/ 0 w 538938"/>
              <a:gd name="csY0" fmla="*/ 398184 h 539927"/>
              <a:gd name="csX1" fmla="*/ 87735 w 538938"/>
              <a:gd name="csY1" fmla="*/ 485919 h 539927"/>
              <a:gd name="csX2" fmla="*/ 220418 w 538938"/>
              <a:gd name="csY2" fmla="*/ 485919 h 539927"/>
              <a:gd name="csX3" fmla="*/ 230029 w 538938"/>
              <a:gd name="csY3" fmla="*/ 447504 h 539927"/>
              <a:gd name="csX4" fmla="*/ 256214 w 538938"/>
              <a:gd name="csY4" fmla="*/ 401288 h 539927"/>
              <a:gd name="csX5" fmla="*/ 415542 w 538938"/>
              <a:gd name="csY5" fmla="*/ 241934 h 539927"/>
              <a:gd name="csX6" fmla="*/ 485919 w 538938"/>
              <a:gd name="csY6" fmla="*/ 216288 h 539927"/>
              <a:gd name="csX7" fmla="*/ 485919 w 538938"/>
              <a:gd name="csY7" fmla="*/ 87735 h 539927"/>
              <a:gd name="csX8" fmla="*/ 398184 w 538938"/>
              <a:gd name="csY8" fmla="*/ 0 h 539927"/>
              <a:gd name="csX9" fmla="*/ 215964 w 538938"/>
              <a:gd name="csY9" fmla="*/ 0 h 539927"/>
              <a:gd name="csX10" fmla="*/ 215964 w 538938"/>
              <a:gd name="csY10" fmla="*/ 128229 h 539927"/>
              <a:gd name="csX11" fmla="*/ 128229 w 538938"/>
              <a:gd name="csY11" fmla="*/ 215964 h 539927"/>
              <a:gd name="csX12" fmla="*/ 0 w 538938"/>
              <a:gd name="csY12" fmla="*/ 215964 h 539927"/>
              <a:gd name="csX13" fmla="*/ 0 w 538938"/>
              <a:gd name="csY13" fmla="*/ 398184 h 539927"/>
              <a:gd name="csX14" fmla="*/ 175471 w 538938"/>
              <a:gd name="csY14" fmla="*/ 11878 h 539927"/>
              <a:gd name="csX15" fmla="*/ 11878 w 538938"/>
              <a:gd name="csY15" fmla="*/ 175471 h 539927"/>
              <a:gd name="csX16" fmla="*/ 128229 w 538938"/>
              <a:gd name="csY16" fmla="*/ 175471 h 539927"/>
              <a:gd name="csX17" fmla="*/ 175471 w 538938"/>
              <a:gd name="csY17" fmla="*/ 128229 h 539927"/>
              <a:gd name="csX18" fmla="*/ 175471 w 538938"/>
              <a:gd name="csY18" fmla="*/ 11878 h 539927"/>
              <a:gd name="csX19" fmla="*/ 434628 w 538938"/>
              <a:gd name="csY19" fmla="*/ 261046 h 539927"/>
              <a:gd name="csX20" fmla="*/ 275273 w 538938"/>
              <a:gd name="csY20" fmla="*/ 420374 h 539927"/>
              <a:gd name="csX21" fmla="*/ 256214 w 538938"/>
              <a:gd name="csY21" fmla="*/ 454037 h 539927"/>
              <a:gd name="csX22" fmla="*/ 243850 w 538938"/>
              <a:gd name="csY22" fmla="*/ 503466 h 539927"/>
              <a:gd name="csX23" fmla="*/ 265200 w 538938"/>
              <a:gd name="csY23" fmla="*/ 539052 h 539927"/>
              <a:gd name="csX24" fmla="*/ 279457 w 538938"/>
              <a:gd name="csY24" fmla="*/ 539046 h 539927"/>
              <a:gd name="csX25" fmla="*/ 328859 w 538938"/>
              <a:gd name="csY25" fmla="*/ 526709 h 539927"/>
              <a:gd name="csX26" fmla="*/ 362550 w 538938"/>
              <a:gd name="csY26" fmla="*/ 507623 h 539927"/>
              <a:gd name="csX27" fmla="*/ 521877 w 538938"/>
              <a:gd name="csY27" fmla="*/ 348296 h 539927"/>
              <a:gd name="csX28" fmla="*/ 519827 w 538938"/>
              <a:gd name="csY28" fmla="*/ 261046 h 539927"/>
              <a:gd name="csX29" fmla="*/ 434628 w 538938"/>
              <a:gd name="csY29" fmla="*/ 261046 h 539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38938" h="539927">
                <a:moveTo>
                  <a:pt x="0" y="398184"/>
                </a:moveTo>
                <a:cubicBezTo>
                  <a:pt x="0" y="446639"/>
                  <a:pt x="39280" y="485919"/>
                  <a:pt x="87735" y="485919"/>
                </a:cubicBezTo>
                <a:lnTo>
                  <a:pt x="220418" y="485919"/>
                </a:lnTo>
                <a:lnTo>
                  <a:pt x="230029" y="447504"/>
                </a:lnTo>
                <a:cubicBezTo>
                  <a:pt x="234402" y="430011"/>
                  <a:pt x="243445" y="414030"/>
                  <a:pt x="256214" y="401288"/>
                </a:cubicBezTo>
                <a:lnTo>
                  <a:pt x="415542" y="241934"/>
                </a:lnTo>
                <a:cubicBezTo>
                  <a:pt x="434050" y="223392"/>
                  <a:pt x="459821" y="214001"/>
                  <a:pt x="485919" y="216288"/>
                </a:cubicBezTo>
                <a:lnTo>
                  <a:pt x="485919" y="87735"/>
                </a:lnTo>
                <a:cubicBezTo>
                  <a:pt x="485919" y="39280"/>
                  <a:pt x="446639" y="0"/>
                  <a:pt x="398184" y="0"/>
                </a:cubicBezTo>
                <a:lnTo>
                  <a:pt x="215964" y="0"/>
                </a:lnTo>
                <a:lnTo>
                  <a:pt x="215964" y="128229"/>
                </a:lnTo>
                <a:cubicBezTo>
                  <a:pt x="215964" y="176684"/>
                  <a:pt x="176684" y="215964"/>
                  <a:pt x="128229" y="215964"/>
                </a:cubicBezTo>
                <a:lnTo>
                  <a:pt x="0" y="215964"/>
                </a:lnTo>
                <a:lnTo>
                  <a:pt x="0" y="398184"/>
                </a:lnTo>
                <a:close/>
                <a:moveTo>
                  <a:pt x="175471" y="11878"/>
                </a:moveTo>
                <a:lnTo>
                  <a:pt x="11878" y="175471"/>
                </a:lnTo>
                <a:lnTo>
                  <a:pt x="128229" y="175471"/>
                </a:lnTo>
                <a:cubicBezTo>
                  <a:pt x="154320" y="175471"/>
                  <a:pt x="175471" y="154320"/>
                  <a:pt x="175471" y="128229"/>
                </a:cubicBezTo>
                <a:lnTo>
                  <a:pt x="175471" y="11878"/>
                </a:lnTo>
                <a:close/>
                <a:moveTo>
                  <a:pt x="434628" y="261046"/>
                </a:moveTo>
                <a:lnTo>
                  <a:pt x="275273" y="420374"/>
                </a:lnTo>
                <a:cubicBezTo>
                  <a:pt x="265989" y="429662"/>
                  <a:pt x="259402" y="441297"/>
                  <a:pt x="256214" y="454037"/>
                </a:cubicBezTo>
                <a:lnTo>
                  <a:pt x="243850" y="503466"/>
                </a:lnTo>
                <a:cubicBezTo>
                  <a:pt x="239919" y="519188"/>
                  <a:pt x="249478" y="535121"/>
                  <a:pt x="265200" y="539052"/>
                </a:cubicBezTo>
                <a:cubicBezTo>
                  <a:pt x="269881" y="540222"/>
                  <a:pt x="274778" y="540220"/>
                  <a:pt x="279457" y="539046"/>
                </a:cubicBezTo>
                <a:lnTo>
                  <a:pt x="328859" y="526709"/>
                </a:lnTo>
                <a:cubicBezTo>
                  <a:pt x="341612" y="523520"/>
                  <a:pt x="353258" y="516923"/>
                  <a:pt x="362550" y="507623"/>
                </a:cubicBezTo>
                <a:lnTo>
                  <a:pt x="521877" y="348296"/>
                </a:lnTo>
                <a:cubicBezTo>
                  <a:pt x="545404" y="323637"/>
                  <a:pt x="544486" y="284574"/>
                  <a:pt x="519827" y="261046"/>
                </a:cubicBezTo>
                <a:cubicBezTo>
                  <a:pt x="495983" y="238297"/>
                  <a:pt x="458472" y="238297"/>
                  <a:pt x="434628" y="261046"/>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
        <p:nvSpPr>
          <p:cNvPr id="56" name="Graphic 51">
            <a:extLst>
              <a:ext uri="{FF2B5EF4-FFF2-40B4-BE49-F238E27FC236}">
                <a16:creationId xmlns:a16="http://schemas.microsoft.com/office/drawing/2014/main" id="{F193B02C-692F-B1F8-1CEA-DF5F557C2EB9}"/>
              </a:ext>
            </a:extLst>
          </p:cNvPr>
          <p:cNvSpPr/>
          <p:nvPr/>
        </p:nvSpPr>
        <p:spPr>
          <a:xfrm>
            <a:off x="5829695" y="2959538"/>
            <a:ext cx="539910" cy="539640"/>
          </a:xfrm>
          <a:custGeom>
            <a:avLst/>
            <a:gdLst>
              <a:gd name="csX0" fmla="*/ 219743 w 539910"/>
              <a:gd name="csY0" fmla="*/ 0 h 539640"/>
              <a:gd name="csX1" fmla="*/ 249708 w 539910"/>
              <a:gd name="csY1" fmla="*/ 38091 h 539640"/>
              <a:gd name="csX2" fmla="*/ 249708 w 539910"/>
              <a:gd name="csY2" fmla="*/ 155062 h 539640"/>
              <a:gd name="csX3" fmla="*/ 225547 w 539910"/>
              <a:gd name="csY3" fmla="*/ 155062 h 539640"/>
              <a:gd name="csX4" fmla="*/ 155250 w 539910"/>
              <a:gd name="csY4" fmla="*/ 125258 h 539640"/>
              <a:gd name="csX5" fmla="*/ 125445 w 539910"/>
              <a:gd name="csY5" fmla="*/ 195555 h 539640"/>
              <a:gd name="csX6" fmla="*/ 195743 w 539910"/>
              <a:gd name="csY6" fmla="*/ 225360 h 539640"/>
              <a:gd name="csX7" fmla="*/ 225547 w 539910"/>
              <a:gd name="csY7" fmla="*/ 195555 h 539640"/>
              <a:gd name="csX8" fmla="*/ 249708 w 539910"/>
              <a:gd name="csY8" fmla="*/ 195555 h 539640"/>
              <a:gd name="csX9" fmla="*/ 249708 w 539910"/>
              <a:gd name="csY9" fmla="*/ 489752 h 539640"/>
              <a:gd name="csX10" fmla="*/ 228571 w 539910"/>
              <a:gd name="csY10" fmla="*/ 529166 h 539640"/>
              <a:gd name="csX11" fmla="*/ 186458 w 539910"/>
              <a:gd name="csY11" fmla="*/ 539640 h 539640"/>
              <a:gd name="csX12" fmla="*/ 95861 w 539910"/>
              <a:gd name="csY12" fmla="*/ 494612 h 539640"/>
              <a:gd name="csX13" fmla="*/ 68326 w 539910"/>
              <a:gd name="csY13" fmla="*/ 436922 h 539640"/>
              <a:gd name="csX14" fmla="*/ 34068 w 539910"/>
              <a:gd name="csY14" fmla="*/ 418295 h 539640"/>
              <a:gd name="csX15" fmla="*/ 0 w 539910"/>
              <a:gd name="csY15" fmla="*/ 336364 h 539640"/>
              <a:gd name="csX16" fmla="*/ 5129 w 539910"/>
              <a:gd name="csY16" fmla="*/ 283291 h 539640"/>
              <a:gd name="csX17" fmla="*/ 118780 w 539910"/>
              <a:gd name="csY17" fmla="*/ 283291 h 539640"/>
              <a:gd name="csX18" fmla="*/ 154819 w 539910"/>
              <a:gd name="csY18" fmla="*/ 314363 h 539640"/>
              <a:gd name="csX19" fmla="*/ 125569 w 539910"/>
              <a:gd name="csY19" fmla="*/ 384893 h 539640"/>
              <a:gd name="csX20" fmla="*/ 196099 w 539910"/>
              <a:gd name="csY20" fmla="*/ 414143 h 539640"/>
              <a:gd name="csX21" fmla="*/ 225349 w 539910"/>
              <a:gd name="csY21" fmla="*/ 343613 h 539640"/>
              <a:gd name="csX22" fmla="*/ 195501 w 539910"/>
              <a:gd name="csY22" fmla="*/ 314120 h 539640"/>
              <a:gd name="csX23" fmla="*/ 118780 w 539910"/>
              <a:gd name="csY23" fmla="*/ 242797 h 539640"/>
              <a:gd name="csX24" fmla="*/ 28075 w 539910"/>
              <a:gd name="csY24" fmla="*/ 242798 h 539640"/>
              <a:gd name="csX25" fmla="*/ 41438 w 539910"/>
              <a:gd name="csY25" fmla="*/ 234645 h 539640"/>
              <a:gd name="csX26" fmla="*/ 36633 w 539910"/>
              <a:gd name="csY26" fmla="*/ 204221 h 539640"/>
              <a:gd name="csX27" fmla="*/ 44597 w 539910"/>
              <a:gd name="csY27" fmla="*/ 145344 h 539640"/>
              <a:gd name="csX28" fmla="*/ 72618 w 539910"/>
              <a:gd name="csY28" fmla="*/ 97454 h 539640"/>
              <a:gd name="csX29" fmla="*/ 102205 w 539910"/>
              <a:gd name="csY29" fmla="*/ 82147 h 539640"/>
              <a:gd name="csX30" fmla="*/ 138730 w 539910"/>
              <a:gd name="csY30" fmla="*/ 27157 h 539640"/>
              <a:gd name="csX31" fmla="*/ 219716 w 539910"/>
              <a:gd name="csY31" fmla="*/ 0 h 539640"/>
              <a:gd name="csX32" fmla="*/ 290202 w 539910"/>
              <a:gd name="csY32" fmla="*/ 404771 h 539640"/>
              <a:gd name="csX33" fmla="*/ 334744 w 539910"/>
              <a:gd name="csY33" fmla="*/ 404771 h 539640"/>
              <a:gd name="csX34" fmla="*/ 411681 w 539910"/>
              <a:gd name="csY34" fmla="*/ 327833 h 539640"/>
              <a:gd name="csX35" fmla="*/ 411681 w 539910"/>
              <a:gd name="csY35" fmla="*/ 279376 h 539640"/>
              <a:gd name="csX36" fmla="*/ 441486 w 539910"/>
              <a:gd name="csY36" fmla="*/ 209079 h 539640"/>
              <a:gd name="csX37" fmla="*/ 371188 w 539910"/>
              <a:gd name="csY37" fmla="*/ 179274 h 539640"/>
              <a:gd name="csX38" fmla="*/ 341384 w 539910"/>
              <a:gd name="csY38" fmla="*/ 249572 h 539640"/>
              <a:gd name="csX39" fmla="*/ 371188 w 539910"/>
              <a:gd name="csY39" fmla="*/ 279376 h 539640"/>
              <a:gd name="csX40" fmla="*/ 371188 w 539910"/>
              <a:gd name="csY40" fmla="*/ 327833 h 539640"/>
              <a:gd name="csX41" fmla="*/ 334744 w 539910"/>
              <a:gd name="csY41" fmla="*/ 364277 h 539640"/>
              <a:gd name="csX42" fmla="*/ 290202 w 539910"/>
              <a:gd name="csY42" fmla="*/ 364277 h 539640"/>
              <a:gd name="csX43" fmla="*/ 290202 w 539910"/>
              <a:gd name="csY43" fmla="*/ 38091 h 539640"/>
              <a:gd name="csX44" fmla="*/ 320167 w 539910"/>
              <a:gd name="csY44" fmla="*/ 0 h 539640"/>
              <a:gd name="csX45" fmla="*/ 401180 w 539910"/>
              <a:gd name="csY45" fmla="*/ 27157 h 539640"/>
              <a:gd name="csX46" fmla="*/ 437705 w 539910"/>
              <a:gd name="csY46" fmla="*/ 82147 h 539640"/>
              <a:gd name="csX47" fmla="*/ 467292 w 539910"/>
              <a:gd name="csY47" fmla="*/ 97454 h 539640"/>
              <a:gd name="csX48" fmla="*/ 495313 w 539910"/>
              <a:gd name="csY48" fmla="*/ 145344 h 539640"/>
              <a:gd name="csX49" fmla="*/ 503277 w 539910"/>
              <a:gd name="csY49" fmla="*/ 204221 h 539640"/>
              <a:gd name="csX50" fmla="*/ 498472 w 539910"/>
              <a:gd name="csY50" fmla="*/ 234645 h 539640"/>
              <a:gd name="csX51" fmla="*/ 500254 w 539910"/>
              <a:gd name="csY51" fmla="*/ 235455 h 539640"/>
              <a:gd name="csX52" fmla="*/ 524388 w 539910"/>
              <a:gd name="csY52" fmla="*/ 257321 h 539640"/>
              <a:gd name="csX53" fmla="*/ 539910 w 539910"/>
              <a:gd name="csY53" fmla="*/ 336364 h 539640"/>
              <a:gd name="csX54" fmla="*/ 505842 w 539910"/>
              <a:gd name="csY54" fmla="*/ 418295 h 539640"/>
              <a:gd name="csX55" fmla="*/ 471557 w 539910"/>
              <a:gd name="csY55" fmla="*/ 436922 h 539640"/>
              <a:gd name="csX56" fmla="*/ 444049 w 539910"/>
              <a:gd name="csY56" fmla="*/ 494612 h 539640"/>
              <a:gd name="csX57" fmla="*/ 353425 w 539910"/>
              <a:gd name="csY57" fmla="*/ 539640 h 539640"/>
              <a:gd name="csX58" fmla="*/ 311312 w 539910"/>
              <a:gd name="csY58" fmla="*/ 529193 h 539640"/>
              <a:gd name="csX59" fmla="*/ 290202 w 539910"/>
              <a:gd name="csY59" fmla="*/ 489752 h 539640"/>
              <a:gd name="csX60" fmla="*/ 290202 w 539910"/>
              <a:gd name="csY60" fmla="*/ 404771 h 539640"/>
              <a:gd name="csX61" fmla="*/ 161973 w 539910"/>
              <a:gd name="csY61" fmla="*/ 175309 h 539640"/>
              <a:gd name="csX62" fmla="*/ 175471 w 539910"/>
              <a:gd name="csY62" fmla="*/ 161811 h 539640"/>
              <a:gd name="csX63" fmla="*/ 188969 w 539910"/>
              <a:gd name="csY63" fmla="*/ 175309 h 539640"/>
              <a:gd name="csX64" fmla="*/ 175471 w 539910"/>
              <a:gd name="csY64" fmla="*/ 188807 h 539640"/>
              <a:gd name="csX65" fmla="*/ 161973 w 539910"/>
              <a:gd name="csY65" fmla="*/ 175309 h 539640"/>
              <a:gd name="csX66" fmla="*/ 175471 w 539910"/>
              <a:gd name="csY66" fmla="*/ 350780 h 539640"/>
              <a:gd name="csX67" fmla="*/ 161973 w 539910"/>
              <a:gd name="csY67" fmla="*/ 364277 h 539640"/>
              <a:gd name="csX68" fmla="*/ 175471 w 539910"/>
              <a:gd name="csY68" fmla="*/ 377775 h 539640"/>
              <a:gd name="csX69" fmla="*/ 188969 w 539910"/>
              <a:gd name="csY69" fmla="*/ 364277 h 539640"/>
              <a:gd name="csX70" fmla="*/ 175471 w 539910"/>
              <a:gd name="csY70" fmla="*/ 350780 h 539640"/>
              <a:gd name="csX71" fmla="*/ 377937 w 539910"/>
              <a:gd name="csY71" fmla="*/ 229300 h 539640"/>
              <a:gd name="csX72" fmla="*/ 391435 w 539910"/>
              <a:gd name="csY72" fmla="*/ 242798 h 539640"/>
              <a:gd name="csX73" fmla="*/ 404933 w 539910"/>
              <a:gd name="csY73" fmla="*/ 229300 h 539640"/>
              <a:gd name="csX74" fmla="*/ 391435 w 539910"/>
              <a:gd name="csY74" fmla="*/ 215802 h 539640"/>
              <a:gd name="csX75" fmla="*/ 377937 w 539910"/>
              <a:gd name="csY75" fmla="*/ 229300 h 539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539910" h="539640">
                <a:moveTo>
                  <a:pt x="219743" y="0"/>
                </a:moveTo>
                <a:cubicBezTo>
                  <a:pt x="238829" y="0"/>
                  <a:pt x="249708" y="19005"/>
                  <a:pt x="249708" y="38091"/>
                </a:cubicBezTo>
                <a:lnTo>
                  <a:pt x="249708" y="155062"/>
                </a:lnTo>
                <a:lnTo>
                  <a:pt x="225547" y="155062"/>
                </a:lnTo>
                <a:cubicBezTo>
                  <a:pt x="214366" y="127420"/>
                  <a:pt x="182892" y="114076"/>
                  <a:pt x="155250" y="125258"/>
                </a:cubicBezTo>
                <a:cubicBezTo>
                  <a:pt x="127607" y="136440"/>
                  <a:pt x="114263" y="167913"/>
                  <a:pt x="125445" y="195555"/>
                </a:cubicBezTo>
                <a:cubicBezTo>
                  <a:pt x="136627" y="223198"/>
                  <a:pt x="168101" y="236542"/>
                  <a:pt x="195743" y="225360"/>
                </a:cubicBezTo>
                <a:cubicBezTo>
                  <a:pt x="209306" y="219873"/>
                  <a:pt x="220061" y="209118"/>
                  <a:pt x="225547" y="195555"/>
                </a:cubicBezTo>
                <a:lnTo>
                  <a:pt x="249708" y="195555"/>
                </a:lnTo>
                <a:lnTo>
                  <a:pt x="249708" y="489752"/>
                </a:lnTo>
                <a:cubicBezTo>
                  <a:pt x="249708" y="505842"/>
                  <a:pt x="242906" y="521850"/>
                  <a:pt x="228571" y="529166"/>
                </a:cubicBezTo>
                <a:cubicBezTo>
                  <a:pt x="215573" y="535974"/>
                  <a:pt x="201131" y="539566"/>
                  <a:pt x="186458" y="539640"/>
                </a:cubicBezTo>
                <a:cubicBezTo>
                  <a:pt x="145695" y="539640"/>
                  <a:pt x="115379" y="519016"/>
                  <a:pt x="95861" y="494612"/>
                </a:cubicBezTo>
                <a:cubicBezTo>
                  <a:pt x="82344" y="477770"/>
                  <a:pt x="72918" y="458023"/>
                  <a:pt x="68326" y="436922"/>
                </a:cubicBezTo>
                <a:cubicBezTo>
                  <a:pt x="55719" y="433202"/>
                  <a:pt x="44044" y="426854"/>
                  <a:pt x="34068" y="418295"/>
                </a:cubicBezTo>
                <a:cubicBezTo>
                  <a:pt x="14902" y="401801"/>
                  <a:pt x="0" y="375345"/>
                  <a:pt x="0" y="336364"/>
                </a:cubicBezTo>
                <a:cubicBezTo>
                  <a:pt x="0" y="315982"/>
                  <a:pt x="1458" y="298219"/>
                  <a:pt x="5129" y="283291"/>
                </a:cubicBezTo>
                <a:lnTo>
                  <a:pt x="118780" y="283291"/>
                </a:lnTo>
                <a:cubicBezTo>
                  <a:pt x="137083" y="283291"/>
                  <a:pt x="152255" y="296789"/>
                  <a:pt x="154819" y="314363"/>
                </a:cubicBezTo>
                <a:cubicBezTo>
                  <a:pt x="127266" y="325762"/>
                  <a:pt x="114170" y="357339"/>
                  <a:pt x="125569" y="384893"/>
                </a:cubicBezTo>
                <a:cubicBezTo>
                  <a:pt x="136968" y="412446"/>
                  <a:pt x="168545" y="425542"/>
                  <a:pt x="196099" y="414143"/>
                </a:cubicBezTo>
                <a:cubicBezTo>
                  <a:pt x="223652" y="402744"/>
                  <a:pt x="236748" y="371167"/>
                  <a:pt x="225349" y="343613"/>
                </a:cubicBezTo>
                <a:cubicBezTo>
                  <a:pt x="219783" y="330160"/>
                  <a:pt x="209020" y="319524"/>
                  <a:pt x="195501" y="314120"/>
                </a:cubicBezTo>
                <a:cubicBezTo>
                  <a:pt x="192560" y="273919"/>
                  <a:pt x="159089" y="242803"/>
                  <a:pt x="118780" y="242797"/>
                </a:cubicBezTo>
                <a:lnTo>
                  <a:pt x="28075" y="242798"/>
                </a:lnTo>
                <a:cubicBezTo>
                  <a:pt x="32118" y="239456"/>
                  <a:pt x="36618" y="236711"/>
                  <a:pt x="41438" y="234645"/>
                </a:cubicBezTo>
                <a:cubicBezTo>
                  <a:pt x="38655" y="224726"/>
                  <a:pt x="37043" y="214515"/>
                  <a:pt x="36633" y="204221"/>
                </a:cubicBezTo>
                <a:cubicBezTo>
                  <a:pt x="35742" y="184379"/>
                  <a:pt x="38712" y="163728"/>
                  <a:pt x="44597" y="145344"/>
                </a:cubicBezTo>
                <a:cubicBezTo>
                  <a:pt x="50428" y="127257"/>
                  <a:pt x="59660" y="109629"/>
                  <a:pt x="72618" y="97454"/>
                </a:cubicBezTo>
                <a:cubicBezTo>
                  <a:pt x="80746" y="89533"/>
                  <a:pt x="91044" y="84206"/>
                  <a:pt x="102205" y="82147"/>
                </a:cubicBezTo>
                <a:cubicBezTo>
                  <a:pt x="107577" y="59471"/>
                  <a:pt x="121264" y="40736"/>
                  <a:pt x="138730" y="27157"/>
                </a:cubicBezTo>
                <a:cubicBezTo>
                  <a:pt x="161163" y="9664"/>
                  <a:pt x="190561" y="0"/>
                  <a:pt x="219716" y="0"/>
                </a:cubicBezTo>
                <a:close/>
                <a:moveTo>
                  <a:pt x="290202" y="404771"/>
                </a:moveTo>
                <a:lnTo>
                  <a:pt x="334744" y="404771"/>
                </a:lnTo>
                <a:cubicBezTo>
                  <a:pt x="377235" y="404771"/>
                  <a:pt x="411681" y="370325"/>
                  <a:pt x="411681" y="327833"/>
                </a:cubicBezTo>
                <a:lnTo>
                  <a:pt x="411681" y="279376"/>
                </a:lnTo>
                <a:cubicBezTo>
                  <a:pt x="439324" y="268195"/>
                  <a:pt x="452668" y="236721"/>
                  <a:pt x="441486" y="209079"/>
                </a:cubicBezTo>
                <a:cubicBezTo>
                  <a:pt x="430304" y="181436"/>
                  <a:pt x="398831" y="168093"/>
                  <a:pt x="371188" y="179274"/>
                </a:cubicBezTo>
                <a:cubicBezTo>
                  <a:pt x="343546" y="190456"/>
                  <a:pt x="330202" y="221930"/>
                  <a:pt x="341384" y="249572"/>
                </a:cubicBezTo>
                <a:cubicBezTo>
                  <a:pt x="346870" y="263135"/>
                  <a:pt x="357626" y="273890"/>
                  <a:pt x="371188" y="279376"/>
                </a:cubicBezTo>
                <a:lnTo>
                  <a:pt x="371188" y="327833"/>
                </a:lnTo>
                <a:cubicBezTo>
                  <a:pt x="371188" y="347961"/>
                  <a:pt x="354872" y="364277"/>
                  <a:pt x="334744" y="364277"/>
                </a:cubicBezTo>
                <a:lnTo>
                  <a:pt x="290202" y="364277"/>
                </a:lnTo>
                <a:lnTo>
                  <a:pt x="290202" y="38091"/>
                </a:lnTo>
                <a:cubicBezTo>
                  <a:pt x="290202" y="19005"/>
                  <a:pt x="301081" y="0"/>
                  <a:pt x="320167" y="0"/>
                </a:cubicBezTo>
                <a:cubicBezTo>
                  <a:pt x="349376" y="0"/>
                  <a:pt x="378747" y="9664"/>
                  <a:pt x="401180" y="27157"/>
                </a:cubicBezTo>
                <a:cubicBezTo>
                  <a:pt x="418646" y="40736"/>
                  <a:pt x="432333" y="59498"/>
                  <a:pt x="437705" y="82147"/>
                </a:cubicBezTo>
                <a:cubicBezTo>
                  <a:pt x="449043" y="84037"/>
                  <a:pt x="459139" y="89814"/>
                  <a:pt x="467292" y="97454"/>
                </a:cubicBezTo>
                <a:cubicBezTo>
                  <a:pt x="480250" y="109629"/>
                  <a:pt x="489482" y="127230"/>
                  <a:pt x="495313" y="145344"/>
                </a:cubicBezTo>
                <a:cubicBezTo>
                  <a:pt x="501198" y="163728"/>
                  <a:pt x="504168" y="184379"/>
                  <a:pt x="503277" y="204221"/>
                </a:cubicBezTo>
                <a:cubicBezTo>
                  <a:pt x="502818" y="214371"/>
                  <a:pt x="501333" y="224738"/>
                  <a:pt x="498472" y="234645"/>
                </a:cubicBezTo>
                <a:lnTo>
                  <a:pt x="500254" y="235455"/>
                </a:lnTo>
                <a:cubicBezTo>
                  <a:pt x="510242" y="240152"/>
                  <a:pt x="518341" y="247522"/>
                  <a:pt x="524388" y="257321"/>
                </a:cubicBezTo>
                <a:cubicBezTo>
                  <a:pt x="535861" y="275813"/>
                  <a:pt x="539910" y="302431"/>
                  <a:pt x="539910" y="336364"/>
                </a:cubicBezTo>
                <a:cubicBezTo>
                  <a:pt x="539910" y="375372"/>
                  <a:pt x="525009" y="401855"/>
                  <a:pt x="505842" y="418295"/>
                </a:cubicBezTo>
                <a:cubicBezTo>
                  <a:pt x="495858" y="426857"/>
                  <a:pt x="484173" y="433206"/>
                  <a:pt x="471557" y="436922"/>
                </a:cubicBezTo>
                <a:cubicBezTo>
                  <a:pt x="466972" y="458020"/>
                  <a:pt x="457556" y="477767"/>
                  <a:pt x="444049" y="494612"/>
                </a:cubicBezTo>
                <a:cubicBezTo>
                  <a:pt x="424531" y="519016"/>
                  <a:pt x="394215" y="539640"/>
                  <a:pt x="353425" y="539640"/>
                </a:cubicBezTo>
                <a:cubicBezTo>
                  <a:pt x="338754" y="539574"/>
                  <a:pt x="324313" y="535992"/>
                  <a:pt x="311312" y="529193"/>
                </a:cubicBezTo>
                <a:cubicBezTo>
                  <a:pt x="297005" y="521850"/>
                  <a:pt x="290202" y="505842"/>
                  <a:pt x="290202" y="489752"/>
                </a:cubicBezTo>
                <a:lnTo>
                  <a:pt x="290202" y="404771"/>
                </a:lnTo>
                <a:close/>
                <a:moveTo>
                  <a:pt x="161973" y="175309"/>
                </a:moveTo>
                <a:cubicBezTo>
                  <a:pt x="161973" y="167854"/>
                  <a:pt x="168016" y="161811"/>
                  <a:pt x="175471" y="161811"/>
                </a:cubicBezTo>
                <a:cubicBezTo>
                  <a:pt x="182925" y="161811"/>
                  <a:pt x="188969" y="167854"/>
                  <a:pt x="188969" y="175309"/>
                </a:cubicBezTo>
                <a:cubicBezTo>
                  <a:pt x="188969" y="182763"/>
                  <a:pt x="182925" y="188807"/>
                  <a:pt x="175471" y="188807"/>
                </a:cubicBezTo>
                <a:cubicBezTo>
                  <a:pt x="168016" y="188807"/>
                  <a:pt x="161973" y="182763"/>
                  <a:pt x="161973" y="175309"/>
                </a:cubicBezTo>
                <a:close/>
                <a:moveTo>
                  <a:pt x="175471" y="350780"/>
                </a:moveTo>
                <a:cubicBezTo>
                  <a:pt x="168016" y="350780"/>
                  <a:pt x="161973" y="356823"/>
                  <a:pt x="161973" y="364277"/>
                </a:cubicBezTo>
                <a:cubicBezTo>
                  <a:pt x="161973" y="371732"/>
                  <a:pt x="168016" y="377775"/>
                  <a:pt x="175471" y="377775"/>
                </a:cubicBezTo>
                <a:cubicBezTo>
                  <a:pt x="182925" y="377775"/>
                  <a:pt x="188969" y="371732"/>
                  <a:pt x="188969" y="364277"/>
                </a:cubicBezTo>
                <a:cubicBezTo>
                  <a:pt x="188969" y="356823"/>
                  <a:pt x="182925" y="350780"/>
                  <a:pt x="175471" y="350780"/>
                </a:cubicBezTo>
                <a:close/>
                <a:moveTo>
                  <a:pt x="377937" y="229300"/>
                </a:moveTo>
                <a:cubicBezTo>
                  <a:pt x="377937" y="236754"/>
                  <a:pt x="383980" y="242798"/>
                  <a:pt x="391435" y="242798"/>
                </a:cubicBezTo>
                <a:cubicBezTo>
                  <a:pt x="398889" y="242798"/>
                  <a:pt x="404933" y="236754"/>
                  <a:pt x="404933" y="229300"/>
                </a:cubicBezTo>
                <a:cubicBezTo>
                  <a:pt x="404933" y="221845"/>
                  <a:pt x="398889" y="215802"/>
                  <a:pt x="391435" y="215802"/>
                </a:cubicBezTo>
                <a:cubicBezTo>
                  <a:pt x="383980" y="215802"/>
                  <a:pt x="377937" y="221845"/>
                  <a:pt x="377937" y="229300"/>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
        <p:nvSpPr>
          <p:cNvPr id="57" name="Graphic 53">
            <a:extLst>
              <a:ext uri="{FF2B5EF4-FFF2-40B4-BE49-F238E27FC236}">
                <a16:creationId xmlns:a16="http://schemas.microsoft.com/office/drawing/2014/main" id="{601EF912-812F-F85F-54C0-A6380E480D67}"/>
              </a:ext>
            </a:extLst>
          </p:cNvPr>
          <p:cNvSpPr/>
          <p:nvPr/>
        </p:nvSpPr>
        <p:spPr>
          <a:xfrm>
            <a:off x="9566266" y="2959377"/>
            <a:ext cx="512914" cy="539910"/>
          </a:xfrm>
          <a:custGeom>
            <a:avLst/>
            <a:gdLst>
              <a:gd name="csX0" fmla="*/ 377937 w 512914"/>
              <a:gd name="csY0" fmla="*/ 53991 h 539910"/>
              <a:gd name="csX1" fmla="*/ 350942 w 512914"/>
              <a:gd name="csY1" fmla="*/ 26996 h 539910"/>
              <a:gd name="csX2" fmla="*/ 377937 w 512914"/>
              <a:gd name="csY2" fmla="*/ 0 h 539910"/>
              <a:gd name="csX3" fmla="*/ 485919 w 512914"/>
              <a:gd name="csY3" fmla="*/ 0 h 539910"/>
              <a:gd name="csX4" fmla="*/ 512915 w 512914"/>
              <a:gd name="csY4" fmla="*/ 26996 h 539910"/>
              <a:gd name="csX5" fmla="*/ 512915 w 512914"/>
              <a:gd name="csY5" fmla="*/ 134978 h 539910"/>
              <a:gd name="csX6" fmla="*/ 485919 w 512914"/>
              <a:gd name="csY6" fmla="*/ 161973 h 539910"/>
              <a:gd name="csX7" fmla="*/ 458924 w 512914"/>
              <a:gd name="csY7" fmla="*/ 134978 h 539910"/>
              <a:gd name="csX8" fmla="*/ 458924 w 512914"/>
              <a:gd name="csY8" fmla="*/ 92163 h 539910"/>
              <a:gd name="csX9" fmla="*/ 302539 w 512914"/>
              <a:gd name="csY9" fmla="*/ 248548 h 539910"/>
              <a:gd name="csX10" fmla="*/ 264367 w 512914"/>
              <a:gd name="csY10" fmla="*/ 248548 h 539910"/>
              <a:gd name="csX11" fmla="*/ 188969 w 512914"/>
              <a:gd name="csY11" fmla="*/ 173149 h 539910"/>
              <a:gd name="csX12" fmla="*/ 46081 w 512914"/>
              <a:gd name="csY12" fmla="*/ 316036 h 539910"/>
              <a:gd name="csX13" fmla="*/ 7910 w 512914"/>
              <a:gd name="csY13" fmla="*/ 315373 h 539910"/>
              <a:gd name="csX14" fmla="*/ 7910 w 512914"/>
              <a:gd name="csY14" fmla="*/ 277865 h 539910"/>
              <a:gd name="csX15" fmla="*/ 169883 w 512914"/>
              <a:gd name="csY15" fmla="*/ 115892 h 539910"/>
              <a:gd name="csX16" fmla="*/ 208054 w 512914"/>
              <a:gd name="csY16" fmla="*/ 115892 h 539910"/>
              <a:gd name="csX17" fmla="*/ 283453 w 512914"/>
              <a:gd name="csY17" fmla="*/ 191290 h 539910"/>
              <a:gd name="csX18" fmla="*/ 420752 w 512914"/>
              <a:gd name="csY18" fmla="*/ 53991 h 539910"/>
              <a:gd name="csX19" fmla="*/ 377937 w 512914"/>
              <a:gd name="csY19" fmla="*/ 53991 h 539910"/>
              <a:gd name="csX20" fmla="*/ 53991 w 512914"/>
              <a:gd name="csY20" fmla="*/ 431928 h 539910"/>
              <a:gd name="csX21" fmla="*/ 53991 w 512914"/>
              <a:gd name="csY21" fmla="*/ 512915 h 539910"/>
              <a:gd name="csX22" fmla="*/ 26996 w 512914"/>
              <a:gd name="csY22" fmla="*/ 539910 h 539910"/>
              <a:gd name="csX23" fmla="*/ 0 w 512914"/>
              <a:gd name="csY23" fmla="*/ 512915 h 539910"/>
              <a:gd name="csX24" fmla="*/ 0 w 512914"/>
              <a:gd name="csY24" fmla="*/ 431928 h 539910"/>
              <a:gd name="csX25" fmla="*/ 26996 w 512914"/>
              <a:gd name="csY25" fmla="*/ 404933 h 539910"/>
              <a:gd name="csX26" fmla="*/ 53991 w 512914"/>
              <a:gd name="csY26" fmla="*/ 431928 h 539910"/>
              <a:gd name="csX27" fmla="*/ 188969 w 512914"/>
              <a:gd name="csY27" fmla="*/ 323946 h 539910"/>
              <a:gd name="csX28" fmla="*/ 161973 w 512914"/>
              <a:gd name="csY28" fmla="*/ 296951 h 539910"/>
              <a:gd name="csX29" fmla="*/ 134978 w 512914"/>
              <a:gd name="csY29" fmla="*/ 323946 h 539910"/>
              <a:gd name="csX30" fmla="*/ 134978 w 512914"/>
              <a:gd name="csY30" fmla="*/ 512915 h 539910"/>
              <a:gd name="csX31" fmla="*/ 161973 w 512914"/>
              <a:gd name="csY31" fmla="*/ 539910 h 539910"/>
              <a:gd name="csX32" fmla="*/ 188969 w 512914"/>
              <a:gd name="csY32" fmla="*/ 512915 h 539910"/>
              <a:gd name="csX33" fmla="*/ 188969 w 512914"/>
              <a:gd name="csY33" fmla="*/ 323946 h 539910"/>
              <a:gd name="csX34" fmla="*/ 296951 w 512914"/>
              <a:gd name="csY34" fmla="*/ 350942 h 539910"/>
              <a:gd name="csX35" fmla="*/ 323946 w 512914"/>
              <a:gd name="csY35" fmla="*/ 377937 h 539910"/>
              <a:gd name="csX36" fmla="*/ 323946 w 512914"/>
              <a:gd name="csY36" fmla="*/ 512915 h 539910"/>
              <a:gd name="csX37" fmla="*/ 296951 w 512914"/>
              <a:gd name="csY37" fmla="*/ 539910 h 539910"/>
              <a:gd name="csX38" fmla="*/ 269955 w 512914"/>
              <a:gd name="csY38" fmla="*/ 512915 h 539910"/>
              <a:gd name="csX39" fmla="*/ 269955 w 512914"/>
              <a:gd name="csY39" fmla="*/ 377937 h 539910"/>
              <a:gd name="csX40" fmla="*/ 296951 w 512914"/>
              <a:gd name="csY40" fmla="*/ 350942 h 539910"/>
              <a:gd name="csX41" fmla="*/ 458924 w 512914"/>
              <a:gd name="csY41" fmla="*/ 242960 h 539910"/>
              <a:gd name="csX42" fmla="*/ 431928 w 512914"/>
              <a:gd name="csY42" fmla="*/ 215964 h 539910"/>
              <a:gd name="csX43" fmla="*/ 404933 w 512914"/>
              <a:gd name="csY43" fmla="*/ 242960 h 539910"/>
              <a:gd name="csX44" fmla="*/ 404933 w 512914"/>
              <a:gd name="csY44" fmla="*/ 512915 h 539910"/>
              <a:gd name="csX45" fmla="*/ 431928 w 512914"/>
              <a:gd name="csY45" fmla="*/ 539910 h 539910"/>
              <a:gd name="csX46" fmla="*/ 458924 w 512914"/>
              <a:gd name="csY46" fmla="*/ 512915 h 539910"/>
              <a:gd name="csX47" fmla="*/ 458924 w 512914"/>
              <a:gd name="csY47" fmla="*/ 242960 h 5399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Lst>
            <a:rect l="l" t="t" r="r" b="b"/>
            <a:pathLst>
              <a:path w="512914" h="539910">
                <a:moveTo>
                  <a:pt x="377937" y="53991"/>
                </a:moveTo>
                <a:cubicBezTo>
                  <a:pt x="363028" y="53991"/>
                  <a:pt x="350942" y="41905"/>
                  <a:pt x="350942" y="26996"/>
                </a:cubicBezTo>
                <a:cubicBezTo>
                  <a:pt x="350942" y="12086"/>
                  <a:pt x="363028" y="0"/>
                  <a:pt x="377937" y="0"/>
                </a:cubicBezTo>
                <a:lnTo>
                  <a:pt x="485919" y="0"/>
                </a:lnTo>
                <a:cubicBezTo>
                  <a:pt x="500828" y="0"/>
                  <a:pt x="512915" y="12086"/>
                  <a:pt x="512915" y="26996"/>
                </a:cubicBezTo>
                <a:lnTo>
                  <a:pt x="512915" y="134978"/>
                </a:lnTo>
                <a:cubicBezTo>
                  <a:pt x="512915" y="149887"/>
                  <a:pt x="500828" y="161973"/>
                  <a:pt x="485919" y="161973"/>
                </a:cubicBezTo>
                <a:cubicBezTo>
                  <a:pt x="471010" y="161973"/>
                  <a:pt x="458924" y="149887"/>
                  <a:pt x="458924" y="134978"/>
                </a:cubicBezTo>
                <a:lnTo>
                  <a:pt x="458924" y="92163"/>
                </a:lnTo>
                <a:lnTo>
                  <a:pt x="302539" y="248548"/>
                </a:lnTo>
                <a:cubicBezTo>
                  <a:pt x="291997" y="259086"/>
                  <a:pt x="274909" y="259086"/>
                  <a:pt x="264367" y="248548"/>
                </a:cubicBezTo>
                <a:lnTo>
                  <a:pt x="188969" y="173149"/>
                </a:lnTo>
                <a:lnTo>
                  <a:pt x="46081" y="316036"/>
                </a:lnTo>
                <a:cubicBezTo>
                  <a:pt x="35357" y="326394"/>
                  <a:pt x="18267" y="326097"/>
                  <a:pt x="7910" y="315373"/>
                </a:cubicBezTo>
                <a:cubicBezTo>
                  <a:pt x="-2194" y="304912"/>
                  <a:pt x="-2194" y="288326"/>
                  <a:pt x="7910" y="277865"/>
                </a:cubicBezTo>
                <a:lnTo>
                  <a:pt x="169883" y="115892"/>
                </a:lnTo>
                <a:cubicBezTo>
                  <a:pt x="180424" y="105353"/>
                  <a:pt x="197513" y="105353"/>
                  <a:pt x="208054" y="115892"/>
                </a:cubicBezTo>
                <a:lnTo>
                  <a:pt x="283453" y="191290"/>
                </a:lnTo>
                <a:lnTo>
                  <a:pt x="420752" y="53991"/>
                </a:lnTo>
                <a:lnTo>
                  <a:pt x="377937" y="53991"/>
                </a:lnTo>
                <a:close/>
                <a:moveTo>
                  <a:pt x="53991" y="431928"/>
                </a:moveTo>
                <a:lnTo>
                  <a:pt x="53991" y="512915"/>
                </a:lnTo>
                <a:cubicBezTo>
                  <a:pt x="53991" y="527824"/>
                  <a:pt x="41905" y="539910"/>
                  <a:pt x="26996" y="539910"/>
                </a:cubicBezTo>
                <a:cubicBezTo>
                  <a:pt x="12086" y="539910"/>
                  <a:pt x="0" y="527824"/>
                  <a:pt x="0" y="512915"/>
                </a:cubicBezTo>
                <a:lnTo>
                  <a:pt x="0" y="431928"/>
                </a:lnTo>
                <a:cubicBezTo>
                  <a:pt x="0" y="417019"/>
                  <a:pt x="12086" y="404933"/>
                  <a:pt x="26996" y="404933"/>
                </a:cubicBezTo>
                <a:cubicBezTo>
                  <a:pt x="41905" y="404933"/>
                  <a:pt x="53991" y="417019"/>
                  <a:pt x="53991" y="431928"/>
                </a:cubicBezTo>
                <a:close/>
                <a:moveTo>
                  <a:pt x="188969" y="323946"/>
                </a:moveTo>
                <a:cubicBezTo>
                  <a:pt x="188969" y="309037"/>
                  <a:pt x="176882" y="296951"/>
                  <a:pt x="161973" y="296951"/>
                </a:cubicBezTo>
                <a:cubicBezTo>
                  <a:pt x="147064" y="296951"/>
                  <a:pt x="134978" y="309037"/>
                  <a:pt x="134978" y="323946"/>
                </a:cubicBezTo>
                <a:lnTo>
                  <a:pt x="134978" y="512915"/>
                </a:lnTo>
                <a:cubicBezTo>
                  <a:pt x="134978" y="527824"/>
                  <a:pt x="147064" y="539910"/>
                  <a:pt x="161973" y="539910"/>
                </a:cubicBezTo>
                <a:cubicBezTo>
                  <a:pt x="176882" y="539910"/>
                  <a:pt x="188969" y="527824"/>
                  <a:pt x="188969" y="512915"/>
                </a:cubicBezTo>
                <a:lnTo>
                  <a:pt x="188969" y="323946"/>
                </a:lnTo>
                <a:close/>
                <a:moveTo>
                  <a:pt x="296951" y="350942"/>
                </a:moveTo>
                <a:cubicBezTo>
                  <a:pt x="311860" y="350942"/>
                  <a:pt x="323946" y="363028"/>
                  <a:pt x="323946" y="377937"/>
                </a:cubicBezTo>
                <a:lnTo>
                  <a:pt x="323946" y="512915"/>
                </a:lnTo>
                <a:cubicBezTo>
                  <a:pt x="323946" y="527824"/>
                  <a:pt x="311860" y="539910"/>
                  <a:pt x="296951" y="539910"/>
                </a:cubicBezTo>
                <a:cubicBezTo>
                  <a:pt x="282041" y="539910"/>
                  <a:pt x="269955" y="527824"/>
                  <a:pt x="269955" y="512915"/>
                </a:cubicBezTo>
                <a:lnTo>
                  <a:pt x="269955" y="377937"/>
                </a:lnTo>
                <a:cubicBezTo>
                  <a:pt x="269955" y="363028"/>
                  <a:pt x="282041" y="350942"/>
                  <a:pt x="296951" y="350942"/>
                </a:cubicBezTo>
                <a:close/>
                <a:moveTo>
                  <a:pt x="458924" y="242960"/>
                </a:moveTo>
                <a:cubicBezTo>
                  <a:pt x="458924" y="228050"/>
                  <a:pt x="446837" y="215964"/>
                  <a:pt x="431928" y="215964"/>
                </a:cubicBezTo>
                <a:cubicBezTo>
                  <a:pt x="417019" y="215964"/>
                  <a:pt x="404933" y="228050"/>
                  <a:pt x="404933" y="242960"/>
                </a:cubicBezTo>
                <a:lnTo>
                  <a:pt x="404933" y="512915"/>
                </a:lnTo>
                <a:cubicBezTo>
                  <a:pt x="404933" y="527824"/>
                  <a:pt x="417019" y="539910"/>
                  <a:pt x="431928" y="539910"/>
                </a:cubicBezTo>
                <a:cubicBezTo>
                  <a:pt x="446837" y="539910"/>
                  <a:pt x="458924" y="527824"/>
                  <a:pt x="458924" y="512915"/>
                </a:cubicBezTo>
                <a:lnTo>
                  <a:pt x="458924" y="242960"/>
                </a:ln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Tree>
    <p:extLst>
      <p:ext uri="{BB962C8B-B14F-4D97-AF65-F5344CB8AC3E}">
        <p14:creationId xmlns:p14="http://schemas.microsoft.com/office/powerpoint/2010/main" val="2475788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DD913-4F17-D4C9-365F-38CFB721790E}"/>
            </a:ext>
          </a:extLst>
        </p:cNvPr>
        <p:cNvGrpSpPr/>
        <p:nvPr/>
      </p:nvGrpSpPr>
      <p:grpSpPr>
        <a:xfrm>
          <a:off x="0" y="0"/>
          <a:ext cx="0" cy="0"/>
          <a:chOff x="0" y="0"/>
          <a:chExt cx="0" cy="0"/>
        </a:xfrm>
      </p:grpSpPr>
      <p:pic>
        <p:nvPicPr>
          <p:cNvPr id="4" name="Picture 3" descr="A blurry image of a purple object&#10;&#10;AI-generated content may be incorrect.">
            <a:extLst>
              <a:ext uri="{FF2B5EF4-FFF2-40B4-BE49-F238E27FC236}">
                <a16:creationId xmlns:a16="http://schemas.microsoft.com/office/drawing/2014/main" id="{8907017A-91DD-34EE-151A-80E9B96946BA}"/>
              </a:ext>
            </a:extLst>
          </p:cNvPr>
          <p:cNvPicPr>
            <a:picLocks noChangeAspect="1"/>
          </p:cNvPicPr>
          <p:nvPr/>
        </p:nvPicPr>
        <p:blipFill>
          <a:blip r:embed="rId3">
            <a:alphaModFix amt="70000"/>
          </a:blip>
          <a:srcRect l="25924"/>
          <a:stretch>
            <a:fillRect/>
          </a:stretch>
        </p:blipFill>
        <p:spPr>
          <a:xfrm flipV="1">
            <a:off x="0" y="0"/>
            <a:ext cx="12192000" cy="6858000"/>
          </a:xfrm>
          <a:prstGeom prst="rect">
            <a:avLst/>
          </a:prstGeom>
        </p:spPr>
      </p:pic>
      <p:sp>
        <p:nvSpPr>
          <p:cNvPr id="18" name="Title 17">
            <a:extLst>
              <a:ext uri="{FF2B5EF4-FFF2-40B4-BE49-F238E27FC236}">
                <a16:creationId xmlns:a16="http://schemas.microsoft.com/office/drawing/2014/main" id="{7A22F643-C263-1EFD-5DE8-1C2B9F3D9C63}"/>
              </a:ext>
            </a:extLst>
          </p:cNvPr>
          <p:cNvSpPr>
            <a:spLocks noGrp="1"/>
          </p:cNvSpPr>
          <p:nvPr>
            <p:ph type="title"/>
          </p:nvPr>
        </p:nvSpPr>
        <p:spPr>
          <a:xfrm>
            <a:off x="588263" y="457200"/>
            <a:ext cx="11018520" cy="553998"/>
          </a:xfrm>
        </p:spPr>
        <p:txBody>
          <a:bodyPr/>
          <a:lstStyle/>
          <a:p>
            <a:r>
              <a:rPr lang="en-US"/>
              <a:t>The communication cadence</a:t>
            </a:r>
          </a:p>
        </p:txBody>
      </p:sp>
      <p:sp>
        <p:nvSpPr>
          <p:cNvPr id="5" name="Rectangle: Rounded Corners 11">
            <a:extLst>
              <a:ext uri="{FF2B5EF4-FFF2-40B4-BE49-F238E27FC236}">
                <a16:creationId xmlns:a16="http://schemas.microsoft.com/office/drawing/2014/main" id="{654080EE-A0E2-D112-31FB-3C6D8EF2A2BD}"/>
              </a:ext>
              <a:ext uri="{C183D7F6-B498-43B3-948B-1728B52AA6E4}">
                <adec:decorative xmlns:adec="http://schemas.microsoft.com/office/drawing/2017/decorative" val="1"/>
              </a:ext>
            </a:extLst>
          </p:cNvPr>
          <p:cNvSpPr>
            <a:spLocks/>
          </p:cNvSpPr>
          <p:nvPr/>
        </p:nvSpPr>
        <p:spPr>
          <a:xfrm>
            <a:off x="588963" y="1238492"/>
            <a:ext cx="11017250" cy="5019976"/>
          </a:xfrm>
          <a:prstGeom prst="roundRect">
            <a:avLst>
              <a:gd name="adj" fmla="val 5002"/>
            </a:avLst>
          </a:prstGeom>
          <a:solidFill>
            <a:schemeClr val="bg1">
              <a:alpha val="5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22" name="Rectangle: Rounded Corners 21">
            <a:extLst>
              <a:ext uri="{FF2B5EF4-FFF2-40B4-BE49-F238E27FC236}">
                <a16:creationId xmlns:a16="http://schemas.microsoft.com/office/drawing/2014/main" id="{A08A7F4A-5D72-48D4-3667-3F0BA8E664EB}"/>
              </a:ext>
            </a:extLst>
          </p:cNvPr>
          <p:cNvSpPr/>
          <p:nvPr/>
        </p:nvSpPr>
        <p:spPr bwMode="auto">
          <a:xfrm>
            <a:off x="7037387" y="1390650"/>
            <a:ext cx="2132255" cy="1470448"/>
          </a:xfrm>
          <a:prstGeom prst="roundRect">
            <a:avLst>
              <a:gd name="adj" fmla="val 9542"/>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lgn="ctr" defTabSz="932472" fontAlgn="base">
              <a:spcBef>
                <a:spcPts val="600"/>
              </a:spcBef>
              <a:spcAft>
                <a:spcPct val="0"/>
              </a:spcAft>
            </a:pPr>
            <a:r>
              <a:rPr lang="en-US">
                <a:ln w="3175">
                  <a:noFill/>
                </a:ln>
                <a:gradFill>
                  <a:gsLst>
                    <a:gs pos="0">
                      <a:srgbClr val="0078D4"/>
                    </a:gs>
                    <a:gs pos="94000">
                      <a:srgbClr val="C73ECC"/>
                    </a:gs>
                  </a:gsLst>
                  <a:lin ang="0" scaled="1"/>
                </a:gradFill>
                <a:latin typeface="+mj-lt"/>
              </a:rPr>
              <a:t>Announce</a:t>
            </a:r>
          </a:p>
          <a:p>
            <a:pPr algn="ctr" defTabSz="932472" fontAlgn="base">
              <a:spcBef>
                <a:spcPts val="600"/>
              </a:spcBef>
              <a:spcAft>
                <a:spcPct val="0"/>
              </a:spcAft>
            </a:pPr>
            <a:r>
              <a:rPr lang="en-US" sz="1400">
                <a:ln w="3175">
                  <a:noFill/>
                </a:ln>
                <a:solidFill>
                  <a:schemeClr val="tx1"/>
                </a:solidFill>
              </a:rPr>
              <a:t>Early heads-up:</a:t>
            </a:r>
            <a:br>
              <a:rPr lang="en-US" sz="1400">
                <a:ln w="3175">
                  <a:noFill/>
                </a:ln>
                <a:solidFill>
                  <a:schemeClr val="tx1"/>
                </a:solidFill>
              </a:rPr>
            </a:br>
            <a:r>
              <a:rPr lang="en-US" sz="1400">
                <a:ln w="3175">
                  <a:noFill/>
                </a:ln>
                <a:solidFill>
                  <a:schemeClr val="tx1"/>
                </a:solidFill>
              </a:rPr>
              <a:t>what's coming</a:t>
            </a:r>
            <a:br>
              <a:rPr lang="en-US" sz="1400">
                <a:ln w="3175">
                  <a:noFill/>
                </a:ln>
                <a:solidFill>
                  <a:schemeClr val="tx1"/>
                </a:solidFill>
              </a:rPr>
            </a:br>
            <a:r>
              <a:rPr lang="en-US" sz="1400">
                <a:ln w="3175">
                  <a:noFill/>
                </a:ln>
                <a:solidFill>
                  <a:schemeClr val="tx1"/>
                </a:solidFill>
              </a:rPr>
              <a:t>and when</a:t>
            </a:r>
          </a:p>
        </p:txBody>
      </p:sp>
      <p:sp>
        <p:nvSpPr>
          <p:cNvPr id="23" name="Rectangle: Rounded Corners 22">
            <a:extLst>
              <a:ext uri="{FF2B5EF4-FFF2-40B4-BE49-F238E27FC236}">
                <a16:creationId xmlns:a16="http://schemas.microsoft.com/office/drawing/2014/main" id="{C20262CC-EED9-0DFF-9917-052FF4763741}"/>
              </a:ext>
            </a:extLst>
          </p:cNvPr>
          <p:cNvSpPr/>
          <p:nvPr/>
        </p:nvSpPr>
        <p:spPr bwMode="auto">
          <a:xfrm>
            <a:off x="7037387" y="4635862"/>
            <a:ext cx="2132255" cy="1470448"/>
          </a:xfrm>
          <a:prstGeom prst="roundRect">
            <a:avLst>
              <a:gd name="adj" fmla="val 9542"/>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lgn="ctr" defTabSz="932472" fontAlgn="base">
              <a:spcBef>
                <a:spcPts val="600"/>
              </a:spcBef>
              <a:spcAft>
                <a:spcPct val="0"/>
              </a:spcAft>
            </a:pPr>
            <a:r>
              <a:rPr lang="en-US">
                <a:ln w="3175">
                  <a:noFill/>
                </a:ln>
                <a:gradFill>
                  <a:gsLst>
                    <a:gs pos="0">
                      <a:srgbClr val="0078D4"/>
                    </a:gs>
                    <a:gs pos="94000">
                      <a:srgbClr val="C73ECC"/>
                    </a:gs>
                  </a:gsLst>
                  <a:lin ang="0" scaled="1"/>
                </a:gradFill>
                <a:latin typeface="+mj-lt"/>
              </a:rPr>
              <a:t>Listen</a:t>
            </a:r>
          </a:p>
          <a:p>
            <a:pPr algn="ctr" defTabSz="932472" fontAlgn="base">
              <a:spcBef>
                <a:spcPts val="600"/>
              </a:spcBef>
              <a:spcAft>
                <a:spcPct val="0"/>
              </a:spcAft>
            </a:pPr>
            <a:r>
              <a:rPr lang="en-US" sz="1400">
                <a:ln w="3175">
                  <a:noFill/>
                </a:ln>
                <a:solidFill>
                  <a:schemeClr val="tx1"/>
                </a:solidFill>
              </a:rPr>
              <a:t>Feedback loops,</a:t>
            </a:r>
            <a:br>
              <a:rPr lang="en-US" sz="1400">
                <a:ln w="3175">
                  <a:noFill/>
                </a:ln>
                <a:solidFill>
                  <a:schemeClr val="tx1"/>
                </a:solidFill>
              </a:rPr>
            </a:br>
            <a:r>
              <a:rPr lang="en-US" sz="1400">
                <a:ln w="3175">
                  <a:noFill/>
                </a:ln>
                <a:solidFill>
                  <a:schemeClr val="tx1"/>
                </a:solidFill>
              </a:rPr>
              <a:t>pulse checks,</a:t>
            </a:r>
            <a:br>
              <a:rPr lang="en-US" sz="1400">
                <a:ln w="3175">
                  <a:noFill/>
                </a:ln>
                <a:solidFill>
                  <a:schemeClr val="tx1"/>
                </a:solidFill>
              </a:rPr>
            </a:br>
            <a:r>
              <a:rPr lang="en-US" sz="1400">
                <a:ln w="3175">
                  <a:noFill/>
                </a:ln>
                <a:solidFill>
                  <a:schemeClr val="tx1"/>
                </a:solidFill>
              </a:rPr>
              <a:t>iterate</a:t>
            </a:r>
          </a:p>
        </p:txBody>
      </p:sp>
      <p:sp>
        <p:nvSpPr>
          <p:cNvPr id="24" name="Rectangle: Rounded Corners 23">
            <a:extLst>
              <a:ext uri="{FF2B5EF4-FFF2-40B4-BE49-F238E27FC236}">
                <a16:creationId xmlns:a16="http://schemas.microsoft.com/office/drawing/2014/main" id="{A52CE17B-1D97-7D3D-3088-EE0806A50511}"/>
              </a:ext>
            </a:extLst>
          </p:cNvPr>
          <p:cNvSpPr/>
          <p:nvPr/>
        </p:nvSpPr>
        <p:spPr bwMode="auto">
          <a:xfrm>
            <a:off x="737945" y="3013256"/>
            <a:ext cx="6299442" cy="1470448"/>
          </a:xfrm>
          <a:prstGeom prst="roundRect">
            <a:avLst>
              <a:gd name="adj" fmla="val 9542"/>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82880" rIns="182880" rtlCol="0" anchor="ctr"/>
          <a:lstStyle/>
          <a:p>
            <a:r>
              <a:rPr lang="en-US" sz="2400">
                <a:ln w="3175">
                  <a:noFill/>
                </a:ln>
                <a:gradFill>
                  <a:gsLst>
                    <a:gs pos="0">
                      <a:srgbClr val="0078D4"/>
                    </a:gs>
                    <a:gs pos="94000">
                      <a:srgbClr val="C73ECC"/>
                    </a:gs>
                  </a:gsLst>
                  <a:lin ang="0" scaled="1"/>
                </a:gradFill>
                <a:latin typeface="+mj-lt"/>
              </a:rPr>
              <a:t>This cycle repeats with every change,</a:t>
            </a:r>
          </a:p>
          <a:p>
            <a:r>
              <a:rPr lang="en-US" sz="2400">
                <a:ln w="3175">
                  <a:noFill/>
                </a:ln>
                <a:gradFill>
                  <a:gsLst>
                    <a:gs pos="0">
                      <a:srgbClr val="0078D4"/>
                    </a:gs>
                    <a:gs pos="94000">
                      <a:srgbClr val="C73ECC"/>
                    </a:gs>
                  </a:gsLst>
                  <a:lin ang="0" scaled="1"/>
                </a:gradFill>
                <a:latin typeface="+mj-lt"/>
              </a:rPr>
              <a:t>not just the first announcement.</a:t>
            </a:r>
          </a:p>
        </p:txBody>
      </p:sp>
      <p:sp>
        <p:nvSpPr>
          <p:cNvPr id="29" name="Rectangle: Single Corner Rounded 28">
            <a:extLst>
              <a:ext uri="{FF2B5EF4-FFF2-40B4-BE49-F238E27FC236}">
                <a16:creationId xmlns:a16="http://schemas.microsoft.com/office/drawing/2014/main" id="{D49F0DB1-87F6-4A95-B180-D7AE4A59B541}"/>
              </a:ext>
            </a:extLst>
          </p:cNvPr>
          <p:cNvSpPr/>
          <p:nvPr/>
        </p:nvSpPr>
        <p:spPr bwMode="auto">
          <a:xfrm flipH="1">
            <a:off x="3887665" y="2125874"/>
            <a:ext cx="3149722" cy="887382"/>
          </a:xfrm>
          <a:custGeom>
            <a:avLst/>
            <a:gdLst>
              <a:gd name="csX0" fmla="*/ 0 w 3149722"/>
              <a:gd name="csY0" fmla="*/ 0 h 887382"/>
              <a:gd name="csX1" fmla="*/ 3001822 w 3149722"/>
              <a:gd name="csY1" fmla="*/ 0 h 887382"/>
              <a:gd name="csX2" fmla="*/ 3149722 w 3149722"/>
              <a:gd name="csY2" fmla="*/ 147900 h 887382"/>
              <a:gd name="csX3" fmla="*/ 3149722 w 3149722"/>
              <a:gd name="csY3" fmla="*/ 887382 h 887382"/>
              <a:gd name="csX4" fmla="*/ 0 w 3149722"/>
              <a:gd name="csY4" fmla="*/ 887382 h 887382"/>
              <a:gd name="csX5" fmla="*/ 0 w 3149722"/>
              <a:gd name="csY5" fmla="*/ 0 h 887382"/>
              <a:gd name="csX0" fmla="*/ 0 w 3149722"/>
              <a:gd name="csY0" fmla="*/ 887382 h 978822"/>
              <a:gd name="csX1" fmla="*/ 0 w 3149722"/>
              <a:gd name="csY1" fmla="*/ 0 h 978822"/>
              <a:gd name="csX2" fmla="*/ 3001822 w 3149722"/>
              <a:gd name="csY2" fmla="*/ 0 h 978822"/>
              <a:gd name="csX3" fmla="*/ 3149722 w 3149722"/>
              <a:gd name="csY3" fmla="*/ 147900 h 978822"/>
              <a:gd name="csX4" fmla="*/ 3149722 w 3149722"/>
              <a:gd name="csY4" fmla="*/ 887382 h 978822"/>
              <a:gd name="csX5" fmla="*/ 91440 w 3149722"/>
              <a:gd name="csY5" fmla="*/ 978822 h 978822"/>
              <a:gd name="csX0" fmla="*/ 0 w 3149722"/>
              <a:gd name="csY0" fmla="*/ 887382 h 887382"/>
              <a:gd name="csX1" fmla="*/ 0 w 3149722"/>
              <a:gd name="csY1" fmla="*/ 0 h 887382"/>
              <a:gd name="csX2" fmla="*/ 3001822 w 3149722"/>
              <a:gd name="csY2" fmla="*/ 0 h 887382"/>
              <a:gd name="csX3" fmla="*/ 3149722 w 3149722"/>
              <a:gd name="csY3" fmla="*/ 147900 h 887382"/>
              <a:gd name="csX4" fmla="*/ 3149722 w 3149722"/>
              <a:gd name="csY4" fmla="*/ 887382 h 887382"/>
              <a:gd name="csX0" fmla="*/ 0 w 3149722"/>
              <a:gd name="csY0" fmla="*/ 0 h 887382"/>
              <a:gd name="csX1" fmla="*/ 3001822 w 3149722"/>
              <a:gd name="csY1" fmla="*/ 0 h 887382"/>
              <a:gd name="csX2" fmla="*/ 3149722 w 3149722"/>
              <a:gd name="csY2" fmla="*/ 147900 h 887382"/>
              <a:gd name="csX3" fmla="*/ 3149722 w 3149722"/>
              <a:gd name="csY3" fmla="*/ 887382 h 887382"/>
            </a:gdLst>
            <a:ahLst/>
            <a:cxnLst>
              <a:cxn ang="0">
                <a:pos x="csX0" y="csY0"/>
              </a:cxn>
              <a:cxn ang="0">
                <a:pos x="csX1" y="csY1"/>
              </a:cxn>
              <a:cxn ang="0">
                <a:pos x="csX2" y="csY2"/>
              </a:cxn>
              <a:cxn ang="0">
                <a:pos x="csX3" y="csY3"/>
              </a:cxn>
            </a:cxnLst>
            <a:rect l="l" t="t" r="r" b="b"/>
            <a:pathLst>
              <a:path w="3149722" h="887382">
                <a:moveTo>
                  <a:pt x="0" y="0"/>
                </a:moveTo>
                <a:lnTo>
                  <a:pt x="3001822" y="0"/>
                </a:lnTo>
                <a:cubicBezTo>
                  <a:pt x="3083505" y="0"/>
                  <a:pt x="3149722" y="66217"/>
                  <a:pt x="3149722" y="147900"/>
                </a:cubicBezTo>
                <a:lnTo>
                  <a:pt x="3149722" y="887382"/>
                </a:lnTo>
              </a:path>
            </a:pathLst>
          </a:custGeom>
          <a:no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n w="3175">
                <a:noFill/>
              </a:ln>
              <a:gradFill>
                <a:gsLst>
                  <a:gs pos="0">
                    <a:srgbClr val="0078D4"/>
                  </a:gs>
                  <a:gs pos="94000">
                    <a:srgbClr val="C73ECC"/>
                  </a:gs>
                </a:gsLst>
                <a:lin ang="0" scaled="1"/>
              </a:gradFill>
              <a:latin typeface="+mj-lt"/>
            </a:endParaRPr>
          </a:p>
        </p:txBody>
      </p:sp>
      <p:sp>
        <p:nvSpPr>
          <p:cNvPr id="30" name="Rectangle: Single Corner Rounded 29">
            <a:extLst>
              <a:ext uri="{FF2B5EF4-FFF2-40B4-BE49-F238E27FC236}">
                <a16:creationId xmlns:a16="http://schemas.microsoft.com/office/drawing/2014/main" id="{75529546-CE43-38EE-EE20-E24635731A59}"/>
              </a:ext>
            </a:extLst>
          </p:cNvPr>
          <p:cNvSpPr/>
          <p:nvPr/>
        </p:nvSpPr>
        <p:spPr bwMode="auto">
          <a:xfrm flipH="1" flipV="1">
            <a:off x="3887664" y="4483704"/>
            <a:ext cx="3149721" cy="887382"/>
          </a:xfrm>
          <a:custGeom>
            <a:avLst/>
            <a:gdLst>
              <a:gd name="csX0" fmla="*/ 0 w 3149721"/>
              <a:gd name="csY0" fmla="*/ 0 h 887382"/>
              <a:gd name="csX1" fmla="*/ 3001821 w 3149721"/>
              <a:gd name="csY1" fmla="*/ 0 h 887382"/>
              <a:gd name="csX2" fmla="*/ 3149721 w 3149721"/>
              <a:gd name="csY2" fmla="*/ 147900 h 887382"/>
              <a:gd name="csX3" fmla="*/ 3149721 w 3149721"/>
              <a:gd name="csY3" fmla="*/ 887382 h 887382"/>
              <a:gd name="csX4" fmla="*/ 0 w 3149721"/>
              <a:gd name="csY4" fmla="*/ 887382 h 887382"/>
              <a:gd name="csX5" fmla="*/ 0 w 3149721"/>
              <a:gd name="csY5" fmla="*/ 0 h 887382"/>
              <a:gd name="csX0" fmla="*/ 0 w 3149721"/>
              <a:gd name="csY0" fmla="*/ 887382 h 978822"/>
              <a:gd name="csX1" fmla="*/ 0 w 3149721"/>
              <a:gd name="csY1" fmla="*/ 0 h 978822"/>
              <a:gd name="csX2" fmla="*/ 3001821 w 3149721"/>
              <a:gd name="csY2" fmla="*/ 0 h 978822"/>
              <a:gd name="csX3" fmla="*/ 3149721 w 3149721"/>
              <a:gd name="csY3" fmla="*/ 147900 h 978822"/>
              <a:gd name="csX4" fmla="*/ 3149721 w 3149721"/>
              <a:gd name="csY4" fmla="*/ 887382 h 978822"/>
              <a:gd name="csX5" fmla="*/ 91440 w 3149721"/>
              <a:gd name="csY5" fmla="*/ 978822 h 978822"/>
              <a:gd name="csX0" fmla="*/ 0 w 3149721"/>
              <a:gd name="csY0" fmla="*/ 0 h 978822"/>
              <a:gd name="csX1" fmla="*/ 3001821 w 3149721"/>
              <a:gd name="csY1" fmla="*/ 0 h 978822"/>
              <a:gd name="csX2" fmla="*/ 3149721 w 3149721"/>
              <a:gd name="csY2" fmla="*/ 147900 h 978822"/>
              <a:gd name="csX3" fmla="*/ 3149721 w 3149721"/>
              <a:gd name="csY3" fmla="*/ 887382 h 978822"/>
              <a:gd name="csX4" fmla="*/ 91440 w 3149721"/>
              <a:gd name="csY4" fmla="*/ 978822 h 978822"/>
              <a:gd name="csX0" fmla="*/ 0 w 3149721"/>
              <a:gd name="csY0" fmla="*/ 0 h 887382"/>
              <a:gd name="csX1" fmla="*/ 3001821 w 3149721"/>
              <a:gd name="csY1" fmla="*/ 0 h 887382"/>
              <a:gd name="csX2" fmla="*/ 3149721 w 3149721"/>
              <a:gd name="csY2" fmla="*/ 147900 h 887382"/>
              <a:gd name="csX3" fmla="*/ 3149721 w 3149721"/>
              <a:gd name="csY3" fmla="*/ 887382 h 887382"/>
            </a:gdLst>
            <a:ahLst/>
            <a:cxnLst>
              <a:cxn ang="0">
                <a:pos x="csX0" y="csY0"/>
              </a:cxn>
              <a:cxn ang="0">
                <a:pos x="csX1" y="csY1"/>
              </a:cxn>
              <a:cxn ang="0">
                <a:pos x="csX2" y="csY2"/>
              </a:cxn>
              <a:cxn ang="0">
                <a:pos x="csX3" y="csY3"/>
              </a:cxn>
            </a:cxnLst>
            <a:rect l="l" t="t" r="r" b="b"/>
            <a:pathLst>
              <a:path w="3149721" h="887382">
                <a:moveTo>
                  <a:pt x="0" y="0"/>
                </a:moveTo>
                <a:lnTo>
                  <a:pt x="3001821" y="0"/>
                </a:lnTo>
                <a:cubicBezTo>
                  <a:pt x="3083504" y="0"/>
                  <a:pt x="3149721" y="66217"/>
                  <a:pt x="3149721" y="147900"/>
                </a:cubicBezTo>
                <a:lnTo>
                  <a:pt x="3149721" y="887382"/>
                </a:lnTo>
              </a:path>
            </a:pathLst>
          </a:custGeom>
          <a:no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ln w="3175">
                <a:noFill/>
              </a:ln>
              <a:gradFill>
                <a:gsLst>
                  <a:gs pos="0">
                    <a:srgbClr val="0078D4"/>
                  </a:gs>
                  <a:gs pos="94000">
                    <a:srgbClr val="C73ECC"/>
                  </a:gs>
                </a:gsLst>
                <a:lin ang="0" scaled="1"/>
              </a:gradFill>
              <a:latin typeface="+mj-lt"/>
            </a:endParaRPr>
          </a:p>
        </p:txBody>
      </p:sp>
      <p:cxnSp>
        <p:nvCxnSpPr>
          <p:cNvPr id="33" name="Straight Connector 32">
            <a:extLst>
              <a:ext uri="{FF2B5EF4-FFF2-40B4-BE49-F238E27FC236}">
                <a16:creationId xmlns:a16="http://schemas.microsoft.com/office/drawing/2014/main" id="{EECABA66-9A57-6B0F-E30F-62B6B18B7CDB}"/>
              </a:ext>
            </a:extLst>
          </p:cNvPr>
          <p:cNvCxnSpPr>
            <a:stCxn id="22" idx="3"/>
            <a:endCxn id="19" idx="1"/>
          </p:cNvCxnSpPr>
          <p:nvPr/>
        </p:nvCxnSpPr>
        <p:spPr>
          <a:xfrm>
            <a:off x="9169642" y="2125874"/>
            <a:ext cx="152158" cy="0"/>
          </a:xfrm>
          <a:prstGeom prst="line">
            <a:avLst/>
          </a:prstGeom>
          <a:no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9769A474-8A5F-1B74-7A67-700BF580DCF0}"/>
              </a:ext>
            </a:extLst>
          </p:cNvPr>
          <p:cNvCxnSpPr>
            <a:stCxn id="19" idx="2"/>
            <a:endCxn id="12" idx="0"/>
          </p:cNvCxnSpPr>
          <p:nvPr/>
        </p:nvCxnSpPr>
        <p:spPr>
          <a:xfrm>
            <a:off x="10387928" y="2861098"/>
            <a:ext cx="0" cy="1774764"/>
          </a:xfrm>
          <a:prstGeom prst="line">
            <a:avLst/>
          </a:prstGeom>
          <a:no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92EEB3B2-0CB8-FF3D-5D1E-3B3A27E10933}"/>
              </a:ext>
            </a:extLst>
          </p:cNvPr>
          <p:cNvCxnSpPr>
            <a:cxnSpLocks/>
            <a:stCxn id="23" idx="3"/>
            <a:endCxn id="12" idx="1"/>
          </p:cNvCxnSpPr>
          <p:nvPr/>
        </p:nvCxnSpPr>
        <p:spPr>
          <a:xfrm>
            <a:off x="9169642" y="5371086"/>
            <a:ext cx="152158" cy="0"/>
          </a:xfrm>
          <a:prstGeom prst="line">
            <a:avLst/>
          </a:prstGeom>
          <a:no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cxnSp>
      <p:sp>
        <p:nvSpPr>
          <p:cNvPr id="19" name="Rectangle: Rounded Corners 18">
            <a:extLst>
              <a:ext uri="{FF2B5EF4-FFF2-40B4-BE49-F238E27FC236}">
                <a16:creationId xmlns:a16="http://schemas.microsoft.com/office/drawing/2014/main" id="{2C00F9C2-3DF4-4534-DA6F-6C314BFE66BA}"/>
              </a:ext>
            </a:extLst>
          </p:cNvPr>
          <p:cNvSpPr/>
          <p:nvPr/>
        </p:nvSpPr>
        <p:spPr bwMode="auto">
          <a:xfrm>
            <a:off x="9321800" y="1390650"/>
            <a:ext cx="2132255" cy="1470448"/>
          </a:xfrm>
          <a:prstGeom prst="roundRect">
            <a:avLst>
              <a:gd name="adj" fmla="val 9542"/>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lgn="ctr" defTabSz="932472" fontAlgn="base">
              <a:spcBef>
                <a:spcPts val="600"/>
              </a:spcBef>
              <a:spcAft>
                <a:spcPct val="0"/>
              </a:spcAft>
            </a:pPr>
            <a:r>
              <a:rPr lang="en-US">
                <a:ln w="3175">
                  <a:noFill/>
                </a:ln>
                <a:gradFill>
                  <a:gsLst>
                    <a:gs pos="0">
                      <a:srgbClr val="0078D4"/>
                    </a:gs>
                    <a:gs pos="94000">
                      <a:srgbClr val="C73ECC"/>
                    </a:gs>
                  </a:gsLst>
                  <a:lin ang="0" scaled="1"/>
                </a:gradFill>
                <a:latin typeface="+mj-lt"/>
              </a:rPr>
              <a:t>Explain</a:t>
            </a:r>
          </a:p>
          <a:p>
            <a:pPr algn="ctr" defTabSz="932472" fontAlgn="base">
              <a:spcBef>
                <a:spcPts val="600"/>
              </a:spcBef>
              <a:spcAft>
                <a:spcPct val="0"/>
              </a:spcAft>
            </a:pPr>
            <a:r>
              <a:rPr lang="en-US" sz="1400">
                <a:ln w="3175">
                  <a:noFill/>
                </a:ln>
                <a:solidFill>
                  <a:schemeClr val="tx1"/>
                </a:solidFill>
              </a:rPr>
              <a:t>Why it's changing,</a:t>
            </a:r>
            <a:br>
              <a:rPr lang="en-US" sz="1400">
                <a:ln w="3175">
                  <a:noFill/>
                </a:ln>
                <a:solidFill>
                  <a:schemeClr val="tx1"/>
                </a:solidFill>
              </a:rPr>
            </a:br>
            <a:r>
              <a:rPr lang="en-US" sz="1400">
                <a:ln w="3175">
                  <a:noFill/>
                </a:ln>
                <a:solidFill>
                  <a:schemeClr val="tx1"/>
                </a:solidFill>
              </a:rPr>
              <a:t>what it means</a:t>
            </a:r>
            <a:br>
              <a:rPr lang="en-US" sz="1400">
                <a:ln w="3175">
                  <a:noFill/>
                </a:ln>
                <a:solidFill>
                  <a:schemeClr val="tx1"/>
                </a:solidFill>
              </a:rPr>
            </a:br>
            <a:r>
              <a:rPr lang="en-US" sz="1400">
                <a:ln w="3175">
                  <a:noFill/>
                </a:ln>
                <a:solidFill>
                  <a:schemeClr val="tx1"/>
                </a:solidFill>
              </a:rPr>
              <a:t>for you</a:t>
            </a:r>
          </a:p>
        </p:txBody>
      </p:sp>
      <p:sp>
        <p:nvSpPr>
          <p:cNvPr id="15" name="Rectangle: Rounded Corners 14">
            <a:extLst>
              <a:ext uri="{FF2B5EF4-FFF2-40B4-BE49-F238E27FC236}">
                <a16:creationId xmlns:a16="http://schemas.microsoft.com/office/drawing/2014/main" id="{11CCC82C-1DD9-4AA0-779D-C91551646711}"/>
              </a:ext>
            </a:extLst>
          </p:cNvPr>
          <p:cNvSpPr/>
          <p:nvPr/>
        </p:nvSpPr>
        <p:spPr bwMode="auto">
          <a:xfrm>
            <a:off x="9321800" y="3013256"/>
            <a:ext cx="2132255" cy="1470448"/>
          </a:xfrm>
          <a:prstGeom prst="roundRect">
            <a:avLst>
              <a:gd name="adj" fmla="val 9542"/>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lgn="ctr" defTabSz="932472" fontAlgn="base">
              <a:spcBef>
                <a:spcPts val="600"/>
              </a:spcBef>
              <a:spcAft>
                <a:spcPct val="0"/>
              </a:spcAft>
            </a:pPr>
            <a:r>
              <a:rPr lang="en-US">
                <a:ln w="3175">
                  <a:noFill/>
                </a:ln>
                <a:gradFill>
                  <a:gsLst>
                    <a:gs pos="0">
                      <a:srgbClr val="0078D4"/>
                    </a:gs>
                    <a:gs pos="94000">
                      <a:srgbClr val="C73ECC"/>
                    </a:gs>
                  </a:gsLst>
                  <a:lin ang="0" scaled="1"/>
                </a:gradFill>
                <a:latin typeface="+mj-lt"/>
              </a:rPr>
              <a:t>Enable</a:t>
            </a:r>
          </a:p>
          <a:p>
            <a:pPr algn="ctr" defTabSz="932472" fontAlgn="base">
              <a:spcBef>
                <a:spcPts val="600"/>
              </a:spcBef>
              <a:spcAft>
                <a:spcPct val="0"/>
              </a:spcAft>
            </a:pPr>
            <a:r>
              <a:rPr lang="en-US" sz="1400">
                <a:ln w="3175">
                  <a:noFill/>
                </a:ln>
                <a:solidFill>
                  <a:schemeClr val="tx1"/>
                </a:solidFill>
              </a:rPr>
              <a:t>Training, guides,</a:t>
            </a:r>
            <a:br>
              <a:rPr lang="en-US" sz="1400">
                <a:ln w="3175">
                  <a:noFill/>
                </a:ln>
                <a:solidFill>
                  <a:schemeClr val="tx1"/>
                </a:solidFill>
              </a:rPr>
            </a:br>
            <a:r>
              <a:rPr lang="en-US" sz="1400">
                <a:ln w="3175">
                  <a:noFill/>
                </a:ln>
                <a:solidFill>
                  <a:schemeClr val="tx1"/>
                </a:solidFill>
              </a:rPr>
              <a:t>office hours,</a:t>
            </a:r>
            <a:br>
              <a:rPr lang="en-US" sz="1400">
                <a:ln w="3175">
                  <a:noFill/>
                </a:ln>
                <a:solidFill>
                  <a:schemeClr val="tx1"/>
                </a:solidFill>
              </a:rPr>
            </a:br>
            <a:r>
              <a:rPr lang="en-US" sz="1400">
                <a:ln w="3175">
                  <a:noFill/>
                </a:ln>
                <a:solidFill>
                  <a:schemeClr val="tx1"/>
                </a:solidFill>
              </a:rPr>
              <a:t>resources</a:t>
            </a:r>
          </a:p>
        </p:txBody>
      </p:sp>
      <p:sp>
        <p:nvSpPr>
          <p:cNvPr id="12" name="Rectangle: Rounded Corners 11">
            <a:extLst>
              <a:ext uri="{FF2B5EF4-FFF2-40B4-BE49-F238E27FC236}">
                <a16:creationId xmlns:a16="http://schemas.microsoft.com/office/drawing/2014/main" id="{4FB8C4E0-AE04-BA88-9ECD-538C7183AB34}"/>
              </a:ext>
            </a:extLst>
          </p:cNvPr>
          <p:cNvSpPr/>
          <p:nvPr/>
        </p:nvSpPr>
        <p:spPr bwMode="auto">
          <a:xfrm>
            <a:off x="9321800" y="4635862"/>
            <a:ext cx="2132255" cy="1470448"/>
          </a:xfrm>
          <a:prstGeom prst="roundRect">
            <a:avLst>
              <a:gd name="adj" fmla="val 9542"/>
            </a:avLst>
          </a:prstGeom>
          <a:solidFill>
            <a:schemeClr val="bg1"/>
          </a:solidFill>
          <a:ln w="6350">
            <a:noFill/>
            <a:headEnd type="none" w="med" len="med"/>
            <a:tailEnd type="none" w="med" len="med"/>
          </a:ln>
          <a:effectLst>
            <a:outerShdw blurRad="63500" algn="ctr" rotWithShape="0">
              <a:schemeClr val="tx2">
                <a:alpha val="5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lgn="ctr" defTabSz="932472" fontAlgn="base">
              <a:spcBef>
                <a:spcPts val="600"/>
              </a:spcBef>
              <a:spcAft>
                <a:spcPct val="0"/>
              </a:spcAft>
            </a:pPr>
            <a:r>
              <a:rPr lang="en-IN">
                <a:ln w="3175">
                  <a:noFill/>
                </a:ln>
                <a:gradFill>
                  <a:gsLst>
                    <a:gs pos="0">
                      <a:srgbClr val="0078D4"/>
                    </a:gs>
                    <a:gs pos="94000">
                      <a:srgbClr val="C73ECC"/>
                    </a:gs>
                  </a:gsLst>
                  <a:lin ang="0" scaled="1"/>
                </a:gradFill>
                <a:latin typeface="+mj-lt"/>
              </a:rPr>
              <a:t>Reinforce</a:t>
            </a:r>
          </a:p>
          <a:p>
            <a:pPr algn="ctr" defTabSz="932472" fontAlgn="base">
              <a:spcBef>
                <a:spcPts val="600"/>
              </a:spcBef>
              <a:spcAft>
                <a:spcPct val="0"/>
              </a:spcAft>
            </a:pPr>
            <a:r>
              <a:rPr lang="en-IN" sz="1400">
                <a:ln w="3175">
                  <a:noFill/>
                </a:ln>
                <a:solidFill>
                  <a:schemeClr val="tx1"/>
                </a:solidFill>
              </a:rPr>
              <a:t>Reminders, FAQs,</a:t>
            </a:r>
            <a:br>
              <a:rPr lang="en-IN" sz="1400">
                <a:ln w="3175">
                  <a:noFill/>
                </a:ln>
                <a:solidFill>
                  <a:schemeClr val="tx1"/>
                </a:solidFill>
              </a:rPr>
            </a:br>
            <a:r>
              <a:rPr lang="en-IN" sz="1400">
                <a:ln w="3175">
                  <a:noFill/>
                </a:ln>
                <a:solidFill>
                  <a:schemeClr val="tx1"/>
                </a:solidFill>
              </a:rPr>
              <a:t>success stories,</a:t>
            </a:r>
            <a:br>
              <a:rPr lang="en-IN" sz="1400">
                <a:ln w="3175">
                  <a:noFill/>
                </a:ln>
                <a:solidFill>
                  <a:schemeClr val="tx1"/>
                </a:solidFill>
              </a:rPr>
            </a:br>
            <a:r>
              <a:rPr lang="en-IN" sz="1400">
                <a:ln w="3175">
                  <a:noFill/>
                </a:ln>
                <a:solidFill>
                  <a:schemeClr val="tx1"/>
                </a:solidFill>
              </a:rPr>
              <a:t>recap comms</a:t>
            </a:r>
          </a:p>
        </p:txBody>
      </p:sp>
      <p:grpSp>
        <p:nvGrpSpPr>
          <p:cNvPr id="42" name="Group 41">
            <a:extLst>
              <a:ext uri="{FF2B5EF4-FFF2-40B4-BE49-F238E27FC236}">
                <a16:creationId xmlns:a16="http://schemas.microsoft.com/office/drawing/2014/main" id="{D22C605C-00EA-D31B-11CF-1BB8BA1F6267}"/>
              </a:ext>
            </a:extLst>
          </p:cNvPr>
          <p:cNvGrpSpPr/>
          <p:nvPr/>
        </p:nvGrpSpPr>
        <p:grpSpPr>
          <a:xfrm>
            <a:off x="5184059" y="1849067"/>
            <a:ext cx="556934" cy="553614"/>
            <a:chOff x="5830285" y="2608404"/>
            <a:chExt cx="534604" cy="531418"/>
          </a:xfrm>
        </p:grpSpPr>
        <p:sp>
          <p:nvSpPr>
            <p:cNvPr id="43" name="Oval 42">
              <a:extLst>
                <a:ext uri="{FF2B5EF4-FFF2-40B4-BE49-F238E27FC236}">
                  <a16:creationId xmlns:a16="http://schemas.microsoft.com/office/drawing/2014/main" id="{54EDA18B-0553-0A18-1BE0-BB25684342C4}"/>
                </a:ext>
              </a:extLst>
            </p:cNvPr>
            <p:cNvSpPr>
              <a:spLocks/>
            </p:cNvSpPr>
            <p:nvPr/>
          </p:nvSpPr>
          <p:spPr>
            <a:xfrm>
              <a:off x="5830285" y="2608404"/>
              <a:ext cx="534604" cy="531418"/>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gradFill flip="none" rotWithShape="1">
                  <a:gsLst>
                    <a:gs pos="100000">
                      <a:srgbClr val="D661FD"/>
                    </a:gs>
                    <a:gs pos="0">
                      <a:srgbClr val="01A3FD"/>
                    </a:gs>
                  </a:gsLst>
                  <a:lin ang="2700000" scaled="1"/>
                  <a:tileRect/>
                </a:gradFill>
                <a:latin typeface="+mj-lt"/>
              </a:endParaRPr>
            </a:p>
          </p:txBody>
        </p:sp>
        <p:sp>
          <p:nvSpPr>
            <p:cNvPr id="44" name="Graphic 4" descr="Icon of a right arrow head">
              <a:extLst>
                <a:ext uri="{FF2B5EF4-FFF2-40B4-BE49-F238E27FC236}">
                  <a16:creationId xmlns:a16="http://schemas.microsoft.com/office/drawing/2014/main" id="{8F3A39E3-346C-6D53-9BD0-482F9BDF54D7}"/>
                </a:ext>
              </a:extLst>
            </p:cNvPr>
            <p:cNvSpPr/>
            <p:nvPr/>
          </p:nvSpPr>
          <p:spPr>
            <a:xfrm>
              <a:off x="6043050" y="2743368"/>
              <a:ext cx="147174" cy="261489"/>
            </a:xfrm>
            <a:custGeom>
              <a:avLst/>
              <a:gdLst>
                <a:gd name="connsiteX0" fmla="*/ 4986 w 147174"/>
                <a:gd name="connsiteY0" fmla="*/ 4781 h 261489"/>
                <a:gd name="connsiteX1" fmla="*/ 4986 w 147174"/>
                <a:gd name="connsiteY1" fmla="*/ 27873 h 261489"/>
                <a:gd name="connsiteX2" fmla="*/ 107755 w 147174"/>
                <a:gd name="connsiteY2" fmla="*/ 130642 h 261489"/>
                <a:gd name="connsiteX3" fmla="*/ 4986 w 147174"/>
                <a:gd name="connsiteY3" fmla="*/ 233412 h 261489"/>
                <a:gd name="connsiteX4" fmla="*/ 4584 w 147174"/>
                <a:gd name="connsiteY4" fmla="*/ 256504 h 261489"/>
                <a:gd name="connsiteX5" fmla="*/ 27676 w 147174"/>
                <a:gd name="connsiteY5" fmla="*/ 256905 h 261489"/>
                <a:gd name="connsiteX6" fmla="*/ 28077 w 147174"/>
                <a:gd name="connsiteY6" fmla="*/ 256504 h 261489"/>
                <a:gd name="connsiteX7" fmla="*/ 142393 w 147174"/>
                <a:gd name="connsiteY7" fmla="*/ 142188 h 261489"/>
                <a:gd name="connsiteX8" fmla="*/ 142393 w 147174"/>
                <a:gd name="connsiteY8" fmla="*/ 119097 h 261489"/>
                <a:gd name="connsiteX9" fmla="*/ 28077 w 147174"/>
                <a:gd name="connsiteY9" fmla="*/ 4781 h 261489"/>
                <a:gd name="connsiteX10" fmla="*/ 4986 w 147174"/>
                <a:gd name="connsiteY10" fmla="*/ 4781 h 26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174" h="261489">
                  <a:moveTo>
                    <a:pt x="4986" y="4781"/>
                  </a:moveTo>
                  <a:cubicBezTo>
                    <a:pt x="-1390" y="11159"/>
                    <a:pt x="-1390" y="21496"/>
                    <a:pt x="4986" y="27873"/>
                  </a:cubicBezTo>
                  <a:lnTo>
                    <a:pt x="107755" y="130642"/>
                  </a:lnTo>
                  <a:lnTo>
                    <a:pt x="4986" y="233412"/>
                  </a:lnTo>
                  <a:cubicBezTo>
                    <a:pt x="-1502" y="239678"/>
                    <a:pt x="-1681" y="250015"/>
                    <a:pt x="4584" y="256504"/>
                  </a:cubicBezTo>
                  <a:cubicBezTo>
                    <a:pt x="10850" y="262990"/>
                    <a:pt x="21188" y="263171"/>
                    <a:pt x="27676" y="256905"/>
                  </a:cubicBezTo>
                  <a:cubicBezTo>
                    <a:pt x="27812" y="256773"/>
                    <a:pt x="27946" y="256639"/>
                    <a:pt x="28077" y="256504"/>
                  </a:cubicBezTo>
                  <a:lnTo>
                    <a:pt x="142393" y="142188"/>
                  </a:lnTo>
                  <a:cubicBezTo>
                    <a:pt x="148768" y="135811"/>
                    <a:pt x="148768" y="125474"/>
                    <a:pt x="142393" y="119097"/>
                  </a:cubicBezTo>
                  <a:lnTo>
                    <a:pt x="28077" y="4781"/>
                  </a:lnTo>
                  <a:cubicBezTo>
                    <a:pt x="21700" y="-1594"/>
                    <a:pt x="11363" y="-1594"/>
                    <a:pt x="4986" y="4781"/>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SzPct val="90000"/>
              </a:pPr>
              <a:endParaRPr lang="en-US">
                <a:solidFill>
                  <a:schemeClr val="bg1"/>
                </a:solidFill>
                <a:latin typeface="+mj-lt"/>
                <a:ea typeface="+mj-ea"/>
                <a:cs typeface="+mj-cs"/>
              </a:endParaRPr>
            </a:p>
          </p:txBody>
        </p:sp>
      </p:grpSp>
      <p:grpSp>
        <p:nvGrpSpPr>
          <p:cNvPr id="46" name="Group 45">
            <a:extLst>
              <a:ext uri="{FF2B5EF4-FFF2-40B4-BE49-F238E27FC236}">
                <a16:creationId xmlns:a16="http://schemas.microsoft.com/office/drawing/2014/main" id="{F02D99B5-3EC6-C3F6-06FE-8BF687ED31B1}"/>
              </a:ext>
            </a:extLst>
          </p:cNvPr>
          <p:cNvGrpSpPr/>
          <p:nvPr/>
        </p:nvGrpSpPr>
        <p:grpSpPr>
          <a:xfrm flipH="1">
            <a:off x="5184059" y="5094279"/>
            <a:ext cx="556934" cy="553614"/>
            <a:chOff x="5830285" y="2608404"/>
            <a:chExt cx="534604" cy="531418"/>
          </a:xfrm>
        </p:grpSpPr>
        <p:sp>
          <p:nvSpPr>
            <p:cNvPr id="47" name="Oval 46">
              <a:extLst>
                <a:ext uri="{FF2B5EF4-FFF2-40B4-BE49-F238E27FC236}">
                  <a16:creationId xmlns:a16="http://schemas.microsoft.com/office/drawing/2014/main" id="{2C881706-B9F4-FBF0-BE14-B9D47F224E5C}"/>
                </a:ext>
              </a:extLst>
            </p:cNvPr>
            <p:cNvSpPr>
              <a:spLocks/>
            </p:cNvSpPr>
            <p:nvPr/>
          </p:nvSpPr>
          <p:spPr>
            <a:xfrm>
              <a:off x="5830285" y="2608404"/>
              <a:ext cx="534604" cy="531418"/>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b="1">
                <a:gradFill flip="none" rotWithShape="1">
                  <a:gsLst>
                    <a:gs pos="100000">
                      <a:srgbClr val="D661FD"/>
                    </a:gs>
                    <a:gs pos="0">
                      <a:srgbClr val="01A3FD"/>
                    </a:gs>
                  </a:gsLst>
                  <a:lin ang="2700000" scaled="1"/>
                  <a:tileRect/>
                </a:gradFill>
                <a:latin typeface="+mj-lt"/>
              </a:endParaRPr>
            </a:p>
          </p:txBody>
        </p:sp>
        <p:sp>
          <p:nvSpPr>
            <p:cNvPr id="48" name="Graphic 4" descr="Icon of a right arrow head">
              <a:extLst>
                <a:ext uri="{FF2B5EF4-FFF2-40B4-BE49-F238E27FC236}">
                  <a16:creationId xmlns:a16="http://schemas.microsoft.com/office/drawing/2014/main" id="{CD946E44-72D3-AF72-6FD2-05F29BE1C646}"/>
                </a:ext>
              </a:extLst>
            </p:cNvPr>
            <p:cNvSpPr/>
            <p:nvPr/>
          </p:nvSpPr>
          <p:spPr>
            <a:xfrm>
              <a:off x="6043050" y="2743368"/>
              <a:ext cx="147174" cy="261489"/>
            </a:xfrm>
            <a:custGeom>
              <a:avLst/>
              <a:gdLst>
                <a:gd name="connsiteX0" fmla="*/ 4986 w 147174"/>
                <a:gd name="connsiteY0" fmla="*/ 4781 h 261489"/>
                <a:gd name="connsiteX1" fmla="*/ 4986 w 147174"/>
                <a:gd name="connsiteY1" fmla="*/ 27873 h 261489"/>
                <a:gd name="connsiteX2" fmla="*/ 107755 w 147174"/>
                <a:gd name="connsiteY2" fmla="*/ 130642 h 261489"/>
                <a:gd name="connsiteX3" fmla="*/ 4986 w 147174"/>
                <a:gd name="connsiteY3" fmla="*/ 233412 h 261489"/>
                <a:gd name="connsiteX4" fmla="*/ 4584 w 147174"/>
                <a:gd name="connsiteY4" fmla="*/ 256504 h 261489"/>
                <a:gd name="connsiteX5" fmla="*/ 27676 w 147174"/>
                <a:gd name="connsiteY5" fmla="*/ 256905 h 261489"/>
                <a:gd name="connsiteX6" fmla="*/ 28077 w 147174"/>
                <a:gd name="connsiteY6" fmla="*/ 256504 h 261489"/>
                <a:gd name="connsiteX7" fmla="*/ 142393 w 147174"/>
                <a:gd name="connsiteY7" fmla="*/ 142188 h 261489"/>
                <a:gd name="connsiteX8" fmla="*/ 142393 w 147174"/>
                <a:gd name="connsiteY8" fmla="*/ 119097 h 261489"/>
                <a:gd name="connsiteX9" fmla="*/ 28077 w 147174"/>
                <a:gd name="connsiteY9" fmla="*/ 4781 h 261489"/>
                <a:gd name="connsiteX10" fmla="*/ 4986 w 147174"/>
                <a:gd name="connsiteY10" fmla="*/ 4781 h 26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174" h="261489">
                  <a:moveTo>
                    <a:pt x="4986" y="4781"/>
                  </a:moveTo>
                  <a:cubicBezTo>
                    <a:pt x="-1390" y="11159"/>
                    <a:pt x="-1390" y="21496"/>
                    <a:pt x="4986" y="27873"/>
                  </a:cubicBezTo>
                  <a:lnTo>
                    <a:pt x="107755" y="130642"/>
                  </a:lnTo>
                  <a:lnTo>
                    <a:pt x="4986" y="233412"/>
                  </a:lnTo>
                  <a:cubicBezTo>
                    <a:pt x="-1502" y="239678"/>
                    <a:pt x="-1681" y="250015"/>
                    <a:pt x="4584" y="256504"/>
                  </a:cubicBezTo>
                  <a:cubicBezTo>
                    <a:pt x="10850" y="262990"/>
                    <a:pt x="21188" y="263171"/>
                    <a:pt x="27676" y="256905"/>
                  </a:cubicBezTo>
                  <a:cubicBezTo>
                    <a:pt x="27812" y="256773"/>
                    <a:pt x="27946" y="256639"/>
                    <a:pt x="28077" y="256504"/>
                  </a:cubicBezTo>
                  <a:lnTo>
                    <a:pt x="142393" y="142188"/>
                  </a:lnTo>
                  <a:cubicBezTo>
                    <a:pt x="148768" y="135811"/>
                    <a:pt x="148768" y="125474"/>
                    <a:pt x="142393" y="119097"/>
                  </a:cubicBezTo>
                  <a:lnTo>
                    <a:pt x="28077" y="4781"/>
                  </a:lnTo>
                  <a:cubicBezTo>
                    <a:pt x="21700" y="-1594"/>
                    <a:pt x="11363" y="-1594"/>
                    <a:pt x="4986" y="4781"/>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SzPct val="90000"/>
              </a:pPr>
              <a:endParaRPr lang="en-US">
                <a:solidFill>
                  <a:schemeClr val="bg1"/>
                </a:solidFill>
                <a:latin typeface="+mj-lt"/>
                <a:ea typeface="+mj-ea"/>
                <a:cs typeface="+mj-cs"/>
              </a:endParaRPr>
            </a:p>
          </p:txBody>
        </p:sp>
      </p:grpSp>
    </p:spTree>
    <p:extLst>
      <p:ext uri="{BB962C8B-B14F-4D97-AF65-F5344CB8AC3E}">
        <p14:creationId xmlns:p14="http://schemas.microsoft.com/office/powerpoint/2010/main" val="1488690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0B498-B942-CD9A-7890-203C122CE3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99DE4-FD86-0B27-35CE-66ECCB97A1A7}"/>
              </a:ext>
            </a:extLst>
          </p:cNvPr>
          <p:cNvSpPr>
            <a:spLocks noGrp="1"/>
          </p:cNvSpPr>
          <p:nvPr>
            <p:ph type="title"/>
          </p:nvPr>
        </p:nvSpPr>
        <p:spPr>
          <a:xfrm>
            <a:off x="588264" y="3152001"/>
            <a:ext cx="6117336" cy="553998"/>
          </a:xfrm>
        </p:spPr>
        <p:txBody>
          <a:bodyPr wrap="square">
            <a:spAutoFit/>
          </a:bodyPr>
          <a:lstStyle/>
          <a:p>
            <a:r>
              <a:rPr lang="en-US" b="1" dirty="0">
                <a:gradFill>
                  <a:gsLst>
                    <a:gs pos="0">
                      <a:srgbClr val="B63EC5"/>
                    </a:gs>
                    <a:gs pos="100000">
                      <a:srgbClr val="0070C0"/>
                    </a:gs>
                  </a:gsLst>
                  <a:path path="circle">
                    <a:fillToRect l="100000" t="100000"/>
                  </a:path>
                </a:gradFill>
                <a:latin typeface="Segoe Sans Display Semibold" pitchFamily="2" charset="0"/>
              </a:rPr>
              <a:t>Skilling</a:t>
            </a:r>
          </a:p>
        </p:txBody>
      </p:sp>
      <p:pic>
        <p:nvPicPr>
          <p:cNvPr id="3" name="Picture 2">
            <a:extLst>
              <a:ext uri="{FF2B5EF4-FFF2-40B4-BE49-F238E27FC236}">
                <a16:creationId xmlns:a16="http://schemas.microsoft.com/office/drawing/2014/main" id="{55E2C7BA-F589-C6EA-FD28-8DB65CC671D3}"/>
              </a:ext>
              <a:ext uri="{C183D7F6-B498-43B3-948B-1728B52AA6E4}">
                <adec:decorative xmlns:adec="http://schemas.microsoft.com/office/drawing/2017/decorative" val="1"/>
              </a:ext>
            </a:extLst>
          </p:cNvPr>
          <p:cNvPicPr>
            <a:picLocks noChangeAspect="1"/>
          </p:cNvPicPr>
          <p:nvPr/>
        </p:nvPicPr>
        <p:blipFill>
          <a:blip r:embed="rId3" cstate="screen">
            <a:alphaModFix/>
            <a:extLst>
              <a:ext uri="{28A0092B-C50C-407E-A947-70E740481C1C}">
                <a14:useLocalDpi xmlns:a14="http://schemas.microsoft.com/office/drawing/2010/main"/>
              </a:ext>
            </a:extLst>
          </a:blip>
          <a:srcRect/>
          <a:stretch/>
        </p:blipFill>
        <p:spPr>
          <a:xfrm>
            <a:off x="8086702" y="2"/>
            <a:ext cx="4102718" cy="6858001"/>
          </a:xfrm>
          <a:prstGeom prst="rect">
            <a:avLst/>
          </a:prstGeom>
        </p:spPr>
      </p:pic>
    </p:spTree>
    <p:extLst>
      <p:ext uri="{BB962C8B-B14F-4D97-AF65-F5344CB8AC3E}">
        <p14:creationId xmlns:p14="http://schemas.microsoft.com/office/powerpoint/2010/main" val="248980510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1851C-FB75-8E96-667C-686B87D6A9D2}"/>
            </a:ext>
          </a:extLst>
        </p:cNvPr>
        <p:cNvGrpSpPr/>
        <p:nvPr/>
      </p:nvGrpSpPr>
      <p:grpSpPr>
        <a:xfrm>
          <a:off x="0" y="0"/>
          <a:ext cx="0" cy="0"/>
          <a:chOff x="0" y="0"/>
          <a:chExt cx="0" cy="0"/>
        </a:xfrm>
      </p:grpSpPr>
      <p:pic>
        <p:nvPicPr>
          <p:cNvPr id="2" name="Picture 1" descr="A blurry image of a purple object&#10;&#10;AI-generated content may be incorrect.">
            <a:extLst>
              <a:ext uri="{FF2B5EF4-FFF2-40B4-BE49-F238E27FC236}">
                <a16:creationId xmlns:a16="http://schemas.microsoft.com/office/drawing/2014/main" id="{C7599F4E-AE4D-E6E1-0A40-5BDE27CE21EB}"/>
              </a:ext>
            </a:extLst>
          </p:cNvPr>
          <p:cNvPicPr>
            <a:picLocks noChangeAspect="1"/>
          </p:cNvPicPr>
          <p:nvPr/>
        </p:nvPicPr>
        <p:blipFill>
          <a:blip r:embed="rId3">
            <a:alphaModFix amt="48000"/>
          </a:blip>
          <a:srcRect l="25924"/>
          <a:stretch>
            <a:fillRect/>
          </a:stretch>
        </p:blipFill>
        <p:spPr>
          <a:xfrm flipV="1">
            <a:off x="0" y="0"/>
            <a:ext cx="12192000" cy="6858000"/>
          </a:xfrm>
          <a:prstGeom prst="rect">
            <a:avLst/>
          </a:prstGeom>
        </p:spPr>
      </p:pic>
      <p:sp>
        <p:nvSpPr>
          <p:cNvPr id="3" name="Rectangle: Top Corners Rounded 2">
            <a:extLst>
              <a:ext uri="{FF2B5EF4-FFF2-40B4-BE49-F238E27FC236}">
                <a16:creationId xmlns:a16="http://schemas.microsoft.com/office/drawing/2014/main" id="{038B80F9-BDF0-82FB-CA5A-E439B443F93C}"/>
              </a:ext>
            </a:extLst>
          </p:cNvPr>
          <p:cNvSpPr/>
          <p:nvPr/>
        </p:nvSpPr>
        <p:spPr bwMode="auto">
          <a:xfrm>
            <a:off x="304800" y="585788"/>
            <a:ext cx="3684270" cy="6272212"/>
          </a:xfrm>
          <a:prstGeom prst="round2SameRect">
            <a:avLst>
              <a:gd name="adj1" fmla="val 6973"/>
              <a:gd name="adj2" fmla="val 0"/>
            </a:avLst>
          </a:prstGeom>
          <a:solidFill>
            <a:schemeClr val="bg1">
              <a:alpha val="7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sp>
        <p:nvSpPr>
          <p:cNvPr id="4" name="Title 4">
            <a:extLst>
              <a:ext uri="{FF2B5EF4-FFF2-40B4-BE49-F238E27FC236}">
                <a16:creationId xmlns:a16="http://schemas.microsoft.com/office/drawing/2014/main" id="{0BD389BC-6D50-63C2-E547-327C0326721B}"/>
              </a:ext>
            </a:extLst>
          </p:cNvPr>
          <p:cNvSpPr txBox="1">
            <a:spLocks/>
          </p:cNvSpPr>
          <p:nvPr/>
        </p:nvSpPr>
        <p:spPr>
          <a:xfrm>
            <a:off x="588963" y="783770"/>
            <a:ext cx="2911928" cy="2308324"/>
          </a:xfrm>
          <a:prstGeom prst="rect">
            <a:avLst/>
          </a:prstGeom>
        </p:spPr>
        <p:txBody>
          <a:bodyPr lIns="0" tIns="0" rIns="0" bIns="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endParaRPr lang="en-US"/>
          </a:p>
        </p:txBody>
      </p:sp>
      <p:sp>
        <p:nvSpPr>
          <p:cNvPr id="15" name="Title 14">
            <a:extLst>
              <a:ext uri="{FF2B5EF4-FFF2-40B4-BE49-F238E27FC236}">
                <a16:creationId xmlns:a16="http://schemas.microsoft.com/office/drawing/2014/main" id="{4285B52E-E203-4A57-3203-A41854B0DDA5}"/>
              </a:ext>
            </a:extLst>
          </p:cNvPr>
          <p:cNvSpPr>
            <a:spLocks noGrp="1"/>
          </p:cNvSpPr>
          <p:nvPr>
            <p:ph type="title"/>
          </p:nvPr>
        </p:nvSpPr>
        <p:spPr>
          <a:xfrm>
            <a:off x="586502" y="2875002"/>
            <a:ext cx="3120866" cy="1107996"/>
          </a:xfrm>
        </p:spPr>
        <p:txBody>
          <a:bodyPr wrap="square">
            <a:spAutoFit/>
          </a:bodyPr>
          <a:lstStyle/>
          <a:p>
            <a:r>
              <a:rPr lang="en-US" dirty="0"/>
              <a:t>Skilling is </a:t>
            </a:r>
            <a:br>
              <a:rPr lang="en-US" dirty="0"/>
            </a:br>
            <a:r>
              <a:rPr lang="en-US" dirty="0"/>
              <a:t>role-based</a:t>
            </a:r>
          </a:p>
        </p:txBody>
      </p:sp>
      <p:sp>
        <p:nvSpPr>
          <p:cNvPr id="22" name="Rectangle: Rounded Corners 21">
            <a:extLst>
              <a:ext uri="{FF2B5EF4-FFF2-40B4-BE49-F238E27FC236}">
                <a16:creationId xmlns:a16="http://schemas.microsoft.com/office/drawing/2014/main" id="{44FA0D2A-1E77-6EC2-BC98-3D6F2159ED37}"/>
              </a:ext>
              <a:ext uri="{C183D7F6-B498-43B3-948B-1728B52AA6E4}">
                <adec:decorative xmlns:adec="http://schemas.microsoft.com/office/drawing/2017/decorative" val="1"/>
              </a:ext>
            </a:extLst>
          </p:cNvPr>
          <p:cNvSpPr>
            <a:spLocks/>
          </p:cNvSpPr>
          <p:nvPr/>
        </p:nvSpPr>
        <p:spPr bwMode="auto">
          <a:xfrm>
            <a:off x="4165600" y="585788"/>
            <a:ext cx="8026400" cy="1379320"/>
          </a:xfrm>
          <a:prstGeom prst="roundRect">
            <a:avLst>
              <a:gd name="adj" fmla="val 13914"/>
            </a:avLst>
          </a:prstGeom>
          <a:gradFill flip="none" rotWithShape="1">
            <a:gsLst>
              <a:gs pos="0">
                <a:schemeClr val="bg1"/>
              </a:gs>
              <a:gs pos="100000">
                <a:schemeClr val="bg1">
                  <a:alpha val="0"/>
                </a:schemeClr>
              </a:gs>
            </a:gsLst>
            <a:lin ang="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05840" tIns="146304" rIns="457200" bIns="146304" numCol="1" spcCol="0" rtlCol="0" fromWordArt="0" anchor="ctr" anchorCtr="0" forceAA="0" compatLnSpc="1">
            <a:prstTxWarp prst="textNoShape">
              <a:avLst/>
            </a:prstTxWarp>
            <a:noAutofit/>
          </a:bodyPr>
          <a:lstStyle/>
          <a:p>
            <a:pPr>
              <a:spcAft>
                <a:spcPts val="600"/>
              </a:spcAft>
              <a:defRPr/>
            </a:pPr>
            <a:r>
              <a:rPr lang="en-US" sz="1600">
                <a:ln w="3175">
                  <a:noFill/>
                </a:ln>
                <a:gradFill>
                  <a:gsLst>
                    <a:gs pos="0">
                      <a:srgbClr val="0078D4"/>
                    </a:gs>
                    <a:gs pos="94000">
                      <a:srgbClr val="C73ECC"/>
                    </a:gs>
                  </a:gsLst>
                  <a:lin ang="0" scaled="1"/>
                </a:gradFill>
                <a:latin typeface="+mj-lt"/>
              </a:rPr>
              <a:t>IT Admins / Platform Operators</a:t>
            </a:r>
          </a:p>
          <a:p>
            <a:pPr>
              <a:spcAft>
                <a:spcPts val="600"/>
              </a:spcAft>
              <a:defRPr/>
            </a:pPr>
            <a:r>
              <a:rPr lang="en-US" sz="1400">
                <a:solidFill>
                  <a:schemeClr val="tx1"/>
                </a:solidFill>
              </a:rPr>
              <a:t>Manage tenant and environment governance, environment strategy, routing, environment groups/rules, connector governance, monitoring, and lifecycle controls.</a:t>
            </a:r>
          </a:p>
        </p:txBody>
      </p:sp>
      <p:sp>
        <p:nvSpPr>
          <p:cNvPr id="23" name="Rectangle: Rounded Corners 22">
            <a:extLst>
              <a:ext uri="{FF2B5EF4-FFF2-40B4-BE49-F238E27FC236}">
                <a16:creationId xmlns:a16="http://schemas.microsoft.com/office/drawing/2014/main" id="{6D772DFE-659C-7C0B-9FFF-4328B17B7003}"/>
              </a:ext>
              <a:ext uri="{C183D7F6-B498-43B3-948B-1728B52AA6E4}">
                <adec:decorative xmlns:adec="http://schemas.microsoft.com/office/drawing/2017/decorative" val="1"/>
              </a:ext>
            </a:extLst>
          </p:cNvPr>
          <p:cNvSpPr>
            <a:spLocks/>
          </p:cNvSpPr>
          <p:nvPr/>
        </p:nvSpPr>
        <p:spPr bwMode="auto">
          <a:xfrm>
            <a:off x="4165600" y="2136319"/>
            <a:ext cx="8026400" cy="1379320"/>
          </a:xfrm>
          <a:prstGeom prst="roundRect">
            <a:avLst>
              <a:gd name="adj" fmla="val 13914"/>
            </a:avLst>
          </a:prstGeom>
          <a:gradFill flip="none" rotWithShape="1">
            <a:gsLst>
              <a:gs pos="0">
                <a:schemeClr val="bg1"/>
              </a:gs>
              <a:gs pos="100000">
                <a:schemeClr val="bg1">
                  <a:alpha val="0"/>
                </a:schemeClr>
              </a:gs>
            </a:gsLst>
            <a:lin ang="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05840" tIns="146304" rIns="457200" bIns="146304" numCol="1" spcCol="0" rtlCol="0" fromWordArt="0" anchor="ctr" anchorCtr="0" forceAA="0" compatLnSpc="1">
            <a:prstTxWarp prst="textNoShape">
              <a:avLst/>
            </a:prstTxWarp>
            <a:noAutofit/>
          </a:bodyPr>
          <a:lstStyle/>
          <a:p>
            <a:pPr>
              <a:spcAft>
                <a:spcPts val="600"/>
              </a:spcAft>
              <a:defRPr/>
            </a:pPr>
            <a:r>
              <a:rPr lang="en-US" sz="1600">
                <a:ln w="3175">
                  <a:noFill/>
                </a:ln>
                <a:gradFill>
                  <a:gsLst>
                    <a:gs pos="0">
                      <a:srgbClr val="0078D4"/>
                    </a:gs>
                    <a:gs pos="94000">
                      <a:srgbClr val="C73ECC"/>
                    </a:gs>
                  </a:gsLst>
                  <a:lin ang="0" scaled="1"/>
                </a:gradFill>
                <a:latin typeface="+mj-lt"/>
              </a:rPr>
              <a:t>Advanced Makers / Solution Owners</a:t>
            </a:r>
          </a:p>
          <a:p>
            <a:pPr>
              <a:spcAft>
                <a:spcPts val="600"/>
              </a:spcAft>
              <a:defRPr/>
            </a:pPr>
            <a:r>
              <a:rPr lang="en-US" sz="1400">
                <a:solidFill>
                  <a:schemeClr val="tx1"/>
                </a:solidFill>
              </a:rPr>
              <a:t>Move solutions across environments and need lightweight ALM discipline, solutions, pipelines, validation, matched to business risk. Zone 2 &amp; 3 focus.</a:t>
            </a:r>
          </a:p>
        </p:txBody>
      </p:sp>
      <p:sp>
        <p:nvSpPr>
          <p:cNvPr id="24" name="Rectangle: Rounded Corners 23">
            <a:extLst>
              <a:ext uri="{FF2B5EF4-FFF2-40B4-BE49-F238E27FC236}">
                <a16:creationId xmlns:a16="http://schemas.microsoft.com/office/drawing/2014/main" id="{644B76D9-44D6-3DDD-C601-28D618E62C80}"/>
              </a:ext>
              <a:ext uri="{C183D7F6-B498-43B3-948B-1728B52AA6E4}">
                <adec:decorative xmlns:adec="http://schemas.microsoft.com/office/drawing/2017/decorative" val="1"/>
              </a:ext>
            </a:extLst>
          </p:cNvPr>
          <p:cNvSpPr>
            <a:spLocks/>
          </p:cNvSpPr>
          <p:nvPr/>
        </p:nvSpPr>
        <p:spPr bwMode="auto">
          <a:xfrm>
            <a:off x="4165600" y="3686849"/>
            <a:ext cx="8026400" cy="1379320"/>
          </a:xfrm>
          <a:prstGeom prst="roundRect">
            <a:avLst>
              <a:gd name="adj" fmla="val 13914"/>
            </a:avLst>
          </a:prstGeom>
          <a:gradFill flip="none" rotWithShape="1">
            <a:gsLst>
              <a:gs pos="0">
                <a:schemeClr val="bg1"/>
              </a:gs>
              <a:gs pos="100000">
                <a:schemeClr val="bg1">
                  <a:alpha val="0"/>
                </a:schemeClr>
              </a:gs>
            </a:gsLst>
            <a:lin ang="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05840" tIns="146304" rIns="457200" bIns="146304" numCol="1" spcCol="0" rtlCol="0" fromWordArt="0" anchor="ctr" anchorCtr="0" forceAA="0" compatLnSpc="1">
            <a:prstTxWarp prst="textNoShape">
              <a:avLst/>
            </a:prstTxWarp>
            <a:noAutofit/>
          </a:bodyPr>
          <a:lstStyle/>
          <a:p>
            <a:pPr>
              <a:spcAft>
                <a:spcPts val="600"/>
              </a:spcAft>
              <a:defRPr/>
            </a:pPr>
            <a:r>
              <a:rPr lang="en-US" sz="1600">
                <a:ln w="3175">
                  <a:noFill/>
                </a:ln>
                <a:gradFill>
                  <a:gsLst>
                    <a:gs pos="0">
                      <a:srgbClr val="0078D4"/>
                    </a:gs>
                    <a:gs pos="94000">
                      <a:srgbClr val="C73ECC"/>
                    </a:gs>
                  </a:gsLst>
                  <a:lin ang="0" scaled="1"/>
                </a:gradFill>
                <a:latin typeface="+mj-lt"/>
              </a:rPr>
              <a:t>Makers (New &amp; Occasional)</a:t>
            </a:r>
          </a:p>
          <a:p>
            <a:pPr>
              <a:spcAft>
                <a:spcPts val="600"/>
              </a:spcAft>
              <a:defRPr/>
            </a:pPr>
            <a:r>
              <a:rPr lang="en-US" sz="1400">
                <a:solidFill>
                  <a:schemeClr val="tx1"/>
                </a:solidFill>
              </a:rPr>
              <a:t>Need safe defaults, clear guardrails, and quick-start guidance so they don’t accidentally create sprawl or fragile solutions. Zone 1 focus: safe personal productivity.</a:t>
            </a:r>
          </a:p>
        </p:txBody>
      </p:sp>
      <p:sp>
        <p:nvSpPr>
          <p:cNvPr id="25" name="Rectangle: Rounded Corners 24">
            <a:extLst>
              <a:ext uri="{FF2B5EF4-FFF2-40B4-BE49-F238E27FC236}">
                <a16:creationId xmlns:a16="http://schemas.microsoft.com/office/drawing/2014/main" id="{73F63F79-A45A-69DD-9642-D971C80C8600}"/>
              </a:ext>
              <a:ext uri="{C183D7F6-B498-43B3-948B-1728B52AA6E4}">
                <adec:decorative xmlns:adec="http://schemas.microsoft.com/office/drawing/2017/decorative" val="1"/>
              </a:ext>
            </a:extLst>
          </p:cNvPr>
          <p:cNvSpPr>
            <a:spLocks/>
          </p:cNvSpPr>
          <p:nvPr/>
        </p:nvSpPr>
        <p:spPr bwMode="auto">
          <a:xfrm>
            <a:off x="4165600" y="5237380"/>
            <a:ext cx="8026400" cy="1379320"/>
          </a:xfrm>
          <a:prstGeom prst="roundRect">
            <a:avLst>
              <a:gd name="adj" fmla="val 13914"/>
            </a:avLst>
          </a:prstGeom>
          <a:gradFill flip="none" rotWithShape="1">
            <a:gsLst>
              <a:gs pos="0">
                <a:schemeClr val="bg1"/>
              </a:gs>
              <a:gs pos="100000">
                <a:schemeClr val="bg1">
                  <a:alpha val="0"/>
                </a:schemeClr>
              </a:gs>
            </a:gsLst>
            <a:lin ang="0" scaled="1"/>
            <a:tileRect/>
          </a:gra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05840" tIns="146304" rIns="457200" bIns="146304" numCol="1" spcCol="0" rtlCol="0" fromWordArt="0" anchor="ctr" anchorCtr="0" forceAA="0" compatLnSpc="1">
            <a:prstTxWarp prst="textNoShape">
              <a:avLst/>
            </a:prstTxWarp>
            <a:noAutofit/>
          </a:bodyPr>
          <a:lstStyle/>
          <a:p>
            <a:pPr>
              <a:spcAft>
                <a:spcPts val="600"/>
              </a:spcAft>
              <a:defRPr/>
            </a:pPr>
            <a:r>
              <a:rPr lang="en-US" sz="1600">
                <a:ln w="3175">
                  <a:noFill/>
                </a:ln>
                <a:gradFill>
                  <a:gsLst>
                    <a:gs pos="0">
                      <a:srgbClr val="0078D4"/>
                    </a:gs>
                    <a:gs pos="94000">
                      <a:srgbClr val="C73ECC"/>
                    </a:gs>
                  </a:gsLst>
                  <a:lin ang="0" scaled="1"/>
                </a:gradFill>
                <a:latin typeface="+mj-lt"/>
              </a:rPr>
              <a:t>End Users</a:t>
            </a:r>
          </a:p>
          <a:p>
            <a:pPr>
              <a:spcAft>
                <a:spcPts val="600"/>
              </a:spcAft>
              <a:defRPr/>
            </a:pPr>
            <a:r>
              <a:rPr lang="en-US" sz="1400">
                <a:solidFill>
                  <a:schemeClr val="tx1"/>
                </a:solidFill>
              </a:rPr>
              <a:t>Consume workflows and agents. Need trust, clarity, and feedback loops so adoption is intentional, measurable, and supported by a clear escalation path.</a:t>
            </a:r>
          </a:p>
        </p:txBody>
      </p:sp>
      <p:sp>
        <p:nvSpPr>
          <p:cNvPr id="29" name="Oval 28">
            <a:extLst>
              <a:ext uri="{FF2B5EF4-FFF2-40B4-BE49-F238E27FC236}">
                <a16:creationId xmlns:a16="http://schemas.microsoft.com/office/drawing/2014/main" id="{7197A1C2-6A2E-B8DB-A197-05A967CD4757}"/>
              </a:ext>
              <a:ext uri="{C183D7F6-B498-43B3-948B-1728B52AA6E4}">
                <adec:decorative xmlns:adec="http://schemas.microsoft.com/office/drawing/2017/decorative" val="1"/>
              </a:ext>
            </a:extLst>
          </p:cNvPr>
          <p:cNvSpPr>
            <a:spLocks/>
          </p:cNvSpPr>
          <p:nvPr/>
        </p:nvSpPr>
        <p:spPr>
          <a:xfrm>
            <a:off x="4370511" y="937483"/>
            <a:ext cx="675934" cy="675930"/>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sp>
        <p:nvSpPr>
          <p:cNvPr id="32" name="Oval 31">
            <a:extLst>
              <a:ext uri="{FF2B5EF4-FFF2-40B4-BE49-F238E27FC236}">
                <a16:creationId xmlns:a16="http://schemas.microsoft.com/office/drawing/2014/main" id="{30EFDF9C-0BBB-52F3-6774-BBDD39AFA367}"/>
              </a:ext>
              <a:ext uri="{C183D7F6-B498-43B3-948B-1728B52AA6E4}">
                <adec:decorative xmlns:adec="http://schemas.microsoft.com/office/drawing/2017/decorative" val="1"/>
              </a:ext>
            </a:extLst>
          </p:cNvPr>
          <p:cNvSpPr>
            <a:spLocks/>
          </p:cNvSpPr>
          <p:nvPr/>
        </p:nvSpPr>
        <p:spPr>
          <a:xfrm>
            <a:off x="4370511" y="2488014"/>
            <a:ext cx="675934" cy="675930"/>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sp>
        <p:nvSpPr>
          <p:cNvPr id="35" name="Oval 34">
            <a:extLst>
              <a:ext uri="{FF2B5EF4-FFF2-40B4-BE49-F238E27FC236}">
                <a16:creationId xmlns:a16="http://schemas.microsoft.com/office/drawing/2014/main" id="{EB27578D-8803-C417-908B-F0EE5C95F853}"/>
              </a:ext>
              <a:ext uri="{C183D7F6-B498-43B3-948B-1728B52AA6E4}">
                <adec:decorative xmlns:adec="http://schemas.microsoft.com/office/drawing/2017/decorative" val="1"/>
              </a:ext>
            </a:extLst>
          </p:cNvPr>
          <p:cNvSpPr>
            <a:spLocks/>
          </p:cNvSpPr>
          <p:nvPr/>
        </p:nvSpPr>
        <p:spPr>
          <a:xfrm>
            <a:off x="4370511" y="4038544"/>
            <a:ext cx="675934" cy="675930"/>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sp>
        <p:nvSpPr>
          <p:cNvPr id="38" name="Oval 37">
            <a:extLst>
              <a:ext uri="{FF2B5EF4-FFF2-40B4-BE49-F238E27FC236}">
                <a16:creationId xmlns:a16="http://schemas.microsoft.com/office/drawing/2014/main" id="{AEE896CD-2BBD-7C83-984F-99139DA88193}"/>
              </a:ext>
              <a:ext uri="{C183D7F6-B498-43B3-948B-1728B52AA6E4}">
                <adec:decorative xmlns:adec="http://schemas.microsoft.com/office/drawing/2017/decorative" val="1"/>
              </a:ext>
            </a:extLst>
          </p:cNvPr>
          <p:cNvSpPr>
            <a:spLocks/>
          </p:cNvSpPr>
          <p:nvPr/>
        </p:nvSpPr>
        <p:spPr>
          <a:xfrm>
            <a:off x="4370511" y="5589075"/>
            <a:ext cx="675934" cy="675930"/>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sp>
        <p:nvSpPr>
          <p:cNvPr id="41" name="Graphic 13">
            <a:extLst>
              <a:ext uri="{FF2B5EF4-FFF2-40B4-BE49-F238E27FC236}">
                <a16:creationId xmlns:a16="http://schemas.microsoft.com/office/drawing/2014/main" id="{EBA73A12-4137-84EA-18B1-14A983BF6684}"/>
              </a:ext>
            </a:extLst>
          </p:cNvPr>
          <p:cNvSpPr/>
          <p:nvPr/>
        </p:nvSpPr>
        <p:spPr>
          <a:xfrm>
            <a:off x="4545438" y="1142062"/>
            <a:ext cx="311245" cy="296688"/>
          </a:xfrm>
          <a:custGeom>
            <a:avLst/>
            <a:gdLst>
              <a:gd name="csX0" fmla="*/ 63001 w 311245"/>
              <a:gd name="csY0" fmla="*/ 0 h 296688"/>
              <a:gd name="csX1" fmla="*/ 14834 w 311245"/>
              <a:gd name="csY1" fmla="*/ 48167 h 296688"/>
              <a:gd name="csX2" fmla="*/ 14834 w 311245"/>
              <a:gd name="csY2" fmla="*/ 137194 h 296688"/>
              <a:gd name="csX3" fmla="*/ 51885 w 311245"/>
              <a:gd name="csY3" fmla="*/ 119913 h 296688"/>
              <a:gd name="csX4" fmla="*/ 51885 w 311245"/>
              <a:gd name="csY4" fmla="*/ 85218 h 296688"/>
              <a:gd name="csX5" fmla="*/ 100052 w 311245"/>
              <a:gd name="csY5" fmla="*/ 37051 h 296688"/>
              <a:gd name="csX6" fmla="*/ 266784 w 311245"/>
              <a:gd name="csY6" fmla="*/ 37051 h 296688"/>
              <a:gd name="csX7" fmla="*/ 266784 w 311245"/>
              <a:gd name="csY7" fmla="*/ 33346 h 296688"/>
              <a:gd name="csX8" fmla="*/ 233437 w 311245"/>
              <a:gd name="csY8" fmla="*/ 0 h 296688"/>
              <a:gd name="csX9" fmla="*/ 63001 w 311245"/>
              <a:gd name="csY9" fmla="*/ 0 h 296688"/>
              <a:gd name="csX10" fmla="*/ 277899 w 311245"/>
              <a:gd name="csY10" fmla="*/ 259360 h 296688"/>
              <a:gd name="csX11" fmla="*/ 162669 w 311245"/>
              <a:gd name="csY11" fmla="*/ 259360 h 296688"/>
              <a:gd name="csX12" fmla="*/ 139697 w 311245"/>
              <a:gd name="csY12" fmla="*/ 236388 h 296688"/>
              <a:gd name="csX13" fmla="*/ 103028 w 311245"/>
              <a:gd name="csY13" fmla="*/ 127099 h 296688"/>
              <a:gd name="csX14" fmla="*/ 66706 w 311245"/>
              <a:gd name="csY14" fmla="*/ 118565 h 296688"/>
              <a:gd name="csX15" fmla="*/ 66706 w 311245"/>
              <a:gd name="csY15" fmla="*/ 85218 h 296688"/>
              <a:gd name="csX16" fmla="*/ 100052 w 311245"/>
              <a:gd name="csY16" fmla="*/ 51872 h 296688"/>
              <a:gd name="csX17" fmla="*/ 277899 w 311245"/>
              <a:gd name="csY17" fmla="*/ 51872 h 296688"/>
              <a:gd name="csX18" fmla="*/ 311245 w 311245"/>
              <a:gd name="csY18" fmla="*/ 85218 h 296688"/>
              <a:gd name="csX19" fmla="*/ 311245 w 311245"/>
              <a:gd name="csY19" fmla="*/ 226014 h 296688"/>
              <a:gd name="csX20" fmla="*/ 277899 w 311245"/>
              <a:gd name="csY20" fmla="*/ 259360 h 296688"/>
              <a:gd name="csX21" fmla="*/ 105343 w 311245"/>
              <a:gd name="csY21" fmla="*/ 254440 h 296688"/>
              <a:gd name="csX22" fmla="*/ 12343 w 311245"/>
              <a:gd name="csY22" fmla="*/ 238730 h 296688"/>
              <a:gd name="csX23" fmla="*/ 28053 w 311245"/>
              <a:gd name="csY23" fmla="*/ 145730 h 296688"/>
              <a:gd name="csX24" fmla="*/ 121053 w 311245"/>
              <a:gd name="csY24" fmla="*/ 161440 h 296688"/>
              <a:gd name="csX25" fmla="*/ 121053 w 311245"/>
              <a:gd name="csY25" fmla="*/ 238730 h 296688"/>
              <a:gd name="csX26" fmla="*/ 159779 w 311245"/>
              <a:gd name="csY26" fmla="*/ 277441 h 296688"/>
              <a:gd name="csX27" fmla="*/ 160334 w 311245"/>
              <a:gd name="csY27" fmla="*/ 293151 h 296688"/>
              <a:gd name="csX28" fmla="*/ 144624 w 311245"/>
              <a:gd name="csY28" fmla="*/ 293706 h 296688"/>
              <a:gd name="csX29" fmla="*/ 144069 w 311245"/>
              <a:gd name="csY29" fmla="*/ 293151 h 296688"/>
              <a:gd name="csX30" fmla="*/ 105343 w 311245"/>
              <a:gd name="csY30" fmla="*/ 254440 h 296688"/>
              <a:gd name="csX31" fmla="*/ 22244 w 311245"/>
              <a:gd name="csY31" fmla="*/ 200078 h 296688"/>
              <a:gd name="csX32" fmla="*/ 66706 w 311245"/>
              <a:gd name="csY32" fmla="*/ 244540 h 296688"/>
              <a:gd name="csX33" fmla="*/ 111168 w 311245"/>
              <a:gd name="csY33" fmla="*/ 200078 h 296688"/>
              <a:gd name="csX34" fmla="*/ 66706 w 311245"/>
              <a:gd name="csY34" fmla="*/ 155616 h 296688"/>
              <a:gd name="csX35" fmla="*/ 22244 w 311245"/>
              <a:gd name="csY35" fmla="*/ 200078 h 2966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311245" h="296688">
                <a:moveTo>
                  <a:pt x="63001" y="0"/>
                </a:moveTo>
                <a:cubicBezTo>
                  <a:pt x="36399" y="0"/>
                  <a:pt x="14834" y="21565"/>
                  <a:pt x="14834" y="48167"/>
                </a:cubicBezTo>
                <a:lnTo>
                  <a:pt x="14834" y="137194"/>
                </a:lnTo>
                <a:cubicBezTo>
                  <a:pt x="25508" y="128367"/>
                  <a:pt x="38263" y="122418"/>
                  <a:pt x="51885" y="119913"/>
                </a:cubicBezTo>
                <a:lnTo>
                  <a:pt x="51885" y="85218"/>
                </a:lnTo>
                <a:cubicBezTo>
                  <a:pt x="51885" y="58617"/>
                  <a:pt x="73450" y="37051"/>
                  <a:pt x="100052" y="37051"/>
                </a:cubicBezTo>
                <a:lnTo>
                  <a:pt x="266784" y="37051"/>
                </a:lnTo>
                <a:lnTo>
                  <a:pt x="266784" y="33346"/>
                </a:lnTo>
                <a:cubicBezTo>
                  <a:pt x="266784" y="14930"/>
                  <a:pt x="251854" y="0"/>
                  <a:pt x="233437" y="0"/>
                </a:cubicBezTo>
                <a:lnTo>
                  <a:pt x="63001" y="0"/>
                </a:lnTo>
                <a:close/>
                <a:moveTo>
                  <a:pt x="277899" y="259360"/>
                </a:moveTo>
                <a:lnTo>
                  <a:pt x="162669" y="259360"/>
                </a:lnTo>
                <a:lnTo>
                  <a:pt x="139697" y="236388"/>
                </a:lnTo>
                <a:cubicBezTo>
                  <a:pt x="159751" y="196083"/>
                  <a:pt x="143334" y="147152"/>
                  <a:pt x="103028" y="127099"/>
                </a:cubicBezTo>
                <a:cubicBezTo>
                  <a:pt x="91744" y="121484"/>
                  <a:pt x="79310" y="118563"/>
                  <a:pt x="66706" y="118565"/>
                </a:cubicBezTo>
                <a:lnTo>
                  <a:pt x="66706" y="85218"/>
                </a:lnTo>
                <a:cubicBezTo>
                  <a:pt x="66706" y="66802"/>
                  <a:pt x="81635" y="51872"/>
                  <a:pt x="100052" y="51872"/>
                </a:cubicBezTo>
                <a:lnTo>
                  <a:pt x="277899" y="51872"/>
                </a:lnTo>
                <a:cubicBezTo>
                  <a:pt x="296316" y="51872"/>
                  <a:pt x="311245" y="66802"/>
                  <a:pt x="311245" y="85218"/>
                </a:cubicBezTo>
                <a:lnTo>
                  <a:pt x="311245" y="226014"/>
                </a:lnTo>
                <a:cubicBezTo>
                  <a:pt x="311245" y="244431"/>
                  <a:pt x="296316" y="259360"/>
                  <a:pt x="277899" y="259360"/>
                </a:cubicBezTo>
                <a:close/>
                <a:moveTo>
                  <a:pt x="105343" y="254440"/>
                </a:moveTo>
                <a:cubicBezTo>
                  <a:pt x="75324" y="275783"/>
                  <a:pt x="33686" y="268749"/>
                  <a:pt x="12343" y="238730"/>
                </a:cubicBezTo>
                <a:cubicBezTo>
                  <a:pt x="-9000" y="208711"/>
                  <a:pt x="-1967" y="167073"/>
                  <a:pt x="28053" y="145730"/>
                </a:cubicBezTo>
                <a:cubicBezTo>
                  <a:pt x="58072" y="124387"/>
                  <a:pt x="99710" y="131420"/>
                  <a:pt x="121053" y="161440"/>
                </a:cubicBezTo>
                <a:cubicBezTo>
                  <a:pt x="137503" y="184577"/>
                  <a:pt x="137503" y="215592"/>
                  <a:pt x="121053" y="238730"/>
                </a:cubicBezTo>
                <a:lnTo>
                  <a:pt x="159779" y="277441"/>
                </a:lnTo>
                <a:cubicBezTo>
                  <a:pt x="164270" y="281626"/>
                  <a:pt x="164519" y="288660"/>
                  <a:pt x="160334" y="293151"/>
                </a:cubicBezTo>
                <a:cubicBezTo>
                  <a:pt x="156149" y="297642"/>
                  <a:pt x="149115" y="297891"/>
                  <a:pt x="144624" y="293706"/>
                </a:cubicBezTo>
                <a:cubicBezTo>
                  <a:pt x="144432" y="293527"/>
                  <a:pt x="144247" y="293342"/>
                  <a:pt x="144069" y="293151"/>
                </a:cubicBezTo>
                <a:lnTo>
                  <a:pt x="105343" y="254440"/>
                </a:lnTo>
                <a:close/>
                <a:moveTo>
                  <a:pt x="22244" y="200078"/>
                </a:moveTo>
                <a:cubicBezTo>
                  <a:pt x="22244" y="224633"/>
                  <a:pt x="42150" y="244540"/>
                  <a:pt x="66706" y="244540"/>
                </a:cubicBezTo>
                <a:cubicBezTo>
                  <a:pt x="91261" y="244540"/>
                  <a:pt x="111168" y="224633"/>
                  <a:pt x="111168" y="200078"/>
                </a:cubicBezTo>
                <a:cubicBezTo>
                  <a:pt x="111168" y="175522"/>
                  <a:pt x="91261" y="155616"/>
                  <a:pt x="66706" y="155616"/>
                </a:cubicBezTo>
                <a:cubicBezTo>
                  <a:pt x="42150" y="155616"/>
                  <a:pt x="22244" y="175522"/>
                  <a:pt x="22244" y="200078"/>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grpSp>
        <p:nvGrpSpPr>
          <p:cNvPr id="47" name="Group 46">
            <a:extLst>
              <a:ext uri="{FF2B5EF4-FFF2-40B4-BE49-F238E27FC236}">
                <a16:creationId xmlns:a16="http://schemas.microsoft.com/office/drawing/2014/main" id="{8DA8247B-C162-688F-B0C9-8EB97FC882F1}"/>
              </a:ext>
            </a:extLst>
          </p:cNvPr>
          <p:cNvGrpSpPr/>
          <p:nvPr/>
        </p:nvGrpSpPr>
        <p:grpSpPr>
          <a:xfrm>
            <a:off x="4560272" y="2707414"/>
            <a:ext cx="311232" cy="281591"/>
            <a:chOff x="4560272" y="2707414"/>
            <a:chExt cx="311232" cy="281591"/>
          </a:xfrm>
          <a:gradFill>
            <a:gsLst>
              <a:gs pos="15000">
                <a:srgbClr val="01A3FD"/>
              </a:gs>
              <a:gs pos="81000">
                <a:srgbClr val="D661FD"/>
              </a:gs>
            </a:gsLst>
            <a:lin ang="2700000" scaled="1"/>
          </a:gradFill>
        </p:grpSpPr>
        <p:sp>
          <p:nvSpPr>
            <p:cNvPr id="43" name="Freeform: Shape 42">
              <a:extLst>
                <a:ext uri="{FF2B5EF4-FFF2-40B4-BE49-F238E27FC236}">
                  <a16:creationId xmlns:a16="http://schemas.microsoft.com/office/drawing/2014/main" id="{36AA0793-66A7-240A-FE74-39BFA13FA209}"/>
                </a:ext>
              </a:extLst>
            </p:cNvPr>
            <p:cNvSpPr/>
            <p:nvPr/>
          </p:nvSpPr>
          <p:spPr>
            <a:xfrm>
              <a:off x="4560272" y="2707414"/>
              <a:ext cx="296411" cy="237129"/>
            </a:xfrm>
            <a:custGeom>
              <a:avLst/>
              <a:gdLst>
                <a:gd name="csX0" fmla="*/ 40757 w 296411"/>
                <a:gd name="csY0" fmla="*/ 0 h 237129"/>
                <a:gd name="csX1" fmla="*/ 0 w 296411"/>
                <a:gd name="csY1" fmla="*/ 40757 h 237129"/>
                <a:gd name="csX2" fmla="*/ 0 w 296411"/>
                <a:gd name="csY2" fmla="*/ 196373 h 237129"/>
                <a:gd name="csX3" fmla="*/ 40757 w 296411"/>
                <a:gd name="csY3" fmla="*/ 237129 h 237129"/>
                <a:gd name="csX4" fmla="*/ 140766 w 296411"/>
                <a:gd name="csY4" fmla="*/ 237129 h 237129"/>
                <a:gd name="csX5" fmla="*/ 192585 w 296411"/>
                <a:gd name="csY5" fmla="*/ 111133 h 237129"/>
                <a:gd name="csX6" fmla="*/ 296412 w 296411"/>
                <a:gd name="csY6" fmla="*/ 130569 h 237129"/>
                <a:gd name="csX7" fmla="*/ 296412 w 296411"/>
                <a:gd name="csY7" fmla="*/ 40757 h 237129"/>
                <a:gd name="csX8" fmla="*/ 255655 w 296411"/>
                <a:gd name="csY8" fmla="*/ 0 h 237129"/>
                <a:gd name="csX9" fmla="*/ 40757 w 296411"/>
                <a:gd name="csY9" fmla="*/ 0 h 237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96411" h="237129">
                  <a:moveTo>
                    <a:pt x="40757" y="0"/>
                  </a:moveTo>
                  <a:cubicBezTo>
                    <a:pt x="18247" y="0"/>
                    <a:pt x="0" y="18247"/>
                    <a:pt x="0" y="40757"/>
                  </a:cubicBezTo>
                  <a:lnTo>
                    <a:pt x="0" y="196373"/>
                  </a:lnTo>
                  <a:cubicBezTo>
                    <a:pt x="0" y="218882"/>
                    <a:pt x="18247" y="237129"/>
                    <a:pt x="40757" y="237129"/>
                  </a:cubicBezTo>
                  <a:lnTo>
                    <a:pt x="140766" y="237129"/>
                  </a:lnTo>
                  <a:cubicBezTo>
                    <a:pt x="120282" y="188027"/>
                    <a:pt x="143483" y="131616"/>
                    <a:pt x="192585" y="111133"/>
                  </a:cubicBezTo>
                  <a:cubicBezTo>
                    <a:pt x="227978" y="96368"/>
                    <a:pt x="268757" y="104002"/>
                    <a:pt x="296412" y="130569"/>
                  </a:cubicBezTo>
                  <a:lnTo>
                    <a:pt x="296412" y="40757"/>
                  </a:lnTo>
                  <a:cubicBezTo>
                    <a:pt x="296412" y="18247"/>
                    <a:pt x="278164" y="0"/>
                    <a:pt x="255655" y="0"/>
                  </a:cubicBezTo>
                  <a:lnTo>
                    <a:pt x="40757" y="0"/>
                  </a:lnTo>
                  <a:close/>
                </a:path>
              </a:pathLst>
            </a:custGeom>
            <a:grpFill/>
            <a:ln w="10795" cap="flat" cmpd="sng" algn="ctr">
              <a:noFill/>
              <a:prstDash val="solid"/>
            </a:ln>
            <a:effectLst/>
          </p:spPr>
          <p:txBody>
            <a:bodyPr/>
            <a:lstStyle/>
            <a:p>
              <a:endParaRPr lang="en-US"/>
            </a:p>
          </p:txBody>
        </p:sp>
        <p:sp>
          <p:nvSpPr>
            <p:cNvPr id="44" name="Freeform: Shape 43">
              <a:extLst>
                <a:ext uri="{FF2B5EF4-FFF2-40B4-BE49-F238E27FC236}">
                  <a16:creationId xmlns:a16="http://schemas.microsoft.com/office/drawing/2014/main" id="{061B32B6-BEE2-27F1-7B4E-0A7983E36887}"/>
                </a:ext>
              </a:extLst>
            </p:cNvPr>
            <p:cNvSpPr/>
            <p:nvPr/>
          </p:nvSpPr>
          <p:spPr>
            <a:xfrm>
              <a:off x="4708478" y="2825979"/>
              <a:ext cx="163026" cy="163026"/>
            </a:xfrm>
            <a:custGeom>
              <a:avLst/>
              <a:gdLst>
                <a:gd name="csX0" fmla="*/ 163026 w 163026"/>
                <a:gd name="csY0" fmla="*/ 81513 h 163026"/>
                <a:gd name="csX1" fmla="*/ 81513 w 163026"/>
                <a:gd name="csY1" fmla="*/ 0 h 163026"/>
                <a:gd name="csX2" fmla="*/ 0 w 163026"/>
                <a:gd name="csY2" fmla="*/ 81513 h 163026"/>
                <a:gd name="csX3" fmla="*/ 81513 w 163026"/>
                <a:gd name="csY3" fmla="*/ 163026 h 163026"/>
                <a:gd name="csX4" fmla="*/ 163026 w 163026"/>
                <a:gd name="csY4" fmla="*/ 81513 h 163026"/>
                <a:gd name="csX5" fmla="*/ 88924 w 163026"/>
                <a:gd name="csY5" fmla="*/ 88924 h 163026"/>
                <a:gd name="csX6" fmla="*/ 88938 w 163026"/>
                <a:gd name="csY6" fmla="*/ 126019 h 163026"/>
                <a:gd name="csX7" fmla="*/ 81528 w 163026"/>
                <a:gd name="csY7" fmla="*/ 133430 h 163026"/>
                <a:gd name="csX8" fmla="*/ 74118 w 163026"/>
                <a:gd name="csY8" fmla="*/ 126019 h 163026"/>
                <a:gd name="csX9" fmla="*/ 74118 w 163026"/>
                <a:gd name="csY9" fmla="*/ 88924 h 163026"/>
                <a:gd name="csX10" fmla="*/ 36992 w 163026"/>
                <a:gd name="csY10" fmla="*/ 88924 h 163026"/>
                <a:gd name="csX11" fmla="*/ 29582 w 163026"/>
                <a:gd name="csY11" fmla="*/ 81513 h 163026"/>
                <a:gd name="csX12" fmla="*/ 36992 w 163026"/>
                <a:gd name="csY12" fmla="*/ 74103 h 163026"/>
                <a:gd name="csX13" fmla="*/ 74103 w 163026"/>
                <a:gd name="csY13" fmla="*/ 74103 h 163026"/>
                <a:gd name="csX14" fmla="*/ 74103 w 163026"/>
                <a:gd name="csY14" fmla="*/ 37051 h 163026"/>
                <a:gd name="csX15" fmla="*/ 81513 w 163026"/>
                <a:gd name="csY15" fmla="*/ 29641 h 163026"/>
                <a:gd name="csX16" fmla="*/ 88924 w 163026"/>
                <a:gd name="csY16" fmla="*/ 37051 h 163026"/>
                <a:gd name="csX17" fmla="*/ 88924 w 163026"/>
                <a:gd name="csY17" fmla="*/ 74103 h 163026"/>
                <a:gd name="csX18" fmla="*/ 126019 w 163026"/>
                <a:gd name="csY18" fmla="*/ 74103 h 163026"/>
                <a:gd name="csX19" fmla="*/ 133430 w 163026"/>
                <a:gd name="csY19" fmla="*/ 81513 h 163026"/>
                <a:gd name="csX20" fmla="*/ 126019 w 163026"/>
                <a:gd name="csY20" fmla="*/ 88924 h 163026"/>
                <a:gd name="csX21" fmla="*/ 88938 w 163026"/>
                <a:gd name="csY21" fmla="*/ 88924 h 163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63026" h="163026">
                  <a:moveTo>
                    <a:pt x="163026" y="81513"/>
                  </a:moveTo>
                  <a:cubicBezTo>
                    <a:pt x="163026" y="36495"/>
                    <a:pt x="126532" y="0"/>
                    <a:pt x="81513" y="0"/>
                  </a:cubicBezTo>
                  <a:cubicBezTo>
                    <a:pt x="36495" y="0"/>
                    <a:pt x="0" y="36495"/>
                    <a:pt x="0" y="81513"/>
                  </a:cubicBezTo>
                  <a:cubicBezTo>
                    <a:pt x="0" y="126532"/>
                    <a:pt x="36495" y="163026"/>
                    <a:pt x="81513" y="163026"/>
                  </a:cubicBezTo>
                  <a:cubicBezTo>
                    <a:pt x="126532" y="163026"/>
                    <a:pt x="163026" y="126532"/>
                    <a:pt x="163026" y="81513"/>
                  </a:cubicBezTo>
                  <a:close/>
                  <a:moveTo>
                    <a:pt x="88924" y="88924"/>
                  </a:moveTo>
                  <a:lnTo>
                    <a:pt x="88938" y="126019"/>
                  </a:lnTo>
                  <a:cubicBezTo>
                    <a:pt x="88938" y="130112"/>
                    <a:pt x="85621" y="133430"/>
                    <a:pt x="81528" y="133430"/>
                  </a:cubicBezTo>
                  <a:cubicBezTo>
                    <a:pt x="77435" y="133430"/>
                    <a:pt x="74118" y="130112"/>
                    <a:pt x="74118" y="126019"/>
                  </a:cubicBezTo>
                  <a:lnTo>
                    <a:pt x="74118" y="88924"/>
                  </a:lnTo>
                  <a:lnTo>
                    <a:pt x="36992" y="88924"/>
                  </a:lnTo>
                  <a:cubicBezTo>
                    <a:pt x="32900" y="88924"/>
                    <a:pt x="29582" y="85606"/>
                    <a:pt x="29582" y="81513"/>
                  </a:cubicBezTo>
                  <a:cubicBezTo>
                    <a:pt x="29582" y="77421"/>
                    <a:pt x="32900" y="74103"/>
                    <a:pt x="36992" y="74103"/>
                  </a:cubicBezTo>
                  <a:lnTo>
                    <a:pt x="74103" y="74103"/>
                  </a:lnTo>
                  <a:lnTo>
                    <a:pt x="74103" y="37051"/>
                  </a:lnTo>
                  <a:cubicBezTo>
                    <a:pt x="74103" y="32959"/>
                    <a:pt x="77421" y="29641"/>
                    <a:pt x="81513" y="29641"/>
                  </a:cubicBezTo>
                  <a:cubicBezTo>
                    <a:pt x="85606" y="29641"/>
                    <a:pt x="88924" y="32959"/>
                    <a:pt x="88924" y="37051"/>
                  </a:cubicBezTo>
                  <a:lnTo>
                    <a:pt x="88924" y="74103"/>
                  </a:lnTo>
                  <a:lnTo>
                    <a:pt x="126019" y="74103"/>
                  </a:lnTo>
                  <a:cubicBezTo>
                    <a:pt x="130112" y="74103"/>
                    <a:pt x="133430" y="77421"/>
                    <a:pt x="133430" y="81513"/>
                  </a:cubicBezTo>
                  <a:cubicBezTo>
                    <a:pt x="133430" y="85606"/>
                    <a:pt x="130112" y="88924"/>
                    <a:pt x="126019" y="88924"/>
                  </a:cubicBezTo>
                  <a:lnTo>
                    <a:pt x="88938" y="88924"/>
                  </a:lnTo>
                  <a:close/>
                </a:path>
              </a:pathLst>
            </a:custGeom>
            <a:grpFill/>
            <a:ln w="10795" cap="flat" cmpd="sng" algn="ctr">
              <a:noFill/>
              <a:prstDash val="solid"/>
            </a:ln>
            <a:effectLst/>
          </p:spPr>
          <p:txBody>
            <a:bodyPr/>
            <a:lstStyle/>
            <a:p>
              <a:endParaRPr lang="en-US"/>
            </a:p>
          </p:txBody>
        </p:sp>
      </p:grpSp>
      <p:sp>
        <p:nvSpPr>
          <p:cNvPr id="45" name="Graphic 25">
            <a:extLst>
              <a:ext uri="{FF2B5EF4-FFF2-40B4-BE49-F238E27FC236}">
                <a16:creationId xmlns:a16="http://schemas.microsoft.com/office/drawing/2014/main" id="{D15889BC-2101-EBB2-EB34-C714212DAA69}"/>
              </a:ext>
            </a:extLst>
          </p:cNvPr>
          <p:cNvSpPr/>
          <p:nvPr/>
        </p:nvSpPr>
        <p:spPr>
          <a:xfrm>
            <a:off x="4560281" y="4227147"/>
            <a:ext cx="297557" cy="297586"/>
          </a:xfrm>
          <a:custGeom>
            <a:avLst/>
            <a:gdLst>
              <a:gd name="csX0" fmla="*/ 176949 w 297557"/>
              <a:gd name="csY0" fmla="*/ 45617 h 297586"/>
              <a:gd name="csX1" fmla="*/ 251941 w 297557"/>
              <a:gd name="csY1" fmla="*/ 120609 h 297586"/>
              <a:gd name="csX2" fmla="*/ 104654 w 297557"/>
              <a:gd name="csY2" fmla="*/ 267926 h 297586"/>
              <a:gd name="csX3" fmla="*/ 89848 w 297557"/>
              <a:gd name="csY3" fmla="*/ 276522 h 297586"/>
              <a:gd name="csX4" fmla="*/ 14026 w 297557"/>
              <a:gd name="csY4" fmla="*/ 297196 h 297586"/>
              <a:gd name="csX5" fmla="*/ 388 w 297557"/>
              <a:gd name="csY5" fmla="*/ 289379 h 297586"/>
              <a:gd name="csX6" fmla="*/ 391 w 297557"/>
              <a:gd name="csY6" fmla="*/ 283547 h 297586"/>
              <a:gd name="csX7" fmla="*/ 21066 w 297557"/>
              <a:gd name="csY7" fmla="*/ 207724 h 297586"/>
              <a:gd name="csX8" fmla="*/ 29662 w 297557"/>
              <a:gd name="csY8" fmla="*/ 192919 h 297586"/>
              <a:gd name="csX9" fmla="*/ 176919 w 297557"/>
              <a:gd name="csY9" fmla="*/ 45617 h 297586"/>
              <a:gd name="csX10" fmla="*/ 282027 w 297557"/>
              <a:gd name="csY10" fmla="*/ 15531 h 297586"/>
              <a:gd name="csX11" fmla="*/ 282027 w 297557"/>
              <a:gd name="csY11" fmla="*/ 90523 h 297586"/>
              <a:gd name="csX12" fmla="*/ 267651 w 297557"/>
              <a:gd name="csY12" fmla="*/ 104899 h 297586"/>
              <a:gd name="csX13" fmla="*/ 192658 w 297557"/>
              <a:gd name="csY13" fmla="*/ 29907 h 297586"/>
              <a:gd name="csX14" fmla="*/ 207034 w 297557"/>
              <a:gd name="csY14" fmla="*/ 15531 h 297586"/>
              <a:gd name="csX15" fmla="*/ 282027 w 297557"/>
              <a:gd name="csY15" fmla="*/ 15531 h 2975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97557" h="297586">
                <a:moveTo>
                  <a:pt x="176949" y="45617"/>
                </a:moveTo>
                <a:lnTo>
                  <a:pt x="251941" y="120609"/>
                </a:lnTo>
                <a:lnTo>
                  <a:pt x="104654" y="267926"/>
                </a:lnTo>
                <a:cubicBezTo>
                  <a:pt x="100551" y="272031"/>
                  <a:pt x="95447" y="274994"/>
                  <a:pt x="89848" y="276522"/>
                </a:cubicBezTo>
                <a:lnTo>
                  <a:pt x="14026" y="297196"/>
                </a:lnTo>
                <a:cubicBezTo>
                  <a:pt x="8101" y="298804"/>
                  <a:pt x="1995" y="295304"/>
                  <a:pt x="388" y="289379"/>
                </a:cubicBezTo>
                <a:cubicBezTo>
                  <a:pt x="-130" y="287469"/>
                  <a:pt x="-129" y="285456"/>
                  <a:pt x="391" y="283547"/>
                </a:cubicBezTo>
                <a:lnTo>
                  <a:pt x="21066" y="207724"/>
                </a:lnTo>
                <a:cubicBezTo>
                  <a:pt x="22594" y="202125"/>
                  <a:pt x="25557" y="197022"/>
                  <a:pt x="29662" y="192919"/>
                </a:cubicBezTo>
                <a:lnTo>
                  <a:pt x="176919" y="45617"/>
                </a:lnTo>
                <a:close/>
                <a:moveTo>
                  <a:pt x="282027" y="15531"/>
                </a:moveTo>
                <a:cubicBezTo>
                  <a:pt x="302735" y="36240"/>
                  <a:pt x="302735" y="69815"/>
                  <a:pt x="282027" y="90523"/>
                </a:cubicBezTo>
                <a:lnTo>
                  <a:pt x="267651" y="104899"/>
                </a:lnTo>
                <a:lnTo>
                  <a:pt x="192658" y="29907"/>
                </a:lnTo>
                <a:lnTo>
                  <a:pt x="207034" y="15531"/>
                </a:lnTo>
                <a:cubicBezTo>
                  <a:pt x="227743" y="-5177"/>
                  <a:pt x="261318" y="-5177"/>
                  <a:pt x="282027" y="15531"/>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
        <p:nvSpPr>
          <p:cNvPr id="46" name="Graphic 39">
            <a:extLst>
              <a:ext uri="{FF2B5EF4-FFF2-40B4-BE49-F238E27FC236}">
                <a16:creationId xmlns:a16="http://schemas.microsoft.com/office/drawing/2014/main" id="{2B914867-2C3D-7B3B-4018-DD4B1F1E4C72}"/>
              </a:ext>
            </a:extLst>
          </p:cNvPr>
          <p:cNvSpPr/>
          <p:nvPr/>
        </p:nvSpPr>
        <p:spPr>
          <a:xfrm>
            <a:off x="4589957" y="5778893"/>
            <a:ext cx="237144" cy="296352"/>
          </a:xfrm>
          <a:custGeom>
            <a:avLst/>
            <a:gdLst>
              <a:gd name="csX0" fmla="*/ 203798 w 237144"/>
              <a:gd name="csY0" fmla="*/ 177788 h 296352"/>
              <a:gd name="csX1" fmla="*/ 237144 w 237144"/>
              <a:gd name="csY1" fmla="*/ 211104 h 296352"/>
              <a:gd name="csX2" fmla="*/ 237144 w 237144"/>
              <a:gd name="csY2" fmla="*/ 211119 h 296352"/>
              <a:gd name="csX3" fmla="*/ 237144 w 237144"/>
              <a:gd name="csY3" fmla="*/ 224725 h 296352"/>
              <a:gd name="csX4" fmla="*/ 229541 w 237144"/>
              <a:gd name="csY4" fmla="*/ 248423 h 296352"/>
              <a:gd name="csX5" fmla="*/ 118520 w 237144"/>
              <a:gd name="csY5" fmla="*/ 296352 h 296352"/>
              <a:gd name="csX6" fmla="*/ 7559 w 237144"/>
              <a:gd name="csY6" fmla="*/ 248378 h 296352"/>
              <a:gd name="csX7" fmla="*/ 0 w 237144"/>
              <a:gd name="csY7" fmla="*/ 224739 h 296352"/>
              <a:gd name="csX8" fmla="*/ 0 w 237144"/>
              <a:gd name="csY8" fmla="*/ 211104 h 296352"/>
              <a:gd name="csX9" fmla="*/ 33317 w 237144"/>
              <a:gd name="csY9" fmla="*/ 177758 h 296352"/>
              <a:gd name="csX10" fmla="*/ 33331 w 237144"/>
              <a:gd name="csY10" fmla="*/ 177758 h 296352"/>
              <a:gd name="csX11" fmla="*/ 203783 w 237144"/>
              <a:gd name="csY11" fmla="*/ 177758 h 296352"/>
              <a:gd name="csX12" fmla="*/ 118520 w 237144"/>
              <a:gd name="csY12" fmla="*/ 0 h 296352"/>
              <a:gd name="csX13" fmla="*/ 192623 w 237144"/>
              <a:gd name="csY13" fmla="*/ 74103 h 296352"/>
              <a:gd name="csX14" fmla="*/ 118520 w 237144"/>
              <a:gd name="csY14" fmla="*/ 148206 h 296352"/>
              <a:gd name="csX15" fmla="*/ 44417 w 237144"/>
              <a:gd name="csY15" fmla="*/ 74103 h 296352"/>
              <a:gd name="csX16" fmla="*/ 118520 w 237144"/>
              <a:gd name="csY16" fmla="*/ 0 h 2963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37144" h="296352">
                <a:moveTo>
                  <a:pt x="203798" y="177788"/>
                </a:moveTo>
                <a:cubicBezTo>
                  <a:pt x="222206" y="177780"/>
                  <a:pt x="237136" y="192696"/>
                  <a:pt x="237144" y="211104"/>
                </a:cubicBezTo>
                <a:cubicBezTo>
                  <a:pt x="237144" y="211109"/>
                  <a:pt x="237144" y="211114"/>
                  <a:pt x="237144" y="211119"/>
                </a:cubicBezTo>
                <a:lnTo>
                  <a:pt x="237144" y="224725"/>
                </a:lnTo>
                <a:cubicBezTo>
                  <a:pt x="237143" y="233223"/>
                  <a:pt x="234484" y="241509"/>
                  <a:pt x="229541" y="248423"/>
                </a:cubicBezTo>
                <a:cubicBezTo>
                  <a:pt x="206629" y="280480"/>
                  <a:pt x="169207" y="296352"/>
                  <a:pt x="118520" y="296352"/>
                </a:cubicBezTo>
                <a:cubicBezTo>
                  <a:pt x="67804" y="296352"/>
                  <a:pt x="30412" y="280465"/>
                  <a:pt x="7559" y="248378"/>
                </a:cubicBezTo>
                <a:cubicBezTo>
                  <a:pt x="2643" y="241476"/>
                  <a:pt x="1" y="233213"/>
                  <a:pt x="0" y="224739"/>
                </a:cubicBezTo>
                <a:lnTo>
                  <a:pt x="0" y="211104"/>
                </a:lnTo>
                <a:cubicBezTo>
                  <a:pt x="-8" y="192696"/>
                  <a:pt x="14908" y="177766"/>
                  <a:pt x="33317" y="177758"/>
                </a:cubicBezTo>
                <a:cubicBezTo>
                  <a:pt x="33322" y="177758"/>
                  <a:pt x="33327" y="177758"/>
                  <a:pt x="33331" y="177758"/>
                </a:cubicBezTo>
                <a:lnTo>
                  <a:pt x="203783" y="177758"/>
                </a:lnTo>
                <a:close/>
                <a:moveTo>
                  <a:pt x="118520" y="0"/>
                </a:moveTo>
                <a:cubicBezTo>
                  <a:pt x="159446" y="0"/>
                  <a:pt x="192623" y="33177"/>
                  <a:pt x="192623" y="74103"/>
                </a:cubicBezTo>
                <a:cubicBezTo>
                  <a:pt x="192623" y="115029"/>
                  <a:pt x="159446" y="148206"/>
                  <a:pt x="118520" y="148206"/>
                </a:cubicBezTo>
                <a:cubicBezTo>
                  <a:pt x="77594" y="148206"/>
                  <a:pt x="44417" y="115029"/>
                  <a:pt x="44417" y="74103"/>
                </a:cubicBezTo>
                <a:cubicBezTo>
                  <a:pt x="44417" y="33177"/>
                  <a:pt x="77594" y="0"/>
                  <a:pt x="118520" y="0"/>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Tree>
    <p:extLst>
      <p:ext uri="{BB962C8B-B14F-4D97-AF65-F5344CB8AC3E}">
        <p14:creationId xmlns:p14="http://schemas.microsoft.com/office/powerpoint/2010/main" val="616709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14F9A-E81D-0A7D-AB9B-FEDF2DBA18DF}"/>
            </a:ext>
          </a:extLst>
        </p:cNvPr>
        <p:cNvGrpSpPr/>
        <p:nvPr/>
      </p:nvGrpSpPr>
      <p:grpSpPr>
        <a:xfrm>
          <a:off x="0" y="0"/>
          <a:ext cx="0" cy="0"/>
          <a:chOff x="0" y="0"/>
          <a:chExt cx="0" cy="0"/>
        </a:xfrm>
      </p:grpSpPr>
      <p:pic>
        <p:nvPicPr>
          <p:cNvPr id="26" name="Picture 25" descr="A blurry image of a purple object&#10;&#10;AI-generated content may be incorrect.">
            <a:extLst>
              <a:ext uri="{FF2B5EF4-FFF2-40B4-BE49-F238E27FC236}">
                <a16:creationId xmlns:a16="http://schemas.microsoft.com/office/drawing/2014/main" id="{3F951282-734E-5725-698C-16B40753A9D6}"/>
              </a:ext>
            </a:extLst>
          </p:cNvPr>
          <p:cNvPicPr>
            <a:picLocks noGrp="1" noRot="1" noChangeAspect="1" noMove="1" noResize="1" noEditPoints="1" noAdjustHandles="1" noChangeArrowheads="1" noChangeShapeType="1" noCrop="1"/>
          </p:cNvPicPr>
          <p:nvPr/>
        </p:nvPicPr>
        <p:blipFill>
          <a:blip r:embed="rId3">
            <a:alphaModFix amt="48000"/>
          </a:blip>
          <a:srcRect l="25924"/>
          <a:stretch>
            <a:fillRect/>
          </a:stretch>
        </p:blipFill>
        <p:spPr>
          <a:xfrm flipV="1">
            <a:off x="0" y="0"/>
            <a:ext cx="12192000" cy="6858000"/>
          </a:xfrm>
          <a:prstGeom prst="rect">
            <a:avLst/>
          </a:prstGeom>
        </p:spPr>
      </p:pic>
      <p:sp>
        <p:nvSpPr>
          <p:cNvPr id="18" name="Title 17">
            <a:extLst>
              <a:ext uri="{FF2B5EF4-FFF2-40B4-BE49-F238E27FC236}">
                <a16:creationId xmlns:a16="http://schemas.microsoft.com/office/drawing/2014/main" id="{0D3DB617-37DE-E0F5-4718-31AFDB5E653B}"/>
              </a:ext>
            </a:extLst>
          </p:cNvPr>
          <p:cNvSpPr>
            <a:spLocks noGrp="1"/>
          </p:cNvSpPr>
          <p:nvPr>
            <p:ph type="title"/>
          </p:nvPr>
        </p:nvSpPr>
        <p:spPr>
          <a:xfrm>
            <a:off x="588263" y="457200"/>
            <a:ext cx="11018520" cy="553998"/>
          </a:xfrm>
        </p:spPr>
        <p:txBody>
          <a:bodyPr/>
          <a:lstStyle/>
          <a:p>
            <a:r>
              <a:rPr lang="en-US"/>
              <a:t>Anchor skilling to moments that matter</a:t>
            </a:r>
          </a:p>
        </p:txBody>
      </p:sp>
      <p:sp>
        <p:nvSpPr>
          <p:cNvPr id="27" name="Rectangle: Rounded Corners 26">
            <a:extLst>
              <a:ext uri="{FF2B5EF4-FFF2-40B4-BE49-F238E27FC236}">
                <a16:creationId xmlns:a16="http://schemas.microsoft.com/office/drawing/2014/main" id="{8231B9A0-01F7-B24E-059F-540AD98A4B58}"/>
              </a:ext>
              <a:ext uri="{C183D7F6-B498-43B3-948B-1728B52AA6E4}">
                <adec:decorative xmlns:adec="http://schemas.microsoft.com/office/drawing/2017/decorative" val="1"/>
              </a:ext>
            </a:extLst>
          </p:cNvPr>
          <p:cNvSpPr>
            <a:spLocks/>
          </p:cNvSpPr>
          <p:nvPr/>
        </p:nvSpPr>
        <p:spPr bwMode="auto">
          <a:xfrm>
            <a:off x="571500" y="1468438"/>
            <a:ext cx="11049000" cy="4691062"/>
          </a:xfrm>
          <a:prstGeom prst="roundRect">
            <a:avLst>
              <a:gd name="adj" fmla="val 6261"/>
            </a:avLst>
          </a:prstGeom>
          <a:noFill/>
          <a:ln w="95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UI"/>
              <a:ea typeface="+mn-ea"/>
              <a:cs typeface="Segoe UI"/>
            </a:endParaRPr>
          </a:p>
        </p:txBody>
      </p:sp>
      <p:sp>
        <p:nvSpPr>
          <p:cNvPr id="28" name="Rectangle: Rounded Corners 27">
            <a:extLst>
              <a:ext uri="{FF2B5EF4-FFF2-40B4-BE49-F238E27FC236}">
                <a16:creationId xmlns:a16="http://schemas.microsoft.com/office/drawing/2014/main" id="{46594D05-C480-A248-6190-6EB605B055BC}"/>
              </a:ext>
              <a:ext uri="{C183D7F6-B498-43B3-948B-1728B52AA6E4}">
                <adec:decorative xmlns:adec="http://schemas.microsoft.com/office/drawing/2017/decorative" val="1"/>
              </a:ext>
            </a:extLst>
          </p:cNvPr>
          <p:cNvSpPr>
            <a:spLocks/>
          </p:cNvSpPr>
          <p:nvPr/>
        </p:nvSpPr>
        <p:spPr bwMode="auto">
          <a:xfrm>
            <a:off x="685800" y="1575855"/>
            <a:ext cx="10820400" cy="4450829"/>
          </a:xfrm>
          <a:prstGeom prst="roundRect">
            <a:avLst>
              <a:gd name="adj" fmla="val 3987"/>
            </a:avLst>
          </a:prstGeom>
          <a:solidFill>
            <a:schemeClr val="bg1">
              <a:alpha val="79000"/>
            </a:schemeClr>
          </a:soli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UI"/>
              <a:ea typeface="+mn-ea"/>
              <a:cs typeface="Segoe UI"/>
            </a:endParaRPr>
          </a:p>
        </p:txBody>
      </p:sp>
      <p:sp>
        <p:nvSpPr>
          <p:cNvPr id="46" name="Rectangle 45">
            <a:extLst>
              <a:ext uri="{FF2B5EF4-FFF2-40B4-BE49-F238E27FC236}">
                <a16:creationId xmlns:a16="http://schemas.microsoft.com/office/drawing/2014/main" id="{6C657834-5C0C-5B4E-F968-9E5345BD41BF}"/>
              </a:ext>
            </a:extLst>
          </p:cNvPr>
          <p:cNvSpPr/>
          <p:nvPr/>
        </p:nvSpPr>
        <p:spPr bwMode="auto">
          <a:xfrm>
            <a:off x="685800" y="2716428"/>
            <a:ext cx="10820400" cy="563790"/>
          </a:xfrm>
          <a:prstGeom prst="rect">
            <a:avLst/>
          </a:prstGeom>
          <a:gradFill flip="none" rotWithShape="1">
            <a:gsLst>
              <a:gs pos="15000">
                <a:srgbClr val="01A3FD"/>
              </a:gs>
              <a:gs pos="81000">
                <a:srgbClr val="D661FD"/>
              </a:gs>
            </a:gsLst>
            <a:lin ang="0" scaled="1"/>
            <a:tileRect/>
          </a:gradFill>
          <a:ln w="10795"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SzPct val="90000"/>
            </a:pPr>
            <a:endParaRPr lang="en-US" sz="1600">
              <a:solidFill>
                <a:schemeClr val="bg1"/>
              </a:solidFill>
              <a:latin typeface="+mj-lt"/>
              <a:ea typeface="+mj-ea"/>
              <a:cs typeface="+mj-cs"/>
            </a:endParaRPr>
          </a:p>
        </p:txBody>
      </p:sp>
      <p:sp>
        <p:nvSpPr>
          <p:cNvPr id="47" name="Title 1">
            <a:extLst>
              <a:ext uri="{FF2B5EF4-FFF2-40B4-BE49-F238E27FC236}">
                <a16:creationId xmlns:a16="http://schemas.microsoft.com/office/drawing/2014/main" id="{D24437C8-68F3-C9F8-F0CC-97C994915495}"/>
              </a:ext>
              <a:ext uri="{C183D7F6-B498-43B3-948B-1728B52AA6E4}">
                <adec:decorative xmlns:adec="http://schemas.microsoft.com/office/drawing/2017/decorative" val="0"/>
              </a:ext>
            </a:extLst>
          </p:cNvPr>
          <p:cNvSpPr txBox="1">
            <a:spLocks/>
          </p:cNvSpPr>
          <p:nvPr/>
        </p:nvSpPr>
        <p:spPr>
          <a:xfrm>
            <a:off x="1333945" y="2859824"/>
            <a:ext cx="804707" cy="276999"/>
          </a:xfrm>
          <a:prstGeom prst="rect">
            <a:avLst/>
          </a:prstGeom>
          <a:noFill/>
          <a:ln>
            <a:noFill/>
            <a:prstDash/>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defTabSz="1930227" fontAlgn="base">
              <a:spcBef>
                <a:spcPct val="0"/>
              </a:spcBef>
              <a:spcAft>
                <a:spcPct val="0"/>
              </a:spcAft>
              <a:tabLst>
                <a:tab pos="1963747" algn="l"/>
              </a:tabLst>
              <a:defRPr sz="2400" b="1" spc="-50">
                <a:ln w="3175">
                  <a:noFill/>
                </a:ln>
                <a:latin typeface="Segoe Sans Display Semibold" pitchFamily="2" charset="0"/>
                <a:cs typeface="Segoe Sans Display" pitchFamily="2" charset="0"/>
              </a:defRPr>
            </a:lvl1pPr>
          </a:lstStyle>
          <a:p>
            <a:pPr algn="ctr">
              <a:defRPr/>
            </a:pPr>
            <a:r>
              <a:rPr kumimoji="0" lang="en-US" sz="1800" b="0" i="0" u="none" strike="noStrike" kern="1200" cap="none" spc="-50" normalizeH="0" baseline="0" noProof="0">
                <a:ln w="3175">
                  <a:noFill/>
                </a:ln>
                <a:solidFill>
                  <a:schemeClr val="bg1"/>
                </a:solidFill>
                <a:effectLst/>
                <a:uLnTx/>
                <a:uFillTx/>
                <a:latin typeface="+mj-lt"/>
                <a:ea typeface="+mn-ea"/>
                <a:cs typeface="Segoe Sans Display" pitchFamily="2" charset="0"/>
              </a:rPr>
              <a:t>Building</a:t>
            </a:r>
          </a:p>
        </p:txBody>
      </p:sp>
      <p:sp>
        <p:nvSpPr>
          <p:cNvPr id="48" name="Title 1">
            <a:extLst>
              <a:ext uri="{FF2B5EF4-FFF2-40B4-BE49-F238E27FC236}">
                <a16:creationId xmlns:a16="http://schemas.microsoft.com/office/drawing/2014/main" id="{C24EAAD1-6FC6-4F44-87EB-56A7EFBE425E}"/>
              </a:ext>
              <a:ext uri="{C183D7F6-B498-43B3-948B-1728B52AA6E4}">
                <adec:decorative xmlns:adec="http://schemas.microsoft.com/office/drawing/2017/decorative" val="0"/>
              </a:ext>
            </a:extLst>
          </p:cNvPr>
          <p:cNvSpPr txBox="1">
            <a:spLocks/>
          </p:cNvSpPr>
          <p:nvPr/>
        </p:nvSpPr>
        <p:spPr>
          <a:xfrm>
            <a:off x="3332656" y="2859824"/>
            <a:ext cx="1166986" cy="276999"/>
          </a:xfrm>
          <a:prstGeom prst="rect">
            <a:avLst/>
          </a:prstGeom>
          <a:noFill/>
          <a:ln>
            <a:noFill/>
            <a:prstDash/>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defTabSz="1930227" fontAlgn="base">
              <a:spcBef>
                <a:spcPct val="0"/>
              </a:spcBef>
              <a:spcAft>
                <a:spcPct val="0"/>
              </a:spcAft>
              <a:tabLst>
                <a:tab pos="1963747" algn="l"/>
              </a:tabLst>
              <a:defRPr sz="2400" b="1" spc="-50">
                <a:ln w="3175">
                  <a:noFill/>
                </a:ln>
                <a:latin typeface="Segoe Sans Display Semibold" pitchFamily="2" charset="0"/>
                <a:cs typeface="Segoe Sans Display" pitchFamily="2" charset="0"/>
              </a:defRPr>
            </a:lvl1pPr>
          </a:lstStyle>
          <a:p>
            <a:pPr algn="ctr">
              <a:defRPr/>
            </a:pPr>
            <a:r>
              <a:rPr kumimoji="0" lang="en-US" sz="1800" b="0" i="0" u="none" strike="noStrike" kern="1200" cap="none" spc="-50" normalizeH="0" baseline="0" noProof="0">
                <a:ln w="3175">
                  <a:noFill/>
                </a:ln>
                <a:solidFill>
                  <a:schemeClr val="bg1"/>
                </a:solidFill>
                <a:effectLst/>
                <a:uLnTx/>
                <a:uFillTx/>
                <a:latin typeface="+mj-lt"/>
                <a:ea typeface="+mn-ea"/>
                <a:cs typeface="Segoe Sans Display" pitchFamily="2" charset="0"/>
              </a:rPr>
              <a:t>Connecting</a:t>
            </a:r>
          </a:p>
        </p:txBody>
      </p:sp>
      <p:sp>
        <p:nvSpPr>
          <p:cNvPr id="49" name="Title 1">
            <a:extLst>
              <a:ext uri="{FF2B5EF4-FFF2-40B4-BE49-F238E27FC236}">
                <a16:creationId xmlns:a16="http://schemas.microsoft.com/office/drawing/2014/main" id="{7CBBD8FB-08AF-610F-450E-CF520BAACF4B}"/>
              </a:ext>
              <a:ext uri="{C183D7F6-B498-43B3-948B-1728B52AA6E4}">
                <adec:decorative xmlns:adec="http://schemas.microsoft.com/office/drawing/2017/decorative" val="0"/>
              </a:ext>
            </a:extLst>
          </p:cNvPr>
          <p:cNvSpPr txBox="1">
            <a:spLocks/>
          </p:cNvSpPr>
          <p:nvPr/>
        </p:nvSpPr>
        <p:spPr>
          <a:xfrm>
            <a:off x="5716089" y="2859824"/>
            <a:ext cx="759823" cy="276999"/>
          </a:xfrm>
          <a:prstGeom prst="rect">
            <a:avLst/>
          </a:prstGeom>
          <a:noFill/>
          <a:ln>
            <a:noFill/>
            <a:prstDash/>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defTabSz="1930227" fontAlgn="base">
              <a:spcBef>
                <a:spcPct val="0"/>
              </a:spcBef>
              <a:spcAft>
                <a:spcPct val="0"/>
              </a:spcAft>
              <a:tabLst>
                <a:tab pos="1963747" algn="l"/>
              </a:tabLst>
              <a:defRPr sz="2400" b="1" spc="-50">
                <a:ln w="3175">
                  <a:noFill/>
                </a:ln>
                <a:latin typeface="Segoe Sans Display Semibold" pitchFamily="2" charset="0"/>
                <a:cs typeface="Segoe Sans Display" pitchFamily="2" charset="0"/>
              </a:defRPr>
            </a:lvl1pPr>
          </a:lstStyle>
          <a:p>
            <a:pPr algn="ctr">
              <a:defRPr/>
            </a:pPr>
            <a:r>
              <a:rPr kumimoji="0" lang="en-US" sz="1800" b="0" i="0" u="none" strike="noStrike" kern="1200" cap="none" spc="-50" normalizeH="0" baseline="0" noProof="0">
                <a:ln w="3175">
                  <a:noFill/>
                </a:ln>
                <a:solidFill>
                  <a:schemeClr val="bg1"/>
                </a:solidFill>
                <a:effectLst/>
                <a:uLnTx/>
                <a:uFillTx/>
                <a:latin typeface="+mj-lt"/>
                <a:ea typeface="+mn-ea"/>
                <a:cs typeface="Segoe Sans Display" pitchFamily="2" charset="0"/>
              </a:rPr>
              <a:t>Sharing</a:t>
            </a:r>
          </a:p>
        </p:txBody>
      </p:sp>
      <p:sp>
        <p:nvSpPr>
          <p:cNvPr id="50" name="Title 1">
            <a:extLst>
              <a:ext uri="{FF2B5EF4-FFF2-40B4-BE49-F238E27FC236}">
                <a16:creationId xmlns:a16="http://schemas.microsoft.com/office/drawing/2014/main" id="{5407DA89-9838-1F3A-D25C-F67C5D49953B}"/>
              </a:ext>
              <a:ext uri="{C183D7F6-B498-43B3-948B-1728B52AA6E4}">
                <adec:decorative xmlns:adec="http://schemas.microsoft.com/office/drawing/2017/decorative" val="0"/>
              </a:ext>
            </a:extLst>
          </p:cNvPr>
          <p:cNvSpPr txBox="1">
            <a:spLocks/>
          </p:cNvSpPr>
          <p:nvPr/>
        </p:nvSpPr>
        <p:spPr>
          <a:xfrm>
            <a:off x="7696878" y="2859824"/>
            <a:ext cx="1157946" cy="276999"/>
          </a:xfrm>
          <a:prstGeom prst="rect">
            <a:avLst/>
          </a:prstGeom>
          <a:noFill/>
          <a:ln>
            <a:noFill/>
            <a:prstDash/>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defTabSz="1930227" fontAlgn="base">
              <a:spcBef>
                <a:spcPct val="0"/>
              </a:spcBef>
              <a:spcAft>
                <a:spcPct val="0"/>
              </a:spcAft>
              <a:tabLst>
                <a:tab pos="1963747" algn="l"/>
              </a:tabLst>
              <a:defRPr sz="2400" b="1" spc="-50">
                <a:ln w="3175">
                  <a:noFill/>
                </a:ln>
                <a:latin typeface="Segoe Sans Display Semibold" pitchFamily="2" charset="0"/>
                <a:cs typeface="Segoe Sans Display" pitchFamily="2" charset="0"/>
              </a:defRPr>
            </a:lvl1pPr>
          </a:lstStyle>
          <a:p>
            <a:pPr algn="ctr">
              <a:defRPr/>
            </a:pPr>
            <a:r>
              <a:rPr kumimoji="0" lang="en-US" sz="1800" b="0" i="0" u="none" strike="noStrike" kern="1200" cap="none" spc="-50" normalizeH="0" baseline="0" noProof="0">
                <a:ln w="3175">
                  <a:noFill/>
                </a:ln>
                <a:solidFill>
                  <a:schemeClr val="bg1"/>
                </a:solidFill>
                <a:effectLst/>
                <a:uLnTx/>
                <a:uFillTx/>
                <a:latin typeface="+mj-lt"/>
                <a:ea typeface="+mn-ea"/>
                <a:cs typeface="Segoe Sans Display" pitchFamily="2" charset="0"/>
              </a:rPr>
              <a:t>Promotions</a:t>
            </a:r>
          </a:p>
        </p:txBody>
      </p:sp>
      <p:sp>
        <p:nvSpPr>
          <p:cNvPr id="51" name="Title 1">
            <a:extLst>
              <a:ext uri="{FF2B5EF4-FFF2-40B4-BE49-F238E27FC236}">
                <a16:creationId xmlns:a16="http://schemas.microsoft.com/office/drawing/2014/main" id="{A2727901-86F8-4F05-1483-E564DB15C8DF}"/>
              </a:ext>
              <a:ext uri="{C183D7F6-B498-43B3-948B-1728B52AA6E4}">
                <adec:decorative xmlns:adec="http://schemas.microsoft.com/office/drawing/2017/decorative" val="0"/>
              </a:ext>
            </a:extLst>
          </p:cNvPr>
          <p:cNvSpPr txBox="1">
            <a:spLocks/>
          </p:cNvSpPr>
          <p:nvPr/>
        </p:nvSpPr>
        <p:spPr>
          <a:xfrm>
            <a:off x="10000450" y="2859824"/>
            <a:ext cx="910506" cy="276999"/>
          </a:xfrm>
          <a:prstGeom prst="rect">
            <a:avLst/>
          </a:prstGeom>
          <a:noFill/>
          <a:ln>
            <a:noFill/>
            <a:prstDash/>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defTabSz="1930227" fontAlgn="base">
              <a:spcBef>
                <a:spcPct val="0"/>
              </a:spcBef>
              <a:spcAft>
                <a:spcPct val="0"/>
              </a:spcAft>
              <a:tabLst>
                <a:tab pos="1963747" algn="l"/>
              </a:tabLst>
              <a:defRPr sz="2400" b="1" spc="-50">
                <a:ln w="3175">
                  <a:noFill/>
                </a:ln>
                <a:latin typeface="Segoe Sans Display Semibold" pitchFamily="2" charset="0"/>
                <a:cs typeface="Segoe Sans Display" pitchFamily="2" charset="0"/>
              </a:defRPr>
            </a:lvl1pPr>
          </a:lstStyle>
          <a:p>
            <a:pPr algn="ctr">
              <a:defRPr/>
            </a:pPr>
            <a:r>
              <a:rPr kumimoji="0" lang="en-US" sz="1800" b="0" i="0" u="none" strike="noStrike" kern="1200" cap="none" spc="-50" normalizeH="0" baseline="0" noProof="0">
                <a:ln w="3175">
                  <a:noFill/>
                </a:ln>
                <a:solidFill>
                  <a:schemeClr val="bg1"/>
                </a:solidFill>
                <a:effectLst/>
                <a:uLnTx/>
                <a:uFillTx/>
                <a:latin typeface="+mj-lt"/>
                <a:ea typeface="+mn-ea"/>
                <a:cs typeface="Segoe Sans Display" pitchFamily="2" charset="0"/>
              </a:rPr>
              <a:t>Incidents</a:t>
            </a:r>
          </a:p>
        </p:txBody>
      </p:sp>
      <p:sp>
        <p:nvSpPr>
          <p:cNvPr id="52" name="TextBox 51">
            <a:extLst>
              <a:ext uri="{FF2B5EF4-FFF2-40B4-BE49-F238E27FC236}">
                <a16:creationId xmlns:a16="http://schemas.microsoft.com/office/drawing/2014/main" id="{4D748BE6-41CC-2483-694B-4944DA529D96}"/>
              </a:ext>
            </a:extLst>
          </p:cNvPr>
          <p:cNvSpPr txBox="1"/>
          <p:nvPr/>
        </p:nvSpPr>
        <p:spPr>
          <a:xfrm>
            <a:off x="835453" y="3497105"/>
            <a:ext cx="1801690" cy="723275"/>
          </a:xfrm>
          <a:prstGeom prst="rect">
            <a:avLst/>
          </a:prstGeom>
          <a:noFill/>
        </p:spPr>
        <p:txBody>
          <a:bodyPr wrap="square" lIns="0" tIns="0" rIns="0" bIns="0" rtlCol="0">
            <a:spAutoFit/>
          </a:bodyPr>
          <a:lstStyle/>
          <a:p>
            <a:pPr algn="ctr">
              <a:spcAft>
                <a:spcPts val="600"/>
              </a:spcAft>
            </a:pPr>
            <a:r>
              <a:rPr lang="en-US" sz="1400"/>
              <a:t>Where should I build?</a:t>
            </a:r>
          </a:p>
          <a:p>
            <a:pPr algn="ctr">
              <a:spcAft>
                <a:spcPts val="600"/>
              </a:spcAft>
            </a:pPr>
            <a:r>
              <a:rPr lang="en-US" sz="1400"/>
              <a:t>What’s allowed in this environment or zone?</a:t>
            </a:r>
          </a:p>
        </p:txBody>
      </p:sp>
      <p:sp>
        <p:nvSpPr>
          <p:cNvPr id="53" name="TextBox 52">
            <a:extLst>
              <a:ext uri="{FF2B5EF4-FFF2-40B4-BE49-F238E27FC236}">
                <a16:creationId xmlns:a16="http://schemas.microsoft.com/office/drawing/2014/main" id="{BFFE4FF6-A7DC-3397-6696-6011023A81B7}"/>
              </a:ext>
            </a:extLst>
          </p:cNvPr>
          <p:cNvSpPr txBox="1"/>
          <p:nvPr/>
        </p:nvSpPr>
        <p:spPr>
          <a:xfrm>
            <a:off x="3015305" y="3497105"/>
            <a:ext cx="1801690" cy="1369606"/>
          </a:xfrm>
          <a:prstGeom prst="rect">
            <a:avLst/>
          </a:prstGeom>
          <a:noFill/>
        </p:spPr>
        <p:txBody>
          <a:bodyPr wrap="square" lIns="0" tIns="0" rIns="0" bIns="0" rtlCol="0">
            <a:spAutoFit/>
          </a:bodyPr>
          <a:lstStyle/>
          <a:p>
            <a:pPr algn="ctr">
              <a:spcAft>
                <a:spcPts val="600"/>
              </a:spcAft>
            </a:pPr>
            <a:r>
              <a:rPr lang="en-US" sz="1400"/>
              <a:t>Which connectors/data sources are appropriate? </a:t>
            </a:r>
          </a:p>
          <a:p>
            <a:pPr algn="ctr">
              <a:spcAft>
                <a:spcPts val="600"/>
              </a:spcAft>
            </a:pPr>
            <a:r>
              <a:rPr lang="en-US" sz="1400"/>
              <a:t>What is restricted by policy?</a:t>
            </a:r>
          </a:p>
        </p:txBody>
      </p:sp>
      <p:sp>
        <p:nvSpPr>
          <p:cNvPr id="54" name="TextBox 53">
            <a:extLst>
              <a:ext uri="{FF2B5EF4-FFF2-40B4-BE49-F238E27FC236}">
                <a16:creationId xmlns:a16="http://schemas.microsoft.com/office/drawing/2014/main" id="{49CB5299-6207-0386-103E-CB2E6084DF47}"/>
              </a:ext>
            </a:extLst>
          </p:cNvPr>
          <p:cNvSpPr txBox="1"/>
          <p:nvPr/>
        </p:nvSpPr>
        <p:spPr>
          <a:xfrm>
            <a:off x="5195157" y="3497105"/>
            <a:ext cx="1801690" cy="938719"/>
          </a:xfrm>
          <a:prstGeom prst="rect">
            <a:avLst/>
          </a:prstGeom>
          <a:noFill/>
        </p:spPr>
        <p:txBody>
          <a:bodyPr wrap="square" lIns="0" tIns="0" rIns="0" bIns="0" rtlCol="0">
            <a:spAutoFit/>
          </a:bodyPr>
          <a:lstStyle/>
          <a:p>
            <a:pPr algn="ctr">
              <a:spcAft>
                <a:spcPts val="600"/>
              </a:spcAft>
            </a:pPr>
            <a:r>
              <a:rPr lang="en-US" sz="1400"/>
              <a:t>Who can I share with?</a:t>
            </a:r>
          </a:p>
          <a:p>
            <a:pPr algn="ctr">
              <a:spcAft>
                <a:spcPts val="600"/>
              </a:spcAft>
            </a:pPr>
            <a:r>
              <a:rPr lang="en-US" sz="1400"/>
              <a:t>What ownership/</a:t>
            </a:r>
            <a:br>
              <a:rPr lang="en-US" sz="1400"/>
            </a:br>
            <a:r>
              <a:rPr lang="en-US" sz="1400"/>
              <a:t>support expectations change when I do?</a:t>
            </a:r>
          </a:p>
        </p:txBody>
      </p:sp>
      <p:sp>
        <p:nvSpPr>
          <p:cNvPr id="55" name="TextBox 54">
            <a:extLst>
              <a:ext uri="{FF2B5EF4-FFF2-40B4-BE49-F238E27FC236}">
                <a16:creationId xmlns:a16="http://schemas.microsoft.com/office/drawing/2014/main" id="{72D8DE7D-5D15-78D2-9CC2-396DA1D5BCA9}"/>
              </a:ext>
            </a:extLst>
          </p:cNvPr>
          <p:cNvSpPr txBox="1"/>
          <p:nvPr/>
        </p:nvSpPr>
        <p:spPr>
          <a:xfrm>
            <a:off x="7375009" y="3497105"/>
            <a:ext cx="1801690" cy="1661993"/>
          </a:xfrm>
          <a:prstGeom prst="rect">
            <a:avLst/>
          </a:prstGeom>
          <a:noFill/>
        </p:spPr>
        <p:txBody>
          <a:bodyPr wrap="square" lIns="0" tIns="0" rIns="0" bIns="0" rtlCol="0">
            <a:spAutoFit/>
          </a:bodyPr>
          <a:lstStyle/>
          <a:p>
            <a:pPr algn="ctr">
              <a:spcAft>
                <a:spcPts val="600"/>
              </a:spcAft>
            </a:pPr>
            <a:r>
              <a:rPr lang="en-US" sz="1400"/>
              <a:t>What is ALM?</a:t>
            </a:r>
          </a:p>
          <a:p>
            <a:pPr algn="ctr">
              <a:spcAft>
                <a:spcPts val="600"/>
              </a:spcAft>
            </a:pPr>
            <a:r>
              <a:rPr lang="en-US" sz="1400"/>
              <a:t>How do I move from dev/test to production safely?</a:t>
            </a:r>
          </a:p>
          <a:p>
            <a:pPr algn="ctr">
              <a:spcAft>
                <a:spcPts val="600"/>
              </a:spcAft>
            </a:pPr>
            <a:r>
              <a:rPr lang="en-US" sz="1400"/>
              <a:t>How do I promote via solutions and pipelines?</a:t>
            </a:r>
          </a:p>
        </p:txBody>
      </p:sp>
      <p:sp>
        <p:nvSpPr>
          <p:cNvPr id="56" name="TextBox 55">
            <a:extLst>
              <a:ext uri="{FF2B5EF4-FFF2-40B4-BE49-F238E27FC236}">
                <a16:creationId xmlns:a16="http://schemas.microsoft.com/office/drawing/2014/main" id="{7645632C-6B5E-8CCD-9181-A86994603915}"/>
              </a:ext>
            </a:extLst>
          </p:cNvPr>
          <p:cNvSpPr txBox="1"/>
          <p:nvPr/>
        </p:nvSpPr>
        <p:spPr>
          <a:xfrm>
            <a:off x="9554858" y="3497105"/>
            <a:ext cx="1801690" cy="1154162"/>
          </a:xfrm>
          <a:prstGeom prst="rect">
            <a:avLst/>
          </a:prstGeom>
          <a:noFill/>
        </p:spPr>
        <p:txBody>
          <a:bodyPr wrap="square" lIns="0" tIns="0" rIns="0" bIns="0" rtlCol="0">
            <a:spAutoFit/>
          </a:bodyPr>
          <a:lstStyle/>
          <a:p>
            <a:pPr algn="ctr">
              <a:spcAft>
                <a:spcPts val="600"/>
              </a:spcAft>
            </a:pPr>
            <a:r>
              <a:rPr lang="en-US" sz="1400"/>
              <a:t>How do I troubleshoot responsibly?</a:t>
            </a:r>
          </a:p>
          <a:p>
            <a:pPr algn="ctr">
              <a:spcAft>
                <a:spcPts val="600"/>
              </a:spcAft>
            </a:pPr>
            <a:r>
              <a:rPr lang="en-US" sz="1400"/>
              <a:t> What are the escalation paths when something fails?</a:t>
            </a:r>
          </a:p>
        </p:txBody>
      </p:sp>
      <p:cxnSp>
        <p:nvCxnSpPr>
          <p:cNvPr id="79" name="Straight Connector 78">
            <a:extLst>
              <a:ext uri="{FF2B5EF4-FFF2-40B4-BE49-F238E27FC236}">
                <a16:creationId xmlns:a16="http://schemas.microsoft.com/office/drawing/2014/main" id="{DE46DC1E-5135-47BF-7FCE-DAD2AB25181E}"/>
              </a:ext>
            </a:extLst>
          </p:cNvPr>
          <p:cNvCxnSpPr>
            <a:cxnSpLocks/>
          </p:cNvCxnSpPr>
          <p:nvPr/>
        </p:nvCxnSpPr>
        <p:spPr>
          <a:xfrm flipV="1">
            <a:off x="2826224" y="3497105"/>
            <a:ext cx="0" cy="166370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D6AA45F4-D14B-43FE-ED47-BE6273804D64}"/>
              </a:ext>
            </a:extLst>
          </p:cNvPr>
          <p:cNvCxnSpPr>
            <a:cxnSpLocks/>
          </p:cNvCxnSpPr>
          <p:nvPr/>
        </p:nvCxnSpPr>
        <p:spPr>
          <a:xfrm flipV="1">
            <a:off x="5006076" y="3497105"/>
            <a:ext cx="0" cy="166370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2F29018-432E-E5EF-FA9A-D13A38E3CB65}"/>
              </a:ext>
            </a:extLst>
          </p:cNvPr>
          <p:cNvCxnSpPr>
            <a:cxnSpLocks/>
          </p:cNvCxnSpPr>
          <p:nvPr/>
        </p:nvCxnSpPr>
        <p:spPr>
          <a:xfrm flipV="1">
            <a:off x="7185928" y="3497105"/>
            <a:ext cx="0" cy="166370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DEBA829-4492-377C-3B64-E94ECF84FACB}"/>
              </a:ext>
            </a:extLst>
          </p:cNvPr>
          <p:cNvCxnSpPr>
            <a:cxnSpLocks/>
          </p:cNvCxnSpPr>
          <p:nvPr/>
        </p:nvCxnSpPr>
        <p:spPr>
          <a:xfrm flipV="1">
            <a:off x="9365780" y="3497105"/>
            <a:ext cx="0" cy="1663700"/>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9E31E95-6841-0233-F874-13E10D3420AA}"/>
              </a:ext>
            </a:extLst>
          </p:cNvPr>
          <p:cNvCxnSpPr>
            <a:cxnSpLocks/>
          </p:cNvCxnSpPr>
          <p:nvPr/>
        </p:nvCxnSpPr>
        <p:spPr>
          <a:xfrm flipV="1">
            <a:off x="2826224" y="2859824"/>
            <a:ext cx="0" cy="276999"/>
          </a:xfrm>
          <a:prstGeom prst="line">
            <a:avLst/>
          </a:prstGeom>
          <a:ln w="6350">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5FF3F41-16D7-571C-DE3D-99D85357612D}"/>
              </a:ext>
            </a:extLst>
          </p:cNvPr>
          <p:cNvCxnSpPr>
            <a:cxnSpLocks/>
          </p:cNvCxnSpPr>
          <p:nvPr/>
        </p:nvCxnSpPr>
        <p:spPr>
          <a:xfrm flipV="1">
            <a:off x="5006076" y="2859824"/>
            <a:ext cx="0" cy="276999"/>
          </a:xfrm>
          <a:prstGeom prst="line">
            <a:avLst/>
          </a:prstGeom>
          <a:ln w="6350">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B87406B-AEE1-F4B7-583D-8913F14F9ADF}"/>
              </a:ext>
            </a:extLst>
          </p:cNvPr>
          <p:cNvCxnSpPr>
            <a:cxnSpLocks/>
          </p:cNvCxnSpPr>
          <p:nvPr/>
        </p:nvCxnSpPr>
        <p:spPr>
          <a:xfrm flipV="1">
            <a:off x="7185928" y="2859824"/>
            <a:ext cx="0" cy="276999"/>
          </a:xfrm>
          <a:prstGeom prst="line">
            <a:avLst/>
          </a:prstGeom>
          <a:ln w="6350">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D2BB170-24FA-13B2-029C-CE103BA0AF3C}"/>
              </a:ext>
            </a:extLst>
          </p:cNvPr>
          <p:cNvCxnSpPr>
            <a:cxnSpLocks/>
          </p:cNvCxnSpPr>
          <p:nvPr/>
        </p:nvCxnSpPr>
        <p:spPr>
          <a:xfrm flipV="1">
            <a:off x="9365780" y="2859824"/>
            <a:ext cx="0" cy="276999"/>
          </a:xfrm>
          <a:prstGeom prst="line">
            <a:avLst/>
          </a:prstGeom>
          <a:ln w="6350">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8" name="Title 9">
            <a:extLst>
              <a:ext uri="{FF2B5EF4-FFF2-40B4-BE49-F238E27FC236}">
                <a16:creationId xmlns:a16="http://schemas.microsoft.com/office/drawing/2014/main" id="{60D9DA76-85F8-AEEE-4512-52C65C9B70FD}"/>
              </a:ext>
            </a:extLst>
          </p:cNvPr>
          <p:cNvSpPr txBox="1">
            <a:spLocks/>
          </p:cNvSpPr>
          <p:nvPr/>
        </p:nvSpPr>
        <p:spPr bwMode="auto">
          <a:xfrm>
            <a:off x="835458" y="5417820"/>
            <a:ext cx="10521085" cy="454572"/>
          </a:xfrm>
          <a:prstGeom prst="roundRect">
            <a:avLst>
              <a:gd name="adj" fmla="val 50000"/>
            </a:avLst>
          </a:prstGeom>
          <a:solidFill>
            <a:schemeClr val="accent1">
              <a:lumMod val="20000"/>
              <a:lumOff val="80000"/>
              <a:alpha val="24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sz="2000">
                <a:solidFill>
                  <a:srgbClr val="FFFFFF"/>
                </a:solidFill>
                <a:latin typeface="Segoe Sans Display"/>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400">
                <a:solidFill>
                  <a:schemeClr val="tx1"/>
                </a:solidFill>
                <a:latin typeface="+mn-lt"/>
              </a:rPr>
              <a:t>Because platform, tenant, and solution change are continuous, skilling must be continuous too.</a:t>
            </a:r>
          </a:p>
        </p:txBody>
      </p:sp>
      <p:grpSp>
        <p:nvGrpSpPr>
          <p:cNvPr id="96" name="Group 95">
            <a:extLst>
              <a:ext uri="{FF2B5EF4-FFF2-40B4-BE49-F238E27FC236}">
                <a16:creationId xmlns:a16="http://schemas.microsoft.com/office/drawing/2014/main" id="{46FCE31C-63E0-B87E-361C-5185D80270E6}"/>
              </a:ext>
            </a:extLst>
          </p:cNvPr>
          <p:cNvGrpSpPr/>
          <p:nvPr/>
        </p:nvGrpSpPr>
        <p:grpSpPr>
          <a:xfrm>
            <a:off x="1398331" y="1797786"/>
            <a:ext cx="675934" cy="675930"/>
            <a:chOff x="1398331" y="1797786"/>
            <a:chExt cx="675934" cy="675930"/>
          </a:xfrm>
        </p:grpSpPr>
        <p:sp>
          <p:nvSpPr>
            <p:cNvPr id="59" name="Oval 58">
              <a:extLst>
                <a:ext uri="{FF2B5EF4-FFF2-40B4-BE49-F238E27FC236}">
                  <a16:creationId xmlns:a16="http://schemas.microsoft.com/office/drawing/2014/main" id="{99BD02DF-4BEA-C502-22ED-93663AD23B0B}"/>
                </a:ext>
                <a:ext uri="{C183D7F6-B498-43B3-948B-1728B52AA6E4}">
                  <adec:decorative xmlns:adec="http://schemas.microsoft.com/office/drawing/2017/decorative" val="1"/>
                </a:ext>
              </a:extLst>
            </p:cNvPr>
            <p:cNvSpPr>
              <a:spLocks/>
            </p:cNvSpPr>
            <p:nvPr/>
          </p:nvSpPr>
          <p:spPr>
            <a:xfrm>
              <a:off x="1398331" y="1797786"/>
              <a:ext cx="675934" cy="675930"/>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grpSp>
          <p:nvGrpSpPr>
            <p:cNvPr id="95" name="Group 94">
              <a:extLst>
                <a:ext uri="{FF2B5EF4-FFF2-40B4-BE49-F238E27FC236}">
                  <a16:creationId xmlns:a16="http://schemas.microsoft.com/office/drawing/2014/main" id="{E77E8A22-55DF-AA4F-9DA7-38CC26BB236B}"/>
                </a:ext>
              </a:extLst>
            </p:cNvPr>
            <p:cNvGrpSpPr/>
            <p:nvPr/>
          </p:nvGrpSpPr>
          <p:grpSpPr>
            <a:xfrm>
              <a:off x="1604874" y="1964902"/>
              <a:ext cx="262848" cy="341698"/>
              <a:chOff x="1681162" y="2071214"/>
              <a:chExt cx="142875" cy="185737"/>
            </a:xfrm>
          </p:grpSpPr>
          <p:sp>
            <p:nvSpPr>
              <p:cNvPr id="93" name="Freeform: Shape 92">
                <a:extLst>
                  <a:ext uri="{FF2B5EF4-FFF2-40B4-BE49-F238E27FC236}">
                    <a16:creationId xmlns:a16="http://schemas.microsoft.com/office/drawing/2014/main" id="{05461D16-F90B-20D1-BB80-2EB96FDFE77D}"/>
                  </a:ext>
                </a:extLst>
              </p:cNvPr>
              <p:cNvSpPr/>
              <p:nvPr/>
            </p:nvSpPr>
            <p:spPr>
              <a:xfrm>
                <a:off x="1681162" y="2071214"/>
                <a:ext cx="142875" cy="185737"/>
              </a:xfrm>
              <a:custGeom>
                <a:avLst/>
                <a:gdLst>
                  <a:gd name="csX0" fmla="*/ 21431 w 142875"/>
                  <a:gd name="csY0" fmla="*/ 0 h 185737"/>
                  <a:gd name="csX1" fmla="*/ 0 w 142875"/>
                  <a:gd name="csY1" fmla="*/ 21431 h 185737"/>
                  <a:gd name="csX2" fmla="*/ 0 w 142875"/>
                  <a:gd name="csY2" fmla="*/ 178594 h 185737"/>
                  <a:gd name="csX3" fmla="*/ 7144 w 142875"/>
                  <a:gd name="csY3" fmla="*/ 185738 h 185737"/>
                  <a:gd name="csX4" fmla="*/ 28575 w 142875"/>
                  <a:gd name="csY4" fmla="*/ 185738 h 185737"/>
                  <a:gd name="csX5" fmla="*/ 28575 w 142875"/>
                  <a:gd name="csY5" fmla="*/ 145256 h 185737"/>
                  <a:gd name="csX6" fmla="*/ 35719 w 142875"/>
                  <a:gd name="csY6" fmla="*/ 138113 h 185737"/>
                  <a:gd name="csX7" fmla="*/ 107156 w 142875"/>
                  <a:gd name="csY7" fmla="*/ 138113 h 185737"/>
                  <a:gd name="csX8" fmla="*/ 114300 w 142875"/>
                  <a:gd name="csY8" fmla="*/ 145256 h 185737"/>
                  <a:gd name="csX9" fmla="*/ 114300 w 142875"/>
                  <a:gd name="csY9" fmla="*/ 185738 h 185737"/>
                  <a:gd name="csX10" fmla="*/ 135731 w 142875"/>
                  <a:gd name="csY10" fmla="*/ 185738 h 185737"/>
                  <a:gd name="csX11" fmla="*/ 142875 w 142875"/>
                  <a:gd name="csY11" fmla="*/ 178594 h 185737"/>
                  <a:gd name="csX12" fmla="*/ 142875 w 142875"/>
                  <a:gd name="csY12" fmla="*/ 92869 h 185737"/>
                  <a:gd name="csX13" fmla="*/ 121444 w 142875"/>
                  <a:gd name="csY13" fmla="*/ 71438 h 185737"/>
                  <a:gd name="csX14" fmla="*/ 114300 w 142875"/>
                  <a:gd name="csY14" fmla="*/ 71438 h 185737"/>
                  <a:gd name="csX15" fmla="*/ 114300 w 142875"/>
                  <a:gd name="csY15" fmla="*/ 21431 h 185737"/>
                  <a:gd name="csX16" fmla="*/ 92869 w 142875"/>
                  <a:gd name="csY16" fmla="*/ 0 h 185737"/>
                  <a:gd name="csX17" fmla="*/ 21431 w 142875"/>
                  <a:gd name="csY17" fmla="*/ 0 h 185737"/>
                  <a:gd name="csX18" fmla="*/ 28575 w 142875"/>
                  <a:gd name="csY18" fmla="*/ 42863 h 185737"/>
                  <a:gd name="csX19" fmla="*/ 38100 w 142875"/>
                  <a:gd name="csY19" fmla="*/ 33338 h 185737"/>
                  <a:gd name="csX20" fmla="*/ 47625 w 142875"/>
                  <a:gd name="csY20" fmla="*/ 42863 h 185737"/>
                  <a:gd name="csX21" fmla="*/ 38100 w 142875"/>
                  <a:gd name="csY21" fmla="*/ 52388 h 185737"/>
                  <a:gd name="csX22" fmla="*/ 28575 w 142875"/>
                  <a:gd name="csY22" fmla="*/ 42863 h 185737"/>
                  <a:gd name="csX23" fmla="*/ 38100 w 142875"/>
                  <a:gd name="csY23" fmla="*/ 100013 h 185737"/>
                  <a:gd name="csX24" fmla="*/ 47625 w 142875"/>
                  <a:gd name="csY24" fmla="*/ 109538 h 185737"/>
                  <a:gd name="csX25" fmla="*/ 38100 w 142875"/>
                  <a:gd name="csY25" fmla="*/ 119063 h 185737"/>
                  <a:gd name="csX26" fmla="*/ 28575 w 142875"/>
                  <a:gd name="csY26" fmla="*/ 109538 h 185737"/>
                  <a:gd name="csX27" fmla="*/ 38100 w 142875"/>
                  <a:gd name="csY27" fmla="*/ 100013 h 185737"/>
                  <a:gd name="csX28" fmla="*/ 28575 w 142875"/>
                  <a:gd name="csY28" fmla="*/ 76200 h 185737"/>
                  <a:gd name="csX29" fmla="*/ 38100 w 142875"/>
                  <a:gd name="csY29" fmla="*/ 66675 h 185737"/>
                  <a:gd name="csX30" fmla="*/ 47625 w 142875"/>
                  <a:gd name="csY30" fmla="*/ 76200 h 185737"/>
                  <a:gd name="csX31" fmla="*/ 38100 w 142875"/>
                  <a:gd name="csY31" fmla="*/ 85725 h 185737"/>
                  <a:gd name="csX32" fmla="*/ 28575 w 142875"/>
                  <a:gd name="csY32" fmla="*/ 76200 h 185737"/>
                  <a:gd name="csX33" fmla="*/ 71438 w 142875"/>
                  <a:gd name="csY33" fmla="*/ 33338 h 185737"/>
                  <a:gd name="csX34" fmla="*/ 80963 w 142875"/>
                  <a:gd name="csY34" fmla="*/ 42863 h 185737"/>
                  <a:gd name="csX35" fmla="*/ 71438 w 142875"/>
                  <a:gd name="csY35" fmla="*/ 52388 h 185737"/>
                  <a:gd name="csX36" fmla="*/ 61913 w 142875"/>
                  <a:gd name="csY36" fmla="*/ 42863 h 185737"/>
                  <a:gd name="csX37" fmla="*/ 71438 w 142875"/>
                  <a:gd name="csY37" fmla="*/ 33338 h 185737"/>
                  <a:gd name="csX38" fmla="*/ 61913 w 142875"/>
                  <a:gd name="csY38" fmla="*/ 109538 h 185737"/>
                  <a:gd name="csX39" fmla="*/ 71438 w 142875"/>
                  <a:gd name="csY39" fmla="*/ 100013 h 185737"/>
                  <a:gd name="csX40" fmla="*/ 80963 w 142875"/>
                  <a:gd name="csY40" fmla="*/ 109538 h 185737"/>
                  <a:gd name="csX41" fmla="*/ 71438 w 142875"/>
                  <a:gd name="csY41" fmla="*/ 119063 h 185737"/>
                  <a:gd name="csX42" fmla="*/ 61913 w 142875"/>
                  <a:gd name="csY42" fmla="*/ 109538 h 185737"/>
                  <a:gd name="csX43" fmla="*/ 104775 w 142875"/>
                  <a:gd name="csY43" fmla="*/ 100013 h 185737"/>
                  <a:gd name="csX44" fmla="*/ 114300 w 142875"/>
                  <a:gd name="csY44" fmla="*/ 109538 h 185737"/>
                  <a:gd name="csX45" fmla="*/ 104775 w 142875"/>
                  <a:gd name="csY45" fmla="*/ 119063 h 185737"/>
                  <a:gd name="csX46" fmla="*/ 95250 w 142875"/>
                  <a:gd name="csY46" fmla="*/ 109538 h 185737"/>
                  <a:gd name="csX47" fmla="*/ 104775 w 142875"/>
                  <a:gd name="csY47" fmla="*/ 100013 h 185737"/>
                  <a:gd name="csX48" fmla="*/ 61913 w 142875"/>
                  <a:gd name="csY48" fmla="*/ 76200 h 185737"/>
                  <a:gd name="csX49" fmla="*/ 71438 w 142875"/>
                  <a:gd name="csY49" fmla="*/ 66675 h 185737"/>
                  <a:gd name="csX50" fmla="*/ 80963 w 142875"/>
                  <a:gd name="csY50" fmla="*/ 76200 h 185737"/>
                  <a:gd name="csX51" fmla="*/ 71438 w 142875"/>
                  <a:gd name="csY51" fmla="*/ 85725 h 185737"/>
                  <a:gd name="csX52" fmla="*/ 61913 w 142875"/>
                  <a:gd name="csY52" fmla="*/ 76200 h 1857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Lst>
                <a:rect l="l" t="t" r="r" b="b"/>
                <a:pathLst>
                  <a:path w="142875" h="185737">
                    <a:moveTo>
                      <a:pt x="21431" y="0"/>
                    </a:moveTo>
                    <a:cubicBezTo>
                      <a:pt x="9595" y="0"/>
                      <a:pt x="0" y="9595"/>
                      <a:pt x="0" y="21431"/>
                    </a:cubicBezTo>
                    <a:lnTo>
                      <a:pt x="0" y="178594"/>
                    </a:lnTo>
                    <a:cubicBezTo>
                      <a:pt x="0" y="182537"/>
                      <a:pt x="3200" y="185738"/>
                      <a:pt x="7144" y="185738"/>
                    </a:cubicBezTo>
                    <a:lnTo>
                      <a:pt x="28575" y="185738"/>
                    </a:lnTo>
                    <a:lnTo>
                      <a:pt x="28575" y="145256"/>
                    </a:lnTo>
                    <a:cubicBezTo>
                      <a:pt x="28575" y="141311"/>
                      <a:pt x="31773" y="138113"/>
                      <a:pt x="35719" y="138113"/>
                    </a:cubicBezTo>
                    <a:lnTo>
                      <a:pt x="107156" y="138113"/>
                    </a:lnTo>
                    <a:cubicBezTo>
                      <a:pt x="111102" y="138113"/>
                      <a:pt x="114300" y="141311"/>
                      <a:pt x="114300" y="145256"/>
                    </a:cubicBezTo>
                    <a:lnTo>
                      <a:pt x="114300" y="185738"/>
                    </a:lnTo>
                    <a:lnTo>
                      <a:pt x="135731" y="185738"/>
                    </a:lnTo>
                    <a:cubicBezTo>
                      <a:pt x="139677" y="185738"/>
                      <a:pt x="142875" y="182539"/>
                      <a:pt x="142875" y="178594"/>
                    </a:cubicBezTo>
                    <a:lnTo>
                      <a:pt x="142875" y="92869"/>
                    </a:lnTo>
                    <a:cubicBezTo>
                      <a:pt x="142875" y="81033"/>
                      <a:pt x="133280" y="71438"/>
                      <a:pt x="121444" y="71438"/>
                    </a:cubicBezTo>
                    <a:lnTo>
                      <a:pt x="114300" y="71438"/>
                    </a:lnTo>
                    <a:lnTo>
                      <a:pt x="114300" y="21431"/>
                    </a:lnTo>
                    <a:cubicBezTo>
                      <a:pt x="114300" y="9595"/>
                      <a:pt x="104705" y="0"/>
                      <a:pt x="92869" y="0"/>
                    </a:cubicBezTo>
                    <a:lnTo>
                      <a:pt x="21431" y="0"/>
                    </a:lnTo>
                    <a:close/>
                    <a:moveTo>
                      <a:pt x="28575" y="42863"/>
                    </a:moveTo>
                    <a:cubicBezTo>
                      <a:pt x="28575" y="37602"/>
                      <a:pt x="32839" y="33338"/>
                      <a:pt x="38100" y="33338"/>
                    </a:cubicBezTo>
                    <a:cubicBezTo>
                      <a:pt x="43361" y="33338"/>
                      <a:pt x="47625" y="37602"/>
                      <a:pt x="47625" y="42863"/>
                    </a:cubicBezTo>
                    <a:cubicBezTo>
                      <a:pt x="47625" y="48123"/>
                      <a:pt x="43361" y="52388"/>
                      <a:pt x="38100" y="52388"/>
                    </a:cubicBezTo>
                    <a:cubicBezTo>
                      <a:pt x="32839" y="52388"/>
                      <a:pt x="28575" y="48123"/>
                      <a:pt x="28575" y="42863"/>
                    </a:cubicBezTo>
                    <a:close/>
                    <a:moveTo>
                      <a:pt x="38100" y="100013"/>
                    </a:moveTo>
                    <a:cubicBezTo>
                      <a:pt x="43361" y="100013"/>
                      <a:pt x="47625" y="104277"/>
                      <a:pt x="47625" y="109538"/>
                    </a:cubicBezTo>
                    <a:cubicBezTo>
                      <a:pt x="47625" y="114798"/>
                      <a:pt x="43361" y="119063"/>
                      <a:pt x="38100" y="119063"/>
                    </a:cubicBezTo>
                    <a:cubicBezTo>
                      <a:pt x="32839" y="119063"/>
                      <a:pt x="28575" y="114798"/>
                      <a:pt x="28575" y="109538"/>
                    </a:cubicBezTo>
                    <a:cubicBezTo>
                      <a:pt x="28575" y="104277"/>
                      <a:pt x="32839" y="100013"/>
                      <a:pt x="38100" y="100013"/>
                    </a:cubicBezTo>
                    <a:close/>
                    <a:moveTo>
                      <a:pt x="28575" y="76200"/>
                    </a:moveTo>
                    <a:cubicBezTo>
                      <a:pt x="28575" y="70939"/>
                      <a:pt x="32839" y="66675"/>
                      <a:pt x="38100" y="66675"/>
                    </a:cubicBezTo>
                    <a:cubicBezTo>
                      <a:pt x="43361" y="66675"/>
                      <a:pt x="47625" y="70939"/>
                      <a:pt x="47625" y="76200"/>
                    </a:cubicBezTo>
                    <a:cubicBezTo>
                      <a:pt x="47625" y="81461"/>
                      <a:pt x="43361" y="85725"/>
                      <a:pt x="38100" y="85725"/>
                    </a:cubicBezTo>
                    <a:cubicBezTo>
                      <a:pt x="32839" y="85725"/>
                      <a:pt x="28575" y="81461"/>
                      <a:pt x="28575" y="76200"/>
                    </a:cubicBezTo>
                    <a:close/>
                    <a:moveTo>
                      <a:pt x="71438" y="33338"/>
                    </a:moveTo>
                    <a:cubicBezTo>
                      <a:pt x="76698" y="33338"/>
                      <a:pt x="80963" y="37602"/>
                      <a:pt x="80963" y="42863"/>
                    </a:cubicBezTo>
                    <a:cubicBezTo>
                      <a:pt x="80963" y="48123"/>
                      <a:pt x="76698" y="52388"/>
                      <a:pt x="71438" y="52388"/>
                    </a:cubicBezTo>
                    <a:cubicBezTo>
                      <a:pt x="66177" y="52388"/>
                      <a:pt x="61913" y="48123"/>
                      <a:pt x="61913" y="42863"/>
                    </a:cubicBezTo>
                    <a:cubicBezTo>
                      <a:pt x="61913" y="37602"/>
                      <a:pt x="66177" y="33338"/>
                      <a:pt x="71438" y="33338"/>
                    </a:cubicBezTo>
                    <a:close/>
                    <a:moveTo>
                      <a:pt x="61913" y="109538"/>
                    </a:moveTo>
                    <a:cubicBezTo>
                      <a:pt x="61913" y="104277"/>
                      <a:pt x="66177" y="100013"/>
                      <a:pt x="71438" y="100013"/>
                    </a:cubicBezTo>
                    <a:cubicBezTo>
                      <a:pt x="76698" y="100013"/>
                      <a:pt x="80963" y="104277"/>
                      <a:pt x="80963" y="109538"/>
                    </a:cubicBezTo>
                    <a:cubicBezTo>
                      <a:pt x="80963" y="114798"/>
                      <a:pt x="76698" y="119063"/>
                      <a:pt x="71438" y="119063"/>
                    </a:cubicBezTo>
                    <a:cubicBezTo>
                      <a:pt x="66177" y="119063"/>
                      <a:pt x="61913" y="114798"/>
                      <a:pt x="61913" y="109538"/>
                    </a:cubicBezTo>
                    <a:close/>
                    <a:moveTo>
                      <a:pt x="104775" y="100013"/>
                    </a:moveTo>
                    <a:cubicBezTo>
                      <a:pt x="110036" y="100013"/>
                      <a:pt x="114300" y="104277"/>
                      <a:pt x="114300" y="109538"/>
                    </a:cubicBezTo>
                    <a:cubicBezTo>
                      <a:pt x="114300" y="114798"/>
                      <a:pt x="110036" y="119063"/>
                      <a:pt x="104775" y="119063"/>
                    </a:cubicBezTo>
                    <a:cubicBezTo>
                      <a:pt x="99514" y="119063"/>
                      <a:pt x="95250" y="114798"/>
                      <a:pt x="95250" y="109538"/>
                    </a:cubicBezTo>
                    <a:cubicBezTo>
                      <a:pt x="95250" y="104277"/>
                      <a:pt x="99514" y="100013"/>
                      <a:pt x="104775" y="100013"/>
                    </a:cubicBezTo>
                    <a:close/>
                    <a:moveTo>
                      <a:pt x="61913" y="76200"/>
                    </a:moveTo>
                    <a:cubicBezTo>
                      <a:pt x="61913" y="70939"/>
                      <a:pt x="66177" y="66675"/>
                      <a:pt x="71438" y="66675"/>
                    </a:cubicBezTo>
                    <a:cubicBezTo>
                      <a:pt x="76698" y="66675"/>
                      <a:pt x="80963" y="70939"/>
                      <a:pt x="80963" y="76200"/>
                    </a:cubicBezTo>
                    <a:cubicBezTo>
                      <a:pt x="80963" y="81461"/>
                      <a:pt x="76698" y="85725"/>
                      <a:pt x="71438" y="85725"/>
                    </a:cubicBezTo>
                    <a:cubicBezTo>
                      <a:pt x="66177" y="85725"/>
                      <a:pt x="61913" y="81461"/>
                      <a:pt x="61913" y="76200"/>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
            <p:nvSpPr>
              <p:cNvPr id="94" name="Freeform: Shape 93">
                <a:extLst>
                  <a:ext uri="{FF2B5EF4-FFF2-40B4-BE49-F238E27FC236}">
                    <a16:creationId xmlns:a16="http://schemas.microsoft.com/office/drawing/2014/main" id="{90308710-539E-6796-8B9D-77FB33F98BB5}"/>
                  </a:ext>
                </a:extLst>
              </p:cNvPr>
              <p:cNvSpPr/>
              <p:nvPr/>
            </p:nvSpPr>
            <p:spPr>
              <a:xfrm>
                <a:off x="1724025" y="2223614"/>
                <a:ext cx="57150" cy="33337"/>
              </a:xfrm>
              <a:custGeom>
                <a:avLst/>
                <a:gdLst>
                  <a:gd name="csX0" fmla="*/ 57150 w 57150"/>
                  <a:gd name="csY0" fmla="*/ 33338 h 33337"/>
                  <a:gd name="csX1" fmla="*/ 57150 w 57150"/>
                  <a:gd name="csY1" fmla="*/ 0 h 33337"/>
                  <a:gd name="csX2" fmla="*/ 35719 w 57150"/>
                  <a:gd name="csY2" fmla="*/ 0 h 33337"/>
                  <a:gd name="csX3" fmla="*/ 35719 w 57150"/>
                  <a:gd name="csY3" fmla="*/ 33338 h 33337"/>
                  <a:gd name="csX4" fmla="*/ 57150 w 57150"/>
                  <a:gd name="csY4" fmla="*/ 33338 h 33337"/>
                  <a:gd name="csX5" fmla="*/ 21431 w 57150"/>
                  <a:gd name="csY5" fmla="*/ 33338 h 33337"/>
                  <a:gd name="csX6" fmla="*/ 21431 w 57150"/>
                  <a:gd name="csY6" fmla="*/ 0 h 33337"/>
                  <a:gd name="csX7" fmla="*/ 0 w 57150"/>
                  <a:gd name="csY7" fmla="*/ 0 h 33337"/>
                  <a:gd name="csX8" fmla="*/ 0 w 57150"/>
                  <a:gd name="csY8" fmla="*/ 33338 h 33337"/>
                  <a:gd name="csX9" fmla="*/ 21431 w 57150"/>
                  <a:gd name="csY9" fmla="*/ 33338 h 333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57150" h="33337">
                    <a:moveTo>
                      <a:pt x="57150" y="33338"/>
                    </a:moveTo>
                    <a:lnTo>
                      <a:pt x="57150" y="0"/>
                    </a:lnTo>
                    <a:lnTo>
                      <a:pt x="35719" y="0"/>
                    </a:lnTo>
                    <a:lnTo>
                      <a:pt x="35719" y="33338"/>
                    </a:lnTo>
                    <a:lnTo>
                      <a:pt x="57150" y="33338"/>
                    </a:lnTo>
                    <a:close/>
                    <a:moveTo>
                      <a:pt x="21431" y="33338"/>
                    </a:moveTo>
                    <a:lnTo>
                      <a:pt x="21431" y="0"/>
                    </a:lnTo>
                    <a:lnTo>
                      <a:pt x="0" y="0"/>
                    </a:lnTo>
                    <a:lnTo>
                      <a:pt x="0" y="33338"/>
                    </a:lnTo>
                    <a:lnTo>
                      <a:pt x="21431" y="33338"/>
                    </a:ln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grpSp>
      </p:grpSp>
      <p:grpSp>
        <p:nvGrpSpPr>
          <p:cNvPr id="100" name="Group 99">
            <a:extLst>
              <a:ext uri="{FF2B5EF4-FFF2-40B4-BE49-F238E27FC236}">
                <a16:creationId xmlns:a16="http://schemas.microsoft.com/office/drawing/2014/main" id="{C06141C2-4EB7-B42E-4C46-04AAF62F2E63}"/>
              </a:ext>
            </a:extLst>
          </p:cNvPr>
          <p:cNvGrpSpPr/>
          <p:nvPr/>
        </p:nvGrpSpPr>
        <p:grpSpPr>
          <a:xfrm>
            <a:off x="3578182" y="1797786"/>
            <a:ext cx="675934" cy="675930"/>
            <a:chOff x="3578182" y="1797786"/>
            <a:chExt cx="675934" cy="675930"/>
          </a:xfrm>
        </p:grpSpPr>
        <p:sp>
          <p:nvSpPr>
            <p:cNvPr id="63" name="Oval 62">
              <a:extLst>
                <a:ext uri="{FF2B5EF4-FFF2-40B4-BE49-F238E27FC236}">
                  <a16:creationId xmlns:a16="http://schemas.microsoft.com/office/drawing/2014/main" id="{0D49B7FF-10E7-5FC5-3FDC-B04EAD41C0CE}"/>
                </a:ext>
                <a:ext uri="{C183D7F6-B498-43B3-948B-1728B52AA6E4}">
                  <adec:decorative xmlns:adec="http://schemas.microsoft.com/office/drawing/2017/decorative" val="1"/>
                </a:ext>
              </a:extLst>
            </p:cNvPr>
            <p:cNvSpPr>
              <a:spLocks/>
            </p:cNvSpPr>
            <p:nvPr/>
          </p:nvSpPr>
          <p:spPr>
            <a:xfrm>
              <a:off x="3578182" y="1797786"/>
              <a:ext cx="675934" cy="675930"/>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sp>
          <p:nvSpPr>
            <p:cNvPr id="99" name="Graphic 97">
              <a:extLst>
                <a:ext uri="{FF2B5EF4-FFF2-40B4-BE49-F238E27FC236}">
                  <a16:creationId xmlns:a16="http://schemas.microsoft.com/office/drawing/2014/main" id="{36702048-A2CC-8C50-E9F7-DE63E5F74F90}"/>
                </a:ext>
              </a:extLst>
            </p:cNvPr>
            <p:cNvSpPr/>
            <p:nvPr/>
          </p:nvSpPr>
          <p:spPr>
            <a:xfrm>
              <a:off x="3755943" y="1975456"/>
              <a:ext cx="320412" cy="320590"/>
            </a:xfrm>
            <a:custGeom>
              <a:avLst/>
              <a:gdLst>
                <a:gd name="csX0" fmla="*/ 161920 w 190496"/>
                <a:gd name="csY0" fmla="*/ 23802 h 190603"/>
                <a:gd name="csX1" fmla="*/ 138117 w 190496"/>
                <a:gd name="csY1" fmla="*/ 47624 h 190603"/>
                <a:gd name="csX2" fmla="*/ 133231 w 190496"/>
                <a:gd name="csY2" fmla="*/ 47119 h 190603"/>
                <a:gd name="csX3" fmla="*/ 121039 w 190496"/>
                <a:gd name="csY3" fmla="*/ 67293 h 190603"/>
                <a:gd name="csX4" fmla="*/ 133345 w 190496"/>
                <a:gd name="csY4" fmla="*/ 95325 h 190603"/>
                <a:gd name="csX5" fmla="*/ 133345 w 190496"/>
                <a:gd name="csY5" fmla="*/ 95878 h 190603"/>
                <a:gd name="csX6" fmla="*/ 145689 w 190496"/>
                <a:gd name="csY6" fmla="*/ 98364 h 190603"/>
                <a:gd name="csX7" fmla="*/ 177924 w 190496"/>
                <a:gd name="csY7" fmla="*/ 88618 h 190603"/>
                <a:gd name="csX8" fmla="*/ 187670 w 190496"/>
                <a:gd name="csY8" fmla="*/ 120853 h 190603"/>
                <a:gd name="csX9" fmla="*/ 155435 w 190496"/>
                <a:gd name="csY9" fmla="*/ 130598 h 190603"/>
                <a:gd name="csX10" fmla="*/ 143032 w 190496"/>
                <a:gd name="csY10" fmla="*/ 112403 h 190603"/>
                <a:gd name="csX11" fmla="*/ 130459 w 190496"/>
                <a:gd name="csY11" fmla="*/ 109879 h 190603"/>
                <a:gd name="csX12" fmla="*/ 113866 w 190496"/>
                <a:gd name="csY12" fmla="*/ 128577 h 190603"/>
                <a:gd name="csX13" fmla="*/ 118581 w 190496"/>
                <a:gd name="csY13" fmla="*/ 142979 h 190603"/>
                <a:gd name="csX14" fmla="*/ 119058 w 190496"/>
                <a:gd name="csY14" fmla="*/ 142979 h 190603"/>
                <a:gd name="csX15" fmla="*/ 142853 w 190496"/>
                <a:gd name="csY15" fmla="*/ 166808 h 190603"/>
                <a:gd name="csX16" fmla="*/ 119023 w 190496"/>
                <a:gd name="csY16" fmla="*/ 190604 h 190603"/>
                <a:gd name="csX17" fmla="*/ 95228 w 190496"/>
                <a:gd name="csY17" fmla="*/ 166774 h 190603"/>
                <a:gd name="csX18" fmla="*/ 105037 w 190496"/>
                <a:gd name="csY18" fmla="*/ 147532 h 190603"/>
                <a:gd name="csX19" fmla="*/ 100312 w 190496"/>
                <a:gd name="csY19" fmla="*/ 133092 h 190603"/>
                <a:gd name="csX20" fmla="*/ 64575 w 190496"/>
                <a:gd name="csY20" fmla="*/ 117918 h 190603"/>
                <a:gd name="csX21" fmla="*/ 47477 w 190496"/>
                <a:gd name="csY21" fmla="*/ 125996 h 190603"/>
                <a:gd name="csX22" fmla="*/ 26483 w 190496"/>
                <a:gd name="csY22" fmla="*/ 152327 h 190603"/>
                <a:gd name="csX23" fmla="*/ 152 w 190496"/>
                <a:gd name="csY23" fmla="*/ 131333 h 190603"/>
                <a:gd name="csX24" fmla="*/ 21146 w 190496"/>
                <a:gd name="csY24" fmla="*/ 105002 h 190603"/>
                <a:gd name="csX25" fmla="*/ 41686 w 190496"/>
                <a:gd name="csY25" fmla="*/ 112927 h 190603"/>
                <a:gd name="csX26" fmla="*/ 58393 w 190496"/>
                <a:gd name="csY26" fmla="*/ 105041 h 190603"/>
                <a:gd name="csX27" fmla="*/ 65860 w 190496"/>
                <a:gd name="csY27" fmla="*/ 71065 h 190603"/>
                <a:gd name="csX28" fmla="*/ 56421 w 190496"/>
                <a:gd name="csY28" fmla="*/ 60302 h 190603"/>
                <a:gd name="csX29" fmla="*/ 25494 w 190496"/>
                <a:gd name="csY29" fmla="*/ 46975 h 190603"/>
                <a:gd name="csX30" fmla="*/ 38821 w 190496"/>
                <a:gd name="csY30" fmla="*/ 16048 h 190603"/>
                <a:gd name="csX31" fmla="*/ 69748 w 190496"/>
                <a:gd name="csY31" fmla="*/ 29375 h 190603"/>
                <a:gd name="csX32" fmla="*/ 67508 w 190496"/>
                <a:gd name="csY32" fmla="*/ 51272 h 190603"/>
                <a:gd name="csX33" fmla="*/ 76871 w 190496"/>
                <a:gd name="csY33" fmla="*/ 61940 h 190603"/>
                <a:gd name="csX34" fmla="*/ 95245 w 190496"/>
                <a:gd name="csY34" fmla="*/ 57225 h 190603"/>
                <a:gd name="csX35" fmla="*/ 108904 w 190496"/>
                <a:gd name="csY35" fmla="*/ 59749 h 190603"/>
                <a:gd name="csX36" fmla="*/ 120762 w 190496"/>
                <a:gd name="csY36" fmla="*/ 40128 h 190603"/>
                <a:gd name="csX37" fmla="*/ 121792 w 190496"/>
                <a:gd name="csY37" fmla="*/ 6468 h 190603"/>
                <a:gd name="csX38" fmla="*/ 155453 w 190496"/>
                <a:gd name="csY38" fmla="*/ 7497 h 190603"/>
                <a:gd name="csX39" fmla="*/ 161920 w 190496"/>
                <a:gd name="csY39" fmla="*/ 23811 h 1906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90496" h="190603">
                  <a:moveTo>
                    <a:pt x="161920" y="23802"/>
                  </a:moveTo>
                  <a:cubicBezTo>
                    <a:pt x="161925" y="36953"/>
                    <a:pt x="151268" y="47619"/>
                    <a:pt x="138117" y="47624"/>
                  </a:cubicBezTo>
                  <a:cubicBezTo>
                    <a:pt x="136475" y="47625"/>
                    <a:pt x="134838" y="47455"/>
                    <a:pt x="133231" y="47119"/>
                  </a:cubicBezTo>
                  <a:lnTo>
                    <a:pt x="121039" y="67293"/>
                  </a:lnTo>
                  <a:cubicBezTo>
                    <a:pt x="128889" y="74499"/>
                    <a:pt x="133355" y="84670"/>
                    <a:pt x="133345" y="95325"/>
                  </a:cubicBezTo>
                  <a:lnTo>
                    <a:pt x="133345" y="95878"/>
                  </a:lnTo>
                  <a:lnTo>
                    <a:pt x="145689" y="98364"/>
                  </a:lnTo>
                  <a:cubicBezTo>
                    <a:pt x="151900" y="86771"/>
                    <a:pt x="166332" y="82407"/>
                    <a:pt x="177924" y="88618"/>
                  </a:cubicBezTo>
                  <a:cubicBezTo>
                    <a:pt x="189517" y="94828"/>
                    <a:pt x="193880" y="109260"/>
                    <a:pt x="187670" y="120853"/>
                  </a:cubicBezTo>
                  <a:cubicBezTo>
                    <a:pt x="181460" y="132445"/>
                    <a:pt x="167028" y="136808"/>
                    <a:pt x="155435" y="130598"/>
                  </a:cubicBezTo>
                  <a:cubicBezTo>
                    <a:pt x="148576" y="126924"/>
                    <a:pt x="143945" y="120131"/>
                    <a:pt x="143032" y="112403"/>
                  </a:cubicBezTo>
                  <a:lnTo>
                    <a:pt x="130459" y="109879"/>
                  </a:lnTo>
                  <a:cubicBezTo>
                    <a:pt x="127179" y="117795"/>
                    <a:pt x="121336" y="124379"/>
                    <a:pt x="113866" y="128577"/>
                  </a:cubicBezTo>
                  <a:lnTo>
                    <a:pt x="118581" y="142979"/>
                  </a:lnTo>
                  <a:lnTo>
                    <a:pt x="119058" y="142979"/>
                  </a:lnTo>
                  <a:cubicBezTo>
                    <a:pt x="132209" y="142988"/>
                    <a:pt x="142862" y="153657"/>
                    <a:pt x="142853" y="166808"/>
                  </a:cubicBezTo>
                  <a:cubicBezTo>
                    <a:pt x="142843" y="179960"/>
                    <a:pt x="132174" y="190613"/>
                    <a:pt x="119023" y="190604"/>
                  </a:cubicBezTo>
                  <a:cubicBezTo>
                    <a:pt x="105872" y="190594"/>
                    <a:pt x="95218" y="179925"/>
                    <a:pt x="95228" y="166774"/>
                  </a:cubicBezTo>
                  <a:cubicBezTo>
                    <a:pt x="95234" y="159161"/>
                    <a:pt x="98879" y="152009"/>
                    <a:pt x="105037" y="147532"/>
                  </a:cubicBezTo>
                  <a:lnTo>
                    <a:pt x="100312" y="133092"/>
                  </a:lnTo>
                  <a:cubicBezTo>
                    <a:pt x="86521" y="134951"/>
                    <a:pt x="72815" y="129132"/>
                    <a:pt x="64575" y="117918"/>
                  </a:cubicBezTo>
                  <a:lnTo>
                    <a:pt x="47477" y="125996"/>
                  </a:lnTo>
                  <a:cubicBezTo>
                    <a:pt x="48951" y="139064"/>
                    <a:pt x="39552" y="150853"/>
                    <a:pt x="26483" y="152327"/>
                  </a:cubicBezTo>
                  <a:cubicBezTo>
                    <a:pt x="13415" y="153801"/>
                    <a:pt x="1626" y="144402"/>
                    <a:pt x="152" y="131333"/>
                  </a:cubicBezTo>
                  <a:cubicBezTo>
                    <a:pt x="-1322" y="118264"/>
                    <a:pt x="8078" y="106476"/>
                    <a:pt x="21146" y="105002"/>
                  </a:cubicBezTo>
                  <a:cubicBezTo>
                    <a:pt x="28876" y="104130"/>
                    <a:pt x="36545" y="107089"/>
                    <a:pt x="41686" y="112927"/>
                  </a:cubicBezTo>
                  <a:lnTo>
                    <a:pt x="58393" y="105041"/>
                  </a:lnTo>
                  <a:cubicBezTo>
                    <a:pt x="55274" y="93173"/>
                    <a:pt x="58053" y="80531"/>
                    <a:pt x="65860" y="71065"/>
                  </a:cubicBezTo>
                  <a:lnTo>
                    <a:pt x="56421" y="60302"/>
                  </a:lnTo>
                  <a:cubicBezTo>
                    <a:pt x="44201" y="65162"/>
                    <a:pt x="30354" y="59195"/>
                    <a:pt x="25494" y="46975"/>
                  </a:cubicBezTo>
                  <a:cubicBezTo>
                    <a:pt x="20634" y="34755"/>
                    <a:pt x="26601" y="20908"/>
                    <a:pt x="38821" y="16048"/>
                  </a:cubicBezTo>
                  <a:cubicBezTo>
                    <a:pt x="51041" y="11188"/>
                    <a:pt x="64887" y="17155"/>
                    <a:pt x="69748" y="29375"/>
                  </a:cubicBezTo>
                  <a:cubicBezTo>
                    <a:pt x="72622" y="36602"/>
                    <a:pt x="71786" y="44777"/>
                    <a:pt x="67508" y="51272"/>
                  </a:cubicBezTo>
                  <a:lnTo>
                    <a:pt x="76871" y="61940"/>
                  </a:lnTo>
                  <a:cubicBezTo>
                    <a:pt x="82498" y="58838"/>
                    <a:pt x="88820" y="57215"/>
                    <a:pt x="95245" y="57225"/>
                  </a:cubicBezTo>
                  <a:cubicBezTo>
                    <a:pt x="100055" y="57225"/>
                    <a:pt x="104675" y="58120"/>
                    <a:pt x="108904" y="59749"/>
                  </a:cubicBezTo>
                  <a:lnTo>
                    <a:pt x="120762" y="40128"/>
                  </a:lnTo>
                  <a:cubicBezTo>
                    <a:pt x="111752" y="30548"/>
                    <a:pt x="112213" y="15478"/>
                    <a:pt x="121792" y="6468"/>
                  </a:cubicBezTo>
                  <a:cubicBezTo>
                    <a:pt x="131371" y="-2543"/>
                    <a:pt x="146442" y="-2082"/>
                    <a:pt x="155453" y="7497"/>
                  </a:cubicBezTo>
                  <a:cubicBezTo>
                    <a:pt x="159606" y="11914"/>
                    <a:pt x="161920" y="17748"/>
                    <a:pt x="161920" y="23811"/>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grpSp>
      <p:grpSp>
        <p:nvGrpSpPr>
          <p:cNvPr id="104" name="Group 103">
            <a:extLst>
              <a:ext uri="{FF2B5EF4-FFF2-40B4-BE49-F238E27FC236}">
                <a16:creationId xmlns:a16="http://schemas.microsoft.com/office/drawing/2014/main" id="{10604942-A434-A416-B88D-E51AD9EE9F7B}"/>
              </a:ext>
            </a:extLst>
          </p:cNvPr>
          <p:cNvGrpSpPr/>
          <p:nvPr/>
        </p:nvGrpSpPr>
        <p:grpSpPr>
          <a:xfrm>
            <a:off x="5758033" y="1797786"/>
            <a:ext cx="675934" cy="675930"/>
            <a:chOff x="5758033" y="1797786"/>
            <a:chExt cx="675934" cy="675930"/>
          </a:xfrm>
        </p:grpSpPr>
        <p:sp>
          <p:nvSpPr>
            <p:cNvPr id="70" name="Oval 69">
              <a:extLst>
                <a:ext uri="{FF2B5EF4-FFF2-40B4-BE49-F238E27FC236}">
                  <a16:creationId xmlns:a16="http://schemas.microsoft.com/office/drawing/2014/main" id="{5B8878B0-02D0-754E-6E85-17E045238FCF}"/>
                </a:ext>
                <a:ext uri="{C183D7F6-B498-43B3-948B-1728B52AA6E4}">
                  <adec:decorative xmlns:adec="http://schemas.microsoft.com/office/drawing/2017/decorative" val="1"/>
                </a:ext>
              </a:extLst>
            </p:cNvPr>
            <p:cNvSpPr>
              <a:spLocks/>
            </p:cNvSpPr>
            <p:nvPr/>
          </p:nvSpPr>
          <p:spPr>
            <a:xfrm>
              <a:off x="5758033" y="1797786"/>
              <a:ext cx="675934" cy="675930"/>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sp>
          <p:nvSpPr>
            <p:cNvPr id="103" name="Graphic 101">
              <a:extLst>
                <a:ext uri="{FF2B5EF4-FFF2-40B4-BE49-F238E27FC236}">
                  <a16:creationId xmlns:a16="http://schemas.microsoft.com/office/drawing/2014/main" id="{654C0CE0-C286-2CD1-750F-0BBCDB3B93AB}"/>
                </a:ext>
              </a:extLst>
            </p:cNvPr>
            <p:cNvSpPr/>
            <p:nvPr/>
          </p:nvSpPr>
          <p:spPr>
            <a:xfrm>
              <a:off x="5966906" y="2013432"/>
              <a:ext cx="258188" cy="244638"/>
            </a:xfrm>
            <a:custGeom>
              <a:avLst/>
              <a:gdLst>
                <a:gd name="csX0" fmla="*/ 35719 w 180949"/>
                <a:gd name="csY0" fmla="*/ 9529 h 171454"/>
                <a:gd name="csX1" fmla="*/ 68713 w 180949"/>
                <a:gd name="csY1" fmla="*/ 9529 h 171454"/>
                <a:gd name="csX2" fmla="*/ 75855 w 180949"/>
                <a:gd name="csY2" fmla="*/ 16675 h 171454"/>
                <a:gd name="csX3" fmla="*/ 69685 w 180949"/>
                <a:gd name="csY3" fmla="*/ 23750 h 171454"/>
                <a:gd name="csX4" fmla="*/ 68713 w 180949"/>
                <a:gd name="csY4" fmla="*/ 23817 h 171454"/>
                <a:gd name="csX5" fmla="*/ 35719 w 180949"/>
                <a:gd name="csY5" fmla="*/ 23817 h 171454"/>
                <a:gd name="csX6" fmla="*/ 14335 w 180949"/>
                <a:gd name="csY6" fmla="*/ 43781 h 171454"/>
                <a:gd name="csX7" fmla="*/ 14288 w 180949"/>
                <a:gd name="csY7" fmla="*/ 45248 h 171454"/>
                <a:gd name="csX8" fmla="*/ 14288 w 180949"/>
                <a:gd name="csY8" fmla="*/ 135736 h 171454"/>
                <a:gd name="csX9" fmla="*/ 34252 w 180949"/>
                <a:gd name="csY9" fmla="*/ 157119 h 171454"/>
                <a:gd name="csX10" fmla="*/ 35719 w 180949"/>
                <a:gd name="csY10" fmla="*/ 157167 h 171454"/>
                <a:gd name="csX11" fmla="*/ 126206 w 180949"/>
                <a:gd name="csY11" fmla="*/ 157167 h 171454"/>
                <a:gd name="csX12" fmla="*/ 147590 w 180949"/>
                <a:gd name="csY12" fmla="*/ 137203 h 171454"/>
                <a:gd name="csX13" fmla="*/ 147638 w 180949"/>
                <a:gd name="csY13" fmla="*/ 135736 h 171454"/>
                <a:gd name="csX14" fmla="*/ 147638 w 180949"/>
                <a:gd name="csY14" fmla="*/ 130992 h 171454"/>
                <a:gd name="csX15" fmla="*/ 154719 w 180949"/>
                <a:gd name="csY15" fmla="*/ 123786 h 171454"/>
                <a:gd name="csX16" fmla="*/ 161868 w 180949"/>
                <a:gd name="csY16" fmla="*/ 130030 h 171454"/>
                <a:gd name="csX17" fmla="*/ 161925 w 180949"/>
                <a:gd name="csY17" fmla="*/ 130992 h 171454"/>
                <a:gd name="csX18" fmla="*/ 161925 w 180949"/>
                <a:gd name="csY18" fmla="*/ 135736 h 171454"/>
                <a:gd name="csX19" fmla="*/ 128111 w 180949"/>
                <a:gd name="csY19" fmla="*/ 171407 h 171454"/>
                <a:gd name="csX20" fmla="*/ 126206 w 180949"/>
                <a:gd name="csY20" fmla="*/ 171454 h 171454"/>
                <a:gd name="csX21" fmla="*/ 35719 w 180949"/>
                <a:gd name="csY21" fmla="*/ 171454 h 171454"/>
                <a:gd name="csX22" fmla="*/ 48 w 180949"/>
                <a:gd name="csY22" fmla="*/ 137641 h 171454"/>
                <a:gd name="csX23" fmla="*/ 0 w 180949"/>
                <a:gd name="csY23" fmla="*/ 135736 h 171454"/>
                <a:gd name="csX24" fmla="*/ 0 w 180949"/>
                <a:gd name="csY24" fmla="*/ 45248 h 171454"/>
                <a:gd name="csX25" fmla="*/ 33814 w 180949"/>
                <a:gd name="csY25" fmla="*/ 9577 h 171454"/>
                <a:gd name="csX26" fmla="*/ 35719 w 180949"/>
                <a:gd name="csY26" fmla="*/ 9529 h 171454"/>
                <a:gd name="csX27" fmla="*/ 68713 w 180949"/>
                <a:gd name="csY27" fmla="*/ 9529 h 171454"/>
                <a:gd name="csX28" fmla="*/ 35719 w 180949"/>
                <a:gd name="csY28" fmla="*/ 9529 h 171454"/>
                <a:gd name="csX29" fmla="*/ 109566 w 180949"/>
                <a:gd name="csY29" fmla="*/ 33761 h 171454"/>
                <a:gd name="csX30" fmla="*/ 109566 w 180949"/>
                <a:gd name="csY30" fmla="*/ 7148 h 171454"/>
                <a:gd name="csX31" fmla="*/ 116705 w 180949"/>
                <a:gd name="csY31" fmla="*/ 0 h 171454"/>
                <a:gd name="csX32" fmla="*/ 120872 w 180949"/>
                <a:gd name="csY32" fmla="*/ 1338 h 171454"/>
                <a:gd name="csX33" fmla="*/ 121653 w 180949"/>
                <a:gd name="csY33" fmla="*/ 1995 h 171454"/>
                <a:gd name="csX34" fmla="*/ 178746 w 180949"/>
                <a:gd name="csY34" fmla="*/ 56764 h 171454"/>
                <a:gd name="csX35" fmla="*/ 179480 w 180949"/>
                <a:gd name="csY35" fmla="*/ 66260 h 171454"/>
                <a:gd name="csX36" fmla="*/ 178746 w 180949"/>
                <a:gd name="csY36" fmla="*/ 67070 h 171454"/>
                <a:gd name="csX37" fmla="*/ 121653 w 180949"/>
                <a:gd name="csY37" fmla="*/ 121858 h 171454"/>
                <a:gd name="csX38" fmla="*/ 111553 w 180949"/>
                <a:gd name="csY38" fmla="*/ 121656 h 171454"/>
                <a:gd name="csX39" fmla="*/ 109633 w 180949"/>
                <a:gd name="csY39" fmla="*/ 117724 h 171454"/>
                <a:gd name="csX40" fmla="*/ 109566 w 180949"/>
                <a:gd name="csY40" fmla="*/ 116705 h 171454"/>
                <a:gd name="csX41" fmla="*/ 109566 w 180949"/>
                <a:gd name="csY41" fmla="*/ 90016 h 171454"/>
                <a:gd name="csX42" fmla="*/ 106509 w 180949"/>
                <a:gd name="csY42" fmla="*/ 89959 h 171454"/>
                <a:gd name="csX43" fmla="*/ 41119 w 180949"/>
                <a:gd name="csY43" fmla="*/ 121401 h 171454"/>
                <a:gd name="csX44" fmla="*/ 28680 w 180949"/>
                <a:gd name="csY44" fmla="*/ 115571 h 171454"/>
                <a:gd name="csX45" fmla="*/ 106690 w 180949"/>
                <a:gd name="csY45" fmla="*/ 34047 h 171454"/>
                <a:gd name="csX46" fmla="*/ 109566 w 180949"/>
                <a:gd name="csY46" fmla="*/ 33761 h 171454"/>
                <a:gd name="csX47" fmla="*/ 109566 w 180949"/>
                <a:gd name="csY47" fmla="*/ 7148 h 171454"/>
                <a:gd name="csX48" fmla="*/ 109566 w 180949"/>
                <a:gd name="csY48" fmla="*/ 33761 h 171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Lst>
              <a:rect l="l" t="t" r="r" b="b"/>
              <a:pathLst>
                <a:path w="180949" h="171454">
                  <a:moveTo>
                    <a:pt x="35719" y="9529"/>
                  </a:moveTo>
                  <a:lnTo>
                    <a:pt x="68713" y="9529"/>
                  </a:lnTo>
                  <a:cubicBezTo>
                    <a:pt x="72659" y="9531"/>
                    <a:pt x="75856" y="12730"/>
                    <a:pt x="75855" y="16675"/>
                  </a:cubicBezTo>
                  <a:cubicBezTo>
                    <a:pt x="75854" y="20244"/>
                    <a:pt x="73220" y="23264"/>
                    <a:pt x="69685" y="23750"/>
                  </a:cubicBezTo>
                  <a:lnTo>
                    <a:pt x="68713" y="23817"/>
                  </a:lnTo>
                  <a:lnTo>
                    <a:pt x="35719" y="23817"/>
                  </a:lnTo>
                  <a:cubicBezTo>
                    <a:pt x="24451" y="23816"/>
                    <a:pt x="15106" y="32540"/>
                    <a:pt x="14335" y="43781"/>
                  </a:cubicBezTo>
                  <a:lnTo>
                    <a:pt x="14288" y="45248"/>
                  </a:lnTo>
                  <a:lnTo>
                    <a:pt x="14288" y="135736"/>
                  </a:lnTo>
                  <a:cubicBezTo>
                    <a:pt x="14286" y="147004"/>
                    <a:pt x="23010" y="156348"/>
                    <a:pt x="34252" y="157119"/>
                  </a:cubicBezTo>
                  <a:lnTo>
                    <a:pt x="35719" y="157167"/>
                  </a:lnTo>
                  <a:lnTo>
                    <a:pt x="126206" y="157167"/>
                  </a:lnTo>
                  <a:cubicBezTo>
                    <a:pt x="137474" y="157168"/>
                    <a:pt x="146819" y="148444"/>
                    <a:pt x="147590" y="137203"/>
                  </a:cubicBezTo>
                  <a:lnTo>
                    <a:pt x="147638" y="135736"/>
                  </a:lnTo>
                  <a:lnTo>
                    <a:pt x="147638" y="130992"/>
                  </a:lnTo>
                  <a:cubicBezTo>
                    <a:pt x="147603" y="127047"/>
                    <a:pt x="150773" y="123821"/>
                    <a:pt x="154719" y="123786"/>
                  </a:cubicBezTo>
                  <a:cubicBezTo>
                    <a:pt x="158340" y="123755"/>
                    <a:pt x="161412" y="126438"/>
                    <a:pt x="161868" y="130030"/>
                  </a:cubicBezTo>
                  <a:lnTo>
                    <a:pt x="161925" y="130992"/>
                  </a:lnTo>
                  <a:lnTo>
                    <a:pt x="161925" y="135736"/>
                  </a:lnTo>
                  <a:cubicBezTo>
                    <a:pt x="161927" y="154724"/>
                    <a:pt x="147072" y="170394"/>
                    <a:pt x="128111" y="171407"/>
                  </a:cubicBezTo>
                  <a:lnTo>
                    <a:pt x="126206" y="171454"/>
                  </a:lnTo>
                  <a:lnTo>
                    <a:pt x="35719" y="171454"/>
                  </a:lnTo>
                  <a:cubicBezTo>
                    <a:pt x="16731" y="171456"/>
                    <a:pt x="1060" y="156602"/>
                    <a:pt x="48" y="137641"/>
                  </a:cubicBezTo>
                  <a:lnTo>
                    <a:pt x="0" y="135736"/>
                  </a:lnTo>
                  <a:lnTo>
                    <a:pt x="0" y="45248"/>
                  </a:lnTo>
                  <a:cubicBezTo>
                    <a:pt x="-2" y="26260"/>
                    <a:pt x="14853" y="10590"/>
                    <a:pt x="33814" y="9577"/>
                  </a:cubicBezTo>
                  <a:lnTo>
                    <a:pt x="35719" y="9529"/>
                  </a:lnTo>
                  <a:lnTo>
                    <a:pt x="68713" y="9529"/>
                  </a:lnTo>
                  <a:lnTo>
                    <a:pt x="35719" y="9529"/>
                  </a:lnTo>
                  <a:close/>
                  <a:moveTo>
                    <a:pt x="109566" y="33761"/>
                  </a:moveTo>
                  <a:lnTo>
                    <a:pt x="109566" y="7148"/>
                  </a:lnTo>
                  <a:cubicBezTo>
                    <a:pt x="109564" y="3203"/>
                    <a:pt x="112760" y="2"/>
                    <a:pt x="116705" y="0"/>
                  </a:cubicBezTo>
                  <a:cubicBezTo>
                    <a:pt x="118200" y="-1"/>
                    <a:pt x="119657" y="467"/>
                    <a:pt x="120872" y="1338"/>
                  </a:cubicBezTo>
                  <a:lnTo>
                    <a:pt x="121653" y="1995"/>
                  </a:lnTo>
                  <a:lnTo>
                    <a:pt x="178746" y="56764"/>
                  </a:lnTo>
                  <a:cubicBezTo>
                    <a:pt x="181413" y="59317"/>
                    <a:pt x="181661" y="63431"/>
                    <a:pt x="179480" y="66260"/>
                  </a:cubicBezTo>
                  <a:lnTo>
                    <a:pt x="178746" y="67070"/>
                  </a:lnTo>
                  <a:lnTo>
                    <a:pt x="121653" y="121858"/>
                  </a:lnTo>
                  <a:cubicBezTo>
                    <a:pt x="118808" y="124591"/>
                    <a:pt x="114286" y="124501"/>
                    <a:pt x="111553" y="121656"/>
                  </a:cubicBezTo>
                  <a:cubicBezTo>
                    <a:pt x="110517" y="120579"/>
                    <a:pt x="109846" y="119203"/>
                    <a:pt x="109633" y="117724"/>
                  </a:cubicBezTo>
                  <a:lnTo>
                    <a:pt x="109566" y="116705"/>
                  </a:lnTo>
                  <a:lnTo>
                    <a:pt x="109566" y="90016"/>
                  </a:lnTo>
                  <a:lnTo>
                    <a:pt x="106509" y="89959"/>
                  </a:lnTo>
                  <a:cubicBezTo>
                    <a:pt x="81191" y="89882"/>
                    <a:pt x="59550" y="100274"/>
                    <a:pt x="41119" y="121401"/>
                  </a:cubicBezTo>
                  <a:cubicBezTo>
                    <a:pt x="36395" y="126811"/>
                    <a:pt x="27546" y="122658"/>
                    <a:pt x="28680" y="115571"/>
                  </a:cubicBezTo>
                  <a:cubicBezTo>
                    <a:pt x="36557" y="66613"/>
                    <a:pt x="62970" y="38943"/>
                    <a:pt x="106690" y="34047"/>
                  </a:cubicBezTo>
                  <a:lnTo>
                    <a:pt x="109566" y="33761"/>
                  </a:lnTo>
                  <a:lnTo>
                    <a:pt x="109566" y="7148"/>
                  </a:lnTo>
                  <a:lnTo>
                    <a:pt x="109566" y="33761"/>
                  </a:ln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grpSp>
      <p:grpSp>
        <p:nvGrpSpPr>
          <p:cNvPr id="108" name="Group 107">
            <a:extLst>
              <a:ext uri="{FF2B5EF4-FFF2-40B4-BE49-F238E27FC236}">
                <a16:creationId xmlns:a16="http://schemas.microsoft.com/office/drawing/2014/main" id="{DE83A55E-5120-5867-AA16-60B1182BB07A}"/>
              </a:ext>
            </a:extLst>
          </p:cNvPr>
          <p:cNvGrpSpPr/>
          <p:nvPr/>
        </p:nvGrpSpPr>
        <p:grpSpPr>
          <a:xfrm>
            <a:off x="7937884" y="1797786"/>
            <a:ext cx="675934" cy="675930"/>
            <a:chOff x="7937884" y="1797786"/>
            <a:chExt cx="675934" cy="675930"/>
          </a:xfrm>
        </p:grpSpPr>
        <p:sp>
          <p:nvSpPr>
            <p:cNvPr id="73" name="Oval 72">
              <a:extLst>
                <a:ext uri="{FF2B5EF4-FFF2-40B4-BE49-F238E27FC236}">
                  <a16:creationId xmlns:a16="http://schemas.microsoft.com/office/drawing/2014/main" id="{676DC483-4FFD-0F48-A949-DF204669B04A}"/>
                </a:ext>
                <a:ext uri="{C183D7F6-B498-43B3-948B-1728B52AA6E4}">
                  <adec:decorative xmlns:adec="http://schemas.microsoft.com/office/drawing/2017/decorative" val="1"/>
                </a:ext>
              </a:extLst>
            </p:cNvPr>
            <p:cNvSpPr>
              <a:spLocks/>
            </p:cNvSpPr>
            <p:nvPr/>
          </p:nvSpPr>
          <p:spPr>
            <a:xfrm>
              <a:off x="7937884" y="1797786"/>
              <a:ext cx="675934" cy="675930"/>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sp>
          <p:nvSpPr>
            <p:cNvPr id="107" name="Graphic 105">
              <a:extLst>
                <a:ext uri="{FF2B5EF4-FFF2-40B4-BE49-F238E27FC236}">
                  <a16:creationId xmlns:a16="http://schemas.microsoft.com/office/drawing/2014/main" id="{7B026FA4-8C41-F524-6D02-0289BFC9D8D3}"/>
                </a:ext>
              </a:extLst>
            </p:cNvPr>
            <p:cNvSpPr/>
            <p:nvPr/>
          </p:nvSpPr>
          <p:spPr>
            <a:xfrm>
              <a:off x="8114786" y="1982357"/>
              <a:ext cx="322130" cy="306788"/>
            </a:xfrm>
            <a:custGeom>
              <a:avLst/>
              <a:gdLst>
                <a:gd name="csX0" fmla="*/ 121482 w 200025"/>
                <a:gd name="csY0" fmla="*/ 66675 h 190500"/>
                <a:gd name="csX1" fmla="*/ 137465 w 200025"/>
                <a:gd name="csY1" fmla="*/ 78581 h 190500"/>
                <a:gd name="csX2" fmla="*/ 130969 w 200025"/>
                <a:gd name="csY2" fmla="*/ 78581 h 190500"/>
                <a:gd name="csX3" fmla="*/ 104775 w 200025"/>
                <a:gd name="csY3" fmla="*/ 104775 h 190500"/>
                <a:gd name="csX4" fmla="*/ 104775 w 200025"/>
                <a:gd name="csY4" fmla="*/ 105251 h 190500"/>
                <a:gd name="csX5" fmla="*/ 85725 w 200025"/>
                <a:gd name="csY5" fmla="*/ 128588 h 190500"/>
                <a:gd name="csX6" fmla="*/ 85725 w 200025"/>
                <a:gd name="csY6" fmla="*/ 170383 h 190500"/>
                <a:gd name="csX7" fmla="*/ 52407 w 200025"/>
                <a:gd name="csY7" fmla="*/ 128578 h 190500"/>
                <a:gd name="csX8" fmla="*/ 52407 w 200025"/>
                <a:gd name="csY8" fmla="*/ 83344 h 190500"/>
                <a:gd name="csX9" fmla="*/ 69075 w 200025"/>
                <a:gd name="csY9" fmla="*/ 66675 h 190500"/>
                <a:gd name="csX10" fmla="*/ 121482 w 200025"/>
                <a:gd name="csY10" fmla="*/ 66675 h 190500"/>
                <a:gd name="csX11" fmla="*/ 164306 w 200025"/>
                <a:gd name="csY11" fmla="*/ 78581 h 190500"/>
                <a:gd name="csX12" fmla="*/ 190500 w 200025"/>
                <a:gd name="csY12" fmla="*/ 104661 h 190500"/>
                <a:gd name="csX13" fmla="*/ 190500 w 200025"/>
                <a:gd name="csY13" fmla="*/ 83344 h 190500"/>
                <a:gd name="csX14" fmla="*/ 173831 w 200025"/>
                <a:gd name="csY14" fmla="*/ 66675 h 190500"/>
                <a:gd name="csX15" fmla="*/ 141684 w 200025"/>
                <a:gd name="csY15" fmla="*/ 66675 h 190500"/>
                <a:gd name="csX16" fmla="*/ 147247 w 200025"/>
                <a:gd name="csY16" fmla="*/ 78581 h 190500"/>
                <a:gd name="csX17" fmla="*/ 164306 w 200025"/>
                <a:gd name="csY17" fmla="*/ 78581 h 190500"/>
                <a:gd name="csX18" fmla="*/ 48873 w 200025"/>
                <a:gd name="csY18" fmla="*/ 66675 h 190500"/>
                <a:gd name="csX19" fmla="*/ 42967 w 200025"/>
                <a:gd name="csY19" fmla="*/ 81248 h 190500"/>
                <a:gd name="csX20" fmla="*/ 42872 w 200025"/>
                <a:gd name="csY20" fmla="*/ 83344 h 190500"/>
                <a:gd name="csX21" fmla="*/ 42872 w 200025"/>
                <a:gd name="csY21" fmla="*/ 128578 h 190500"/>
                <a:gd name="csX22" fmla="*/ 47958 w 200025"/>
                <a:gd name="csY22" fmla="*/ 151105 h 190500"/>
                <a:gd name="csX23" fmla="*/ 1295 w 200025"/>
                <a:gd name="csY23" fmla="*/ 124139 h 190500"/>
                <a:gd name="csX24" fmla="*/ 0 w 200025"/>
                <a:gd name="csY24" fmla="*/ 114290 h 190500"/>
                <a:gd name="csX25" fmla="*/ 0 w 200025"/>
                <a:gd name="csY25" fmla="*/ 83344 h 190500"/>
                <a:gd name="csX26" fmla="*/ 15297 w 200025"/>
                <a:gd name="csY26" fmla="*/ 66732 h 190500"/>
                <a:gd name="csX27" fmla="*/ 16669 w 200025"/>
                <a:gd name="csY27" fmla="*/ 66675 h 190500"/>
                <a:gd name="csX28" fmla="*/ 48873 w 200025"/>
                <a:gd name="csY28" fmla="*/ 66675 h 190500"/>
                <a:gd name="csX29" fmla="*/ 95250 w 200025"/>
                <a:gd name="csY29" fmla="*/ 0 h 190500"/>
                <a:gd name="csX30" fmla="*/ 123825 w 200025"/>
                <a:gd name="csY30" fmla="*/ 28575 h 190500"/>
                <a:gd name="csX31" fmla="*/ 95250 w 200025"/>
                <a:gd name="csY31" fmla="*/ 57150 h 190500"/>
                <a:gd name="csX32" fmla="*/ 66675 w 200025"/>
                <a:gd name="csY32" fmla="*/ 28575 h 190500"/>
                <a:gd name="csX33" fmla="*/ 95250 w 200025"/>
                <a:gd name="csY33" fmla="*/ 0 h 190500"/>
                <a:gd name="csX34" fmla="*/ 157163 w 200025"/>
                <a:gd name="csY34" fmla="*/ 9525 h 190500"/>
                <a:gd name="csX35" fmla="*/ 180975 w 200025"/>
                <a:gd name="csY35" fmla="*/ 33338 h 190500"/>
                <a:gd name="csX36" fmla="*/ 157163 w 200025"/>
                <a:gd name="csY36" fmla="*/ 57150 h 190500"/>
                <a:gd name="csX37" fmla="*/ 133350 w 200025"/>
                <a:gd name="csY37" fmla="*/ 33338 h 190500"/>
                <a:gd name="csX38" fmla="*/ 157163 w 200025"/>
                <a:gd name="csY38" fmla="*/ 9525 h 190500"/>
                <a:gd name="csX39" fmla="*/ 33338 w 200025"/>
                <a:gd name="csY39" fmla="*/ 9525 h 190500"/>
                <a:gd name="csX40" fmla="*/ 57150 w 200025"/>
                <a:gd name="csY40" fmla="*/ 33338 h 190500"/>
                <a:gd name="csX41" fmla="*/ 33338 w 200025"/>
                <a:gd name="csY41" fmla="*/ 57150 h 190500"/>
                <a:gd name="csX42" fmla="*/ 9525 w 200025"/>
                <a:gd name="csY42" fmla="*/ 33338 h 190500"/>
                <a:gd name="csX43" fmla="*/ 33338 w 200025"/>
                <a:gd name="csY43" fmla="*/ 9525 h 190500"/>
                <a:gd name="csX44" fmla="*/ 114300 w 200025"/>
                <a:gd name="csY44" fmla="*/ 114300 h 190500"/>
                <a:gd name="csX45" fmla="*/ 109538 w 200025"/>
                <a:gd name="csY45" fmla="*/ 114300 h 190500"/>
                <a:gd name="csX46" fmla="*/ 95250 w 200025"/>
                <a:gd name="csY46" fmla="*/ 128588 h 190500"/>
                <a:gd name="csX47" fmla="*/ 95250 w 200025"/>
                <a:gd name="csY47" fmla="*/ 142875 h 190500"/>
                <a:gd name="csX48" fmla="*/ 119063 w 200025"/>
                <a:gd name="csY48" fmla="*/ 142875 h 190500"/>
                <a:gd name="csX49" fmla="*/ 119063 w 200025"/>
                <a:gd name="csY49" fmla="*/ 140494 h 190500"/>
                <a:gd name="csX50" fmla="*/ 126206 w 200025"/>
                <a:gd name="csY50" fmla="*/ 133350 h 190500"/>
                <a:gd name="csX51" fmla="*/ 133350 w 200025"/>
                <a:gd name="csY51" fmla="*/ 140494 h 190500"/>
                <a:gd name="csX52" fmla="*/ 133350 w 200025"/>
                <a:gd name="csY52" fmla="*/ 142875 h 190500"/>
                <a:gd name="csX53" fmla="*/ 161925 w 200025"/>
                <a:gd name="csY53" fmla="*/ 142875 h 190500"/>
                <a:gd name="csX54" fmla="*/ 161925 w 200025"/>
                <a:gd name="csY54" fmla="*/ 140494 h 190500"/>
                <a:gd name="csX55" fmla="*/ 169069 w 200025"/>
                <a:gd name="csY55" fmla="*/ 133350 h 190500"/>
                <a:gd name="csX56" fmla="*/ 176213 w 200025"/>
                <a:gd name="csY56" fmla="*/ 140494 h 190500"/>
                <a:gd name="csX57" fmla="*/ 176213 w 200025"/>
                <a:gd name="csY57" fmla="*/ 142875 h 190500"/>
                <a:gd name="csX58" fmla="*/ 200025 w 200025"/>
                <a:gd name="csY58" fmla="*/ 142875 h 190500"/>
                <a:gd name="csX59" fmla="*/ 200025 w 200025"/>
                <a:gd name="csY59" fmla="*/ 128588 h 190500"/>
                <a:gd name="csX60" fmla="*/ 185738 w 200025"/>
                <a:gd name="csY60" fmla="*/ 114300 h 190500"/>
                <a:gd name="csX61" fmla="*/ 180975 w 200025"/>
                <a:gd name="csY61" fmla="*/ 114300 h 190500"/>
                <a:gd name="csX62" fmla="*/ 180975 w 200025"/>
                <a:gd name="csY62" fmla="*/ 104775 h 190500"/>
                <a:gd name="csX63" fmla="*/ 164306 w 200025"/>
                <a:gd name="csY63" fmla="*/ 88106 h 190500"/>
                <a:gd name="csX64" fmla="*/ 130969 w 200025"/>
                <a:gd name="csY64" fmla="*/ 88106 h 190500"/>
                <a:gd name="csX65" fmla="*/ 114300 w 200025"/>
                <a:gd name="csY65" fmla="*/ 104775 h 190500"/>
                <a:gd name="csX66" fmla="*/ 114300 w 200025"/>
                <a:gd name="csY66" fmla="*/ 114300 h 190500"/>
                <a:gd name="csX67" fmla="*/ 128588 w 200025"/>
                <a:gd name="csY67" fmla="*/ 104775 h 190500"/>
                <a:gd name="csX68" fmla="*/ 130969 w 200025"/>
                <a:gd name="csY68" fmla="*/ 102394 h 190500"/>
                <a:gd name="csX69" fmla="*/ 164306 w 200025"/>
                <a:gd name="csY69" fmla="*/ 102394 h 190500"/>
                <a:gd name="csX70" fmla="*/ 166688 w 200025"/>
                <a:gd name="csY70" fmla="*/ 104775 h 190500"/>
                <a:gd name="csX71" fmla="*/ 166688 w 200025"/>
                <a:gd name="csY71" fmla="*/ 114300 h 190500"/>
                <a:gd name="csX72" fmla="*/ 128588 w 200025"/>
                <a:gd name="csY72" fmla="*/ 114300 h 190500"/>
                <a:gd name="csX73" fmla="*/ 128588 w 200025"/>
                <a:gd name="csY73" fmla="*/ 104775 h 190500"/>
                <a:gd name="csX74" fmla="*/ 95250 w 200025"/>
                <a:gd name="csY74" fmla="*/ 176213 h 190500"/>
                <a:gd name="csX75" fmla="*/ 95250 w 200025"/>
                <a:gd name="csY75" fmla="*/ 157163 h 190500"/>
                <a:gd name="csX76" fmla="*/ 119063 w 200025"/>
                <a:gd name="csY76" fmla="*/ 157163 h 190500"/>
                <a:gd name="csX77" fmla="*/ 119063 w 200025"/>
                <a:gd name="csY77" fmla="*/ 164306 h 190500"/>
                <a:gd name="csX78" fmla="*/ 126206 w 200025"/>
                <a:gd name="csY78" fmla="*/ 171450 h 190500"/>
                <a:gd name="csX79" fmla="*/ 133350 w 200025"/>
                <a:gd name="csY79" fmla="*/ 164306 h 190500"/>
                <a:gd name="csX80" fmla="*/ 133350 w 200025"/>
                <a:gd name="csY80" fmla="*/ 157163 h 190500"/>
                <a:gd name="csX81" fmla="*/ 161925 w 200025"/>
                <a:gd name="csY81" fmla="*/ 157163 h 190500"/>
                <a:gd name="csX82" fmla="*/ 161925 w 200025"/>
                <a:gd name="csY82" fmla="*/ 164306 h 190500"/>
                <a:gd name="csX83" fmla="*/ 169069 w 200025"/>
                <a:gd name="csY83" fmla="*/ 171450 h 190500"/>
                <a:gd name="csX84" fmla="*/ 176213 w 200025"/>
                <a:gd name="csY84" fmla="*/ 164306 h 190500"/>
                <a:gd name="csX85" fmla="*/ 176213 w 200025"/>
                <a:gd name="csY85" fmla="*/ 157163 h 190500"/>
                <a:gd name="csX86" fmla="*/ 200025 w 200025"/>
                <a:gd name="csY86" fmla="*/ 157163 h 190500"/>
                <a:gd name="csX87" fmla="*/ 200025 w 200025"/>
                <a:gd name="csY87" fmla="*/ 176213 h 190500"/>
                <a:gd name="csX88" fmla="*/ 185738 w 200025"/>
                <a:gd name="csY88" fmla="*/ 190500 h 190500"/>
                <a:gd name="csX89" fmla="*/ 109538 w 200025"/>
                <a:gd name="csY89" fmla="*/ 190500 h 190500"/>
                <a:gd name="csX90" fmla="*/ 95250 w 200025"/>
                <a:gd name="csY90" fmla="*/ 176213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200025" h="190500">
                  <a:moveTo>
                    <a:pt x="121482" y="66675"/>
                  </a:moveTo>
                  <a:cubicBezTo>
                    <a:pt x="128857" y="66671"/>
                    <a:pt x="135358" y="71514"/>
                    <a:pt x="137465" y="78581"/>
                  </a:cubicBezTo>
                  <a:lnTo>
                    <a:pt x="130969" y="78581"/>
                  </a:lnTo>
                  <a:cubicBezTo>
                    <a:pt x="116502" y="78581"/>
                    <a:pt x="104775" y="90309"/>
                    <a:pt x="104775" y="104775"/>
                  </a:cubicBezTo>
                  <a:lnTo>
                    <a:pt x="104775" y="105251"/>
                  </a:lnTo>
                  <a:cubicBezTo>
                    <a:pt x="93686" y="107515"/>
                    <a:pt x="85723" y="117270"/>
                    <a:pt x="85725" y="128588"/>
                  </a:cubicBezTo>
                  <a:lnTo>
                    <a:pt x="85725" y="170383"/>
                  </a:lnTo>
                  <a:cubicBezTo>
                    <a:pt x="66231" y="165920"/>
                    <a:pt x="52408" y="148577"/>
                    <a:pt x="52407" y="128578"/>
                  </a:cubicBezTo>
                  <a:lnTo>
                    <a:pt x="52407" y="83344"/>
                  </a:lnTo>
                  <a:cubicBezTo>
                    <a:pt x="52407" y="74143"/>
                    <a:pt x="59865" y="66675"/>
                    <a:pt x="69075" y="66675"/>
                  </a:cubicBezTo>
                  <a:lnTo>
                    <a:pt x="121482" y="66675"/>
                  </a:lnTo>
                  <a:close/>
                  <a:moveTo>
                    <a:pt x="164306" y="78581"/>
                  </a:moveTo>
                  <a:cubicBezTo>
                    <a:pt x="178728" y="78581"/>
                    <a:pt x="190437" y="90239"/>
                    <a:pt x="190500" y="104661"/>
                  </a:cubicBezTo>
                  <a:lnTo>
                    <a:pt x="190500" y="83344"/>
                  </a:lnTo>
                  <a:cubicBezTo>
                    <a:pt x="190500" y="74138"/>
                    <a:pt x="183037" y="66675"/>
                    <a:pt x="173831" y="66675"/>
                  </a:cubicBezTo>
                  <a:lnTo>
                    <a:pt x="141684" y="66675"/>
                  </a:lnTo>
                  <a:cubicBezTo>
                    <a:pt x="144466" y="70037"/>
                    <a:pt x="146418" y="74105"/>
                    <a:pt x="147247" y="78581"/>
                  </a:cubicBezTo>
                  <a:lnTo>
                    <a:pt x="164306" y="78581"/>
                  </a:lnTo>
                  <a:close/>
                  <a:moveTo>
                    <a:pt x="48873" y="66675"/>
                  </a:moveTo>
                  <a:cubicBezTo>
                    <a:pt x="45539" y="70695"/>
                    <a:pt x="43396" y="75724"/>
                    <a:pt x="42967" y="81248"/>
                  </a:cubicBezTo>
                  <a:lnTo>
                    <a:pt x="42872" y="83344"/>
                  </a:lnTo>
                  <a:lnTo>
                    <a:pt x="42872" y="128578"/>
                  </a:lnTo>
                  <a:cubicBezTo>
                    <a:pt x="42872" y="136646"/>
                    <a:pt x="44701" y="144285"/>
                    <a:pt x="47958" y="151105"/>
                  </a:cubicBezTo>
                  <a:cubicBezTo>
                    <a:pt x="27626" y="156544"/>
                    <a:pt x="6734" y="144471"/>
                    <a:pt x="1295" y="124139"/>
                  </a:cubicBezTo>
                  <a:cubicBezTo>
                    <a:pt x="435" y="120926"/>
                    <a:pt x="0" y="117616"/>
                    <a:pt x="0" y="114290"/>
                  </a:cubicBezTo>
                  <a:lnTo>
                    <a:pt x="0" y="83344"/>
                  </a:lnTo>
                  <a:cubicBezTo>
                    <a:pt x="0" y="74670"/>
                    <a:pt x="6653" y="67446"/>
                    <a:pt x="15297" y="66732"/>
                  </a:cubicBezTo>
                  <a:lnTo>
                    <a:pt x="16669" y="66675"/>
                  </a:lnTo>
                  <a:lnTo>
                    <a:pt x="48873" y="66675"/>
                  </a:lnTo>
                  <a:close/>
                  <a:moveTo>
                    <a:pt x="95250" y="0"/>
                  </a:moveTo>
                  <a:cubicBezTo>
                    <a:pt x="111032" y="0"/>
                    <a:pt x="123825" y="12793"/>
                    <a:pt x="123825" y="28575"/>
                  </a:cubicBezTo>
                  <a:cubicBezTo>
                    <a:pt x="123825" y="44357"/>
                    <a:pt x="111032" y="57150"/>
                    <a:pt x="95250" y="57150"/>
                  </a:cubicBezTo>
                  <a:cubicBezTo>
                    <a:pt x="79468" y="57150"/>
                    <a:pt x="66675" y="44357"/>
                    <a:pt x="66675" y="28575"/>
                  </a:cubicBezTo>
                  <a:cubicBezTo>
                    <a:pt x="66675" y="12793"/>
                    <a:pt x="79468" y="0"/>
                    <a:pt x="95250" y="0"/>
                  </a:cubicBezTo>
                  <a:close/>
                  <a:moveTo>
                    <a:pt x="157163" y="9525"/>
                  </a:moveTo>
                  <a:cubicBezTo>
                    <a:pt x="170314" y="9525"/>
                    <a:pt x="180975" y="20186"/>
                    <a:pt x="180975" y="33338"/>
                  </a:cubicBezTo>
                  <a:cubicBezTo>
                    <a:pt x="180975" y="46489"/>
                    <a:pt x="170314" y="57150"/>
                    <a:pt x="157163" y="57150"/>
                  </a:cubicBezTo>
                  <a:cubicBezTo>
                    <a:pt x="144011" y="57150"/>
                    <a:pt x="133350" y="46489"/>
                    <a:pt x="133350" y="33338"/>
                  </a:cubicBezTo>
                  <a:cubicBezTo>
                    <a:pt x="133350" y="20186"/>
                    <a:pt x="144011" y="9525"/>
                    <a:pt x="157163" y="9525"/>
                  </a:cubicBezTo>
                  <a:close/>
                  <a:moveTo>
                    <a:pt x="33338" y="9525"/>
                  </a:moveTo>
                  <a:cubicBezTo>
                    <a:pt x="46489" y="9525"/>
                    <a:pt x="57150" y="20186"/>
                    <a:pt x="57150" y="33338"/>
                  </a:cubicBezTo>
                  <a:cubicBezTo>
                    <a:pt x="57150" y="46489"/>
                    <a:pt x="46489" y="57150"/>
                    <a:pt x="33338" y="57150"/>
                  </a:cubicBezTo>
                  <a:cubicBezTo>
                    <a:pt x="20186" y="57150"/>
                    <a:pt x="9525" y="46489"/>
                    <a:pt x="9525" y="33338"/>
                  </a:cubicBezTo>
                  <a:cubicBezTo>
                    <a:pt x="9525" y="20186"/>
                    <a:pt x="20186" y="9525"/>
                    <a:pt x="33338" y="9525"/>
                  </a:cubicBezTo>
                  <a:close/>
                  <a:moveTo>
                    <a:pt x="114300" y="114300"/>
                  </a:moveTo>
                  <a:lnTo>
                    <a:pt x="109538" y="114300"/>
                  </a:lnTo>
                  <a:cubicBezTo>
                    <a:pt x="101647" y="114300"/>
                    <a:pt x="95250" y="120697"/>
                    <a:pt x="95250" y="128588"/>
                  </a:cubicBezTo>
                  <a:lnTo>
                    <a:pt x="95250" y="142875"/>
                  </a:lnTo>
                  <a:lnTo>
                    <a:pt x="119063" y="142875"/>
                  </a:lnTo>
                  <a:lnTo>
                    <a:pt x="119063" y="140494"/>
                  </a:lnTo>
                  <a:cubicBezTo>
                    <a:pt x="119063" y="136548"/>
                    <a:pt x="122261" y="133350"/>
                    <a:pt x="126206" y="133350"/>
                  </a:cubicBezTo>
                  <a:cubicBezTo>
                    <a:pt x="130152" y="133350"/>
                    <a:pt x="133350" y="136548"/>
                    <a:pt x="133350" y="140494"/>
                  </a:cubicBezTo>
                  <a:lnTo>
                    <a:pt x="133350" y="142875"/>
                  </a:lnTo>
                  <a:lnTo>
                    <a:pt x="161925" y="142875"/>
                  </a:lnTo>
                  <a:lnTo>
                    <a:pt x="161925" y="140494"/>
                  </a:lnTo>
                  <a:cubicBezTo>
                    <a:pt x="161925" y="136548"/>
                    <a:pt x="165123" y="133350"/>
                    <a:pt x="169069" y="133350"/>
                  </a:cubicBezTo>
                  <a:cubicBezTo>
                    <a:pt x="173014" y="133350"/>
                    <a:pt x="176213" y="136548"/>
                    <a:pt x="176213" y="140494"/>
                  </a:cubicBezTo>
                  <a:lnTo>
                    <a:pt x="176213" y="142875"/>
                  </a:lnTo>
                  <a:lnTo>
                    <a:pt x="200025" y="142875"/>
                  </a:lnTo>
                  <a:lnTo>
                    <a:pt x="200025" y="128588"/>
                  </a:lnTo>
                  <a:cubicBezTo>
                    <a:pt x="200025" y="120697"/>
                    <a:pt x="193628" y="114300"/>
                    <a:pt x="185738" y="114300"/>
                  </a:cubicBezTo>
                  <a:lnTo>
                    <a:pt x="180975" y="114300"/>
                  </a:lnTo>
                  <a:lnTo>
                    <a:pt x="180975" y="104775"/>
                  </a:lnTo>
                  <a:cubicBezTo>
                    <a:pt x="180975" y="95569"/>
                    <a:pt x="173512" y="88106"/>
                    <a:pt x="164306" y="88106"/>
                  </a:cubicBezTo>
                  <a:lnTo>
                    <a:pt x="130969" y="88106"/>
                  </a:lnTo>
                  <a:cubicBezTo>
                    <a:pt x="121763" y="88106"/>
                    <a:pt x="114300" y="95569"/>
                    <a:pt x="114300" y="104775"/>
                  </a:cubicBezTo>
                  <a:lnTo>
                    <a:pt x="114300" y="114300"/>
                  </a:lnTo>
                  <a:close/>
                  <a:moveTo>
                    <a:pt x="128588" y="104775"/>
                  </a:moveTo>
                  <a:cubicBezTo>
                    <a:pt x="128588" y="103460"/>
                    <a:pt x="129654" y="102394"/>
                    <a:pt x="130969" y="102394"/>
                  </a:cubicBezTo>
                  <a:lnTo>
                    <a:pt x="164306" y="102394"/>
                  </a:lnTo>
                  <a:cubicBezTo>
                    <a:pt x="165621" y="102394"/>
                    <a:pt x="166688" y="103460"/>
                    <a:pt x="166688" y="104775"/>
                  </a:cubicBezTo>
                  <a:lnTo>
                    <a:pt x="166688" y="114300"/>
                  </a:lnTo>
                  <a:lnTo>
                    <a:pt x="128588" y="114300"/>
                  </a:lnTo>
                  <a:lnTo>
                    <a:pt x="128588" y="104775"/>
                  </a:lnTo>
                  <a:close/>
                  <a:moveTo>
                    <a:pt x="95250" y="176213"/>
                  </a:moveTo>
                  <a:lnTo>
                    <a:pt x="95250" y="157163"/>
                  </a:lnTo>
                  <a:lnTo>
                    <a:pt x="119063" y="157163"/>
                  </a:lnTo>
                  <a:lnTo>
                    <a:pt x="119063" y="164306"/>
                  </a:lnTo>
                  <a:cubicBezTo>
                    <a:pt x="119063" y="168252"/>
                    <a:pt x="122261" y="171450"/>
                    <a:pt x="126206" y="171450"/>
                  </a:cubicBezTo>
                  <a:cubicBezTo>
                    <a:pt x="130152" y="171450"/>
                    <a:pt x="133350" y="168252"/>
                    <a:pt x="133350" y="164306"/>
                  </a:cubicBezTo>
                  <a:lnTo>
                    <a:pt x="133350" y="157163"/>
                  </a:lnTo>
                  <a:lnTo>
                    <a:pt x="161925" y="157163"/>
                  </a:lnTo>
                  <a:lnTo>
                    <a:pt x="161925" y="164306"/>
                  </a:lnTo>
                  <a:cubicBezTo>
                    <a:pt x="161925" y="168252"/>
                    <a:pt x="165123" y="171450"/>
                    <a:pt x="169069" y="171450"/>
                  </a:cubicBezTo>
                  <a:cubicBezTo>
                    <a:pt x="173014" y="171450"/>
                    <a:pt x="176213" y="168252"/>
                    <a:pt x="176213" y="164306"/>
                  </a:cubicBezTo>
                  <a:lnTo>
                    <a:pt x="176213" y="157163"/>
                  </a:lnTo>
                  <a:lnTo>
                    <a:pt x="200025" y="157163"/>
                  </a:lnTo>
                  <a:lnTo>
                    <a:pt x="200025" y="176213"/>
                  </a:lnTo>
                  <a:cubicBezTo>
                    <a:pt x="200025" y="184103"/>
                    <a:pt x="193628" y="190500"/>
                    <a:pt x="185738" y="190500"/>
                  </a:cubicBezTo>
                  <a:lnTo>
                    <a:pt x="109538" y="190500"/>
                  </a:lnTo>
                  <a:cubicBezTo>
                    <a:pt x="101647" y="190500"/>
                    <a:pt x="95250" y="184103"/>
                    <a:pt x="95250" y="176213"/>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grpSp>
      <p:grpSp>
        <p:nvGrpSpPr>
          <p:cNvPr id="115" name="Group 114">
            <a:extLst>
              <a:ext uri="{FF2B5EF4-FFF2-40B4-BE49-F238E27FC236}">
                <a16:creationId xmlns:a16="http://schemas.microsoft.com/office/drawing/2014/main" id="{0DA45067-C17B-FE08-E688-660B3EEFFF2F}"/>
              </a:ext>
            </a:extLst>
          </p:cNvPr>
          <p:cNvGrpSpPr/>
          <p:nvPr/>
        </p:nvGrpSpPr>
        <p:grpSpPr>
          <a:xfrm>
            <a:off x="10117736" y="1797786"/>
            <a:ext cx="675934" cy="675930"/>
            <a:chOff x="10117736" y="1797786"/>
            <a:chExt cx="675934" cy="675930"/>
          </a:xfrm>
        </p:grpSpPr>
        <p:sp>
          <p:nvSpPr>
            <p:cNvPr id="76" name="Oval 75">
              <a:extLst>
                <a:ext uri="{FF2B5EF4-FFF2-40B4-BE49-F238E27FC236}">
                  <a16:creationId xmlns:a16="http://schemas.microsoft.com/office/drawing/2014/main" id="{EEF12178-E8CC-10A1-2436-F609C4C639D8}"/>
                </a:ext>
                <a:ext uri="{C183D7F6-B498-43B3-948B-1728B52AA6E4}">
                  <adec:decorative xmlns:adec="http://schemas.microsoft.com/office/drawing/2017/decorative" val="1"/>
                </a:ext>
              </a:extLst>
            </p:cNvPr>
            <p:cNvSpPr>
              <a:spLocks/>
            </p:cNvSpPr>
            <p:nvPr/>
          </p:nvSpPr>
          <p:spPr>
            <a:xfrm>
              <a:off x="10117736" y="1797786"/>
              <a:ext cx="675934" cy="675930"/>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grpSp>
          <p:nvGrpSpPr>
            <p:cNvPr id="114" name="Group 113">
              <a:extLst>
                <a:ext uri="{FF2B5EF4-FFF2-40B4-BE49-F238E27FC236}">
                  <a16:creationId xmlns:a16="http://schemas.microsoft.com/office/drawing/2014/main" id="{C8D34ED8-FBB6-986F-72BB-3C7772086B8F}"/>
                </a:ext>
              </a:extLst>
            </p:cNvPr>
            <p:cNvGrpSpPr/>
            <p:nvPr/>
          </p:nvGrpSpPr>
          <p:grpSpPr>
            <a:xfrm>
              <a:off x="10318158" y="1983727"/>
              <a:ext cx="275090" cy="304048"/>
              <a:chOff x="5991225" y="3333750"/>
              <a:chExt cx="180974" cy="200024"/>
            </a:xfrm>
          </p:grpSpPr>
          <p:sp>
            <p:nvSpPr>
              <p:cNvPr id="112" name="Freeform: Shape 111">
                <a:extLst>
                  <a:ext uri="{FF2B5EF4-FFF2-40B4-BE49-F238E27FC236}">
                    <a16:creationId xmlns:a16="http://schemas.microsoft.com/office/drawing/2014/main" id="{0BCA4108-90F5-09AD-92A8-00DD32502B63}"/>
                  </a:ext>
                </a:extLst>
              </p:cNvPr>
              <p:cNvSpPr/>
              <p:nvPr/>
            </p:nvSpPr>
            <p:spPr>
              <a:xfrm>
                <a:off x="6019799" y="3333750"/>
                <a:ext cx="152400" cy="190500"/>
              </a:xfrm>
              <a:custGeom>
                <a:avLst/>
                <a:gdLst>
                  <a:gd name="csX0" fmla="*/ 76200 w 152400"/>
                  <a:gd name="csY0" fmla="*/ 0 h 190500"/>
                  <a:gd name="csX1" fmla="*/ 76200 w 152400"/>
                  <a:gd name="csY1" fmla="*/ 57150 h 190500"/>
                  <a:gd name="csX2" fmla="*/ 95250 w 152400"/>
                  <a:gd name="csY2" fmla="*/ 76200 h 190500"/>
                  <a:gd name="csX3" fmla="*/ 152400 w 152400"/>
                  <a:gd name="csY3" fmla="*/ 76200 h 190500"/>
                  <a:gd name="csX4" fmla="*/ 152400 w 152400"/>
                  <a:gd name="csY4" fmla="*/ 171450 h 190500"/>
                  <a:gd name="csX5" fmla="*/ 133350 w 152400"/>
                  <a:gd name="csY5" fmla="*/ 190500 h 190500"/>
                  <a:gd name="csX6" fmla="*/ 68485 w 152400"/>
                  <a:gd name="csY6" fmla="*/ 190500 h 190500"/>
                  <a:gd name="csX7" fmla="*/ 66728 w 152400"/>
                  <a:gd name="csY7" fmla="*/ 102960 h 190500"/>
                  <a:gd name="csX8" fmla="*/ 0 w 152400"/>
                  <a:gd name="csY8" fmla="*/ 90468 h 190500"/>
                  <a:gd name="csX9" fmla="*/ 0 w 152400"/>
                  <a:gd name="csY9" fmla="*/ 19050 h 190500"/>
                  <a:gd name="csX10" fmla="*/ 19050 w 152400"/>
                  <a:gd name="csY10" fmla="*/ 0 h 190500"/>
                  <a:gd name="csX11" fmla="*/ 76200 w 152400"/>
                  <a:gd name="csY11" fmla="*/ 0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52400" h="190500">
                    <a:moveTo>
                      <a:pt x="76200" y="0"/>
                    </a:moveTo>
                    <a:lnTo>
                      <a:pt x="76200" y="57150"/>
                    </a:lnTo>
                    <a:cubicBezTo>
                      <a:pt x="76200" y="67671"/>
                      <a:pt x="84729" y="76200"/>
                      <a:pt x="95250" y="76200"/>
                    </a:cubicBezTo>
                    <a:lnTo>
                      <a:pt x="152400" y="76200"/>
                    </a:lnTo>
                    <a:lnTo>
                      <a:pt x="152400" y="171450"/>
                    </a:lnTo>
                    <a:cubicBezTo>
                      <a:pt x="152400" y="181971"/>
                      <a:pt x="143871" y="190500"/>
                      <a:pt x="133350" y="190500"/>
                    </a:cubicBezTo>
                    <a:lnTo>
                      <a:pt x="68485" y="190500"/>
                    </a:lnTo>
                    <a:cubicBezTo>
                      <a:pt x="92173" y="165841"/>
                      <a:pt x="91387" y="126648"/>
                      <a:pt x="66728" y="102960"/>
                    </a:cubicBezTo>
                    <a:cubicBezTo>
                      <a:pt x="48954" y="85886"/>
                      <a:pt x="22746" y="80980"/>
                      <a:pt x="0" y="90468"/>
                    </a:cubicBezTo>
                    <a:lnTo>
                      <a:pt x="0" y="19050"/>
                    </a:lnTo>
                    <a:cubicBezTo>
                      <a:pt x="0" y="8529"/>
                      <a:pt x="8529" y="0"/>
                      <a:pt x="19050" y="0"/>
                    </a:cubicBezTo>
                    <a:lnTo>
                      <a:pt x="76200" y="0"/>
                    </a:ln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sp>
            <p:nvSpPr>
              <p:cNvPr id="113" name="Freeform: Shape 112">
                <a:extLst>
                  <a:ext uri="{FF2B5EF4-FFF2-40B4-BE49-F238E27FC236}">
                    <a16:creationId xmlns:a16="http://schemas.microsoft.com/office/drawing/2014/main" id="{249B336C-724D-9F28-0A30-FA61AB7CE8DB}"/>
                  </a:ext>
                </a:extLst>
              </p:cNvPr>
              <p:cNvSpPr/>
              <p:nvPr/>
            </p:nvSpPr>
            <p:spPr>
              <a:xfrm>
                <a:off x="5991225" y="3338512"/>
                <a:ext cx="176212" cy="195262"/>
              </a:xfrm>
              <a:custGeom>
                <a:avLst/>
                <a:gdLst>
                  <a:gd name="csX0" fmla="*/ 119063 w 176212"/>
                  <a:gd name="csY0" fmla="*/ 0 h 195262"/>
                  <a:gd name="csX1" fmla="*/ 119063 w 176212"/>
                  <a:gd name="csY1" fmla="*/ 52388 h 195262"/>
                  <a:gd name="csX2" fmla="*/ 123825 w 176212"/>
                  <a:gd name="csY2" fmla="*/ 57150 h 195262"/>
                  <a:gd name="csX3" fmla="*/ 176213 w 176212"/>
                  <a:gd name="csY3" fmla="*/ 57150 h 195262"/>
                  <a:gd name="csX4" fmla="*/ 119063 w 176212"/>
                  <a:gd name="csY4" fmla="*/ 0 h 195262"/>
                  <a:gd name="csX5" fmla="*/ 104775 w 176212"/>
                  <a:gd name="csY5" fmla="*/ 142875 h 195262"/>
                  <a:gd name="csX6" fmla="*/ 52388 w 176212"/>
                  <a:gd name="csY6" fmla="*/ 195263 h 195262"/>
                  <a:gd name="csX7" fmla="*/ 0 w 176212"/>
                  <a:gd name="csY7" fmla="*/ 142875 h 195262"/>
                  <a:gd name="csX8" fmla="*/ 52388 w 176212"/>
                  <a:gd name="csY8" fmla="*/ 90488 h 195262"/>
                  <a:gd name="csX9" fmla="*/ 104775 w 176212"/>
                  <a:gd name="csY9" fmla="*/ 142875 h 195262"/>
                  <a:gd name="csX10" fmla="*/ 52388 w 176212"/>
                  <a:gd name="csY10" fmla="*/ 109538 h 195262"/>
                  <a:gd name="csX11" fmla="*/ 47625 w 176212"/>
                  <a:gd name="csY11" fmla="*/ 114300 h 195262"/>
                  <a:gd name="csX12" fmla="*/ 47625 w 176212"/>
                  <a:gd name="csY12" fmla="*/ 152400 h 195262"/>
                  <a:gd name="csX13" fmla="*/ 52388 w 176212"/>
                  <a:gd name="csY13" fmla="*/ 157163 h 195262"/>
                  <a:gd name="csX14" fmla="*/ 57150 w 176212"/>
                  <a:gd name="csY14" fmla="*/ 152400 h 195262"/>
                  <a:gd name="csX15" fmla="*/ 57150 w 176212"/>
                  <a:gd name="csY15" fmla="*/ 114300 h 195262"/>
                  <a:gd name="csX16" fmla="*/ 52388 w 176212"/>
                  <a:gd name="csY16" fmla="*/ 109538 h 195262"/>
                  <a:gd name="csX17" fmla="*/ 52388 w 176212"/>
                  <a:gd name="csY17" fmla="*/ 177403 h 195262"/>
                  <a:gd name="csX18" fmla="*/ 58341 w 176212"/>
                  <a:gd name="csY18" fmla="*/ 171450 h 195262"/>
                  <a:gd name="csX19" fmla="*/ 52388 w 176212"/>
                  <a:gd name="csY19" fmla="*/ 165497 h 195262"/>
                  <a:gd name="csX20" fmla="*/ 46434 w 176212"/>
                  <a:gd name="csY20" fmla="*/ 171450 h 195262"/>
                  <a:gd name="csX21" fmla="*/ 52388 w 176212"/>
                  <a:gd name="csY21" fmla="*/ 177403 h 1952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76212" h="195262">
                    <a:moveTo>
                      <a:pt x="119063" y="0"/>
                    </a:moveTo>
                    <a:lnTo>
                      <a:pt x="119063" y="52388"/>
                    </a:lnTo>
                    <a:cubicBezTo>
                      <a:pt x="119063" y="55018"/>
                      <a:pt x="121195" y="57150"/>
                      <a:pt x="123825" y="57150"/>
                    </a:cubicBezTo>
                    <a:lnTo>
                      <a:pt x="176213" y="57150"/>
                    </a:lnTo>
                    <a:lnTo>
                      <a:pt x="119063" y="0"/>
                    </a:lnTo>
                    <a:close/>
                    <a:moveTo>
                      <a:pt x="104775" y="142875"/>
                    </a:moveTo>
                    <a:cubicBezTo>
                      <a:pt x="104775" y="171808"/>
                      <a:pt x="81320" y="195263"/>
                      <a:pt x="52388" y="195263"/>
                    </a:cubicBezTo>
                    <a:cubicBezTo>
                      <a:pt x="23455" y="195263"/>
                      <a:pt x="0" y="171808"/>
                      <a:pt x="0" y="142875"/>
                    </a:cubicBezTo>
                    <a:cubicBezTo>
                      <a:pt x="0" y="113942"/>
                      <a:pt x="23455" y="90488"/>
                      <a:pt x="52388" y="90488"/>
                    </a:cubicBezTo>
                    <a:cubicBezTo>
                      <a:pt x="81320" y="90488"/>
                      <a:pt x="104775" y="113942"/>
                      <a:pt x="104775" y="142875"/>
                    </a:cubicBezTo>
                    <a:close/>
                    <a:moveTo>
                      <a:pt x="52388" y="109538"/>
                    </a:moveTo>
                    <a:cubicBezTo>
                      <a:pt x="49757" y="109538"/>
                      <a:pt x="47625" y="111670"/>
                      <a:pt x="47625" y="114300"/>
                    </a:cubicBezTo>
                    <a:lnTo>
                      <a:pt x="47625" y="152400"/>
                    </a:lnTo>
                    <a:cubicBezTo>
                      <a:pt x="47625" y="155030"/>
                      <a:pt x="49757" y="157163"/>
                      <a:pt x="52388" y="157163"/>
                    </a:cubicBezTo>
                    <a:cubicBezTo>
                      <a:pt x="55018" y="157163"/>
                      <a:pt x="57150" y="155030"/>
                      <a:pt x="57150" y="152400"/>
                    </a:cubicBezTo>
                    <a:lnTo>
                      <a:pt x="57150" y="114300"/>
                    </a:lnTo>
                    <a:cubicBezTo>
                      <a:pt x="57150" y="111670"/>
                      <a:pt x="55018" y="109538"/>
                      <a:pt x="52388" y="109538"/>
                    </a:cubicBezTo>
                    <a:close/>
                    <a:moveTo>
                      <a:pt x="52388" y="177403"/>
                    </a:moveTo>
                    <a:cubicBezTo>
                      <a:pt x="55675" y="177403"/>
                      <a:pt x="58341" y="174738"/>
                      <a:pt x="58341" y="171450"/>
                    </a:cubicBezTo>
                    <a:cubicBezTo>
                      <a:pt x="58341" y="168162"/>
                      <a:pt x="55675" y="165497"/>
                      <a:pt x="52388" y="165497"/>
                    </a:cubicBezTo>
                    <a:cubicBezTo>
                      <a:pt x="49100" y="165497"/>
                      <a:pt x="46434" y="168162"/>
                      <a:pt x="46434" y="171450"/>
                    </a:cubicBezTo>
                    <a:cubicBezTo>
                      <a:pt x="46434" y="174738"/>
                      <a:pt x="49100" y="177403"/>
                      <a:pt x="52388" y="177403"/>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grpSp>
      </p:grpSp>
    </p:spTree>
    <p:extLst>
      <p:ext uri="{BB962C8B-B14F-4D97-AF65-F5344CB8AC3E}">
        <p14:creationId xmlns:p14="http://schemas.microsoft.com/office/powerpoint/2010/main" val="367509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80F0A-7A19-BEAE-47BE-FD1EDC0207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7ACAC-1EA4-681F-1E59-A6C704847128}"/>
              </a:ext>
            </a:extLst>
          </p:cNvPr>
          <p:cNvSpPr>
            <a:spLocks noGrp="1"/>
          </p:cNvSpPr>
          <p:nvPr>
            <p:ph type="title"/>
          </p:nvPr>
        </p:nvSpPr>
        <p:spPr>
          <a:xfrm>
            <a:off x="588264" y="3152001"/>
            <a:ext cx="6117336" cy="553998"/>
          </a:xfrm>
        </p:spPr>
        <p:txBody>
          <a:bodyPr wrap="square">
            <a:spAutoFit/>
          </a:bodyPr>
          <a:lstStyle/>
          <a:p>
            <a:r>
              <a:rPr lang="en-US" b="1" dirty="0">
                <a:gradFill>
                  <a:gsLst>
                    <a:gs pos="0">
                      <a:srgbClr val="B63EC5"/>
                    </a:gs>
                    <a:gs pos="100000">
                      <a:srgbClr val="0070C0"/>
                    </a:gs>
                  </a:gsLst>
                  <a:path path="circle">
                    <a:fillToRect l="100000" t="100000"/>
                  </a:path>
                </a:gradFill>
                <a:latin typeface="Segoe Sans Display Semibold" pitchFamily="2" charset="0"/>
              </a:rPr>
              <a:t>Customer Examples</a:t>
            </a:r>
          </a:p>
        </p:txBody>
      </p:sp>
      <p:pic>
        <p:nvPicPr>
          <p:cNvPr id="3" name="Picture 2">
            <a:extLst>
              <a:ext uri="{FF2B5EF4-FFF2-40B4-BE49-F238E27FC236}">
                <a16:creationId xmlns:a16="http://schemas.microsoft.com/office/drawing/2014/main" id="{33B3ECCB-8B0E-A5CF-24C7-E1882465DE94}"/>
              </a:ext>
              <a:ext uri="{C183D7F6-B498-43B3-948B-1728B52AA6E4}">
                <adec:decorative xmlns:adec="http://schemas.microsoft.com/office/drawing/2017/decorative" val="1"/>
              </a:ext>
            </a:extLst>
          </p:cNvPr>
          <p:cNvPicPr>
            <a:picLocks noChangeAspect="1"/>
          </p:cNvPicPr>
          <p:nvPr/>
        </p:nvPicPr>
        <p:blipFill>
          <a:blip r:embed="rId3" cstate="screen">
            <a:alphaModFix/>
            <a:extLst>
              <a:ext uri="{28A0092B-C50C-407E-A947-70E740481C1C}">
                <a14:useLocalDpi xmlns:a14="http://schemas.microsoft.com/office/drawing/2010/main"/>
              </a:ext>
            </a:extLst>
          </a:blip>
          <a:srcRect/>
          <a:stretch/>
        </p:blipFill>
        <p:spPr>
          <a:xfrm>
            <a:off x="8086702" y="2"/>
            <a:ext cx="4102718" cy="6858001"/>
          </a:xfrm>
          <a:prstGeom prst="rect">
            <a:avLst/>
          </a:prstGeom>
        </p:spPr>
      </p:pic>
    </p:spTree>
    <p:extLst>
      <p:ext uri="{BB962C8B-B14F-4D97-AF65-F5344CB8AC3E}">
        <p14:creationId xmlns:p14="http://schemas.microsoft.com/office/powerpoint/2010/main" val="381553785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55C9A-D1E6-D80E-5495-1125172141BA}"/>
            </a:ext>
          </a:extLst>
        </p:cNvPr>
        <p:cNvGrpSpPr/>
        <p:nvPr/>
      </p:nvGrpSpPr>
      <p:grpSpPr>
        <a:xfrm>
          <a:off x="0" y="0"/>
          <a:ext cx="0" cy="0"/>
          <a:chOff x="0" y="0"/>
          <a:chExt cx="0" cy="0"/>
        </a:xfrm>
      </p:grpSpPr>
      <p:pic>
        <p:nvPicPr>
          <p:cNvPr id="26" name="Picture 25" descr="A blurry image of a purple object&#10;&#10;AI-generated content may be incorrect.">
            <a:extLst>
              <a:ext uri="{FF2B5EF4-FFF2-40B4-BE49-F238E27FC236}">
                <a16:creationId xmlns:a16="http://schemas.microsoft.com/office/drawing/2014/main" id="{CA56079A-E646-9DD7-82AC-57F80C74ECFC}"/>
              </a:ext>
            </a:extLst>
          </p:cNvPr>
          <p:cNvPicPr>
            <a:picLocks noGrp="1" noRot="1" noChangeAspect="1" noMove="1" noResize="1" noEditPoints="1" noAdjustHandles="1" noChangeArrowheads="1" noChangeShapeType="1" noCrop="1"/>
          </p:cNvPicPr>
          <p:nvPr/>
        </p:nvPicPr>
        <p:blipFill>
          <a:blip r:embed="rId3">
            <a:alphaModFix amt="48000"/>
          </a:blip>
          <a:srcRect l="25924"/>
          <a:stretch>
            <a:fillRect/>
          </a:stretch>
        </p:blipFill>
        <p:spPr>
          <a:xfrm flipV="1">
            <a:off x="0" y="0"/>
            <a:ext cx="12192000" cy="6858000"/>
          </a:xfrm>
          <a:prstGeom prst="rect">
            <a:avLst/>
          </a:prstGeom>
        </p:spPr>
      </p:pic>
      <p:sp>
        <p:nvSpPr>
          <p:cNvPr id="4" name="Rectangle: Rounded Corners 3">
            <a:extLst>
              <a:ext uri="{FF2B5EF4-FFF2-40B4-BE49-F238E27FC236}">
                <a16:creationId xmlns:a16="http://schemas.microsoft.com/office/drawing/2014/main" id="{14C86995-5EB7-089E-F512-99B6AE7BF3F0}"/>
              </a:ext>
              <a:ext uri="{C183D7F6-B498-43B3-948B-1728B52AA6E4}">
                <adec:decorative xmlns:adec="http://schemas.microsoft.com/office/drawing/2017/decorative" val="1"/>
              </a:ext>
            </a:extLst>
          </p:cNvPr>
          <p:cNvSpPr>
            <a:spLocks/>
          </p:cNvSpPr>
          <p:nvPr/>
        </p:nvSpPr>
        <p:spPr bwMode="auto">
          <a:xfrm>
            <a:off x="571500" y="587375"/>
            <a:ext cx="11049000" cy="5683250"/>
          </a:xfrm>
          <a:prstGeom prst="roundRect">
            <a:avLst>
              <a:gd name="adj" fmla="val 3987"/>
            </a:avLst>
          </a:prstGeom>
          <a:noFill/>
          <a:ln w="952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UI"/>
              <a:ea typeface="+mn-ea"/>
              <a:cs typeface="Segoe UI"/>
            </a:endParaRPr>
          </a:p>
        </p:txBody>
      </p:sp>
      <p:sp>
        <p:nvSpPr>
          <p:cNvPr id="5" name="Rectangle: Rounded Corners 4">
            <a:extLst>
              <a:ext uri="{FF2B5EF4-FFF2-40B4-BE49-F238E27FC236}">
                <a16:creationId xmlns:a16="http://schemas.microsoft.com/office/drawing/2014/main" id="{A2D1B273-3873-985E-714E-FFA2B0CFA80B}"/>
              </a:ext>
              <a:ext uri="{C183D7F6-B498-43B3-948B-1728B52AA6E4}">
                <adec:decorative xmlns:adec="http://schemas.microsoft.com/office/drawing/2017/decorative" val="1"/>
              </a:ext>
            </a:extLst>
          </p:cNvPr>
          <p:cNvSpPr>
            <a:spLocks/>
          </p:cNvSpPr>
          <p:nvPr/>
        </p:nvSpPr>
        <p:spPr bwMode="auto">
          <a:xfrm>
            <a:off x="685800" y="684530"/>
            <a:ext cx="10820400" cy="5488940"/>
          </a:xfrm>
          <a:prstGeom prst="roundRect">
            <a:avLst>
              <a:gd name="adj" fmla="val 3987"/>
            </a:avLst>
          </a:prstGeom>
          <a:solidFill>
            <a:schemeClr val="bg1">
              <a:alpha val="79000"/>
            </a:schemeClr>
          </a:solidFill>
          <a:ln w="952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UI"/>
              <a:ea typeface="+mn-ea"/>
              <a:cs typeface="Segoe UI"/>
            </a:endParaRPr>
          </a:p>
        </p:txBody>
      </p:sp>
      <p:sp>
        <p:nvSpPr>
          <p:cNvPr id="6" name="Title 6">
            <a:extLst>
              <a:ext uri="{FF2B5EF4-FFF2-40B4-BE49-F238E27FC236}">
                <a16:creationId xmlns:a16="http://schemas.microsoft.com/office/drawing/2014/main" id="{F617AEE4-ABBA-200A-A656-5A8B17148A18}"/>
              </a:ext>
            </a:extLst>
          </p:cNvPr>
          <p:cNvSpPr txBox="1">
            <a:spLocks/>
          </p:cNvSpPr>
          <p:nvPr/>
        </p:nvSpPr>
        <p:spPr>
          <a:xfrm>
            <a:off x="889000" y="1033888"/>
            <a:ext cx="2248949" cy="615553"/>
          </a:xfrm>
          <a:prstGeom prst="rect">
            <a:avLst/>
          </a:prstGeom>
        </p:spPr>
        <p:txBody>
          <a:bodyPr wrap="square" lIns="0" tIns="0" rIns="0" bIns="0">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defTabSz="828948"/>
            <a:r>
              <a:rPr lang="en-US" sz="4000" spc="-44" dirty="0">
                <a:gradFill flip="none" rotWithShape="1">
                  <a:gsLst>
                    <a:gs pos="0">
                      <a:schemeClr val="accent1"/>
                    </a:gs>
                    <a:gs pos="100000">
                      <a:schemeClr val="accent2"/>
                    </a:gs>
                  </a:gsLst>
                  <a:lin ang="0" scaled="1"/>
                  <a:tileRect/>
                </a:gradFill>
                <a:cs typeface="Segoe UI" panose="020B0502040204020203" pitchFamily="34" charset="0"/>
              </a:rPr>
              <a:t>Heineken </a:t>
            </a:r>
          </a:p>
        </p:txBody>
      </p:sp>
      <p:sp>
        <p:nvSpPr>
          <p:cNvPr id="7" name="Rectangle: Top Corners Rounded 6">
            <a:extLst>
              <a:ext uri="{FF2B5EF4-FFF2-40B4-BE49-F238E27FC236}">
                <a16:creationId xmlns:a16="http://schemas.microsoft.com/office/drawing/2014/main" id="{D7EB3B6C-39A3-ABF5-13BB-7B68897C4BD5}"/>
              </a:ext>
            </a:extLst>
          </p:cNvPr>
          <p:cNvSpPr/>
          <p:nvPr/>
        </p:nvSpPr>
        <p:spPr bwMode="auto">
          <a:xfrm>
            <a:off x="9071514" y="869043"/>
            <a:ext cx="2248949" cy="945243"/>
          </a:xfrm>
          <a:prstGeom prst="round2Same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Picture 2" descr="Heineken Logo PNG Transparent Images">
            <a:extLst>
              <a:ext uri="{FF2B5EF4-FFF2-40B4-BE49-F238E27FC236}">
                <a16:creationId xmlns:a16="http://schemas.microsoft.com/office/drawing/2014/main" id="{86BC9305-47A9-CFB5-409E-EE6B15E891D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291" t="33223" r="10291" b="33223"/>
          <a:stretch>
            <a:fillRect/>
          </a:stretch>
        </p:blipFill>
        <p:spPr bwMode="auto">
          <a:xfrm>
            <a:off x="9296556" y="1088322"/>
            <a:ext cx="1798863" cy="50668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CD99FBD0-5C0D-6B88-6F1E-38264BF4DE2D}"/>
              </a:ext>
            </a:extLst>
          </p:cNvPr>
          <p:cNvCxnSpPr>
            <a:cxnSpLocks/>
          </p:cNvCxnSpPr>
          <p:nvPr/>
        </p:nvCxnSpPr>
        <p:spPr>
          <a:xfrm>
            <a:off x="889000" y="1814286"/>
            <a:ext cx="10431463" cy="0"/>
          </a:xfrm>
          <a:prstGeom prst="line">
            <a:avLst/>
          </a:prstGeom>
          <a:ln>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F667A04-554F-47F4-543A-6E61316AAA42}"/>
              </a:ext>
            </a:extLst>
          </p:cNvPr>
          <p:cNvSpPr txBox="1"/>
          <p:nvPr/>
        </p:nvSpPr>
        <p:spPr>
          <a:xfrm>
            <a:off x="889000" y="2030549"/>
            <a:ext cx="5029200" cy="1831271"/>
          </a:xfrm>
          <a:prstGeom prst="rect">
            <a:avLst/>
          </a:prstGeom>
          <a:noFill/>
        </p:spPr>
        <p:txBody>
          <a:bodyPr wrap="square" lIns="0" tIns="0" rIns="0" bIns="0">
            <a:spAutoFit/>
          </a:bodyPr>
          <a:lstStyle/>
          <a:p>
            <a:pPr marL="0" marR="0" lvl="0" indent="0" defTabSz="932472" rtl="0" eaLnBrk="1" fontAlgn="base" latinLnBrk="0" hangingPunct="1">
              <a:spcBef>
                <a:spcPct val="0"/>
              </a:spcBef>
              <a:spcAft>
                <a:spcPts val="600"/>
              </a:spcAft>
              <a:buClrTx/>
              <a:buSzTx/>
              <a:buFontTx/>
              <a:buNone/>
              <a:tabLst/>
              <a:defRPr/>
            </a:pPr>
            <a:r>
              <a:rPr kumimoji="0" lang="en-US" sz="1800" b="0" i="0" u="none" strike="noStrike" kern="1200" cap="none" spc="0" normalizeH="0" baseline="0" noProof="0">
                <a:ln>
                  <a:noFill/>
                </a:ln>
                <a:solidFill>
                  <a:schemeClr val="accent1"/>
                </a:solidFill>
                <a:effectLst/>
                <a:uLnTx/>
                <a:uFillTx/>
                <a:latin typeface="+mj-lt"/>
                <a:ea typeface="Segoe UI" pitchFamily="34" charset="0"/>
                <a:cs typeface="Segoe UI" pitchFamily="34" charset="0"/>
              </a:rPr>
              <a:t>Problem</a:t>
            </a:r>
          </a:p>
          <a:p>
            <a:pPr defTabSz="932472" fontAlgn="base">
              <a:spcBef>
                <a:spcPct val="0"/>
              </a:spcBef>
              <a:spcAft>
                <a:spcPts val="600"/>
              </a:spcAft>
              <a:defRPr/>
            </a:pPr>
            <a:r>
              <a:rPr lang="en-US" sz="1600">
                <a:cs typeface="Segoe UI" pitchFamily="34" charset="0"/>
              </a:rPr>
              <a:t>Heineken needed a way to manage rapid growth in citizen development as thousands of employees began building apps and automations across the business. </a:t>
            </a:r>
            <a:br>
              <a:rPr lang="en-US" sz="1600">
                <a:cs typeface="Segoe UI" pitchFamily="34" charset="0"/>
              </a:rPr>
            </a:br>
            <a:r>
              <a:rPr lang="en-US" sz="1600">
                <a:cs typeface="Segoe UI" pitchFamily="34" charset="0"/>
              </a:rPr>
              <a:t>The surge in makers created complexity, inconsistent governance, and a need for stronger control over environments, compliance, and lifecycle management.</a:t>
            </a:r>
          </a:p>
        </p:txBody>
      </p:sp>
      <p:sp>
        <p:nvSpPr>
          <p:cNvPr id="11" name="TextBox 10">
            <a:extLst>
              <a:ext uri="{FF2B5EF4-FFF2-40B4-BE49-F238E27FC236}">
                <a16:creationId xmlns:a16="http://schemas.microsoft.com/office/drawing/2014/main" id="{62B364EF-EF19-72EF-30D3-145E621F2BC0}"/>
              </a:ext>
            </a:extLst>
          </p:cNvPr>
          <p:cNvSpPr txBox="1"/>
          <p:nvPr/>
        </p:nvSpPr>
        <p:spPr>
          <a:xfrm>
            <a:off x="6291263" y="2030549"/>
            <a:ext cx="5029200" cy="1831271"/>
          </a:xfrm>
          <a:prstGeom prst="rect">
            <a:avLst/>
          </a:prstGeom>
          <a:noFill/>
        </p:spPr>
        <p:txBody>
          <a:bodyPr wrap="square" lIns="0" tIns="0" rIns="0" bIns="0">
            <a:spAutoFit/>
          </a:bodyPr>
          <a:lstStyle/>
          <a:p>
            <a:pPr marL="0" marR="0" lvl="0" indent="0" defTabSz="932472" rtl="0" eaLnBrk="1" fontAlgn="base" latinLnBrk="0" hangingPunct="1">
              <a:spcBef>
                <a:spcPct val="0"/>
              </a:spcBef>
              <a:spcAft>
                <a:spcPts val="600"/>
              </a:spcAft>
              <a:buClrTx/>
              <a:buSzTx/>
              <a:buFontTx/>
              <a:buNone/>
              <a:tabLst/>
              <a:defRPr/>
            </a:pPr>
            <a:r>
              <a:rPr kumimoji="0" lang="en-US" sz="1800" b="0" i="0" u="none" strike="noStrike" kern="1200" cap="none" spc="0" normalizeH="0" baseline="0" noProof="0">
                <a:ln>
                  <a:noFill/>
                </a:ln>
                <a:solidFill>
                  <a:schemeClr val="accent2"/>
                </a:solidFill>
                <a:effectLst/>
                <a:uLnTx/>
                <a:uFillTx/>
                <a:latin typeface="+mj-lt"/>
                <a:ea typeface="Segoe UI" pitchFamily="34" charset="0"/>
                <a:cs typeface="Segoe UI" pitchFamily="34" charset="0"/>
              </a:rPr>
              <a:t>Solution</a:t>
            </a:r>
          </a:p>
          <a:p>
            <a:pPr defTabSz="932472" fontAlgn="base">
              <a:spcBef>
                <a:spcPct val="0"/>
              </a:spcBef>
              <a:spcAft>
                <a:spcPts val="600"/>
              </a:spcAft>
              <a:defRPr/>
            </a:pPr>
            <a:r>
              <a:rPr lang="en-US" sz="1600">
                <a:cs typeface="Segoe UI" pitchFamily="34" charset="0"/>
              </a:rPr>
              <a:t>Deployed Managed Environments to establish structured governance at global scale. </a:t>
            </a:r>
            <a:r>
              <a:rPr lang="en-US" sz="1600">
                <a:latin typeface="+mj-lt"/>
                <a:cs typeface="Segoe UI" pitchFamily="34" charset="0"/>
              </a:rPr>
              <a:t>A small, five‑person central team now oversees 8,000+ environments</a:t>
            </a:r>
            <a:r>
              <a:rPr lang="en-US" sz="1600">
                <a:cs typeface="Segoe UI" pitchFamily="34" charset="0"/>
              </a:rPr>
              <a:t>, using environment routing, sharing limits, analytics, and pipelines to enforce consistent </a:t>
            </a:r>
            <a:br>
              <a:rPr lang="en-US" sz="1600">
                <a:cs typeface="Segoe UI" pitchFamily="34" charset="0"/>
              </a:rPr>
            </a:br>
            <a:r>
              <a:rPr lang="en-US" sz="1600">
                <a:cs typeface="Segoe UI" pitchFamily="34" charset="0"/>
              </a:rPr>
              <a:t>ALM practices. </a:t>
            </a:r>
          </a:p>
        </p:txBody>
      </p:sp>
      <p:grpSp>
        <p:nvGrpSpPr>
          <p:cNvPr id="12" name="Group 11">
            <a:extLst>
              <a:ext uri="{FF2B5EF4-FFF2-40B4-BE49-F238E27FC236}">
                <a16:creationId xmlns:a16="http://schemas.microsoft.com/office/drawing/2014/main" id="{07E1BC58-5FC5-4AFC-38C0-D713509D434C}"/>
              </a:ext>
            </a:extLst>
          </p:cNvPr>
          <p:cNvGrpSpPr/>
          <p:nvPr/>
        </p:nvGrpSpPr>
        <p:grpSpPr>
          <a:xfrm>
            <a:off x="889000" y="4176047"/>
            <a:ext cx="280194" cy="219705"/>
            <a:chOff x="889000" y="4056597"/>
            <a:chExt cx="148488" cy="116432"/>
          </a:xfrm>
          <a:gradFill flip="none" rotWithShape="1">
            <a:gsLst>
              <a:gs pos="0">
                <a:schemeClr val="accent2"/>
              </a:gs>
              <a:gs pos="100000">
                <a:schemeClr val="accent1"/>
              </a:gs>
            </a:gsLst>
            <a:path path="circle">
              <a:fillToRect r="100000" b="100000"/>
            </a:path>
            <a:tileRect l="-100000" t="-100000"/>
          </a:gradFill>
        </p:grpSpPr>
        <p:sp>
          <p:nvSpPr>
            <p:cNvPr id="13" name="TextBox 12">
              <a:extLst>
                <a:ext uri="{FF2B5EF4-FFF2-40B4-BE49-F238E27FC236}">
                  <a16:creationId xmlns:a16="http://schemas.microsoft.com/office/drawing/2014/main" id="{FC51AE55-26B7-A8E4-7235-06A1B5EA5B22}"/>
                </a:ext>
              </a:extLst>
            </p:cNvPr>
            <p:cNvSpPr txBox="1"/>
            <p:nvPr/>
          </p:nvSpPr>
          <p:spPr>
            <a:xfrm>
              <a:off x="889000" y="4056597"/>
              <a:ext cx="65724" cy="116432"/>
            </a:xfrm>
            <a:custGeom>
              <a:avLst/>
              <a:gdLst/>
              <a:ahLst/>
              <a:cxnLst/>
              <a:rect l="l" t="t" r="r" b="b"/>
              <a:pathLst>
                <a:path w="43205" h="79810">
                  <a:moveTo>
                    <a:pt x="43205" y="0"/>
                  </a:moveTo>
                  <a:lnTo>
                    <a:pt x="43205" y="18002"/>
                  </a:lnTo>
                  <a:cubicBezTo>
                    <a:pt x="33471" y="22403"/>
                    <a:pt x="27737" y="29804"/>
                    <a:pt x="26003" y="40205"/>
                  </a:cubicBezTo>
                  <a:cubicBezTo>
                    <a:pt x="31337" y="41405"/>
                    <a:pt x="35371" y="43839"/>
                    <a:pt x="38105" y="47506"/>
                  </a:cubicBezTo>
                  <a:cubicBezTo>
                    <a:pt x="40838" y="51173"/>
                    <a:pt x="42205" y="55340"/>
                    <a:pt x="42205" y="60007"/>
                  </a:cubicBezTo>
                  <a:cubicBezTo>
                    <a:pt x="42205" y="65475"/>
                    <a:pt x="40238" y="70142"/>
                    <a:pt x="36304" y="74009"/>
                  </a:cubicBezTo>
                  <a:cubicBezTo>
                    <a:pt x="32371" y="77876"/>
                    <a:pt x="27670" y="79810"/>
                    <a:pt x="22203" y="79810"/>
                  </a:cubicBezTo>
                  <a:cubicBezTo>
                    <a:pt x="15935" y="79810"/>
                    <a:pt x="10668" y="77276"/>
                    <a:pt x="6401" y="72209"/>
                  </a:cubicBezTo>
                  <a:cubicBezTo>
                    <a:pt x="2133" y="67142"/>
                    <a:pt x="0" y="60808"/>
                    <a:pt x="0" y="53207"/>
                  </a:cubicBezTo>
                  <a:cubicBezTo>
                    <a:pt x="0" y="47873"/>
                    <a:pt x="967" y="42472"/>
                    <a:pt x="2900" y="37005"/>
                  </a:cubicBezTo>
                  <a:cubicBezTo>
                    <a:pt x="4834" y="31537"/>
                    <a:pt x="7734" y="26337"/>
                    <a:pt x="11601" y="21403"/>
                  </a:cubicBezTo>
                  <a:cubicBezTo>
                    <a:pt x="19202" y="11668"/>
                    <a:pt x="29737" y="4534"/>
                    <a:pt x="4320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600">
                <a:latin typeface="Amasis MT Pro Black" panose="02040A04050005020304" pitchFamily="18" charset="0"/>
              </a:endParaRPr>
            </a:p>
          </p:txBody>
        </p:sp>
        <p:sp>
          <p:nvSpPr>
            <p:cNvPr id="14" name="TextBox 13">
              <a:extLst>
                <a:ext uri="{FF2B5EF4-FFF2-40B4-BE49-F238E27FC236}">
                  <a16:creationId xmlns:a16="http://schemas.microsoft.com/office/drawing/2014/main" id="{BEEBB56A-6573-7BCC-CB3B-1BB6D7E22EFB}"/>
                </a:ext>
              </a:extLst>
            </p:cNvPr>
            <p:cNvSpPr txBox="1"/>
            <p:nvPr/>
          </p:nvSpPr>
          <p:spPr>
            <a:xfrm>
              <a:off x="971764" y="4056597"/>
              <a:ext cx="65724" cy="116432"/>
            </a:xfrm>
            <a:custGeom>
              <a:avLst/>
              <a:gdLst/>
              <a:ahLst/>
              <a:cxnLst/>
              <a:rect l="l" t="t" r="r" b="b"/>
              <a:pathLst>
                <a:path w="43205" h="79810">
                  <a:moveTo>
                    <a:pt x="43205" y="0"/>
                  </a:moveTo>
                  <a:lnTo>
                    <a:pt x="43205" y="18002"/>
                  </a:lnTo>
                  <a:cubicBezTo>
                    <a:pt x="33471" y="22403"/>
                    <a:pt x="27736" y="29804"/>
                    <a:pt x="26003" y="40205"/>
                  </a:cubicBezTo>
                  <a:cubicBezTo>
                    <a:pt x="31337" y="41405"/>
                    <a:pt x="35371" y="43839"/>
                    <a:pt x="38104" y="47506"/>
                  </a:cubicBezTo>
                  <a:cubicBezTo>
                    <a:pt x="40838" y="51173"/>
                    <a:pt x="42205" y="55340"/>
                    <a:pt x="42205" y="60007"/>
                  </a:cubicBezTo>
                  <a:cubicBezTo>
                    <a:pt x="42205" y="65475"/>
                    <a:pt x="40238" y="70142"/>
                    <a:pt x="36304" y="74009"/>
                  </a:cubicBezTo>
                  <a:cubicBezTo>
                    <a:pt x="32370" y="77876"/>
                    <a:pt x="27670" y="79810"/>
                    <a:pt x="22202" y="79810"/>
                  </a:cubicBezTo>
                  <a:cubicBezTo>
                    <a:pt x="15935" y="79810"/>
                    <a:pt x="10668" y="77276"/>
                    <a:pt x="6400" y="72209"/>
                  </a:cubicBezTo>
                  <a:cubicBezTo>
                    <a:pt x="2133" y="67142"/>
                    <a:pt x="0" y="60808"/>
                    <a:pt x="0" y="53207"/>
                  </a:cubicBezTo>
                  <a:cubicBezTo>
                    <a:pt x="0" y="47873"/>
                    <a:pt x="966" y="42472"/>
                    <a:pt x="2900" y="37005"/>
                  </a:cubicBezTo>
                  <a:cubicBezTo>
                    <a:pt x="4834" y="31537"/>
                    <a:pt x="7734" y="26337"/>
                    <a:pt x="11601" y="21403"/>
                  </a:cubicBezTo>
                  <a:cubicBezTo>
                    <a:pt x="19202" y="11668"/>
                    <a:pt x="29737" y="4534"/>
                    <a:pt x="4320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600">
                <a:latin typeface="Amasis MT Pro Black" panose="02040A04050005020304" pitchFamily="18" charset="0"/>
              </a:endParaRPr>
            </a:p>
          </p:txBody>
        </p:sp>
      </p:grpSp>
      <p:cxnSp>
        <p:nvCxnSpPr>
          <p:cNvPr id="15" name="Straight Connector 14">
            <a:extLst>
              <a:ext uri="{FF2B5EF4-FFF2-40B4-BE49-F238E27FC236}">
                <a16:creationId xmlns:a16="http://schemas.microsoft.com/office/drawing/2014/main" id="{19C50A08-5558-567B-E3FF-045E1842D635}"/>
              </a:ext>
            </a:extLst>
          </p:cNvPr>
          <p:cNvCxnSpPr>
            <a:cxnSpLocks/>
          </p:cNvCxnSpPr>
          <p:nvPr/>
        </p:nvCxnSpPr>
        <p:spPr>
          <a:xfrm>
            <a:off x="1316344" y="4285899"/>
            <a:ext cx="9931434" cy="0"/>
          </a:xfrm>
          <a:prstGeom prst="line">
            <a:avLst/>
          </a:prstGeom>
          <a:ln w="25400" cap="rnd">
            <a:gradFill flip="none" rotWithShape="1">
              <a:gsLst>
                <a:gs pos="0">
                  <a:schemeClr val="accent2"/>
                </a:gs>
                <a:gs pos="100000">
                  <a:schemeClr val="accent1"/>
                </a:gs>
              </a:gsLst>
              <a:lin ang="108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8F87A3C-3CD3-667E-612E-2EF449F22A3F}"/>
              </a:ext>
            </a:extLst>
          </p:cNvPr>
          <p:cNvSpPr txBox="1"/>
          <p:nvPr/>
        </p:nvSpPr>
        <p:spPr>
          <a:xfrm>
            <a:off x="889000" y="4501292"/>
            <a:ext cx="10358778" cy="1138773"/>
          </a:xfrm>
          <a:prstGeom prst="rect">
            <a:avLst/>
          </a:prstGeom>
          <a:noFill/>
        </p:spPr>
        <p:txBody>
          <a:bodyPr wrap="square" lIns="0" tIns="0" rIns="0" bIns="0">
            <a:spAutoFit/>
          </a:bodyPr>
          <a:lstStyle/>
          <a:p>
            <a:pPr marL="0" marR="0" lvl="0" indent="0" defTabSz="932472" rtl="0" eaLnBrk="1" fontAlgn="base" latinLnBrk="0" hangingPunct="1">
              <a:lnSpc>
                <a:spcPct val="100000"/>
              </a:lnSpc>
              <a:spcBef>
                <a:spcPct val="0"/>
              </a:spcBef>
              <a:spcAft>
                <a:spcPts val="600"/>
              </a:spcAft>
              <a:buClrTx/>
              <a:buSzTx/>
              <a:buFontTx/>
              <a:buNone/>
              <a:tabLst>
                <a:tab pos="3701239" algn="l"/>
              </a:tabLst>
              <a:defRPr/>
            </a:pPr>
            <a:r>
              <a:rPr lang="en-US" sz="1600">
                <a:cs typeface="Segoe UI" pitchFamily="34" charset="0"/>
              </a:rPr>
              <a:t>Managed Environments has greatly simplified and improved our ability to govern Power Platform at scale. It’s the best way to manage at a global level.”</a:t>
            </a:r>
          </a:p>
          <a:p>
            <a:pPr marL="0" marR="0" lvl="0" indent="0" algn="r" defTabSz="932472" rtl="0" eaLnBrk="1" fontAlgn="base" latinLnBrk="0" hangingPunct="1">
              <a:lnSpc>
                <a:spcPct val="100000"/>
              </a:lnSpc>
              <a:spcBef>
                <a:spcPct val="0"/>
              </a:spcBef>
              <a:spcAft>
                <a:spcPts val="600"/>
              </a:spcAft>
              <a:buClrTx/>
              <a:buSzTx/>
              <a:buFontTx/>
              <a:buNone/>
              <a:tabLst>
                <a:tab pos="3701239" algn="l"/>
              </a:tabLst>
              <a:defRPr/>
            </a:pPr>
            <a:r>
              <a:rPr lang="en-US" sz="1600">
                <a:latin typeface="+mj-lt"/>
                <a:cs typeface="Segoe UI" pitchFamily="34" charset="0"/>
              </a:rPr>
              <a:t>—  Giada </a:t>
            </a:r>
            <a:r>
              <a:rPr lang="en-US" sz="1600" err="1">
                <a:latin typeface="+mj-lt"/>
                <a:cs typeface="Segoe UI" pitchFamily="34" charset="0"/>
              </a:rPr>
              <a:t>Binelli</a:t>
            </a:r>
            <a:r>
              <a:rPr lang="en-US" sz="1600">
                <a:latin typeface="+mj-lt"/>
                <a:cs typeface="Segoe UI" pitchFamily="34" charset="0"/>
              </a:rPr>
              <a:t>, </a:t>
            </a:r>
            <a:r>
              <a:rPr lang="en-US" sz="1600" err="1">
                <a:latin typeface="+mj-lt"/>
                <a:cs typeface="Segoe UI" pitchFamily="34" charset="0"/>
              </a:rPr>
              <a:t>Hyperautomation</a:t>
            </a:r>
            <a:r>
              <a:rPr lang="en-US" sz="1600">
                <a:latin typeface="+mj-lt"/>
                <a:cs typeface="Segoe UI" pitchFamily="34" charset="0"/>
              </a:rPr>
              <a:t> Tribe Lead </a:t>
            </a:r>
          </a:p>
          <a:p>
            <a:pPr marL="0" marR="0" lvl="0" indent="0" algn="r" defTabSz="932472" rtl="0" eaLnBrk="1" fontAlgn="base" latinLnBrk="0" hangingPunct="1">
              <a:lnSpc>
                <a:spcPct val="100000"/>
              </a:lnSpc>
              <a:spcBef>
                <a:spcPct val="0"/>
              </a:spcBef>
              <a:spcAft>
                <a:spcPts val="600"/>
              </a:spcAft>
              <a:buClrTx/>
              <a:buSzTx/>
              <a:buFontTx/>
              <a:buNone/>
              <a:tabLst>
                <a:tab pos="3701239" algn="l"/>
              </a:tabLst>
              <a:defRPr/>
            </a:pPr>
            <a:r>
              <a:rPr lang="en-US" sz="1600">
                <a:latin typeface="+mj-lt"/>
                <a:cs typeface="Segoe UI" pitchFamily="34" charset="0"/>
              </a:rPr>
              <a:t>HEINEKEN</a:t>
            </a:r>
          </a:p>
        </p:txBody>
      </p:sp>
    </p:spTree>
    <p:extLst>
      <p:ext uri="{BB962C8B-B14F-4D97-AF65-F5344CB8AC3E}">
        <p14:creationId xmlns:p14="http://schemas.microsoft.com/office/powerpoint/2010/main" val="3905915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A08E5-2AE4-7361-CE6C-2AB3BC1A7083}"/>
            </a:ext>
          </a:extLst>
        </p:cNvPr>
        <p:cNvGrpSpPr/>
        <p:nvPr/>
      </p:nvGrpSpPr>
      <p:grpSpPr>
        <a:xfrm>
          <a:off x="0" y="0"/>
          <a:ext cx="0" cy="0"/>
          <a:chOff x="0" y="0"/>
          <a:chExt cx="0" cy="0"/>
        </a:xfrm>
      </p:grpSpPr>
      <p:pic>
        <p:nvPicPr>
          <p:cNvPr id="26" name="Picture 25" descr="A blurry image of a purple object&#10;&#10;AI-generated content may be incorrect.">
            <a:extLst>
              <a:ext uri="{FF2B5EF4-FFF2-40B4-BE49-F238E27FC236}">
                <a16:creationId xmlns:a16="http://schemas.microsoft.com/office/drawing/2014/main" id="{204230D8-ADAF-3473-4394-03419018B353}"/>
              </a:ext>
            </a:extLst>
          </p:cNvPr>
          <p:cNvPicPr>
            <a:picLocks noGrp="1" noRot="1" noChangeAspect="1" noMove="1" noResize="1" noEditPoints="1" noAdjustHandles="1" noChangeArrowheads="1" noChangeShapeType="1" noCrop="1"/>
          </p:cNvPicPr>
          <p:nvPr/>
        </p:nvPicPr>
        <p:blipFill>
          <a:blip r:embed="rId3">
            <a:alphaModFix amt="48000"/>
          </a:blip>
          <a:srcRect l="25924"/>
          <a:stretch>
            <a:fillRect/>
          </a:stretch>
        </p:blipFill>
        <p:spPr>
          <a:xfrm flipV="1">
            <a:off x="0" y="0"/>
            <a:ext cx="12192000" cy="6858000"/>
          </a:xfrm>
          <a:prstGeom prst="rect">
            <a:avLst/>
          </a:prstGeom>
        </p:spPr>
      </p:pic>
      <p:sp>
        <p:nvSpPr>
          <p:cNvPr id="2" name="Rectangle: Rounded Corners 1">
            <a:extLst>
              <a:ext uri="{FF2B5EF4-FFF2-40B4-BE49-F238E27FC236}">
                <a16:creationId xmlns:a16="http://schemas.microsoft.com/office/drawing/2014/main" id="{3AAD37DF-F604-8E2D-FCDB-45C254AF73F4}"/>
              </a:ext>
              <a:ext uri="{C183D7F6-B498-43B3-948B-1728B52AA6E4}">
                <adec:decorative xmlns:adec="http://schemas.microsoft.com/office/drawing/2017/decorative" val="1"/>
              </a:ext>
            </a:extLst>
          </p:cNvPr>
          <p:cNvSpPr>
            <a:spLocks/>
          </p:cNvSpPr>
          <p:nvPr/>
        </p:nvSpPr>
        <p:spPr bwMode="auto">
          <a:xfrm>
            <a:off x="571500" y="587375"/>
            <a:ext cx="11049000" cy="5683250"/>
          </a:xfrm>
          <a:prstGeom prst="roundRect">
            <a:avLst>
              <a:gd name="adj" fmla="val 3987"/>
            </a:avLst>
          </a:prstGeom>
          <a:noFill/>
          <a:ln w="952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UI"/>
              <a:ea typeface="+mn-ea"/>
              <a:cs typeface="Segoe UI"/>
            </a:endParaRPr>
          </a:p>
        </p:txBody>
      </p:sp>
      <p:sp>
        <p:nvSpPr>
          <p:cNvPr id="3" name="Rectangle: Rounded Corners 2">
            <a:extLst>
              <a:ext uri="{FF2B5EF4-FFF2-40B4-BE49-F238E27FC236}">
                <a16:creationId xmlns:a16="http://schemas.microsoft.com/office/drawing/2014/main" id="{B7D32FFE-8098-4EE8-2CD7-98A41ACFEF9E}"/>
              </a:ext>
              <a:ext uri="{C183D7F6-B498-43B3-948B-1728B52AA6E4}">
                <adec:decorative xmlns:adec="http://schemas.microsoft.com/office/drawing/2017/decorative" val="1"/>
              </a:ext>
            </a:extLst>
          </p:cNvPr>
          <p:cNvSpPr>
            <a:spLocks/>
          </p:cNvSpPr>
          <p:nvPr/>
        </p:nvSpPr>
        <p:spPr bwMode="auto">
          <a:xfrm>
            <a:off x="685800" y="684530"/>
            <a:ext cx="10820400" cy="5488940"/>
          </a:xfrm>
          <a:prstGeom prst="roundRect">
            <a:avLst>
              <a:gd name="adj" fmla="val 3987"/>
            </a:avLst>
          </a:prstGeom>
          <a:solidFill>
            <a:schemeClr val="bg1">
              <a:alpha val="79000"/>
            </a:schemeClr>
          </a:solidFill>
          <a:ln w="952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UI"/>
              <a:ea typeface="+mn-ea"/>
              <a:cs typeface="Segoe UI"/>
            </a:endParaRPr>
          </a:p>
        </p:txBody>
      </p:sp>
      <p:sp>
        <p:nvSpPr>
          <p:cNvPr id="17" name="Title 6">
            <a:extLst>
              <a:ext uri="{FF2B5EF4-FFF2-40B4-BE49-F238E27FC236}">
                <a16:creationId xmlns:a16="http://schemas.microsoft.com/office/drawing/2014/main" id="{92E62E5A-FF85-76CD-1408-76ED3D9D2BA7}"/>
              </a:ext>
            </a:extLst>
          </p:cNvPr>
          <p:cNvSpPr txBox="1">
            <a:spLocks/>
          </p:cNvSpPr>
          <p:nvPr/>
        </p:nvSpPr>
        <p:spPr>
          <a:xfrm>
            <a:off x="889000" y="1033888"/>
            <a:ext cx="4629472" cy="615553"/>
          </a:xfrm>
          <a:prstGeom prst="rect">
            <a:avLst/>
          </a:prstGeom>
        </p:spPr>
        <p:txBody>
          <a:bodyPr wrap="none" lIns="0" tIns="0" rIns="0" bIns="0">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Sans Display" pitchFamily="2" charset="0"/>
              </a:defRPr>
            </a:lvl1pPr>
          </a:lstStyle>
          <a:p>
            <a:pPr defTabSz="828948"/>
            <a:r>
              <a:rPr lang="en-US" sz="4000" spc="-44">
                <a:gradFill flip="none" rotWithShape="1">
                  <a:gsLst>
                    <a:gs pos="0">
                      <a:schemeClr val="accent1"/>
                    </a:gs>
                    <a:gs pos="100000">
                      <a:schemeClr val="accent2"/>
                    </a:gs>
                  </a:gsLst>
                  <a:lin ang="0" scaled="1"/>
                  <a:tileRect/>
                </a:gradFill>
                <a:cs typeface="Segoe UI" panose="020B0502040204020203" pitchFamily="34" charset="0"/>
              </a:rPr>
              <a:t>Lumen Technologies</a:t>
            </a:r>
          </a:p>
        </p:txBody>
      </p:sp>
      <p:cxnSp>
        <p:nvCxnSpPr>
          <p:cNvPr id="18" name="Straight Connector 17">
            <a:extLst>
              <a:ext uri="{FF2B5EF4-FFF2-40B4-BE49-F238E27FC236}">
                <a16:creationId xmlns:a16="http://schemas.microsoft.com/office/drawing/2014/main" id="{E20C8B73-6B7A-0EEA-AC77-DFF00B5BECE4}"/>
              </a:ext>
            </a:extLst>
          </p:cNvPr>
          <p:cNvCxnSpPr>
            <a:cxnSpLocks/>
          </p:cNvCxnSpPr>
          <p:nvPr/>
        </p:nvCxnSpPr>
        <p:spPr>
          <a:xfrm>
            <a:off x="889000" y="1814286"/>
            <a:ext cx="10431463" cy="0"/>
          </a:xfrm>
          <a:prstGeom prst="line">
            <a:avLst/>
          </a:prstGeom>
          <a:ln>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9AE8959-6896-CBC2-C94D-8B5966C09F0F}"/>
              </a:ext>
            </a:extLst>
          </p:cNvPr>
          <p:cNvSpPr txBox="1"/>
          <p:nvPr/>
        </p:nvSpPr>
        <p:spPr>
          <a:xfrm>
            <a:off x="889000" y="2030549"/>
            <a:ext cx="5029200" cy="1092607"/>
          </a:xfrm>
          <a:prstGeom prst="rect">
            <a:avLst/>
          </a:prstGeom>
          <a:noFill/>
        </p:spPr>
        <p:txBody>
          <a:bodyPr wrap="square" lIns="0" tIns="0" rIns="0" bIns="0">
            <a:spAutoFit/>
          </a:bodyPr>
          <a:lstStyle/>
          <a:p>
            <a:pPr marL="0" marR="0" lvl="0" indent="0" defTabSz="932472" rtl="0" eaLnBrk="1" fontAlgn="base" latinLnBrk="0" hangingPunct="1">
              <a:spcBef>
                <a:spcPct val="0"/>
              </a:spcBef>
              <a:spcAft>
                <a:spcPts val="600"/>
              </a:spcAft>
              <a:buClrTx/>
              <a:buSzTx/>
              <a:buFontTx/>
              <a:buNone/>
              <a:tabLst/>
              <a:defRPr/>
            </a:pPr>
            <a:r>
              <a:rPr kumimoji="0" lang="en-US" sz="1800" b="0" i="0" u="none" strike="noStrike" kern="1200" cap="none" spc="0" normalizeH="0" baseline="0" noProof="0">
                <a:ln>
                  <a:noFill/>
                </a:ln>
                <a:solidFill>
                  <a:schemeClr val="accent1"/>
                </a:solidFill>
                <a:effectLst/>
                <a:uLnTx/>
                <a:uFillTx/>
                <a:latin typeface="+mj-lt"/>
                <a:ea typeface="Segoe UI" pitchFamily="34" charset="0"/>
                <a:cs typeface="Segoe UI" pitchFamily="34" charset="0"/>
              </a:rPr>
              <a:t>Problem</a:t>
            </a:r>
          </a:p>
          <a:p>
            <a:pPr defTabSz="932472" fontAlgn="base">
              <a:spcBef>
                <a:spcPct val="0"/>
              </a:spcBef>
              <a:spcAft>
                <a:spcPts val="600"/>
              </a:spcAft>
              <a:defRPr/>
            </a:pPr>
            <a:r>
              <a:rPr lang="en-US" sz="1600">
                <a:cs typeface="Segoe UI" pitchFamily="34" charset="0"/>
              </a:rPr>
              <a:t>One of the struggles Lumen had was to enable citizen developers to be able to follow an ALM (Application Lifecycle Management) strategy. </a:t>
            </a:r>
          </a:p>
        </p:txBody>
      </p:sp>
      <p:sp>
        <p:nvSpPr>
          <p:cNvPr id="20" name="TextBox 19">
            <a:extLst>
              <a:ext uri="{FF2B5EF4-FFF2-40B4-BE49-F238E27FC236}">
                <a16:creationId xmlns:a16="http://schemas.microsoft.com/office/drawing/2014/main" id="{4EADE5F0-A832-F7C9-3E42-3E26A443416A}"/>
              </a:ext>
            </a:extLst>
          </p:cNvPr>
          <p:cNvSpPr txBox="1"/>
          <p:nvPr/>
        </p:nvSpPr>
        <p:spPr>
          <a:xfrm>
            <a:off x="6291263" y="2030549"/>
            <a:ext cx="5029200" cy="1831271"/>
          </a:xfrm>
          <a:prstGeom prst="rect">
            <a:avLst/>
          </a:prstGeom>
          <a:noFill/>
        </p:spPr>
        <p:txBody>
          <a:bodyPr wrap="square" lIns="0" tIns="0" rIns="0" bIns="0">
            <a:spAutoFit/>
          </a:bodyPr>
          <a:lstStyle/>
          <a:p>
            <a:pPr marL="0" marR="0" lvl="0" indent="0" defTabSz="932472" rtl="0" eaLnBrk="1" fontAlgn="base" latinLnBrk="0" hangingPunct="1">
              <a:spcBef>
                <a:spcPct val="0"/>
              </a:spcBef>
              <a:spcAft>
                <a:spcPts val="600"/>
              </a:spcAft>
              <a:buClrTx/>
              <a:buSzTx/>
              <a:buFontTx/>
              <a:buNone/>
              <a:tabLst/>
              <a:defRPr/>
            </a:pPr>
            <a:r>
              <a:rPr kumimoji="0" lang="en-US" sz="1800" b="0" i="0" u="none" strike="noStrike" kern="1200" cap="none" spc="0" normalizeH="0" baseline="0" noProof="0">
                <a:ln>
                  <a:noFill/>
                </a:ln>
                <a:solidFill>
                  <a:schemeClr val="accent2"/>
                </a:solidFill>
                <a:effectLst/>
                <a:uLnTx/>
                <a:uFillTx/>
                <a:latin typeface="+mj-lt"/>
                <a:ea typeface="Segoe UI" pitchFamily="34" charset="0"/>
                <a:cs typeface="Segoe UI" pitchFamily="34" charset="0"/>
              </a:rPr>
              <a:t>Solution</a:t>
            </a:r>
          </a:p>
          <a:p>
            <a:pPr defTabSz="932472" fontAlgn="base">
              <a:spcBef>
                <a:spcPct val="0"/>
              </a:spcBef>
              <a:spcAft>
                <a:spcPts val="600"/>
              </a:spcAft>
              <a:defRPr/>
            </a:pPr>
            <a:r>
              <a:rPr lang="en-US" sz="1600">
                <a:cs typeface="Segoe UI" pitchFamily="34" charset="0"/>
              </a:rPr>
              <a:t>Lumen has started using pipelines in Power Platform – </a:t>
            </a:r>
            <a:br>
              <a:rPr lang="en-US" sz="1600">
                <a:cs typeface="Segoe UI" pitchFamily="34" charset="0"/>
              </a:rPr>
            </a:br>
            <a:r>
              <a:rPr lang="en-US" sz="1600">
                <a:cs typeface="Segoe UI" pitchFamily="34" charset="0"/>
              </a:rPr>
              <a:t>a feature within Managed Environments that enables people to easily set up ALM without prior knowledge – making it more friendly for those from a low-code background to have the same standard of ALM as code-first developers. </a:t>
            </a:r>
          </a:p>
        </p:txBody>
      </p:sp>
      <p:grpSp>
        <p:nvGrpSpPr>
          <p:cNvPr id="21" name="Group 20">
            <a:extLst>
              <a:ext uri="{FF2B5EF4-FFF2-40B4-BE49-F238E27FC236}">
                <a16:creationId xmlns:a16="http://schemas.microsoft.com/office/drawing/2014/main" id="{119922F7-C6B5-A28A-4439-BE32C91F8FF1}"/>
              </a:ext>
            </a:extLst>
          </p:cNvPr>
          <p:cNvGrpSpPr/>
          <p:nvPr/>
        </p:nvGrpSpPr>
        <p:grpSpPr>
          <a:xfrm>
            <a:off x="889000" y="4176047"/>
            <a:ext cx="280194" cy="219705"/>
            <a:chOff x="889000" y="4056597"/>
            <a:chExt cx="148488" cy="116432"/>
          </a:xfrm>
          <a:gradFill flip="none" rotWithShape="1">
            <a:gsLst>
              <a:gs pos="0">
                <a:schemeClr val="accent2"/>
              </a:gs>
              <a:gs pos="100000">
                <a:schemeClr val="accent1"/>
              </a:gs>
            </a:gsLst>
            <a:path path="circle">
              <a:fillToRect r="100000" b="100000"/>
            </a:path>
            <a:tileRect l="-100000" t="-100000"/>
          </a:gradFill>
        </p:grpSpPr>
        <p:sp>
          <p:nvSpPr>
            <p:cNvPr id="22" name="TextBox 21">
              <a:extLst>
                <a:ext uri="{FF2B5EF4-FFF2-40B4-BE49-F238E27FC236}">
                  <a16:creationId xmlns:a16="http://schemas.microsoft.com/office/drawing/2014/main" id="{EFCE93CE-889C-8D53-2E4E-B67C2EDB9EB4}"/>
                </a:ext>
              </a:extLst>
            </p:cNvPr>
            <p:cNvSpPr txBox="1"/>
            <p:nvPr/>
          </p:nvSpPr>
          <p:spPr>
            <a:xfrm>
              <a:off x="889000" y="4056597"/>
              <a:ext cx="65724" cy="116432"/>
            </a:xfrm>
            <a:custGeom>
              <a:avLst/>
              <a:gdLst/>
              <a:ahLst/>
              <a:cxnLst/>
              <a:rect l="l" t="t" r="r" b="b"/>
              <a:pathLst>
                <a:path w="43205" h="79810">
                  <a:moveTo>
                    <a:pt x="43205" y="0"/>
                  </a:moveTo>
                  <a:lnTo>
                    <a:pt x="43205" y="18002"/>
                  </a:lnTo>
                  <a:cubicBezTo>
                    <a:pt x="33471" y="22403"/>
                    <a:pt x="27737" y="29804"/>
                    <a:pt x="26003" y="40205"/>
                  </a:cubicBezTo>
                  <a:cubicBezTo>
                    <a:pt x="31337" y="41405"/>
                    <a:pt x="35371" y="43839"/>
                    <a:pt x="38105" y="47506"/>
                  </a:cubicBezTo>
                  <a:cubicBezTo>
                    <a:pt x="40838" y="51173"/>
                    <a:pt x="42205" y="55340"/>
                    <a:pt x="42205" y="60007"/>
                  </a:cubicBezTo>
                  <a:cubicBezTo>
                    <a:pt x="42205" y="65475"/>
                    <a:pt x="40238" y="70142"/>
                    <a:pt x="36304" y="74009"/>
                  </a:cubicBezTo>
                  <a:cubicBezTo>
                    <a:pt x="32371" y="77876"/>
                    <a:pt x="27670" y="79810"/>
                    <a:pt x="22203" y="79810"/>
                  </a:cubicBezTo>
                  <a:cubicBezTo>
                    <a:pt x="15935" y="79810"/>
                    <a:pt x="10668" y="77276"/>
                    <a:pt x="6401" y="72209"/>
                  </a:cubicBezTo>
                  <a:cubicBezTo>
                    <a:pt x="2133" y="67142"/>
                    <a:pt x="0" y="60808"/>
                    <a:pt x="0" y="53207"/>
                  </a:cubicBezTo>
                  <a:cubicBezTo>
                    <a:pt x="0" y="47873"/>
                    <a:pt x="967" y="42472"/>
                    <a:pt x="2900" y="37005"/>
                  </a:cubicBezTo>
                  <a:cubicBezTo>
                    <a:pt x="4834" y="31537"/>
                    <a:pt x="7734" y="26337"/>
                    <a:pt x="11601" y="21403"/>
                  </a:cubicBezTo>
                  <a:cubicBezTo>
                    <a:pt x="19202" y="11668"/>
                    <a:pt x="29737" y="4534"/>
                    <a:pt x="4320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600">
                <a:latin typeface="Amasis MT Pro Black" panose="02040A04050005020304" pitchFamily="18" charset="0"/>
              </a:endParaRPr>
            </a:p>
          </p:txBody>
        </p:sp>
        <p:sp>
          <p:nvSpPr>
            <p:cNvPr id="23" name="TextBox 22">
              <a:extLst>
                <a:ext uri="{FF2B5EF4-FFF2-40B4-BE49-F238E27FC236}">
                  <a16:creationId xmlns:a16="http://schemas.microsoft.com/office/drawing/2014/main" id="{AFA42622-90A2-FBF7-A67A-C09049BFD1E0}"/>
                </a:ext>
              </a:extLst>
            </p:cNvPr>
            <p:cNvSpPr txBox="1"/>
            <p:nvPr/>
          </p:nvSpPr>
          <p:spPr>
            <a:xfrm>
              <a:off x="971764" y="4056597"/>
              <a:ext cx="65724" cy="116432"/>
            </a:xfrm>
            <a:custGeom>
              <a:avLst/>
              <a:gdLst/>
              <a:ahLst/>
              <a:cxnLst/>
              <a:rect l="l" t="t" r="r" b="b"/>
              <a:pathLst>
                <a:path w="43205" h="79810">
                  <a:moveTo>
                    <a:pt x="43205" y="0"/>
                  </a:moveTo>
                  <a:lnTo>
                    <a:pt x="43205" y="18002"/>
                  </a:lnTo>
                  <a:cubicBezTo>
                    <a:pt x="33471" y="22403"/>
                    <a:pt x="27736" y="29804"/>
                    <a:pt x="26003" y="40205"/>
                  </a:cubicBezTo>
                  <a:cubicBezTo>
                    <a:pt x="31337" y="41405"/>
                    <a:pt x="35371" y="43839"/>
                    <a:pt x="38104" y="47506"/>
                  </a:cubicBezTo>
                  <a:cubicBezTo>
                    <a:pt x="40838" y="51173"/>
                    <a:pt x="42205" y="55340"/>
                    <a:pt x="42205" y="60007"/>
                  </a:cubicBezTo>
                  <a:cubicBezTo>
                    <a:pt x="42205" y="65475"/>
                    <a:pt x="40238" y="70142"/>
                    <a:pt x="36304" y="74009"/>
                  </a:cubicBezTo>
                  <a:cubicBezTo>
                    <a:pt x="32370" y="77876"/>
                    <a:pt x="27670" y="79810"/>
                    <a:pt x="22202" y="79810"/>
                  </a:cubicBezTo>
                  <a:cubicBezTo>
                    <a:pt x="15935" y="79810"/>
                    <a:pt x="10668" y="77276"/>
                    <a:pt x="6400" y="72209"/>
                  </a:cubicBezTo>
                  <a:cubicBezTo>
                    <a:pt x="2133" y="67142"/>
                    <a:pt x="0" y="60808"/>
                    <a:pt x="0" y="53207"/>
                  </a:cubicBezTo>
                  <a:cubicBezTo>
                    <a:pt x="0" y="47873"/>
                    <a:pt x="966" y="42472"/>
                    <a:pt x="2900" y="37005"/>
                  </a:cubicBezTo>
                  <a:cubicBezTo>
                    <a:pt x="4834" y="31537"/>
                    <a:pt x="7734" y="26337"/>
                    <a:pt x="11601" y="21403"/>
                  </a:cubicBezTo>
                  <a:cubicBezTo>
                    <a:pt x="19202" y="11668"/>
                    <a:pt x="29737" y="4534"/>
                    <a:pt x="4320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en-US" sz="1600">
                <a:latin typeface="Amasis MT Pro Black" panose="02040A04050005020304" pitchFamily="18" charset="0"/>
              </a:endParaRPr>
            </a:p>
          </p:txBody>
        </p:sp>
      </p:grpSp>
      <p:cxnSp>
        <p:nvCxnSpPr>
          <p:cNvPr id="24" name="Straight Connector 23">
            <a:extLst>
              <a:ext uri="{FF2B5EF4-FFF2-40B4-BE49-F238E27FC236}">
                <a16:creationId xmlns:a16="http://schemas.microsoft.com/office/drawing/2014/main" id="{C67EBC51-08D4-59AD-0D65-545F84D411F8}"/>
              </a:ext>
            </a:extLst>
          </p:cNvPr>
          <p:cNvCxnSpPr>
            <a:cxnSpLocks/>
          </p:cNvCxnSpPr>
          <p:nvPr/>
        </p:nvCxnSpPr>
        <p:spPr>
          <a:xfrm>
            <a:off x="1316344" y="4285899"/>
            <a:ext cx="9931434" cy="0"/>
          </a:xfrm>
          <a:prstGeom prst="line">
            <a:avLst/>
          </a:prstGeom>
          <a:ln w="25400" cap="rnd">
            <a:gradFill flip="none" rotWithShape="1">
              <a:gsLst>
                <a:gs pos="0">
                  <a:schemeClr val="accent2"/>
                </a:gs>
                <a:gs pos="100000">
                  <a:schemeClr val="accent1"/>
                </a:gs>
              </a:gsLst>
              <a:lin ang="108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8923B0B-FE69-C460-F22F-1945B6C9F205}"/>
              </a:ext>
            </a:extLst>
          </p:cNvPr>
          <p:cNvSpPr txBox="1"/>
          <p:nvPr/>
        </p:nvSpPr>
        <p:spPr>
          <a:xfrm>
            <a:off x="889000" y="4501292"/>
            <a:ext cx="10358778" cy="1384995"/>
          </a:xfrm>
          <a:prstGeom prst="rect">
            <a:avLst/>
          </a:prstGeom>
          <a:noFill/>
        </p:spPr>
        <p:txBody>
          <a:bodyPr wrap="square" lIns="0" tIns="0" rIns="0" bIns="0">
            <a:spAutoFit/>
          </a:bodyPr>
          <a:lstStyle/>
          <a:p>
            <a:pPr marL="0" marR="0" lvl="0" indent="0" defTabSz="932472" rtl="0" eaLnBrk="1" fontAlgn="base" latinLnBrk="0" hangingPunct="1">
              <a:lnSpc>
                <a:spcPct val="100000"/>
              </a:lnSpc>
              <a:spcBef>
                <a:spcPct val="0"/>
              </a:spcBef>
              <a:spcAft>
                <a:spcPts val="600"/>
              </a:spcAft>
              <a:buClrTx/>
              <a:buSzTx/>
              <a:buFontTx/>
              <a:buNone/>
              <a:tabLst>
                <a:tab pos="3701239" algn="l"/>
              </a:tabLst>
              <a:defRPr/>
            </a:pPr>
            <a:r>
              <a:rPr lang="en-US" sz="1600">
                <a:cs typeface="Segoe UI" pitchFamily="34" charset="0"/>
              </a:rPr>
              <a:t>Training a user or a maker on ALM was easily a couple of hours, and most of the time, people weren’t coming back because they didn’t understand most of what was there. Now, all I have to do is just add the users as Pipeline admins and then just say “Hey, you see that little rocket down there? Just press that!”</a:t>
            </a:r>
          </a:p>
          <a:p>
            <a:pPr algn="r" defTabSz="932472" fontAlgn="base">
              <a:spcBef>
                <a:spcPct val="0"/>
              </a:spcBef>
              <a:spcAft>
                <a:spcPts val="600"/>
              </a:spcAft>
              <a:tabLst>
                <a:tab pos="3701239" algn="l"/>
              </a:tabLst>
              <a:defRPr/>
            </a:pPr>
            <a:r>
              <a:rPr lang="en-US" sz="1600">
                <a:latin typeface="+mj-lt"/>
                <a:cs typeface="Segoe UI" pitchFamily="34" charset="0"/>
              </a:rPr>
              <a:t>— Andrew Gaskins, Global Power Platform Lead</a:t>
            </a:r>
          </a:p>
          <a:p>
            <a:pPr algn="r" defTabSz="932472" fontAlgn="base">
              <a:spcBef>
                <a:spcPct val="0"/>
              </a:spcBef>
              <a:spcAft>
                <a:spcPts val="600"/>
              </a:spcAft>
              <a:tabLst>
                <a:tab pos="3701239" algn="l"/>
              </a:tabLst>
              <a:defRPr/>
            </a:pPr>
            <a:r>
              <a:rPr lang="en-US" sz="1600">
                <a:latin typeface="+mj-lt"/>
                <a:cs typeface="Segoe UI" pitchFamily="34" charset="0"/>
              </a:rPr>
              <a:t>Lumen Technologies</a:t>
            </a:r>
          </a:p>
        </p:txBody>
      </p:sp>
      <p:grpSp>
        <p:nvGrpSpPr>
          <p:cNvPr id="27" name="Group 26">
            <a:extLst>
              <a:ext uri="{FF2B5EF4-FFF2-40B4-BE49-F238E27FC236}">
                <a16:creationId xmlns:a16="http://schemas.microsoft.com/office/drawing/2014/main" id="{9369E464-160C-4F5C-361C-8508E515DD4A}"/>
              </a:ext>
            </a:extLst>
          </p:cNvPr>
          <p:cNvGrpSpPr/>
          <p:nvPr/>
        </p:nvGrpSpPr>
        <p:grpSpPr>
          <a:xfrm>
            <a:off x="9071039" y="869044"/>
            <a:ext cx="2249424" cy="945243"/>
            <a:chOff x="9071039" y="869044"/>
            <a:chExt cx="2249424" cy="945243"/>
          </a:xfrm>
        </p:grpSpPr>
        <p:sp>
          <p:nvSpPr>
            <p:cNvPr id="28" name="Rectangle: Top Corners Rounded 27">
              <a:extLst>
                <a:ext uri="{FF2B5EF4-FFF2-40B4-BE49-F238E27FC236}">
                  <a16:creationId xmlns:a16="http://schemas.microsoft.com/office/drawing/2014/main" id="{3E291FC6-6D9F-3DAA-F1BD-85BF76342C8A}"/>
                </a:ext>
              </a:extLst>
            </p:cNvPr>
            <p:cNvSpPr/>
            <p:nvPr/>
          </p:nvSpPr>
          <p:spPr bwMode="auto">
            <a:xfrm>
              <a:off x="9071039" y="869044"/>
              <a:ext cx="2249424" cy="945243"/>
            </a:xfrm>
            <a:prstGeom prst="round2Same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9" name="Picture 2">
              <a:extLst>
                <a:ext uri="{FF2B5EF4-FFF2-40B4-BE49-F238E27FC236}">
                  <a16:creationId xmlns:a16="http://schemas.microsoft.com/office/drawing/2014/main" id="{2625FE99-7B0A-DFCD-AB51-C54E73505A2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92" r="7371"/>
            <a:stretch>
              <a:fillRect/>
            </a:stretch>
          </p:blipFill>
          <p:spPr bwMode="auto">
            <a:xfrm>
              <a:off x="9382125" y="1085644"/>
              <a:ext cx="1682750" cy="51204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40397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Picture 60" descr="A blurry image of a purple object&#10;&#10;AI-generated content may be incorrect.">
            <a:extLst>
              <a:ext uri="{FF2B5EF4-FFF2-40B4-BE49-F238E27FC236}">
                <a16:creationId xmlns:a16="http://schemas.microsoft.com/office/drawing/2014/main" id="{CC74564A-5CEF-B297-089E-B4ED485832D6}"/>
              </a:ext>
            </a:extLst>
          </p:cNvPr>
          <p:cNvPicPr>
            <a:picLocks noChangeAspect="1"/>
          </p:cNvPicPr>
          <p:nvPr/>
        </p:nvPicPr>
        <p:blipFill>
          <a:blip r:embed="rId4">
            <a:alphaModFix amt="70000"/>
          </a:blip>
          <a:srcRect l="25924"/>
          <a:stretch>
            <a:fillRect/>
          </a:stretch>
        </p:blipFill>
        <p:spPr>
          <a:xfrm flipV="1">
            <a:off x="0" y="0"/>
            <a:ext cx="12192000" cy="6858000"/>
          </a:xfrm>
          <a:prstGeom prst="rect">
            <a:avLst/>
          </a:prstGeom>
        </p:spPr>
      </p:pic>
      <p:sp>
        <p:nvSpPr>
          <p:cNvPr id="56" name="Title 55">
            <a:extLst>
              <a:ext uri="{FF2B5EF4-FFF2-40B4-BE49-F238E27FC236}">
                <a16:creationId xmlns:a16="http://schemas.microsoft.com/office/drawing/2014/main" id="{3FBBABD4-E5FF-29C2-BDB7-17313D09B639}"/>
              </a:ext>
            </a:extLst>
          </p:cNvPr>
          <p:cNvSpPr>
            <a:spLocks noGrp="1"/>
          </p:cNvSpPr>
          <p:nvPr>
            <p:ph type="title"/>
          </p:nvPr>
        </p:nvSpPr>
        <p:spPr>
          <a:xfrm>
            <a:off x="588264" y="2930020"/>
            <a:ext cx="2116836" cy="492443"/>
          </a:xfrm>
        </p:spPr>
        <p:txBody>
          <a:bodyPr/>
          <a:lstStyle/>
          <a:p>
            <a:r>
              <a:rPr lang="en-US" sz="3200"/>
              <a:t>Learn more</a:t>
            </a:r>
          </a:p>
        </p:txBody>
      </p:sp>
      <p:sp>
        <p:nvSpPr>
          <p:cNvPr id="62" name="Rectangle 61">
            <a:extLst>
              <a:ext uri="{FF2B5EF4-FFF2-40B4-BE49-F238E27FC236}">
                <a16:creationId xmlns:a16="http://schemas.microsoft.com/office/drawing/2014/main" id="{A9B8EFE9-D6DB-D8C9-CC25-D11A6F2409CA}"/>
              </a:ext>
            </a:extLst>
          </p:cNvPr>
          <p:cNvSpPr>
            <a:spLocks/>
          </p:cNvSpPr>
          <p:nvPr/>
        </p:nvSpPr>
        <p:spPr bwMode="auto">
          <a:xfrm>
            <a:off x="4644571" y="19467"/>
            <a:ext cx="7547429" cy="6819066"/>
          </a:xfrm>
          <a:prstGeom prst="rect">
            <a:avLst/>
          </a:prstGeom>
          <a:solidFill>
            <a:schemeClr val="bg1">
              <a:alpha val="45000"/>
            </a:schemeClr>
          </a:solidFill>
          <a:ln w="9525" cap="flat" cmpd="sng" algn="ctr">
            <a:solidFill>
              <a:schemeClr val="bg1"/>
            </a:solidFill>
            <a:prstDash val="solid"/>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SzPct val="90000"/>
            </a:pPr>
            <a:endParaRPr lang="en-IN" sz="2400">
              <a:solidFill>
                <a:schemeClr val="bg1"/>
              </a:solidFill>
              <a:latin typeface="+mj-lt"/>
              <a:ea typeface="+mj-ea"/>
              <a:cs typeface="+mj-cs"/>
            </a:endParaRPr>
          </a:p>
        </p:txBody>
      </p:sp>
      <p:sp>
        <p:nvSpPr>
          <p:cNvPr id="63" name="Content Placeholder 6">
            <a:extLst>
              <a:ext uri="{FF2B5EF4-FFF2-40B4-BE49-F238E27FC236}">
                <a16:creationId xmlns:a16="http://schemas.microsoft.com/office/drawing/2014/main" id="{44F4B033-E3EE-14B3-F199-2BB7AFFBA5A5}"/>
              </a:ext>
            </a:extLst>
          </p:cNvPr>
          <p:cNvSpPr txBox="1">
            <a:spLocks/>
          </p:cNvSpPr>
          <p:nvPr/>
        </p:nvSpPr>
        <p:spPr>
          <a:xfrm>
            <a:off x="588264" y="3646022"/>
            <a:ext cx="2116836" cy="553998"/>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91F2C"/>
                </a:solidFill>
                <a:effectLst/>
                <a:uLnTx/>
                <a:uFillTx/>
                <a:latin typeface="Segoe Sans Display"/>
                <a:ea typeface="+mn-ea"/>
                <a:cs typeface="Segoe UI" panose="020B0502040204020203" pitchFamily="34" charset="0"/>
              </a:rPr>
              <a:t>Featured resources to get started</a:t>
            </a:r>
          </a:p>
        </p:txBody>
      </p:sp>
      <p:sp>
        <p:nvSpPr>
          <p:cNvPr id="64" name="Rectangle: Rounded Corners 63">
            <a:extLst>
              <a:ext uri="{FF2B5EF4-FFF2-40B4-BE49-F238E27FC236}">
                <a16:creationId xmlns:a16="http://schemas.microsoft.com/office/drawing/2014/main" id="{A9952F1A-2A83-1BBD-06CF-F5FBD133A3C5}"/>
              </a:ext>
              <a:ext uri="{C183D7F6-B498-43B3-948B-1728B52AA6E4}">
                <adec:decorative xmlns:adec="http://schemas.microsoft.com/office/drawing/2017/decorative" val="1"/>
              </a:ext>
            </a:extLst>
          </p:cNvPr>
          <p:cNvSpPr/>
          <p:nvPr/>
        </p:nvSpPr>
        <p:spPr bwMode="auto">
          <a:xfrm>
            <a:off x="5052041" y="761249"/>
            <a:ext cx="6816270" cy="5335503"/>
          </a:xfrm>
          <a:prstGeom prst="roundRect">
            <a:avLst>
              <a:gd name="adj" fmla="val 3411"/>
            </a:avLst>
          </a:prstGeom>
          <a:solidFill>
            <a:schemeClr val="bg1">
              <a:alpha val="70000"/>
            </a:schemeClr>
          </a:solidFill>
          <a:ln w="3175">
            <a:gradFill flip="none" rotWithShape="1">
              <a:gsLst>
                <a:gs pos="0">
                  <a:schemeClr val="accent1">
                    <a:lumMod val="5000"/>
                    <a:lumOff val="95000"/>
                  </a:schemeClr>
                </a:gs>
                <a:gs pos="51000">
                  <a:schemeClr val="accent3">
                    <a:lumMod val="40000"/>
                    <a:lumOff val="60000"/>
                  </a:schemeClr>
                </a:gs>
              </a:gsLst>
              <a:lin ang="162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graphicFrame>
        <p:nvGraphicFramePr>
          <p:cNvPr id="66" name="Table 65">
            <a:extLst>
              <a:ext uri="{FF2B5EF4-FFF2-40B4-BE49-F238E27FC236}">
                <a16:creationId xmlns:a16="http://schemas.microsoft.com/office/drawing/2014/main" id="{B9CAA2A5-9B65-CCFB-5B60-A8C8DDC224C1}"/>
              </a:ext>
            </a:extLst>
          </p:cNvPr>
          <p:cNvGraphicFramePr>
            <a:graphicFrameLocks noGrp="1"/>
          </p:cNvGraphicFramePr>
          <p:nvPr>
            <p:extLst>
              <p:ext uri="{D42A27DB-BD31-4B8C-83A1-F6EECF244321}">
                <p14:modId xmlns:p14="http://schemas.microsoft.com/office/powerpoint/2010/main" val="4121843025"/>
              </p:ext>
            </p:extLst>
          </p:nvPr>
        </p:nvGraphicFramePr>
        <p:xfrm>
          <a:off x="5052041" y="761247"/>
          <a:ext cx="6816270" cy="5335506"/>
        </p:xfrm>
        <a:graphic>
          <a:graphicData uri="http://schemas.openxmlformats.org/drawingml/2006/table">
            <a:tbl>
              <a:tblPr firstRow="1"/>
              <a:tblGrid>
                <a:gridCol w="556506">
                  <a:extLst>
                    <a:ext uri="{9D8B030D-6E8A-4147-A177-3AD203B41FA5}">
                      <a16:colId xmlns:a16="http://schemas.microsoft.com/office/drawing/2014/main" val="849726968"/>
                    </a:ext>
                  </a:extLst>
                </a:gridCol>
                <a:gridCol w="2955950">
                  <a:extLst>
                    <a:ext uri="{9D8B030D-6E8A-4147-A177-3AD203B41FA5}">
                      <a16:colId xmlns:a16="http://schemas.microsoft.com/office/drawing/2014/main" val="885362090"/>
                    </a:ext>
                  </a:extLst>
                </a:gridCol>
                <a:gridCol w="3303814">
                  <a:extLst>
                    <a:ext uri="{9D8B030D-6E8A-4147-A177-3AD203B41FA5}">
                      <a16:colId xmlns:a16="http://schemas.microsoft.com/office/drawing/2014/main" val="112966646"/>
                    </a:ext>
                  </a:extLst>
                </a:gridCol>
              </a:tblGrid>
              <a:tr h="242523">
                <a:tc>
                  <a:txBody>
                    <a:bodyPr/>
                    <a:lstStyle/>
                    <a:p>
                      <a:pPr marL="0" lvl="0" algn="ctr" defTabSz="932742" rtl="0" eaLnBrk="1" latinLnBrk="0" hangingPunct="1">
                        <a:buNone/>
                      </a:pPr>
                      <a:r>
                        <a:rPr lang="en-US" sz="1000" kern="1200">
                          <a:solidFill>
                            <a:schemeClr val="tx1"/>
                          </a:solidFill>
                          <a:latin typeface="+mn-lt"/>
                          <a:ea typeface="+mn-ea"/>
                          <a:cs typeface="+mn-cs"/>
                        </a:rPr>
                        <a:t>1</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algn="l" defTabSz="932742" rtl="0" eaLnBrk="1" latinLnBrk="0" hangingPunct="1">
                        <a:buNone/>
                      </a:pPr>
                      <a:r>
                        <a:rPr lang="en-US" sz="900" kern="1200">
                          <a:solidFill>
                            <a:schemeClr val="tx1"/>
                          </a:solidFill>
                          <a:latin typeface="+mj-lt"/>
                          <a:ea typeface="+mn-ea"/>
                          <a:cs typeface="+mn-cs"/>
                        </a:rPr>
                        <a:t>Maker Onboarding</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algn="l" defTabSz="932742" rtl="0" eaLnBrk="1" latinLnBrk="0" hangingPunct="1">
                        <a:buNone/>
                      </a:pPr>
                      <a:r>
                        <a:rPr lang="en-US" sz="900" kern="1200">
                          <a:solidFill>
                            <a:schemeClr val="accent1"/>
                          </a:solidFill>
                          <a:latin typeface="+mn-lt"/>
                          <a:ea typeface="+mn-ea"/>
                          <a:cs typeface="+mn-cs"/>
                          <a:hlinkClick r:id="rId5">
                            <a:extLst>
                              <a:ext uri="{A12FA001-AC4F-418D-AE19-62706E023703}">
                                <ahyp:hlinkClr xmlns:ahyp="http://schemas.microsoft.com/office/drawing/2018/hyperlinkcolor" val="tx"/>
                              </a:ext>
                            </a:extLst>
                          </a:hlinkClick>
                        </a:rPr>
                        <a:t>https://aka.ms/MakerOnboarding</a:t>
                      </a:r>
                      <a:r>
                        <a:rPr lang="en-US" sz="900" kern="1200">
                          <a:solidFill>
                            <a:schemeClr val="accent1"/>
                          </a:solidFill>
                          <a:latin typeface="+mn-lt"/>
                          <a:ea typeface="+mn-ea"/>
                          <a:cs typeface="+mn-cs"/>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5911360"/>
                  </a:ext>
                </a:extLst>
              </a:tr>
              <a:tr h="242523">
                <a:tc>
                  <a:txBody>
                    <a:bodyPr/>
                    <a:lstStyle/>
                    <a:p>
                      <a:pPr algn="ctr">
                        <a:buNone/>
                      </a:pPr>
                      <a:r>
                        <a:rPr lang="en-US" sz="1000">
                          <a:solidFill>
                            <a:schemeClr val="tx1"/>
                          </a:solidFill>
                          <a:latin typeface="+mn-lt"/>
                          <a:ea typeface="+mn-ea"/>
                          <a:cs typeface="+mn-cs"/>
                        </a:rPr>
                        <a:t>2</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kern="1200">
                          <a:solidFill>
                            <a:schemeClr val="tx1"/>
                          </a:solidFill>
                          <a:latin typeface="+mj-lt"/>
                          <a:ea typeface="+mn-ea"/>
                          <a:cs typeface="+mn-cs"/>
                        </a:rPr>
                        <a:t>Environment Routing</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6">
                            <a:extLst>
                              <a:ext uri="{A12FA001-AC4F-418D-AE19-62706E023703}">
                                <ahyp:hlinkClr xmlns:ahyp="http://schemas.microsoft.com/office/drawing/2018/hyperlinkcolor" val="tx"/>
                              </a:ext>
                            </a:extLst>
                          </a:hlinkClick>
                        </a:rPr>
                        <a:t>https://aka.ms/EnvironmentRouting</a:t>
                      </a:r>
                      <a:r>
                        <a:rPr lang="en-US" sz="900">
                          <a:solidFill>
                            <a:schemeClr val="accent1"/>
                          </a:solidFill>
                          <a:latin typeface="+mn-lt"/>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1487635"/>
                  </a:ext>
                </a:extLst>
              </a:tr>
              <a:tr h="242523">
                <a:tc>
                  <a:txBody>
                    <a:bodyPr/>
                    <a:lstStyle/>
                    <a:p>
                      <a:pPr algn="ctr">
                        <a:buNone/>
                      </a:pPr>
                      <a:r>
                        <a:rPr lang="en-US" sz="1000">
                          <a:solidFill>
                            <a:schemeClr val="tx1"/>
                          </a:solidFill>
                          <a:latin typeface="+mn-lt"/>
                          <a:ea typeface="+mn-ea"/>
                          <a:cs typeface="+mn-cs"/>
                        </a:rPr>
                        <a:t>3</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Environment Groups</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7">
                            <a:extLst>
                              <a:ext uri="{A12FA001-AC4F-418D-AE19-62706E023703}">
                                <ahyp:hlinkClr xmlns:ahyp="http://schemas.microsoft.com/office/drawing/2018/hyperlinkcolor" val="tx"/>
                              </a:ext>
                            </a:extLst>
                          </a:hlinkClick>
                        </a:rPr>
                        <a:t>https://aka.ms/EnvironmentGroups</a:t>
                      </a:r>
                      <a:r>
                        <a:rPr lang="en-US" sz="900">
                          <a:solidFill>
                            <a:schemeClr val="accent1"/>
                          </a:solidFill>
                          <a:latin typeface="+mn-lt"/>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5787085"/>
                  </a:ext>
                </a:extLst>
              </a:tr>
              <a:tr h="242523">
                <a:tc>
                  <a:txBody>
                    <a:bodyPr/>
                    <a:lstStyle/>
                    <a:p>
                      <a:pPr algn="ctr">
                        <a:buNone/>
                      </a:pPr>
                      <a:r>
                        <a:rPr lang="en-US" sz="1000">
                          <a:solidFill>
                            <a:schemeClr val="tx1"/>
                          </a:solidFill>
                          <a:latin typeface="+mn-lt"/>
                          <a:ea typeface="+mn-ea"/>
                          <a:cs typeface="+mn-cs"/>
                        </a:rPr>
                        <a:t>4</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Limit Sharing</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8">
                            <a:extLst>
                              <a:ext uri="{A12FA001-AC4F-418D-AE19-62706E023703}">
                                <ahyp:hlinkClr xmlns:ahyp="http://schemas.microsoft.com/office/drawing/2018/hyperlinkcolor" val="tx"/>
                              </a:ext>
                            </a:extLst>
                          </a:hlinkClick>
                        </a:rPr>
                        <a:t>https://aka.ms/LimitSharing</a:t>
                      </a:r>
                      <a:r>
                        <a:rPr lang="en-US" sz="900">
                          <a:solidFill>
                            <a:schemeClr val="accent1"/>
                          </a:solidFill>
                          <a:latin typeface="+mn-lt"/>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8163177"/>
                  </a:ext>
                </a:extLst>
              </a:tr>
              <a:tr h="242523">
                <a:tc>
                  <a:txBody>
                    <a:bodyPr/>
                    <a:lstStyle/>
                    <a:p>
                      <a:pPr algn="ctr">
                        <a:buNone/>
                      </a:pPr>
                      <a:r>
                        <a:rPr lang="en-US" sz="1000">
                          <a:solidFill>
                            <a:schemeClr val="tx1"/>
                          </a:solidFill>
                          <a:latin typeface="+mn-lt"/>
                          <a:ea typeface="+mn-ea"/>
                          <a:cs typeface="+mn-cs"/>
                        </a:rPr>
                        <a:t>5</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M365 Copilot Control Settings</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9">
                            <a:extLst>
                              <a:ext uri="{A12FA001-AC4F-418D-AE19-62706E023703}">
                                <ahyp:hlinkClr xmlns:ahyp="http://schemas.microsoft.com/office/drawing/2018/hyperlinkcolor" val="tx"/>
                              </a:ext>
                            </a:extLst>
                          </a:hlinkClick>
                        </a:rPr>
                        <a:t>https://aka.ms/M365CCS</a:t>
                      </a:r>
                      <a:r>
                        <a:rPr lang="en-US" sz="900">
                          <a:solidFill>
                            <a:schemeClr val="accent1"/>
                          </a:solidFill>
                          <a:latin typeface="+mn-lt"/>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2962434"/>
                  </a:ext>
                </a:extLst>
              </a:tr>
              <a:tr h="242523">
                <a:tc>
                  <a:txBody>
                    <a:bodyPr/>
                    <a:lstStyle/>
                    <a:p>
                      <a:pPr algn="ctr">
                        <a:buNone/>
                      </a:pPr>
                      <a:r>
                        <a:rPr lang="en-US" sz="1000">
                          <a:solidFill>
                            <a:schemeClr val="tx1"/>
                          </a:solidFill>
                          <a:latin typeface="+mn-lt"/>
                          <a:ea typeface="+mn-ea"/>
                          <a:cs typeface="+mn-cs"/>
                        </a:rPr>
                        <a:t>6</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Power Platform Copilot Hub</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10">
                            <a:extLst>
                              <a:ext uri="{A12FA001-AC4F-418D-AE19-62706E023703}">
                                <ahyp:hlinkClr xmlns:ahyp="http://schemas.microsoft.com/office/drawing/2018/hyperlinkcolor" val="tx"/>
                              </a:ext>
                            </a:extLst>
                          </a:hlinkClick>
                        </a:rPr>
                        <a:t>https://aka.ms/PowerPlatformCopilotHub</a:t>
                      </a:r>
                      <a:r>
                        <a:rPr lang="en-US" sz="900">
                          <a:solidFill>
                            <a:schemeClr val="accent1"/>
                          </a:solidFill>
                          <a:latin typeface="+mn-lt"/>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1396224"/>
                  </a:ext>
                </a:extLst>
              </a:tr>
              <a:tr h="242523">
                <a:tc>
                  <a:txBody>
                    <a:bodyPr/>
                    <a:lstStyle/>
                    <a:p>
                      <a:pPr lvl="0" algn="ctr">
                        <a:buNone/>
                      </a:pPr>
                      <a:r>
                        <a:rPr lang="en-US" sz="1000">
                          <a:solidFill>
                            <a:schemeClr val="tx1"/>
                          </a:solidFill>
                          <a:latin typeface="+mn-lt"/>
                          <a:ea typeface="+mn-ea"/>
                          <a:cs typeface="+mn-cs"/>
                        </a:rPr>
                        <a:t>7</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Power Platform Inventory</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11">
                            <a:extLst>
                              <a:ext uri="{A12FA001-AC4F-418D-AE19-62706E023703}">
                                <ahyp:hlinkClr xmlns:ahyp="http://schemas.microsoft.com/office/drawing/2018/hyperlinkcolor" val="tx"/>
                              </a:ext>
                            </a:extLst>
                          </a:hlinkClick>
                        </a:rPr>
                        <a:t>https://aka.ms/PowerPlatformInventory</a:t>
                      </a:r>
                      <a:r>
                        <a:rPr lang="en-US" sz="900">
                          <a:solidFill>
                            <a:schemeClr val="accent1"/>
                          </a:solidFill>
                          <a:latin typeface="+mn-lt"/>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1553795"/>
                  </a:ext>
                </a:extLst>
              </a:tr>
              <a:tr h="242523">
                <a:tc>
                  <a:txBody>
                    <a:bodyPr/>
                    <a:lstStyle/>
                    <a:p>
                      <a:pPr lvl="0" algn="ctr">
                        <a:buNone/>
                      </a:pPr>
                      <a:r>
                        <a:rPr lang="en-US" sz="1000">
                          <a:solidFill>
                            <a:schemeClr val="tx1"/>
                          </a:solidFill>
                          <a:latin typeface="+mn-lt"/>
                          <a:ea typeface="+mn-ea"/>
                          <a:cs typeface="+mn-cs"/>
                        </a:rPr>
                        <a:t>8</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Preferred Solution</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12">
                            <a:extLst>
                              <a:ext uri="{A12FA001-AC4F-418D-AE19-62706E023703}">
                                <ahyp:hlinkClr xmlns:ahyp="http://schemas.microsoft.com/office/drawing/2018/hyperlinkcolor" val="tx"/>
                              </a:ext>
                            </a:extLst>
                          </a:hlinkClick>
                        </a:rPr>
                        <a:t>https://aka.ms/preferred-solution</a:t>
                      </a:r>
                      <a:r>
                        <a:rPr lang="en-US" sz="900">
                          <a:solidFill>
                            <a:schemeClr val="accent1"/>
                          </a:solidFill>
                          <a:latin typeface="+mn-lt"/>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24909623"/>
                  </a:ext>
                </a:extLst>
              </a:tr>
              <a:tr h="242523">
                <a:tc>
                  <a:txBody>
                    <a:bodyPr/>
                    <a:lstStyle/>
                    <a:p>
                      <a:pPr lvl="0" algn="ctr">
                        <a:buNone/>
                      </a:pPr>
                      <a:r>
                        <a:rPr lang="en-US" sz="1000">
                          <a:solidFill>
                            <a:schemeClr val="tx1"/>
                          </a:solidFill>
                          <a:latin typeface="+mn-lt"/>
                          <a:ea typeface="+mn-ea"/>
                          <a:cs typeface="+mn-cs"/>
                        </a:rPr>
                        <a:t>9</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Source Code Integration</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13">
                            <a:extLst>
                              <a:ext uri="{A12FA001-AC4F-418D-AE19-62706E023703}">
                                <ahyp:hlinkClr xmlns:ahyp="http://schemas.microsoft.com/office/drawing/2018/hyperlinkcolor" val="tx"/>
                              </a:ext>
                            </a:extLst>
                          </a:hlinkClick>
                        </a:rPr>
                        <a:t>https://aka.ms/SourceCodeIntegration</a:t>
                      </a:r>
                      <a:r>
                        <a:rPr lang="en-US" sz="900">
                          <a:solidFill>
                            <a:schemeClr val="accent1"/>
                          </a:solidFill>
                          <a:latin typeface="+mn-lt"/>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0208482"/>
                  </a:ext>
                </a:extLst>
              </a:tr>
              <a:tr h="242523">
                <a:tc>
                  <a:txBody>
                    <a:bodyPr/>
                    <a:lstStyle/>
                    <a:p>
                      <a:pPr lvl="0" algn="ctr">
                        <a:buNone/>
                      </a:pPr>
                      <a:r>
                        <a:rPr lang="en-US" sz="1000">
                          <a:solidFill>
                            <a:schemeClr val="tx1"/>
                          </a:solidFill>
                          <a:latin typeface="+mn-lt"/>
                          <a:ea typeface="+mn-ea"/>
                          <a:cs typeface="+mn-cs"/>
                        </a:rPr>
                        <a:t>10</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Default Pipeline</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14">
                            <a:extLst>
                              <a:ext uri="{A12FA001-AC4F-418D-AE19-62706E023703}">
                                <ahyp:hlinkClr xmlns:ahyp="http://schemas.microsoft.com/office/drawing/2018/hyperlinkcolor" val="tx"/>
                              </a:ext>
                            </a:extLst>
                          </a:hlinkClick>
                        </a:rPr>
                        <a:t>https://aka.ms/default-pipeline</a:t>
                      </a:r>
                      <a:r>
                        <a:rPr lang="en-US" sz="900">
                          <a:solidFill>
                            <a:schemeClr val="accent1"/>
                          </a:solidFill>
                          <a:latin typeface="+mn-lt"/>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2308729"/>
                  </a:ext>
                </a:extLst>
              </a:tr>
              <a:tr h="242523">
                <a:tc>
                  <a:txBody>
                    <a:bodyPr/>
                    <a:lstStyle/>
                    <a:p>
                      <a:pPr lvl="0" algn="ctr">
                        <a:buNone/>
                      </a:pPr>
                      <a:r>
                        <a:rPr lang="en-US" sz="1000">
                          <a:solidFill>
                            <a:schemeClr val="tx1"/>
                          </a:solidFill>
                          <a:latin typeface="+mn-lt"/>
                          <a:ea typeface="+mn-ea"/>
                          <a:cs typeface="+mn-cs"/>
                        </a:rPr>
                        <a:t>11</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Power Catalog</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15">
                            <a:extLst>
                              <a:ext uri="{A12FA001-AC4F-418D-AE19-62706E023703}">
                                <ahyp:hlinkClr xmlns:ahyp="http://schemas.microsoft.com/office/drawing/2018/hyperlinkcolor" val="tx"/>
                              </a:ext>
                            </a:extLst>
                          </a:hlinkClick>
                        </a:rPr>
                        <a:t>https://aka.ms/power-catalog</a:t>
                      </a:r>
                      <a:r>
                        <a:rPr lang="en-US" sz="900">
                          <a:solidFill>
                            <a:schemeClr val="accent1"/>
                          </a:solidFill>
                          <a:latin typeface="+mn-lt"/>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522236"/>
                  </a:ext>
                </a:extLst>
              </a:tr>
              <a:tr h="242523">
                <a:tc>
                  <a:txBody>
                    <a:bodyPr/>
                    <a:lstStyle/>
                    <a:p>
                      <a:pPr lvl="0" algn="ctr">
                        <a:buNone/>
                      </a:pPr>
                      <a:r>
                        <a:rPr lang="en-US" sz="1000">
                          <a:solidFill>
                            <a:schemeClr val="tx1"/>
                          </a:solidFill>
                          <a:latin typeface="+mn-lt"/>
                          <a:ea typeface="+mn-ea"/>
                          <a:cs typeface="+mn-cs"/>
                        </a:rPr>
                        <a:t>12</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Monitor Alerts</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16">
                            <a:extLst>
                              <a:ext uri="{A12FA001-AC4F-418D-AE19-62706E023703}">
                                <ahyp:hlinkClr xmlns:ahyp="http://schemas.microsoft.com/office/drawing/2018/hyperlinkcolor" val="tx"/>
                              </a:ext>
                            </a:extLst>
                          </a:hlinkClick>
                        </a:rPr>
                        <a:t>https://aka.ms/MonitorAlerts</a:t>
                      </a:r>
                      <a:r>
                        <a:rPr lang="en-US" sz="900">
                          <a:solidFill>
                            <a:schemeClr val="accent1"/>
                          </a:solidFill>
                          <a:latin typeface="+mn-lt"/>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4038653"/>
                  </a:ext>
                </a:extLst>
              </a:tr>
              <a:tr h="242523">
                <a:tc>
                  <a:txBody>
                    <a:bodyPr/>
                    <a:lstStyle/>
                    <a:p>
                      <a:pPr lvl="0" algn="ctr">
                        <a:buNone/>
                      </a:pPr>
                      <a:r>
                        <a:rPr lang="en-US" sz="1000">
                          <a:solidFill>
                            <a:schemeClr val="tx1"/>
                          </a:solidFill>
                          <a:latin typeface="+mn-lt"/>
                          <a:ea typeface="+mn-ea"/>
                          <a:cs typeface="+mn-cs"/>
                        </a:rPr>
                        <a:t>13</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Monitoring Hub</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17">
                            <a:extLst>
                              <a:ext uri="{A12FA001-AC4F-418D-AE19-62706E023703}">
                                <ahyp:hlinkClr xmlns:ahyp="http://schemas.microsoft.com/office/drawing/2018/hyperlinkcolor" val="tx"/>
                              </a:ext>
                            </a:extLst>
                          </a:hlinkClick>
                        </a:rPr>
                        <a:t>https://aka.ms/MonitoringHub</a:t>
                      </a:r>
                      <a:r>
                        <a:rPr lang="en-US" sz="900">
                          <a:solidFill>
                            <a:schemeClr val="accent1"/>
                          </a:solidFill>
                          <a:latin typeface="+mn-lt"/>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1455"/>
                  </a:ext>
                </a:extLst>
              </a:tr>
              <a:tr h="242523">
                <a:tc>
                  <a:txBody>
                    <a:bodyPr/>
                    <a:lstStyle/>
                    <a:p>
                      <a:pPr lvl="0" algn="ctr">
                        <a:buNone/>
                      </a:pPr>
                      <a:r>
                        <a:rPr lang="en-US" sz="1000">
                          <a:solidFill>
                            <a:schemeClr val="tx1"/>
                          </a:solidFill>
                          <a:latin typeface="+mn-lt"/>
                          <a:ea typeface="+mn-ea"/>
                          <a:cs typeface="+mn-cs"/>
                        </a:rPr>
                        <a:t>14</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Power Apps for Devs (Code Apps)</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18">
                            <a:extLst>
                              <a:ext uri="{A12FA001-AC4F-418D-AE19-62706E023703}">
                                <ahyp:hlinkClr xmlns:ahyp="http://schemas.microsoft.com/office/drawing/2018/hyperlinkcolor" val="tx"/>
                              </a:ext>
                            </a:extLst>
                          </a:hlinkClick>
                        </a:rPr>
                        <a:t>https://aka.ms/paCodeApps</a:t>
                      </a:r>
                      <a:r>
                        <a:rPr lang="en-US" sz="900">
                          <a:solidFill>
                            <a:schemeClr val="accent1"/>
                          </a:solidFill>
                          <a:latin typeface="+mn-lt"/>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27730530"/>
                  </a:ext>
                </a:extLst>
              </a:tr>
              <a:tr h="242523">
                <a:tc>
                  <a:txBody>
                    <a:bodyPr/>
                    <a:lstStyle/>
                    <a:p>
                      <a:pPr lvl="0" algn="ctr">
                        <a:buNone/>
                      </a:pPr>
                      <a:r>
                        <a:rPr lang="en-US" sz="1000">
                          <a:solidFill>
                            <a:schemeClr val="tx1"/>
                          </a:solidFill>
                          <a:latin typeface="+mn-lt"/>
                          <a:ea typeface="+mn-ea"/>
                          <a:cs typeface="+mn-cs"/>
                        </a:rPr>
                        <a:t>15</a:t>
                      </a:r>
                    </a:p>
                  </a:txBody>
                  <a:tcPr marT="27432" marB="27432" anchor="ctr">
                    <a:lnL w="635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Manage MCS Credit</a:t>
                      </a:r>
                    </a:p>
                  </a:txBody>
                  <a:tcPr marL="0" marR="51951" marT="26235" marB="26235"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19">
                            <a:extLst>
                              <a:ext uri="{A12FA001-AC4F-418D-AE19-62706E023703}">
                                <ahyp:hlinkClr xmlns:ahyp="http://schemas.microsoft.com/office/drawing/2018/hyperlinkcolor" val="tx"/>
                              </a:ext>
                            </a:extLst>
                          </a:hlinkClick>
                        </a:rPr>
                        <a:t>https://aka.ms/ManageMCSCredit</a:t>
                      </a:r>
                      <a:r>
                        <a:rPr lang="en-US" sz="900">
                          <a:solidFill>
                            <a:schemeClr val="accent1"/>
                          </a:solidFill>
                          <a:latin typeface="+mn-lt"/>
                        </a:rPr>
                        <a:t> </a:t>
                      </a:r>
                    </a:p>
                  </a:txBody>
                  <a:tcPr marL="51951" marR="51951" marT="26235" marB="26235"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7412791"/>
                  </a:ext>
                </a:extLst>
              </a:tr>
              <a:tr h="242523">
                <a:tc>
                  <a:txBody>
                    <a:bodyPr/>
                    <a:lstStyle/>
                    <a:p>
                      <a:pPr lvl="0" algn="ctr">
                        <a:buNone/>
                      </a:pPr>
                      <a:r>
                        <a:rPr lang="en-US" sz="1000">
                          <a:solidFill>
                            <a:schemeClr val="tx1"/>
                          </a:solidFill>
                          <a:latin typeface="+mn-lt"/>
                          <a:ea typeface="+mn-ea"/>
                          <a:cs typeface="+mn-cs"/>
                        </a:rPr>
                        <a:t>16</a:t>
                      </a:r>
                    </a:p>
                  </a:txBody>
                  <a:tcPr marT="27432" marB="27432" anchor="ctr">
                    <a:lnL w="6350" cap="flat" cmpd="sng" algn="ctr">
                      <a:noFill/>
                      <a:prstDash val="solid"/>
                      <a:round/>
                      <a:headEnd type="none" w="med" len="med"/>
                      <a:tailEnd type="none" w="med" len="med"/>
                    </a:lnL>
                    <a:lnR w="3174"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Virtual Center Of Enablement (COE)</a:t>
                      </a:r>
                    </a:p>
                  </a:txBody>
                  <a:tcPr marL="0" marR="51951" marT="26235" marB="26235" anchor="ctr">
                    <a:lnL w="3174">
                      <a:noFill/>
                    </a:lnL>
                    <a:lnR w="3174">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20">
                            <a:extLst>
                              <a:ext uri="{A12FA001-AC4F-418D-AE19-62706E023703}">
                                <ahyp:hlinkClr xmlns:ahyp="http://schemas.microsoft.com/office/drawing/2018/hyperlinkcolor" val="tx"/>
                              </a:ext>
                            </a:extLst>
                          </a:hlinkClick>
                        </a:rPr>
                        <a:t>https://aka.ms/VirtualCOEPreview</a:t>
                      </a:r>
                      <a:r>
                        <a:rPr lang="en-US" sz="900">
                          <a:solidFill>
                            <a:schemeClr val="accent1"/>
                          </a:solidFill>
                          <a:latin typeface="+mn-lt"/>
                        </a:rPr>
                        <a:t> </a:t>
                      </a:r>
                    </a:p>
                  </a:txBody>
                  <a:tcPr marL="51951" marR="51951" marT="26235" marB="26235" anchor="ctr">
                    <a:lnL w="3174">
                      <a:noFill/>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7250317"/>
                  </a:ext>
                </a:extLst>
              </a:tr>
              <a:tr h="242523">
                <a:tc>
                  <a:txBody>
                    <a:bodyPr/>
                    <a:lstStyle/>
                    <a:p>
                      <a:pPr lvl="0" algn="ctr">
                        <a:buNone/>
                      </a:pPr>
                      <a:r>
                        <a:rPr lang="en-US" sz="1000">
                          <a:solidFill>
                            <a:schemeClr val="tx1"/>
                          </a:solidFill>
                          <a:latin typeface="+mn-lt"/>
                          <a:ea typeface="+mn-ea"/>
                          <a:cs typeface="+mn-cs"/>
                        </a:rPr>
                        <a:t>17</a:t>
                      </a:r>
                    </a:p>
                  </a:txBody>
                  <a:tcPr marT="27432" marB="27432" anchor="ctr">
                    <a:lnL w="6350" cap="flat" cmpd="sng" algn="ctr">
                      <a:noFill/>
                      <a:prstDash val="solid"/>
                      <a:round/>
                      <a:headEnd type="none" w="med" len="med"/>
                      <a:tailEnd type="none" w="med" len="med"/>
                    </a:lnL>
                    <a:lnR w="3174"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Power Platform Usage</a:t>
                      </a:r>
                    </a:p>
                  </a:txBody>
                  <a:tcPr marL="0" marR="51951" marT="26235" marB="26235" anchor="ctr">
                    <a:lnL w="3174" cap="flat" cmpd="sng" algn="ctr">
                      <a:noFill/>
                      <a:prstDash val="solid"/>
                      <a:round/>
                      <a:headEnd type="none" w="med" len="med"/>
                      <a:tailEnd type="none" w="med" len="med"/>
                    </a:lnL>
                    <a:lnR w="3174"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21">
                            <a:extLst>
                              <a:ext uri="{A12FA001-AC4F-418D-AE19-62706E023703}">
                                <ahyp:hlinkClr xmlns:ahyp="http://schemas.microsoft.com/office/drawing/2018/hyperlinkcolor" val="tx"/>
                              </a:ext>
                            </a:extLst>
                          </a:hlinkClick>
                        </a:rPr>
                        <a:t>https://aka.ms/Usage</a:t>
                      </a:r>
                      <a:r>
                        <a:rPr lang="en-US" sz="900">
                          <a:solidFill>
                            <a:schemeClr val="accent1"/>
                          </a:solidFill>
                          <a:latin typeface="+mn-lt"/>
                        </a:rPr>
                        <a:t> </a:t>
                      </a:r>
                    </a:p>
                  </a:txBody>
                  <a:tcPr marL="51951" marR="51951" marT="26235" marB="26235" anchor="ctr">
                    <a:lnL w="3174"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2514885"/>
                  </a:ext>
                </a:extLst>
              </a:tr>
              <a:tr h="242523">
                <a:tc>
                  <a:txBody>
                    <a:bodyPr/>
                    <a:lstStyle/>
                    <a:p>
                      <a:pPr lvl="0" algn="ctr">
                        <a:buNone/>
                      </a:pPr>
                      <a:r>
                        <a:rPr lang="en-US" sz="1000">
                          <a:solidFill>
                            <a:schemeClr val="tx1"/>
                          </a:solidFill>
                          <a:latin typeface="+mn-lt"/>
                          <a:ea typeface="+mn-ea"/>
                          <a:cs typeface="+mn-cs"/>
                        </a:rPr>
                        <a:t>18</a:t>
                      </a:r>
                    </a:p>
                  </a:txBody>
                  <a:tcPr marT="27432" marB="27432" anchor="ctr">
                    <a:lnL w="6350" cap="flat" cmpd="sng" algn="ctr">
                      <a:noFill/>
                      <a:prstDash val="solid"/>
                      <a:round/>
                      <a:headEnd type="none" w="med" len="med"/>
                      <a:tailEnd type="none" w="med" len="med"/>
                    </a:lnL>
                    <a:lnR w="3174"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Power Platform Admin Center (PPAC)</a:t>
                      </a:r>
                    </a:p>
                  </a:txBody>
                  <a:tcPr marL="0" marR="51951" marT="26235" marB="26235" anchor="ctr">
                    <a:lnL w="3174" cap="flat" cmpd="sng" algn="ctr">
                      <a:noFill/>
                      <a:prstDash val="solid"/>
                      <a:round/>
                      <a:headEnd type="none" w="med" len="med"/>
                      <a:tailEnd type="none" w="med" len="med"/>
                    </a:lnL>
                    <a:lnR w="3174"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22">
                            <a:extLst>
                              <a:ext uri="{A12FA001-AC4F-418D-AE19-62706E023703}">
                                <ahyp:hlinkClr xmlns:ahyp="http://schemas.microsoft.com/office/drawing/2018/hyperlinkcolor" val="tx"/>
                              </a:ext>
                            </a:extLst>
                          </a:hlinkClick>
                        </a:rPr>
                        <a:t>https://aka.ms/PPAC</a:t>
                      </a:r>
                      <a:r>
                        <a:rPr lang="en-US" sz="900">
                          <a:solidFill>
                            <a:schemeClr val="accent1"/>
                          </a:solidFill>
                          <a:latin typeface="+mn-lt"/>
                        </a:rPr>
                        <a:t> </a:t>
                      </a:r>
                    </a:p>
                  </a:txBody>
                  <a:tcPr marL="51951" marR="51951" marT="26235" marB="26235" anchor="ctr">
                    <a:lnL w="3174"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6694385"/>
                  </a:ext>
                </a:extLst>
              </a:tr>
              <a:tr h="242523">
                <a:tc>
                  <a:txBody>
                    <a:bodyPr/>
                    <a:lstStyle/>
                    <a:p>
                      <a:pPr lvl="0" algn="ctr">
                        <a:buNone/>
                      </a:pPr>
                      <a:r>
                        <a:rPr lang="en-US" sz="1000">
                          <a:solidFill>
                            <a:schemeClr val="tx1"/>
                          </a:solidFill>
                          <a:latin typeface="+mn-lt"/>
                          <a:ea typeface="+mn-ea"/>
                          <a:cs typeface="+mn-cs"/>
                        </a:rPr>
                        <a:t>19</a:t>
                      </a:r>
                    </a:p>
                  </a:txBody>
                  <a:tcPr marT="27432" marB="27432" anchor="ctr">
                    <a:lnL w="6350" cap="flat" cmpd="sng" algn="ctr">
                      <a:noFill/>
                      <a:prstDash val="solid"/>
                      <a:round/>
                      <a:headEnd type="none" w="med" len="med"/>
                      <a:tailEnd type="none" w="med" len="med"/>
                    </a:lnL>
                    <a:lnR w="3174"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Learn Advanced Connector Policies</a:t>
                      </a:r>
                    </a:p>
                  </a:txBody>
                  <a:tcPr marL="0" marR="51951" marT="26235" marB="26235" anchor="ctr">
                    <a:lnL w="3174" cap="flat" cmpd="sng" algn="ctr">
                      <a:noFill/>
                      <a:prstDash val="solid"/>
                      <a:round/>
                      <a:headEnd type="none" w="med" len="med"/>
                      <a:tailEnd type="none" w="med" len="med"/>
                    </a:lnL>
                    <a:lnR w="3174"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23">
                            <a:extLst>
                              <a:ext uri="{A12FA001-AC4F-418D-AE19-62706E023703}">
                                <ahyp:hlinkClr xmlns:ahyp="http://schemas.microsoft.com/office/drawing/2018/hyperlinkcolor" val="tx"/>
                              </a:ext>
                            </a:extLst>
                          </a:hlinkClick>
                        </a:rPr>
                        <a:t>https://aka.ms/LearnACP</a:t>
                      </a:r>
                      <a:r>
                        <a:rPr lang="en-US" sz="900">
                          <a:solidFill>
                            <a:schemeClr val="accent1"/>
                          </a:solidFill>
                          <a:latin typeface="+mn-lt"/>
                        </a:rPr>
                        <a:t> </a:t>
                      </a:r>
                    </a:p>
                  </a:txBody>
                  <a:tcPr marL="51951" marR="51951" marT="26235" marB="26235" anchor="ctr">
                    <a:lnL w="3174"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7220361"/>
                  </a:ext>
                </a:extLst>
              </a:tr>
              <a:tr h="242523">
                <a:tc>
                  <a:txBody>
                    <a:bodyPr/>
                    <a:lstStyle/>
                    <a:p>
                      <a:pPr lvl="0" algn="ctr">
                        <a:buNone/>
                      </a:pPr>
                      <a:r>
                        <a:rPr lang="en-US" sz="1000">
                          <a:solidFill>
                            <a:schemeClr val="tx1"/>
                          </a:solidFill>
                          <a:latin typeface="+mn-lt"/>
                          <a:ea typeface="+mn-ea"/>
                          <a:cs typeface="+mn-cs"/>
                        </a:rPr>
                        <a:t>20</a:t>
                      </a:r>
                    </a:p>
                  </a:txBody>
                  <a:tcPr marT="27432" marB="27432" anchor="ctr">
                    <a:lnL w="6350" cap="flat" cmpd="sng" algn="ctr">
                      <a:noFill/>
                      <a:prstDash val="solid"/>
                      <a:round/>
                      <a:headEnd type="none" w="med" len="med"/>
                      <a:tailEnd type="none" w="med" len="med"/>
                    </a:lnL>
                    <a:lnR w="3174"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Agent Channels</a:t>
                      </a:r>
                    </a:p>
                  </a:txBody>
                  <a:tcPr marL="0" marR="51951" marT="26235" marB="26235" anchor="ctr">
                    <a:lnL w="3174" cap="flat" cmpd="sng" algn="ctr">
                      <a:noFill/>
                      <a:prstDash val="solid"/>
                      <a:round/>
                      <a:headEnd type="none" w="med" len="med"/>
                      <a:tailEnd type="none" w="med" len="med"/>
                    </a:lnL>
                    <a:lnR w="3174"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24">
                            <a:extLst>
                              <a:ext uri="{A12FA001-AC4F-418D-AE19-62706E023703}">
                                <ahyp:hlinkClr xmlns:ahyp="http://schemas.microsoft.com/office/drawing/2018/hyperlinkcolor" val="tx"/>
                              </a:ext>
                            </a:extLst>
                          </a:hlinkClick>
                        </a:rPr>
                        <a:t>https://aka.ms/AgentChannels</a:t>
                      </a:r>
                      <a:r>
                        <a:rPr lang="en-US" sz="900">
                          <a:solidFill>
                            <a:schemeClr val="accent1"/>
                          </a:solidFill>
                          <a:latin typeface="+mn-lt"/>
                        </a:rPr>
                        <a:t> </a:t>
                      </a:r>
                    </a:p>
                  </a:txBody>
                  <a:tcPr marL="51951" marR="51951" marT="26235" marB="26235" anchor="ctr">
                    <a:lnL w="3174"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6545400"/>
                  </a:ext>
                </a:extLst>
              </a:tr>
              <a:tr h="242523">
                <a:tc>
                  <a:txBody>
                    <a:bodyPr/>
                    <a:lstStyle/>
                    <a:p>
                      <a:pPr lvl="0" algn="ctr">
                        <a:buNone/>
                      </a:pPr>
                      <a:r>
                        <a:rPr lang="en-US" sz="1000">
                          <a:solidFill>
                            <a:schemeClr val="tx1"/>
                          </a:solidFill>
                          <a:latin typeface="+mn-lt"/>
                          <a:ea typeface="+mn-ea"/>
                          <a:cs typeface="+mn-cs"/>
                        </a:rPr>
                        <a:t>21</a:t>
                      </a:r>
                    </a:p>
                  </a:txBody>
                  <a:tcPr marT="27432" marB="27432" anchor="ctr">
                    <a:lnL w="6350" cap="flat" cmpd="sng" algn="ctr">
                      <a:noFill/>
                      <a:prstDash val="solid"/>
                      <a:round/>
                      <a:headEnd type="none" w="med" len="med"/>
                      <a:tailEnd type="none" w="med" len="med"/>
                    </a:lnL>
                    <a:lnR w="3174"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Copilot Studio Extended Protection</a:t>
                      </a:r>
                    </a:p>
                  </a:txBody>
                  <a:tcPr marL="0" marR="51951" marT="26235" marB="26235" anchor="ctr">
                    <a:lnL w="3174" cap="flat" cmpd="sng" algn="ctr">
                      <a:noFill/>
                      <a:prstDash val="solid"/>
                      <a:round/>
                      <a:headEnd type="none" w="med" len="med"/>
                      <a:tailEnd type="none" w="med" len="med"/>
                    </a:lnL>
                    <a:lnR w="3174"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25">
                            <a:extLst>
                              <a:ext uri="{A12FA001-AC4F-418D-AE19-62706E023703}">
                                <ahyp:hlinkClr xmlns:ahyp="http://schemas.microsoft.com/office/drawing/2018/hyperlinkcolor" val="tx"/>
                              </a:ext>
                            </a:extLst>
                          </a:hlinkClick>
                        </a:rPr>
                        <a:t>https://aka.ms/CopilotStudioExtendedProtection</a:t>
                      </a:r>
                      <a:r>
                        <a:rPr lang="en-US" sz="900">
                          <a:solidFill>
                            <a:schemeClr val="accent1"/>
                          </a:solidFill>
                          <a:latin typeface="+mn-lt"/>
                        </a:rPr>
                        <a:t> </a:t>
                      </a:r>
                    </a:p>
                  </a:txBody>
                  <a:tcPr marL="51951" marR="51951" marT="26235" marB="26235" anchor="ctr">
                    <a:lnL w="3174"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5266245"/>
                  </a:ext>
                </a:extLst>
              </a:tr>
              <a:tr h="242523">
                <a:tc>
                  <a:txBody>
                    <a:bodyPr/>
                    <a:lstStyle/>
                    <a:p>
                      <a:pPr lvl="0" algn="ctr">
                        <a:buNone/>
                      </a:pPr>
                      <a:r>
                        <a:rPr lang="en-US" sz="1000">
                          <a:solidFill>
                            <a:schemeClr val="tx1"/>
                          </a:solidFill>
                          <a:latin typeface="+mn-lt"/>
                          <a:ea typeface="+mn-ea"/>
                          <a:cs typeface="+mn-cs"/>
                        </a:rPr>
                        <a:t>22</a:t>
                      </a:r>
                    </a:p>
                  </a:txBody>
                  <a:tcPr marT="27432" marB="27432" anchor="ctr">
                    <a:lnL w="6350" cap="flat" cmpd="sng" algn="ctr">
                      <a:noFill/>
                      <a:prstDash val="solid"/>
                      <a:round/>
                      <a:headEnd type="none" w="med" len="med"/>
                      <a:tailEnd type="none" w="med" len="med"/>
                    </a:lnL>
                    <a:lnR w="3174"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tx1"/>
                          </a:solidFill>
                          <a:latin typeface="+mj-lt"/>
                        </a:rPr>
                        <a:t>Microsoft Information Protection in MCS</a:t>
                      </a:r>
                    </a:p>
                  </a:txBody>
                  <a:tcPr marL="0" marR="51951" marT="26235" marB="26235" anchor="ctr">
                    <a:lnL w="3174" cap="flat" cmpd="sng" algn="ctr">
                      <a:noFill/>
                      <a:prstDash val="solid"/>
                      <a:round/>
                      <a:headEnd type="none" w="med" len="med"/>
                      <a:tailEnd type="none" w="med" len="med"/>
                    </a:lnL>
                    <a:lnR w="3174"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900">
                          <a:solidFill>
                            <a:schemeClr val="accent1"/>
                          </a:solidFill>
                          <a:latin typeface="+mn-lt"/>
                          <a:hlinkClick r:id="rId26">
                            <a:extLst>
                              <a:ext uri="{A12FA001-AC4F-418D-AE19-62706E023703}">
                                <ahyp:hlinkClr xmlns:ahyp="http://schemas.microsoft.com/office/drawing/2018/hyperlinkcolor" val="tx"/>
                              </a:ext>
                            </a:extLst>
                          </a:hlinkClick>
                        </a:rPr>
                        <a:t>https://aka.ms/MIPinMCS</a:t>
                      </a:r>
                      <a:r>
                        <a:rPr lang="en-US" sz="900">
                          <a:solidFill>
                            <a:schemeClr val="accent1"/>
                          </a:solidFill>
                          <a:latin typeface="+mn-lt"/>
                        </a:rPr>
                        <a:t> </a:t>
                      </a:r>
                    </a:p>
                  </a:txBody>
                  <a:tcPr marL="51951" marR="51951" marT="26235" marB="26235" anchor="ctr">
                    <a:lnL w="3174"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1357650"/>
                  </a:ext>
                </a:extLst>
              </a:tr>
            </a:tbl>
          </a:graphicData>
        </a:graphic>
      </p:graphicFrame>
      <p:sp>
        <p:nvSpPr>
          <p:cNvPr id="84" name="Rectangle: Rounded Corners 83">
            <a:extLst>
              <a:ext uri="{FF2B5EF4-FFF2-40B4-BE49-F238E27FC236}">
                <a16:creationId xmlns:a16="http://schemas.microsoft.com/office/drawing/2014/main" id="{8203D045-DB47-BFAB-22C0-0CD284C5543C}"/>
              </a:ext>
              <a:ext uri="{C183D7F6-B498-43B3-948B-1728B52AA6E4}">
                <adec:decorative xmlns:adec="http://schemas.microsoft.com/office/drawing/2017/decorative" val="1"/>
              </a:ext>
            </a:extLst>
          </p:cNvPr>
          <p:cNvSpPr/>
          <p:nvPr/>
        </p:nvSpPr>
        <p:spPr bwMode="auto">
          <a:xfrm>
            <a:off x="3069944" y="1282780"/>
            <a:ext cx="1321399" cy="695167"/>
          </a:xfrm>
          <a:prstGeom prst="roundRect">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b="1">
                <a:solidFill>
                  <a:schemeClr val="tx1"/>
                </a:solidFill>
                <a:latin typeface="+mj-lt"/>
              </a:rPr>
              <a:t>Managed Governance</a:t>
            </a:r>
          </a:p>
        </p:txBody>
      </p:sp>
      <p:sp>
        <p:nvSpPr>
          <p:cNvPr id="116" name="Freeform: Shape 115">
            <a:extLst>
              <a:ext uri="{FF2B5EF4-FFF2-40B4-BE49-F238E27FC236}">
                <a16:creationId xmlns:a16="http://schemas.microsoft.com/office/drawing/2014/main" id="{17FE36DE-5EB7-7645-4482-158A51D2571A}"/>
              </a:ext>
            </a:extLst>
          </p:cNvPr>
          <p:cNvSpPr/>
          <p:nvPr/>
        </p:nvSpPr>
        <p:spPr bwMode="auto">
          <a:xfrm>
            <a:off x="4819651" y="904876"/>
            <a:ext cx="232391" cy="1450974"/>
          </a:xfrm>
          <a:custGeom>
            <a:avLst/>
            <a:gdLst>
              <a:gd name="csX0" fmla="*/ 123222 w 232391"/>
              <a:gd name="csY0" fmla="*/ 0 h 1450974"/>
              <a:gd name="csX1" fmla="*/ 232391 w 232391"/>
              <a:gd name="csY1" fmla="*/ 0 h 1450974"/>
              <a:gd name="csX2" fmla="*/ 232391 w 232391"/>
              <a:gd name="csY2" fmla="*/ 1450974 h 1450974"/>
              <a:gd name="csX3" fmla="*/ 123222 w 232391"/>
              <a:gd name="csY3" fmla="*/ 1450974 h 1450974"/>
              <a:gd name="csX4" fmla="*/ 0 w 232391"/>
              <a:gd name="csY4" fmla="*/ 1327752 h 1450974"/>
              <a:gd name="csX5" fmla="*/ 0 w 232391"/>
              <a:gd name="csY5" fmla="*/ 123222 h 1450974"/>
              <a:gd name="csX6" fmla="*/ 123222 w 232391"/>
              <a:gd name="csY6" fmla="*/ 0 h 1450974"/>
              <a:gd name="csX0" fmla="*/ 232391 w 323831"/>
              <a:gd name="csY0" fmla="*/ 1450974 h 1542414"/>
              <a:gd name="csX1" fmla="*/ 123222 w 323831"/>
              <a:gd name="csY1" fmla="*/ 1450974 h 1542414"/>
              <a:gd name="csX2" fmla="*/ 0 w 323831"/>
              <a:gd name="csY2" fmla="*/ 1327752 h 1542414"/>
              <a:gd name="csX3" fmla="*/ 0 w 323831"/>
              <a:gd name="csY3" fmla="*/ 123222 h 1542414"/>
              <a:gd name="csX4" fmla="*/ 123222 w 323831"/>
              <a:gd name="csY4" fmla="*/ 0 h 1542414"/>
              <a:gd name="csX5" fmla="*/ 232391 w 323831"/>
              <a:gd name="csY5" fmla="*/ 0 h 1542414"/>
              <a:gd name="csX6" fmla="*/ 323831 w 323831"/>
              <a:gd name="csY6" fmla="*/ 1542414 h 1542414"/>
              <a:gd name="csX0" fmla="*/ 232391 w 232391"/>
              <a:gd name="csY0" fmla="*/ 1450974 h 1450974"/>
              <a:gd name="csX1" fmla="*/ 123222 w 232391"/>
              <a:gd name="csY1" fmla="*/ 1450974 h 1450974"/>
              <a:gd name="csX2" fmla="*/ 0 w 232391"/>
              <a:gd name="csY2" fmla="*/ 1327752 h 1450974"/>
              <a:gd name="csX3" fmla="*/ 0 w 232391"/>
              <a:gd name="csY3" fmla="*/ 123222 h 1450974"/>
              <a:gd name="csX4" fmla="*/ 123222 w 232391"/>
              <a:gd name="csY4" fmla="*/ 0 h 1450974"/>
              <a:gd name="csX5" fmla="*/ 232391 w 232391"/>
              <a:gd name="csY5" fmla="*/ 0 h 1450974"/>
            </a:gdLst>
            <a:ahLst/>
            <a:cxnLst>
              <a:cxn ang="0">
                <a:pos x="csX0" y="csY0"/>
              </a:cxn>
              <a:cxn ang="0">
                <a:pos x="csX1" y="csY1"/>
              </a:cxn>
              <a:cxn ang="0">
                <a:pos x="csX2" y="csY2"/>
              </a:cxn>
              <a:cxn ang="0">
                <a:pos x="csX3" y="csY3"/>
              </a:cxn>
              <a:cxn ang="0">
                <a:pos x="csX4" y="csY4"/>
              </a:cxn>
              <a:cxn ang="0">
                <a:pos x="csX5" y="csY5"/>
              </a:cxn>
            </a:cxnLst>
            <a:rect l="l" t="t" r="r" b="b"/>
            <a:pathLst>
              <a:path w="232391" h="1450974">
                <a:moveTo>
                  <a:pt x="232391" y="1450974"/>
                </a:moveTo>
                <a:lnTo>
                  <a:pt x="123222" y="1450974"/>
                </a:lnTo>
                <a:cubicBezTo>
                  <a:pt x="55168" y="1450974"/>
                  <a:pt x="0" y="1395806"/>
                  <a:pt x="0" y="1327752"/>
                </a:cubicBezTo>
                <a:lnTo>
                  <a:pt x="0" y="123222"/>
                </a:lnTo>
                <a:cubicBezTo>
                  <a:pt x="0" y="55168"/>
                  <a:pt x="55168" y="0"/>
                  <a:pt x="123222" y="0"/>
                </a:cubicBezTo>
                <a:lnTo>
                  <a:pt x="232391" y="0"/>
                </a:lnTo>
              </a:path>
            </a:pathLst>
          </a:custGeom>
          <a:noFill/>
          <a:ln w="12700">
            <a:gradFill flip="none" rotWithShape="1">
              <a:gsLst>
                <a:gs pos="100000">
                  <a:srgbClr val="D661FD"/>
                </a:gs>
                <a:gs pos="15000">
                  <a:srgbClr val="01A3FD"/>
                </a:gs>
              </a:gsLst>
              <a:lin ang="0" scaled="1"/>
              <a:tileRect/>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a:endParaRPr lang="en-US" sz="1200" b="1">
              <a:solidFill>
                <a:schemeClr val="tx1"/>
              </a:solidFill>
              <a:latin typeface="+mj-lt"/>
            </a:endParaRPr>
          </a:p>
        </p:txBody>
      </p:sp>
      <p:sp>
        <p:nvSpPr>
          <p:cNvPr id="115" name="Freeform: Shape 114">
            <a:extLst>
              <a:ext uri="{FF2B5EF4-FFF2-40B4-BE49-F238E27FC236}">
                <a16:creationId xmlns:a16="http://schemas.microsoft.com/office/drawing/2014/main" id="{90790A50-A1F6-2180-16ED-C2BD8DEC9193}"/>
              </a:ext>
            </a:extLst>
          </p:cNvPr>
          <p:cNvSpPr/>
          <p:nvPr/>
        </p:nvSpPr>
        <p:spPr bwMode="auto">
          <a:xfrm>
            <a:off x="4819651" y="2584451"/>
            <a:ext cx="232391" cy="1450974"/>
          </a:xfrm>
          <a:custGeom>
            <a:avLst/>
            <a:gdLst>
              <a:gd name="csX0" fmla="*/ 123222 w 232391"/>
              <a:gd name="csY0" fmla="*/ 0 h 1450974"/>
              <a:gd name="csX1" fmla="*/ 232391 w 232391"/>
              <a:gd name="csY1" fmla="*/ 0 h 1450974"/>
              <a:gd name="csX2" fmla="*/ 232391 w 232391"/>
              <a:gd name="csY2" fmla="*/ 1450974 h 1450974"/>
              <a:gd name="csX3" fmla="*/ 123222 w 232391"/>
              <a:gd name="csY3" fmla="*/ 1450974 h 1450974"/>
              <a:gd name="csX4" fmla="*/ 0 w 232391"/>
              <a:gd name="csY4" fmla="*/ 1327752 h 1450974"/>
              <a:gd name="csX5" fmla="*/ 0 w 232391"/>
              <a:gd name="csY5" fmla="*/ 123222 h 1450974"/>
              <a:gd name="csX6" fmla="*/ 123222 w 232391"/>
              <a:gd name="csY6" fmla="*/ 0 h 1450974"/>
              <a:gd name="csX0" fmla="*/ 232391 w 323831"/>
              <a:gd name="csY0" fmla="*/ 1450974 h 1542414"/>
              <a:gd name="csX1" fmla="*/ 123222 w 323831"/>
              <a:gd name="csY1" fmla="*/ 1450974 h 1542414"/>
              <a:gd name="csX2" fmla="*/ 0 w 323831"/>
              <a:gd name="csY2" fmla="*/ 1327752 h 1542414"/>
              <a:gd name="csX3" fmla="*/ 0 w 323831"/>
              <a:gd name="csY3" fmla="*/ 123222 h 1542414"/>
              <a:gd name="csX4" fmla="*/ 123222 w 323831"/>
              <a:gd name="csY4" fmla="*/ 0 h 1542414"/>
              <a:gd name="csX5" fmla="*/ 232391 w 323831"/>
              <a:gd name="csY5" fmla="*/ 0 h 1542414"/>
              <a:gd name="csX6" fmla="*/ 323831 w 323831"/>
              <a:gd name="csY6" fmla="*/ 1542414 h 1542414"/>
              <a:gd name="csX0" fmla="*/ 232391 w 232391"/>
              <a:gd name="csY0" fmla="*/ 1450974 h 1450974"/>
              <a:gd name="csX1" fmla="*/ 123222 w 232391"/>
              <a:gd name="csY1" fmla="*/ 1450974 h 1450974"/>
              <a:gd name="csX2" fmla="*/ 0 w 232391"/>
              <a:gd name="csY2" fmla="*/ 1327752 h 1450974"/>
              <a:gd name="csX3" fmla="*/ 0 w 232391"/>
              <a:gd name="csY3" fmla="*/ 123222 h 1450974"/>
              <a:gd name="csX4" fmla="*/ 123222 w 232391"/>
              <a:gd name="csY4" fmla="*/ 0 h 1450974"/>
              <a:gd name="csX5" fmla="*/ 232391 w 232391"/>
              <a:gd name="csY5" fmla="*/ 0 h 1450974"/>
            </a:gdLst>
            <a:ahLst/>
            <a:cxnLst>
              <a:cxn ang="0">
                <a:pos x="csX0" y="csY0"/>
              </a:cxn>
              <a:cxn ang="0">
                <a:pos x="csX1" y="csY1"/>
              </a:cxn>
              <a:cxn ang="0">
                <a:pos x="csX2" y="csY2"/>
              </a:cxn>
              <a:cxn ang="0">
                <a:pos x="csX3" y="csY3"/>
              </a:cxn>
              <a:cxn ang="0">
                <a:pos x="csX4" y="csY4"/>
              </a:cxn>
              <a:cxn ang="0">
                <a:pos x="csX5" y="csY5"/>
              </a:cxn>
            </a:cxnLst>
            <a:rect l="l" t="t" r="r" b="b"/>
            <a:pathLst>
              <a:path w="232391" h="1450974">
                <a:moveTo>
                  <a:pt x="232391" y="1450974"/>
                </a:moveTo>
                <a:lnTo>
                  <a:pt x="123222" y="1450974"/>
                </a:lnTo>
                <a:cubicBezTo>
                  <a:pt x="55168" y="1450974"/>
                  <a:pt x="0" y="1395806"/>
                  <a:pt x="0" y="1327752"/>
                </a:cubicBezTo>
                <a:lnTo>
                  <a:pt x="0" y="123222"/>
                </a:lnTo>
                <a:cubicBezTo>
                  <a:pt x="0" y="55168"/>
                  <a:pt x="55168" y="0"/>
                  <a:pt x="123222" y="0"/>
                </a:cubicBezTo>
                <a:lnTo>
                  <a:pt x="232391" y="0"/>
                </a:lnTo>
              </a:path>
            </a:pathLst>
          </a:custGeom>
          <a:noFill/>
          <a:ln w="12700">
            <a:gradFill flip="none" rotWithShape="1">
              <a:gsLst>
                <a:gs pos="100000">
                  <a:srgbClr val="D661FD"/>
                </a:gs>
                <a:gs pos="15000">
                  <a:srgbClr val="01A3FD"/>
                </a:gs>
              </a:gsLst>
              <a:lin ang="0" scaled="1"/>
              <a:tileRect/>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a:endParaRPr lang="en-US" sz="1200" b="1">
              <a:solidFill>
                <a:schemeClr val="tx1"/>
              </a:solidFill>
              <a:latin typeface="+mj-lt"/>
            </a:endParaRPr>
          </a:p>
        </p:txBody>
      </p:sp>
      <p:sp>
        <p:nvSpPr>
          <p:cNvPr id="114" name="Freeform: Shape 113">
            <a:extLst>
              <a:ext uri="{FF2B5EF4-FFF2-40B4-BE49-F238E27FC236}">
                <a16:creationId xmlns:a16="http://schemas.microsoft.com/office/drawing/2014/main" id="{3D0E9DC7-A585-D66D-F455-D35C3AFA0D69}"/>
              </a:ext>
            </a:extLst>
          </p:cNvPr>
          <p:cNvSpPr/>
          <p:nvPr/>
        </p:nvSpPr>
        <p:spPr bwMode="auto">
          <a:xfrm>
            <a:off x="4819651" y="4279901"/>
            <a:ext cx="232391" cy="497304"/>
          </a:xfrm>
          <a:custGeom>
            <a:avLst/>
            <a:gdLst>
              <a:gd name="csX0" fmla="*/ 107492 w 232391"/>
              <a:gd name="csY0" fmla="*/ 0 h 497304"/>
              <a:gd name="csX1" fmla="*/ 232391 w 232391"/>
              <a:gd name="csY1" fmla="*/ 0 h 497304"/>
              <a:gd name="csX2" fmla="*/ 232391 w 232391"/>
              <a:gd name="csY2" fmla="*/ 497304 h 497304"/>
              <a:gd name="csX3" fmla="*/ 107492 w 232391"/>
              <a:gd name="csY3" fmla="*/ 497304 h 497304"/>
              <a:gd name="csX4" fmla="*/ 0 w 232391"/>
              <a:gd name="csY4" fmla="*/ 389812 h 497304"/>
              <a:gd name="csX5" fmla="*/ 0 w 232391"/>
              <a:gd name="csY5" fmla="*/ 107492 h 497304"/>
              <a:gd name="csX6" fmla="*/ 107492 w 232391"/>
              <a:gd name="csY6" fmla="*/ 0 h 497304"/>
              <a:gd name="csX0" fmla="*/ 232391 w 323831"/>
              <a:gd name="csY0" fmla="*/ 497304 h 588744"/>
              <a:gd name="csX1" fmla="*/ 107492 w 323831"/>
              <a:gd name="csY1" fmla="*/ 497304 h 588744"/>
              <a:gd name="csX2" fmla="*/ 0 w 323831"/>
              <a:gd name="csY2" fmla="*/ 389812 h 588744"/>
              <a:gd name="csX3" fmla="*/ 0 w 323831"/>
              <a:gd name="csY3" fmla="*/ 107492 h 588744"/>
              <a:gd name="csX4" fmla="*/ 107492 w 323831"/>
              <a:gd name="csY4" fmla="*/ 0 h 588744"/>
              <a:gd name="csX5" fmla="*/ 232391 w 323831"/>
              <a:gd name="csY5" fmla="*/ 0 h 588744"/>
              <a:gd name="csX6" fmla="*/ 323831 w 323831"/>
              <a:gd name="csY6" fmla="*/ 588744 h 588744"/>
              <a:gd name="csX0" fmla="*/ 232391 w 232391"/>
              <a:gd name="csY0" fmla="*/ 497304 h 497304"/>
              <a:gd name="csX1" fmla="*/ 107492 w 232391"/>
              <a:gd name="csY1" fmla="*/ 497304 h 497304"/>
              <a:gd name="csX2" fmla="*/ 0 w 232391"/>
              <a:gd name="csY2" fmla="*/ 389812 h 497304"/>
              <a:gd name="csX3" fmla="*/ 0 w 232391"/>
              <a:gd name="csY3" fmla="*/ 107492 h 497304"/>
              <a:gd name="csX4" fmla="*/ 107492 w 232391"/>
              <a:gd name="csY4" fmla="*/ 0 h 497304"/>
              <a:gd name="csX5" fmla="*/ 232391 w 232391"/>
              <a:gd name="csY5" fmla="*/ 0 h 497304"/>
            </a:gdLst>
            <a:ahLst/>
            <a:cxnLst>
              <a:cxn ang="0">
                <a:pos x="csX0" y="csY0"/>
              </a:cxn>
              <a:cxn ang="0">
                <a:pos x="csX1" y="csY1"/>
              </a:cxn>
              <a:cxn ang="0">
                <a:pos x="csX2" y="csY2"/>
              </a:cxn>
              <a:cxn ang="0">
                <a:pos x="csX3" y="csY3"/>
              </a:cxn>
              <a:cxn ang="0">
                <a:pos x="csX4" y="csY4"/>
              </a:cxn>
              <a:cxn ang="0">
                <a:pos x="csX5" y="csY5"/>
              </a:cxn>
            </a:cxnLst>
            <a:rect l="l" t="t" r="r" b="b"/>
            <a:pathLst>
              <a:path w="232391" h="497304">
                <a:moveTo>
                  <a:pt x="232391" y="497304"/>
                </a:moveTo>
                <a:lnTo>
                  <a:pt x="107492" y="497304"/>
                </a:lnTo>
                <a:cubicBezTo>
                  <a:pt x="48126" y="497304"/>
                  <a:pt x="0" y="449178"/>
                  <a:pt x="0" y="389812"/>
                </a:cubicBezTo>
                <a:lnTo>
                  <a:pt x="0" y="107492"/>
                </a:lnTo>
                <a:cubicBezTo>
                  <a:pt x="0" y="48126"/>
                  <a:pt x="48126" y="0"/>
                  <a:pt x="107492" y="0"/>
                </a:cubicBezTo>
                <a:lnTo>
                  <a:pt x="232391" y="0"/>
                </a:lnTo>
              </a:path>
            </a:pathLst>
          </a:custGeom>
          <a:noFill/>
          <a:ln w="12700">
            <a:gradFill flip="none" rotWithShape="1">
              <a:gsLst>
                <a:gs pos="100000">
                  <a:srgbClr val="D661FD"/>
                </a:gs>
                <a:gs pos="15000">
                  <a:srgbClr val="01A3FD"/>
                </a:gs>
              </a:gsLst>
              <a:lin ang="0" scaled="1"/>
              <a:tileRect/>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a:endParaRPr lang="en-US" sz="1200" b="1">
              <a:solidFill>
                <a:schemeClr val="tx1"/>
              </a:solidFill>
              <a:latin typeface="+mj-lt"/>
            </a:endParaRPr>
          </a:p>
        </p:txBody>
      </p:sp>
      <p:sp>
        <p:nvSpPr>
          <p:cNvPr id="113" name="Freeform: Shape 112">
            <a:extLst>
              <a:ext uri="{FF2B5EF4-FFF2-40B4-BE49-F238E27FC236}">
                <a16:creationId xmlns:a16="http://schemas.microsoft.com/office/drawing/2014/main" id="{C4CAD803-9BED-CED3-706D-5C9B2FFDDE86}"/>
              </a:ext>
            </a:extLst>
          </p:cNvPr>
          <p:cNvSpPr/>
          <p:nvPr/>
        </p:nvSpPr>
        <p:spPr bwMode="auto">
          <a:xfrm>
            <a:off x="4819651" y="5010150"/>
            <a:ext cx="232391" cy="984251"/>
          </a:xfrm>
          <a:custGeom>
            <a:avLst/>
            <a:gdLst>
              <a:gd name="csX0" fmla="*/ 125078 w 232391"/>
              <a:gd name="csY0" fmla="*/ 0 h 984251"/>
              <a:gd name="csX1" fmla="*/ 232391 w 232391"/>
              <a:gd name="csY1" fmla="*/ 0 h 984251"/>
              <a:gd name="csX2" fmla="*/ 232391 w 232391"/>
              <a:gd name="csY2" fmla="*/ 984251 h 984251"/>
              <a:gd name="csX3" fmla="*/ 125078 w 232391"/>
              <a:gd name="csY3" fmla="*/ 984251 h 984251"/>
              <a:gd name="csX4" fmla="*/ 0 w 232391"/>
              <a:gd name="csY4" fmla="*/ 859173 h 984251"/>
              <a:gd name="csX5" fmla="*/ 0 w 232391"/>
              <a:gd name="csY5" fmla="*/ 125078 h 984251"/>
              <a:gd name="csX6" fmla="*/ 125078 w 232391"/>
              <a:gd name="csY6" fmla="*/ 0 h 984251"/>
              <a:gd name="csX0" fmla="*/ 232391 w 323831"/>
              <a:gd name="csY0" fmla="*/ 984251 h 1075691"/>
              <a:gd name="csX1" fmla="*/ 125078 w 323831"/>
              <a:gd name="csY1" fmla="*/ 984251 h 1075691"/>
              <a:gd name="csX2" fmla="*/ 0 w 323831"/>
              <a:gd name="csY2" fmla="*/ 859173 h 1075691"/>
              <a:gd name="csX3" fmla="*/ 0 w 323831"/>
              <a:gd name="csY3" fmla="*/ 125078 h 1075691"/>
              <a:gd name="csX4" fmla="*/ 125078 w 323831"/>
              <a:gd name="csY4" fmla="*/ 0 h 1075691"/>
              <a:gd name="csX5" fmla="*/ 232391 w 323831"/>
              <a:gd name="csY5" fmla="*/ 0 h 1075691"/>
              <a:gd name="csX6" fmla="*/ 323831 w 323831"/>
              <a:gd name="csY6" fmla="*/ 1075691 h 1075691"/>
              <a:gd name="csX0" fmla="*/ 232391 w 232391"/>
              <a:gd name="csY0" fmla="*/ 984251 h 984251"/>
              <a:gd name="csX1" fmla="*/ 125078 w 232391"/>
              <a:gd name="csY1" fmla="*/ 984251 h 984251"/>
              <a:gd name="csX2" fmla="*/ 0 w 232391"/>
              <a:gd name="csY2" fmla="*/ 859173 h 984251"/>
              <a:gd name="csX3" fmla="*/ 0 w 232391"/>
              <a:gd name="csY3" fmla="*/ 125078 h 984251"/>
              <a:gd name="csX4" fmla="*/ 125078 w 232391"/>
              <a:gd name="csY4" fmla="*/ 0 h 984251"/>
              <a:gd name="csX5" fmla="*/ 232391 w 232391"/>
              <a:gd name="csY5" fmla="*/ 0 h 984251"/>
            </a:gdLst>
            <a:ahLst/>
            <a:cxnLst>
              <a:cxn ang="0">
                <a:pos x="csX0" y="csY0"/>
              </a:cxn>
              <a:cxn ang="0">
                <a:pos x="csX1" y="csY1"/>
              </a:cxn>
              <a:cxn ang="0">
                <a:pos x="csX2" y="csY2"/>
              </a:cxn>
              <a:cxn ang="0">
                <a:pos x="csX3" y="csY3"/>
              </a:cxn>
              <a:cxn ang="0">
                <a:pos x="csX4" y="csY4"/>
              </a:cxn>
              <a:cxn ang="0">
                <a:pos x="csX5" y="csY5"/>
              </a:cxn>
            </a:cxnLst>
            <a:rect l="l" t="t" r="r" b="b"/>
            <a:pathLst>
              <a:path w="232391" h="984251">
                <a:moveTo>
                  <a:pt x="232391" y="984251"/>
                </a:moveTo>
                <a:lnTo>
                  <a:pt x="125078" y="984251"/>
                </a:lnTo>
                <a:cubicBezTo>
                  <a:pt x="55999" y="984251"/>
                  <a:pt x="0" y="928252"/>
                  <a:pt x="0" y="859173"/>
                </a:cubicBezTo>
                <a:lnTo>
                  <a:pt x="0" y="125078"/>
                </a:lnTo>
                <a:cubicBezTo>
                  <a:pt x="0" y="55999"/>
                  <a:pt x="55999" y="0"/>
                  <a:pt x="125078" y="0"/>
                </a:cubicBezTo>
                <a:lnTo>
                  <a:pt x="232391" y="0"/>
                </a:lnTo>
              </a:path>
            </a:pathLst>
          </a:custGeom>
          <a:noFill/>
          <a:ln w="12700">
            <a:gradFill flip="none" rotWithShape="1">
              <a:gsLst>
                <a:gs pos="100000">
                  <a:srgbClr val="D661FD"/>
                </a:gs>
                <a:gs pos="15000">
                  <a:srgbClr val="01A3FD"/>
                </a:gs>
              </a:gsLst>
              <a:lin ang="0" scaled="1"/>
              <a:tileRect/>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r"/>
            <a:endParaRPr lang="en-US" sz="1200" b="1">
              <a:solidFill>
                <a:schemeClr val="tx1"/>
              </a:solidFill>
              <a:latin typeface="+mj-lt"/>
            </a:endParaRPr>
          </a:p>
        </p:txBody>
      </p:sp>
      <p:sp>
        <p:nvSpPr>
          <p:cNvPr id="122" name="Rectangle: Rounded Corners 121">
            <a:extLst>
              <a:ext uri="{FF2B5EF4-FFF2-40B4-BE49-F238E27FC236}">
                <a16:creationId xmlns:a16="http://schemas.microsoft.com/office/drawing/2014/main" id="{B2565529-C6D5-873B-EA8D-DCBB9FF54951}"/>
              </a:ext>
              <a:ext uri="{C183D7F6-B498-43B3-948B-1728B52AA6E4}">
                <adec:decorative xmlns:adec="http://schemas.microsoft.com/office/drawing/2017/decorative" val="1"/>
              </a:ext>
            </a:extLst>
          </p:cNvPr>
          <p:cNvSpPr/>
          <p:nvPr/>
        </p:nvSpPr>
        <p:spPr bwMode="auto">
          <a:xfrm>
            <a:off x="3069944" y="2962355"/>
            <a:ext cx="1321399" cy="695167"/>
          </a:xfrm>
          <a:prstGeom prst="roundRect">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b="1">
                <a:solidFill>
                  <a:schemeClr val="tx1"/>
                </a:solidFill>
                <a:latin typeface="+mj-lt"/>
              </a:rPr>
              <a:t>Managed</a:t>
            </a:r>
          </a:p>
          <a:p>
            <a:pPr algn="r"/>
            <a:r>
              <a:rPr lang="en-US" sz="1200" b="1">
                <a:solidFill>
                  <a:schemeClr val="tx1"/>
                </a:solidFill>
                <a:latin typeface="+mj-lt"/>
              </a:rPr>
              <a:t>Operations</a:t>
            </a:r>
          </a:p>
        </p:txBody>
      </p:sp>
      <p:sp>
        <p:nvSpPr>
          <p:cNvPr id="123" name="Rectangle: Rounded Corners 122">
            <a:extLst>
              <a:ext uri="{FF2B5EF4-FFF2-40B4-BE49-F238E27FC236}">
                <a16:creationId xmlns:a16="http://schemas.microsoft.com/office/drawing/2014/main" id="{50CEB9DC-3020-A7D3-62BE-08C3A18517EC}"/>
              </a:ext>
              <a:ext uri="{C183D7F6-B498-43B3-948B-1728B52AA6E4}">
                <adec:decorative xmlns:adec="http://schemas.microsoft.com/office/drawing/2017/decorative" val="1"/>
              </a:ext>
            </a:extLst>
          </p:cNvPr>
          <p:cNvSpPr/>
          <p:nvPr/>
        </p:nvSpPr>
        <p:spPr bwMode="auto">
          <a:xfrm>
            <a:off x="3069944" y="4180969"/>
            <a:ext cx="1321399" cy="695167"/>
          </a:xfrm>
          <a:prstGeom prst="roundRect">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b="1">
                <a:solidFill>
                  <a:schemeClr val="tx1"/>
                </a:solidFill>
                <a:latin typeface="+mj-lt"/>
              </a:rPr>
              <a:t>Managed</a:t>
            </a:r>
          </a:p>
          <a:p>
            <a:pPr algn="r"/>
            <a:r>
              <a:rPr lang="en-US" sz="1200" b="1">
                <a:solidFill>
                  <a:schemeClr val="tx1"/>
                </a:solidFill>
                <a:latin typeface="+mj-lt"/>
              </a:rPr>
              <a:t>Transformation</a:t>
            </a:r>
          </a:p>
        </p:txBody>
      </p:sp>
      <p:sp>
        <p:nvSpPr>
          <p:cNvPr id="124" name="Rectangle: Rounded Corners 123">
            <a:extLst>
              <a:ext uri="{FF2B5EF4-FFF2-40B4-BE49-F238E27FC236}">
                <a16:creationId xmlns:a16="http://schemas.microsoft.com/office/drawing/2014/main" id="{0DB9755D-18CC-B6B3-BFCA-F5736A555DBC}"/>
              </a:ext>
              <a:ext uri="{C183D7F6-B498-43B3-948B-1728B52AA6E4}">
                <adec:decorative xmlns:adec="http://schemas.microsoft.com/office/drawing/2017/decorative" val="1"/>
              </a:ext>
            </a:extLst>
          </p:cNvPr>
          <p:cNvSpPr/>
          <p:nvPr/>
        </p:nvSpPr>
        <p:spPr bwMode="auto">
          <a:xfrm>
            <a:off x="3069944" y="5154692"/>
            <a:ext cx="1321399" cy="695167"/>
          </a:xfrm>
          <a:prstGeom prst="roundRect">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1200" b="1">
                <a:solidFill>
                  <a:schemeClr val="tx1"/>
                </a:solidFill>
                <a:latin typeface="+mj-lt"/>
              </a:rPr>
              <a:t>Managed</a:t>
            </a:r>
          </a:p>
          <a:p>
            <a:pPr algn="r"/>
            <a:r>
              <a:rPr lang="en-US" sz="1200" b="1">
                <a:solidFill>
                  <a:schemeClr val="tx1"/>
                </a:solidFill>
                <a:latin typeface="+mj-lt"/>
              </a:rPr>
              <a:t>Security</a:t>
            </a:r>
          </a:p>
        </p:txBody>
      </p:sp>
      <p:cxnSp>
        <p:nvCxnSpPr>
          <p:cNvPr id="126" name="Straight Connector 125">
            <a:extLst>
              <a:ext uri="{FF2B5EF4-FFF2-40B4-BE49-F238E27FC236}">
                <a16:creationId xmlns:a16="http://schemas.microsoft.com/office/drawing/2014/main" id="{E8745DF7-36DA-C8B2-598C-A85C82828A8A}"/>
              </a:ext>
            </a:extLst>
          </p:cNvPr>
          <p:cNvCxnSpPr>
            <a:cxnSpLocks/>
            <a:endCxn id="84" idx="3"/>
          </p:cNvCxnSpPr>
          <p:nvPr/>
        </p:nvCxnSpPr>
        <p:spPr>
          <a:xfrm flipH="1">
            <a:off x="4391343" y="1630364"/>
            <a:ext cx="428308" cy="0"/>
          </a:xfrm>
          <a:prstGeom prst="line">
            <a:avLst/>
          </a:prstGeom>
          <a:noFill/>
          <a:ln w="12700">
            <a:gradFill flip="none" rotWithShape="1">
              <a:gsLst>
                <a:gs pos="100000">
                  <a:srgbClr val="D661FD"/>
                </a:gs>
                <a:gs pos="15000">
                  <a:srgbClr val="01A3FD"/>
                </a:gs>
              </a:gsLst>
              <a:lin ang="0" scaled="1"/>
              <a:tileRect/>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cxnSp>
      <p:cxnSp>
        <p:nvCxnSpPr>
          <p:cNvPr id="129" name="Straight Connector 128">
            <a:extLst>
              <a:ext uri="{FF2B5EF4-FFF2-40B4-BE49-F238E27FC236}">
                <a16:creationId xmlns:a16="http://schemas.microsoft.com/office/drawing/2014/main" id="{9C0F9FF5-325E-56CA-997F-8C73345FF38C}"/>
              </a:ext>
            </a:extLst>
          </p:cNvPr>
          <p:cNvCxnSpPr>
            <a:cxnSpLocks/>
          </p:cNvCxnSpPr>
          <p:nvPr/>
        </p:nvCxnSpPr>
        <p:spPr>
          <a:xfrm flipH="1">
            <a:off x="4391343" y="3309938"/>
            <a:ext cx="428308" cy="0"/>
          </a:xfrm>
          <a:prstGeom prst="line">
            <a:avLst/>
          </a:prstGeom>
          <a:noFill/>
          <a:ln w="12700">
            <a:gradFill flip="none" rotWithShape="1">
              <a:gsLst>
                <a:gs pos="100000">
                  <a:srgbClr val="D661FD"/>
                </a:gs>
                <a:gs pos="15000">
                  <a:srgbClr val="01A3FD"/>
                </a:gs>
              </a:gsLst>
              <a:lin ang="0" scaled="1"/>
              <a:tileRect/>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cxnSp>
      <p:cxnSp>
        <p:nvCxnSpPr>
          <p:cNvPr id="130" name="Straight Connector 129">
            <a:extLst>
              <a:ext uri="{FF2B5EF4-FFF2-40B4-BE49-F238E27FC236}">
                <a16:creationId xmlns:a16="http://schemas.microsoft.com/office/drawing/2014/main" id="{AB72CAC9-5A80-E587-D051-657ED1589EB0}"/>
              </a:ext>
            </a:extLst>
          </p:cNvPr>
          <p:cNvCxnSpPr>
            <a:cxnSpLocks/>
          </p:cNvCxnSpPr>
          <p:nvPr/>
        </p:nvCxnSpPr>
        <p:spPr>
          <a:xfrm flipH="1">
            <a:off x="4391343" y="4528552"/>
            <a:ext cx="428308" cy="0"/>
          </a:xfrm>
          <a:prstGeom prst="line">
            <a:avLst/>
          </a:prstGeom>
          <a:noFill/>
          <a:ln w="12700">
            <a:gradFill flip="none" rotWithShape="1">
              <a:gsLst>
                <a:gs pos="100000">
                  <a:srgbClr val="D661FD"/>
                </a:gs>
                <a:gs pos="15000">
                  <a:srgbClr val="01A3FD"/>
                </a:gs>
              </a:gsLst>
              <a:lin ang="0" scaled="1"/>
              <a:tileRect/>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cxnSp>
      <p:cxnSp>
        <p:nvCxnSpPr>
          <p:cNvPr id="131" name="Straight Connector 130">
            <a:extLst>
              <a:ext uri="{FF2B5EF4-FFF2-40B4-BE49-F238E27FC236}">
                <a16:creationId xmlns:a16="http://schemas.microsoft.com/office/drawing/2014/main" id="{7D751713-B79E-F6B1-4BDF-FE6C8966DC58}"/>
              </a:ext>
            </a:extLst>
          </p:cNvPr>
          <p:cNvCxnSpPr>
            <a:cxnSpLocks/>
          </p:cNvCxnSpPr>
          <p:nvPr/>
        </p:nvCxnSpPr>
        <p:spPr>
          <a:xfrm flipH="1">
            <a:off x="4391343" y="5502275"/>
            <a:ext cx="428308" cy="0"/>
          </a:xfrm>
          <a:prstGeom prst="line">
            <a:avLst/>
          </a:prstGeom>
          <a:noFill/>
          <a:ln w="12700">
            <a:gradFill flip="none" rotWithShape="1">
              <a:gsLst>
                <a:gs pos="100000">
                  <a:srgbClr val="D661FD"/>
                </a:gs>
                <a:gs pos="15000">
                  <a:srgbClr val="01A3FD"/>
                </a:gs>
              </a:gsLst>
              <a:lin ang="0" scaled="1"/>
              <a:tileRect/>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cxnSp>
    </p:spTree>
    <p:custDataLst>
      <p:tags r:id="rId1"/>
    </p:custDataLst>
    <p:extLst>
      <p:ext uri="{BB962C8B-B14F-4D97-AF65-F5344CB8AC3E}">
        <p14:creationId xmlns:p14="http://schemas.microsoft.com/office/powerpoint/2010/main" val="158441154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6" name="Picture 155" descr="A blurry image of a purple object&#10;&#10;AI-generated content may be incorrect.">
            <a:extLst>
              <a:ext uri="{FF2B5EF4-FFF2-40B4-BE49-F238E27FC236}">
                <a16:creationId xmlns:a16="http://schemas.microsoft.com/office/drawing/2014/main" id="{3C20B6E0-8276-1B9D-806B-49E3C9CBD959}"/>
              </a:ext>
            </a:extLst>
          </p:cNvPr>
          <p:cNvPicPr/>
          <p:nvPr/>
        </p:nvPicPr>
        <p:blipFill>
          <a:blip r:embed="rId3">
            <a:alphaModFix amt="70000"/>
          </a:blip>
          <a:srcRect l="25924"/>
          <a:stretch>
            <a:fillRect/>
          </a:stretch>
        </p:blipFill>
        <p:spPr>
          <a:xfrm flipV="1">
            <a:off x="0" y="0"/>
            <a:ext cx="12192000" cy="6858000"/>
          </a:xfrm>
          <a:prstGeom prst="rect">
            <a:avLst/>
          </a:prstGeom>
        </p:spPr>
      </p:pic>
      <p:sp>
        <p:nvSpPr>
          <p:cNvPr id="4" name="Rectangle: Rounded Corners 3">
            <a:extLst>
              <a:ext uri="{FF2B5EF4-FFF2-40B4-BE49-F238E27FC236}">
                <a16:creationId xmlns:a16="http://schemas.microsoft.com/office/drawing/2014/main" id="{7AFA0BE5-AFF4-CEA3-0333-36B14623F074}"/>
              </a:ext>
            </a:extLst>
          </p:cNvPr>
          <p:cNvSpPr/>
          <p:nvPr/>
        </p:nvSpPr>
        <p:spPr bwMode="auto">
          <a:xfrm>
            <a:off x="5657305" y="1406843"/>
            <a:ext cx="6256683" cy="1341084"/>
          </a:xfrm>
          <a:prstGeom prst="roundRect">
            <a:avLst/>
          </a:prstGeom>
          <a:solidFill>
            <a:schemeClr val="bg1">
              <a:alpha val="46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97280" tIns="182880" rIns="182880" bIns="182880" numCol="1" spcCol="0" rtlCol="0" fromWordArt="0" anchor="ctr" anchorCtr="0" forceAA="0" compatLnSpc="1">
            <a:prstTxWarp prst="textNoShape">
              <a:avLst/>
            </a:prstTxWarp>
            <a:noAutofit/>
          </a:bodyPr>
          <a:lstStyle/>
          <a:p>
            <a:pPr lvl="0" defTabSz="932472" fontAlgn="base">
              <a:spcBef>
                <a:spcPct val="0"/>
              </a:spcBef>
              <a:spcAft>
                <a:spcPts val="600"/>
              </a:spcAft>
              <a:defRPr/>
            </a:pPr>
            <a:r>
              <a:rPr lang="en-US">
                <a:ln w="3175">
                  <a:noFill/>
                </a:ln>
                <a:solidFill>
                  <a:schemeClr val="tx1"/>
                </a:solidFill>
              </a:rPr>
              <a:t>Check out the Copilot Studio Adoption website</a:t>
            </a:r>
          </a:p>
          <a:p>
            <a:pPr defTabSz="932472" fontAlgn="base">
              <a:spcBef>
                <a:spcPct val="0"/>
              </a:spcBef>
              <a:spcAft>
                <a:spcPts val="600"/>
              </a:spcAft>
              <a:defRPr/>
            </a:pPr>
            <a:r>
              <a:rPr lang="en-US" u="sng">
                <a:ln w="3175">
                  <a:noFill/>
                </a:ln>
                <a:solidFill>
                  <a:schemeClr val="accent1"/>
                </a:solidFill>
                <a:latin typeface="+mj-lt"/>
              </a:rPr>
              <a:t>aka.ms/</a:t>
            </a:r>
            <a:r>
              <a:rPr lang="en-US" u="sng" err="1">
                <a:ln w="3175">
                  <a:noFill/>
                </a:ln>
                <a:solidFill>
                  <a:schemeClr val="accent1"/>
                </a:solidFill>
                <a:latin typeface="+mj-lt"/>
              </a:rPr>
              <a:t>CopilotStudioAdoptionResources</a:t>
            </a:r>
            <a:endParaRPr lang="en-US" u="sng">
              <a:ln w="3175">
                <a:noFill/>
              </a:ln>
              <a:solidFill>
                <a:schemeClr val="accent1"/>
              </a:solidFill>
              <a:latin typeface="+mj-lt"/>
            </a:endParaRPr>
          </a:p>
        </p:txBody>
      </p:sp>
      <p:sp>
        <p:nvSpPr>
          <p:cNvPr id="133" name="Rectangle: Rounded Corners 132">
            <a:extLst>
              <a:ext uri="{FF2B5EF4-FFF2-40B4-BE49-F238E27FC236}">
                <a16:creationId xmlns:a16="http://schemas.microsoft.com/office/drawing/2014/main" id="{55E38B24-E3F3-5039-C649-A435BE22DC38}"/>
              </a:ext>
            </a:extLst>
          </p:cNvPr>
          <p:cNvSpPr/>
          <p:nvPr/>
        </p:nvSpPr>
        <p:spPr bwMode="auto">
          <a:xfrm>
            <a:off x="5657305" y="2921099"/>
            <a:ext cx="6256683" cy="1341084"/>
          </a:xfrm>
          <a:prstGeom prst="roundRect">
            <a:avLst/>
          </a:prstGeom>
          <a:solidFill>
            <a:schemeClr val="bg1">
              <a:alpha val="46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97280" tIns="182880" rIns="182880" bIns="182880" numCol="1" spcCol="0" rtlCol="0" fromWordArt="0" anchor="ctr" anchorCtr="0" forceAA="0" compatLnSpc="1">
            <a:prstTxWarp prst="textNoShape">
              <a:avLst/>
            </a:prstTxWarp>
            <a:noAutofit/>
          </a:bodyPr>
          <a:lstStyle/>
          <a:p>
            <a:pPr lvl="0" defTabSz="932472" fontAlgn="base">
              <a:spcBef>
                <a:spcPct val="0"/>
              </a:spcBef>
              <a:spcAft>
                <a:spcPts val="600"/>
              </a:spcAft>
              <a:defRPr/>
            </a:pPr>
            <a:r>
              <a:rPr lang="en-US">
                <a:ln w="3175">
                  <a:noFill/>
                </a:ln>
                <a:solidFill>
                  <a:schemeClr val="tx1"/>
                </a:solidFill>
              </a:rPr>
              <a:t>Read the Administering and Governing Agents whitepaper </a:t>
            </a:r>
          </a:p>
          <a:p>
            <a:pPr defTabSz="932472" fontAlgn="base">
              <a:spcBef>
                <a:spcPct val="0"/>
              </a:spcBef>
              <a:spcAft>
                <a:spcPts val="600"/>
              </a:spcAft>
              <a:defRPr/>
            </a:pPr>
            <a:r>
              <a:rPr lang="en-US" u="sng">
                <a:ln w="3175">
                  <a:noFill/>
                </a:ln>
                <a:solidFill>
                  <a:schemeClr val="accent1"/>
                </a:solidFill>
                <a:latin typeface="+mj-lt"/>
              </a:rPr>
              <a:t>aka.ms/</a:t>
            </a:r>
            <a:r>
              <a:rPr lang="en-US" u="sng" err="1">
                <a:ln w="3175">
                  <a:noFill/>
                </a:ln>
                <a:solidFill>
                  <a:schemeClr val="accent1"/>
                </a:solidFill>
                <a:latin typeface="+mj-lt"/>
              </a:rPr>
              <a:t>AgentGovernanceAndSecurity</a:t>
            </a:r>
            <a:endParaRPr lang="en-US" u="sng">
              <a:ln w="3175">
                <a:noFill/>
              </a:ln>
              <a:solidFill>
                <a:schemeClr val="accent1"/>
              </a:solidFill>
              <a:latin typeface="+mj-lt"/>
            </a:endParaRPr>
          </a:p>
        </p:txBody>
      </p:sp>
      <p:sp>
        <p:nvSpPr>
          <p:cNvPr id="134" name="Rectangle: Rounded Corners 133">
            <a:extLst>
              <a:ext uri="{FF2B5EF4-FFF2-40B4-BE49-F238E27FC236}">
                <a16:creationId xmlns:a16="http://schemas.microsoft.com/office/drawing/2014/main" id="{F1D4188F-408C-AB3F-2E19-F22A6D2753FE}"/>
              </a:ext>
            </a:extLst>
          </p:cNvPr>
          <p:cNvSpPr/>
          <p:nvPr/>
        </p:nvSpPr>
        <p:spPr bwMode="auto">
          <a:xfrm>
            <a:off x="5657305" y="4435354"/>
            <a:ext cx="6256683" cy="1341084"/>
          </a:xfrm>
          <a:prstGeom prst="roundRect">
            <a:avLst/>
          </a:prstGeom>
          <a:solidFill>
            <a:schemeClr val="bg1">
              <a:alpha val="46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97280" tIns="182880" rIns="182880" bIns="182880" numCol="1" spcCol="0" rtlCol="0" fromWordArt="0" anchor="ctr" anchorCtr="0" forceAA="0" compatLnSpc="1">
            <a:prstTxWarp prst="textNoShape">
              <a:avLst/>
            </a:prstTxWarp>
            <a:noAutofit/>
          </a:bodyPr>
          <a:lstStyle/>
          <a:p>
            <a:pPr lvl="0" defTabSz="932472" fontAlgn="base">
              <a:spcBef>
                <a:spcPct val="0"/>
              </a:spcBef>
              <a:spcAft>
                <a:spcPts val="600"/>
              </a:spcAft>
              <a:defRPr/>
            </a:pPr>
            <a:r>
              <a:rPr lang="en-US" dirty="0">
                <a:ln w="3175">
                  <a:noFill/>
                </a:ln>
                <a:solidFill>
                  <a:schemeClr val="tx1"/>
                </a:solidFill>
              </a:rPr>
              <a:t>Take the agent readiness assessment and get a </a:t>
            </a:r>
            <a:br>
              <a:rPr lang="en-US" dirty="0">
                <a:ln w="3175">
                  <a:noFill/>
                </a:ln>
                <a:solidFill>
                  <a:schemeClr val="tx1"/>
                </a:solidFill>
              </a:rPr>
            </a:br>
            <a:r>
              <a:rPr lang="en-US" dirty="0">
                <a:ln w="3175">
                  <a:noFill/>
                </a:ln>
                <a:solidFill>
                  <a:schemeClr val="tx1"/>
                </a:solidFill>
              </a:rPr>
              <a:t>personalized report</a:t>
            </a:r>
          </a:p>
          <a:p>
            <a:pPr lvl="0" defTabSz="932472" fontAlgn="base">
              <a:spcBef>
                <a:spcPct val="0"/>
              </a:spcBef>
              <a:spcAft>
                <a:spcPts val="600"/>
              </a:spcAft>
              <a:defRPr/>
            </a:pPr>
            <a:r>
              <a:rPr lang="en-US" u="sng" dirty="0">
                <a:ln w="3175">
                  <a:noFill/>
                </a:ln>
                <a:solidFill>
                  <a:schemeClr val="accent1"/>
                </a:solidFill>
                <a:latin typeface="+mj-lt"/>
              </a:rPr>
              <a:t>aka.ms/</a:t>
            </a:r>
            <a:r>
              <a:rPr lang="en-US" u="sng" dirty="0" err="1">
                <a:ln w="3175">
                  <a:noFill/>
                </a:ln>
                <a:solidFill>
                  <a:schemeClr val="accent1"/>
                </a:solidFill>
                <a:latin typeface="+mj-lt"/>
              </a:rPr>
              <a:t>AgentReadiness</a:t>
            </a:r>
            <a:endParaRPr lang="en-US" u="sng" dirty="0">
              <a:ln w="3175">
                <a:noFill/>
              </a:ln>
              <a:solidFill>
                <a:schemeClr val="accent1"/>
              </a:solidFill>
              <a:latin typeface="+mj-lt"/>
            </a:endParaRPr>
          </a:p>
        </p:txBody>
      </p:sp>
      <p:grpSp>
        <p:nvGrpSpPr>
          <p:cNvPr id="149" name="Group 148">
            <a:extLst>
              <a:ext uri="{FF2B5EF4-FFF2-40B4-BE49-F238E27FC236}">
                <a16:creationId xmlns:a16="http://schemas.microsoft.com/office/drawing/2014/main" id="{6F720E9E-C474-6759-E232-AF2FEF458E64}"/>
              </a:ext>
            </a:extLst>
          </p:cNvPr>
          <p:cNvGrpSpPr/>
          <p:nvPr/>
        </p:nvGrpSpPr>
        <p:grpSpPr>
          <a:xfrm>
            <a:off x="5911429" y="1739420"/>
            <a:ext cx="675934" cy="675930"/>
            <a:chOff x="825624" y="1767506"/>
            <a:chExt cx="675934" cy="675930"/>
          </a:xfrm>
        </p:grpSpPr>
        <p:sp>
          <p:nvSpPr>
            <p:cNvPr id="138" name="Oval 137">
              <a:extLst>
                <a:ext uri="{FF2B5EF4-FFF2-40B4-BE49-F238E27FC236}">
                  <a16:creationId xmlns:a16="http://schemas.microsoft.com/office/drawing/2014/main" id="{59BC610B-3F24-CD71-F134-5E77ACA86BDB}"/>
                </a:ext>
                <a:ext uri="{C183D7F6-B498-43B3-948B-1728B52AA6E4}">
                  <adec:decorative xmlns:adec="http://schemas.microsoft.com/office/drawing/2017/decorative" val="1"/>
                </a:ext>
              </a:extLst>
            </p:cNvPr>
            <p:cNvSpPr>
              <a:spLocks/>
            </p:cNvSpPr>
            <p:nvPr/>
          </p:nvSpPr>
          <p:spPr>
            <a:xfrm>
              <a:off x="825624" y="1767506"/>
              <a:ext cx="675934" cy="675930"/>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sp>
          <p:nvSpPr>
            <p:cNvPr id="148" name="Graphic 146">
              <a:extLst>
                <a:ext uri="{FF2B5EF4-FFF2-40B4-BE49-F238E27FC236}">
                  <a16:creationId xmlns:a16="http://schemas.microsoft.com/office/drawing/2014/main" id="{802CF1AE-9E45-6718-C091-9E7F3E36B4D0}"/>
                </a:ext>
                <a:ext uri="{C183D7F6-B498-43B3-948B-1728B52AA6E4}">
                  <adec:decorative xmlns:adec="http://schemas.microsoft.com/office/drawing/2017/decorative" val="1"/>
                </a:ext>
              </a:extLst>
            </p:cNvPr>
            <p:cNvSpPr/>
            <p:nvPr/>
          </p:nvSpPr>
          <p:spPr>
            <a:xfrm>
              <a:off x="1029400" y="1937304"/>
              <a:ext cx="268382" cy="336334"/>
            </a:xfrm>
            <a:custGeom>
              <a:avLst/>
              <a:gdLst>
                <a:gd name="csX0" fmla="*/ 168957 w 227092"/>
                <a:gd name="csY0" fmla="*/ 241884 h 284589"/>
                <a:gd name="csX1" fmla="*/ 164415 w 227092"/>
                <a:gd name="csY1" fmla="*/ 259800 h 284589"/>
                <a:gd name="csX2" fmla="*/ 132779 w 227092"/>
                <a:gd name="csY2" fmla="*/ 284490 h 284589"/>
                <a:gd name="csX3" fmla="*/ 130069 w 227092"/>
                <a:gd name="csY3" fmla="*/ 284589 h 284589"/>
                <a:gd name="csX4" fmla="*/ 97008 w 227092"/>
                <a:gd name="csY4" fmla="*/ 284589 h 284589"/>
                <a:gd name="csX5" fmla="*/ 63382 w 227092"/>
                <a:gd name="csY5" fmla="*/ 262148 h 284589"/>
                <a:gd name="csX6" fmla="*/ 62662 w 227092"/>
                <a:gd name="csY6" fmla="*/ 259772 h 284589"/>
                <a:gd name="csX7" fmla="*/ 58120 w 227092"/>
                <a:gd name="csY7" fmla="*/ 241884 h 284589"/>
                <a:gd name="csX8" fmla="*/ 168957 w 227092"/>
                <a:gd name="csY8" fmla="*/ 241884 h 284589"/>
                <a:gd name="csX9" fmla="*/ 113546 w 227092"/>
                <a:gd name="csY9" fmla="*/ 0 h 284589"/>
                <a:gd name="csX10" fmla="*/ 227092 w 227092"/>
                <a:gd name="csY10" fmla="*/ 103169 h 284589"/>
                <a:gd name="csX11" fmla="*/ 183788 w 227092"/>
                <a:gd name="csY11" fmla="*/ 186273 h 284589"/>
                <a:gd name="csX12" fmla="*/ 182676 w 227092"/>
                <a:gd name="csY12" fmla="*/ 188052 h 284589"/>
                <a:gd name="csX13" fmla="*/ 174407 w 227092"/>
                <a:gd name="csY13" fmla="*/ 220539 h 284589"/>
                <a:gd name="csX14" fmla="*/ 52685 w 227092"/>
                <a:gd name="csY14" fmla="*/ 220539 h 284589"/>
                <a:gd name="csX15" fmla="*/ 44447 w 227092"/>
                <a:gd name="csY15" fmla="*/ 188052 h 284589"/>
                <a:gd name="csX16" fmla="*/ 43335 w 227092"/>
                <a:gd name="csY16" fmla="*/ 186287 h 284589"/>
                <a:gd name="csX17" fmla="*/ 0 w 227092"/>
                <a:gd name="csY17" fmla="*/ 103154 h 284589"/>
                <a:gd name="csX18" fmla="*/ 113546 w 227092"/>
                <a:gd name="csY18" fmla="*/ 0 h 284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27092" h="284589">
                  <a:moveTo>
                    <a:pt x="168957" y="241884"/>
                  </a:moveTo>
                  <a:lnTo>
                    <a:pt x="164415" y="259800"/>
                  </a:lnTo>
                  <a:cubicBezTo>
                    <a:pt x="160936" y="273426"/>
                    <a:pt x="148127" y="283421"/>
                    <a:pt x="132779" y="284490"/>
                  </a:cubicBezTo>
                  <a:lnTo>
                    <a:pt x="130069" y="284589"/>
                  </a:lnTo>
                  <a:lnTo>
                    <a:pt x="97008" y="284589"/>
                  </a:lnTo>
                  <a:cubicBezTo>
                    <a:pt x="81606" y="284589"/>
                    <a:pt x="67989" y="275502"/>
                    <a:pt x="63382" y="262148"/>
                  </a:cubicBezTo>
                  <a:lnTo>
                    <a:pt x="62662" y="259772"/>
                  </a:lnTo>
                  <a:lnTo>
                    <a:pt x="58120" y="241884"/>
                  </a:lnTo>
                  <a:lnTo>
                    <a:pt x="168957" y="241884"/>
                  </a:lnTo>
                  <a:close/>
                  <a:moveTo>
                    <a:pt x="113546" y="0"/>
                  </a:moveTo>
                  <a:cubicBezTo>
                    <a:pt x="176257" y="0"/>
                    <a:pt x="227092" y="46190"/>
                    <a:pt x="227092" y="103169"/>
                  </a:cubicBezTo>
                  <a:cubicBezTo>
                    <a:pt x="227092" y="133564"/>
                    <a:pt x="212433" y="161413"/>
                    <a:pt x="183788" y="186273"/>
                  </a:cubicBezTo>
                  <a:cubicBezTo>
                    <a:pt x="183234" y="186754"/>
                    <a:pt x="182847" y="187373"/>
                    <a:pt x="182676" y="188052"/>
                  </a:cubicBezTo>
                  <a:lnTo>
                    <a:pt x="174407" y="220539"/>
                  </a:lnTo>
                  <a:lnTo>
                    <a:pt x="52685" y="220539"/>
                  </a:lnTo>
                  <a:lnTo>
                    <a:pt x="44447" y="188052"/>
                  </a:lnTo>
                  <a:cubicBezTo>
                    <a:pt x="44274" y="187377"/>
                    <a:pt x="43887" y="186764"/>
                    <a:pt x="43335" y="186287"/>
                  </a:cubicBezTo>
                  <a:cubicBezTo>
                    <a:pt x="14675" y="161413"/>
                    <a:pt x="0" y="133564"/>
                    <a:pt x="0" y="103154"/>
                  </a:cubicBezTo>
                  <a:cubicBezTo>
                    <a:pt x="9" y="46182"/>
                    <a:pt x="50843" y="0"/>
                    <a:pt x="113546" y="0"/>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grpSp>
      <p:grpSp>
        <p:nvGrpSpPr>
          <p:cNvPr id="152" name="Group 151">
            <a:extLst>
              <a:ext uri="{FF2B5EF4-FFF2-40B4-BE49-F238E27FC236}">
                <a16:creationId xmlns:a16="http://schemas.microsoft.com/office/drawing/2014/main" id="{9FFED1EE-022D-09F4-D26D-5F52E6C1287D}"/>
              </a:ext>
            </a:extLst>
          </p:cNvPr>
          <p:cNvGrpSpPr/>
          <p:nvPr/>
        </p:nvGrpSpPr>
        <p:grpSpPr>
          <a:xfrm>
            <a:off x="5911429" y="3253676"/>
            <a:ext cx="675934" cy="675930"/>
            <a:chOff x="825624" y="3281762"/>
            <a:chExt cx="675934" cy="675930"/>
          </a:xfrm>
        </p:grpSpPr>
        <p:sp>
          <p:nvSpPr>
            <p:cNvPr id="142" name="Oval 141">
              <a:extLst>
                <a:ext uri="{FF2B5EF4-FFF2-40B4-BE49-F238E27FC236}">
                  <a16:creationId xmlns:a16="http://schemas.microsoft.com/office/drawing/2014/main" id="{584E3F26-71C0-3D02-7BA3-5DDFFB7E681F}"/>
                </a:ext>
                <a:ext uri="{C183D7F6-B498-43B3-948B-1728B52AA6E4}">
                  <adec:decorative xmlns:adec="http://schemas.microsoft.com/office/drawing/2017/decorative" val="1"/>
                </a:ext>
              </a:extLst>
            </p:cNvPr>
            <p:cNvSpPr>
              <a:spLocks/>
            </p:cNvSpPr>
            <p:nvPr/>
          </p:nvSpPr>
          <p:spPr>
            <a:xfrm>
              <a:off x="825624" y="3281762"/>
              <a:ext cx="675934" cy="675930"/>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sp>
          <p:nvSpPr>
            <p:cNvPr id="151" name="Graphic 149">
              <a:extLst>
                <a:ext uri="{FF2B5EF4-FFF2-40B4-BE49-F238E27FC236}">
                  <a16:creationId xmlns:a16="http://schemas.microsoft.com/office/drawing/2014/main" id="{AEE516DB-BF20-DB96-B09D-00A006D97199}"/>
                </a:ext>
                <a:ext uri="{C183D7F6-B498-43B3-948B-1728B52AA6E4}">
                  <adec:decorative xmlns:adec="http://schemas.microsoft.com/office/drawing/2017/decorative" val="1"/>
                </a:ext>
              </a:extLst>
            </p:cNvPr>
            <p:cNvSpPr/>
            <p:nvPr/>
          </p:nvSpPr>
          <p:spPr>
            <a:xfrm>
              <a:off x="993400" y="3466570"/>
              <a:ext cx="340382" cy="306314"/>
            </a:xfrm>
            <a:custGeom>
              <a:avLst/>
              <a:gdLst>
                <a:gd name="csX0" fmla="*/ 185242 w 340382"/>
                <a:gd name="csY0" fmla="*/ 4054 h 306314"/>
                <a:gd name="csX1" fmla="*/ 139488 w 340382"/>
                <a:gd name="csY1" fmla="*/ 4054 h 306314"/>
                <a:gd name="csX2" fmla="*/ 103930 w 340382"/>
                <a:gd name="csY2" fmla="*/ 17154 h 306314"/>
                <a:gd name="csX3" fmla="*/ 259670 w 340382"/>
                <a:gd name="csY3" fmla="*/ 72181 h 306314"/>
                <a:gd name="csX4" fmla="*/ 314452 w 340382"/>
                <a:gd name="csY4" fmla="*/ 52958 h 306314"/>
                <a:gd name="csX5" fmla="*/ 306984 w 340382"/>
                <a:gd name="csY5" fmla="*/ 48901 h 306314"/>
                <a:gd name="csX6" fmla="*/ 185242 w 340382"/>
                <a:gd name="csY6" fmla="*/ 4054 h 306314"/>
                <a:gd name="csX7" fmla="*/ 324730 w 340382"/>
                <a:gd name="csY7" fmla="*/ 73066 h 306314"/>
                <a:gd name="csX8" fmla="*/ 174542 w 340382"/>
                <a:gd name="csY8" fmla="*/ 125792 h 306314"/>
                <a:gd name="csX9" fmla="*/ 174542 w 340382"/>
                <a:gd name="csY9" fmla="*/ 226714 h 306314"/>
                <a:gd name="csX10" fmla="*/ 266165 w 340382"/>
                <a:gd name="csY10" fmla="*/ 143465 h 306314"/>
                <a:gd name="csX11" fmla="*/ 324730 w 340382"/>
                <a:gd name="csY11" fmla="*/ 133109 h 306314"/>
                <a:gd name="csX12" fmla="*/ 324730 w 340382"/>
                <a:gd name="csY12" fmla="*/ 73066 h 306314"/>
                <a:gd name="csX13" fmla="*/ 150188 w 340382"/>
                <a:gd name="csY13" fmla="*/ 125792 h 306314"/>
                <a:gd name="csX14" fmla="*/ 150188 w 340382"/>
                <a:gd name="csY14" fmla="*/ 271798 h 306314"/>
                <a:gd name="csX15" fmla="*/ 147151 w 340382"/>
                <a:gd name="csY15" fmla="*/ 282804 h 306314"/>
                <a:gd name="csX16" fmla="*/ 146437 w 340382"/>
                <a:gd name="csY16" fmla="*/ 286138 h 306314"/>
                <a:gd name="csX17" fmla="*/ 139488 w 340382"/>
                <a:gd name="csY17" fmla="*/ 283999 h 306314"/>
                <a:gd name="csX18" fmla="*/ 17746 w 340382"/>
                <a:gd name="csY18" fmla="*/ 239151 h 306314"/>
                <a:gd name="csX19" fmla="*/ 0 w 340382"/>
                <a:gd name="csY19" fmla="*/ 215222 h 306314"/>
                <a:gd name="csX20" fmla="*/ 0 w 340382"/>
                <a:gd name="csY20" fmla="*/ 73066 h 306314"/>
                <a:gd name="csX21" fmla="*/ 150188 w 340382"/>
                <a:gd name="csY21" fmla="*/ 125792 h 306314"/>
                <a:gd name="csX22" fmla="*/ 10278 w 340382"/>
                <a:gd name="csY22" fmla="*/ 52958 h 306314"/>
                <a:gd name="csX23" fmla="*/ 162365 w 340382"/>
                <a:gd name="csY23" fmla="*/ 106348 h 306314"/>
                <a:gd name="csX24" fmla="*/ 225963 w 340382"/>
                <a:gd name="csY24" fmla="*/ 84013 h 306314"/>
                <a:gd name="csX25" fmla="*/ 71018 w 340382"/>
                <a:gd name="csY25" fmla="*/ 29280 h 306314"/>
                <a:gd name="csX26" fmla="*/ 17746 w 340382"/>
                <a:gd name="csY26" fmla="*/ 48901 h 306314"/>
                <a:gd name="csX27" fmla="*/ 10278 w 340382"/>
                <a:gd name="csY27" fmla="*/ 52958 h 306314"/>
                <a:gd name="csX28" fmla="*/ 277644 w 340382"/>
                <a:gd name="csY28" fmla="*/ 153896 h 306314"/>
                <a:gd name="csX29" fmla="*/ 181800 w 340382"/>
                <a:gd name="csY29" fmla="*/ 240980 h 306314"/>
                <a:gd name="csX30" fmla="*/ 170337 w 340382"/>
                <a:gd name="csY30" fmla="*/ 259377 h 306314"/>
                <a:gd name="csX31" fmla="*/ 162901 w 340382"/>
                <a:gd name="csY31" fmla="*/ 286389 h 306314"/>
                <a:gd name="csX32" fmla="*/ 175742 w 340382"/>
                <a:gd name="csY32" fmla="*/ 305835 h 306314"/>
                <a:gd name="csX33" fmla="*/ 184317 w 340382"/>
                <a:gd name="csY33" fmla="*/ 305832 h 306314"/>
                <a:gd name="csX34" fmla="*/ 214030 w 340382"/>
                <a:gd name="csY34" fmla="*/ 299090 h 306314"/>
                <a:gd name="csX35" fmla="*/ 234293 w 340382"/>
                <a:gd name="csY35" fmla="*/ 288660 h 306314"/>
                <a:gd name="csX36" fmla="*/ 330121 w 340382"/>
                <a:gd name="csY36" fmla="*/ 201591 h 306314"/>
                <a:gd name="csX37" fmla="*/ 328888 w 340382"/>
                <a:gd name="csY37" fmla="*/ 153910 h 306314"/>
                <a:gd name="csX38" fmla="*/ 277644 w 340382"/>
                <a:gd name="csY38" fmla="*/ 153910 h 3063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40382" h="306314">
                  <a:moveTo>
                    <a:pt x="185242" y="4054"/>
                  </a:moveTo>
                  <a:cubicBezTo>
                    <a:pt x="170571" y="-1351"/>
                    <a:pt x="154159" y="-1351"/>
                    <a:pt x="139488" y="4054"/>
                  </a:cubicBezTo>
                  <a:lnTo>
                    <a:pt x="103930" y="17154"/>
                  </a:lnTo>
                  <a:lnTo>
                    <a:pt x="259670" y="72181"/>
                  </a:lnTo>
                  <a:lnTo>
                    <a:pt x="314452" y="52958"/>
                  </a:lnTo>
                  <a:cubicBezTo>
                    <a:pt x="312207" y="51265"/>
                    <a:pt x="309689" y="49897"/>
                    <a:pt x="306984" y="48901"/>
                  </a:cubicBezTo>
                  <a:lnTo>
                    <a:pt x="185242" y="4054"/>
                  </a:lnTo>
                  <a:close/>
                  <a:moveTo>
                    <a:pt x="324730" y="73066"/>
                  </a:moveTo>
                  <a:lnTo>
                    <a:pt x="174542" y="125792"/>
                  </a:lnTo>
                  <a:lnTo>
                    <a:pt x="174542" y="226714"/>
                  </a:lnTo>
                  <a:lnTo>
                    <a:pt x="266165" y="143465"/>
                  </a:lnTo>
                  <a:cubicBezTo>
                    <a:pt x="281541" y="129495"/>
                    <a:pt x="304709" y="125398"/>
                    <a:pt x="324730" y="133109"/>
                  </a:cubicBezTo>
                  <a:lnTo>
                    <a:pt x="324730" y="73066"/>
                  </a:lnTo>
                  <a:close/>
                  <a:moveTo>
                    <a:pt x="150188" y="125792"/>
                  </a:moveTo>
                  <a:lnTo>
                    <a:pt x="150188" y="271798"/>
                  </a:lnTo>
                  <a:lnTo>
                    <a:pt x="147151" y="282804"/>
                  </a:lnTo>
                  <a:cubicBezTo>
                    <a:pt x="146848" y="283903"/>
                    <a:pt x="146611" y="285015"/>
                    <a:pt x="146437" y="286138"/>
                  </a:cubicBezTo>
                  <a:cubicBezTo>
                    <a:pt x="144075" y="285552"/>
                    <a:pt x="141754" y="284838"/>
                    <a:pt x="139488" y="283999"/>
                  </a:cubicBezTo>
                  <a:lnTo>
                    <a:pt x="17746" y="239151"/>
                  </a:lnTo>
                  <a:cubicBezTo>
                    <a:pt x="7020" y="235203"/>
                    <a:pt x="0" y="225738"/>
                    <a:pt x="0" y="215222"/>
                  </a:cubicBezTo>
                  <a:lnTo>
                    <a:pt x="0" y="73066"/>
                  </a:lnTo>
                  <a:lnTo>
                    <a:pt x="150188" y="125792"/>
                  </a:lnTo>
                  <a:close/>
                  <a:moveTo>
                    <a:pt x="10278" y="52958"/>
                  </a:moveTo>
                  <a:lnTo>
                    <a:pt x="162365" y="106348"/>
                  </a:lnTo>
                  <a:lnTo>
                    <a:pt x="225963" y="84013"/>
                  </a:lnTo>
                  <a:lnTo>
                    <a:pt x="71018" y="29280"/>
                  </a:lnTo>
                  <a:lnTo>
                    <a:pt x="17746" y="48901"/>
                  </a:lnTo>
                  <a:cubicBezTo>
                    <a:pt x="14986" y="49919"/>
                    <a:pt x="12486" y="51291"/>
                    <a:pt x="10278" y="52958"/>
                  </a:cubicBezTo>
                  <a:close/>
                  <a:moveTo>
                    <a:pt x="277644" y="153896"/>
                  </a:moveTo>
                  <a:lnTo>
                    <a:pt x="181800" y="240980"/>
                  </a:lnTo>
                  <a:cubicBezTo>
                    <a:pt x="176216" y="246056"/>
                    <a:pt x="172255" y="252415"/>
                    <a:pt x="170337" y="259377"/>
                  </a:cubicBezTo>
                  <a:lnTo>
                    <a:pt x="162901" y="286389"/>
                  </a:lnTo>
                  <a:cubicBezTo>
                    <a:pt x="160537" y="294980"/>
                    <a:pt x="166286" y="303687"/>
                    <a:pt x="175742" y="305835"/>
                  </a:cubicBezTo>
                  <a:cubicBezTo>
                    <a:pt x="178558" y="306476"/>
                    <a:pt x="181503" y="306474"/>
                    <a:pt x="184317" y="305832"/>
                  </a:cubicBezTo>
                  <a:lnTo>
                    <a:pt x="214030" y="299090"/>
                  </a:lnTo>
                  <a:cubicBezTo>
                    <a:pt x="221700" y="297348"/>
                    <a:pt x="228704" y="293743"/>
                    <a:pt x="234293" y="288660"/>
                  </a:cubicBezTo>
                  <a:lnTo>
                    <a:pt x="330121" y="201591"/>
                  </a:lnTo>
                  <a:cubicBezTo>
                    <a:pt x="344271" y="188114"/>
                    <a:pt x="343719" y="166767"/>
                    <a:pt x="328888" y="153910"/>
                  </a:cubicBezTo>
                  <a:cubicBezTo>
                    <a:pt x="314546" y="141478"/>
                    <a:pt x="291986" y="141478"/>
                    <a:pt x="277644" y="153910"/>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grpSp>
      <p:grpSp>
        <p:nvGrpSpPr>
          <p:cNvPr id="155" name="Group 154">
            <a:extLst>
              <a:ext uri="{FF2B5EF4-FFF2-40B4-BE49-F238E27FC236}">
                <a16:creationId xmlns:a16="http://schemas.microsoft.com/office/drawing/2014/main" id="{2975B027-B558-E85A-9BDC-E1F31D58B00E}"/>
              </a:ext>
            </a:extLst>
          </p:cNvPr>
          <p:cNvGrpSpPr/>
          <p:nvPr/>
        </p:nvGrpSpPr>
        <p:grpSpPr>
          <a:xfrm>
            <a:off x="5911429" y="4767931"/>
            <a:ext cx="675934" cy="675930"/>
            <a:chOff x="825624" y="4796017"/>
            <a:chExt cx="675934" cy="675930"/>
          </a:xfrm>
        </p:grpSpPr>
        <p:sp>
          <p:nvSpPr>
            <p:cNvPr id="145" name="Oval 144">
              <a:extLst>
                <a:ext uri="{FF2B5EF4-FFF2-40B4-BE49-F238E27FC236}">
                  <a16:creationId xmlns:a16="http://schemas.microsoft.com/office/drawing/2014/main" id="{80839957-D002-629B-7F74-920FC0AEB1E1}"/>
                </a:ext>
                <a:ext uri="{C183D7F6-B498-43B3-948B-1728B52AA6E4}">
                  <adec:decorative xmlns:adec="http://schemas.microsoft.com/office/drawing/2017/decorative" val="1"/>
                </a:ext>
              </a:extLst>
            </p:cNvPr>
            <p:cNvSpPr>
              <a:spLocks/>
            </p:cNvSpPr>
            <p:nvPr/>
          </p:nvSpPr>
          <p:spPr>
            <a:xfrm>
              <a:off x="825624" y="4796017"/>
              <a:ext cx="675934" cy="675930"/>
            </a:xfrm>
            <a:prstGeom prst="ellipse">
              <a:avLst/>
            </a:prstGeom>
            <a:solidFill>
              <a:schemeClr val="bg1"/>
            </a:solidFill>
            <a:ln w="12700">
              <a:gradFill>
                <a:gsLst>
                  <a:gs pos="100000">
                    <a:srgbClr val="D661FD"/>
                  </a:gs>
                  <a:gs pos="15000">
                    <a:srgbClr val="01A3FD"/>
                  </a:gs>
                </a:gsLst>
                <a:lin ang="0" scaled="0"/>
              </a:gradFill>
            </a:ln>
            <a:effectLst>
              <a:outerShdw blurRad="177800" dist="254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2800" b="1">
                <a:solidFill>
                  <a:schemeClr val="accent1"/>
                </a:solidFill>
                <a:latin typeface="+mj-lt"/>
              </a:endParaRPr>
            </a:p>
          </p:txBody>
        </p:sp>
        <p:sp>
          <p:nvSpPr>
            <p:cNvPr id="154" name="Graphic 152">
              <a:extLst>
                <a:ext uri="{FF2B5EF4-FFF2-40B4-BE49-F238E27FC236}">
                  <a16:creationId xmlns:a16="http://schemas.microsoft.com/office/drawing/2014/main" id="{1EEB7398-0E09-8C97-3E23-10F7BB10ED91}"/>
                </a:ext>
                <a:ext uri="{C183D7F6-B498-43B3-948B-1728B52AA6E4}">
                  <adec:decorative xmlns:adec="http://schemas.microsoft.com/office/drawing/2017/decorative" val="1"/>
                </a:ext>
              </a:extLst>
            </p:cNvPr>
            <p:cNvSpPr/>
            <p:nvPr/>
          </p:nvSpPr>
          <p:spPr>
            <a:xfrm>
              <a:off x="1009049" y="4960493"/>
              <a:ext cx="324734" cy="346978"/>
            </a:xfrm>
            <a:custGeom>
              <a:avLst/>
              <a:gdLst>
                <a:gd name="csX0" fmla="*/ 104032 w 252733"/>
                <a:gd name="csY0" fmla="*/ 47259 h 270045"/>
                <a:gd name="csX1" fmla="*/ 59450 w 252733"/>
                <a:gd name="csY1" fmla="*/ 94046 h 270045"/>
                <a:gd name="csX2" fmla="*/ 59450 w 252733"/>
                <a:gd name="csY2" fmla="*/ 128275 h 270045"/>
                <a:gd name="csX3" fmla="*/ 152330 w 252733"/>
                <a:gd name="csY3" fmla="*/ 128275 h 270045"/>
                <a:gd name="csX4" fmla="*/ 185767 w 252733"/>
                <a:gd name="csY4" fmla="*/ 97894 h 270045"/>
                <a:gd name="csX5" fmla="*/ 185767 w 252733"/>
                <a:gd name="csY5" fmla="*/ 92560 h 270045"/>
                <a:gd name="csX6" fmla="*/ 150957 w 252733"/>
                <a:gd name="csY6" fmla="*/ 33640 h 270045"/>
                <a:gd name="csX7" fmla="*/ 200627 w 252733"/>
                <a:gd name="csY7" fmla="*/ 0 h 270045"/>
                <a:gd name="csX8" fmla="*/ 252734 w 252733"/>
                <a:gd name="csY8" fmla="*/ 47174 h 270045"/>
                <a:gd name="csX9" fmla="*/ 208058 w 252733"/>
                <a:gd name="csY9" fmla="*/ 94046 h 270045"/>
                <a:gd name="csX10" fmla="*/ 208058 w 252733"/>
                <a:gd name="csY10" fmla="*/ 97894 h 270045"/>
                <a:gd name="csX11" fmla="*/ 152330 w 252733"/>
                <a:gd name="csY11" fmla="*/ 148529 h 270045"/>
                <a:gd name="csX12" fmla="*/ 59450 w 252733"/>
                <a:gd name="csY12" fmla="*/ 148529 h 270045"/>
                <a:gd name="csX13" fmla="*/ 59450 w 252733"/>
                <a:gd name="csY13" fmla="*/ 176006 h 270045"/>
                <a:gd name="csX14" fmla="*/ 103499 w 252733"/>
                <a:gd name="csY14" fmla="*/ 229532 h 270045"/>
                <a:gd name="csX15" fmla="*/ 44589 w 252733"/>
                <a:gd name="csY15" fmla="*/ 269555 h 270045"/>
                <a:gd name="csX16" fmla="*/ 540 w 252733"/>
                <a:gd name="csY16" fmla="*/ 216029 h 270045"/>
                <a:gd name="csX17" fmla="*/ 37159 w 252733"/>
                <a:gd name="csY17" fmla="*/ 177492 h 270045"/>
                <a:gd name="csX18" fmla="*/ 37159 w 252733"/>
                <a:gd name="csY18" fmla="*/ 92560 h 270045"/>
                <a:gd name="csX19" fmla="*/ 2348 w 252733"/>
                <a:gd name="csY19" fmla="*/ 33640 h 270045"/>
                <a:gd name="csX20" fmla="*/ 52019 w 252733"/>
                <a:gd name="csY20" fmla="*/ 0 h 270045"/>
                <a:gd name="csX21" fmla="*/ 104032 w 252733"/>
                <a:gd name="csY21" fmla="*/ 47259 h 270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52733" h="270045">
                  <a:moveTo>
                    <a:pt x="104032" y="47259"/>
                  </a:moveTo>
                  <a:cubicBezTo>
                    <a:pt x="104038" y="70756"/>
                    <a:pt x="85045" y="90689"/>
                    <a:pt x="59450" y="94046"/>
                  </a:cubicBezTo>
                  <a:lnTo>
                    <a:pt x="59450" y="128275"/>
                  </a:lnTo>
                  <a:lnTo>
                    <a:pt x="152330" y="128275"/>
                  </a:lnTo>
                  <a:cubicBezTo>
                    <a:pt x="170796" y="128275"/>
                    <a:pt x="185767" y="114672"/>
                    <a:pt x="185767" y="97894"/>
                  </a:cubicBezTo>
                  <a:lnTo>
                    <a:pt x="185767" y="92560"/>
                  </a:lnTo>
                  <a:cubicBezTo>
                    <a:pt x="158247" y="85024"/>
                    <a:pt x="142661" y="58645"/>
                    <a:pt x="150957" y="33640"/>
                  </a:cubicBezTo>
                  <a:cubicBezTo>
                    <a:pt x="157564" y="13719"/>
                    <a:pt x="177728" y="63"/>
                    <a:pt x="200627" y="0"/>
                  </a:cubicBezTo>
                  <a:cubicBezTo>
                    <a:pt x="229353" y="-47"/>
                    <a:pt x="252682" y="21074"/>
                    <a:pt x="252734" y="47174"/>
                  </a:cubicBezTo>
                  <a:cubicBezTo>
                    <a:pt x="252780" y="70731"/>
                    <a:pt x="233725" y="90723"/>
                    <a:pt x="208058" y="94046"/>
                  </a:cubicBezTo>
                  <a:lnTo>
                    <a:pt x="208058" y="97894"/>
                  </a:lnTo>
                  <a:cubicBezTo>
                    <a:pt x="208058" y="125859"/>
                    <a:pt x="183108" y="148529"/>
                    <a:pt x="152330" y="148529"/>
                  </a:cubicBezTo>
                  <a:lnTo>
                    <a:pt x="59450" y="148529"/>
                  </a:lnTo>
                  <a:lnTo>
                    <a:pt x="59450" y="176006"/>
                  </a:lnTo>
                  <a:cubicBezTo>
                    <a:pt x="87881" y="179734"/>
                    <a:pt x="107602" y="203699"/>
                    <a:pt x="103499" y="229532"/>
                  </a:cubicBezTo>
                  <a:cubicBezTo>
                    <a:pt x="99396" y="255365"/>
                    <a:pt x="73020" y="273283"/>
                    <a:pt x="44589" y="269555"/>
                  </a:cubicBezTo>
                  <a:cubicBezTo>
                    <a:pt x="16158" y="265827"/>
                    <a:pt x="-3563" y="241862"/>
                    <a:pt x="540" y="216029"/>
                  </a:cubicBezTo>
                  <a:cubicBezTo>
                    <a:pt x="3437" y="197797"/>
                    <a:pt x="17729" y="182755"/>
                    <a:pt x="37159" y="177492"/>
                  </a:cubicBezTo>
                  <a:lnTo>
                    <a:pt x="37159" y="92560"/>
                  </a:lnTo>
                  <a:cubicBezTo>
                    <a:pt x="9639" y="85024"/>
                    <a:pt x="-5946" y="58645"/>
                    <a:pt x="2348" y="33640"/>
                  </a:cubicBezTo>
                  <a:cubicBezTo>
                    <a:pt x="8957" y="13719"/>
                    <a:pt x="29120" y="63"/>
                    <a:pt x="52019" y="0"/>
                  </a:cubicBezTo>
                  <a:cubicBezTo>
                    <a:pt x="80745" y="0"/>
                    <a:pt x="104032" y="21159"/>
                    <a:pt x="104032" y="47259"/>
                  </a:cubicBezTo>
                  <a:close/>
                </a:path>
              </a:pathLst>
            </a:custGeom>
            <a:gradFill flip="none" rotWithShape="1">
              <a:gsLst>
                <a:gs pos="15000">
                  <a:srgbClr val="01A3FD"/>
                </a:gs>
                <a:gs pos="81000">
                  <a:srgbClr val="D661FD"/>
                </a:gs>
              </a:gsLst>
              <a:lin ang="2700000" scaled="1"/>
              <a:tileRect/>
            </a:gradFill>
            <a:ln w="10795" cap="flat" cmpd="sng" algn="ctr">
              <a:noFill/>
              <a:prstDash val="solid"/>
            </a:ln>
            <a:effectLst/>
          </p:spPr>
          <p:txBody>
            <a:bodyPr/>
            <a:lstStyle/>
            <a:p>
              <a:endParaRPr lang="en-US"/>
            </a:p>
          </p:txBody>
        </p:sp>
      </p:grpSp>
      <p:pic>
        <p:nvPicPr>
          <p:cNvPr id="3" name="Picture 2" descr="Person using smartphone">
            <a:extLst>
              <a:ext uri="{FF2B5EF4-FFF2-40B4-BE49-F238E27FC236}">
                <a16:creationId xmlns:a16="http://schemas.microsoft.com/office/drawing/2014/main" id="{2D279523-1AD5-CD74-8D7F-B5C7D89C34C8}"/>
              </a:ext>
            </a:extLst>
          </p:cNvPr>
          <p:cNvPicPr>
            <a:picLocks noChangeAspect="1"/>
          </p:cNvPicPr>
          <p:nvPr/>
        </p:nvPicPr>
        <p:blipFill>
          <a:blip r:embed="rId4">
            <a:extLst>
              <a:ext uri="{28A0092B-C50C-407E-A947-70E740481C1C}">
                <a14:useLocalDpi xmlns:a14="http://schemas.microsoft.com/office/drawing/2010/main" val="0"/>
              </a:ext>
            </a:extLst>
          </a:blip>
          <a:srcRect l="20662" r="20662"/>
          <a:stretch/>
        </p:blipFill>
        <p:spPr>
          <a:xfrm>
            <a:off x="294471" y="585789"/>
            <a:ext cx="5004604" cy="5683249"/>
          </a:xfrm>
          <a:prstGeom prst="roundRect">
            <a:avLst>
              <a:gd name="adj" fmla="val 7105"/>
            </a:avLst>
          </a:prstGeom>
        </p:spPr>
      </p:pic>
      <p:sp>
        <p:nvSpPr>
          <p:cNvPr id="5" name="Rectangle: Rounded Corners 30">
            <a:extLst>
              <a:ext uri="{FF2B5EF4-FFF2-40B4-BE49-F238E27FC236}">
                <a16:creationId xmlns:a16="http://schemas.microsoft.com/office/drawing/2014/main" id="{AF406452-6C59-CEF2-3669-42F206DC630A}"/>
              </a:ext>
              <a:ext uri="{C183D7F6-B498-43B3-948B-1728B52AA6E4}">
                <adec:decorative xmlns:adec="http://schemas.microsoft.com/office/drawing/2017/decorative" val="1"/>
              </a:ext>
            </a:extLst>
          </p:cNvPr>
          <p:cNvSpPr>
            <a:spLocks/>
          </p:cNvSpPr>
          <p:nvPr/>
        </p:nvSpPr>
        <p:spPr bwMode="auto">
          <a:xfrm rot="10800000">
            <a:off x="294469" y="587610"/>
            <a:ext cx="5004605" cy="5823946"/>
          </a:xfrm>
          <a:prstGeom prst="roundRect">
            <a:avLst>
              <a:gd name="adj" fmla="val 7695"/>
            </a:avLst>
          </a:prstGeom>
          <a:gradFill flip="none" rotWithShape="1">
            <a:gsLst>
              <a:gs pos="50000">
                <a:srgbClr val="6259CC">
                  <a:alpha val="12000"/>
                </a:srgbClr>
              </a:gs>
              <a:gs pos="10000">
                <a:srgbClr val="C03BC4">
                  <a:alpha val="12000"/>
                </a:srgbClr>
              </a:gs>
              <a:gs pos="90000">
                <a:srgbClr val="0078D4">
                  <a:alpha val="12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725" tIns="68580" rIns="85725" bIns="68580" numCol="1" spcCol="0" rtlCol="0" fromWordArt="0" anchor="t" anchorCtr="0" forceAA="0" compatLnSpc="1">
            <a:prstTxWarp prst="textNoShape">
              <a:avLst/>
            </a:prstTxWarp>
            <a:noAutofit/>
          </a:bodyPr>
          <a:lstStyle/>
          <a:p>
            <a:pPr defTabSz="437143" fontAlgn="base">
              <a:spcBef>
                <a:spcPct val="0"/>
              </a:spcBef>
              <a:spcAft>
                <a:spcPct val="0"/>
              </a:spcAft>
            </a:pPr>
            <a:endParaRPr lang="en-US" sz="1875" strike="sngStrike">
              <a:solidFill>
                <a:schemeClr val="bg1"/>
              </a:solidFill>
              <a:latin typeface="Segoe Sans Display" pitchFamily="2" charset="0"/>
              <a:cs typeface="Segoe Sans Display" pitchFamily="2" charset="0"/>
            </a:endParaRPr>
          </a:p>
        </p:txBody>
      </p:sp>
      <p:sp>
        <p:nvSpPr>
          <p:cNvPr id="6" name="Rectangle 5">
            <a:extLst>
              <a:ext uri="{FF2B5EF4-FFF2-40B4-BE49-F238E27FC236}">
                <a16:creationId xmlns:a16="http://schemas.microsoft.com/office/drawing/2014/main" id="{63123C32-9D98-0B5C-41E6-1ACD11F89548}"/>
              </a:ext>
              <a:ext uri="{C183D7F6-B498-43B3-948B-1728B52AA6E4}">
                <adec:decorative xmlns:adec="http://schemas.microsoft.com/office/drawing/2017/decorative" val="1"/>
              </a:ext>
            </a:extLst>
          </p:cNvPr>
          <p:cNvSpPr/>
          <p:nvPr/>
        </p:nvSpPr>
        <p:spPr bwMode="auto">
          <a:xfrm rot="10800000">
            <a:off x="301400" y="3649941"/>
            <a:ext cx="4997674" cy="2761615"/>
          </a:xfrm>
          <a:prstGeom prst="rect">
            <a:avLst/>
          </a:prstGeom>
          <a:gradFill flip="none" rotWithShape="1">
            <a:gsLst>
              <a:gs pos="0">
                <a:srgbClr val="F4F3F5"/>
              </a:gs>
              <a:gs pos="42000">
                <a:srgbClr val="F4F3F5">
                  <a:alpha val="75000"/>
                </a:srgbClr>
              </a:gs>
              <a:gs pos="100000">
                <a:srgbClr val="F4F3F5">
                  <a:alpha val="0"/>
                </a:srgb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sp>
        <p:nvSpPr>
          <p:cNvPr id="7" name="Title 3">
            <a:extLst>
              <a:ext uri="{FF2B5EF4-FFF2-40B4-BE49-F238E27FC236}">
                <a16:creationId xmlns:a16="http://schemas.microsoft.com/office/drawing/2014/main" id="{47A5AD45-9134-DD64-ADEF-10A1DA83E079}"/>
              </a:ext>
            </a:extLst>
          </p:cNvPr>
          <p:cNvSpPr txBox="1">
            <a:spLocks/>
          </p:cNvSpPr>
          <p:nvPr/>
        </p:nvSpPr>
        <p:spPr>
          <a:xfrm>
            <a:off x="576603" y="5482190"/>
            <a:ext cx="4440339" cy="4924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3200" b="0" kern="1200" cap="none" spc="-50" baseline="0">
                <a:ln w="3175">
                  <a:noFill/>
                </a:ln>
                <a:solidFill>
                  <a:schemeClr val="tx1"/>
                </a:solidFill>
                <a:effectLst/>
                <a:latin typeface="+mj-lt"/>
                <a:ea typeface="+mn-ea"/>
                <a:cs typeface="Segoe Sans Display" pitchFamily="2" charset="0"/>
              </a:defRPr>
            </a:lvl1pPr>
          </a:lstStyle>
          <a:p>
            <a:pPr algn="ctr"/>
            <a:r>
              <a:rPr lang="en-US" dirty="0"/>
              <a:t>Next Steps</a:t>
            </a:r>
          </a:p>
        </p:txBody>
      </p:sp>
    </p:spTree>
    <p:extLst>
      <p:ext uri="{BB962C8B-B14F-4D97-AF65-F5344CB8AC3E}">
        <p14:creationId xmlns:p14="http://schemas.microsoft.com/office/powerpoint/2010/main" val="25824518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p:tgtEl>
                                          <p:spTgt spid="5"/>
                                        </p:tgtEl>
                                      </p:cBhvr>
                                    </p:animEffect>
                                  </p:childTnLst>
                                </p:cTn>
                              </p:par>
                              <p:par>
                                <p:cTn id="8" presetID="42" presetClass="path" presetSubtype="0" decel="100000" fill="hold" grpId="1" nodeType="withEffect">
                                  <p:stCondLst>
                                    <p:cond delay="100"/>
                                  </p:stCondLst>
                                  <p:childTnLst>
                                    <p:animMotion origin="layout" path="M 1.45833E-6 0.03889 L 1.45833E-6 2.96296E-6 " pathEditMode="relative" rAng="0" ptsTypes="AA">
                                      <p:cBhvr>
                                        <p:cTn id="9" dur="500" fill="hold"/>
                                        <p:tgtEl>
                                          <p:spTgt spid="5"/>
                                        </p:tgtEl>
                                        <p:attrNameLst>
                                          <p:attrName>ppt_x</p:attrName>
                                          <p:attrName>ppt_y</p:attrName>
                                        </p:attrNameLst>
                                      </p:cBhvr>
                                      <p:rCtr x="0" y="-1944"/>
                                    </p:animMotion>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00"/>
                                        <p:tgtEl>
                                          <p:spTgt spid="7"/>
                                        </p:tgtEl>
                                      </p:cBhvr>
                                    </p:animEffect>
                                  </p:childTnLst>
                                </p:cTn>
                              </p:par>
                              <p:par>
                                <p:cTn id="13" presetID="42" presetClass="path" presetSubtype="0" decel="100000" fill="hold" grpId="1" nodeType="withEffect">
                                  <p:stCondLst>
                                    <p:cond delay="0"/>
                                  </p:stCondLst>
                                  <p:childTnLst>
                                    <p:animMotion origin="layout" path="M 3.125E-6 0.03888 L 3.125E-6 4.81481E-6 " pathEditMode="relative" rAng="0" ptsTypes="AA">
                                      <p:cBhvr>
                                        <p:cTn id="14" dur="500" fill="hold"/>
                                        <p:tgtEl>
                                          <p:spTgt spid="7"/>
                                        </p:tgtEl>
                                        <p:attrNameLst>
                                          <p:attrName>ppt_x</p:attrName>
                                          <p:attrName>ppt_y</p:attrName>
                                        </p:attrNameLst>
                                      </p:cBhvr>
                                      <p:rCtr x="0" y="-1944"/>
                                    </p:animMotion>
                                  </p:childTnLst>
                                </p:cTn>
                              </p:par>
                              <p:par>
                                <p:cTn id="15" presetID="10"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00"/>
                                        <p:tgtEl>
                                          <p:spTgt spid="3"/>
                                        </p:tgtEl>
                                      </p:cBhvr>
                                    </p:animEffect>
                                  </p:childTnLst>
                                </p:cTn>
                              </p:par>
                              <p:par>
                                <p:cTn id="18" presetID="42" presetClass="path" presetSubtype="0" decel="100000" fill="hold" nodeType="withEffect">
                                  <p:stCondLst>
                                    <p:cond delay="0"/>
                                  </p:stCondLst>
                                  <p:childTnLst>
                                    <p:animMotion origin="layout" path="M 3.125E-6 0.03889 L 3.125E-6 1.48148E-6 " pathEditMode="relative" rAng="0" ptsTypes="AA">
                                      <p:cBhvr>
                                        <p:cTn id="19" dur="500" fill="hold"/>
                                        <p:tgtEl>
                                          <p:spTgt spid="3"/>
                                        </p:tgtEl>
                                        <p:attrNameLst>
                                          <p:attrName>ppt_x</p:attrName>
                                          <p:attrName>ppt_y</p:attrName>
                                        </p:attrNameLst>
                                      </p:cBhvr>
                                      <p:rCtr x="0" y="-1944"/>
                                    </p:animMotion>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00"/>
                                        <p:tgtEl>
                                          <p:spTgt spid="6"/>
                                        </p:tgtEl>
                                      </p:cBhvr>
                                    </p:animEffect>
                                  </p:childTnLst>
                                </p:cTn>
                              </p:par>
                              <p:par>
                                <p:cTn id="23" presetID="42" presetClass="path" presetSubtype="0" decel="100000" fill="hold" grpId="1" nodeType="withEffect">
                                  <p:stCondLst>
                                    <p:cond delay="0"/>
                                  </p:stCondLst>
                                  <p:childTnLst>
                                    <p:animMotion origin="layout" path="M 2.29167E-6 0.03889 L 2.29167E-6 -4.81481E-6 " pathEditMode="relative" rAng="0" ptsTypes="AA">
                                      <p:cBhvr>
                                        <p:cTn id="24" dur="500" fill="hold"/>
                                        <p:tgtEl>
                                          <p:spTgt spid="6"/>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p:bldP spid="7"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2092A-3C23-E7D9-038D-0CAB8399A374}"/>
            </a:ext>
          </a:extLst>
        </p:cNvPr>
        <p:cNvGrpSpPr/>
        <p:nvPr/>
      </p:nvGrpSpPr>
      <p:grpSpPr>
        <a:xfrm>
          <a:off x="0" y="0"/>
          <a:ext cx="0" cy="0"/>
          <a:chOff x="0" y="0"/>
          <a:chExt cx="0" cy="0"/>
        </a:xfrm>
      </p:grpSpPr>
      <p:pic>
        <p:nvPicPr>
          <p:cNvPr id="9" name="Picture 8" descr="A blurry image of a purple object&#10;&#10;AI-generated content may be incorrect.">
            <a:extLst>
              <a:ext uri="{FF2B5EF4-FFF2-40B4-BE49-F238E27FC236}">
                <a16:creationId xmlns:a16="http://schemas.microsoft.com/office/drawing/2014/main" id="{989CD48C-2E8D-DDFF-AF6E-66C8F0D8DA57}"/>
              </a:ext>
            </a:extLst>
          </p:cNvPr>
          <p:cNvPicPr>
            <a:picLocks noGrp="1" noRot="1" noChangeAspect="1" noMove="1" noResize="1" noEditPoints="1" noAdjustHandles="1" noChangeArrowheads="1" noChangeShapeType="1" noCrop="1"/>
          </p:cNvPicPr>
          <p:nvPr/>
        </p:nvPicPr>
        <p:blipFill>
          <a:blip r:embed="rId3">
            <a:alphaModFix amt="70000"/>
          </a:blip>
          <a:srcRect l="25924"/>
          <a:stretch>
            <a:fillRect/>
          </a:stretch>
        </p:blipFill>
        <p:spPr>
          <a:xfrm flipV="1">
            <a:off x="0" y="0"/>
            <a:ext cx="12192000" cy="6858000"/>
          </a:xfrm>
          <a:prstGeom prst="rect">
            <a:avLst/>
          </a:prstGeom>
        </p:spPr>
      </p:pic>
      <p:sp>
        <p:nvSpPr>
          <p:cNvPr id="8" name="Title 7">
            <a:extLst>
              <a:ext uri="{FF2B5EF4-FFF2-40B4-BE49-F238E27FC236}">
                <a16:creationId xmlns:a16="http://schemas.microsoft.com/office/drawing/2014/main" id="{4D18EB98-6284-2C2A-FD8D-49DFA631030B}"/>
              </a:ext>
            </a:extLst>
          </p:cNvPr>
          <p:cNvSpPr>
            <a:spLocks noGrp="1"/>
          </p:cNvSpPr>
          <p:nvPr>
            <p:ph type="title"/>
          </p:nvPr>
        </p:nvSpPr>
        <p:spPr>
          <a:xfrm>
            <a:off x="571500" y="457200"/>
            <a:ext cx="11018520" cy="553998"/>
          </a:xfrm>
        </p:spPr>
        <p:txBody>
          <a:bodyPr/>
          <a:lstStyle/>
          <a:p>
            <a:r>
              <a:rPr lang="en-US"/>
              <a:t>Agent </a:t>
            </a:r>
            <a:r>
              <a:rPr lang="en-US">
                <a:solidFill>
                  <a:schemeClr val="accent1"/>
                </a:solidFill>
              </a:rPr>
              <a:t>Programs</a:t>
            </a:r>
            <a:endParaRPr lang="en-US"/>
          </a:p>
        </p:txBody>
      </p:sp>
      <p:sp>
        <p:nvSpPr>
          <p:cNvPr id="179" name="Rectangle: Rounded Corners 178">
            <a:extLst>
              <a:ext uri="{FF2B5EF4-FFF2-40B4-BE49-F238E27FC236}">
                <a16:creationId xmlns:a16="http://schemas.microsoft.com/office/drawing/2014/main" id="{45151BC8-EA99-1BD7-16B6-EEC4C603489F}"/>
              </a:ext>
              <a:ext uri="{C183D7F6-B498-43B3-948B-1728B52AA6E4}">
                <adec:decorative xmlns:adec="http://schemas.microsoft.com/office/drawing/2017/decorative" val="1"/>
              </a:ext>
            </a:extLst>
          </p:cNvPr>
          <p:cNvSpPr>
            <a:spLocks/>
          </p:cNvSpPr>
          <p:nvPr/>
        </p:nvSpPr>
        <p:spPr bwMode="auto">
          <a:xfrm>
            <a:off x="571500" y="1294556"/>
            <a:ext cx="11049000" cy="1405313"/>
          </a:xfrm>
          <a:prstGeom prst="roundRect">
            <a:avLst>
              <a:gd name="adj" fmla="val 8233"/>
            </a:avLst>
          </a:prstGeom>
          <a:noFill/>
          <a:ln w="95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UI"/>
              <a:ea typeface="+mn-ea"/>
              <a:cs typeface="Segoe UI"/>
            </a:endParaRPr>
          </a:p>
        </p:txBody>
      </p:sp>
      <p:grpSp>
        <p:nvGrpSpPr>
          <p:cNvPr id="199" name="Group 198">
            <a:extLst>
              <a:ext uri="{FF2B5EF4-FFF2-40B4-BE49-F238E27FC236}">
                <a16:creationId xmlns:a16="http://schemas.microsoft.com/office/drawing/2014/main" id="{1E0FAA8B-7190-F2C9-EAAD-A1962F25D3EA}"/>
              </a:ext>
            </a:extLst>
          </p:cNvPr>
          <p:cNvGrpSpPr/>
          <p:nvPr/>
        </p:nvGrpSpPr>
        <p:grpSpPr>
          <a:xfrm>
            <a:off x="6938005" y="1366974"/>
            <a:ext cx="3149533" cy="1260476"/>
            <a:chOff x="6746559" y="1439862"/>
            <a:chExt cx="3149533" cy="1260476"/>
          </a:xfrm>
        </p:grpSpPr>
        <p:sp>
          <p:nvSpPr>
            <p:cNvPr id="192" name="Rounded Rectangle 29">
              <a:extLst>
                <a:ext uri="{FF2B5EF4-FFF2-40B4-BE49-F238E27FC236}">
                  <a16:creationId xmlns:a16="http://schemas.microsoft.com/office/drawing/2014/main" id="{8F547878-044C-89A8-BD10-8BAF991CC46E}"/>
                </a:ext>
              </a:extLst>
            </p:cNvPr>
            <p:cNvSpPr/>
            <p:nvPr/>
          </p:nvSpPr>
          <p:spPr>
            <a:xfrm>
              <a:off x="6746559" y="1439862"/>
              <a:ext cx="3149533" cy="1260476"/>
            </a:xfrm>
            <a:prstGeom prst="roundRect">
              <a:avLst>
                <a:gd name="adj" fmla="val 7162"/>
              </a:avLst>
            </a:prstGeom>
            <a:solidFill>
              <a:srgbClr val="FFFFFF"/>
            </a:solidFill>
            <a:ln w="158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2000" b="1" i="0" u="none" strike="noStrike" kern="1200" cap="none" spc="0" normalizeH="0" baseline="0" noProof="0">
                <a:ln>
                  <a:noFill/>
                </a:ln>
                <a:gradFill>
                  <a:gsLst>
                    <a:gs pos="0">
                      <a:srgbClr val="0078D4"/>
                    </a:gs>
                    <a:gs pos="94000">
                      <a:srgbClr val="C73ECC"/>
                    </a:gs>
                  </a:gsLst>
                  <a:lin ang="0" scaled="1"/>
                </a:gradFill>
                <a:effectLst/>
                <a:uLnTx/>
                <a:uFillTx/>
                <a:latin typeface="Segoe Sans Display Semibold"/>
                <a:ea typeface="+mn-ea"/>
                <a:cs typeface="+mn-cs"/>
              </a:endParaRPr>
            </a:p>
          </p:txBody>
        </p:sp>
        <p:grpSp>
          <p:nvGrpSpPr>
            <p:cNvPr id="198" name="Group 197">
              <a:extLst>
                <a:ext uri="{FF2B5EF4-FFF2-40B4-BE49-F238E27FC236}">
                  <a16:creationId xmlns:a16="http://schemas.microsoft.com/office/drawing/2014/main" id="{A603CB27-F3C1-415B-A1CA-9EB4F5188907}"/>
                </a:ext>
              </a:extLst>
            </p:cNvPr>
            <p:cNvGrpSpPr/>
            <p:nvPr/>
          </p:nvGrpSpPr>
          <p:grpSpPr>
            <a:xfrm>
              <a:off x="6874277" y="1561404"/>
              <a:ext cx="2858542" cy="783429"/>
              <a:chOff x="6874277" y="1561404"/>
              <a:chExt cx="2858542" cy="783429"/>
            </a:xfrm>
          </p:grpSpPr>
          <p:sp>
            <p:nvSpPr>
              <p:cNvPr id="193" name="TextBox 192">
                <a:extLst>
                  <a:ext uri="{FF2B5EF4-FFF2-40B4-BE49-F238E27FC236}">
                    <a16:creationId xmlns:a16="http://schemas.microsoft.com/office/drawing/2014/main" id="{0ED19DFF-E8FD-FC36-B6E2-1844729C88F2}"/>
                  </a:ext>
                </a:extLst>
              </p:cNvPr>
              <p:cNvSpPr txBox="1"/>
              <p:nvPr/>
            </p:nvSpPr>
            <p:spPr>
              <a:xfrm>
                <a:off x="6874277" y="1561404"/>
                <a:ext cx="2618971" cy="184666"/>
              </a:xfrm>
              <a:prstGeom prst="rect">
                <a:avLst/>
              </a:prstGeom>
              <a:noFill/>
              <a:effectLst/>
            </p:spPr>
            <p:txBody>
              <a:bodyPr wrap="square" lIns="0" tIns="0" rIns="0" bIns="0">
                <a:spAutoFit/>
              </a:bodyPr>
              <a:lstStyle>
                <a:defPPr>
                  <a:defRPr lang="en-US"/>
                </a:defPPr>
                <a:lvl1pPr algn="ctr">
                  <a:defRPr sz="1400" b="1">
                    <a:latin typeface="Segoe UI" panose="020B0502040204020203" pitchFamily="34" charset="0"/>
                    <a:cs typeface="Segoe UI" panose="020B0502040204020203" pitchFamily="34" charset="0"/>
                  </a:defRPr>
                </a:lvl1pPr>
              </a:lstStyle>
              <a:p>
                <a:pPr lvl="0" algn="l">
                  <a:defRPr/>
                </a:pPr>
                <a:r>
                  <a:rPr lang="en-US" sz="1200" b="0">
                    <a:solidFill>
                      <a:schemeClr val="accent1"/>
                    </a:solidFill>
                    <a:latin typeface="+mj-lt"/>
                  </a:rPr>
                  <a:t>Copilot Ready: </a:t>
                </a:r>
                <a:r>
                  <a:rPr lang="en-US" sz="1200" b="0" u="sng">
                    <a:solidFill>
                      <a:schemeClr val="accent1"/>
                    </a:solidFill>
                    <a:latin typeface="+mj-lt"/>
                  </a:rPr>
                  <a:t>Envisioning</a:t>
                </a:r>
              </a:p>
            </p:txBody>
          </p:sp>
          <p:sp>
            <p:nvSpPr>
              <p:cNvPr id="194" name="TextBox 193">
                <a:extLst>
                  <a:ext uri="{FF2B5EF4-FFF2-40B4-BE49-F238E27FC236}">
                    <a16:creationId xmlns:a16="http://schemas.microsoft.com/office/drawing/2014/main" id="{95DB9018-4E02-1312-DF05-4D84A145D7A9}"/>
                  </a:ext>
                </a:extLst>
              </p:cNvPr>
              <p:cNvSpPr txBox="1"/>
              <p:nvPr/>
            </p:nvSpPr>
            <p:spPr>
              <a:xfrm>
                <a:off x="6899854" y="1883168"/>
                <a:ext cx="1145883" cy="307777"/>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lang="en-US" sz="1000">
                    <a:solidFill>
                      <a:schemeClr val="tx1"/>
                    </a:solidFill>
                    <a:latin typeface="+mj-lt"/>
                  </a:rPr>
                  <a:t>Build awareness </a:t>
                </a: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of Copilot capabilities</a:t>
                </a:r>
              </a:p>
            </p:txBody>
          </p:sp>
          <p:sp>
            <p:nvSpPr>
              <p:cNvPr id="195" name="TextBox 194">
                <a:extLst>
                  <a:ext uri="{FF2B5EF4-FFF2-40B4-BE49-F238E27FC236}">
                    <a16:creationId xmlns:a16="http://schemas.microsoft.com/office/drawing/2014/main" id="{F20E4500-4680-78EC-9D82-1A1F403232DD}"/>
                  </a:ext>
                </a:extLst>
              </p:cNvPr>
              <p:cNvSpPr txBox="1"/>
              <p:nvPr/>
            </p:nvSpPr>
            <p:spPr>
              <a:xfrm>
                <a:off x="8518640" y="1883168"/>
                <a:ext cx="1214179" cy="461665"/>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Gamified envisioning to </a:t>
                </a:r>
                <a:r>
                  <a:rPr lang="en-US" sz="1000">
                    <a:solidFill>
                      <a:schemeClr val="tx1"/>
                    </a:solidFill>
                    <a:latin typeface="+mj-lt"/>
                  </a:rPr>
                  <a:t>generate high-value use cases</a:t>
                </a:r>
              </a:p>
            </p:txBody>
          </p:sp>
          <p:cxnSp>
            <p:nvCxnSpPr>
              <p:cNvPr id="196" name="Straight Connector 195">
                <a:extLst>
                  <a:ext uri="{FF2B5EF4-FFF2-40B4-BE49-F238E27FC236}">
                    <a16:creationId xmlns:a16="http://schemas.microsoft.com/office/drawing/2014/main" id="{F182EA02-5766-3942-9173-838DC4DD087E}"/>
                  </a:ext>
                </a:extLst>
              </p:cNvPr>
              <p:cNvCxnSpPr>
                <a:cxnSpLocks/>
              </p:cNvCxnSpPr>
              <p:nvPr/>
            </p:nvCxnSpPr>
            <p:spPr>
              <a:xfrm>
                <a:off x="8282189" y="1883168"/>
                <a:ext cx="0" cy="461665"/>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sp>
        <p:nvSpPr>
          <p:cNvPr id="197" name="Rounded Rectangle 29">
            <a:extLst>
              <a:ext uri="{FF2B5EF4-FFF2-40B4-BE49-F238E27FC236}">
                <a16:creationId xmlns:a16="http://schemas.microsoft.com/office/drawing/2014/main" id="{ECCED670-9B76-B363-3E58-C1F17CEBAFDB}"/>
              </a:ext>
            </a:extLst>
          </p:cNvPr>
          <p:cNvSpPr/>
          <p:nvPr/>
        </p:nvSpPr>
        <p:spPr>
          <a:xfrm>
            <a:off x="10168219" y="1366974"/>
            <a:ext cx="1371600" cy="1260476"/>
          </a:xfrm>
          <a:prstGeom prst="roundRect">
            <a:avLst>
              <a:gd name="adj" fmla="val 7918"/>
            </a:avLst>
          </a:prstGeom>
          <a:solidFill>
            <a:schemeClr val="accent1">
              <a:lumMod val="20000"/>
              <a:lumOff val="80000"/>
              <a:alpha val="60264"/>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r>
              <a:rPr lang="en-US" sz="1100">
                <a:solidFill>
                  <a:srgbClr val="091F2C"/>
                </a:solidFill>
                <a:cs typeface="Segoe UI" panose="020B0502040204020203" pitchFamily="34" charset="0"/>
              </a:rPr>
              <a:t>Line of business users across the organization</a:t>
            </a:r>
          </a:p>
        </p:txBody>
      </p:sp>
      <p:pic>
        <p:nvPicPr>
          <p:cNvPr id="200" name="Picture 199" descr="A blue text on a black background&#10;&#10;AI-generated content may be incorrect.">
            <a:extLst>
              <a:ext uri="{FF2B5EF4-FFF2-40B4-BE49-F238E27FC236}">
                <a16:creationId xmlns:a16="http://schemas.microsoft.com/office/drawing/2014/main" id="{86E153C8-3EA8-BA0D-4F5F-9E0570F9546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17176" y="2371629"/>
            <a:ext cx="683880" cy="156136"/>
          </a:xfrm>
          <a:prstGeom prst="rect">
            <a:avLst/>
          </a:prstGeom>
          <a:ln>
            <a:noFill/>
          </a:ln>
          <a:effectLst/>
        </p:spPr>
      </p:pic>
      <p:grpSp>
        <p:nvGrpSpPr>
          <p:cNvPr id="201" name="Group 200">
            <a:extLst>
              <a:ext uri="{FF2B5EF4-FFF2-40B4-BE49-F238E27FC236}">
                <a16:creationId xmlns:a16="http://schemas.microsoft.com/office/drawing/2014/main" id="{AE3F86FE-E013-9ACC-04FD-CA749611CA3C}"/>
              </a:ext>
            </a:extLst>
          </p:cNvPr>
          <p:cNvGrpSpPr/>
          <p:nvPr/>
        </p:nvGrpSpPr>
        <p:grpSpPr>
          <a:xfrm>
            <a:off x="10009266" y="1898999"/>
            <a:ext cx="196428" cy="196426"/>
            <a:chOff x="5954568" y="5888558"/>
            <a:chExt cx="282861" cy="282858"/>
          </a:xfrm>
        </p:grpSpPr>
        <p:sp>
          <p:nvSpPr>
            <p:cNvPr id="202" name="Oval 201">
              <a:extLst>
                <a:ext uri="{FF2B5EF4-FFF2-40B4-BE49-F238E27FC236}">
                  <a16:creationId xmlns:a16="http://schemas.microsoft.com/office/drawing/2014/main" id="{295E97F7-ED44-2521-24BB-C8E21E461E0C}"/>
                </a:ext>
              </a:extLst>
            </p:cNvPr>
            <p:cNvSpPr>
              <a:spLocks/>
            </p:cNvSpPr>
            <p:nvPr/>
          </p:nvSpPr>
          <p:spPr>
            <a:xfrm>
              <a:off x="5954568" y="5888558"/>
              <a:ext cx="282861" cy="282858"/>
            </a:xfrm>
            <a:prstGeom prst="ellipse">
              <a:avLst/>
            </a:prstGeom>
            <a:gradFill flip="none" rotWithShape="1">
              <a:gsLst>
                <a:gs pos="15000">
                  <a:srgbClr val="0078D4"/>
                </a:gs>
                <a:gs pos="100000">
                  <a:srgbClr val="C73ECC"/>
                </a:gs>
              </a:gsLst>
              <a:lin ang="2700000" scaled="1"/>
              <a:tileRect/>
            </a:gradFill>
            <a:ln w="10795"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FBFBFB"/>
                </a:solidFill>
                <a:effectLst/>
                <a:uLnTx/>
                <a:uFillTx/>
                <a:latin typeface="Segoe Sans Display Semibold" pitchFamily="2" charset="0"/>
                <a:ea typeface="+mn-ea"/>
                <a:cs typeface="Segoe Sans Display Semibold" pitchFamily="2" charset="0"/>
              </a:endParaRPr>
            </a:p>
          </p:txBody>
        </p:sp>
        <p:sp>
          <p:nvSpPr>
            <p:cNvPr id="203" name="Graphic 4">
              <a:extLst>
                <a:ext uri="{FF2B5EF4-FFF2-40B4-BE49-F238E27FC236}">
                  <a16:creationId xmlns:a16="http://schemas.microsoft.com/office/drawing/2014/main" id="{64820EBF-27F0-6229-7A17-566BE7FC04E2}"/>
                </a:ext>
              </a:extLst>
            </p:cNvPr>
            <p:cNvSpPr/>
            <p:nvPr/>
          </p:nvSpPr>
          <p:spPr>
            <a:xfrm>
              <a:off x="6045587" y="5944271"/>
              <a:ext cx="100822" cy="171432"/>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78D4">
                    <a:lumMod val="75000"/>
                  </a:srgbClr>
                </a:solidFill>
                <a:effectLst/>
                <a:uLnTx/>
                <a:uFillTx/>
                <a:latin typeface="Segoe Sans Text Light" pitchFamily="2" charset="0"/>
                <a:ea typeface="+mn-ea"/>
                <a:cs typeface="+mn-cs"/>
              </a:endParaRPr>
            </a:p>
          </p:txBody>
        </p:sp>
      </p:grpSp>
      <p:grpSp>
        <p:nvGrpSpPr>
          <p:cNvPr id="236" name="Group 235">
            <a:extLst>
              <a:ext uri="{FF2B5EF4-FFF2-40B4-BE49-F238E27FC236}">
                <a16:creationId xmlns:a16="http://schemas.microsoft.com/office/drawing/2014/main" id="{760F471C-3B4F-D7B6-8A8A-418AC1520676}"/>
              </a:ext>
            </a:extLst>
          </p:cNvPr>
          <p:cNvGrpSpPr/>
          <p:nvPr/>
        </p:nvGrpSpPr>
        <p:grpSpPr>
          <a:xfrm>
            <a:off x="642938" y="1366974"/>
            <a:ext cx="6223630" cy="1260476"/>
            <a:chOff x="642938" y="1439862"/>
            <a:chExt cx="6223630" cy="1260476"/>
          </a:xfrm>
        </p:grpSpPr>
        <p:sp>
          <p:nvSpPr>
            <p:cNvPr id="180" name="Rounded Rectangle 29">
              <a:extLst>
                <a:ext uri="{FF2B5EF4-FFF2-40B4-BE49-F238E27FC236}">
                  <a16:creationId xmlns:a16="http://schemas.microsoft.com/office/drawing/2014/main" id="{FB2B59AA-D3E9-28CC-555C-D391CC8FBD8F}"/>
                </a:ext>
              </a:extLst>
            </p:cNvPr>
            <p:cNvSpPr/>
            <p:nvPr/>
          </p:nvSpPr>
          <p:spPr>
            <a:xfrm>
              <a:off x="642938" y="1439862"/>
              <a:ext cx="4780593" cy="1260476"/>
            </a:xfrm>
            <a:prstGeom prst="roundRect">
              <a:avLst>
                <a:gd name="adj" fmla="val 10185"/>
              </a:avLst>
            </a:prstGeom>
            <a:solidFill>
              <a:srgbClr val="FFFFFF"/>
            </a:solidFill>
            <a:ln w="158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2000" b="1" i="0" u="none" strike="noStrike" kern="1200" cap="none" spc="0" normalizeH="0" baseline="0" noProof="0">
                <a:ln>
                  <a:noFill/>
                </a:ln>
                <a:gradFill>
                  <a:gsLst>
                    <a:gs pos="0">
                      <a:srgbClr val="0078D4"/>
                    </a:gs>
                    <a:gs pos="94000">
                      <a:srgbClr val="C73ECC"/>
                    </a:gs>
                  </a:gsLst>
                  <a:lin ang="0" scaled="1"/>
                </a:gradFill>
                <a:effectLst/>
                <a:uLnTx/>
                <a:uFillTx/>
                <a:latin typeface="Segoe Sans Display Semibold"/>
                <a:ea typeface="+mn-ea"/>
                <a:cs typeface="+mn-cs"/>
              </a:endParaRPr>
            </a:p>
          </p:txBody>
        </p:sp>
        <p:sp>
          <p:nvSpPr>
            <p:cNvPr id="182" name="TextBox 181">
              <a:extLst>
                <a:ext uri="{FF2B5EF4-FFF2-40B4-BE49-F238E27FC236}">
                  <a16:creationId xmlns:a16="http://schemas.microsoft.com/office/drawing/2014/main" id="{9BFCC426-F00E-7ED4-57B2-22E11EB01DEE}"/>
                </a:ext>
              </a:extLst>
            </p:cNvPr>
            <p:cNvSpPr txBox="1"/>
            <p:nvPr/>
          </p:nvSpPr>
          <p:spPr>
            <a:xfrm>
              <a:off x="770657" y="1561404"/>
              <a:ext cx="4499576" cy="184666"/>
            </a:xfrm>
            <a:prstGeom prst="rect">
              <a:avLst/>
            </a:prstGeom>
            <a:noFill/>
            <a:effectLst/>
          </p:spPr>
          <p:txBody>
            <a:bodyPr wrap="square" lIns="0" tIns="0" rIns="0" bIns="0">
              <a:spAutoFit/>
            </a:bodyPr>
            <a:lstStyle>
              <a:defPPr>
                <a:defRPr lang="en-US"/>
              </a:defPPr>
              <a:lvl1pPr algn="ctr">
                <a:defRPr sz="1400" b="1">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accent1"/>
                  </a:solidFill>
                  <a:effectLst/>
                  <a:uLnTx/>
                  <a:uFillTx/>
                  <a:latin typeface="+mj-lt"/>
                  <a:ea typeface="+mn-ea"/>
                  <a:cs typeface="Segoe UI" panose="020B0502040204020203" pitchFamily="34" charset="0"/>
                </a:rPr>
                <a:t>AI </a:t>
              </a:r>
              <a:r>
                <a:rPr kumimoji="0" lang="en-US" sz="1200" b="0" i="0" u="sng" strike="noStrike" kern="1200" cap="none" spc="0" normalizeH="0" baseline="0" noProof="0">
                  <a:ln>
                    <a:noFill/>
                  </a:ln>
                  <a:solidFill>
                    <a:schemeClr val="accent1"/>
                  </a:solidFill>
                  <a:effectLst/>
                  <a:uLnTx/>
                  <a:uFillTx/>
                  <a:latin typeface="+mj-lt"/>
                  <a:ea typeface="+mn-ea"/>
                  <a:cs typeface="Segoe UI" panose="020B0502040204020203" pitchFamily="34" charset="0"/>
                </a:rPr>
                <a:t>Vision</a:t>
              </a:r>
              <a:r>
                <a:rPr kumimoji="0" lang="en-US" sz="1200" b="0" i="0" u="none" strike="noStrike" kern="1200" cap="none" spc="0" normalizeH="0" baseline="0" noProof="0">
                  <a:ln>
                    <a:noFill/>
                  </a:ln>
                  <a:solidFill>
                    <a:schemeClr val="accent1"/>
                  </a:solidFill>
                  <a:effectLst/>
                  <a:uLnTx/>
                  <a:uFillTx/>
                  <a:latin typeface="+mj-lt"/>
                  <a:ea typeface="+mn-ea"/>
                  <a:cs typeface="Segoe UI" panose="020B0502040204020203" pitchFamily="34" charset="0"/>
                </a:rPr>
                <a:t>, Success Measures and Action Planning</a:t>
              </a:r>
            </a:p>
          </p:txBody>
        </p:sp>
        <p:sp>
          <p:nvSpPr>
            <p:cNvPr id="181" name="TextBox 180">
              <a:extLst>
                <a:ext uri="{FF2B5EF4-FFF2-40B4-BE49-F238E27FC236}">
                  <a16:creationId xmlns:a16="http://schemas.microsoft.com/office/drawing/2014/main" id="{0E98D5BF-AB7C-3746-A303-2CDF0943FC7B}"/>
                </a:ext>
              </a:extLst>
            </p:cNvPr>
            <p:cNvSpPr txBox="1"/>
            <p:nvPr/>
          </p:nvSpPr>
          <p:spPr>
            <a:xfrm>
              <a:off x="770657" y="1883168"/>
              <a:ext cx="1352550" cy="461665"/>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Prepare </a:t>
              </a:r>
              <a:r>
                <a:rPr lang="en-US" sz="1000">
                  <a:solidFill>
                    <a:schemeClr val="tx1"/>
                  </a:solidFill>
                  <a:latin typeface="+mj-lt"/>
                </a:rPr>
                <a:t>executive sponsors </a:t>
              </a: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to lead </a:t>
              </a:r>
              <a:r>
                <a:rPr lang="en-US" sz="1000">
                  <a:solidFill>
                    <a:schemeClr val="tx1"/>
                  </a:solidFill>
                  <a:latin typeface="+mj-lt"/>
                </a:rPr>
                <a:t>AI Transformation</a:t>
              </a:r>
            </a:p>
          </p:txBody>
        </p:sp>
        <p:sp>
          <p:nvSpPr>
            <p:cNvPr id="183" name="TextBox 182">
              <a:extLst>
                <a:ext uri="{FF2B5EF4-FFF2-40B4-BE49-F238E27FC236}">
                  <a16:creationId xmlns:a16="http://schemas.microsoft.com/office/drawing/2014/main" id="{DD85D26F-E949-DF69-6821-3E9723560E35}"/>
                </a:ext>
              </a:extLst>
            </p:cNvPr>
            <p:cNvSpPr txBox="1"/>
            <p:nvPr/>
          </p:nvSpPr>
          <p:spPr>
            <a:xfrm>
              <a:off x="2463259" y="1883168"/>
              <a:ext cx="1165527" cy="461665"/>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Create your organization’s </a:t>
              </a:r>
              <a:b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br>
              <a:r>
                <a:rPr kumimoji="0" lang="en-US" sz="1000" b="0" i="0" u="none" strike="noStrike" kern="1200" cap="none" spc="0" normalizeH="0" baseline="0" noProof="0">
                  <a:ln>
                    <a:noFill/>
                  </a:ln>
                  <a:solidFill>
                    <a:schemeClr val="tx1"/>
                  </a:solidFill>
                  <a:effectLst/>
                  <a:uLnTx/>
                  <a:uFillTx/>
                  <a:latin typeface="+mj-lt"/>
                  <a:ea typeface="+mn-ea"/>
                  <a:cs typeface="Segoe UI" panose="020B0502040204020203" pitchFamily="34" charset="0"/>
                </a:rPr>
                <a:t>AI Vision Statement</a:t>
              </a:r>
            </a:p>
          </p:txBody>
        </p:sp>
        <p:sp>
          <p:nvSpPr>
            <p:cNvPr id="184" name="TextBox 183">
              <a:extLst>
                <a:ext uri="{FF2B5EF4-FFF2-40B4-BE49-F238E27FC236}">
                  <a16:creationId xmlns:a16="http://schemas.microsoft.com/office/drawing/2014/main" id="{76A31EA8-5614-A9B2-50E4-AF18BD379BDC}"/>
                </a:ext>
              </a:extLst>
            </p:cNvPr>
            <p:cNvSpPr txBox="1"/>
            <p:nvPr/>
          </p:nvSpPr>
          <p:spPr>
            <a:xfrm>
              <a:off x="3943261" y="1883168"/>
              <a:ext cx="1352550" cy="461665"/>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lang="en-US" sz="1000">
                  <a:solidFill>
                    <a:schemeClr val="tx1"/>
                  </a:solidFill>
                  <a:latin typeface="+mj-lt"/>
                </a:rPr>
                <a:t>AI transformation KPIs </a:t>
              </a: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with measurements and </a:t>
              </a:r>
              <a:r>
                <a:rPr lang="en-US" sz="1000">
                  <a:solidFill>
                    <a:schemeClr val="tx1"/>
                  </a:solidFill>
                  <a:latin typeface="+mj-lt"/>
                </a:rPr>
                <a:t>2-year action </a:t>
              </a: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plan</a:t>
              </a:r>
            </a:p>
          </p:txBody>
        </p:sp>
        <p:cxnSp>
          <p:nvCxnSpPr>
            <p:cNvPr id="186" name="Straight Connector 185">
              <a:extLst>
                <a:ext uri="{FF2B5EF4-FFF2-40B4-BE49-F238E27FC236}">
                  <a16:creationId xmlns:a16="http://schemas.microsoft.com/office/drawing/2014/main" id="{3E7D43B1-99AF-370B-1FD0-3D4B938DABC8}"/>
                </a:ext>
              </a:extLst>
            </p:cNvPr>
            <p:cNvCxnSpPr>
              <a:cxnSpLocks/>
            </p:cNvCxnSpPr>
            <p:nvPr/>
          </p:nvCxnSpPr>
          <p:spPr>
            <a:xfrm>
              <a:off x="2306022" y="1883168"/>
              <a:ext cx="0" cy="461665"/>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93ACAD9F-ACC1-FFDD-C364-27D922CCD84C}"/>
                </a:ext>
              </a:extLst>
            </p:cNvPr>
            <p:cNvCxnSpPr>
              <a:cxnSpLocks/>
            </p:cNvCxnSpPr>
            <p:nvPr/>
          </p:nvCxnSpPr>
          <p:spPr>
            <a:xfrm>
              <a:off x="3786023" y="1883168"/>
              <a:ext cx="0" cy="461665"/>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90" name="Picture 189" descr="A blue text on a black background&#10;&#10;AI-generated content may be incorrect.">
              <a:extLst>
                <a:ext uri="{FF2B5EF4-FFF2-40B4-BE49-F238E27FC236}">
                  <a16:creationId xmlns:a16="http://schemas.microsoft.com/office/drawing/2014/main" id="{910DD672-C157-1A7D-B667-C76D90EE1B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38117" y="2444517"/>
              <a:ext cx="683880" cy="156136"/>
            </a:xfrm>
            <a:prstGeom prst="rect">
              <a:avLst/>
            </a:prstGeom>
            <a:ln>
              <a:noFill/>
            </a:ln>
            <a:effectLst/>
          </p:spPr>
        </p:pic>
        <p:sp>
          <p:nvSpPr>
            <p:cNvPr id="191" name="Rounded Rectangle 29">
              <a:extLst>
                <a:ext uri="{FF2B5EF4-FFF2-40B4-BE49-F238E27FC236}">
                  <a16:creationId xmlns:a16="http://schemas.microsoft.com/office/drawing/2014/main" id="{FC4AD1BC-A547-D2ED-8E25-E8F6879B5D2D}"/>
                </a:ext>
              </a:extLst>
            </p:cNvPr>
            <p:cNvSpPr/>
            <p:nvPr/>
          </p:nvSpPr>
          <p:spPr>
            <a:xfrm>
              <a:off x="5494968" y="1439862"/>
              <a:ext cx="1371600" cy="1260476"/>
            </a:xfrm>
            <a:prstGeom prst="roundRect">
              <a:avLst>
                <a:gd name="adj" fmla="val 7918"/>
              </a:avLst>
            </a:prstGeom>
            <a:solidFill>
              <a:schemeClr val="accent1">
                <a:lumMod val="20000"/>
                <a:lumOff val="80000"/>
                <a:alpha val="60264"/>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r>
                <a:rPr lang="en-US" sz="1100">
                  <a:solidFill>
                    <a:srgbClr val="091F2C"/>
                  </a:solidFill>
                  <a:cs typeface="Segoe UI" panose="020B0502040204020203" pitchFamily="34" charset="0"/>
                </a:rPr>
                <a:t>Executive Sponsor, Exec Steering Group and all other participants</a:t>
              </a:r>
            </a:p>
          </p:txBody>
        </p:sp>
        <p:grpSp>
          <p:nvGrpSpPr>
            <p:cNvPr id="204" name="Group 203">
              <a:extLst>
                <a:ext uri="{FF2B5EF4-FFF2-40B4-BE49-F238E27FC236}">
                  <a16:creationId xmlns:a16="http://schemas.microsoft.com/office/drawing/2014/main" id="{5D35863C-B001-E422-1757-21CFA2B2DE41}"/>
                </a:ext>
              </a:extLst>
            </p:cNvPr>
            <p:cNvGrpSpPr/>
            <p:nvPr/>
          </p:nvGrpSpPr>
          <p:grpSpPr>
            <a:xfrm>
              <a:off x="5361035" y="1971887"/>
              <a:ext cx="196428" cy="196426"/>
              <a:chOff x="5954568" y="5888558"/>
              <a:chExt cx="282861" cy="282858"/>
            </a:xfrm>
          </p:grpSpPr>
          <p:sp>
            <p:nvSpPr>
              <p:cNvPr id="205" name="Oval 204">
                <a:extLst>
                  <a:ext uri="{FF2B5EF4-FFF2-40B4-BE49-F238E27FC236}">
                    <a16:creationId xmlns:a16="http://schemas.microsoft.com/office/drawing/2014/main" id="{9793E8AB-7572-058B-4779-C089A0828F23}"/>
                  </a:ext>
                </a:extLst>
              </p:cNvPr>
              <p:cNvSpPr>
                <a:spLocks/>
              </p:cNvSpPr>
              <p:nvPr/>
            </p:nvSpPr>
            <p:spPr>
              <a:xfrm>
                <a:off x="5954568" y="5888558"/>
                <a:ext cx="282861" cy="282858"/>
              </a:xfrm>
              <a:prstGeom prst="ellipse">
                <a:avLst/>
              </a:prstGeom>
              <a:gradFill flip="none" rotWithShape="1">
                <a:gsLst>
                  <a:gs pos="15000">
                    <a:srgbClr val="0078D4"/>
                  </a:gs>
                  <a:gs pos="100000">
                    <a:srgbClr val="C73ECC"/>
                  </a:gs>
                </a:gsLst>
                <a:lin ang="2700000" scaled="1"/>
                <a:tileRect/>
              </a:gradFill>
              <a:ln w="10795"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FBFBFB"/>
                  </a:solidFill>
                  <a:effectLst/>
                  <a:uLnTx/>
                  <a:uFillTx/>
                  <a:latin typeface="Segoe Sans Display Semibold" pitchFamily="2" charset="0"/>
                  <a:ea typeface="+mn-ea"/>
                  <a:cs typeface="Segoe Sans Display Semibold" pitchFamily="2" charset="0"/>
                </a:endParaRPr>
              </a:p>
            </p:txBody>
          </p:sp>
          <p:sp>
            <p:nvSpPr>
              <p:cNvPr id="206" name="Graphic 4">
                <a:extLst>
                  <a:ext uri="{FF2B5EF4-FFF2-40B4-BE49-F238E27FC236}">
                    <a16:creationId xmlns:a16="http://schemas.microsoft.com/office/drawing/2014/main" id="{2EE0663B-58EF-7CEF-5E40-A852A14F2322}"/>
                  </a:ext>
                </a:extLst>
              </p:cNvPr>
              <p:cNvSpPr/>
              <p:nvPr/>
            </p:nvSpPr>
            <p:spPr>
              <a:xfrm>
                <a:off x="6045587" y="5944271"/>
                <a:ext cx="100822" cy="171432"/>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78D4">
                      <a:lumMod val="75000"/>
                    </a:srgbClr>
                  </a:solidFill>
                  <a:effectLst/>
                  <a:uLnTx/>
                  <a:uFillTx/>
                  <a:latin typeface="Segoe Sans Text Light" pitchFamily="2" charset="0"/>
                  <a:ea typeface="+mn-ea"/>
                  <a:cs typeface="+mn-cs"/>
                </a:endParaRPr>
              </a:p>
            </p:txBody>
          </p:sp>
        </p:grpSp>
      </p:grpSp>
      <p:cxnSp>
        <p:nvCxnSpPr>
          <p:cNvPr id="207" name="Straight Arrow Connector 206">
            <a:extLst>
              <a:ext uri="{FF2B5EF4-FFF2-40B4-BE49-F238E27FC236}">
                <a16:creationId xmlns:a16="http://schemas.microsoft.com/office/drawing/2014/main" id="{E3D5A329-26BA-5463-7068-4634703A4005}"/>
              </a:ext>
            </a:extLst>
          </p:cNvPr>
          <p:cNvCxnSpPr>
            <a:cxnSpLocks/>
          </p:cNvCxnSpPr>
          <p:nvPr/>
        </p:nvCxnSpPr>
        <p:spPr>
          <a:xfrm>
            <a:off x="571500" y="2848291"/>
            <a:ext cx="11049000" cy="0"/>
          </a:xfrm>
          <a:prstGeom prst="straightConnector1">
            <a:avLst/>
          </a:prstGeom>
          <a:ln w="9525" cap="rnd">
            <a:solidFill>
              <a:schemeClr val="bg1">
                <a:lumMod val="50000"/>
              </a:schemeClr>
            </a:solidFill>
            <a:prstDash val="dash"/>
            <a:tailEnd type="arrow" w="lg" len="med"/>
          </a:ln>
        </p:spPr>
        <p:style>
          <a:lnRef idx="2">
            <a:schemeClr val="accent1"/>
          </a:lnRef>
          <a:fillRef idx="0">
            <a:schemeClr val="accent1"/>
          </a:fillRef>
          <a:effectRef idx="1">
            <a:schemeClr val="accent1"/>
          </a:effectRef>
          <a:fontRef idx="minor">
            <a:schemeClr val="tx1"/>
          </a:fontRef>
        </p:style>
      </p:cxnSp>
      <p:sp>
        <p:nvSpPr>
          <p:cNvPr id="208" name="Rectangle: Rounded Corners 207">
            <a:extLst>
              <a:ext uri="{FF2B5EF4-FFF2-40B4-BE49-F238E27FC236}">
                <a16:creationId xmlns:a16="http://schemas.microsoft.com/office/drawing/2014/main" id="{521AE8C4-92F3-30A2-323A-5467509E6F03}"/>
              </a:ext>
              <a:ext uri="{C183D7F6-B498-43B3-948B-1728B52AA6E4}">
                <adec:decorative xmlns:adec="http://schemas.microsoft.com/office/drawing/2017/decorative" val="1"/>
              </a:ext>
            </a:extLst>
          </p:cNvPr>
          <p:cNvSpPr>
            <a:spLocks/>
          </p:cNvSpPr>
          <p:nvPr/>
        </p:nvSpPr>
        <p:spPr bwMode="auto">
          <a:xfrm>
            <a:off x="571500" y="2996713"/>
            <a:ext cx="11049000" cy="3577929"/>
          </a:xfrm>
          <a:prstGeom prst="roundRect">
            <a:avLst>
              <a:gd name="adj" fmla="val 3944"/>
            </a:avLst>
          </a:prstGeom>
          <a:noFill/>
          <a:ln w="952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UI"/>
              <a:ea typeface="+mn-ea"/>
              <a:cs typeface="Segoe UI"/>
            </a:endParaRPr>
          </a:p>
        </p:txBody>
      </p:sp>
      <p:grpSp>
        <p:nvGrpSpPr>
          <p:cNvPr id="222" name="Group 221">
            <a:extLst>
              <a:ext uri="{FF2B5EF4-FFF2-40B4-BE49-F238E27FC236}">
                <a16:creationId xmlns:a16="http://schemas.microsoft.com/office/drawing/2014/main" id="{04480452-BBAB-1232-6EAF-FCCDB742FEC3}"/>
              </a:ext>
            </a:extLst>
          </p:cNvPr>
          <p:cNvGrpSpPr/>
          <p:nvPr/>
        </p:nvGrpSpPr>
        <p:grpSpPr>
          <a:xfrm>
            <a:off x="642938" y="3490856"/>
            <a:ext cx="3149533" cy="1260476"/>
            <a:chOff x="6746559" y="1439862"/>
            <a:chExt cx="3149533" cy="1260476"/>
          </a:xfrm>
        </p:grpSpPr>
        <p:sp>
          <p:nvSpPr>
            <p:cNvPr id="223" name="Rounded Rectangle 29">
              <a:extLst>
                <a:ext uri="{FF2B5EF4-FFF2-40B4-BE49-F238E27FC236}">
                  <a16:creationId xmlns:a16="http://schemas.microsoft.com/office/drawing/2014/main" id="{DB02834A-B83F-2B50-E0F4-9A2A2E7C2655}"/>
                </a:ext>
              </a:extLst>
            </p:cNvPr>
            <p:cNvSpPr/>
            <p:nvPr/>
          </p:nvSpPr>
          <p:spPr>
            <a:xfrm>
              <a:off x="6746559" y="1439862"/>
              <a:ext cx="3149533" cy="1260476"/>
            </a:xfrm>
            <a:prstGeom prst="roundRect">
              <a:avLst>
                <a:gd name="adj" fmla="val 7162"/>
              </a:avLst>
            </a:prstGeom>
            <a:solidFill>
              <a:srgbClr val="FFFFFF"/>
            </a:solidFill>
            <a:ln w="158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2000" b="1" i="0" u="none" strike="noStrike" kern="1200" cap="none" spc="0" normalizeH="0" baseline="0" noProof="0">
                <a:ln>
                  <a:noFill/>
                </a:ln>
                <a:gradFill>
                  <a:gsLst>
                    <a:gs pos="0">
                      <a:srgbClr val="0078D4"/>
                    </a:gs>
                    <a:gs pos="94000">
                      <a:srgbClr val="C73ECC"/>
                    </a:gs>
                  </a:gsLst>
                  <a:lin ang="0" scaled="1"/>
                </a:gradFill>
                <a:effectLst/>
                <a:uLnTx/>
                <a:uFillTx/>
                <a:latin typeface="Segoe Sans Display Semibold"/>
                <a:ea typeface="+mn-ea"/>
                <a:cs typeface="+mn-cs"/>
              </a:endParaRPr>
            </a:p>
          </p:txBody>
        </p:sp>
        <p:grpSp>
          <p:nvGrpSpPr>
            <p:cNvPr id="224" name="Group 223">
              <a:extLst>
                <a:ext uri="{FF2B5EF4-FFF2-40B4-BE49-F238E27FC236}">
                  <a16:creationId xmlns:a16="http://schemas.microsoft.com/office/drawing/2014/main" id="{8D782FDD-0EC2-0C07-908D-7698EF2FC39B}"/>
                </a:ext>
              </a:extLst>
            </p:cNvPr>
            <p:cNvGrpSpPr/>
            <p:nvPr/>
          </p:nvGrpSpPr>
          <p:grpSpPr>
            <a:xfrm>
              <a:off x="6874277" y="1561404"/>
              <a:ext cx="2884273" cy="961843"/>
              <a:chOff x="6874277" y="1561404"/>
              <a:chExt cx="2884273" cy="961843"/>
            </a:xfrm>
          </p:grpSpPr>
          <p:sp>
            <p:nvSpPr>
              <p:cNvPr id="225" name="TextBox 224">
                <a:extLst>
                  <a:ext uri="{FF2B5EF4-FFF2-40B4-BE49-F238E27FC236}">
                    <a16:creationId xmlns:a16="http://schemas.microsoft.com/office/drawing/2014/main" id="{C49F67E2-BD03-0BA0-5CC5-C394D1C6E2A5}"/>
                  </a:ext>
                </a:extLst>
              </p:cNvPr>
              <p:cNvSpPr txBox="1"/>
              <p:nvPr/>
            </p:nvSpPr>
            <p:spPr>
              <a:xfrm>
                <a:off x="6874277" y="1561404"/>
                <a:ext cx="2884273" cy="184666"/>
              </a:xfrm>
              <a:prstGeom prst="rect">
                <a:avLst/>
              </a:prstGeom>
              <a:noFill/>
              <a:effectLst/>
            </p:spPr>
            <p:txBody>
              <a:bodyPr wrap="square" lIns="0" tIns="0" rIns="0" bIns="0">
                <a:spAutoFit/>
              </a:bodyPr>
              <a:lstStyle>
                <a:defPPr>
                  <a:defRPr lang="en-US"/>
                </a:defPPr>
                <a:lvl1pPr algn="ctr">
                  <a:defRPr sz="1400" b="1">
                    <a:latin typeface="Segoe UI" panose="020B0502040204020203" pitchFamily="34" charset="0"/>
                    <a:cs typeface="Segoe UI" panose="020B0502040204020203" pitchFamily="34" charset="0"/>
                  </a:defRPr>
                </a:lvl1pPr>
              </a:lstStyle>
              <a:p>
                <a:pPr lvl="0" algn="l">
                  <a:defRPr/>
                </a:pPr>
                <a:r>
                  <a:rPr lang="en-US" sz="1200" b="0">
                    <a:solidFill>
                      <a:schemeClr val="accent1"/>
                    </a:solidFill>
                    <a:latin typeface="+mj-lt"/>
                  </a:rPr>
                  <a:t>Measure &amp; Communicate Agent Value</a:t>
                </a:r>
              </a:p>
            </p:txBody>
          </p:sp>
          <p:sp>
            <p:nvSpPr>
              <p:cNvPr id="226" name="TextBox 225">
                <a:extLst>
                  <a:ext uri="{FF2B5EF4-FFF2-40B4-BE49-F238E27FC236}">
                    <a16:creationId xmlns:a16="http://schemas.microsoft.com/office/drawing/2014/main" id="{3C083F30-5713-861C-F2D2-5A122A98FF35}"/>
                  </a:ext>
                </a:extLst>
              </p:cNvPr>
              <p:cNvSpPr txBox="1"/>
              <p:nvPr/>
            </p:nvSpPr>
            <p:spPr>
              <a:xfrm>
                <a:off x="6874277" y="1883168"/>
                <a:ext cx="1145883" cy="461665"/>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lang="en-US" sz="1000">
                    <a:solidFill>
                      <a:schemeClr val="tx1"/>
                    </a:solidFill>
                    <a:latin typeface="+mj-lt"/>
                  </a:rPr>
                  <a:t>Framework for agentic business </a:t>
                </a:r>
                <a:r>
                  <a:rPr lang="en-US" sz="1000">
                    <a:solidFill>
                      <a:schemeClr val="tx1"/>
                    </a:solidFill>
                    <a:latin typeface="+mn-lt"/>
                  </a:rPr>
                  <a:t>value measurement</a:t>
                </a:r>
              </a:p>
            </p:txBody>
          </p:sp>
          <p:sp>
            <p:nvSpPr>
              <p:cNvPr id="227" name="TextBox 226">
                <a:extLst>
                  <a:ext uri="{FF2B5EF4-FFF2-40B4-BE49-F238E27FC236}">
                    <a16:creationId xmlns:a16="http://schemas.microsoft.com/office/drawing/2014/main" id="{194E5CB8-A24D-CB01-5756-063D75A1F2FF}"/>
                  </a:ext>
                </a:extLst>
              </p:cNvPr>
              <p:cNvSpPr txBox="1"/>
              <p:nvPr/>
            </p:nvSpPr>
            <p:spPr>
              <a:xfrm>
                <a:off x="8409644" y="1883168"/>
                <a:ext cx="1323176" cy="461665"/>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Create a </a:t>
                </a:r>
                <a:r>
                  <a:rPr lang="en-US" sz="1000">
                    <a:solidFill>
                      <a:schemeClr val="tx1"/>
                    </a:solidFill>
                    <a:latin typeface="+mj-lt"/>
                  </a:rPr>
                  <a:t>draft intake process</a:t>
                </a: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 for evaluating agentic use cases</a:t>
                </a:r>
              </a:p>
            </p:txBody>
          </p:sp>
          <p:cxnSp>
            <p:nvCxnSpPr>
              <p:cNvPr id="228" name="Straight Connector 227">
                <a:extLst>
                  <a:ext uri="{FF2B5EF4-FFF2-40B4-BE49-F238E27FC236}">
                    <a16:creationId xmlns:a16="http://schemas.microsoft.com/office/drawing/2014/main" id="{9035CDD1-E9DA-947F-05BE-D75A3301FA91}"/>
                  </a:ext>
                </a:extLst>
              </p:cNvPr>
              <p:cNvCxnSpPr>
                <a:cxnSpLocks/>
              </p:cNvCxnSpPr>
              <p:nvPr/>
            </p:nvCxnSpPr>
            <p:spPr>
              <a:xfrm>
                <a:off x="8227690" y="1883167"/>
                <a:ext cx="0" cy="64008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sp>
        <p:nvSpPr>
          <p:cNvPr id="229" name="Rounded Rectangle 29">
            <a:extLst>
              <a:ext uri="{FF2B5EF4-FFF2-40B4-BE49-F238E27FC236}">
                <a16:creationId xmlns:a16="http://schemas.microsoft.com/office/drawing/2014/main" id="{143B3527-F0DF-5F5C-D05E-2F05DD4A4B9C}"/>
              </a:ext>
            </a:extLst>
          </p:cNvPr>
          <p:cNvSpPr/>
          <p:nvPr/>
        </p:nvSpPr>
        <p:spPr>
          <a:xfrm>
            <a:off x="3873152" y="3490856"/>
            <a:ext cx="1371600" cy="1260476"/>
          </a:xfrm>
          <a:prstGeom prst="roundRect">
            <a:avLst>
              <a:gd name="adj" fmla="val 7918"/>
            </a:avLst>
          </a:prstGeom>
          <a:solidFill>
            <a:schemeClr val="accent1">
              <a:lumMod val="20000"/>
              <a:lumOff val="80000"/>
              <a:alpha val="60264"/>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r>
              <a:rPr lang="en-US" sz="1100">
                <a:solidFill>
                  <a:srgbClr val="091F2C"/>
                </a:solidFill>
                <a:cs typeface="Segoe UI" panose="020B0502040204020203" pitchFamily="34" charset="0"/>
              </a:rPr>
              <a:t>Governance Lead, Adoption Lead, Community and Skilling Lead</a:t>
            </a:r>
          </a:p>
        </p:txBody>
      </p:sp>
      <p:pic>
        <p:nvPicPr>
          <p:cNvPr id="230" name="Picture 229" descr="A blue text on a black background&#10;&#10;AI-generated content may be incorrect.">
            <a:extLst>
              <a:ext uri="{FF2B5EF4-FFF2-40B4-BE49-F238E27FC236}">
                <a16:creationId xmlns:a16="http://schemas.microsoft.com/office/drawing/2014/main" id="{81E59548-F07A-0A7C-A45A-D73CD58005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22109" y="4520150"/>
            <a:ext cx="683880" cy="156136"/>
          </a:xfrm>
          <a:prstGeom prst="rect">
            <a:avLst/>
          </a:prstGeom>
          <a:ln>
            <a:noFill/>
          </a:ln>
          <a:effectLst/>
        </p:spPr>
      </p:pic>
      <p:grpSp>
        <p:nvGrpSpPr>
          <p:cNvPr id="231" name="Group 230">
            <a:extLst>
              <a:ext uri="{FF2B5EF4-FFF2-40B4-BE49-F238E27FC236}">
                <a16:creationId xmlns:a16="http://schemas.microsoft.com/office/drawing/2014/main" id="{01FF1FD6-4ED0-2E7C-751B-6CDF6E37B9BD}"/>
              </a:ext>
            </a:extLst>
          </p:cNvPr>
          <p:cNvGrpSpPr/>
          <p:nvPr/>
        </p:nvGrpSpPr>
        <p:grpSpPr>
          <a:xfrm>
            <a:off x="3714199" y="4022881"/>
            <a:ext cx="196428" cy="196426"/>
            <a:chOff x="5954568" y="5888558"/>
            <a:chExt cx="282861" cy="282858"/>
          </a:xfrm>
        </p:grpSpPr>
        <p:sp>
          <p:nvSpPr>
            <p:cNvPr id="232" name="Oval 231">
              <a:extLst>
                <a:ext uri="{FF2B5EF4-FFF2-40B4-BE49-F238E27FC236}">
                  <a16:creationId xmlns:a16="http://schemas.microsoft.com/office/drawing/2014/main" id="{7E39BF16-05E2-5E89-728E-3DA4FFCCC2FA}"/>
                </a:ext>
              </a:extLst>
            </p:cNvPr>
            <p:cNvSpPr>
              <a:spLocks/>
            </p:cNvSpPr>
            <p:nvPr/>
          </p:nvSpPr>
          <p:spPr>
            <a:xfrm>
              <a:off x="5954568" y="5888558"/>
              <a:ext cx="282861" cy="282858"/>
            </a:xfrm>
            <a:prstGeom prst="ellipse">
              <a:avLst/>
            </a:prstGeom>
            <a:gradFill flip="none" rotWithShape="1">
              <a:gsLst>
                <a:gs pos="15000">
                  <a:srgbClr val="0078D4"/>
                </a:gs>
                <a:gs pos="100000">
                  <a:srgbClr val="C73ECC"/>
                </a:gs>
              </a:gsLst>
              <a:lin ang="2700000" scaled="1"/>
              <a:tileRect/>
            </a:gradFill>
            <a:ln w="10795"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FBFBFB"/>
                </a:solidFill>
                <a:effectLst/>
                <a:uLnTx/>
                <a:uFillTx/>
                <a:latin typeface="Segoe Sans Display Semibold" pitchFamily="2" charset="0"/>
                <a:ea typeface="+mn-ea"/>
                <a:cs typeface="Segoe Sans Display Semibold" pitchFamily="2" charset="0"/>
              </a:endParaRPr>
            </a:p>
          </p:txBody>
        </p:sp>
        <p:sp>
          <p:nvSpPr>
            <p:cNvPr id="233" name="Graphic 4">
              <a:extLst>
                <a:ext uri="{FF2B5EF4-FFF2-40B4-BE49-F238E27FC236}">
                  <a16:creationId xmlns:a16="http://schemas.microsoft.com/office/drawing/2014/main" id="{93D29410-57C2-D4F3-5C5C-D85F14DD64F1}"/>
                </a:ext>
              </a:extLst>
            </p:cNvPr>
            <p:cNvSpPr/>
            <p:nvPr/>
          </p:nvSpPr>
          <p:spPr>
            <a:xfrm>
              <a:off x="6045587" y="5944271"/>
              <a:ext cx="100822" cy="171432"/>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78D4">
                    <a:lumMod val="75000"/>
                  </a:srgbClr>
                </a:solidFill>
                <a:effectLst/>
                <a:uLnTx/>
                <a:uFillTx/>
                <a:latin typeface="Segoe Sans Text Light" pitchFamily="2" charset="0"/>
                <a:ea typeface="+mn-ea"/>
                <a:cs typeface="+mn-cs"/>
              </a:endParaRPr>
            </a:p>
          </p:txBody>
        </p:sp>
      </p:grpSp>
      <p:grpSp>
        <p:nvGrpSpPr>
          <p:cNvPr id="237" name="Group 236">
            <a:extLst>
              <a:ext uri="{FF2B5EF4-FFF2-40B4-BE49-F238E27FC236}">
                <a16:creationId xmlns:a16="http://schemas.microsoft.com/office/drawing/2014/main" id="{6F2D9E90-5958-0E3D-0845-35A8340137C2}"/>
              </a:ext>
            </a:extLst>
          </p:cNvPr>
          <p:cNvGrpSpPr/>
          <p:nvPr/>
        </p:nvGrpSpPr>
        <p:grpSpPr>
          <a:xfrm>
            <a:off x="5316189" y="3490856"/>
            <a:ext cx="6223630" cy="1260476"/>
            <a:chOff x="642938" y="1439862"/>
            <a:chExt cx="6223630" cy="1260476"/>
          </a:xfrm>
        </p:grpSpPr>
        <p:sp>
          <p:nvSpPr>
            <p:cNvPr id="238" name="Rounded Rectangle 29">
              <a:extLst>
                <a:ext uri="{FF2B5EF4-FFF2-40B4-BE49-F238E27FC236}">
                  <a16:creationId xmlns:a16="http://schemas.microsoft.com/office/drawing/2014/main" id="{D4CA8079-8059-8DDF-8E87-DE450450C77B}"/>
                </a:ext>
              </a:extLst>
            </p:cNvPr>
            <p:cNvSpPr/>
            <p:nvPr/>
          </p:nvSpPr>
          <p:spPr>
            <a:xfrm>
              <a:off x="642938" y="1439862"/>
              <a:ext cx="4780593" cy="1260476"/>
            </a:xfrm>
            <a:prstGeom prst="roundRect">
              <a:avLst>
                <a:gd name="adj" fmla="val 10185"/>
              </a:avLst>
            </a:prstGeom>
            <a:solidFill>
              <a:srgbClr val="FFFFFF"/>
            </a:solidFill>
            <a:ln w="158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2000" b="1" i="0" u="none" strike="noStrike" kern="1200" cap="none" spc="0" normalizeH="0" baseline="0" noProof="0">
                <a:ln>
                  <a:noFill/>
                </a:ln>
                <a:gradFill>
                  <a:gsLst>
                    <a:gs pos="0">
                      <a:srgbClr val="0078D4"/>
                    </a:gs>
                    <a:gs pos="94000">
                      <a:srgbClr val="C73ECC"/>
                    </a:gs>
                  </a:gsLst>
                  <a:lin ang="0" scaled="1"/>
                </a:gradFill>
                <a:effectLst/>
                <a:uLnTx/>
                <a:uFillTx/>
                <a:latin typeface="Segoe Sans Display Semibold"/>
                <a:ea typeface="+mn-ea"/>
                <a:cs typeface="+mn-cs"/>
              </a:endParaRPr>
            </a:p>
          </p:txBody>
        </p:sp>
        <p:sp>
          <p:nvSpPr>
            <p:cNvPr id="239" name="TextBox 238">
              <a:extLst>
                <a:ext uri="{FF2B5EF4-FFF2-40B4-BE49-F238E27FC236}">
                  <a16:creationId xmlns:a16="http://schemas.microsoft.com/office/drawing/2014/main" id="{4D216816-106D-19B3-613B-3E5CD0FC95BA}"/>
                </a:ext>
              </a:extLst>
            </p:cNvPr>
            <p:cNvSpPr txBox="1"/>
            <p:nvPr/>
          </p:nvSpPr>
          <p:spPr>
            <a:xfrm>
              <a:off x="770657" y="1561404"/>
              <a:ext cx="4499576" cy="184666"/>
            </a:xfrm>
            <a:prstGeom prst="rect">
              <a:avLst/>
            </a:prstGeom>
            <a:noFill/>
            <a:effectLst/>
          </p:spPr>
          <p:txBody>
            <a:bodyPr wrap="square" lIns="0" tIns="0" rIns="0" bIns="0">
              <a:spAutoFit/>
            </a:bodyPr>
            <a:lstStyle>
              <a:defPPr>
                <a:defRPr lang="en-US"/>
              </a:defPPr>
              <a:lvl1pPr algn="ctr">
                <a:defRPr sz="1400" b="1">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sng" strike="noStrike" kern="1200" cap="none" spc="0" normalizeH="0" baseline="0" noProof="0">
                  <a:ln>
                    <a:noFill/>
                  </a:ln>
                  <a:solidFill>
                    <a:schemeClr val="accent1"/>
                  </a:solidFill>
                  <a:effectLst/>
                  <a:uLnTx/>
                  <a:uFillTx/>
                  <a:latin typeface="+mj-lt"/>
                  <a:ea typeface="+mn-ea"/>
                  <a:cs typeface="Segoe UI" panose="020B0502040204020203" pitchFamily="34" charset="0"/>
                </a:rPr>
                <a:t>Govern</a:t>
              </a:r>
              <a:r>
                <a:rPr kumimoji="0" lang="en-US" sz="1200" b="0" i="0" u="none" strike="noStrike" kern="1200" cap="none" spc="0" normalizeH="0" baseline="0" noProof="0">
                  <a:ln>
                    <a:noFill/>
                  </a:ln>
                  <a:solidFill>
                    <a:schemeClr val="accent1"/>
                  </a:solidFill>
                  <a:effectLst/>
                  <a:uLnTx/>
                  <a:uFillTx/>
                  <a:latin typeface="+mj-lt"/>
                  <a:ea typeface="+mn-ea"/>
                  <a:cs typeface="Segoe UI" panose="020B0502040204020203" pitchFamily="34" charset="0"/>
                </a:rPr>
                <a:t> &amp; </a:t>
              </a:r>
              <a:r>
                <a:rPr kumimoji="0" lang="en-US" sz="1200" b="0" i="0" u="sng" strike="noStrike" kern="1200" cap="none" spc="0" normalizeH="0" baseline="0" noProof="0">
                  <a:ln>
                    <a:noFill/>
                  </a:ln>
                  <a:solidFill>
                    <a:schemeClr val="accent1"/>
                  </a:solidFill>
                  <a:effectLst/>
                  <a:uLnTx/>
                  <a:uFillTx/>
                  <a:latin typeface="+mj-lt"/>
                  <a:ea typeface="+mn-ea"/>
                  <a:cs typeface="Segoe UI" panose="020B0502040204020203" pitchFamily="34" charset="0"/>
                </a:rPr>
                <a:t>Secure</a:t>
              </a:r>
              <a:r>
                <a:rPr kumimoji="0" lang="en-US" sz="1200" b="0" i="0" u="none" strike="noStrike" kern="1200" cap="none" spc="0" normalizeH="0" baseline="0" noProof="0">
                  <a:ln>
                    <a:noFill/>
                  </a:ln>
                  <a:solidFill>
                    <a:schemeClr val="accent1"/>
                  </a:solidFill>
                  <a:effectLst/>
                  <a:uLnTx/>
                  <a:uFillTx/>
                  <a:latin typeface="+mj-lt"/>
                  <a:ea typeface="+mn-ea"/>
                  <a:cs typeface="Segoe UI" panose="020B0502040204020203" pitchFamily="34" charset="0"/>
                </a:rPr>
                <a:t> AI Agents</a:t>
              </a:r>
            </a:p>
          </p:txBody>
        </p:sp>
        <p:sp>
          <p:nvSpPr>
            <p:cNvPr id="240" name="TextBox 239">
              <a:extLst>
                <a:ext uri="{FF2B5EF4-FFF2-40B4-BE49-F238E27FC236}">
                  <a16:creationId xmlns:a16="http://schemas.microsoft.com/office/drawing/2014/main" id="{ABBC258C-A547-37E2-1B61-2FE8F098EB12}"/>
                </a:ext>
              </a:extLst>
            </p:cNvPr>
            <p:cNvSpPr txBox="1"/>
            <p:nvPr/>
          </p:nvSpPr>
          <p:spPr>
            <a:xfrm>
              <a:off x="796235" y="1883168"/>
              <a:ext cx="1352550" cy="461665"/>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Establish a </a:t>
              </a:r>
              <a:r>
                <a:rPr lang="en-US" sz="1000">
                  <a:solidFill>
                    <a:schemeClr val="tx1"/>
                  </a:solidFill>
                  <a:latin typeface="+mj-lt"/>
                </a:rPr>
                <a:t>governance framework</a:t>
              </a: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 aligned with </a:t>
              </a:r>
              <a:r>
                <a:rPr lang="en-US" sz="1000">
                  <a:solidFill>
                    <a:schemeClr val="tx1"/>
                  </a:solidFill>
                  <a:latin typeface="+mj-lt"/>
                </a:rPr>
                <a:t>organization goals</a:t>
              </a:r>
            </a:p>
          </p:txBody>
        </p:sp>
        <p:sp>
          <p:nvSpPr>
            <p:cNvPr id="241" name="TextBox 240">
              <a:extLst>
                <a:ext uri="{FF2B5EF4-FFF2-40B4-BE49-F238E27FC236}">
                  <a16:creationId xmlns:a16="http://schemas.microsoft.com/office/drawing/2014/main" id="{ED4AC121-064F-5561-8A2B-50A685C64134}"/>
                </a:ext>
              </a:extLst>
            </p:cNvPr>
            <p:cNvSpPr txBox="1"/>
            <p:nvPr/>
          </p:nvSpPr>
          <p:spPr>
            <a:xfrm>
              <a:off x="2377461" y="1883168"/>
              <a:ext cx="1337125" cy="615553"/>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Define </a:t>
              </a:r>
              <a:r>
                <a:rPr lang="en-US" sz="1000">
                  <a:solidFill>
                    <a:schemeClr val="tx1"/>
                  </a:solidFill>
                  <a:latin typeface="+mj-lt"/>
                </a:rPr>
                <a:t>actionable plans </a:t>
              </a: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for access control, </a:t>
              </a:r>
              <a:r>
                <a:rPr lang="en-US" sz="1000">
                  <a:solidFill>
                    <a:schemeClr val="tx1"/>
                  </a:solidFill>
                  <a:latin typeface="+mj-lt"/>
                </a:rPr>
                <a:t>data protection </a:t>
              </a: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and compliance</a:t>
              </a:r>
            </a:p>
          </p:txBody>
        </p:sp>
        <p:sp>
          <p:nvSpPr>
            <p:cNvPr id="242" name="TextBox 241">
              <a:extLst>
                <a:ext uri="{FF2B5EF4-FFF2-40B4-BE49-F238E27FC236}">
                  <a16:creationId xmlns:a16="http://schemas.microsoft.com/office/drawing/2014/main" id="{51B9B71D-9B4F-4CF6-1B73-3E236175145D}"/>
                </a:ext>
              </a:extLst>
            </p:cNvPr>
            <p:cNvSpPr txBox="1"/>
            <p:nvPr/>
          </p:nvSpPr>
          <p:spPr>
            <a:xfrm>
              <a:off x="3943261" y="1883168"/>
              <a:ext cx="1352550" cy="461665"/>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lang="en-US" sz="1000">
                  <a:solidFill>
                    <a:schemeClr val="tx1"/>
                  </a:solidFill>
                  <a:latin typeface="+mn-lt"/>
                </a:rPr>
                <a:t>Understand and </a:t>
              </a:r>
              <a:r>
                <a:rPr lang="en-US" sz="1000">
                  <a:solidFill>
                    <a:schemeClr val="tx1"/>
                  </a:solidFill>
                  <a:latin typeface="+mj-lt"/>
                </a:rPr>
                <a:t>mitigate</a:t>
              </a:r>
              <a:r>
                <a:rPr lang="en-US" sz="1000">
                  <a:solidFill>
                    <a:schemeClr val="tx1"/>
                  </a:solidFill>
                  <a:latin typeface="+mn-lt"/>
                </a:rPr>
                <a:t> common </a:t>
              </a:r>
              <a:r>
                <a:rPr lang="en-US" sz="1000">
                  <a:solidFill>
                    <a:schemeClr val="tx1"/>
                  </a:solidFill>
                  <a:latin typeface="+mj-lt"/>
                </a:rPr>
                <a:t>security risks</a:t>
              </a:r>
            </a:p>
          </p:txBody>
        </p:sp>
        <p:cxnSp>
          <p:nvCxnSpPr>
            <p:cNvPr id="243" name="Straight Connector 242">
              <a:extLst>
                <a:ext uri="{FF2B5EF4-FFF2-40B4-BE49-F238E27FC236}">
                  <a16:creationId xmlns:a16="http://schemas.microsoft.com/office/drawing/2014/main" id="{F2792048-C7E8-5D76-54C6-327CE751A97D}"/>
                </a:ext>
              </a:extLst>
            </p:cNvPr>
            <p:cNvCxnSpPr>
              <a:cxnSpLocks/>
            </p:cNvCxnSpPr>
            <p:nvPr/>
          </p:nvCxnSpPr>
          <p:spPr>
            <a:xfrm>
              <a:off x="2263123" y="1883167"/>
              <a:ext cx="0" cy="64008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877ABDB1-E7C2-3150-DC8D-399C8683DCEC}"/>
                </a:ext>
              </a:extLst>
            </p:cNvPr>
            <p:cNvCxnSpPr>
              <a:cxnSpLocks/>
            </p:cNvCxnSpPr>
            <p:nvPr/>
          </p:nvCxnSpPr>
          <p:spPr>
            <a:xfrm>
              <a:off x="3828924" y="1883167"/>
              <a:ext cx="0" cy="64008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45" name="Picture 244" descr="A blue text on a black background&#10;&#10;AI-generated content may be incorrect.">
              <a:extLst>
                <a:ext uri="{FF2B5EF4-FFF2-40B4-BE49-F238E27FC236}">
                  <a16:creationId xmlns:a16="http://schemas.microsoft.com/office/drawing/2014/main" id="{883DDC37-9E4A-986D-CE8B-35E350BA7E6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38117" y="2444517"/>
              <a:ext cx="683880" cy="156136"/>
            </a:xfrm>
            <a:prstGeom prst="rect">
              <a:avLst/>
            </a:prstGeom>
            <a:ln>
              <a:noFill/>
            </a:ln>
            <a:effectLst/>
          </p:spPr>
        </p:pic>
        <p:sp>
          <p:nvSpPr>
            <p:cNvPr id="246" name="Rounded Rectangle 29">
              <a:extLst>
                <a:ext uri="{FF2B5EF4-FFF2-40B4-BE49-F238E27FC236}">
                  <a16:creationId xmlns:a16="http://schemas.microsoft.com/office/drawing/2014/main" id="{1FD0850E-64C7-C196-D7AF-DD37B3340809}"/>
                </a:ext>
              </a:extLst>
            </p:cNvPr>
            <p:cNvSpPr/>
            <p:nvPr/>
          </p:nvSpPr>
          <p:spPr>
            <a:xfrm>
              <a:off x="5494968" y="1439862"/>
              <a:ext cx="1371600" cy="1260476"/>
            </a:xfrm>
            <a:prstGeom prst="roundRect">
              <a:avLst>
                <a:gd name="adj" fmla="val 7918"/>
              </a:avLst>
            </a:prstGeom>
            <a:solidFill>
              <a:schemeClr val="accent1">
                <a:lumMod val="20000"/>
                <a:lumOff val="80000"/>
                <a:alpha val="60264"/>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r>
                <a:rPr lang="pt-BR" sz="1100">
                  <a:solidFill>
                    <a:srgbClr val="091F2C"/>
                  </a:solidFill>
                  <a:cs typeface="Segoe UI" panose="020B0502040204020203" pitchFamily="34" charset="0"/>
                </a:rPr>
                <a:t>Admins,</a:t>
              </a:r>
            </a:p>
            <a:p>
              <a:pPr lvl="0">
                <a:defRPr/>
              </a:pPr>
              <a:r>
                <a:rPr lang="pt-BR" sz="1100">
                  <a:solidFill>
                    <a:srgbClr val="091F2C"/>
                  </a:solidFill>
                  <a:cs typeface="Segoe UI" panose="020B0502040204020203" pitchFamily="34" charset="0"/>
                </a:rPr>
                <a:t>CISOs, </a:t>
              </a:r>
            </a:p>
            <a:p>
              <a:pPr lvl="0">
                <a:defRPr/>
              </a:pPr>
              <a:r>
                <a:rPr lang="pt-BR" sz="1100">
                  <a:solidFill>
                    <a:srgbClr val="091F2C"/>
                  </a:solidFill>
                  <a:cs typeface="Segoe UI" panose="020B0502040204020203" pitchFamily="34" charset="0"/>
                </a:rPr>
                <a:t>Security, Data Governance</a:t>
              </a:r>
            </a:p>
          </p:txBody>
        </p:sp>
        <p:grpSp>
          <p:nvGrpSpPr>
            <p:cNvPr id="247" name="Group 246">
              <a:extLst>
                <a:ext uri="{FF2B5EF4-FFF2-40B4-BE49-F238E27FC236}">
                  <a16:creationId xmlns:a16="http://schemas.microsoft.com/office/drawing/2014/main" id="{3E8E28C0-0B24-624E-E2DC-53DF825D6658}"/>
                </a:ext>
              </a:extLst>
            </p:cNvPr>
            <p:cNvGrpSpPr/>
            <p:nvPr/>
          </p:nvGrpSpPr>
          <p:grpSpPr>
            <a:xfrm>
              <a:off x="5361035" y="1971887"/>
              <a:ext cx="196428" cy="196426"/>
              <a:chOff x="5954568" y="5888558"/>
              <a:chExt cx="282861" cy="282858"/>
            </a:xfrm>
          </p:grpSpPr>
          <p:sp>
            <p:nvSpPr>
              <p:cNvPr id="248" name="Oval 247">
                <a:extLst>
                  <a:ext uri="{FF2B5EF4-FFF2-40B4-BE49-F238E27FC236}">
                    <a16:creationId xmlns:a16="http://schemas.microsoft.com/office/drawing/2014/main" id="{57E2C3AF-4485-22AA-42E1-44A49EC288BB}"/>
                  </a:ext>
                </a:extLst>
              </p:cNvPr>
              <p:cNvSpPr>
                <a:spLocks/>
              </p:cNvSpPr>
              <p:nvPr/>
            </p:nvSpPr>
            <p:spPr>
              <a:xfrm>
                <a:off x="5954568" y="5888558"/>
                <a:ext cx="282861" cy="282858"/>
              </a:xfrm>
              <a:prstGeom prst="ellipse">
                <a:avLst/>
              </a:prstGeom>
              <a:gradFill flip="none" rotWithShape="1">
                <a:gsLst>
                  <a:gs pos="15000">
                    <a:srgbClr val="0078D4"/>
                  </a:gs>
                  <a:gs pos="100000">
                    <a:srgbClr val="C73ECC"/>
                  </a:gs>
                </a:gsLst>
                <a:lin ang="2700000" scaled="1"/>
                <a:tileRect/>
              </a:gradFill>
              <a:ln w="10795"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FBFBFB"/>
                  </a:solidFill>
                  <a:effectLst/>
                  <a:uLnTx/>
                  <a:uFillTx/>
                  <a:latin typeface="Segoe Sans Display Semibold" pitchFamily="2" charset="0"/>
                  <a:ea typeface="+mn-ea"/>
                  <a:cs typeface="Segoe Sans Display Semibold" pitchFamily="2" charset="0"/>
                </a:endParaRPr>
              </a:p>
            </p:txBody>
          </p:sp>
          <p:sp>
            <p:nvSpPr>
              <p:cNvPr id="249" name="Graphic 4">
                <a:extLst>
                  <a:ext uri="{FF2B5EF4-FFF2-40B4-BE49-F238E27FC236}">
                    <a16:creationId xmlns:a16="http://schemas.microsoft.com/office/drawing/2014/main" id="{16FB2955-056A-3B8F-CC54-C4B412ACE97E}"/>
                  </a:ext>
                </a:extLst>
              </p:cNvPr>
              <p:cNvSpPr/>
              <p:nvPr/>
            </p:nvSpPr>
            <p:spPr>
              <a:xfrm>
                <a:off x="6045587" y="5944271"/>
                <a:ext cx="100822" cy="171432"/>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78D4">
                      <a:lumMod val="75000"/>
                    </a:srgbClr>
                  </a:solidFill>
                  <a:effectLst/>
                  <a:uLnTx/>
                  <a:uFillTx/>
                  <a:latin typeface="Segoe Sans Text Light" pitchFamily="2" charset="0"/>
                  <a:ea typeface="+mn-ea"/>
                  <a:cs typeface="+mn-cs"/>
                </a:endParaRPr>
              </a:p>
            </p:txBody>
          </p:sp>
        </p:grpSp>
      </p:grpSp>
      <p:sp>
        <p:nvSpPr>
          <p:cNvPr id="251" name="Rounded Rectangle 29">
            <a:extLst>
              <a:ext uri="{FF2B5EF4-FFF2-40B4-BE49-F238E27FC236}">
                <a16:creationId xmlns:a16="http://schemas.microsoft.com/office/drawing/2014/main" id="{C2F7CC4B-EE91-2D3D-8C54-3261C8B2A3F2}"/>
              </a:ext>
            </a:extLst>
          </p:cNvPr>
          <p:cNvSpPr/>
          <p:nvPr/>
        </p:nvSpPr>
        <p:spPr>
          <a:xfrm>
            <a:off x="642938" y="4819793"/>
            <a:ext cx="3149533" cy="1260476"/>
          </a:xfrm>
          <a:prstGeom prst="roundRect">
            <a:avLst>
              <a:gd name="adj" fmla="val 7162"/>
            </a:avLst>
          </a:prstGeom>
          <a:solidFill>
            <a:srgbClr val="FFFFFF"/>
          </a:solidFill>
          <a:ln w="158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2000" b="1" i="0" u="none" strike="noStrike" kern="1200" cap="none" spc="0" normalizeH="0" baseline="0" noProof="0">
              <a:ln>
                <a:noFill/>
              </a:ln>
              <a:gradFill>
                <a:gsLst>
                  <a:gs pos="0">
                    <a:srgbClr val="0078D4"/>
                  </a:gs>
                  <a:gs pos="94000">
                    <a:srgbClr val="C73ECC"/>
                  </a:gs>
                </a:gsLst>
                <a:lin ang="0" scaled="1"/>
              </a:gradFill>
              <a:effectLst/>
              <a:uLnTx/>
              <a:uFillTx/>
              <a:latin typeface="Segoe Sans Display Semibold"/>
              <a:ea typeface="+mn-ea"/>
              <a:cs typeface="+mn-cs"/>
            </a:endParaRPr>
          </a:p>
        </p:txBody>
      </p:sp>
      <p:grpSp>
        <p:nvGrpSpPr>
          <p:cNvPr id="252" name="Group 251">
            <a:extLst>
              <a:ext uri="{FF2B5EF4-FFF2-40B4-BE49-F238E27FC236}">
                <a16:creationId xmlns:a16="http://schemas.microsoft.com/office/drawing/2014/main" id="{59B4B3D9-EA87-2940-5606-946CF8BA63A9}"/>
              </a:ext>
            </a:extLst>
          </p:cNvPr>
          <p:cNvGrpSpPr/>
          <p:nvPr/>
        </p:nvGrpSpPr>
        <p:grpSpPr>
          <a:xfrm>
            <a:off x="770656" y="4941335"/>
            <a:ext cx="2858542" cy="907752"/>
            <a:chOff x="6874277" y="1561404"/>
            <a:chExt cx="2858542" cy="907752"/>
          </a:xfrm>
        </p:grpSpPr>
        <p:sp>
          <p:nvSpPr>
            <p:cNvPr id="253" name="TextBox 252">
              <a:extLst>
                <a:ext uri="{FF2B5EF4-FFF2-40B4-BE49-F238E27FC236}">
                  <a16:creationId xmlns:a16="http://schemas.microsoft.com/office/drawing/2014/main" id="{415BF4A7-1CC3-A08B-4F0A-3D3ED6E706E8}"/>
                </a:ext>
              </a:extLst>
            </p:cNvPr>
            <p:cNvSpPr txBox="1"/>
            <p:nvPr/>
          </p:nvSpPr>
          <p:spPr>
            <a:xfrm>
              <a:off x="6874277" y="1561404"/>
              <a:ext cx="2618971" cy="184666"/>
            </a:xfrm>
            <a:prstGeom prst="rect">
              <a:avLst/>
            </a:prstGeom>
            <a:noFill/>
            <a:effectLst/>
          </p:spPr>
          <p:txBody>
            <a:bodyPr wrap="square" lIns="0" tIns="0" rIns="0" bIns="0">
              <a:spAutoFit/>
            </a:bodyPr>
            <a:lstStyle>
              <a:defPPr>
                <a:defRPr lang="en-US"/>
              </a:defPPr>
              <a:lvl1pPr algn="ctr">
                <a:defRPr sz="1400" b="1">
                  <a:latin typeface="Segoe UI" panose="020B0502040204020203" pitchFamily="34" charset="0"/>
                  <a:cs typeface="Segoe UI" panose="020B0502040204020203" pitchFamily="34" charset="0"/>
                </a:defRPr>
              </a:lvl1pPr>
            </a:lstStyle>
            <a:p>
              <a:pPr lvl="0" algn="l">
                <a:defRPr/>
              </a:pPr>
              <a:r>
                <a:rPr lang="en-US" sz="1200" b="0">
                  <a:solidFill>
                    <a:schemeClr val="accent1"/>
                  </a:solidFill>
                  <a:latin typeface="+mj-lt"/>
                </a:rPr>
                <a:t>Build an AI </a:t>
              </a:r>
              <a:r>
                <a:rPr lang="en-US" sz="1200" b="0" u="sng">
                  <a:solidFill>
                    <a:schemeClr val="accent1"/>
                  </a:solidFill>
                  <a:latin typeface="+mj-lt"/>
                </a:rPr>
                <a:t>Adoption</a:t>
              </a:r>
              <a:r>
                <a:rPr lang="en-US" sz="1200" b="0">
                  <a:solidFill>
                    <a:schemeClr val="accent1"/>
                  </a:solidFill>
                  <a:latin typeface="+mj-lt"/>
                </a:rPr>
                <a:t> Plan For Scale</a:t>
              </a:r>
            </a:p>
          </p:txBody>
        </p:sp>
        <p:sp>
          <p:nvSpPr>
            <p:cNvPr id="254" name="TextBox 253">
              <a:extLst>
                <a:ext uri="{FF2B5EF4-FFF2-40B4-BE49-F238E27FC236}">
                  <a16:creationId xmlns:a16="http://schemas.microsoft.com/office/drawing/2014/main" id="{1C74BC07-41FF-D51A-0B2C-45F762AAFD52}"/>
                </a:ext>
              </a:extLst>
            </p:cNvPr>
            <p:cNvSpPr txBox="1"/>
            <p:nvPr/>
          </p:nvSpPr>
          <p:spPr>
            <a:xfrm>
              <a:off x="6874277" y="1814531"/>
              <a:ext cx="1426096" cy="615553"/>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lang="en-US" sz="1000">
                  <a:solidFill>
                    <a:schemeClr val="tx1"/>
                  </a:solidFill>
                  <a:latin typeface="+mn-lt"/>
                </a:rPr>
                <a:t>Create an </a:t>
              </a:r>
              <a:r>
                <a:rPr lang="en-US" sz="1000">
                  <a:solidFill>
                    <a:schemeClr val="tx1"/>
                  </a:solidFill>
                  <a:latin typeface="+mj-lt"/>
                </a:rPr>
                <a:t>adoption action plan </a:t>
              </a:r>
              <a:r>
                <a:rPr lang="en-US" sz="1000">
                  <a:solidFill>
                    <a:schemeClr val="tx1"/>
                  </a:solidFill>
                  <a:latin typeface="+mn-lt"/>
                </a:rPr>
                <a:t>to launch AI adoption initiatives aligned to business goals</a:t>
              </a:r>
            </a:p>
          </p:txBody>
        </p:sp>
        <p:sp>
          <p:nvSpPr>
            <p:cNvPr id="255" name="TextBox 254">
              <a:extLst>
                <a:ext uri="{FF2B5EF4-FFF2-40B4-BE49-F238E27FC236}">
                  <a16:creationId xmlns:a16="http://schemas.microsoft.com/office/drawing/2014/main" id="{69308761-D125-9764-73D3-317A7B2CA388}"/>
                </a:ext>
              </a:extLst>
            </p:cNvPr>
            <p:cNvSpPr txBox="1"/>
            <p:nvPr/>
          </p:nvSpPr>
          <p:spPr>
            <a:xfrm>
              <a:off x="8611871" y="1814531"/>
              <a:ext cx="1120948" cy="615553"/>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Establish an </a:t>
              </a:r>
              <a:r>
                <a:rPr lang="en-US" sz="1000">
                  <a:solidFill>
                    <a:schemeClr val="tx1"/>
                  </a:solidFill>
                  <a:latin typeface="+mj-lt"/>
                </a:rPr>
                <a:t>AI Council </a:t>
              </a: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and embed </a:t>
              </a:r>
              <a:r>
                <a:rPr lang="en-US" sz="1000">
                  <a:solidFill>
                    <a:schemeClr val="tx1"/>
                  </a:solidFill>
                  <a:latin typeface="+mj-lt"/>
                </a:rPr>
                <a:t>Responsible AI principles</a:t>
              </a:r>
            </a:p>
          </p:txBody>
        </p:sp>
        <p:cxnSp>
          <p:nvCxnSpPr>
            <p:cNvPr id="256" name="Straight Connector 255">
              <a:extLst>
                <a:ext uri="{FF2B5EF4-FFF2-40B4-BE49-F238E27FC236}">
                  <a16:creationId xmlns:a16="http://schemas.microsoft.com/office/drawing/2014/main" id="{FAC27902-3D62-35F9-32CA-8AC84239B9F0}"/>
                </a:ext>
              </a:extLst>
            </p:cNvPr>
            <p:cNvCxnSpPr>
              <a:cxnSpLocks/>
            </p:cNvCxnSpPr>
            <p:nvPr/>
          </p:nvCxnSpPr>
          <p:spPr>
            <a:xfrm>
              <a:off x="8456122" y="1814531"/>
              <a:ext cx="0" cy="654625"/>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57" name="Rounded Rectangle 29">
            <a:extLst>
              <a:ext uri="{FF2B5EF4-FFF2-40B4-BE49-F238E27FC236}">
                <a16:creationId xmlns:a16="http://schemas.microsoft.com/office/drawing/2014/main" id="{3740A018-9C32-C841-3538-85AA102DC349}"/>
              </a:ext>
            </a:extLst>
          </p:cNvPr>
          <p:cNvSpPr/>
          <p:nvPr/>
        </p:nvSpPr>
        <p:spPr>
          <a:xfrm>
            <a:off x="3873152" y="4819793"/>
            <a:ext cx="1371600" cy="1260476"/>
          </a:xfrm>
          <a:prstGeom prst="roundRect">
            <a:avLst>
              <a:gd name="adj" fmla="val 7918"/>
            </a:avLst>
          </a:prstGeom>
          <a:solidFill>
            <a:schemeClr val="accent1">
              <a:lumMod val="20000"/>
              <a:lumOff val="80000"/>
              <a:alpha val="60264"/>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ctr"/>
          <a:lstStyle/>
          <a:p>
            <a:pPr lvl="0">
              <a:defRPr/>
            </a:pPr>
            <a:r>
              <a:rPr lang="en-US" sz="1100">
                <a:solidFill>
                  <a:srgbClr val="091F2C"/>
                </a:solidFill>
                <a:cs typeface="Segoe UI" panose="020B0502040204020203" pitchFamily="34" charset="0"/>
              </a:rPr>
              <a:t>Governance Lead, Adoption Lead, Community and Skilling Lead</a:t>
            </a:r>
          </a:p>
        </p:txBody>
      </p:sp>
      <p:pic>
        <p:nvPicPr>
          <p:cNvPr id="258" name="Picture 257" descr="A blue text on a black background&#10;&#10;AI-generated content may be incorrect.">
            <a:extLst>
              <a:ext uri="{FF2B5EF4-FFF2-40B4-BE49-F238E27FC236}">
                <a16:creationId xmlns:a16="http://schemas.microsoft.com/office/drawing/2014/main" id="{66A56F79-5537-CB8A-23DC-FF24B89C1A1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22109" y="5849087"/>
            <a:ext cx="683880" cy="156136"/>
          </a:xfrm>
          <a:prstGeom prst="rect">
            <a:avLst/>
          </a:prstGeom>
          <a:ln>
            <a:noFill/>
          </a:ln>
          <a:effectLst/>
        </p:spPr>
      </p:pic>
      <p:sp>
        <p:nvSpPr>
          <p:cNvPr id="260" name="Oval 259">
            <a:extLst>
              <a:ext uri="{FF2B5EF4-FFF2-40B4-BE49-F238E27FC236}">
                <a16:creationId xmlns:a16="http://schemas.microsoft.com/office/drawing/2014/main" id="{9069D33F-7343-D35F-1EF6-86FE56F107DE}"/>
              </a:ext>
            </a:extLst>
          </p:cNvPr>
          <p:cNvSpPr>
            <a:spLocks/>
          </p:cNvSpPr>
          <p:nvPr/>
        </p:nvSpPr>
        <p:spPr>
          <a:xfrm>
            <a:off x="3714199" y="5351818"/>
            <a:ext cx="196428" cy="196426"/>
          </a:xfrm>
          <a:prstGeom prst="ellipse">
            <a:avLst/>
          </a:prstGeom>
          <a:gradFill flip="none" rotWithShape="1">
            <a:gsLst>
              <a:gs pos="15000">
                <a:srgbClr val="0078D4"/>
              </a:gs>
              <a:gs pos="100000">
                <a:srgbClr val="C73ECC"/>
              </a:gs>
            </a:gsLst>
            <a:lin ang="2700000" scaled="1"/>
            <a:tileRect/>
          </a:gradFill>
          <a:ln w="10795" cap="flat" cmpd="sng" algn="ctr">
            <a:no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rgbClr val="FBFBFB"/>
              </a:solidFill>
              <a:effectLst/>
              <a:uLnTx/>
              <a:uFillTx/>
              <a:latin typeface="Segoe Sans Display Semibold" pitchFamily="2" charset="0"/>
              <a:ea typeface="+mn-ea"/>
              <a:cs typeface="Segoe Sans Display Semibold" pitchFamily="2" charset="0"/>
            </a:endParaRPr>
          </a:p>
        </p:txBody>
      </p:sp>
      <p:sp>
        <p:nvSpPr>
          <p:cNvPr id="261" name="Graphic 4">
            <a:extLst>
              <a:ext uri="{FF2B5EF4-FFF2-40B4-BE49-F238E27FC236}">
                <a16:creationId xmlns:a16="http://schemas.microsoft.com/office/drawing/2014/main" id="{8062711F-585D-79EB-9DFF-8C6A62D22980}"/>
              </a:ext>
            </a:extLst>
          </p:cNvPr>
          <p:cNvSpPr/>
          <p:nvPr/>
        </p:nvSpPr>
        <p:spPr>
          <a:xfrm>
            <a:off x="3777406" y="5390507"/>
            <a:ext cx="70014" cy="119048"/>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78D4">
                  <a:lumMod val="75000"/>
                </a:srgbClr>
              </a:solidFill>
              <a:effectLst/>
              <a:uLnTx/>
              <a:uFillTx/>
              <a:latin typeface="Segoe Sans Text Light" pitchFamily="2" charset="0"/>
              <a:ea typeface="+mn-ea"/>
              <a:cs typeface="+mn-cs"/>
            </a:endParaRPr>
          </a:p>
        </p:txBody>
      </p:sp>
      <p:sp>
        <p:nvSpPr>
          <p:cNvPr id="263" name="Rounded Rectangle 29">
            <a:extLst>
              <a:ext uri="{FF2B5EF4-FFF2-40B4-BE49-F238E27FC236}">
                <a16:creationId xmlns:a16="http://schemas.microsoft.com/office/drawing/2014/main" id="{9F1C360D-9E4A-75E0-223F-734808531261}"/>
              </a:ext>
            </a:extLst>
          </p:cNvPr>
          <p:cNvSpPr/>
          <p:nvPr/>
        </p:nvSpPr>
        <p:spPr>
          <a:xfrm>
            <a:off x="5316190" y="4819793"/>
            <a:ext cx="2920993" cy="1260476"/>
          </a:xfrm>
          <a:prstGeom prst="roundRect">
            <a:avLst>
              <a:gd name="adj" fmla="val 10185"/>
            </a:avLst>
          </a:prstGeom>
          <a:solidFill>
            <a:srgbClr val="FFFFFF"/>
          </a:solidFill>
          <a:ln w="158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2000" b="1" i="0" u="none" strike="noStrike" kern="1200" cap="none" spc="0" normalizeH="0" baseline="0" noProof="0">
              <a:ln>
                <a:noFill/>
              </a:ln>
              <a:gradFill>
                <a:gsLst>
                  <a:gs pos="0">
                    <a:srgbClr val="0078D4"/>
                  </a:gs>
                  <a:gs pos="94000">
                    <a:srgbClr val="C73ECC"/>
                  </a:gs>
                </a:gsLst>
                <a:lin ang="0" scaled="1"/>
              </a:gradFill>
              <a:effectLst/>
              <a:uLnTx/>
              <a:uFillTx/>
              <a:latin typeface="Segoe Sans Display Semibold"/>
              <a:ea typeface="+mn-ea"/>
              <a:cs typeface="+mn-cs"/>
            </a:endParaRPr>
          </a:p>
        </p:txBody>
      </p:sp>
      <p:sp>
        <p:nvSpPr>
          <p:cNvPr id="264" name="TextBox 263">
            <a:extLst>
              <a:ext uri="{FF2B5EF4-FFF2-40B4-BE49-F238E27FC236}">
                <a16:creationId xmlns:a16="http://schemas.microsoft.com/office/drawing/2014/main" id="{DDE10929-0631-B03E-2BDA-0CDC671E6F03}"/>
              </a:ext>
            </a:extLst>
          </p:cNvPr>
          <p:cNvSpPr txBox="1"/>
          <p:nvPr/>
        </p:nvSpPr>
        <p:spPr>
          <a:xfrm>
            <a:off x="5443908" y="4941335"/>
            <a:ext cx="1923925" cy="184666"/>
          </a:xfrm>
          <a:prstGeom prst="rect">
            <a:avLst/>
          </a:prstGeom>
          <a:noFill/>
          <a:effectLst/>
        </p:spPr>
        <p:txBody>
          <a:bodyPr wrap="none" lIns="0" tIns="0" rIns="0" bIns="0">
            <a:spAutoFit/>
          </a:bodyPr>
          <a:lstStyle>
            <a:defPPr>
              <a:defRPr lang="en-US"/>
            </a:defPPr>
            <a:lvl1pPr algn="ctr">
              <a:defRPr sz="1400" b="1">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accent1"/>
                </a:solidFill>
                <a:effectLst/>
                <a:uLnTx/>
                <a:uFillTx/>
                <a:latin typeface="+mj-lt"/>
                <a:ea typeface="+mn-ea"/>
                <a:cs typeface="Segoe UI" panose="020B0502040204020203" pitchFamily="34" charset="0"/>
              </a:rPr>
              <a:t>Power Up: org-wide </a:t>
            </a:r>
            <a:r>
              <a:rPr kumimoji="0" lang="en-US" sz="1200" b="0" i="0" u="sng" strike="noStrike" kern="1200" cap="none" spc="0" normalizeH="0" baseline="0" noProof="0">
                <a:ln>
                  <a:noFill/>
                </a:ln>
                <a:solidFill>
                  <a:schemeClr val="accent1"/>
                </a:solidFill>
                <a:effectLst/>
                <a:uLnTx/>
                <a:uFillTx/>
                <a:latin typeface="+mj-lt"/>
                <a:ea typeface="+mn-ea"/>
                <a:cs typeface="Segoe UI" panose="020B0502040204020203" pitchFamily="34" charset="0"/>
              </a:rPr>
              <a:t>Skilling</a:t>
            </a:r>
          </a:p>
        </p:txBody>
      </p:sp>
      <p:sp>
        <p:nvSpPr>
          <p:cNvPr id="265" name="TextBox 264">
            <a:extLst>
              <a:ext uri="{FF2B5EF4-FFF2-40B4-BE49-F238E27FC236}">
                <a16:creationId xmlns:a16="http://schemas.microsoft.com/office/drawing/2014/main" id="{081A0823-59B4-AAE9-A8F4-BCC8D0BAC439}"/>
              </a:ext>
            </a:extLst>
          </p:cNvPr>
          <p:cNvSpPr txBox="1"/>
          <p:nvPr/>
        </p:nvSpPr>
        <p:spPr>
          <a:xfrm>
            <a:off x="5469486" y="5263099"/>
            <a:ext cx="1178961" cy="615553"/>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Agent </a:t>
            </a:r>
            <a:r>
              <a:rPr lang="en-US" sz="1000">
                <a:solidFill>
                  <a:schemeClr val="tx1"/>
                </a:solidFill>
                <a:latin typeface="+mj-lt"/>
              </a:rPr>
              <a:t>Hands on skilling program</a:t>
            </a: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 and platform for every employee</a:t>
            </a:r>
          </a:p>
        </p:txBody>
      </p:sp>
      <p:sp>
        <p:nvSpPr>
          <p:cNvPr id="266" name="TextBox 265">
            <a:extLst>
              <a:ext uri="{FF2B5EF4-FFF2-40B4-BE49-F238E27FC236}">
                <a16:creationId xmlns:a16="http://schemas.microsoft.com/office/drawing/2014/main" id="{44681B40-D12D-FE1D-004B-7197921E8D70}"/>
              </a:ext>
            </a:extLst>
          </p:cNvPr>
          <p:cNvSpPr txBox="1"/>
          <p:nvPr/>
        </p:nvSpPr>
        <p:spPr>
          <a:xfrm>
            <a:off x="6946846" y="5263099"/>
            <a:ext cx="1165527" cy="615553"/>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Learners </a:t>
            </a:r>
            <a:r>
              <a:rPr lang="en-US" sz="1000">
                <a:solidFill>
                  <a:schemeClr val="tx1"/>
                </a:solidFill>
                <a:latin typeface="+mj-lt"/>
              </a:rPr>
              <a:t>supported by live experts</a:t>
            </a: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 forming an AI community</a:t>
            </a:r>
          </a:p>
        </p:txBody>
      </p:sp>
      <p:cxnSp>
        <p:nvCxnSpPr>
          <p:cNvPr id="268" name="Straight Connector 267">
            <a:extLst>
              <a:ext uri="{FF2B5EF4-FFF2-40B4-BE49-F238E27FC236}">
                <a16:creationId xmlns:a16="http://schemas.microsoft.com/office/drawing/2014/main" id="{B967594F-E73A-0157-FB5A-8CF03A8C583B}"/>
              </a:ext>
            </a:extLst>
          </p:cNvPr>
          <p:cNvCxnSpPr>
            <a:cxnSpLocks/>
          </p:cNvCxnSpPr>
          <p:nvPr/>
        </p:nvCxnSpPr>
        <p:spPr>
          <a:xfrm>
            <a:off x="6797646" y="5263098"/>
            <a:ext cx="0" cy="64008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76" name="Rounded Rectangle 29">
            <a:extLst>
              <a:ext uri="{FF2B5EF4-FFF2-40B4-BE49-F238E27FC236}">
                <a16:creationId xmlns:a16="http://schemas.microsoft.com/office/drawing/2014/main" id="{93E06334-E647-7024-0268-FE91070BF6B9}"/>
              </a:ext>
            </a:extLst>
          </p:cNvPr>
          <p:cNvSpPr/>
          <p:nvPr/>
        </p:nvSpPr>
        <p:spPr>
          <a:xfrm>
            <a:off x="8308621" y="4819793"/>
            <a:ext cx="3231198" cy="1260476"/>
          </a:xfrm>
          <a:prstGeom prst="roundRect">
            <a:avLst>
              <a:gd name="adj" fmla="val 10185"/>
            </a:avLst>
          </a:prstGeom>
          <a:solidFill>
            <a:srgbClr val="FFFFFF"/>
          </a:solidFill>
          <a:ln w="1587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endParaRPr kumimoji="0" lang="en-US" sz="2000" b="1" i="0" u="none" strike="noStrike" kern="1200" cap="none" spc="0" normalizeH="0" baseline="0" noProof="0">
              <a:ln>
                <a:noFill/>
              </a:ln>
              <a:gradFill>
                <a:gsLst>
                  <a:gs pos="0">
                    <a:srgbClr val="0078D4"/>
                  </a:gs>
                  <a:gs pos="94000">
                    <a:srgbClr val="C73ECC"/>
                  </a:gs>
                </a:gsLst>
                <a:lin ang="0" scaled="1"/>
              </a:gradFill>
              <a:effectLst/>
              <a:uLnTx/>
              <a:uFillTx/>
              <a:latin typeface="Segoe Sans Display Semibold"/>
              <a:ea typeface="+mn-ea"/>
              <a:cs typeface="+mn-cs"/>
            </a:endParaRPr>
          </a:p>
        </p:txBody>
      </p:sp>
      <p:sp>
        <p:nvSpPr>
          <p:cNvPr id="277" name="TextBox 276">
            <a:extLst>
              <a:ext uri="{FF2B5EF4-FFF2-40B4-BE49-F238E27FC236}">
                <a16:creationId xmlns:a16="http://schemas.microsoft.com/office/drawing/2014/main" id="{21A22AC4-8E96-667E-D7E7-CEC6AEAF6C3A}"/>
              </a:ext>
            </a:extLst>
          </p:cNvPr>
          <p:cNvSpPr txBox="1"/>
          <p:nvPr/>
        </p:nvSpPr>
        <p:spPr>
          <a:xfrm>
            <a:off x="8449902" y="4941335"/>
            <a:ext cx="1636025" cy="184666"/>
          </a:xfrm>
          <a:prstGeom prst="rect">
            <a:avLst/>
          </a:prstGeom>
          <a:noFill/>
          <a:effectLst/>
        </p:spPr>
        <p:txBody>
          <a:bodyPr wrap="none" lIns="0" tIns="0" rIns="0" bIns="0">
            <a:spAutoFit/>
          </a:bodyPr>
          <a:lstStyle>
            <a:defPPr>
              <a:defRPr lang="en-US"/>
            </a:defPPr>
            <a:lvl1pPr algn="ctr">
              <a:defRPr sz="1400" b="1">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accent1"/>
                </a:solidFill>
                <a:effectLst/>
                <a:uLnTx/>
                <a:uFillTx/>
                <a:latin typeface="+mj-lt"/>
                <a:ea typeface="+mn-ea"/>
                <a:cs typeface="Segoe UI" panose="020B0502040204020203" pitchFamily="34" charset="0"/>
              </a:rPr>
              <a:t>Architecture </a:t>
            </a:r>
            <a:r>
              <a:rPr kumimoji="0" lang="en-US" sz="1200" b="0" i="0" u="sng" strike="noStrike" kern="1200" cap="none" spc="0" normalizeH="0" baseline="0" noProof="0">
                <a:ln>
                  <a:noFill/>
                </a:ln>
                <a:solidFill>
                  <a:schemeClr val="accent1"/>
                </a:solidFill>
                <a:effectLst/>
                <a:uLnTx/>
                <a:uFillTx/>
                <a:latin typeface="+mj-lt"/>
                <a:ea typeface="+mn-ea"/>
                <a:cs typeface="Segoe UI" panose="020B0502040204020203" pitchFamily="34" charset="0"/>
              </a:rPr>
              <a:t>Bootcamp</a:t>
            </a:r>
          </a:p>
        </p:txBody>
      </p:sp>
      <p:sp>
        <p:nvSpPr>
          <p:cNvPr id="278" name="TextBox 277">
            <a:extLst>
              <a:ext uri="{FF2B5EF4-FFF2-40B4-BE49-F238E27FC236}">
                <a16:creationId xmlns:a16="http://schemas.microsoft.com/office/drawing/2014/main" id="{741EA3ED-BC2C-BA60-D2B9-1378545A90DC}"/>
              </a:ext>
            </a:extLst>
          </p:cNvPr>
          <p:cNvSpPr txBox="1"/>
          <p:nvPr/>
        </p:nvSpPr>
        <p:spPr>
          <a:xfrm>
            <a:off x="8478197" y="5263099"/>
            <a:ext cx="1304165" cy="461665"/>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3-day </a:t>
            </a:r>
            <a:r>
              <a:rPr lang="en-US" sz="1000">
                <a:solidFill>
                  <a:schemeClr val="tx1"/>
                </a:solidFill>
                <a:latin typeface="+mj-lt"/>
              </a:rPr>
              <a:t>expert led bootcamp </a:t>
            </a: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for experienced architects</a:t>
            </a:r>
          </a:p>
        </p:txBody>
      </p:sp>
      <p:sp>
        <p:nvSpPr>
          <p:cNvPr id="279" name="TextBox 278">
            <a:extLst>
              <a:ext uri="{FF2B5EF4-FFF2-40B4-BE49-F238E27FC236}">
                <a16:creationId xmlns:a16="http://schemas.microsoft.com/office/drawing/2014/main" id="{AC967AFA-4820-F7A3-EDF6-62402FE73FCE}"/>
              </a:ext>
            </a:extLst>
          </p:cNvPr>
          <p:cNvSpPr txBox="1"/>
          <p:nvPr/>
        </p:nvSpPr>
        <p:spPr>
          <a:xfrm>
            <a:off x="10112450" y="5263099"/>
            <a:ext cx="1289304" cy="461665"/>
          </a:xfrm>
          <a:prstGeom prst="rect">
            <a:avLst/>
          </a:prstGeom>
          <a:noFill/>
          <a:effectLst/>
        </p:spPr>
        <p:txBody>
          <a:bodyPr wrap="square" lIns="0" tIns="0" rIns="0" bIns="0" anchor="t">
            <a:spAutoFit/>
          </a:bodyPr>
          <a:lstStyle>
            <a:defPPr>
              <a:defRPr lang="en-US"/>
            </a:defPPr>
            <a:lvl1pPr marL="171450" lvl="0" indent="91440">
              <a:spcAft>
                <a:spcPts val="600"/>
              </a:spcAft>
              <a:buFont typeface="Wingdings" pitchFamily="2" charset="2"/>
              <a:buChar char="§"/>
              <a:defRPr sz="800" b="0" i="0">
                <a:solidFill>
                  <a:schemeClr val="tx1">
                    <a:lumMod val="75000"/>
                    <a:lumOff val="25000"/>
                  </a:schemeClr>
                </a:solidFill>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600"/>
              </a:spcAft>
              <a:buClrTx/>
              <a:buSzTx/>
              <a:buFont typeface="Wingdings" pitchFamily="2" charset="2"/>
              <a:buNone/>
              <a:tabLst/>
              <a:defRPr/>
            </a:pP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Learn from </a:t>
            </a:r>
            <a:r>
              <a:rPr lang="en-US" sz="1000">
                <a:solidFill>
                  <a:schemeClr val="tx1"/>
                </a:solidFill>
                <a:latin typeface="+mj-lt"/>
              </a:rPr>
              <a:t>real-world enterprise scale </a:t>
            </a:r>
            <a:r>
              <a:rPr kumimoji="0" lang="en-US" sz="1000" b="0" i="0" u="none" strike="noStrike" kern="1200" cap="none" spc="0" normalizeH="0" baseline="0" noProof="0">
                <a:ln>
                  <a:noFill/>
                </a:ln>
                <a:solidFill>
                  <a:schemeClr val="tx1"/>
                </a:solidFill>
                <a:effectLst/>
                <a:uLnTx/>
                <a:uFillTx/>
                <a:latin typeface="+mn-lt"/>
                <a:ea typeface="+mn-ea"/>
                <a:cs typeface="Segoe UI" panose="020B0502040204020203" pitchFamily="34" charset="0"/>
              </a:rPr>
              <a:t>deployments</a:t>
            </a:r>
          </a:p>
        </p:txBody>
      </p:sp>
      <p:cxnSp>
        <p:nvCxnSpPr>
          <p:cNvPr id="280" name="Straight Connector 279">
            <a:extLst>
              <a:ext uri="{FF2B5EF4-FFF2-40B4-BE49-F238E27FC236}">
                <a16:creationId xmlns:a16="http://schemas.microsoft.com/office/drawing/2014/main" id="{3A913F00-F6A1-803E-6951-713F2875BE52}"/>
              </a:ext>
            </a:extLst>
          </p:cNvPr>
          <p:cNvCxnSpPr>
            <a:cxnSpLocks/>
          </p:cNvCxnSpPr>
          <p:nvPr/>
        </p:nvCxnSpPr>
        <p:spPr>
          <a:xfrm>
            <a:off x="9947405" y="5263098"/>
            <a:ext cx="0" cy="64008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5" name="Rectangle: Rounded Corners 234">
            <a:extLst>
              <a:ext uri="{FF2B5EF4-FFF2-40B4-BE49-F238E27FC236}">
                <a16:creationId xmlns:a16="http://schemas.microsoft.com/office/drawing/2014/main" id="{19345043-10AF-739D-76BF-C052805724C4}"/>
              </a:ext>
            </a:extLst>
          </p:cNvPr>
          <p:cNvSpPr/>
          <p:nvPr/>
        </p:nvSpPr>
        <p:spPr>
          <a:xfrm>
            <a:off x="642938" y="3080373"/>
            <a:ext cx="5746354" cy="326300"/>
          </a:xfrm>
          <a:prstGeom prst="roundRect">
            <a:avLst/>
          </a:prstGeom>
          <a:gradFill flip="none" rotWithShape="1">
            <a:gsLst>
              <a:gs pos="0">
                <a:srgbClr val="C03BC4"/>
              </a:gs>
              <a:gs pos="100000">
                <a:srgbClr val="0077D3"/>
              </a:gs>
            </a:gsLst>
            <a:path path="circle">
              <a:fillToRect l="100000" t="100000"/>
            </a:path>
            <a:tileRect r="-100000" b="-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mj-lt"/>
                <a:ea typeface="+mn-ea"/>
                <a:cs typeface="Segoe UI" panose="020B0502040204020203" pitchFamily="34" charset="0"/>
              </a:rPr>
              <a:t>Execute on action plan</a:t>
            </a:r>
          </a:p>
        </p:txBody>
      </p:sp>
      <p:sp>
        <p:nvSpPr>
          <p:cNvPr id="282" name="Rectangle: Rounded Corners 281">
            <a:extLst>
              <a:ext uri="{FF2B5EF4-FFF2-40B4-BE49-F238E27FC236}">
                <a16:creationId xmlns:a16="http://schemas.microsoft.com/office/drawing/2014/main" id="{17062EA2-D99B-569A-94AD-387135898030}"/>
              </a:ext>
            </a:extLst>
          </p:cNvPr>
          <p:cNvSpPr/>
          <p:nvPr/>
        </p:nvSpPr>
        <p:spPr>
          <a:xfrm>
            <a:off x="6492629" y="3080373"/>
            <a:ext cx="5047190" cy="326300"/>
          </a:xfrm>
          <a:prstGeom prst="roundRect">
            <a:avLst/>
          </a:prstGeom>
          <a:gradFill flip="none" rotWithShape="1">
            <a:gsLst>
              <a:gs pos="0">
                <a:srgbClr val="C03BC4"/>
              </a:gs>
              <a:gs pos="100000">
                <a:srgbClr val="0077D3"/>
              </a:gs>
            </a:gsLst>
            <a:path path="circle">
              <a:fillToRect l="100000" t="100000"/>
            </a:path>
            <a:tileRect r="-100000" b="-100000"/>
          </a:gra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mj-lt"/>
                <a:ea typeface="+mn-ea"/>
                <a:cs typeface="Segoe UI" panose="020B0502040204020203" pitchFamily="34" charset="0"/>
              </a:rPr>
              <a:t>Implement high-value ideas</a:t>
            </a:r>
          </a:p>
        </p:txBody>
      </p:sp>
      <p:sp>
        <p:nvSpPr>
          <p:cNvPr id="284" name="Rectangle: Top Corners Rounded 283">
            <a:extLst>
              <a:ext uri="{FF2B5EF4-FFF2-40B4-BE49-F238E27FC236}">
                <a16:creationId xmlns:a16="http://schemas.microsoft.com/office/drawing/2014/main" id="{06F25465-47FB-F807-3148-DF759173AA0A}"/>
              </a:ext>
            </a:extLst>
          </p:cNvPr>
          <p:cNvSpPr/>
          <p:nvPr/>
        </p:nvSpPr>
        <p:spPr bwMode="auto">
          <a:xfrm>
            <a:off x="7367833" y="6083748"/>
            <a:ext cx="758092" cy="133618"/>
          </a:xfrm>
          <a:prstGeom prst="round2SameRect">
            <a:avLst>
              <a:gd name="adj1" fmla="val 0"/>
              <a:gd name="adj2" fmla="val 31674"/>
            </a:avLst>
          </a:prstGeom>
          <a:solidFill>
            <a:srgbClr val="00B050"/>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solidFill>
                  <a:schemeClr val="bg1"/>
                </a:solidFill>
                <a:effectLst/>
                <a:uLnTx/>
                <a:uFillTx/>
                <a:ea typeface="Segoe UI" pitchFamily="34" charset="0"/>
                <a:cs typeface="Segoe UI" pitchFamily="34" charset="0"/>
              </a:rPr>
              <a:t>Intro</a:t>
            </a:r>
          </a:p>
        </p:txBody>
      </p:sp>
      <p:sp>
        <p:nvSpPr>
          <p:cNvPr id="285" name="Rectangle: Top Corners Rounded 284">
            <a:extLst>
              <a:ext uri="{FF2B5EF4-FFF2-40B4-BE49-F238E27FC236}">
                <a16:creationId xmlns:a16="http://schemas.microsoft.com/office/drawing/2014/main" id="{E762846E-E577-9DF9-AD14-F1449B1B50BF}"/>
              </a:ext>
            </a:extLst>
          </p:cNvPr>
          <p:cNvSpPr/>
          <p:nvPr/>
        </p:nvSpPr>
        <p:spPr bwMode="auto">
          <a:xfrm>
            <a:off x="10663041" y="6083748"/>
            <a:ext cx="758092" cy="133618"/>
          </a:xfrm>
          <a:prstGeom prst="round2SameRect">
            <a:avLst>
              <a:gd name="adj1" fmla="val 0"/>
              <a:gd name="adj2" fmla="val 34722"/>
            </a:avLst>
          </a:prstGeom>
          <a:solidFill>
            <a:srgbClr val="194B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chemeClr val="bg1"/>
                </a:solidFill>
                <a:effectLst/>
                <a:uLnTx/>
                <a:uFillTx/>
                <a:ea typeface="Segoe UI" pitchFamily="34" charset="0"/>
                <a:cs typeface="Segoe UI" pitchFamily="34" charset="0"/>
              </a:rPr>
              <a:t>Advanced</a:t>
            </a:r>
          </a:p>
        </p:txBody>
      </p:sp>
      <p:sp>
        <p:nvSpPr>
          <p:cNvPr id="286" name="Rounded Rectangle 34">
            <a:extLst>
              <a:ext uri="{FF2B5EF4-FFF2-40B4-BE49-F238E27FC236}">
                <a16:creationId xmlns:a16="http://schemas.microsoft.com/office/drawing/2014/main" id="{7F7CB927-5AD2-5244-2744-13FF06DD0BA1}"/>
              </a:ext>
            </a:extLst>
          </p:cNvPr>
          <p:cNvSpPr/>
          <p:nvPr/>
        </p:nvSpPr>
        <p:spPr>
          <a:xfrm>
            <a:off x="642939" y="6261100"/>
            <a:ext cx="4601814" cy="247958"/>
          </a:xfrm>
          <a:prstGeom prst="roundRect">
            <a:avLst>
              <a:gd name="adj" fmla="val 21085"/>
            </a:avLst>
          </a:prstGeom>
          <a:solidFill>
            <a:schemeClr val="bg1"/>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78D4"/>
                </a:solidFill>
                <a:effectLst/>
                <a:uLnTx/>
                <a:uFillTx/>
                <a:latin typeface="+mj-lt"/>
                <a:ea typeface="+mn-ea"/>
                <a:cs typeface="Segoe UI" panose="020B0502040204020203" pitchFamily="34" charset="0"/>
                <a:hlinkClick r:id="rId5">
                  <a:extLst>
                    <a:ext uri="{A12FA001-AC4F-418D-AE19-62706E023703}">
                      <ahyp:hlinkClr xmlns:ahyp="http://schemas.microsoft.com/office/drawing/2018/hyperlinkcolor" val="tx"/>
                    </a:ext>
                  </a:extLst>
                </a:hlinkClick>
              </a:rPr>
              <a:t>aka.ms/</a:t>
            </a:r>
            <a:r>
              <a:rPr kumimoji="0" lang="en-US" sz="1000" b="0" i="0" u="none" strike="noStrike" kern="1200" cap="none" spc="0" normalizeH="0" baseline="0" noProof="0" err="1">
                <a:ln>
                  <a:noFill/>
                </a:ln>
                <a:solidFill>
                  <a:srgbClr val="0078D4"/>
                </a:solidFill>
                <a:effectLst/>
                <a:uLnTx/>
                <a:uFillTx/>
                <a:latin typeface="+mj-lt"/>
                <a:ea typeface="+mn-ea"/>
                <a:cs typeface="Segoe UI" panose="020B0502040204020203" pitchFamily="34" charset="0"/>
                <a:hlinkClick r:id="rId5">
                  <a:extLst>
                    <a:ext uri="{A12FA001-AC4F-418D-AE19-62706E023703}">
                      <ahyp:hlinkClr xmlns:ahyp="http://schemas.microsoft.com/office/drawing/2018/hyperlinkcolor" val="tx"/>
                    </a:ext>
                  </a:extLst>
                </a:hlinkClick>
              </a:rPr>
              <a:t>kickstartme</a:t>
            </a:r>
            <a:endParaRPr kumimoji="0" lang="en-US" sz="1000" b="0" i="0" u="none" strike="noStrike" kern="1200" cap="none" spc="0" normalizeH="0" baseline="0" noProof="0">
              <a:ln>
                <a:noFill/>
              </a:ln>
              <a:solidFill>
                <a:srgbClr val="0078D4"/>
              </a:solidFill>
              <a:effectLst/>
              <a:uLnTx/>
              <a:uFillTx/>
              <a:latin typeface="+mj-lt"/>
              <a:ea typeface="+mn-ea"/>
              <a:cs typeface="Segoe UI" panose="020B0502040204020203" pitchFamily="34" charset="0"/>
            </a:endParaRPr>
          </a:p>
        </p:txBody>
      </p:sp>
      <p:sp>
        <p:nvSpPr>
          <p:cNvPr id="287" name="Rounded Rectangle 34">
            <a:extLst>
              <a:ext uri="{FF2B5EF4-FFF2-40B4-BE49-F238E27FC236}">
                <a16:creationId xmlns:a16="http://schemas.microsoft.com/office/drawing/2014/main" id="{DDB33542-0A3A-DCE2-92F7-5332F48FCCF3}"/>
              </a:ext>
            </a:extLst>
          </p:cNvPr>
          <p:cNvSpPr/>
          <p:nvPr/>
        </p:nvSpPr>
        <p:spPr>
          <a:xfrm>
            <a:off x="5316189" y="6261100"/>
            <a:ext cx="2920993" cy="247958"/>
          </a:xfrm>
          <a:prstGeom prst="roundRect">
            <a:avLst>
              <a:gd name="adj" fmla="val 18456"/>
            </a:avLst>
          </a:prstGeom>
          <a:solidFill>
            <a:schemeClr val="bg1"/>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78D4"/>
                </a:solidFill>
                <a:effectLst/>
                <a:uLnTx/>
                <a:uFillTx/>
                <a:latin typeface="+mj-lt"/>
                <a:ea typeface="+mn-ea"/>
                <a:cs typeface="Segoe UI" panose="020B0502040204020203" pitchFamily="34" charset="0"/>
                <a:hlinkClick r:id="rId6">
                  <a:extLst>
                    <a:ext uri="{A12FA001-AC4F-418D-AE19-62706E023703}">
                      <ahyp:hlinkClr xmlns:ahyp="http://schemas.microsoft.com/office/drawing/2018/hyperlinkcolor" val="tx"/>
                    </a:ext>
                  </a:extLst>
                </a:hlinkClick>
              </a:rPr>
              <a:t>aka.ms/</a:t>
            </a:r>
            <a:r>
              <a:rPr kumimoji="0" lang="en-US" sz="1000" b="0" i="0" u="none" strike="noStrike" kern="1200" cap="none" spc="0" normalizeH="0" baseline="0" noProof="0" err="1">
                <a:ln>
                  <a:noFill/>
                </a:ln>
                <a:solidFill>
                  <a:srgbClr val="0078D4"/>
                </a:solidFill>
                <a:effectLst/>
                <a:uLnTx/>
                <a:uFillTx/>
                <a:latin typeface="+mj-lt"/>
                <a:ea typeface="+mn-ea"/>
                <a:cs typeface="Segoe UI" panose="020B0502040204020203" pitchFamily="34" charset="0"/>
                <a:hlinkClick r:id="rId6">
                  <a:extLst>
                    <a:ext uri="{A12FA001-AC4F-418D-AE19-62706E023703}">
                      <ahyp:hlinkClr xmlns:ahyp="http://schemas.microsoft.com/office/drawing/2018/hyperlinkcolor" val="tx"/>
                    </a:ext>
                  </a:extLst>
                </a:hlinkClick>
              </a:rPr>
              <a:t>PowerUpMyTeam</a:t>
            </a:r>
            <a:r>
              <a:rPr kumimoji="0" lang="en-US" sz="1000" b="0" i="0" u="none" strike="noStrike" kern="1200" cap="none" spc="0" normalizeH="0" baseline="0" noProof="0">
                <a:ln>
                  <a:noFill/>
                </a:ln>
                <a:solidFill>
                  <a:srgbClr val="0078D4"/>
                </a:solidFill>
                <a:effectLst/>
                <a:uLnTx/>
                <a:uFillTx/>
                <a:latin typeface="+mj-lt"/>
                <a:ea typeface="+mn-ea"/>
                <a:cs typeface="Segoe UI" panose="020B0502040204020203" pitchFamily="34" charset="0"/>
              </a:rPr>
              <a:t>  </a:t>
            </a:r>
          </a:p>
        </p:txBody>
      </p:sp>
      <p:sp>
        <p:nvSpPr>
          <p:cNvPr id="288" name="Rounded Rectangle 34">
            <a:extLst>
              <a:ext uri="{FF2B5EF4-FFF2-40B4-BE49-F238E27FC236}">
                <a16:creationId xmlns:a16="http://schemas.microsoft.com/office/drawing/2014/main" id="{780EC570-F188-94D3-A5C9-8170D68638B9}"/>
              </a:ext>
            </a:extLst>
          </p:cNvPr>
          <p:cNvSpPr/>
          <p:nvPr/>
        </p:nvSpPr>
        <p:spPr>
          <a:xfrm>
            <a:off x="8308621" y="6261100"/>
            <a:ext cx="3231198" cy="247958"/>
          </a:xfrm>
          <a:prstGeom prst="roundRect">
            <a:avLst>
              <a:gd name="adj" fmla="val 20559"/>
            </a:avLst>
          </a:prstGeom>
          <a:solidFill>
            <a:schemeClr val="bg1"/>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sng" strike="noStrike" kern="1200" cap="none" spc="0" normalizeH="0" baseline="0" noProof="0">
                <a:ln>
                  <a:noFill/>
                </a:ln>
                <a:solidFill>
                  <a:srgbClr val="0078D4"/>
                </a:solidFill>
                <a:effectLst/>
                <a:uLnTx/>
                <a:uFillTx/>
                <a:latin typeface="+mj-lt"/>
                <a:ea typeface="+mn-ea"/>
                <a:cs typeface="Segoe UI" panose="020B0502040204020203" pitchFamily="34" charset="0"/>
                <a:hlinkClick r:id="rId7">
                  <a:extLst>
                    <a:ext uri="{A12FA001-AC4F-418D-AE19-62706E023703}">
                      <ahyp:hlinkClr xmlns:ahyp="http://schemas.microsoft.com/office/drawing/2018/hyperlinkcolor" val="tx"/>
                    </a:ext>
                  </a:extLst>
                </a:hlinkClick>
              </a:rPr>
              <a:t>aka.ms/</a:t>
            </a:r>
            <a:r>
              <a:rPr kumimoji="0" lang="en-US" sz="1000" b="0" i="0" u="sng" strike="noStrike" kern="1200" cap="none" spc="0" normalizeH="0" baseline="0" noProof="0" err="1">
                <a:ln>
                  <a:noFill/>
                </a:ln>
                <a:solidFill>
                  <a:srgbClr val="0078D4"/>
                </a:solidFill>
                <a:effectLst/>
                <a:uLnTx/>
                <a:uFillTx/>
                <a:latin typeface="+mj-lt"/>
                <a:ea typeface="+mn-ea"/>
                <a:cs typeface="Segoe UI" panose="020B0502040204020203" pitchFamily="34" charset="0"/>
                <a:hlinkClick r:id="rId7">
                  <a:extLst>
                    <a:ext uri="{A12FA001-AC4F-418D-AE19-62706E023703}">
                      <ahyp:hlinkClr xmlns:ahyp="http://schemas.microsoft.com/office/drawing/2018/hyperlinkcolor" val="tx"/>
                    </a:ext>
                  </a:extLst>
                </a:hlinkClick>
              </a:rPr>
              <a:t>CopilotStudioBootcamp</a:t>
            </a:r>
            <a:endParaRPr kumimoji="0" lang="en-US" sz="1000" b="0" i="0" u="sng" strike="noStrike" kern="1200" cap="none" spc="0" normalizeH="0" baseline="0" noProof="0">
              <a:ln>
                <a:noFill/>
              </a:ln>
              <a:solidFill>
                <a:srgbClr val="0078D4"/>
              </a:solidFill>
              <a:effectLst/>
              <a:uLnTx/>
              <a:uFillTx/>
              <a:latin typeface="+mj-lt"/>
              <a:ea typeface="+mn-ea"/>
              <a:cs typeface="Segoe UI" panose="020B0502040204020203" pitchFamily="34" charset="0"/>
            </a:endParaRPr>
          </a:p>
        </p:txBody>
      </p:sp>
    </p:spTree>
    <p:extLst>
      <p:ext uri="{BB962C8B-B14F-4D97-AF65-F5344CB8AC3E}">
        <p14:creationId xmlns:p14="http://schemas.microsoft.com/office/powerpoint/2010/main" val="192889056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1741B-8FDB-C141-3EB7-DD251256EFE9}"/>
            </a:ext>
          </a:extLst>
        </p:cNvPr>
        <p:cNvGrpSpPr/>
        <p:nvPr/>
      </p:nvGrpSpPr>
      <p:grpSpPr>
        <a:xfrm>
          <a:off x="0" y="0"/>
          <a:ext cx="0" cy="0"/>
          <a:chOff x="0" y="0"/>
          <a:chExt cx="0" cy="0"/>
        </a:xfrm>
      </p:grpSpPr>
      <p:pic>
        <p:nvPicPr>
          <p:cNvPr id="156" name="Picture 155" descr="A blurry image of a purple object&#10;&#10;AI-generated content may be incorrect.">
            <a:extLst>
              <a:ext uri="{FF2B5EF4-FFF2-40B4-BE49-F238E27FC236}">
                <a16:creationId xmlns:a16="http://schemas.microsoft.com/office/drawing/2014/main" id="{E332A92B-6069-CB9D-CFCD-85AB91C4699D}"/>
              </a:ext>
            </a:extLst>
          </p:cNvPr>
          <p:cNvPicPr/>
          <p:nvPr/>
        </p:nvPicPr>
        <p:blipFill>
          <a:blip r:embed="rId3">
            <a:alphaModFix amt="70000"/>
          </a:blip>
          <a:srcRect l="25924"/>
          <a:stretch>
            <a:fillRect/>
          </a:stretch>
        </p:blipFill>
        <p:spPr>
          <a:xfrm flipV="1">
            <a:off x="0" y="0"/>
            <a:ext cx="12192000" cy="6858000"/>
          </a:xfrm>
          <a:prstGeom prst="rect">
            <a:avLst/>
          </a:prstGeom>
        </p:spPr>
      </p:pic>
      <p:sp>
        <p:nvSpPr>
          <p:cNvPr id="2" name="Text Placeholder 4">
            <a:extLst>
              <a:ext uri="{FF2B5EF4-FFF2-40B4-BE49-F238E27FC236}">
                <a16:creationId xmlns:a16="http://schemas.microsoft.com/office/drawing/2014/main" id="{977B693F-A692-0E50-1208-5F3AAF06F8DE}"/>
              </a:ext>
            </a:extLst>
          </p:cNvPr>
          <p:cNvSpPr txBox="1">
            <a:spLocks/>
          </p:cNvSpPr>
          <p:nvPr/>
        </p:nvSpPr>
        <p:spPr>
          <a:xfrm>
            <a:off x="1011066" y="3013502"/>
            <a:ext cx="2266646" cy="553998"/>
          </a:xfrm>
          <a:prstGeom prst="rect">
            <a:avLst/>
          </a:prstGeom>
        </p:spPr>
        <p:txBody>
          <a:bodyPr vert="horz" wrap="non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Sans Display" pitchFamily="2"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ct val="0"/>
              </a:spcBef>
              <a:buNone/>
            </a:pPr>
            <a:r>
              <a:rPr lang="en-US" sz="3600" b="1" spc="-50" dirty="0">
                <a:ln w="3175">
                  <a:noFill/>
                </a:ln>
                <a:gradFill>
                  <a:gsLst>
                    <a:gs pos="0">
                      <a:srgbClr val="B63EC5"/>
                    </a:gs>
                    <a:gs pos="100000">
                      <a:srgbClr val="0070C0"/>
                    </a:gs>
                  </a:gsLst>
                  <a:path path="circle">
                    <a:fillToRect l="100000" t="100000"/>
                  </a:path>
                </a:gradFill>
                <a:latin typeface="Segoe Sans Display Semibold" pitchFamily="2" charset="0"/>
              </a:rPr>
              <a:t>Questions?</a:t>
            </a:r>
          </a:p>
        </p:txBody>
      </p:sp>
    </p:spTree>
    <p:extLst>
      <p:ext uri="{BB962C8B-B14F-4D97-AF65-F5344CB8AC3E}">
        <p14:creationId xmlns:p14="http://schemas.microsoft.com/office/powerpoint/2010/main" val="750864610"/>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SMARTNOTES-DATA-SMARTSLIDE" val="{&quot;Animations&quot;:[],&quot;HasNotesSynced&quot;:false,&quot;Id&quot;:2147483565,&quot;Index&quot;:9,&quot;IsHidden&quot;:false,&quot;Name&quot;:&quot;Slide2147483310&quot;,&quot;SmartNote&quot;:{&quot;NoteText&quot;:&quot;&lt;Section xmlns=\&quot;http://schemas.microsoft.com/winfx/2006/xaml/presentation\&quot; xml:space=\&quot;preserve\&quot; TextAlignment=\&quot;Justify\&quot; LineHeight=\&quot;Auto\&quot; IsHyphenationEnabled=\&quot;False\&quot; xml:lang=\&quot;en-us\&quot; FlowDirection=\&quot;LeftToRight\&quot; NumberSubstitution.CultureSource=\&quot;Text\&quot; NumberSubstitution.Substitution=\&quot;AsCulture\&quot; FontFamily=\&quot;Georgia\&quot; FontStyle=\&quot;Normal\&quot; FontWeight=\&quot;Normal\&quot; FontStretch=\&quot;Normal\&quot; FontSize=\&quot;16\&quot; Foreground=\&quot;#FF000000\&quot; Typography.StandardLigatures=\&quot;True\&quot; Typography.ContextualLigatures=\&quot;True\&quot; Typography.DiscretionaryLigatures=\&quot;False\&quot; Typography.HistoricalLigatures=\&quot;False\&quot; Typography.AnnotationAlternates=\&quot;0\&quot; Typography.ContextualAlternates=\&quot;True\&quot; Typography.HistoricalForms=\&quot;False\&quot; Typography.Kerning=\&quot;True\&quot; Typography.CapitalSpacing=\&quot;False\&quot; Typography.CaseSensitiveForms=\&quot;False\&quot; Typography.StylisticSet1=\&quot;False\&quot; Typography.StylisticSet2=\&quot;False\&quot; Typography.StylisticSet3=\&quot;False\&quot; Typography.StylisticSet4=\&quot;False\&quot; Typography.StylisticSet5=\&quot;False\&quot; Typography.StylisticSet6=\&quot;False\&quot; Typography.StylisticSet7=\&quot;False\&quot; Typography.StylisticSet8=\&quot;False\&quot; Typography.StylisticSet9=\&quot;False\&quot; Typography.StylisticSet10=\&quot;False\&quot; Typography.StylisticSet11=\&quot;False\&quot; Typography.StylisticSet12=\&quot;False\&quot; Typography.StylisticSet13=\&quot;False\&quot; Typography.StylisticSet14=\&quot;False\&quot; Typography.StylisticSet15=\&quot;False\&quot; Typography.StylisticSet16=\&quot;False\&quot; Typography.StylisticSet17=\&quot;False\&quot; Typography.StylisticSet18=\&quot;False\&quot; Typography.StylisticSet19=\&quot;False\&quot; Typography.StylisticSet20=\&quot;False\&quot; Typography.Fraction=\&quot;Normal\&quot; Typography.SlashedZero=\&quot;False\&quot; Typography.MathematicalGreek=\&quot;False\&quot; Typography.EastAsianExpertForms=\&quot;False\&quot; Typography.Variants=\&quot;Normal\&quot; Typography.Capitals=\&quot;Normal\&quot; Typography.NumeralStyle=\&quot;Normal\&quot; Typography.NumeralAlignment=\&quot;Normal\&quot; Typography.EastAsianWidths=\&quot;Normal\&quot; Typography.EastAsianLanguage=\&quot;Normal\&quot; Typography.StandardSwashes=\&quot;0\&quot; Typography.ContextualSwashes=\&quot;0\&quot; Typography.StylisticAlternates=\&quot;0\&quot;&gt;&lt;Paragraph TextAlignment=\&quot;Left\&quot;&gt;&lt;Run FontFamily=\&quot;Calibri\&quot; FontSize=\&quot;21.333333333333332\&quot; Foreground=\&quot;#FFFFFFFF\&quot;&gt;&lt;/Run&gt;&lt;/Paragraph&gt;&lt;/Section&gt;&quot;,&quot;ParentSlideId&quot;:258,&quot;PagesHistory&quot;:[{&quot;Id&quot;:1,&quot;Index&quot;:0,&quot;TriggerType&quot;:2,&quot;HasChildren&quot;:false}],&quot;Pages&quot;:[{&quot;Id&quot;:1,&quot;Index&quot;:0,&quot;TriggerType&quot;:2,&quot;HasChildren&quot;:false}]}}"/>
</p:tagLst>
</file>

<file path=ppt/tags/tag2.xml><?xml version="1.0" encoding="utf-8"?>
<p:tagLst xmlns:a="http://schemas.openxmlformats.org/drawingml/2006/main" xmlns:r="http://schemas.openxmlformats.org/officeDocument/2006/relationships" xmlns:p="http://schemas.openxmlformats.org/presentationml/2006/main">
  <p:tag name="BRIGHTSLIDE_SLIDE_COLLAPSED" val="TRUE"/>
</p:tagLst>
</file>

<file path=ppt/theme/theme1.xml><?xml version="1.0" encoding="utf-8"?>
<a:theme xmlns:a="http://schemas.openxmlformats.org/drawingml/2006/main" name="Microsoft 365 Copilot Template">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FantasyxMS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icrosoft365-Copilot-Powerpoint-Template_2504" id="{6BE6AC59-600F-BB42-A9B7-9CD9420BD9FE}" vid="{0B8AE68D-9F32-1749-802B-95169DCEFF2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95ce86af-0b3b-4789-9f2b-92e621b019b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D31B82867A5E49BD74CCC26D4338EB" ma:contentTypeVersion="24" ma:contentTypeDescription="Create a new document." ma:contentTypeScope="" ma:versionID="a14258ead26e3ed0b22607448abfed4a">
  <xsd:schema xmlns:xsd="http://www.w3.org/2001/XMLSchema" xmlns:xs="http://www.w3.org/2001/XMLSchema" xmlns:p="http://schemas.microsoft.com/office/2006/metadata/properties" xmlns:ns1="http://schemas.microsoft.com/sharepoint/v3" xmlns:ns2="95ce86af-0b3b-4789-9f2b-92e621b019bc" xmlns:ns3="3ac45ee4-75ab-4bd9-8326-4e65d1a58885" targetNamespace="http://schemas.microsoft.com/office/2006/metadata/properties" ma:root="true" ma:fieldsID="bcc7e2ada748e775e8051bd37f8e7d9b" ns1:_="" ns2:_="" ns3:_="">
    <xsd:import namespace="http://schemas.microsoft.com/sharepoint/v3"/>
    <xsd:import namespace="95ce86af-0b3b-4789-9f2b-92e621b019bc"/>
    <xsd:import namespace="3ac45ee4-75ab-4bd9-8326-4e65d1a5888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1:_ip_UnifiedCompliancePolicyProperties" minOccurs="0"/>
                <xsd:element ref="ns1:_ip_UnifiedCompliancePolicyUIAction" minOccurs="0"/>
                <xsd:element ref="ns3:SharedWithUsers" minOccurs="0"/>
                <xsd:element ref="ns3:SharedWithDetails" minOccurs="0"/>
                <xsd:element ref="ns2:MediaServiceOCR" minOccurs="0"/>
                <xsd:element ref="ns2:MediaServiceGenerationTime" minOccurs="0"/>
                <xsd:element ref="ns2:MediaServiceEventHashCode" minOccurs="0"/>
                <xsd:element ref="ns2:lcf76f155ced4ddcb4097134ff3c332f" minOccurs="0"/>
                <xsd:element ref="ns2:MediaServiceLocation" minOccurs="0"/>
                <xsd:element ref="ns2:MediaServiceSearchProperties" minOccurs="0"/>
                <xsd:element ref="ns2:MediaServiceDocTag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ce86af-0b3b-4789-9f2b-92e621b019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DocTags" ma:index="25" nillable="true" ma:displayName="MediaServiceDocTags" ma:hidden="true" ma:internalName="MediaServiceDocTags" ma:readOnly="true">
      <xsd:simpleType>
        <xsd:restriction base="dms:Note"/>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ac45ee4-75ab-4bd9-8326-4e65d1a5888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8486480-5179-4E78-BF93-894352A78543}">
  <ds:schemaRefs>
    <ds:schemaRef ds:uri="5b27bcf2-d2a5-4921-b0b8-d8444e972c96"/>
    <ds:schemaRef ds:uri="http://purl.org/dc/elements/1.1/"/>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9ec632a0-1bd0-4125-8c6d-d2b199a1beac"/>
    <ds:schemaRef ds:uri="http://www.w3.org/XML/1998/namespace"/>
    <ds:schemaRef ds:uri="http://schemas.microsoft.com/sharepoint/v3"/>
    <ds:schemaRef ds:uri="http://schemas.microsoft.com/office/2006/metadata/properties"/>
    <ds:schemaRef ds:uri="http://purl.org/dc/terms/"/>
    <ds:schemaRef ds:uri="95ce86af-0b3b-4789-9f2b-92e621b019bc"/>
  </ds:schemaRefs>
</ds:datastoreItem>
</file>

<file path=customXml/itemProps2.xml><?xml version="1.0" encoding="utf-8"?>
<ds:datastoreItem xmlns:ds="http://schemas.openxmlformats.org/officeDocument/2006/customXml" ds:itemID="{40FCDD4A-D545-41FB-A70F-D276F526250B}">
  <ds:schemaRefs>
    <ds:schemaRef ds:uri="http://schemas.microsoft.com/sharepoint/v3/contenttype/forms"/>
  </ds:schemaRefs>
</ds:datastoreItem>
</file>

<file path=customXml/itemProps3.xml><?xml version="1.0" encoding="utf-8"?>
<ds:datastoreItem xmlns:ds="http://schemas.openxmlformats.org/officeDocument/2006/customXml" ds:itemID="{B29C3BF1-F538-4835-AAFC-154EC4B73F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ce86af-0b3b-4789-9f2b-92e621b019bc"/>
    <ds:schemaRef ds:uri="3ac45ee4-75ab-4bd9-8326-4e65d1a588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25b262c6-3135-4102-9fd1-8cc793b35eee}" enabled="0" method="" siteId="{25b262c6-3135-4102-9fd1-8cc793b35eee}" removed="1"/>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169</TotalTime>
  <Words>4232</Words>
  <Application>Microsoft Office PowerPoint</Application>
  <PresentationFormat>Widescreen</PresentationFormat>
  <Paragraphs>483</Paragraphs>
  <Slides>26</Slides>
  <Notes>26</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Microsoft 365 Copilot Template</vt:lpstr>
      <vt:lpstr>Speaker Guidance</vt:lpstr>
      <vt:lpstr>Change Management</vt:lpstr>
      <vt:lpstr>Innovation and Risk</vt:lpstr>
      <vt:lpstr>PowerPoint Presentation</vt:lpstr>
      <vt:lpstr>PowerPoint Presentation</vt:lpstr>
      <vt:lpstr>What is Change Management</vt:lpstr>
      <vt:lpstr>PowerPoint Presentation</vt:lpstr>
      <vt:lpstr>Change doesn’t have to slow innovation</vt:lpstr>
      <vt:lpstr>What does "change" mean? </vt:lpstr>
      <vt:lpstr>Ownership</vt:lpstr>
      <vt:lpstr>Establish Decision and Ownership Rights</vt:lpstr>
      <vt:lpstr>Release Rings</vt:lpstr>
      <vt:lpstr>Release Rings</vt:lpstr>
      <vt:lpstr>Communication</vt:lpstr>
      <vt:lpstr>Why communication matters</vt:lpstr>
      <vt:lpstr>The communication cadence</vt:lpstr>
      <vt:lpstr>Skilling</vt:lpstr>
      <vt:lpstr>Skilling is  role-based</vt:lpstr>
      <vt:lpstr>Anchor skilling to moments that matter</vt:lpstr>
      <vt:lpstr>Customer Examples</vt:lpstr>
      <vt:lpstr>PowerPoint Presentation</vt:lpstr>
      <vt:lpstr>PowerPoint Presentation</vt:lpstr>
      <vt:lpstr>Learn more</vt:lpstr>
      <vt:lpstr>PowerPoint Presentation</vt:lpstr>
      <vt:lpstr>Agent Programs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Courtney Lanza</dc:creator>
  <cp:lastModifiedBy>Courtney Lanza</cp:lastModifiedBy>
  <cp:revision>10</cp:revision>
  <dcterms:created xsi:type="dcterms:W3CDTF">2026-02-03T18:11:08Z</dcterms:created>
  <dcterms:modified xsi:type="dcterms:W3CDTF">2026-05-06T19:19:58Z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0x0101000DD31B82867A5E49BD74CCC26D4338EB</vt:lpwstr>
  </property>
  <property fmtid="{D5CDD505-2E9C-101B-9397-08002B2CF9AE}" pid="3" name="MediaServiceImageTags">
    <vt:lpwstr/>
  </property>
  <property fmtid="{D5CDD505-2E9C-101B-9397-08002B2CF9AE}" pid="4" name="_dlc_policyId">
    <vt:lpwstr>0x01010070AB3889E58DB141A6E1281B02136174|-369733750</vt:lpwstr>
  </property>
  <property fmtid="{D5CDD505-2E9C-101B-9397-08002B2CF9AE}" pid="5"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ies>
</file>