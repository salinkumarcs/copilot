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omments/modernComment_7FFFCC76_E58AD084.xml" ContentType="application/vnd.ms-powerpoint.comment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5710" r:id="rId4"/>
  </p:sldMasterIdLst>
  <p:notesMasterIdLst>
    <p:notesMasterId r:id="rId52"/>
  </p:notesMasterIdLst>
  <p:handoutMasterIdLst>
    <p:handoutMasterId r:id="rId53"/>
  </p:handoutMasterIdLst>
  <p:sldIdLst>
    <p:sldId id="2147480191" r:id="rId5"/>
    <p:sldId id="262" r:id="rId6"/>
    <p:sldId id="268" r:id="rId7"/>
    <p:sldId id="316" r:id="rId8"/>
    <p:sldId id="275" r:id="rId9"/>
    <p:sldId id="274" r:id="rId10"/>
    <p:sldId id="354" r:id="rId11"/>
    <p:sldId id="273" r:id="rId12"/>
    <p:sldId id="271" r:id="rId13"/>
    <p:sldId id="305" r:id="rId14"/>
    <p:sldId id="314" r:id="rId15"/>
    <p:sldId id="264" r:id="rId16"/>
    <p:sldId id="272" r:id="rId17"/>
    <p:sldId id="291" r:id="rId18"/>
    <p:sldId id="270" r:id="rId19"/>
    <p:sldId id="269" r:id="rId20"/>
    <p:sldId id="2147470431" r:id="rId21"/>
    <p:sldId id="2147470435" r:id="rId22"/>
    <p:sldId id="2147483645" r:id="rId23"/>
    <p:sldId id="267" r:id="rId24"/>
    <p:sldId id="260" r:id="rId25"/>
    <p:sldId id="2147483647" r:id="rId26"/>
    <p:sldId id="256" r:id="rId27"/>
    <p:sldId id="257" r:id="rId28"/>
    <p:sldId id="258" r:id="rId29"/>
    <p:sldId id="259" r:id="rId30"/>
    <p:sldId id="266" r:id="rId31"/>
    <p:sldId id="2147481378" r:id="rId32"/>
    <p:sldId id="2147470444" r:id="rId33"/>
    <p:sldId id="2147470445" r:id="rId34"/>
    <p:sldId id="2147470459" r:id="rId35"/>
    <p:sldId id="2147470452" r:id="rId36"/>
    <p:sldId id="2147470454" r:id="rId37"/>
    <p:sldId id="2147470455" r:id="rId38"/>
    <p:sldId id="2147470456" r:id="rId39"/>
    <p:sldId id="2147470457" r:id="rId40"/>
    <p:sldId id="2147470448" r:id="rId41"/>
    <p:sldId id="2147470458" r:id="rId42"/>
    <p:sldId id="2147470450" r:id="rId43"/>
    <p:sldId id="2147470464" r:id="rId44"/>
    <p:sldId id="2147470465" r:id="rId45"/>
    <p:sldId id="2147470466" r:id="rId46"/>
    <p:sldId id="265" r:id="rId47"/>
    <p:sldId id="276" r:id="rId48"/>
    <p:sldId id="2147483384" r:id="rId49"/>
    <p:sldId id="263" r:id="rId50"/>
    <p:sldId id="261"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3B02F972-4F34-4833-9BE2-EC12D00DD801}">
          <p14:sldIdLst>
            <p14:sldId id="2147480191"/>
            <p14:sldId id="262"/>
            <p14:sldId id="268"/>
          </p14:sldIdLst>
        </p14:section>
        <p14:section name="Partner Opportunity" id="{EE3C78D5-31A3-4805-BE3A-438862B04315}">
          <p14:sldIdLst>
            <p14:sldId id="316"/>
            <p14:sldId id="275"/>
            <p14:sldId id="274"/>
            <p14:sldId id="354"/>
            <p14:sldId id="273"/>
            <p14:sldId id="271"/>
            <p14:sldId id="305"/>
            <p14:sldId id="314"/>
          </p14:sldIdLst>
        </p14:section>
        <p14:section name="Service Partner Opportunity" id="{5A664E58-B3DB-4318-992B-2D0D551A89EF}">
          <p14:sldIdLst>
            <p14:sldId id="264"/>
            <p14:sldId id="272"/>
            <p14:sldId id="291"/>
            <p14:sldId id="270"/>
            <p14:sldId id="269"/>
          </p14:sldIdLst>
        </p14:section>
        <p14:section name="Offer Anatomy" id="{BFB1BDAA-39BF-4545-B9AF-923923FDA390}">
          <p14:sldIdLst>
            <p14:sldId id="2147470431"/>
            <p14:sldId id="2147470435"/>
            <p14:sldId id="2147483645"/>
            <p14:sldId id="267"/>
            <p14:sldId id="260"/>
          </p14:sldIdLst>
        </p14:section>
        <p14:section name="Functional Offers" id="{03354C7A-0F23-4E6F-B678-976629901AEF}">
          <p14:sldIdLst>
            <p14:sldId id="2147483647"/>
            <p14:sldId id="256"/>
            <p14:sldId id="257"/>
            <p14:sldId id="258"/>
            <p14:sldId id="259"/>
            <p14:sldId id="266"/>
          </p14:sldIdLst>
        </p14:section>
        <p14:section name="Publishing" id="{6A10B4E4-1283-4287-9869-BFA1CDEB6F27}">
          <p14:sldIdLst>
            <p14:sldId id="2147481378"/>
            <p14:sldId id="2147470444"/>
            <p14:sldId id="2147470445"/>
            <p14:sldId id="2147470459"/>
            <p14:sldId id="2147470452"/>
            <p14:sldId id="2147470454"/>
            <p14:sldId id="2147470455"/>
            <p14:sldId id="2147470456"/>
            <p14:sldId id="2147470457"/>
            <p14:sldId id="2147470448"/>
            <p14:sldId id="2147470458"/>
            <p14:sldId id="2147470450"/>
            <p14:sldId id="2147470464"/>
            <p14:sldId id="2147470465"/>
            <p14:sldId id="2147470466"/>
          </p14:sldIdLst>
        </p14:section>
        <p14:section name="Resources" id="{B2C6B243-6272-4CC0-903D-01E243D12252}">
          <p14:sldIdLst>
            <p14:sldId id="265"/>
            <p14:sldId id="276"/>
            <p14:sldId id="2147483384"/>
            <p14:sldId id="263"/>
            <p14:sldId id="26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6D949B24-5270-77BC-008C-A2A64EBA6E7B}" name="Monica Yen (BEYONDSOFT CONSULTING INC)" initials="MY" userId="S::v-yenmonica@microsoft.com::1f3638de-e51d-4215-934a-6644f586fae0" providerId="AD"/>
  <p188:author id="{4F9FDA2F-2ADE-4855-B32D-70689AAD18B0}" name="Hannah  Hopkins" initials="HH" userId="S::hannah@theodigogroup.com::0e60421a-da32-4a5a-b726-310211cc7be3" providerId="AD"/>
  <p188:author id="{94C88630-1689-61B6-F291-AC9FFA71BA85}" name="Thomas Viertler" initials="" userId="S::thviertl@microsoft.com::6b113f05-a120-467b-be73-a12690b61da8" providerId="AD"/>
  <p188:author id="{EBDCDA3C-9043-AC20-B172-32E16A38973D}" name="Archana Ramesh" initials="AR" userId="S::arramesh@microsoft.com::3f0eb4b7-fb6e-4e0d-9af9-e7e0cd2e4676" providerId="AD"/>
  <p188:author id="{2CD21147-1F26-9887-6FDB-0327CF97E025}" name="Lauren Holland" initials="LH" userId="S::lahollan@microsoft.com::2b3679fe-cc06-4da5-b017-a2c049460ee6" providerId="AD"/>
  <p188:author id="{D6F26963-7D31-7E94-BDCA-0053EED9EF82}" name="Leslie Overland" initials="LO" userId="S::leoverla@microsoft.com::f3978a41-ce7f-4ee8-a07a-b9255d9fc7c0" providerId="AD"/>
  <p188:author id="{F7D53E64-ED34-8FD0-F86B-BD1774EAC744}" name="Racheal Skoko" initials="RS" userId="S::racheal@theodigogroup.com::21cdd38b-926c-455d-b625-c1a87f1ae0ea" providerId="AD"/>
  <p188:author id="{F3A5ED81-4AF7-8078-80A6-DB4D37702549}" name="Ronit Ben-Sheffer" initials="RB" userId="S::robenshe@microsoft.com::d25f0585-7cab-43e2-a10d-7e8081bede76" providerId="AD"/>
  <p188:author id="{181AC789-BDB1-B19C-B1B1-7DF556289A3E}" name="Keith Overa" initials="KO" userId="S::kovera@microsoft.com::cac31f57-31f2-41dc-9f56-861e68135976" providerId="AD"/>
  <p188:author id="{82ADE589-7972-61ED-0E80-D731DB6F4F05}" name="Katie Lafferty (KFORCE INC)" initials="" userId="S::v-klafferty@microsoft.com::8ffc7853-2291-4efe-a55b-e3cf522ad634" providerId="AD"/>
  <p188:author id="{1FDB258B-9A64-FFCC-3643-D260BBFB3383}" name="Olga Gordon" initials="OG" userId="S::ogordon@microsoft.com::102a02ab-8cd3-475b-8633-7a419b8c421c" providerId="AD"/>
  <p188:author id="{6249A2A6-AC6C-38D0-692F-B441C1D3DCCB}" name="Matthew Davis" initials="MD" userId="S::madavi@microsoft.com::f894bc4c-9671-4caf-a615-a1f8c3bc7c93" providerId="AD"/>
  <p188:author id="{76AFD3B4-7E4F-C0F5-8603-E4A2CCFC2B1F}" name="Ginny Hoban" initials="GH" userId="S::gihoban@microsoft.com::ced7ca97-fcde-4164-9163-398b5fe30355" providerId="AD"/>
  <p188:author id="{656FFFBC-3A0E-EAB4-A6FF-2CBD0DC9C80C}" name="Sarah Burg" initials="SB" userId="S::sarahburg@microsoft.com::38bb9561-b5c9-403e-870e-c77866c16c13" providerId="AD"/>
  <p188:author id="{373C6ABE-BCC5-D00B-505D-0F51A1AA97EF}" name="Madi Boyd" initials="MB" userId="S::madi@theodigogroup.com::fe2f124b-9332-48f5-a04f-7ca67d6bfd49" providerId="AD"/>
  <p188:author id="{AA86FCC7-00AF-54BF-4E63-97AB666DD824}" name="Lisa Godoy (BRIDGE PARTNERS LLC)" initials="LG" userId="S::v-godoylisa@microsoft.com::4a8d80d0-b6ff-49df-b707-afec3e47be0b" providerId="AD"/>
  <p188:author id="{1A65CFCC-B693-3F3F-8805-0538B4F8FE19}" name="Kate Moran (BEYONDSOFT CONSULTING INC)" initials="KI" userId="S::v-katemoran@microsoft.com::859a87ad-c469-4d9a-af8d-9400eb431709" providerId="AD"/>
  <p188:author id="{B478B7DB-3BCD-3270-C81A-711446A094EC}" name="Chris DePalma" initials="CD" userId="S::chridep@microsoft.com::fe23ebef-fd52-4b66-bbe4-8532ab693a8c" providerId="AD"/>
  <p188:author id="{BED82CE4-9439-89D6-30A8-A84AD7A777CA}" name="Ananthram Balakrishnan" initials="AB" userId="S::ananthb@microsoft.com::c8dd0ce1-7dda-4057-b41d-0c8e1009379a" providerId="AD"/>
  <p188:author id="{C4E76AE7-B1EA-7E45-08DF-405491BDFF1A}" name="Jojo Wright (SHE/HER)" initials="" userId="S::jowrig@microsoft.com::1adc0f8a-2bb3-4325-8852-161fb46abe3c" providerId="AD"/>
  <p188:author id="{E3AC2BE9-7A14-68D2-D3D3-07EAEA634A0B}" name="Courtney Lanza" initials="CL" userId="S::clanza@microsoft.com::11d04006-6d1b-4390-8633-40d27b7a6e34" providerId="AD"/>
  <p188:author id="{701B85E9-2235-0354-F8DC-88F7AA72C259}" name="Mayank Kapur" initials="MK" userId="S::mayankkapur@microsoft.com::592b6bba-40b6-432b-b937-b3cb170d19d4" providerId="AD"/>
  <p188:author id="{92A074EA-1F05-D5A2-6B61-092EE4B5A22C}" name="Larissa Linton" initials="LL" userId="S::llinton@microsoft.com::6074638b-491a-4d44-bc33-938259c017cb" providerId="AD"/>
  <p188:author id="{772FFAEC-F8A8-CC38-D320-AC246262ACB1}" name="Chelsea Heimbigner (AG Consulting Partners, Inc.)" initials="CH(CPI" userId="S::v-chelseah@microsoft.com::4035dd91-fdf5-415b-9b68-b752efb33248" providerId="AD"/>
  <p188:author id="{BC6CF3F0-B8ED-5DB7-0746-03965B370AE5}" name="Louise Morgan" initials="LM" userId="S::louise@theodigogroup.com::f3afb773-4931-4b67-8a9f-eef20a768a93" providerId="AD"/>
  <p188:author id="{DBCBFDF7-B823-EC2A-0B46-F3EBA5B2673F}" name="Asish Padhy (Adecco Australia)" initials="AA" userId="S::v-asishpadhy@microsoft.com::8ac756c5-d54d-49c3-98b9-409401634d63" providerId="AD"/>
  <p188:author id="{351069FC-B0C2-A111-2A6D-7FEFCC644258}" name="Gloria Sanchez Hernandez" initials="GSH" userId="S::glosan@microsoft.com::fd6f544a-5f75-422f-b2fa-38687361a6a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F7F7"/>
    <a:srgbClr val="BBCFF3"/>
    <a:srgbClr val="C4EBEA"/>
    <a:srgbClr val="09534E"/>
    <a:srgbClr val="C1B6E4"/>
    <a:srgbClr val="C8E5F4"/>
    <a:srgbClr val="C2B5E3"/>
    <a:srgbClr val="BEE7EC"/>
    <a:srgbClr val="1769A1"/>
    <a:srgbClr val="306E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3FC5CB-4874-4885-9E8D-A1C770FBF1A6}" v="4" dt="2025-10-31T21:21:49.086"/>
  </p1510:revLst>
</p1510:revInfo>
</file>

<file path=ppt/tableStyles.xml><?xml version="1.0" encoding="utf-8"?>
<a:tblStyleLst xmlns:a="http://schemas.openxmlformats.org/drawingml/2006/main" def="{5C22544A-7EE6-4342-B048-85BDC9FD1C3A}">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60"/>
  </p:normalViewPr>
  <p:slideViewPr>
    <p:cSldViewPr snapToGrid="0">
      <p:cViewPr varScale="1">
        <p:scale>
          <a:sx n="69" d="100"/>
          <a:sy n="69" d="100"/>
        </p:scale>
        <p:origin x="460" y="8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8" Type="http://schemas.microsoft.com/office/2016/11/relationships/changesInfo" Target="changesInfos/changesInfo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 Id="rId6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nica Yen (BEYONDSOFT CONSULTING INC)" userId="1f3638de-e51d-4215-934a-6644f586fae0" providerId="ADAL" clId="{D5DAFB2F-6741-4673-A8A7-27DC8F5E76CC}"/>
    <pc:docChg chg="undo custSel modSld">
      <pc:chgData name="Monica Yen (BEYONDSOFT CONSULTING INC)" userId="1f3638de-e51d-4215-934a-6644f586fae0" providerId="ADAL" clId="{D5DAFB2F-6741-4673-A8A7-27DC8F5E76CC}" dt="2025-10-31T21:21:49.086" v="11"/>
      <pc:docMkLst>
        <pc:docMk/>
      </pc:docMkLst>
      <pc:sldChg chg="addSp delSp modSp mod">
        <pc:chgData name="Monica Yen (BEYONDSOFT CONSULTING INC)" userId="1f3638de-e51d-4215-934a-6644f586fae0" providerId="ADAL" clId="{D5DAFB2F-6741-4673-A8A7-27DC8F5E76CC}" dt="2025-10-31T21:21:49.086" v="11"/>
        <pc:sldMkLst>
          <pc:docMk/>
          <pc:sldMk cId="2632455028" sldId="273"/>
        </pc:sldMkLst>
        <pc:picChg chg="add del mod">
          <ac:chgData name="Monica Yen (BEYONDSOFT CONSULTING INC)" userId="1f3638de-e51d-4215-934a-6644f586fae0" providerId="ADAL" clId="{D5DAFB2F-6741-4673-A8A7-27DC8F5E76CC}" dt="2025-10-31T21:21:20.486" v="6" actId="21"/>
          <ac:picMkLst>
            <pc:docMk/>
            <pc:sldMk cId="2632455028" sldId="273"/>
            <ac:picMk id="5" creationId="{9F8B4F21-C1F3-2EDA-65D4-0F4770170E9B}"/>
          </ac:picMkLst>
        </pc:picChg>
        <pc:picChg chg="add mod">
          <ac:chgData name="Monica Yen (BEYONDSOFT CONSULTING INC)" userId="1f3638de-e51d-4215-934a-6644f586fae0" providerId="ADAL" clId="{D5DAFB2F-6741-4673-A8A7-27DC8F5E76CC}" dt="2025-10-31T21:21:22.939" v="8"/>
          <ac:picMkLst>
            <pc:docMk/>
            <pc:sldMk cId="2632455028" sldId="273"/>
            <ac:picMk id="6" creationId="{9F8B4F21-C1F3-2EDA-65D4-0F4770170E9B}"/>
          </ac:picMkLst>
        </pc:picChg>
        <pc:picChg chg="add mod">
          <ac:chgData name="Monica Yen (BEYONDSOFT CONSULTING INC)" userId="1f3638de-e51d-4215-934a-6644f586fae0" providerId="ADAL" clId="{D5DAFB2F-6741-4673-A8A7-27DC8F5E76CC}" dt="2025-10-31T21:21:49.086" v="11"/>
          <ac:picMkLst>
            <pc:docMk/>
            <pc:sldMk cId="2632455028" sldId="273"/>
            <ac:picMk id="7" creationId="{8EBAE2AD-1802-21F3-067B-09621AA4F1CD}"/>
          </ac:picMkLst>
        </pc:picChg>
        <pc:picChg chg="add del">
          <ac:chgData name="Monica Yen (BEYONDSOFT CONSULTING INC)" userId="1f3638de-e51d-4215-934a-6644f586fae0" providerId="ADAL" clId="{D5DAFB2F-6741-4673-A8A7-27DC8F5E76CC}" dt="2025-10-31T21:21:48.320" v="10" actId="478"/>
          <ac:picMkLst>
            <pc:docMk/>
            <pc:sldMk cId="2632455028" sldId="273"/>
            <ac:picMk id="90" creationId="{0967E7FB-77A4-01A0-5FCB-F4F45EF9AA0A}"/>
          </ac:picMkLst>
        </pc:picChg>
      </pc:sldChg>
    </pc:docChg>
  </pc:docChgLst>
</pc:chgInfo>
</file>

<file path=ppt/comments/modernComment_7FFFCC76_E58AD084.xml><?xml version="1.0" encoding="utf-8"?>
<p188:cmLst xmlns:a="http://schemas.openxmlformats.org/drawingml/2006/main" xmlns:r="http://schemas.openxmlformats.org/officeDocument/2006/relationships" xmlns:p188="http://schemas.microsoft.com/office/powerpoint/2018/8/main">
  <p188:cm id="{0362DE6D-6BFD-4BC7-872A-9F5AF7EC973F}" authorId="{F7D53E64-ED34-8FD0-F86B-BD1774EAC744}" status="resolved" created="2025-05-01T17:33:29.563" startDate="2025-05-01T17:33:29.563" dueDate="2025-05-01T17:33:29.563" assignedTo="{4F9FDA2F-2ADE-4855-B32D-70689AAD18B0}" complete="100000" title="@Madi Boyd @Hannah Hopkins I am not sure where these zoom links were supposed to point to. I can’t tell from the broken images which slides they were originally pointing to">
    <ac:deMkLst xmlns:ac="http://schemas.microsoft.com/office/drawing/2013/main/command">
      <pc:docMk xmlns:pc="http://schemas.microsoft.com/office/powerpoint/2013/main/command"/>
      <pc:sldMk xmlns:pc="http://schemas.microsoft.com/office/powerpoint/2013/main/command" cId="3851079812" sldId="2147470454"/>
      <ac:graphicFrameMk id="78" creationId="{A3513B3E-4162-8F87-D070-245AF40C3D2F}"/>
    </ac:deMkLst>
    <p188:replyLst>
      <p188:reply id="{C1A74A8F-A72D-432B-828E-0E8031BAED7E}" authorId="{4F9FDA2F-2ADE-4855-B32D-70689AAD18B0}" created="2025-05-01T17:58:20.938">
        <p188:txBody>
          <a:bodyPr/>
          <a:lstStyle/>
          <a:p>
            <a:r>
              <a:rPr lang="en-US"/>
              <a:t>Can we include thumbnails of slides 18 &amp; 21 (covers "Anatomy of the offer" in those slides). </a:t>
            </a:r>
          </a:p>
        </p188:txBody>
        <p188:extLst>
          <p:ext xmlns:p="http://schemas.openxmlformats.org/presentationml/2006/main" uri="{57CB4572-C831-44C2-8A1C-0ADB6CCDFE69}">
            <p223:reactions xmlns:p223="http://schemas.microsoft.com/office/powerpoint/2022/03/main">
              <p223:rxn type="👍">
                <p223:instance time="2025-05-01T18:02:15.439" authorId="{F7D53E64-ED34-8FD0-F86B-BD1774EAC744}"/>
              </p223:rxn>
            </p223:reactions>
          </p:ext>
        </p188:extLst>
      </p188:reply>
      <p188:reply id="{DCE9BBB1-3453-486B-8991-138A0DF9ECB7}" authorId="{4F9FDA2F-2ADE-4855-B32D-70689AAD18B0}" created="2025-05-01T17:59:08.830">
        <p188:txBody>
          <a:bodyPr/>
          <a:lstStyle/>
          <a:p>
            <a:r>
              <a:rPr lang="en-US"/>
              <a:t>I don't think we need three. Or we can just link back to that whole section titled "Offer Anatomy" if we want to leave more space. </a:t>
            </a:r>
          </a:p>
        </p188:txBody>
      </p188:reply>
      <p188:reply id="{EB9D322A-715E-4816-9A79-284420A899CC}" authorId="{F7D53E64-ED34-8FD0-F86B-BD1774EAC744}" created="2025-05-01T18:04:06.059">
        <p188:txBody>
          <a:bodyPr/>
          <a:lstStyle/>
          <a:p>
            <a:r>
              <a:rPr lang="en-US"/>
              <a:t>Thank you!</a:t>
            </a:r>
          </a:p>
        </p188:txBody>
      </p188:reply>
    </p188:replyLst>
    <p188:txBody>
      <a:bodyPr/>
      <a:lstStyle/>
      <a:p>
        <a:r>
          <a:rPr lang="en-US"/>
          <a:t>[@Madi Boyd] [@Hannah  Hopkins] 
I am not sure where these zoom links were supposed to point to. I can’t tell from the broken images which slides they were originally pointing to</a:t>
        </a:r>
      </a:p>
    </p188:txBody>
    <p188:extLst>
      <p:ext xmlns:p="http://schemas.openxmlformats.org/presentationml/2006/main" uri="{5BB2D875-25FF-4072-B9AC-8F64D62656EB}">
        <p228:taskDetails xmlns:p228="http://schemas.microsoft.com/office/powerpoint/2022/08/main">
          <p228:history>
            <p228:event time="2025-05-01T17:33:29.563" id="{2932E16B-6270-4012-A97A-B997DA0D380A}">
              <p228:atrbtn authorId="{F7D53E64-ED34-8FD0-F86B-BD1774EAC744}"/>
              <p228:anchr>
                <p228:comment id="{0362DE6D-6BFD-4BC7-872A-9F5AF7EC973F}"/>
              </p228:anchr>
              <p228:add/>
            </p228:event>
            <p228:event time="2025-05-01T17:33:29.563" id="{4155D5E4-CCDA-4BEB-BA34-6EEEB111EEE2}">
              <p228:atrbtn authorId="{F7D53E64-ED34-8FD0-F86B-BD1774EAC744}"/>
              <p228:anchr>
                <p228:comment id="{0362DE6D-6BFD-4BC7-872A-9F5AF7EC973F}"/>
              </p228:anchr>
              <p228:asgn authorId="{4F9FDA2F-2ADE-4855-B32D-70689AAD18B0}"/>
            </p228:event>
            <p228:event time="2025-05-01T17:33:29.563" id="{1B650D8E-AFDF-4B94-BF83-4736E332FE18}">
              <p228:atrbtn authorId="{F7D53E64-ED34-8FD0-F86B-BD1774EAC744}"/>
              <p228:anchr>
                <p228:comment id="{0362DE6D-6BFD-4BC7-872A-9F5AF7EC973F}"/>
              </p228:anchr>
              <p228:title val="@Madi Boyd @Hannah Hopkins I am not sure where these zoom links were supposed to point to. I can’t tell from the broken images which slides they were originally pointing to"/>
            </p228:event>
            <p228:event time="2025-05-01T17:33:29.563" id="{9EC1E768-8CB4-4A1E-B3E1-8AE014D01470}">
              <p228:atrbtn authorId="{F7D53E64-ED34-8FD0-F86B-BD1774EAC744}"/>
              <p228:anchr>
                <p228:comment id="{0362DE6D-6BFD-4BC7-872A-9F5AF7EC973F}"/>
              </p228:anchr>
              <p228:date stDt="2025-05-01T17:33:29.563" endDt="2025-05-01T17:33:29.563"/>
            </p228:event>
            <p228:event time="2025-05-01T18:04:08.168" id="{0855C7EB-D940-4151-B0D7-FA09A2B071AB}">
              <p228:atrbtn authorId="{F7D53E64-ED34-8FD0-F86B-BD1774EAC744}"/>
              <p228:anchr>
                <p228:comment id="{00000000-0000-0000-0000-000000000000}"/>
              </p228:anchr>
              <p228:pcntCmplt val="100000"/>
            </p228:event>
          </p228:history>
        </p228:taskDetails>
      </p:ext>
    </p188:extLst>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6B1E995-D5B5-94EB-45A7-C224E792DF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07596A9-8339-DCAD-1EAE-AE10FF98812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9414FFD-3966-4813-9259-257CC140FB3A}" type="datetimeFigureOut">
              <a:rPr lang="en-US" smtClean="0"/>
              <a:t>10/31/2025</a:t>
            </a:fld>
            <a:endParaRPr lang="en-US"/>
          </a:p>
        </p:txBody>
      </p:sp>
      <p:sp>
        <p:nvSpPr>
          <p:cNvPr id="4" name="Footer Placeholder 3">
            <a:extLst>
              <a:ext uri="{FF2B5EF4-FFF2-40B4-BE49-F238E27FC236}">
                <a16:creationId xmlns:a16="http://schemas.microsoft.com/office/drawing/2014/main" id="{1F8A7E3F-77A6-F1D3-D804-478AF7028BF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CB37446-B715-2F93-D7F3-75E0116A639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1F3935B-7925-4333-83E7-4BE3A0639572}" type="slidenum">
              <a:rPr lang="en-US" smtClean="0"/>
              <a:t>‹#›</a:t>
            </a:fld>
            <a:endParaRPr lang="en-US"/>
          </a:p>
        </p:txBody>
      </p:sp>
    </p:spTree>
    <p:extLst>
      <p:ext uri="{BB962C8B-B14F-4D97-AF65-F5344CB8AC3E}">
        <p14:creationId xmlns:p14="http://schemas.microsoft.com/office/powerpoint/2010/main" val="4215709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05B871-BA80-442C-BD56-2EBA79B7C50C}" type="datetimeFigureOut">
              <a:rPr lang="en-US" smtClean="0"/>
              <a:t>10/31/2025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E017AD-4DAE-4101-8BD7-443876F77AC4}" type="slidenum">
              <a:rPr lang="en-US" smtClean="0"/>
              <a:t>‹#›</a:t>
            </a:fld>
            <a:endParaRPr lang="en-US"/>
          </a:p>
        </p:txBody>
      </p:sp>
    </p:spTree>
    <p:extLst>
      <p:ext uri="{BB962C8B-B14F-4D97-AF65-F5344CB8AC3E}">
        <p14:creationId xmlns:p14="http://schemas.microsoft.com/office/powerpoint/2010/main" val="4079787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8" Type="http://schemas.openxmlformats.org/officeDocument/2006/relationships/hyperlink" Target="https://blogs.microsoft.com/on-the-issues/2023/09/07/copilot-copyright-commitment-ai-legal-concerns/" TargetMode="External"/><Relationship Id="rId3" Type="http://schemas.openxmlformats.org/officeDocument/2006/relationships/hyperlink" Target="https://learn.microsoft.com/en-us/microsoft-365/compliance/office-365-encryption-in-the-microsoft-cloud-overview" TargetMode="External"/><Relationship Id="rId7" Type="http://schemas.openxmlformats.org/officeDocument/2006/relationships/hyperlink" Target="https://learn.microsoft.com/en-us/copilot/microsoft-365/microsoft-365-copilot-privacy#does-copilot-provide-protected-material-detection"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learn.microsoft.com/en-us/copilot/microsoft-365/microsoft-365-copilot-privacy#does-copilot-block-prompt-injections-jailbreak-attacks" TargetMode="External"/><Relationship Id="rId5" Type="http://schemas.openxmlformats.org/officeDocument/2006/relationships/hyperlink" Target="https://learn.microsoft.com/en-us/copilot/microsoft-365/microsoft-365-copilot-privacy#how-does-copilot-block-harmful-content" TargetMode="External"/><Relationship Id="rId4" Type="http://schemas.openxmlformats.org/officeDocument/2006/relationships/hyperlink" Target="https://learn.microsoft.com/en-us/compliance/assurance/assurance-microsoft-365-isolation-controls"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R="0" lvl="0">
              <a:lnSpc>
                <a:spcPct val="107000"/>
              </a:lnSpc>
              <a:spcBef>
                <a:spcPts val="0"/>
              </a:spcBef>
              <a:spcAft>
                <a:spcPts val="800"/>
              </a:spcAft>
            </a:pPr>
            <a:endParaRPr lang="en-US" sz="1100">
              <a:effectLst/>
              <a:latin typeface="Calibri" panose="020F0502020204030204" pitchFamily="34" charset="0"/>
              <a:ea typeface="Calibri" panose="020F0502020204030204" pitchFamily="34" charset="0"/>
              <a:cs typeface="Arial" panose="020B0604020202020204" pitchFamily="34" charset="0"/>
            </a:endParaRP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a:xfrm>
            <a:off x="78827" y="8338371"/>
            <a:ext cx="5304056" cy="458787"/>
          </a:xfrm>
        </p:spPr>
        <p:txBody>
          <a:bodyPr/>
          <a:lstStyle/>
          <a:p>
            <a:pPr marL="566014" marR="0" lvl="0" indent="0" algn="l" defTabSz="905324" rtl="0" eaLnBrk="0"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Copyright © 2025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10/31/2025 2:03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737988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3E017AD-4DAE-4101-8BD7-443876F77AC4}" type="slidenum">
              <a:rPr lang="en-US" smtClean="0"/>
              <a:t>3</a:t>
            </a:fld>
            <a:endParaRPr lang="en-US"/>
          </a:p>
        </p:txBody>
      </p:sp>
    </p:spTree>
    <p:extLst>
      <p:ext uri="{BB962C8B-B14F-4D97-AF65-F5344CB8AC3E}">
        <p14:creationId xmlns:p14="http://schemas.microsoft.com/office/powerpoint/2010/main" val="42408391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35A93-D389-9DB7-165C-42325F95A3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73D1C2-F28B-5E5A-F5B2-2E5120BE53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572D93-EBD0-506E-14BF-8A772F1533AC}"/>
              </a:ext>
            </a:extLst>
          </p:cNvPr>
          <p:cNvSpPr>
            <a:spLocks noGrp="1"/>
          </p:cNvSpPr>
          <p:nvPr>
            <p:ph type="body" idx="1"/>
          </p:nvPr>
        </p:nvSpPr>
        <p:spPr>
          <a:xfrm>
            <a:off x="598098" y="4400550"/>
            <a:ext cx="5574102" cy="3600450"/>
          </a:xfrm>
        </p:spPr>
        <p:txBody>
          <a:bodyPr/>
          <a:lstStyle/>
          <a:p>
            <a:pPr marL="0" marR="0" lvl="0" indent="0" algn="l" defTabSz="914400" rtl="0" eaLnBrk="1" fontAlgn="auto" latinLnBrk="0" hangingPunct="1">
              <a:lnSpc>
                <a:spcPct val="100000"/>
              </a:lnSpc>
              <a:spcBef>
                <a:spcPts val="600"/>
              </a:spcBef>
              <a:spcAft>
                <a:spcPts val="0"/>
              </a:spcAft>
              <a:buClrTx/>
              <a:buSzTx/>
              <a:buFont typeface="+mj-lt"/>
              <a:buNone/>
              <a:tabLst/>
              <a:defRPr/>
            </a:pPr>
            <a:r>
              <a:rPr lang="en-US" sz="900">
                <a:effectLst/>
                <a:latin typeface="Segoe UI" panose="020B0502040204020203" pitchFamily="34" charset="0"/>
                <a:ea typeface="Segoe UI" panose="020B0502040204020203" pitchFamily="34" charset="0"/>
                <a:cs typeface="Segoe UI" panose="020B0502040204020203" pitchFamily="34" charset="0"/>
              </a:rPr>
              <a:t>Copilot is a comprehensive solution for AI transformation.</a:t>
            </a:r>
          </a:p>
          <a:p>
            <a:pPr marL="228600" marR="0" lvl="0" indent="-22860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900" b="0" i="0" u="none" strike="noStrike" kern="1200" cap="none" spc="0" normalizeH="0" baseline="0" noProof="0">
                <a:ln>
                  <a:noFill/>
                </a:ln>
                <a:solidFill>
                  <a:srgbClr val="000000"/>
                </a:solidFill>
                <a:effectLst/>
                <a:uLnTx/>
                <a:uFillTx/>
                <a:latin typeface="Segoe UI" panose="020B0502040204020203" pitchFamily="34" charset="0"/>
                <a:cs typeface="Segoe UI" panose="020B0502040204020203" pitchFamily="34" charset="0"/>
              </a:rPr>
              <a:t>Engage with Copilot chat with a standardized user experience across web, desktop, and mobile.</a:t>
            </a:r>
          </a:p>
          <a:p>
            <a:pPr marL="228600" marR="0" lvl="0" indent="-228600" algn="l" defTabSz="914400" rtl="0" eaLnBrk="1" fontAlgn="auto" latinLnBrk="0" hangingPunct="1">
              <a:lnSpc>
                <a:spcPct val="100000"/>
              </a:lnSpc>
              <a:spcBef>
                <a:spcPts val="600"/>
              </a:spcBef>
              <a:spcAft>
                <a:spcPts val="0"/>
              </a:spcAft>
              <a:buClrTx/>
              <a:buSzTx/>
              <a:buFont typeface="+mj-lt"/>
              <a:buAutoNum type="arabicPeriod"/>
              <a:tabLst/>
              <a:defRPr/>
            </a:pPr>
            <a:r>
              <a:rPr lang="en-US" sz="900" b="0" i="0" u="none" strike="noStrike">
                <a:solidFill>
                  <a:srgbClr val="000000"/>
                </a:solidFill>
                <a:effectLst/>
                <a:latin typeface="Segoe UI" panose="020B0502040204020203" pitchFamily="34" charset="0"/>
                <a:cs typeface="Segoe UI" panose="020B0502040204020203" pitchFamily="34" charset="0"/>
              </a:rPr>
              <a:t>Copilot is integrated in the tools millions use every day, including Word, Excel, PowerPoint, Outlook, and Teams. Copilot provides a unified AI experience that works seamlessly across apps and experiences throughout your workday. </a:t>
            </a:r>
            <a:r>
              <a:rPr lang="en-US" sz="900" b="0" i="0">
                <a:solidFill>
                  <a:srgbClr val="444444"/>
                </a:solidFill>
                <a:effectLst/>
                <a:latin typeface="Segoe UI" panose="020B0502040204020203" pitchFamily="34" charset="0"/>
                <a:cs typeface="Segoe UI" panose="020B0502040204020203" pitchFamily="34" charset="0"/>
              </a:rPr>
              <a:t>​</a:t>
            </a:r>
            <a:r>
              <a:rPr lang="en-US" sz="900" b="0" i="0" u="none" strike="noStrike">
                <a:solidFill>
                  <a:srgbClr val="000000"/>
                </a:solidFill>
                <a:effectLst/>
                <a:latin typeface="Segoe UI" panose="020B0502040204020203" pitchFamily="34" charset="0"/>
                <a:cs typeface="Segoe UI" panose="020B0502040204020203" pitchFamily="34" charset="0"/>
              </a:rPr>
              <a:t>It is grounded in Microsoft Graph, which provides trillions of signals from productivity and work data, which enables Copilot to provide more personalized and relevant responses.</a:t>
            </a:r>
            <a:r>
              <a:rPr lang="en-US" sz="900" b="0" i="0">
                <a:solidFill>
                  <a:srgbClr val="444444"/>
                </a:solidFill>
                <a:effectLst/>
                <a:latin typeface="Segoe UI" panose="020B0502040204020203" pitchFamily="34" charset="0"/>
                <a:cs typeface="Segoe UI" panose="020B0502040204020203" pitchFamily="34" charset="0"/>
              </a:rPr>
              <a:t>​</a:t>
            </a:r>
          </a:p>
          <a:p>
            <a:pPr marL="228600" marR="0" lvl="0" indent="-228600" algn="l" defTabSz="914400" rtl="0" eaLnBrk="1" fontAlgn="auto" latinLnBrk="0" hangingPunct="1">
              <a:lnSpc>
                <a:spcPct val="100000"/>
              </a:lnSpc>
              <a:spcBef>
                <a:spcPts val="600"/>
              </a:spcBef>
              <a:spcAft>
                <a:spcPts val="0"/>
              </a:spcAft>
              <a:buClrTx/>
              <a:buSzTx/>
              <a:buFont typeface="+mj-lt"/>
              <a:buAutoNum type="arabicPeriod"/>
              <a:tabLst/>
              <a:defRPr/>
            </a:pPr>
            <a:r>
              <a:rPr lang="en-US" sz="900" b="0" i="0" u="none" strike="noStrike">
                <a:solidFill>
                  <a:srgbClr val="000000"/>
                </a:solidFill>
                <a:effectLst/>
                <a:latin typeface="Segoe UI" panose="020B0502040204020203" pitchFamily="34" charset="0"/>
                <a:cs typeface="Segoe UI" panose="020B0502040204020203" pitchFamily="34" charset="0"/>
              </a:rPr>
              <a:t>In addition to the productivity signals in Microsoft 365, you can also connect to additional business data sources, such as ERP, CRM, HCM, and custom applications, which allows Copilot to reason over all your enterprise data. You can choose from over 1,800+ pre-built connectors to get started.</a:t>
            </a:r>
            <a:r>
              <a:rPr lang="en-US" sz="900" b="0" i="0">
                <a:solidFill>
                  <a:srgbClr val="444444"/>
                </a:solidFill>
                <a:effectLst/>
                <a:latin typeface="Segoe UI" panose="020B0502040204020203" pitchFamily="34" charset="0"/>
                <a:cs typeface="Segoe UI" panose="020B0502040204020203" pitchFamily="34" charset="0"/>
              </a:rPr>
              <a:t>​ </a:t>
            </a:r>
            <a:r>
              <a:rPr lang="en-US" sz="900" b="0" i="0" u="none" strike="noStrike">
                <a:solidFill>
                  <a:srgbClr val="000000"/>
                </a:solidFill>
                <a:effectLst/>
                <a:latin typeface="Segoe UI" panose="020B0502040204020203" pitchFamily="34" charset="0"/>
                <a:cs typeface="Segoe UI" panose="020B0502040204020203" pitchFamily="34" charset="0"/>
              </a:rPr>
              <a:t>We recognize that every business is different, and so we offer no-code and low-code tools build custom Copilot agents. </a:t>
            </a:r>
            <a:r>
              <a:rPr lang="en-US" sz="900" b="0" i="0" u="none" strike="noStrike">
                <a:solidFill>
                  <a:srgbClr val="262626"/>
                </a:solidFill>
                <a:effectLst/>
                <a:latin typeface="Segoe UI" panose="020B0502040204020203" pitchFamily="34" charset="0"/>
                <a:cs typeface="Segoe UI" panose="020B0502040204020203" pitchFamily="34" charset="0"/>
              </a:rPr>
              <a:t>Copilot agents give Copilot new ways to access data and take actions. </a:t>
            </a:r>
            <a:r>
              <a:rPr lang="en-US" sz="900" b="0" i="0" u="none" strike="noStrike">
                <a:solidFill>
                  <a:srgbClr val="000000"/>
                </a:solidFill>
                <a:effectLst/>
                <a:latin typeface="Segoe UI" panose="020B0502040204020203" pitchFamily="34" charset="0"/>
                <a:cs typeface="Segoe UI" panose="020B0502040204020203" pitchFamily="34" charset="0"/>
              </a:rPr>
              <a:t>to customize the topics, knowledge, and actions available to Copilot agents so that they can meet the needs of specialized functions and tasks.</a:t>
            </a:r>
            <a:r>
              <a:rPr lang="en-US" sz="900" b="0" i="0">
                <a:solidFill>
                  <a:srgbClr val="444444"/>
                </a:solidFill>
                <a:effectLst/>
                <a:latin typeface="Segoe UI" panose="020B0502040204020203" pitchFamily="34" charset="0"/>
                <a:cs typeface="Segoe UI" panose="020B0502040204020203" pitchFamily="34" charset="0"/>
              </a:rPr>
              <a:t>​</a:t>
            </a:r>
          </a:p>
          <a:p>
            <a:pPr marL="228600" marR="0" lvl="0" indent="-228600" algn="l" defTabSz="914400" rtl="0" eaLnBrk="1" fontAlgn="auto" latinLnBrk="0" hangingPunct="1">
              <a:lnSpc>
                <a:spcPct val="100000"/>
              </a:lnSpc>
              <a:spcBef>
                <a:spcPts val="600"/>
              </a:spcBef>
              <a:spcAft>
                <a:spcPts val="0"/>
              </a:spcAft>
              <a:buClrTx/>
              <a:buSzTx/>
              <a:buFont typeface="+mj-lt"/>
              <a:buAutoNum type="arabicPeriod"/>
              <a:tabLst/>
              <a:defRPr/>
            </a:pPr>
            <a:r>
              <a:rPr lang="en-US" sz="900" b="0" i="0" u="none" strike="noStrike">
                <a:solidFill>
                  <a:srgbClr val="000000"/>
                </a:solidFill>
                <a:effectLst/>
                <a:latin typeface="Segoe UI" panose="020B0502040204020203" pitchFamily="34" charset="0"/>
                <a:cs typeface="Segoe UI" panose="020B0502040204020203" pitchFamily="34" charset="0"/>
              </a:rPr>
              <a:t>Copilot inherits Microsoft 365 security, permissions, policies, and admin controls. There’s also built-in data governance with advanced enterprise data protection. All of this is done with our comprehensive approach to Responsible AI.</a:t>
            </a:r>
            <a:r>
              <a:rPr lang="en-US" sz="900" b="0" i="0">
                <a:solidFill>
                  <a:srgbClr val="444444"/>
                </a:solidFill>
                <a:effectLst/>
                <a:latin typeface="Segoe UI" panose="020B0502040204020203" pitchFamily="34" charset="0"/>
                <a:cs typeface="Segoe UI" panose="020B0502040204020203" pitchFamily="34" charset="0"/>
              </a:rPr>
              <a:t>​</a:t>
            </a:r>
          </a:p>
          <a:p>
            <a:pPr marL="228600" marR="0" lvl="0" indent="-22860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900" b="0" i="0" u="none" strike="noStrike" kern="1200" cap="none" spc="0" normalizeH="0" baseline="0" noProof="0">
                <a:ln>
                  <a:noFill/>
                </a:ln>
                <a:solidFill>
                  <a:srgbClr val="000000"/>
                </a:solidFill>
                <a:effectLst/>
                <a:uLnTx/>
                <a:uFillTx/>
                <a:latin typeface="Segoe UI" panose="020B0502040204020203" pitchFamily="34" charset="0"/>
                <a:cs typeface="Segoe UI" panose="020B0502040204020203" pitchFamily="34" charset="0"/>
              </a:rPr>
              <a:t>Provides flexibility and choice to enable all employees with AI and access to agents</a:t>
            </a:r>
            <a:r>
              <a:rPr kumimoji="0" lang="en-US" sz="900" b="0" i="0" u="none" strike="noStrike" kern="1200" cap="none" spc="0" normalizeH="0" noProof="0">
                <a:ln>
                  <a:noFill/>
                </a:ln>
                <a:solidFill>
                  <a:srgbClr val="000000"/>
                </a:solidFill>
                <a:effectLst/>
                <a:uLnTx/>
                <a:uFillTx/>
                <a:latin typeface="Segoe UI" panose="020B0502040204020203" pitchFamily="34" charset="0"/>
                <a:cs typeface="Segoe UI" panose="020B0502040204020203" pitchFamily="34" charset="0"/>
              </a:rPr>
              <a:t> </a:t>
            </a:r>
            <a:r>
              <a:rPr kumimoji="0" lang="en-US" sz="900" b="0" i="0" u="none" strike="noStrike" kern="1200" cap="none" spc="0" normalizeH="0" baseline="0" noProof="0">
                <a:ln>
                  <a:noFill/>
                </a:ln>
                <a:solidFill>
                  <a:srgbClr val="000000"/>
                </a:solidFill>
                <a:effectLst/>
                <a:uLnTx/>
                <a:uFillTx/>
                <a:latin typeface="Segoe UI" panose="020B0502040204020203" pitchFamily="34" charset="0"/>
                <a:cs typeface="Segoe UI" panose="020B0502040204020203" pitchFamily="34" charset="0"/>
              </a:rPr>
              <a:t>as needed with subscription or pay-as-you-go options.</a:t>
            </a:r>
          </a:p>
          <a:p>
            <a:pPr marL="228600" marR="0" lvl="0" indent="-228600" algn="l" defTabSz="914400" rtl="0" eaLnBrk="1" fontAlgn="auto" latinLnBrk="0" hangingPunct="1">
              <a:lnSpc>
                <a:spcPct val="100000"/>
              </a:lnSpc>
              <a:spcBef>
                <a:spcPts val="600"/>
              </a:spcBef>
              <a:spcAft>
                <a:spcPts val="0"/>
              </a:spcAft>
              <a:buClrTx/>
              <a:buSzTx/>
              <a:buFont typeface="+mj-lt"/>
              <a:buAutoNum type="arabicPeriod"/>
              <a:tabLst/>
              <a:defRPr/>
            </a:pPr>
            <a:r>
              <a:rPr lang="en-US" sz="900" b="0" i="0" u="none" strike="noStrike">
                <a:solidFill>
                  <a:srgbClr val="000000"/>
                </a:solidFill>
                <a:effectLst/>
                <a:latin typeface="Segoe UI" panose="020B0502040204020203" pitchFamily="34" charset="0"/>
                <a:cs typeface="Segoe UI" panose="020B0502040204020203" pitchFamily="34" charset="0"/>
              </a:rPr>
              <a:t>And finally, we provide tools to help you accelerate adoption and measure AI impact and business value. This includes tools like Copilot Lab and the Learning Academy to drive skilling and adoption, and the Copilot Dashboard to help you quantify the benefits. </a:t>
            </a:r>
            <a:r>
              <a:rPr lang="en-US" sz="900" b="0" i="0">
                <a:solidFill>
                  <a:srgbClr val="444444"/>
                </a:solidFill>
                <a:effectLst/>
                <a:latin typeface="Segoe UI" panose="020B0502040204020203" pitchFamily="34" charset="0"/>
                <a:cs typeface="Segoe UI" panose="020B0502040204020203" pitchFamily="34" charset="0"/>
              </a:rPr>
              <a:t>​</a:t>
            </a:r>
          </a:p>
        </p:txBody>
      </p:sp>
      <p:sp>
        <p:nvSpPr>
          <p:cNvPr id="4" name="Slide Number Placeholder 3">
            <a:extLst>
              <a:ext uri="{FF2B5EF4-FFF2-40B4-BE49-F238E27FC236}">
                <a16:creationId xmlns:a16="http://schemas.microsoft.com/office/drawing/2014/main" id="{2D921C35-6313-75BD-8799-442A19CF02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2C08E8-D872-4FE8-B916-856480B4318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6546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4379A-DF20-83A5-B684-12368BF334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EDC933-DE9A-F7FF-614F-E7682BF324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77D230-AD62-7F27-9658-ADCF58A19214}"/>
              </a:ext>
            </a:extLst>
          </p:cNvPr>
          <p:cNvSpPr>
            <a:spLocks noGrp="1"/>
          </p:cNvSpPr>
          <p:nvPr>
            <p:ph type="body" idx="1"/>
          </p:nvPr>
        </p:nvSpPr>
        <p:spPr>
          <a:xfrm>
            <a:off x="414067" y="4400550"/>
            <a:ext cx="5974264" cy="4179858"/>
          </a:xfrm>
        </p:spPr>
        <p:txBody>
          <a:bodyPr/>
          <a:lstStyle/>
          <a:p>
            <a:pPr algn="l" rtl="0" fontAlgn="base">
              <a:lnSpc>
                <a:spcPct val="95000"/>
              </a:lnSpc>
              <a:spcAft>
                <a:spcPts val="800"/>
              </a:spcAft>
            </a:pPr>
            <a:r>
              <a:rPr lang="en-US" sz="900" b="0" i="0" u="none" strike="noStrike">
                <a:solidFill>
                  <a:srgbClr val="000000"/>
                </a:solidFill>
                <a:effectLst/>
                <a:latin typeface="Segoe UI" panose="020B0502040204020203" pitchFamily="34" charset="0"/>
                <a:cs typeface="Segoe UI" panose="020B0502040204020203" pitchFamily="34" charset="0"/>
              </a:rPr>
              <a:t>Microsoft is </a:t>
            </a:r>
            <a:r>
              <a:rPr lang="en-US" sz="900" b="1" i="0" u="none" strike="noStrike">
                <a:solidFill>
                  <a:srgbClr val="000000"/>
                </a:solidFill>
                <a:effectLst/>
                <a:latin typeface="Segoe UI" panose="020B0502040204020203" pitchFamily="34" charset="0"/>
                <a:cs typeface="Segoe UI" panose="020B0502040204020203" pitchFamily="34" charset="0"/>
              </a:rPr>
              <a:t>the</a:t>
            </a:r>
            <a:r>
              <a:rPr lang="en-US" sz="900" b="0" i="0" u="none" strike="noStrike">
                <a:solidFill>
                  <a:srgbClr val="000000"/>
                </a:solidFill>
                <a:effectLst/>
                <a:latin typeface="Segoe UI" panose="020B0502040204020203" pitchFamily="34" charset="0"/>
                <a:cs typeface="Segoe UI" panose="020B0502040204020203" pitchFamily="34" charset="0"/>
              </a:rPr>
              <a:t> partner for your AI journey. Here are the reasons why:</a:t>
            </a:r>
            <a:r>
              <a:rPr lang="en-US" sz="900" b="0" i="0">
                <a:solidFill>
                  <a:srgbClr val="444444"/>
                </a:solidFill>
                <a:effectLst/>
                <a:latin typeface="Segoe UI" panose="020B0502040204020203" pitchFamily="34" charset="0"/>
                <a:cs typeface="Segoe UI" panose="020B0502040204020203" pitchFamily="34" charset="0"/>
              </a:rPr>
              <a:t>​</a:t>
            </a:r>
          </a:p>
          <a:p>
            <a:pPr marL="285750" marR="0" lvl="0" indent="-228600" algn="l" defTabSz="914367" rtl="0" eaLnBrk="1" fontAlgn="base" latinLnBrk="0" hangingPunct="1">
              <a:lnSpc>
                <a:spcPct val="95000"/>
              </a:lnSpc>
              <a:spcAft>
                <a:spcPts val="600"/>
              </a:spcAft>
              <a:buClrTx/>
              <a:buSzTx/>
              <a:buFont typeface="+mj-lt"/>
              <a:buAutoNum type="arabicPeriod"/>
              <a:tabLst/>
              <a:defRPr/>
            </a:pPr>
            <a:r>
              <a:rPr lang="en-US" sz="900" b="0" i="0" u="none" strike="noStrike">
                <a:solidFill>
                  <a:srgbClr val="000000"/>
                </a:solidFill>
                <a:effectLst/>
                <a:latin typeface="Segoe UI" panose="020B0502040204020203" pitchFamily="34" charset="0"/>
                <a:cs typeface="Segoe UI" panose="020B0502040204020203" pitchFamily="34" charset="0"/>
              </a:rPr>
              <a:t>The updated</a:t>
            </a:r>
            <a:r>
              <a:rPr lang="en-US" sz="900" kern="100">
                <a:effectLst/>
                <a:latin typeface="Segoe UI" panose="020B0502040204020203" pitchFamily="34" charset="0"/>
                <a:ea typeface="Calibri" panose="020F0502020204030204" pitchFamily="34" charset="0"/>
                <a:cs typeface="Segoe UI" panose="020B0502040204020203" pitchFamily="34" charset="0"/>
              </a:rPr>
              <a:t> Microsoft 365 Copilot app enables a whole new way of work. It’s AI-powered productivity is personalized and designed to adapt to you.</a:t>
            </a:r>
            <a:r>
              <a:rPr lang="en-US" sz="900">
                <a:latin typeface="Segoe UI" panose="020B0502040204020203" pitchFamily="34" charset="0"/>
                <a:cs typeface="Segoe UI" panose="020B0502040204020203" pitchFamily="34" charset="0"/>
              </a:rPr>
              <a:t> It </a:t>
            </a:r>
            <a:r>
              <a:rPr lang="en-US" sz="900">
                <a:effectLst/>
                <a:latin typeface="Segoe UI" panose="020B0502040204020203" pitchFamily="34" charset="0"/>
                <a:ea typeface="Times New Roman" panose="02020603050405020304" pitchFamily="18" charset="0"/>
                <a:cs typeface="Segoe UI" panose="020B0502040204020203" pitchFamily="34" charset="0"/>
              </a:rPr>
              <a:t>learns what’s important to you and works the way you want to work. The app integrates AI for work in one simple tailored app that brings it all together.</a:t>
            </a:r>
            <a:endParaRPr lang="en-US" sz="900" b="0" i="0" u="none" strike="noStrike">
              <a:solidFill>
                <a:srgbClr val="000000"/>
              </a:solidFill>
              <a:effectLst/>
              <a:latin typeface="Segoe UI" panose="020B0502040204020203" pitchFamily="34" charset="0"/>
              <a:cs typeface="Segoe UI" panose="020B0502040204020203" pitchFamily="34" charset="0"/>
            </a:endParaRPr>
          </a:p>
          <a:p>
            <a:pPr marL="285750" indent="-228600" algn="l" rtl="0" fontAlgn="base">
              <a:lnSpc>
                <a:spcPct val="95000"/>
              </a:lnSpc>
              <a:spcAft>
                <a:spcPts val="600"/>
              </a:spcAft>
              <a:buFont typeface="+mj-lt"/>
              <a:buAutoNum type="arabicPeriod"/>
            </a:pPr>
            <a:r>
              <a:rPr lang="en-US" sz="900" b="0" i="0" u="none" strike="noStrike">
                <a:solidFill>
                  <a:srgbClr val="000000"/>
                </a:solidFill>
                <a:effectLst/>
                <a:latin typeface="Segoe UI" panose="020B0502040204020203" pitchFamily="34" charset="0"/>
                <a:cs typeface="Segoe UI" panose="020B0502040204020203" pitchFamily="34" charset="0"/>
              </a:rPr>
              <a:t>Copilot is integrated in the tools millions use every day, including Word, Excel, PowerPoint, Outlook, and Teams. Copilot provides a unified AI experience that works seamlessly across apps and experiences throughout your workday. </a:t>
            </a:r>
            <a:r>
              <a:rPr lang="en-US" sz="900" b="0" i="0">
                <a:solidFill>
                  <a:srgbClr val="444444"/>
                </a:solidFill>
                <a:effectLst/>
                <a:latin typeface="Segoe UI" panose="020B0502040204020203" pitchFamily="34" charset="0"/>
                <a:cs typeface="Segoe UI" panose="020B0502040204020203" pitchFamily="34" charset="0"/>
              </a:rPr>
              <a:t>​</a:t>
            </a:r>
          </a:p>
          <a:p>
            <a:pPr marL="285750" marR="0" indent="-228600">
              <a:lnSpc>
                <a:spcPct val="95000"/>
              </a:lnSpc>
              <a:spcAft>
                <a:spcPts val="600"/>
              </a:spcAft>
              <a:buFont typeface="+mj-lt"/>
              <a:buAutoNum type="arabicPeriod"/>
            </a:pPr>
            <a:r>
              <a:rPr lang="en-US" sz="900" kern="100">
                <a:effectLst/>
                <a:latin typeface="Segoe UI" panose="020B0502040204020203" pitchFamily="34" charset="0"/>
                <a:ea typeface="Times New Roman" panose="02020603050405020304" pitchFamily="18" charset="0"/>
                <a:cs typeface="Segoe UI" panose="020B0502040204020203" pitchFamily="34" charset="0"/>
              </a:rPr>
              <a:t>With Copilot Search, we’re bringing the power of search and AI together to give you more relevant, context-aware search results. It connects your work data and dozens of apps so you can quickly find what you need. </a:t>
            </a:r>
          </a:p>
          <a:p>
            <a:pPr marL="285750" marR="0" lvl="0" indent="-228600" algn="l" defTabSz="914367" rtl="0" eaLnBrk="1" fontAlgn="auto" latinLnBrk="0" hangingPunct="1">
              <a:lnSpc>
                <a:spcPct val="95000"/>
              </a:lnSpc>
              <a:spcAft>
                <a:spcPts val="600"/>
              </a:spcAft>
              <a:buClrTx/>
              <a:buSzTx/>
              <a:buFont typeface="+mj-lt"/>
              <a:buAutoNum type="arabicPeriod"/>
              <a:tabLst/>
              <a:defRPr/>
            </a:pPr>
            <a:r>
              <a:rPr lang="en-US" sz="900" kern="100">
                <a:effectLst/>
                <a:latin typeface="Segoe UI" panose="020B0502040204020203" pitchFamily="34" charset="0"/>
                <a:ea typeface="Calibri" panose="020F0502020204030204" pitchFamily="34" charset="0"/>
                <a:cs typeface="Segoe UI" panose="020B0502040204020203" pitchFamily="34" charset="0"/>
              </a:rPr>
              <a:t>Copilot is your window into agents – your new digital workforce – including Researcher and Analyst, two first of their kind with advanced reasoning agents for work. Researcher helps you tackle complex, multi-step research – delivering deeper, more complete findings. Analyst is built on OpenAI’s o3-mini reasoning model and optimized to do advanced data analysis at work – including knowing when and how to use Python. </a:t>
            </a:r>
          </a:p>
          <a:p>
            <a:pPr marL="285750" marR="0" lvl="0" indent="-228600" algn="l" defTabSz="914367" rtl="0" eaLnBrk="1" fontAlgn="auto" latinLnBrk="0" hangingPunct="1">
              <a:lnSpc>
                <a:spcPct val="95000"/>
              </a:lnSpc>
              <a:spcAft>
                <a:spcPts val="600"/>
              </a:spcAft>
              <a:buClrTx/>
              <a:buSzTx/>
              <a:buFont typeface="+mj-lt"/>
              <a:buAutoNum type="arabicPeriod"/>
              <a:tabLst/>
              <a:defRPr/>
            </a:pPr>
            <a:r>
              <a:rPr lang="en-US" sz="900" b="0" i="0" u="none" strike="noStrike">
                <a:solidFill>
                  <a:srgbClr val="000000"/>
                </a:solidFill>
                <a:effectLst/>
                <a:latin typeface="Segoe UI" panose="020B0502040204020203" pitchFamily="34" charset="0"/>
                <a:cs typeface="Segoe UI" panose="020B0502040204020203" pitchFamily="34" charset="0"/>
              </a:rPr>
              <a:t>We recognize that every business is different and so we offer no-code and low-code tools to build custom Copilot agents. </a:t>
            </a:r>
            <a:r>
              <a:rPr lang="en-US" sz="900" b="0" i="0" u="none" strike="noStrike">
                <a:solidFill>
                  <a:srgbClr val="262626"/>
                </a:solidFill>
                <a:effectLst/>
                <a:latin typeface="Segoe UI" panose="020B0502040204020203" pitchFamily="34" charset="0"/>
                <a:cs typeface="Segoe UI" panose="020B0502040204020203" pitchFamily="34" charset="0"/>
              </a:rPr>
              <a:t>Copilot agents give Copilot new ways to access data and take actions t</a:t>
            </a:r>
            <a:r>
              <a:rPr lang="en-US" sz="900" b="0" i="0" u="none" strike="noStrike">
                <a:solidFill>
                  <a:srgbClr val="000000"/>
                </a:solidFill>
                <a:effectLst/>
                <a:latin typeface="Segoe UI" panose="020B0502040204020203" pitchFamily="34" charset="0"/>
                <a:cs typeface="Segoe UI" panose="020B0502040204020203" pitchFamily="34" charset="0"/>
              </a:rPr>
              <a:t>o customize the topics, knowledge, and actions available to Copilot agents so they can meet the needs of specialized functions and tasks.</a:t>
            </a:r>
            <a:r>
              <a:rPr lang="en-US" sz="900" b="0" i="0">
                <a:solidFill>
                  <a:srgbClr val="444444"/>
                </a:solidFill>
                <a:effectLst/>
                <a:latin typeface="Segoe UI" panose="020B0502040204020203" pitchFamily="34" charset="0"/>
                <a:cs typeface="Segoe UI" panose="020B0502040204020203" pitchFamily="34" charset="0"/>
              </a:rPr>
              <a:t>​ </a:t>
            </a:r>
            <a:r>
              <a:rPr lang="en-US" sz="900" b="0" i="0" u="none" strike="noStrike">
                <a:solidFill>
                  <a:srgbClr val="000000"/>
                </a:solidFill>
                <a:effectLst/>
                <a:latin typeface="Segoe UI" panose="020B0502040204020203" pitchFamily="34" charset="0"/>
                <a:cs typeface="Segoe UI" panose="020B0502040204020203" pitchFamily="34" charset="0"/>
              </a:rPr>
              <a:t>In addition to the productivity signals in Microsoft 365, you can also connect to additional business data sources, such as ERP, CRM, HCM, and custom applications, which allows Copilot to reason over all your enterprise data. You can choose from over 1,400+ pre-built connectors to get started.</a:t>
            </a:r>
            <a:r>
              <a:rPr lang="en-US" sz="900" b="0" i="0">
                <a:solidFill>
                  <a:srgbClr val="444444"/>
                </a:solidFill>
                <a:effectLst/>
                <a:latin typeface="Segoe UI" panose="020B0502040204020203" pitchFamily="34" charset="0"/>
                <a:cs typeface="Segoe UI" panose="020B0502040204020203" pitchFamily="34" charset="0"/>
              </a:rPr>
              <a:t>​</a:t>
            </a:r>
            <a:br>
              <a:rPr lang="en-US" sz="900">
                <a:solidFill>
                  <a:srgbClr val="444444"/>
                </a:solidFill>
                <a:latin typeface="Segoe UI" panose="020B0502040204020203" pitchFamily="34" charset="0"/>
                <a:cs typeface="Segoe UI" panose="020B0502040204020203" pitchFamily="34" charset="0"/>
              </a:rPr>
            </a:br>
            <a:br>
              <a:rPr lang="en-US" sz="900">
                <a:solidFill>
                  <a:srgbClr val="444444"/>
                </a:solidFill>
                <a:latin typeface="Segoe UI" panose="020B0502040204020203" pitchFamily="34" charset="0"/>
                <a:cs typeface="Segoe UI" panose="020B0502040204020203" pitchFamily="34" charset="0"/>
              </a:rPr>
            </a:br>
            <a:r>
              <a:rPr lang="en-US" sz="900" b="0" i="0" u="none" strike="noStrike">
                <a:solidFill>
                  <a:srgbClr val="000000"/>
                </a:solidFill>
                <a:effectLst/>
                <a:latin typeface="Segoe UI" panose="020B0502040204020203" pitchFamily="34" charset="0"/>
                <a:cs typeface="Segoe UI" panose="020B0502040204020203" pitchFamily="34" charset="0"/>
              </a:rPr>
              <a:t>Copilot inherits Microsoft 365 security, permissions, policies, and admin controls. There’s also built-in data governance with advanced enterprise data protection. All of this is done with our comprehensive approach to Responsible AI.</a:t>
            </a:r>
            <a:r>
              <a:rPr lang="en-US" sz="900" b="0" i="0">
                <a:solidFill>
                  <a:srgbClr val="444444"/>
                </a:solidFill>
                <a:effectLst/>
                <a:latin typeface="Segoe UI" panose="020B0502040204020203" pitchFamily="34" charset="0"/>
                <a:cs typeface="Segoe UI" panose="020B0502040204020203" pitchFamily="34" charset="0"/>
              </a:rPr>
              <a:t>​</a:t>
            </a:r>
          </a:p>
          <a:p>
            <a:pPr marL="285750" indent="-228600" algn="l">
              <a:lnSpc>
                <a:spcPct val="95000"/>
              </a:lnSpc>
              <a:spcAft>
                <a:spcPts val="600"/>
              </a:spcAft>
              <a:buFont typeface="+mj-lt"/>
              <a:buAutoNum type="arabicPeriod" startAt="6"/>
            </a:pPr>
            <a:r>
              <a:rPr lang="en-US" sz="900" b="0" i="0" u="none" strike="noStrike">
                <a:solidFill>
                  <a:srgbClr val="000000"/>
                </a:solidFill>
                <a:effectLst/>
                <a:latin typeface="Segoe UI" panose="020B0502040204020203" pitchFamily="34" charset="0"/>
                <a:cs typeface="Segoe UI" panose="020B0502040204020203" pitchFamily="34" charset="0"/>
              </a:rPr>
              <a:t>And finally, the Copilot Control System – </a:t>
            </a:r>
            <a:r>
              <a:rPr lang="en-US" sz="900" i="0">
                <a:solidFill>
                  <a:srgbClr val="424242"/>
                </a:solidFill>
                <a:effectLst/>
                <a:latin typeface="Segoe UI" panose="020B0502040204020203" pitchFamily="34" charset="0"/>
                <a:cs typeface="Segoe UI" panose="020B0502040204020203" pitchFamily="34" charset="0"/>
              </a:rPr>
              <a:t>a set of tools designed for IT professionals to better understand and manage AI within their organization, including security and governance to help ensure compliance and protection at every level, IT management controls to help ensure the right people have access to the right tools and are using them as intended, and adoption, measurement, and reporting tools to help you </a:t>
            </a:r>
            <a:r>
              <a:rPr lang="en-US" sz="900" b="0" i="0" u="none" strike="noStrike">
                <a:solidFill>
                  <a:srgbClr val="000000"/>
                </a:solidFill>
                <a:effectLst/>
                <a:latin typeface="Segoe UI" panose="020B0502040204020203" pitchFamily="34" charset="0"/>
                <a:cs typeface="Segoe UI" panose="020B0502040204020203" pitchFamily="34" charset="0"/>
              </a:rPr>
              <a:t>accelerate adoption and measure AI impact and business value. </a:t>
            </a:r>
            <a:endParaRPr lang="en-US" sz="900" b="0" i="0">
              <a:solidFill>
                <a:srgbClr val="444444"/>
              </a:solidFill>
              <a:effectLst/>
              <a:latin typeface="Segoe UI" panose="020B0502040204020203" pitchFamily="34" charset="0"/>
              <a:cs typeface="Segoe UI" panose="020B0502040204020203" pitchFamily="34" charset="0"/>
            </a:endParaRPr>
          </a:p>
          <a:p>
            <a:pPr algn="l" rtl="0" fontAlgn="base"/>
            <a:endParaRPr lang="en-US" sz="800" b="0" i="0">
              <a:solidFill>
                <a:srgbClr val="444444"/>
              </a:solidFill>
              <a:effectLst/>
              <a:latin typeface="Segoe UI" panose="020B0502040204020203" pitchFamily="34" charset="0"/>
              <a:cs typeface="Segoe UI" panose="020B0502040204020203" pitchFamily="34" charset="0"/>
            </a:endParaRPr>
          </a:p>
          <a:p>
            <a:endParaRPr lang="en-US"/>
          </a:p>
        </p:txBody>
      </p:sp>
      <p:sp>
        <p:nvSpPr>
          <p:cNvPr id="4" name="Slide Number Placeholder 3">
            <a:extLst>
              <a:ext uri="{FF2B5EF4-FFF2-40B4-BE49-F238E27FC236}">
                <a16:creationId xmlns:a16="http://schemas.microsoft.com/office/drawing/2014/main" id="{643AE9AC-49CD-3AC9-7AAC-E622A03845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2C08E8-D872-4FE8-B916-856480B4318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048290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2D35D-0AC6-8089-8698-99F7FC83E4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2246EB-72DE-FCD0-1CB6-F436ED8810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8D893E-6769-F261-1FAB-ADF215FB1890}"/>
              </a:ext>
            </a:extLst>
          </p:cNvPr>
          <p:cNvSpPr>
            <a:spLocks noGrp="1"/>
          </p:cNvSpPr>
          <p:nvPr>
            <p:ph type="body" idx="1"/>
          </p:nvPr>
        </p:nvSpPr>
        <p:spPr>
          <a:xfrm>
            <a:off x="685800" y="4400549"/>
            <a:ext cx="5486400" cy="4284663"/>
          </a:xfrm>
        </p:spPr>
        <p:txBody>
          <a:bodyPr/>
          <a:lstStyle/>
          <a:p>
            <a:r>
              <a:rPr lang="en-US">
                <a:latin typeface="Segoe UI" panose="020B0502040204020203" pitchFamily="34" charset="0"/>
                <a:cs typeface="Segoe UI" panose="020B0502040204020203" pitchFamily="34" charset="0"/>
              </a:rPr>
              <a:t>Customers trust Microsoft 365 with their sensitive data because of the foundation of trust we have built through the commitments to protect customers and the controls we make available directly to customers. These same commitments and controls apply to prompts and responses in M365 Copilot and Copilot Chat.</a:t>
            </a:r>
          </a:p>
          <a:p>
            <a:endParaRPr lang="en-US">
              <a:latin typeface="Segoe UI" panose="020B0502040204020203" pitchFamily="34" charset="0"/>
              <a:cs typeface="Segoe UI" panose="020B0502040204020203" pitchFamily="34" charset="0"/>
            </a:endParaRPr>
          </a:p>
          <a:p>
            <a:r>
              <a:rPr lang="en-US">
                <a:latin typeface="Segoe UI" panose="020B0502040204020203" pitchFamily="34" charset="0"/>
                <a:cs typeface="Segoe UI" panose="020B0502040204020203" pitchFamily="34" charset="0"/>
              </a:rPr>
              <a:t>When it comes to commitments: </a:t>
            </a:r>
          </a:p>
          <a:p>
            <a:pPr marL="228600" indent="-228600">
              <a:buFont typeface="Arial" panose="020B0604020202020204" pitchFamily="34" charset="0"/>
              <a:buChar char="•"/>
            </a:pPr>
            <a:r>
              <a:rPr lang="en-US" b="1">
                <a:latin typeface="Segoe UI" panose="020B0502040204020203" pitchFamily="34" charset="0"/>
                <a:cs typeface="Segoe UI" panose="020B0502040204020203" pitchFamily="34" charset="0"/>
              </a:rPr>
              <a:t>We secure your data at rest and in transit. </a:t>
            </a:r>
            <a:r>
              <a:rPr lang="en-US" b="0" i="0">
                <a:solidFill>
                  <a:srgbClr val="333333"/>
                </a:solidFill>
                <a:effectLst/>
                <a:latin typeface="Segoe UI" panose="020B0502040204020203" pitchFamily="34" charset="0"/>
                <a:cs typeface="Segoe UI" panose="020B0502040204020203" pitchFamily="34" charset="0"/>
              </a:rPr>
              <a:t>We help protect your data with </a:t>
            </a:r>
            <a:r>
              <a:rPr lang="en-US" b="0" i="0">
                <a:effectLst/>
                <a:latin typeface="Segoe UI" panose="020B0502040204020203" pitchFamily="34" charset="0"/>
                <a:cs typeface="Segoe UI" panose="020B0502040204020203" pitchFamily="34" charset="0"/>
                <a:hlinkClick r:id="rId3"/>
              </a:rPr>
              <a:t>encryption</a:t>
            </a:r>
            <a:r>
              <a:rPr lang="en-US" b="0" i="0">
                <a:solidFill>
                  <a:srgbClr val="333333"/>
                </a:solidFill>
                <a:effectLst/>
                <a:latin typeface="Segoe UI" panose="020B0502040204020203" pitchFamily="34" charset="0"/>
                <a:cs typeface="Segoe UI" panose="020B0502040204020203" pitchFamily="34" charset="0"/>
              </a:rPr>
              <a:t>, at rest and in transit, rigorous physical security controls, and data </a:t>
            </a:r>
            <a:r>
              <a:rPr lang="en-US" b="0" i="0">
                <a:effectLst/>
                <a:latin typeface="Segoe UI" panose="020B0502040204020203" pitchFamily="34" charset="0"/>
                <a:cs typeface="Segoe UI" panose="020B0502040204020203" pitchFamily="34" charset="0"/>
                <a:hlinkClick r:id="rId4"/>
              </a:rPr>
              <a:t>isolation</a:t>
            </a:r>
            <a:r>
              <a:rPr lang="en-US" b="0" i="0">
                <a:solidFill>
                  <a:srgbClr val="333333"/>
                </a:solidFill>
                <a:effectLst/>
                <a:latin typeface="Segoe UI" panose="020B0502040204020203" pitchFamily="34" charset="0"/>
                <a:cs typeface="Segoe UI" panose="020B0502040204020203" pitchFamily="34" charset="0"/>
              </a:rPr>
              <a:t> between tenants.  </a:t>
            </a:r>
          </a:p>
          <a:p>
            <a:pPr marL="228600" indent="-228600">
              <a:buFont typeface="Arial" panose="020B0604020202020204" pitchFamily="34" charset="0"/>
              <a:buChar char="•"/>
            </a:pPr>
            <a:r>
              <a:rPr lang="en-US" b="1" i="0">
                <a:solidFill>
                  <a:srgbClr val="000000"/>
                </a:solidFill>
                <a:effectLst/>
                <a:latin typeface="Segoe UI" panose="020B0502040204020203" pitchFamily="34" charset="0"/>
                <a:cs typeface="Segoe UI" panose="020B0502040204020203" pitchFamily="34" charset="0"/>
              </a:rPr>
              <a:t>You control your data. </a:t>
            </a:r>
            <a:r>
              <a:rPr lang="en-US" b="0" i="0">
                <a:solidFill>
                  <a:srgbClr val="000000"/>
                </a:solidFill>
                <a:effectLst/>
                <a:latin typeface="Segoe UI" panose="020B0502040204020203" pitchFamily="34" charset="0"/>
                <a:cs typeface="Segoe UI" panose="020B0502040204020203" pitchFamily="34" charset="0"/>
              </a:rPr>
              <a:t>Our time-tested approach to data privacy is grounded in our commitment to give you control over the data you put in the cloud. In other words, </a:t>
            </a:r>
            <a:r>
              <a:rPr lang="en-US" b="1" i="0">
                <a:solidFill>
                  <a:srgbClr val="000000"/>
                </a:solidFill>
                <a:effectLst/>
                <a:latin typeface="Segoe UI" panose="020B0502040204020203" pitchFamily="34" charset="0"/>
                <a:cs typeface="Segoe UI" panose="020B0502040204020203" pitchFamily="34" charset="0"/>
              </a:rPr>
              <a:t>you control your data</a:t>
            </a:r>
            <a:r>
              <a:rPr lang="en-US" b="0" i="0">
                <a:solidFill>
                  <a:srgbClr val="000000"/>
                </a:solidFill>
                <a:effectLst/>
                <a:latin typeface="Segoe UI" panose="020B0502040204020203" pitchFamily="34" charset="0"/>
                <a:cs typeface="Segoe UI" panose="020B0502040204020203" pitchFamily="34" charset="0"/>
              </a:rPr>
              <a:t>. Microsoft guarantees this with the contractual commitments we make to you. </a:t>
            </a:r>
          </a:p>
          <a:p>
            <a:pPr marL="228600" indent="-228600">
              <a:buFont typeface="Arial" panose="020B0604020202020204" pitchFamily="34" charset="0"/>
              <a:buChar char="•"/>
            </a:pPr>
            <a:r>
              <a:rPr lang="en-US" b="1" i="0">
                <a:solidFill>
                  <a:srgbClr val="000000"/>
                </a:solidFill>
                <a:effectLst/>
                <a:latin typeface="Segoe UI" panose="020B0502040204020203" pitchFamily="34" charset="0"/>
                <a:cs typeface="Segoe UI" panose="020B0502040204020203" pitchFamily="34" charset="0"/>
              </a:rPr>
              <a:t>Your data is not used to train or enrich foundation models. </a:t>
            </a:r>
            <a:r>
              <a:rPr lang="en-US" b="0" i="0">
                <a:solidFill>
                  <a:srgbClr val="000000"/>
                </a:solidFill>
                <a:effectLst/>
                <a:latin typeface="Segoe UI" panose="020B0502040204020203" pitchFamily="34" charset="0"/>
                <a:cs typeface="Segoe UI" panose="020B0502040204020203" pitchFamily="34" charset="0"/>
              </a:rPr>
              <a:t>Prompts, responses, and web search queries in Copilot aren’t used to train foundation models. </a:t>
            </a:r>
            <a:endParaRPr lang="en-US" b="1" i="0">
              <a:solidFill>
                <a:srgbClr val="000000"/>
              </a:solidFill>
              <a:effectLst/>
              <a:latin typeface="Segoe UI" panose="020B0502040204020203" pitchFamily="34" charset="0"/>
              <a:cs typeface="Segoe UI" panose="020B0502040204020203" pitchFamily="34" charset="0"/>
            </a:endParaRPr>
          </a:p>
          <a:p>
            <a:pPr marL="228600" indent="-228600">
              <a:buFont typeface="Arial" panose="020B0604020202020204" pitchFamily="34" charset="0"/>
              <a:buChar char="•"/>
            </a:pPr>
            <a:r>
              <a:rPr lang="en-US" b="1">
                <a:latin typeface="Segoe UI" panose="020B0502040204020203" pitchFamily="34" charset="0"/>
                <a:cs typeface="Segoe UI" panose="020B0502040204020203" pitchFamily="34" charset="0"/>
              </a:rPr>
              <a:t>You’re protected against AI security and copyright risks. </a:t>
            </a:r>
            <a:r>
              <a:rPr lang="en-US" b="0" i="0">
                <a:solidFill>
                  <a:srgbClr val="161616"/>
                </a:solidFill>
                <a:effectLst/>
                <a:latin typeface="Segoe UI" panose="020B0502040204020203" pitchFamily="34" charset="0"/>
                <a:cs typeface="Segoe UI" panose="020B0502040204020203" pitchFamily="34" charset="0"/>
              </a:rPr>
              <a:t>We help safeguard against AI-focused risks such as </a:t>
            </a:r>
            <a:r>
              <a:rPr lang="en-US" b="0" i="0" u="none" strike="noStrike">
                <a:effectLst/>
                <a:latin typeface="Segoe UI" panose="020B0502040204020203" pitchFamily="34" charset="0"/>
                <a:cs typeface="Segoe UI" panose="020B0502040204020203" pitchFamily="34" charset="0"/>
                <a:hlinkClick r:id="rId5"/>
              </a:rPr>
              <a:t>harmful content</a:t>
            </a:r>
            <a:r>
              <a:rPr lang="en-US" b="0" i="0">
                <a:solidFill>
                  <a:srgbClr val="161616"/>
                </a:solidFill>
                <a:effectLst/>
                <a:latin typeface="Segoe UI" panose="020B0502040204020203" pitchFamily="34" charset="0"/>
                <a:cs typeface="Segoe UI" panose="020B0502040204020203" pitchFamily="34" charset="0"/>
              </a:rPr>
              <a:t> and </a:t>
            </a:r>
            <a:r>
              <a:rPr lang="en-US" b="0" i="0" u="none" strike="noStrike">
                <a:effectLst/>
                <a:latin typeface="Segoe UI" panose="020B0502040204020203" pitchFamily="34" charset="0"/>
                <a:cs typeface="Segoe UI" panose="020B0502040204020203" pitchFamily="34" charset="0"/>
                <a:hlinkClick r:id="rId6"/>
              </a:rPr>
              <a:t>prompt injections</a:t>
            </a:r>
            <a:r>
              <a:rPr lang="en-US" b="0" i="0">
                <a:solidFill>
                  <a:srgbClr val="161616"/>
                </a:solidFill>
                <a:effectLst/>
                <a:latin typeface="Segoe UI" panose="020B0502040204020203" pitchFamily="34" charset="0"/>
                <a:cs typeface="Segoe UI" panose="020B0502040204020203" pitchFamily="34" charset="0"/>
              </a:rPr>
              <a:t>. For content copyright concerns, we provide </a:t>
            </a:r>
            <a:r>
              <a:rPr lang="en-US" b="0" i="0" u="none" strike="noStrike">
                <a:effectLst/>
                <a:latin typeface="Segoe UI" panose="020B0502040204020203" pitchFamily="34" charset="0"/>
                <a:cs typeface="Segoe UI" panose="020B0502040204020203" pitchFamily="34" charset="0"/>
                <a:hlinkClick r:id="rId7"/>
              </a:rPr>
              <a:t>protected material detection</a:t>
            </a:r>
            <a:r>
              <a:rPr lang="en-US" b="0" i="0">
                <a:solidFill>
                  <a:srgbClr val="161616"/>
                </a:solidFill>
                <a:effectLst/>
                <a:latin typeface="Segoe UI" panose="020B0502040204020203" pitchFamily="34" charset="0"/>
                <a:cs typeface="Segoe UI" panose="020B0502040204020203" pitchFamily="34" charset="0"/>
              </a:rPr>
              <a:t> and our </a:t>
            </a:r>
            <a:r>
              <a:rPr lang="en-US" b="0" i="0" u="none" strike="noStrike">
                <a:effectLst/>
                <a:latin typeface="Segoe UI" panose="020B0502040204020203" pitchFamily="34" charset="0"/>
                <a:cs typeface="Segoe UI" panose="020B0502040204020203" pitchFamily="34" charset="0"/>
                <a:hlinkClick r:id="rId8"/>
              </a:rPr>
              <a:t>Customer Copyright Commitment</a:t>
            </a:r>
            <a:r>
              <a:rPr lang="en-US" b="0" i="0">
                <a:solidFill>
                  <a:srgbClr val="161616"/>
                </a:solidFill>
                <a:effectLst/>
                <a:latin typeface="Segoe UI" panose="020B0502040204020203" pitchFamily="34" charset="0"/>
                <a:cs typeface="Segoe UI" panose="020B0502040204020203" pitchFamily="34" charset="0"/>
              </a:rPr>
              <a:t>.</a:t>
            </a:r>
            <a:endParaRPr lang="en-US" b="1">
              <a:latin typeface="Segoe UI" panose="020B0502040204020203" pitchFamily="34" charset="0"/>
              <a:cs typeface="Segoe UI" panose="020B0502040204020203" pitchFamily="34" charset="0"/>
            </a:endParaRPr>
          </a:p>
          <a:p>
            <a:endParaRPr lang="en-US"/>
          </a:p>
        </p:txBody>
      </p:sp>
      <p:sp>
        <p:nvSpPr>
          <p:cNvPr id="4" name="Slide Number Placeholder 3">
            <a:extLst>
              <a:ext uri="{FF2B5EF4-FFF2-40B4-BE49-F238E27FC236}">
                <a16:creationId xmlns:a16="http://schemas.microsoft.com/office/drawing/2014/main" id="{50B4F1D0-ADD2-3D21-6D4E-EC70D69DB7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CBA353-E6D4-4D02-8626-A6FF534C737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421954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2000D-940B-564C-79F9-DDDCA8FD70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EBB92C-517B-24A1-772D-57F28958AAEE}"/>
              </a:ext>
            </a:extLst>
          </p:cNvPr>
          <p:cNvSpPr>
            <a:spLocks noGrp="1" noRot="1" noChangeAspect="1"/>
          </p:cNvSpPr>
          <p:nvPr>
            <p:ph type="sldImg"/>
          </p:nvPr>
        </p:nvSpPr>
        <p:spPr>
          <a:xfrm>
            <a:off x="777875" y="1200150"/>
            <a:ext cx="5759450" cy="3240088"/>
          </a:xfrm>
        </p:spPr>
      </p:sp>
      <p:sp>
        <p:nvSpPr>
          <p:cNvPr id="3" name="Notes Placeholder 2">
            <a:extLst>
              <a:ext uri="{FF2B5EF4-FFF2-40B4-BE49-F238E27FC236}">
                <a16:creationId xmlns:a16="http://schemas.microsoft.com/office/drawing/2014/main" id="{8577490F-3FC6-A6C1-7E36-79FA7696AE8C}"/>
              </a:ext>
            </a:extLst>
          </p:cNvPr>
          <p:cNvSpPr>
            <a:spLocks noGrp="1"/>
          </p:cNvSpPr>
          <p:nvPr>
            <p:ph type="body" idx="1"/>
          </p:nvPr>
        </p:nvSpPr>
        <p:spPr>
          <a:xfrm>
            <a:off x="685800" y="4703763"/>
            <a:ext cx="5486400" cy="3850302"/>
          </a:xfrm>
        </p:spPr>
        <p:txBody>
          <a:bodyPr/>
          <a:lstStyle/>
          <a:p>
            <a:pPr marL="0" marR="0" lvl="0" indent="0" algn="l" defTabSz="914367" rtl="0" eaLnBrk="1" fontAlgn="base" latinLnBrk="0" hangingPunct="1">
              <a:lnSpc>
                <a:spcPts val="1564"/>
              </a:lnSpc>
              <a:spcBef>
                <a:spcPts val="0"/>
              </a:spcBef>
              <a:spcAft>
                <a:spcPts val="800"/>
              </a:spcAft>
              <a:buClrTx/>
              <a:buSzTx/>
              <a:buFontTx/>
              <a:buNone/>
              <a:tabLst/>
              <a:defRPr/>
            </a:pPr>
            <a:r>
              <a:rPr lang="en-US" kern="100">
                <a:effectLst/>
                <a:latin typeface="Segoe UI" panose="020B0502040204020203" pitchFamily="34" charset="0"/>
                <a:ea typeface="Aptos" panose="020B0004020202020204" pitchFamily="34" charset="0"/>
                <a:cs typeface="Segoe UI" panose="020B0502040204020203" pitchFamily="34" charset="0"/>
              </a:rPr>
              <a:t>That’s why we’re excited to introduce Microsoft 365 Copilot Chat. A new way for EVERY organization to quickly and securely scale AI adoption so no employee is left behind.​</a:t>
            </a:r>
          </a:p>
          <a:p>
            <a:pPr algn="l" rtl="0" fontAlgn="base">
              <a:lnSpc>
                <a:spcPts val="1564"/>
              </a:lnSpc>
              <a:spcAft>
                <a:spcPts val="800"/>
              </a:spcAft>
            </a:pPr>
            <a:r>
              <a:rPr lang="en-US" b="0" i="0">
                <a:effectLst/>
                <a:latin typeface="Segoe UI" panose="020B0502040204020203" pitchFamily="34" charset="0"/>
                <a:cs typeface="Segoe UI" panose="020B0502040204020203" pitchFamily="34" charset="0"/>
              </a:rPr>
              <a:t>Copilot Chat combines three valuable capabilities in one, integrated product:  </a:t>
            </a:r>
          </a:p>
          <a:p>
            <a:pPr marL="228600" indent="-228600" algn="l" rtl="0" fontAlgn="base">
              <a:lnSpc>
                <a:spcPts val="1564"/>
              </a:lnSpc>
              <a:spcAft>
                <a:spcPts val="800"/>
              </a:spcAft>
              <a:buFont typeface="+mj-lt"/>
              <a:buAutoNum type="arabicPeriod"/>
            </a:pPr>
            <a:r>
              <a:rPr lang="en-US" b="0" i="0" u="none">
                <a:effectLst/>
                <a:latin typeface="Segoe UI" panose="020B0502040204020203" pitchFamily="34" charset="0"/>
                <a:cs typeface="Segoe UI" panose="020B0502040204020203" pitchFamily="34" charset="0"/>
              </a:rPr>
              <a:t>At its core, it’s </a:t>
            </a:r>
            <a:r>
              <a:rPr lang="en-US" b="1" i="0" u="none">
                <a:effectLst/>
                <a:latin typeface="Segoe UI" panose="020B0502040204020203" pitchFamily="34" charset="0"/>
                <a:cs typeface="Segoe UI" panose="020B0502040204020203" pitchFamily="34" charset="0"/>
              </a:rPr>
              <a:t>free, secure AI chat </a:t>
            </a:r>
            <a:r>
              <a:rPr lang="en-US" b="0" i="0" u="none">
                <a:effectLst/>
                <a:latin typeface="Segoe UI" panose="020B0502040204020203" pitchFamily="34" charset="0"/>
                <a:cs typeface="Segoe UI" panose="020B0502040204020203" pitchFamily="34" charset="0"/>
              </a:rPr>
              <a:t>powered by the latest models and with its broad knowledge pulled from both the models and the web. </a:t>
            </a:r>
          </a:p>
          <a:p>
            <a:pPr marL="228600" indent="-228600" algn="l" rtl="0" fontAlgn="base">
              <a:lnSpc>
                <a:spcPts val="1564"/>
              </a:lnSpc>
              <a:spcAft>
                <a:spcPts val="800"/>
              </a:spcAft>
              <a:buFont typeface="+mj-lt"/>
              <a:buAutoNum type="arabicPeriod"/>
            </a:pPr>
            <a:r>
              <a:rPr lang="en-US" b="0" i="0" u="none">
                <a:effectLst/>
                <a:latin typeface="Segoe UI" panose="020B0502040204020203" pitchFamily="34" charset="0"/>
                <a:cs typeface="Segoe UI" panose="020B0502040204020203" pitchFamily="34" charset="0"/>
              </a:rPr>
              <a:t>In addition to </a:t>
            </a:r>
            <a:r>
              <a:rPr lang="en-US" i="0" u="none">
                <a:effectLst/>
                <a:latin typeface="Segoe UI" panose="020B0502040204020203" pitchFamily="34" charset="0"/>
                <a:cs typeface="Segoe UI" panose="020B0502040204020203" pitchFamily="34" charset="0"/>
              </a:rPr>
              <a:t>chat,</a:t>
            </a:r>
            <a:r>
              <a:rPr lang="en-US" b="1" i="0" u="none">
                <a:effectLst/>
                <a:latin typeface="Segoe UI" panose="020B0502040204020203" pitchFamily="34" charset="0"/>
                <a:cs typeface="Segoe UI" panose="020B0502040204020203" pitchFamily="34" charset="0"/>
              </a:rPr>
              <a:t> agents</a:t>
            </a:r>
            <a:r>
              <a:rPr lang="en-US" b="1" i="0" u="none" strike="sngStrike">
                <a:effectLst/>
                <a:latin typeface="Segoe UI" panose="020B0502040204020203" pitchFamily="34" charset="0"/>
                <a:cs typeface="Segoe UI" panose="020B0502040204020203" pitchFamily="34" charset="0"/>
              </a:rPr>
              <a:t>,</a:t>
            </a:r>
            <a:r>
              <a:rPr lang="en-US" b="1" i="0" u="none">
                <a:effectLst/>
                <a:latin typeface="Segoe UI" panose="020B0502040204020203" pitchFamily="34" charset="0"/>
                <a:cs typeface="Segoe UI" panose="020B0502040204020203" pitchFamily="34" charset="0"/>
              </a:rPr>
              <a:t> </a:t>
            </a:r>
            <a:r>
              <a:rPr lang="en-US" b="0" i="0" u="none">
                <a:effectLst/>
                <a:latin typeface="Segoe UI" panose="020B0502040204020203" pitchFamily="34" charset="0"/>
                <a:cs typeface="Segoe UI" panose="020B0502040204020203" pitchFamily="34" charset="0"/>
              </a:rPr>
              <a:t>provide a powerful way to automate business processes. Agents are accessed through the same intuitive chat experience. Agents come in different flavors, from free agents grounded in things like instructions, public websites or uploaded files to paid agents that can access your organizations’ shared tenant data or third-party data. Copilot Chat offers these paid agents on a metered basis, so you only pay for what you use. </a:t>
            </a:r>
          </a:p>
          <a:p>
            <a:pPr marL="228600" indent="-228600" algn="l" rtl="0" fontAlgn="base">
              <a:lnSpc>
                <a:spcPts val="1564"/>
              </a:lnSpc>
              <a:spcAft>
                <a:spcPts val="800"/>
              </a:spcAft>
              <a:buFont typeface="+mj-lt"/>
              <a:buAutoNum type="arabicPeriod"/>
            </a:pPr>
            <a:r>
              <a:rPr lang="en-US" b="0" i="0" u="none">
                <a:effectLst/>
                <a:latin typeface="Segoe UI" panose="020B0502040204020203" pitchFamily="34" charset="0"/>
                <a:cs typeface="Segoe UI" panose="020B0502040204020203" pitchFamily="34" charset="0"/>
              </a:rPr>
              <a:t>Copilot Chat offers robust IT controls, ensuring enterprise-grade security, privacy, compliance, and management. It provides the same level of security and privacy for Chat as you get from M365 for your email and documents.</a:t>
            </a:r>
          </a:p>
        </p:txBody>
      </p:sp>
      <p:sp>
        <p:nvSpPr>
          <p:cNvPr id="4" name="Slide Number Placeholder 3">
            <a:extLst>
              <a:ext uri="{FF2B5EF4-FFF2-40B4-BE49-F238E27FC236}">
                <a16:creationId xmlns:a16="http://schemas.microsoft.com/office/drawing/2014/main" id="{2C9C736D-12AD-8B02-B808-3BE9DFB003CE}"/>
              </a:ext>
            </a:extLst>
          </p:cNvPr>
          <p:cNvSpPr>
            <a:spLocks noGrp="1"/>
          </p:cNvSpPr>
          <p:nvPr>
            <p:ph type="sldNum" sz="quarter" idx="5"/>
          </p:nvPr>
        </p:nvSpPr>
        <p:spPr/>
        <p:txBody>
          <a:bodyPr/>
          <a:lstStyle/>
          <a:p>
            <a:pPr marL="0" marR="0" lvl="0" indent="0" algn="r" defTabSz="664393" rtl="0" eaLnBrk="1" fontAlgn="auto" latinLnBrk="0" hangingPunct="1">
              <a:lnSpc>
                <a:spcPct val="100000"/>
              </a:lnSpc>
              <a:spcBef>
                <a:spcPts val="0"/>
              </a:spcBef>
              <a:spcAft>
                <a:spcPts val="0"/>
              </a:spcAft>
              <a:buClrTx/>
              <a:buSzTx/>
              <a:buFontTx/>
              <a:buNone/>
              <a:tabLst/>
              <a:defRPr/>
            </a:pPr>
            <a:fld id="{760CD717-BA3E-410B-AAE6-2C9310D382AA}"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64393" rtl="0" eaLnBrk="1" fontAlgn="auto" latinLnBrk="0" hangingPunct="1">
                <a:lnSpc>
                  <a:spcPct val="100000"/>
                </a:lnSpc>
                <a:spcBef>
                  <a:spcPts val="0"/>
                </a:spcBef>
                <a:spcAft>
                  <a:spcPts val="0"/>
                </a:spcAft>
                <a:buClrTx/>
                <a:buSzTx/>
                <a:buFontTx/>
                <a:buNone/>
                <a:tabLst/>
                <a:defRPr/>
              </a:pPr>
              <a:t>7</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32029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8E60A-B2ED-77BE-CCA0-B0791B9EE2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E17804-373F-FBC0-6CD9-D7DA39BDEF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F9D3B8-EB6A-468B-5F8F-6BE48A1DBE8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529388-B210-DEBB-9F19-7F3ED0BB998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0B1B71-AA82-464B-A393-9479827C6D1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04245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8EC3E-1684-4461-7C10-BEC1BE11DD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DA0D73-64E6-59B1-D704-38A5782F51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8DA5E9-9CEE-DB71-8C7D-562C9910CA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6B9E4E3-C9F3-CD18-AA4A-D8D40DAC3AF5}"/>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DC316359-E56F-4E62-9199-F5AE4D8D13B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254585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5B279-E7ED-EA4E-E05D-0E0BFB3F99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183F15-933D-0C68-A6F0-C5886D8621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388551-D9D2-B0D7-6A3F-1167C61B8052}"/>
              </a:ext>
            </a:extLst>
          </p:cNvPr>
          <p:cNvSpPr>
            <a:spLocks noGrp="1"/>
          </p:cNvSpPr>
          <p:nvPr>
            <p:ph type="body" idx="1"/>
          </p:nvPr>
        </p:nvSpPr>
        <p:spPr>
          <a:xfrm>
            <a:off x="685800" y="4400550"/>
            <a:ext cx="5638308" cy="3600450"/>
          </a:xfrm>
        </p:spPr>
        <p:txBody>
          <a:bodyPr/>
          <a:lstStyle/>
          <a:p>
            <a:pPr marL="0" marR="0" lvl="0" indent="0" algn="l" defTabSz="914367" rtl="0" eaLnBrk="1" fontAlgn="b" latinLnBrk="0" hangingPunct="1">
              <a:lnSpc>
                <a:spcPct val="100000"/>
              </a:lnSpc>
              <a:spcBef>
                <a:spcPts val="0"/>
              </a:spcBef>
              <a:spcAft>
                <a:spcPts val="294"/>
              </a:spcAft>
              <a:buClrTx/>
              <a:buSzTx/>
              <a:buFontTx/>
              <a:buNone/>
              <a:tabLst/>
              <a:defRPr/>
            </a:pPr>
            <a:r>
              <a:rPr kumimoji="0" lang="en-US" sz="1200" u="none" strike="noStrike" kern="1200" cap="none" spc="0" normalizeH="0" baseline="0" noProof="0">
                <a:ln>
                  <a:noFill/>
                </a:ln>
                <a:effectLst/>
                <a:uLnTx/>
                <a:uFillTx/>
                <a:latin typeface="Segoe UI" panose="020B0502040204020203" pitchFamily="34" charset="0"/>
                <a:cs typeface="Segoe UI" panose="020B0502040204020203" pitchFamily="34" charset="0"/>
              </a:rPr>
              <a:t>Deploy </a:t>
            </a:r>
            <a:r>
              <a:rPr kumimoji="0" lang="en-US" sz="1200" b="1" u="none" strike="noStrike" kern="1200" cap="none" spc="0" normalizeH="0" baseline="0" noProof="0">
                <a:ln>
                  <a:noFill/>
                </a:ln>
                <a:effectLst/>
                <a:uLnTx/>
                <a:uFillTx/>
                <a:latin typeface="Segoe UI" panose="020B0502040204020203" pitchFamily="34" charset="0"/>
                <a:cs typeface="Segoe UI" panose="020B0502040204020203" pitchFamily="34" charset="0"/>
              </a:rPr>
              <a:t>Agents</a:t>
            </a:r>
            <a:r>
              <a:rPr kumimoji="0" lang="en-US" sz="1200" u="none" strike="noStrike" kern="1200" cap="none" spc="0" normalizeH="0" baseline="0" noProof="0">
                <a:ln>
                  <a:noFill/>
                </a:ln>
                <a:effectLst/>
                <a:uLnTx/>
                <a:uFillTx/>
                <a:latin typeface="Segoe UI" panose="020B0502040204020203" pitchFamily="34" charset="0"/>
                <a:cs typeface="Segoe UI" panose="020B0502040204020203" pitchFamily="34" charset="0"/>
              </a:rPr>
              <a:t> and drive </a:t>
            </a:r>
            <a:r>
              <a:rPr kumimoji="0" lang="en-US" sz="1200" b="1" u="none" strike="noStrike" kern="1200" cap="none" spc="0" normalizeH="0" baseline="0" noProof="0">
                <a:ln>
                  <a:noFill/>
                </a:ln>
                <a:effectLst/>
                <a:uLnTx/>
                <a:uFillTx/>
                <a:latin typeface="Segoe UI" panose="020B0502040204020203" pitchFamily="34" charset="0"/>
                <a:cs typeface="Segoe UI" panose="020B0502040204020203" pitchFamily="34" charset="0"/>
              </a:rPr>
              <a:t>Business Value </a:t>
            </a:r>
            <a:r>
              <a:rPr kumimoji="0" lang="en-US" sz="1200" u="none" strike="noStrike" kern="1200" cap="none" spc="0" normalizeH="0" baseline="0" noProof="0">
                <a:ln>
                  <a:noFill/>
                </a:ln>
                <a:effectLst/>
                <a:uLnTx/>
                <a:uFillTx/>
                <a:latin typeface="Segoe UI" panose="020B0502040204020203" pitchFamily="34" charset="0"/>
                <a:cs typeface="Segoe UI" panose="020B0502040204020203" pitchFamily="34" charset="0"/>
              </a:rPr>
              <a:t>across various functions and industries.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effectLst/>
                <a:uLnTx/>
                <a:uFillTx/>
                <a:latin typeface="Segoe UI" panose="020B0502040204020203" pitchFamily="34" charset="0"/>
                <a:cs typeface="Segoe UI" panose="020B0502040204020203" pitchFamily="34" charset="0"/>
              </a:rPr>
              <a:t>Enhance </a:t>
            </a:r>
            <a:r>
              <a:rPr lang="en-US" sz="1200">
                <a:latin typeface="Segoe UI" panose="020B0502040204020203" pitchFamily="34" charset="0"/>
                <a:cs typeface="Segoe UI" panose="020B0502040204020203" pitchFamily="34" charset="0"/>
              </a:rPr>
              <a:t>Copilot with </a:t>
            </a:r>
            <a:r>
              <a:rPr lang="en-US" sz="1200" b="1">
                <a:latin typeface="Segoe UI" panose="020B0502040204020203" pitchFamily="34" charset="0"/>
                <a:cs typeface="Segoe UI" panose="020B0502040204020203" pitchFamily="34" charset="0"/>
              </a:rPr>
              <a:t>Agent experiences to</a:t>
            </a:r>
            <a:r>
              <a:rPr kumimoji="0" lang="en-US" sz="1200" b="1" i="0" u="none" strike="noStrike" kern="1200" cap="none" spc="0" normalizeH="0" baseline="0" noProof="0">
                <a:ln>
                  <a:noFill/>
                </a:ln>
                <a:effectLst/>
                <a:uLnTx/>
                <a:uFillTx/>
                <a:latin typeface="Segoe UI" panose="020B0502040204020203" pitchFamily="34" charset="0"/>
                <a:cs typeface="Segoe UI" panose="020B0502040204020203" pitchFamily="34" charset="0"/>
              </a:rPr>
              <a:t> transform business process.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chemeClr val="accent3"/>
              </a:solidFill>
              <a:effectLst/>
              <a:uLnTx/>
              <a:uFillTx/>
              <a:latin typeface="Segoe UI"/>
              <a:ea typeface="+mn-ea"/>
              <a:cs typeface="Segoe UI"/>
            </a:endParaRPr>
          </a:p>
          <a:p>
            <a:endParaRPr lang="en-US"/>
          </a:p>
        </p:txBody>
      </p:sp>
      <p:sp>
        <p:nvSpPr>
          <p:cNvPr id="4" name="Slide Number Placeholder 3">
            <a:extLst>
              <a:ext uri="{FF2B5EF4-FFF2-40B4-BE49-F238E27FC236}">
                <a16:creationId xmlns:a16="http://schemas.microsoft.com/office/drawing/2014/main" id="{BAD5913B-7BA9-3D09-930A-766094E1FB0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F26613-237F-403A-98F2-6107284E6A2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326557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2F267-3B5B-F447-9BB5-20C943E878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30DA95-1907-4748-8D6B-59A6BF7EE8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3C600A-08FF-4FE9-83C7-75A9D54A0A53}"/>
              </a:ext>
            </a:extLst>
          </p:cNvPr>
          <p:cNvSpPr>
            <a:spLocks noGrp="1"/>
          </p:cNvSpPr>
          <p:nvPr>
            <p:ph type="body" idx="1"/>
          </p:nvPr>
        </p:nvSpPr>
        <p:spPr/>
        <p:txBody>
          <a:bodyPr/>
          <a:lstStyle/>
          <a:p>
            <a:pPr marL="0" marR="0" lvl="0" indent="0" algn="l" defTabSz="914400" rtl="0" eaLnBrk="1" fontAlgn="auto" latinLnBrk="0" hangingPunct="1">
              <a:spcBef>
                <a:spcPts val="0"/>
              </a:spcBef>
              <a:spcAft>
                <a:spcPts val="0"/>
              </a:spcAft>
              <a:buClrTx/>
              <a:buSzTx/>
              <a:buFontTx/>
              <a:buNone/>
              <a:tabLst/>
              <a:defRPr/>
            </a:pPr>
            <a:r>
              <a:rPr kumimoji="0" lang="en-GB" sz="1000" b="1" i="0" u="none" strike="noStrike" kern="1200" cap="none" spc="0" normalizeH="0" baseline="0" noProof="0">
                <a:ln>
                  <a:noFill/>
                </a:ln>
                <a:solidFill>
                  <a:srgbClr val="0070C0"/>
                </a:solidFill>
                <a:effectLst/>
                <a:uLnTx/>
                <a:uFillTx/>
                <a:latin typeface="Segoe UI" panose="020B0502040204020203" pitchFamily="34" charset="0"/>
                <a:cs typeface="Segoe UI" panose="020B0502040204020203" pitchFamily="34" charset="0"/>
              </a:rPr>
              <a:t>FY26 Market drivers</a:t>
            </a:r>
          </a:p>
          <a:p>
            <a:pPr marL="230188" marR="0" lvl="0" indent="-230188" algn="l" defTabSz="914400" rtl="0" eaLnBrk="1" fontAlgn="auto" latinLnBrk="0" hangingPunct="1">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82828"/>
                </a:solidFill>
                <a:effectLst/>
                <a:uLnTx/>
                <a:uFillTx/>
                <a:latin typeface="Segoe UI" panose="020B0502040204020203" pitchFamily="34" charset="0"/>
                <a:cs typeface="Segoe UI" panose="020B0502040204020203" pitchFamily="34" charset="0"/>
              </a:rPr>
              <a:t>78% of AI users bringing their own AI tools to work </a:t>
            </a:r>
          </a:p>
          <a:p>
            <a:pPr marL="230188" marR="0" lvl="0" indent="-230188" algn="l" defTabSz="914400" rtl="0" eaLnBrk="1" fontAlgn="auto" latinLnBrk="0" hangingPunct="1">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82828"/>
                </a:solidFill>
                <a:effectLst/>
                <a:uLnTx/>
                <a:uFillTx/>
                <a:latin typeface="Segoe UI" panose="020B0502040204020203" pitchFamily="34" charset="0"/>
                <a:cs typeface="Segoe UI" panose="020B0502040204020203" pitchFamily="34" charset="0"/>
              </a:rPr>
              <a:t>40% of organizations are doubling their investments on AI</a:t>
            </a:r>
            <a:endParaRPr kumimoji="0" lang="en-GB" sz="1000" b="0" i="0" u="none" strike="noStrike" kern="1200" cap="none" spc="0" normalizeH="0" baseline="0" noProof="0">
              <a:ln>
                <a:noFill/>
              </a:ln>
              <a:solidFill>
                <a:srgbClr val="282828"/>
              </a:solidFill>
              <a:effectLst/>
              <a:uLnTx/>
              <a:uFillTx/>
              <a:latin typeface="Segoe UI" panose="020B0502040204020203" pitchFamily="34" charset="0"/>
              <a:cs typeface="Segoe UI" panose="020B0502040204020203" pitchFamily="34" charset="0"/>
            </a:endParaRPr>
          </a:p>
          <a:p>
            <a:pPr algn="ctr" defTabSz="932434" fontAlgn="base">
              <a:spcBef>
                <a:spcPct val="0"/>
              </a:spcBef>
              <a:spcAft>
                <a:spcPct val="0"/>
              </a:spcAft>
              <a:defRPr/>
            </a:pPr>
            <a:endParaRPr lang="en-US" sz="1000" b="1">
              <a:gradFill>
                <a:gsLst>
                  <a:gs pos="0">
                    <a:srgbClr val="2572D0"/>
                  </a:gs>
                  <a:gs pos="100000">
                    <a:srgbClr val="A84BC4"/>
                  </a:gs>
                </a:gsLst>
                <a:lin ang="5400000" scaled="1"/>
              </a:gradFill>
              <a:latin typeface="Segoe UI" panose="020B0502040204020203" pitchFamily="34" charset="0"/>
              <a:cs typeface="Segoe UI" panose="020B0502040204020203" pitchFamily="34" charset="0"/>
            </a:endParaRPr>
          </a:p>
          <a:p>
            <a:pPr defTabSz="932434" fontAlgn="base">
              <a:spcBef>
                <a:spcPct val="0"/>
              </a:spcBef>
              <a:spcAft>
                <a:spcPct val="0"/>
              </a:spcAft>
              <a:defRPr/>
            </a:pPr>
            <a:r>
              <a:rPr lang="en-US" sz="1000" b="1">
                <a:gradFill>
                  <a:gsLst>
                    <a:gs pos="0">
                      <a:srgbClr val="2572D0"/>
                    </a:gs>
                    <a:gs pos="100000">
                      <a:srgbClr val="A84BC4"/>
                    </a:gs>
                  </a:gsLst>
                  <a:lin ang="5400000" scaled="1"/>
                </a:gradFill>
                <a:latin typeface="Segoe UI" panose="020B0502040204020203" pitchFamily="34" charset="0"/>
                <a:cs typeface="Segoe UI" panose="020B0502040204020203" pitchFamily="34" charset="0"/>
              </a:rPr>
              <a:t>Background</a:t>
            </a:r>
          </a:p>
          <a:p>
            <a:pPr marL="238115" indent="-238115" defTabSz="761970">
              <a:buFont typeface="Arial" panose="020B0604020202020204" pitchFamily="34" charset="0"/>
              <a:buChar char="•"/>
            </a:pPr>
            <a:r>
              <a:rPr lang="en-US" sz="1000">
                <a:solidFill>
                  <a:prstClr val="black"/>
                </a:solidFill>
                <a:latin typeface="Segoe UI" panose="020B0502040204020203" pitchFamily="34" charset="0"/>
                <a:cs typeface="Segoe UI" panose="020B0502040204020203" pitchFamily="34" charset="0"/>
              </a:rPr>
              <a:t>Ran from September 2024 to March 2025</a:t>
            </a:r>
          </a:p>
          <a:p>
            <a:pPr marL="238115" indent="-238115" defTabSz="761970">
              <a:buFont typeface="Arial" panose="020B0604020202020204" pitchFamily="34" charset="0"/>
              <a:buChar char="•"/>
            </a:pPr>
            <a:r>
              <a:rPr lang="en-US" sz="1000">
                <a:solidFill>
                  <a:prstClr val="black"/>
                </a:solidFill>
                <a:latin typeface="Segoe UI" panose="020B0502040204020203" pitchFamily="34" charset="0"/>
                <a:cs typeface="Segoe UI" panose="020B0502040204020203" pitchFamily="34" charset="0"/>
              </a:rPr>
              <a:t>Consisted of:</a:t>
            </a:r>
          </a:p>
          <a:p>
            <a:pPr marL="619100" lvl="1" indent="-238115" defTabSz="761970">
              <a:buFont typeface="Arial" panose="020B0604020202020204" pitchFamily="34" charset="0"/>
              <a:buChar char="•"/>
            </a:pPr>
            <a:r>
              <a:rPr lang="en-US" sz="1000">
                <a:solidFill>
                  <a:prstClr val="black"/>
                </a:solidFill>
                <a:latin typeface="Segoe UI" panose="020B0502040204020203" pitchFamily="34" charset="0"/>
                <a:cs typeface="Segoe UI" panose="020B0502040204020203" pitchFamily="34" charset="0"/>
              </a:rPr>
              <a:t>16 in-depth interviews with customers</a:t>
            </a:r>
          </a:p>
          <a:p>
            <a:pPr marL="619100" lvl="1" indent="-238115" defTabSz="761970">
              <a:buFont typeface="Arial" panose="020B0604020202020204" pitchFamily="34" charset="0"/>
              <a:buChar char="•"/>
            </a:pPr>
            <a:r>
              <a:rPr lang="en-US" sz="1000">
                <a:solidFill>
                  <a:prstClr val="black"/>
                </a:solidFill>
                <a:latin typeface="Segoe UI" panose="020B0502040204020203" pitchFamily="34" charset="0"/>
                <a:cs typeface="Segoe UI" panose="020B0502040204020203" pitchFamily="34" charset="0"/>
              </a:rPr>
              <a:t>350+ survey responses from customers</a:t>
            </a:r>
          </a:p>
          <a:p>
            <a:pPr marL="619100" lvl="1" indent="-238115" defTabSz="761970">
              <a:buFont typeface="Arial" panose="020B0604020202020204" pitchFamily="34" charset="0"/>
              <a:buChar char="•"/>
            </a:pPr>
            <a:r>
              <a:rPr lang="en-US" sz="1000">
                <a:solidFill>
                  <a:prstClr val="black"/>
                </a:solidFill>
                <a:latin typeface="Segoe UI" panose="020B0502040204020203" pitchFamily="34" charset="0"/>
                <a:cs typeface="Segoe UI" panose="020B0502040204020203" pitchFamily="34" charset="0"/>
              </a:rPr>
              <a:t>+ Agent-specific customer interviews</a:t>
            </a:r>
          </a:p>
          <a:p>
            <a:pPr marL="238115" indent="-238115" defTabSz="761970">
              <a:buFont typeface="Arial" panose="020B0604020202020204" pitchFamily="34" charset="0"/>
              <a:buChar char="•"/>
            </a:pPr>
            <a:r>
              <a:rPr lang="en-US" sz="1000">
                <a:solidFill>
                  <a:prstClr val="black"/>
                </a:solidFill>
                <a:latin typeface="Segoe UI" panose="020B0502040204020203" pitchFamily="34" charset="0"/>
                <a:cs typeface="Segoe UI" panose="020B0502040204020203" pitchFamily="34" charset="0"/>
              </a:rPr>
              <a:t>Includes an Agent Spotlight (see page 35)</a:t>
            </a:r>
          </a:p>
          <a:p>
            <a:pPr defTabSz="761970"/>
            <a:endParaRPr lang="en-US" sz="1000">
              <a:solidFill>
                <a:prstClr val="black"/>
              </a:solidFill>
              <a:latin typeface="Segoe UI" panose="020B0502040204020203" pitchFamily="34" charset="0"/>
              <a:cs typeface="Segoe UI" panose="020B0502040204020203" pitchFamily="34" charset="0"/>
            </a:endParaRPr>
          </a:p>
          <a:p>
            <a:pPr defTabSz="932434" fontAlgn="base">
              <a:spcBef>
                <a:spcPct val="0"/>
              </a:spcBef>
              <a:spcAft>
                <a:spcPct val="0"/>
              </a:spcAft>
              <a:defRPr/>
            </a:pPr>
            <a:r>
              <a:rPr lang="en-US" sz="1000" b="1">
                <a:gradFill>
                  <a:gsLst>
                    <a:gs pos="0">
                      <a:srgbClr val="2572D0"/>
                    </a:gs>
                    <a:gs pos="100000">
                      <a:srgbClr val="A84BC4"/>
                    </a:gs>
                  </a:gsLst>
                  <a:lin ang="5400000" scaled="1"/>
                </a:gradFill>
                <a:latin typeface="Segoe UI" panose="020B0502040204020203" pitchFamily="34" charset="0"/>
                <a:cs typeface="Segoe UI" panose="020B0502040204020203" pitchFamily="34" charset="0"/>
              </a:rPr>
              <a:t>Overall</a:t>
            </a:r>
          </a:p>
          <a:p>
            <a:pPr marL="238115" indent="-238115" defTabSz="761970">
              <a:buFont typeface="Arial" panose="020B0604020202020204" pitchFamily="34" charset="0"/>
              <a:buChar char="•"/>
            </a:pPr>
            <a:r>
              <a:rPr lang="en-US" sz="1000" b="1">
                <a:solidFill>
                  <a:prstClr val="black"/>
                </a:solidFill>
                <a:latin typeface="Segoe UI" panose="020B0502040204020203" pitchFamily="34" charset="0"/>
                <a:cs typeface="Segoe UI" panose="020B0502040204020203" pitchFamily="34" charset="0"/>
              </a:rPr>
              <a:t>116% </a:t>
            </a:r>
            <a:r>
              <a:rPr lang="en-US" sz="1000">
                <a:solidFill>
                  <a:prstClr val="black"/>
                </a:solidFill>
                <a:latin typeface="Segoe UI" panose="020B0502040204020203" pitchFamily="34" charset="0"/>
                <a:cs typeface="Segoe UI" panose="020B0502040204020203" pitchFamily="34" charset="0"/>
              </a:rPr>
              <a:t>Return on Investment (ROI)</a:t>
            </a:r>
          </a:p>
          <a:p>
            <a:pPr marL="238115" indent="-238115" defTabSz="761970">
              <a:buFont typeface="Arial" panose="020B0604020202020204" pitchFamily="34" charset="0"/>
              <a:buChar char="•"/>
            </a:pPr>
            <a:r>
              <a:rPr lang="en-US" sz="1000" b="1">
                <a:solidFill>
                  <a:prstClr val="black"/>
                </a:solidFill>
                <a:latin typeface="Segoe UI" panose="020B0502040204020203" pitchFamily="34" charset="0"/>
                <a:cs typeface="Segoe UI" panose="020B0502040204020203" pitchFamily="34" charset="0"/>
              </a:rPr>
              <a:t>$19.7M </a:t>
            </a:r>
            <a:r>
              <a:rPr lang="en-US" sz="1000">
                <a:solidFill>
                  <a:prstClr val="black"/>
                </a:solidFill>
                <a:latin typeface="Segoe UI" panose="020B0502040204020203" pitchFamily="34" charset="0"/>
                <a:cs typeface="Segoe UI" panose="020B0502040204020203" pitchFamily="34" charset="0"/>
              </a:rPr>
              <a:t>Net Present Value (NPV)</a:t>
            </a:r>
          </a:p>
          <a:p>
            <a:pPr defTabSz="761970"/>
            <a:endParaRPr lang="en-US" sz="1000">
              <a:solidFill>
                <a:prstClr val="black"/>
              </a:solidFill>
              <a:latin typeface="Segoe UI" panose="020B0502040204020203" pitchFamily="34" charset="0"/>
              <a:cs typeface="Segoe UI" panose="020B0502040204020203" pitchFamily="34" charset="0"/>
            </a:endParaRPr>
          </a:p>
          <a:p>
            <a:pPr defTabSz="932434" fontAlgn="base">
              <a:spcBef>
                <a:spcPct val="0"/>
              </a:spcBef>
              <a:spcAft>
                <a:spcPct val="0"/>
              </a:spcAft>
              <a:defRPr/>
            </a:pPr>
            <a:r>
              <a:rPr lang="en-US" sz="1000" b="1">
                <a:gradFill>
                  <a:gsLst>
                    <a:gs pos="0">
                      <a:srgbClr val="2572D0"/>
                    </a:gs>
                    <a:gs pos="100000">
                      <a:srgbClr val="A84BC4"/>
                    </a:gs>
                  </a:gsLst>
                  <a:lin ang="5400000" scaled="1"/>
                </a:gradFill>
                <a:latin typeface="Segoe UI" panose="020B0502040204020203" pitchFamily="34" charset="0"/>
                <a:cs typeface="Segoe UI" panose="020B0502040204020203" pitchFamily="34" charset="0"/>
              </a:rPr>
              <a:t>Metrics</a:t>
            </a:r>
          </a:p>
          <a:p>
            <a:pPr marL="238115" indent="-238115" defTabSz="761970">
              <a:buFont typeface="Arial" panose="020B0604020202020204" pitchFamily="34" charset="0"/>
              <a:buChar char="•"/>
            </a:pPr>
            <a:r>
              <a:rPr lang="en-US" sz="1000" b="1">
                <a:solidFill>
                  <a:prstClr val="black"/>
                </a:solidFill>
                <a:latin typeface="Segoe UI" panose="020B0502040204020203" pitchFamily="34" charset="0"/>
                <a:cs typeface="Segoe UI" panose="020B0502040204020203" pitchFamily="34" charset="0"/>
              </a:rPr>
              <a:t>2.5%</a:t>
            </a:r>
            <a:r>
              <a:rPr lang="en-US" sz="1000">
                <a:solidFill>
                  <a:prstClr val="black"/>
                </a:solidFill>
                <a:latin typeface="Segoe UI" panose="020B0502040204020203" pitchFamily="34" charset="0"/>
                <a:cs typeface="Segoe UI" panose="020B0502040204020203" pitchFamily="34" charset="0"/>
              </a:rPr>
              <a:t> increase in sales win rate</a:t>
            </a:r>
          </a:p>
          <a:p>
            <a:pPr marL="238115" indent="-238115" defTabSz="761970">
              <a:buFont typeface="Arial" panose="020B0604020202020204" pitchFamily="34" charset="0"/>
              <a:buChar char="•"/>
            </a:pPr>
            <a:r>
              <a:rPr lang="en-US" sz="1000" b="1">
                <a:solidFill>
                  <a:prstClr val="black"/>
                </a:solidFill>
                <a:latin typeface="Segoe UI" panose="020B0502040204020203" pitchFamily="34" charset="0"/>
                <a:cs typeface="Segoe UI" panose="020B0502040204020203" pitchFamily="34" charset="0"/>
              </a:rPr>
              <a:t>9 hours</a:t>
            </a:r>
            <a:r>
              <a:rPr lang="en-US" sz="1000">
                <a:solidFill>
                  <a:prstClr val="black"/>
                </a:solidFill>
                <a:latin typeface="Segoe UI" panose="020B0502040204020203" pitchFamily="34" charset="0"/>
                <a:cs typeface="Segoe UI" panose="020B0502040204020203" pitchFamily="34" charset="0"/>
              </a:rPr>
              <a:t> saved per M365 Copilot user per month</a:t>
            </a:r>
          </a:p>
          <a:p>
            <a:pPr marL="238115" indent="-238115" defTabSz="761970">
              <a:buFont typeface="Arial" panose="020B0604020202020204" pitchFamily="34" charset="0"/>
              <a:buChar char="•"/>
            </a:pPr>
            <a:r>
              <a:rPr lang="en-US" sz="1000" b="1">
                <a:solidFill>
                  <a:prstClr val="black"/>
                </a:solidFill>
                <a:latin typeface="Segoe UI" panose="020B0502040204020203" pitchFamily="34" charset="0"/>
                <a:cs typeface="Segoe UI" panose="020B0502040204020203" pitchFamily="34" charset="0"/>
              </a:rPr>
              <a:t>25% </a:t>
            </a:r>
            <a:r>
              <a:rPr lang="en-US" sz="1000">
                <a:solidFill>
                  <a:prstClr val="black"/>
                </a:solidFill>
                <a:latin typeface="Segoe UI" panose="020B0502040204020203" pitchFamily="34" charset="0"/>
                <a:cs typeface="Segoe UI" panose="020B0502040204020203" pitchFamily="34" charset="0"/>
              </a:rPr>
              <a:t>acceleration in new employee onboarding</a:t>
            </a:r>
          </a:p>
          <a:p>
            <a:pPr marL="238115" indent="-238115" defTabSz="761970">
              <a:buFont typeface="Arial" panose="020B0604020202020204" pitchFamily="34" charset="0"/>
              <a:buChar char="•"/>
            </a:pPr>
            <a:r>
              <a:rPr lang="en-US" sz="1000" b="1">
                <a:solidFill>
                  <a:prstClr val="black"/>
                </a:solidFill>
                <a:latin typeface="Segoe UI" panose="020B0502040204020203" pitchFamily="34" charset="0"/>
                <a:cs typeface="Segoe UI" panose="020B0502040204020203" pitchFamily="34" charset="0"/>
              </a:rPr>
              <a:t>2.7%</a:t>
            </a:r>
            <a:r>
              <a:rPr lang="en-US" sz="1000">
                <a:solidFill>
                  <a:prstClr val="black"/>
                </a:solidFill>
                <a:latin typeface="Segoe UI" panose="020B0502040204020203" pitchFamily="34" charset="0"/>
                <a:cs typeface="Segoe UI" panose="020B0502040204020203" pitchFamily="34" charset="0"/>
              </a:rPr>
              <a:t> increase in opportunities</a:t>
            </a:r>
          </a:p>
          <a:p>
            <a:pPr marL="238115" indent="-238115" defTabSz="761970">
              <a:buFont typeface="Arial" panose="020B0604020202020204" pitchFamily="34" charset="0"/>
              <a:buChar char="•"/>
            </a:pPr>
            <a:r>
              <a:rPr lang="en-US" sz="1000" b="1">
                <a:solidFill>
                  <a:prstClr val="black"/>
                </a:solidFill>
                <a:latin typeface="Segoe UI" panose="020B0502040204020203" pitchFamily="34" charset="0"/>
                <a:cs typeface="Segoe UI" panose="020B0502040204020203" pitchFamily="34" charset="0"/>
              </a:rPr>
              <a:t>1% </a:t>
            </a:r>
            <a:r>
              <a:rPr lang="en-US" sz="1000">
                <a:solidFill>
                  <a:prstClr val="black"/>
                </a:solidFill>
                <a:latin typeface="Segoe UI" panose="020B0502040204020203" pitchFamily="34" charset="0"/>
                <a:cs typeface="Segoe UI" panose="020B0502040204020203" pitchFamily="34" charset="0"/>
              </a:rPr>
              <a:t>increase in customer retention</a:t>
            </a:r>
            <a:endParaRPr lang="en-US" sz="1000" b="1">
              <a:solidFill>
                <a:prstClr val="black"/>
              </a:solidFill>
              <a:latin typeface="Segoe UI" panose="020B0502040204020203" pitchFamily="34" charset="0"/>
              <a:cs typeface="Segoe UI" panose="020B0502040204020203" pitchFamily="34" charset="0"/>
            </a:endParaRPr>
          </a:p>
          <a:p>
            <a:endParaRPr lang="en-US"/>
          </a:p>
        </p:txBody>
      </p:sp>
      <p:sp>
        <p:nvSpPr>
          <p:cNvPr id="4" name="Header Placeholder 3">
            <a:extLst>
              <a:ext uri="{FF2B5EF4-FFF2-40B4-BE49-F238E27FC236}">
                <a16:creationId xmlns:a16="http://schemas.microsoft.com/office/drawing/2014/main" id="{CB4F7A61-8DBC-5812-65F8-5D7CAFDF8B61}"/>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6" name="Date Placeholder 5">
            <a:extLst>
              <a:ext uri="{FF2B5EF4-FFF2-40B4-BE49-F238E27FC236}">
                <a16:creationId xmlns:a16="http://schemas.microsoft.com/office/drawing/2014/main" id="{28FE0188-ED67-7380-0041-7E9501867AD0}"/>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10/31/2025 2:03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8B7DA029-8323-7D6C-7C0D-8D26C0D58726}"/>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742880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6ACC3-C54E-9FC5-7FFA-008AF5E930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E5CF5A-998A-7206-D9B3-3DEEB788B3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5A8161-83D3-3D49-8141-7E13EA7B8A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E4450C-1A72-13E2-AE5A-6AC5CA0E50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4F3BE3-B739-4EF3-B402-83CB25694E2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682375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CE994-FE97-2651-D60D-9D1491126D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5A6B4A-ACDF-27BC-72AF-DFE25CB5EC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1E2661-D52D-78FB-325F-9CDC1A6B126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D160630-1C08-2EA8-EC4C-7C8A468300C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501081-E19D-419D-B0AB-F3E6317950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3175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1A6DD-8E81-7986-45F5-74F3C012F4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2527E3-5811-80B9-8ADC-2377A73952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EE6332-D5F1-92C9-8186-E1B0FC7CD24F}"/>
              </a:ext>
            </a:extLst>
          </p:cNvPr>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The higher the complexity of agents, the greater the partner opportunity.</a:t>
            </a:r>
          </a:p>
        </p:txBody>
      </p:sp>
      <p:sp>
        <p:nvSpPr>
          <p:cNvPr id="4" name="Slide Number Placeholder 3">
            <a:extLst>
              <a:ext uri="{FF2B5EF4-FFF2-40B4-BE49-F238E27FC236}">
                <a16:creationId xmlns:a16="http://schemas.microsoft.com/office/drawing/2014/main" id="{1DFC4F16-9D6D-460C-868C-D116DDA9DE70}"/>
              </a:ext>
            </a:extLst>
          </p:cNvPr>
          <p:cNvSpPr>
            <a:spLocks noGrp="1"/>
          </p:cNvSpPr>
          <p:nvPr>
            <p:ph type="sldNum" sz="quarter" idx="5"/>
          </p:nvPr>
        </p:nvSpPr>
        <p:spPr/>
        <p:txBody>
          <a:bodyPr/>
          <a:lstStyle/>
          <a:p>
            <a:fld id="{93E017AD-4DAE-4101-8BD7-443876F77AC4}" type="slidenum">
              <a:rPr lang="en-US" smtClean="0"/>
              <a:t>14</a:t>
            </a:fld>
            <a:endParaRPr lang="en-US"/>
          </a:p>
        </p:txBody>
      </p:sp>
    </p:spTree>
    <p:extLst>
      <p:ext uri="{BB962C8B-B14F-4D97-AF65-F5344CB8AC3E}">
        <p14:creationId xmlns:p14="http://schemas.microsoft.com/office/powerpoint/2010/main" val="36097314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631BE-3537-21A6-E5F1-E5F1DB3EA5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77453F-69F8-E1A3-E17B-1B9BA63144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165811-5561-D998-1203-9B177607891C}"/>
              </a:ext>
            </a:extLst>
          </p:cNvPr>
          <p:cNvSpPr>
            <a:spLocks noGrp="1"/>
          </p:cNvSpPr>
          <p:nvPr>
            <p:ph type="body" idx="1"/>
          </p:nvPr>
        </p:nvSpPr>
        <p:spPr/>
        <p:txBody>
          <a:bodyPr/>
          <a:lstStyle/>
          <a:p>
            <a:endParaRPr lang="en-US" u="sng"/>
          </a:p>
        </p:txBody>
      </p:sp>
      <p:sp>
        <p:nvSpPr>
          <p:cNvPr id="4" name="Slide Number Placeholder 3">
            <a:extLst>
              <a:ext uri="{FF2B5EF4-FFF2-40B4-BE49-F238E27FC236}">
                <a16:creationId xmlns:a16="http://schemas.microsoft.com/office/drawing/2014/main" id="{E57B22E1-2E58-28C1-E8AF-77C7549E635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0C2B41D-4B70-4AD2-A5B9-82FB5D3A1D8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049430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13926-A988-648D-FB46-D27B71BEE4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7273CA-3706-D4E4-3FF7-98F1813755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286CA1-1F01-B9DD-D0FD-7AA67596032A}"/>
              </a:ext>
            </a:extLst>
          </p:cNvPr>
          <p:cNvSpPr>
            <a:spLocks noGrp="1"/>
          </p:cNvSpPr>
          <p:nvPr>
            <p:ph type="body" idx="1"/>
          </p:nvPr>
        </p:nvSpPr>
        <p:spPr>
          <a:xfrm>
            <a:off x="695484" y="4447152"/>
            <a:ext cx="5563870" cy="4450905"/>
          </a:xfrm>
        </p:spPr>
        <p:txBody>
          <a:bodyPr/>
          <a:lstStyle/>
          <a:p>
            <a:pPr algn="l" latinLnBrk="0">
              <a:spcAft>
                <a:spcPts val="600"/>
              </a:spcAft>
            </a:pPr>
            <a:endParaRPr lang="en-US" sz="1000">
              <a:latin typeface="Segoe UI" panose="020B0502040204020203" pitchFamily="34" charset="0"/>
              <a:cs typeface="Segoe UI" panose="020B0502040204020203" pitchFamily="34" charset="0"/>
            </a:endParaRPr>
          </a:p>
        </p:txBody>
      </p:sp>
      <p:sp>
        <p:nvSpPr>
          <p:cNvPr id="4" name="Header Placeholder 3">
            <a:extLst>
              <a:ext uri="{FF2B5EF4-FFF2-40B4-BE49-F238E27FC236}">
                <a16:creationId xmlns:a16="http://schemas.microsoft.com/office/drawing/2014/main" id="{254A1291-BDD7-F8E2-870C-9FD1543CB7BB}"/>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6" name="Date Placeholder 5">
            <a:extLst>
              <a:ext uri="{FF2B5EF4-FFF2-40B4-BE49-F238E27FC236}">
                <a16:creationId xmlns:a16="http://schemas.microsoft.com/office/drawing/2014/main" id="{6A12CED2-CB57-E58B-2EC6-2137C4AAA684}"/>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10/31/2025 2:03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27973CF7-7285-64F0-4E8D-C2A95EFDBB12}"/>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2877438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E017AD-4DAE-4101-8BD7-443876F77AC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02648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10/31/2025 2:03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227395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E017AD-4DAE-4101-8BD7-443876F77AC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79292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CBF63-4897-F419-2C7F-D5AD7E96BD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679A21-F6E9-8D83-8628-B8E1238B4C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835F2A-E2B1-B552-7C02-BDF7143DEBB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D99DDF1-3310-894E-366A-A3D36FE18DB3}"/>
              </a:ext>
            </a:extLst>
          </p:cNvPr>
          <p:cNvSpPr>
            <a:spLocks noGrp="1"/>
          </p:cNvSpPr>
          <p:nvPr>
            <p:ph type="sldNum" sz="quarter" idx="5"/>
          </p:nvPr>
        </p:nvSpPr>
        <p:spPr/>
        <p:txBody>
          <a:bodyPr/>
          <a:lstStyle/>
          <a:p>
            <a:fld id="{93E017AD-4DAE-4101-8BD7-443876F77AC4}" type="slidenum">
              <a:rPr lang="en-US" smtClean="0"/>
              <a:t>20</a:t>
            </a:fld>
            <a:endParaRPr lang="en-US"/>
          </a:p>
        </p:txBody>
      </p:sp>
    </p:spTree>
    <p:extLst>
      <p:ext uri="{BB962C8B-B14F-4D97-AF65-F5344CB8AC3E}">
        <p14:creationId xmlns:p14="http://schemas.microsoft.com/office/powerpoint/2010/main" val="15776269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7193A-C72C-CA75-9F3C-74DA30D2C4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B9ADED-3DE7-D636-508B-E05A441F22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6D5C4B-53E7-E53A-2174-D42B32E547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8B830D6-9088-E6E5-F531-B2156F4050F6}"/>
              </a:ext>
            </a:extLst>
          </p:cNvPr>
          <p:cNvSpPr>
            <a:spLocks noGrp="1"/>
          </p:cNvSpPr>
          <p:nvPr>
            <p:ph type="sldNum" sz="quarter" idx="5"/>
          </p:nvPr>
        </p:nvSpPr>
        <p:spPr/>
        <p:txBody>
          <a:bodyPr/>
          <a:lstStyle/>
          <a:p>
            <a:fld id="{93E017AD-4DAE-4101-8BD7-443876F77AC4}" type="slidenum">
              <a:rPr lang="en-US" smtClean="0"/>
              <a:t>21</a:t>
            </a:fld>
            <a:endParaRPr lang="en-US"/>
          </a:p>
        </p:txBody>
      </p:sp>
    </p:spTree>
    <p:extLst>
      <p:ext uri="{BB962C8B-B14F-4D97-AF65-F5344CB8AC3E}">
        <p14:creationId xmlns:p14="http://schemas.microsoft.com/office/powerpoint/2010/main" val="26558260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3E017AD-4DAE-4101-8BD7-443876F77AC4}" type="slidenum">
              <a:rPr lang="en-US" smtClean="0"/>
              <a:t>22</a:t>
            </a:fld>
            <a:endParaRPr lang="en-US"/>
          </a:p>
        </p:txBody>
      </p:sp>
    </p:spTree>
    <p:extLst>
      <p:ext uri="{BB962C8B-B14F-4D97-AF65-F5344CB8AC3E}">
        <p14:creationId xmlns:p14="http://schemas.microsoft.com/office/powerpoint/2010/main" val="39685614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3E017AD-4DAE-4101-8BD7-443876F77AC4}" type="slidenum">
              <a:rPr lang="en-US" smtClean="0"/>
              <a:t>23</a:t>
            </a:fld>
            <a:endParaRPr lang="en-US"/>
          </a:p>
        </p:txBody>
      </p:sp>
    </p:spTree>
    <p:extLst>
      <p:ext uri="{BB962C8B-B14F-4D97-AF65-F5344CB8AC3E}">
        <p14:creationId xmlns:p14="http://schemas.microsoft.com/office/powerpoint/2010/main" val="29281679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3E017AD-4DAE-4101-8BD7-443876F77AC4}" type="slidenum">
              <a:rPr lang="en-US" smtClean="0"/>
              <a:t>24</a:t>
            </a:fld>
            <a:endParaRPr lang="en-US"/>
          </a:p>
        </p:txBody>
      </p:sp>
    </p:spTree>
    <p:extLst>
      <p:ext uri="{BB962C8B-B14F-4D97-AF65-F5344CB8AC3E}">
        <p14:creationId xmlns:p14="http://schemas.microsoft.com/office/powerpoint/2010/main" val="7380272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3E017AD-4DAE-4101-8BD7-443876F77AC4}" type="slidenum">
              <a:rPr lang="en-US" smtClean="0"/>
              <a:t>25</a:t>
            </a:fld>
            <a:endParaRPr lang="en-US"/>
          </a:p>
        </p:txBody>
      </p:sp>
    </p:spTree>
    <p:extLst>
      <p:ext uri="{BB962C8B-B14F-4D97-AF65-F5344CB8AC3E}">
        <p14:creationId xmlns:p14="http://schemas.microsoft.com/office/powerpoint/2010/main" val="19261990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3E017AD-4DAE-4101-8BD7-443876F77AC4}" type="slidenum">
              <a:rPr lang="en-US" smtClean="0"/>
              <a:t>26</a:t>
            </a:fld>
            <a:endParaRPr lang="en-US"/>
          </a:p>
        </p:txBody>
      </p:sp>
    </p:spTree>
    <p:extLst>
      <p:ext uri="{BB962C8B-B14F-4D97-AF65-F5344CB8AC3E}">
        <p14:creationId xmlns:p14="http://schemas.microsoft.com/office/powerpoint/2010/main" val="41990054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2D193-1C75-F73A-186A-1838E16521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7F3C0E-F38C-20B5-2F44-B14B10B22F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A76061-E92F-8033-2BD4-6DD5BCABB2F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81E9A47-AFB2-CB82-2902-A86315D5584F}"/>
              </a:ext>
            </a:extLst>
          </p:cNvPr>
          <p:cNvSpPr>
            <a:spLocks noGrp="1"/>
          </p:cNvSpPr>
          <p:nvPr>
            <p:ph type="sldNum" sz="quarter" idx="5"/>
          </p:nvPr>
        </p:nvSpPr>
        <p:spPr/>
        <p:txBody>
          <a:bodyPr/>
          <a:lstStyle/>
          <a:p>
            <a:fld id="{93E017AD-4DAE-4101-8BD7-443876F77AC4}" type="slidenum">
              <a:rPr lang="en-US" smtClean="0"/>
              <a:t>27</a:t>
            </a:fld>
            <a:endParaRPr lang="en-US"/>
          </a:p>
        </p:txBody>
      </p:sp>
    </p:spTree>
    <p:extLst>
      <p:ext uri="{BB962C8B-B14F-4D97-AF65-F5344CB8AC3E}">
        <p14:creationId xmlns:p14="http://schemas.microsoft.com/office/powerpoint/2010/main" val="22443088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3E017AD-4DAE-4101-8BD7-443876F77AC4}" type="slidenum">
              <a:rPr lang="en-US" smtClean="0"/>
              <a:t>28</a:t>
            </a:fld>
            <a:endParaRPr lang="en-US"/>
          </a:p>
        </p:txBody>
      </p:sp>
    </p:spTree>
    <p:extLst>
      <p:ext uri="{BB962C8B-B14F-4D97-AF65-F5344CB8AC3E}">
        <p14:creationId xmlns:p14="http://schemas.microsoft.com/office/powerpoint/2010/main" val="27518861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E022EA-76B1-46B8-9C5D-029FB65C08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90049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E022EA-76B1-46B8-9C5D-029FB65C08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60880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E022EA-76B1-46B8-9C5D-029FB65C08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49972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E022EA-76B1-46B8-9C5D-029FB65C08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36173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E022EA-76B1-46B8-9C5D-029FB65C08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5987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E022EA-76B1-46B8-9C5D-029FB65C08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62746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E022EA-76B1-46B8-9C5D-029FB65C08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64210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E022EA-76B1-46B8-9C5D-029FB65C08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40079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E022EA-76B1-46B8-9C5D-029FB65C08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50304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E022EA-76B1-46B8-9C5D-029FB65C08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60794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E022EA-76B1-46B8-9C5D-029FB65C08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734471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E022EA-76B1-46B8-9C5D-029FB65C08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3595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E022EA-76B1-46B8-9C5D-029FB65C08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077412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E022EA-76B1-46B8-9C5D-029FB65C08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851728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4853D-CD86-25D7-C562-5B4E25D94E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92C4B7-4A73-2B42-6BDA-96391E57B6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CCA45C-A03E-0864-BCB4-13BC5CAC8B08}"/>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FAFFBB52-90E1-31D3-0EF0-A624854A7DB8}"/>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Date Placeholder 5">
            <a:extLst>
              <a:ext uri="{FF2B5EF4-FFF2-40B4-BE49-F238E27FC236}">
                <a16:creationId xmlns:a16="http://schemas.microsoft.com/office/drawing/2014/main" id="{0102D20B-3155-8DE1-F2AA-43D3B5DDF165}"/>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10/31/2025 2:03 PM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1BC436B2-E93B-F670-B6D0-E3ABEAA517A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197521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501081-E19D-419D-B0AB-F3E6317950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101601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6" name="Date Placeholder 5"/>
          <p:cNvSpPr>
            <a:spLocks noGrp="1"/>
          </p:cNvSpPr>
          <p:nvPr>
            <p:ph type="dt" idx="1"/>
          </p:nvPr>
        </p:nvSpPr>
        <p:spPr/>
        <p:txBody>
          <a:bodyPr/>
          <a:lstStyle/>
          <a:p>
            <a:fld id="{257BEA66-07EB-4B76-BB72-B1ECA90C5737}" type="datetime8">
              <a:rPr lang="en-US" smtClean="0"/>
              <a:t>10/31/2025 2:03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45</a:t>
            </a:fld>
            <a:endParaRPr lang="en-US"/>
          </a:p>
        </p:txBody>
      </p:sp>
    </p:spTree>
    <p:extLst>
      <p:ext uri="{BB962C8B-B14F-4D97-AF65-F5344CB8AC3E}">
        <p14:creationId xmlns:p14="http://schemas.microsoft.com/office/powerpoint/2010/main" val="118447813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3E017AD-4DAE-4101-8BD7-443876F77AC4}" type="slidenum">
              <a:rPr lang="en-US" smtClean="0"/>
              <a:t>46</a:t>
            </a:fld>
            <a:endParaRPr lang="en-US"/>
          </a:p>
        </p:txBody>
      </p:sp>
    </p:spTree>
    <p:extLst>
      <p:ext uri="{BB962C8B-B14F-4D97-AF65-F5344CB8AC3E}">
        <p14:creationId xmlns:p14="http://schemas.microsoft.com/office/powerpoint/2010/main" val="12652343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B068A-F2A2-D8E0-81CF-DE6805A16E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E8CB9-E392-3453-B1FA-2E9DB32887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C33EFB-01DD-D420-2558-13059166DAE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F4929AF-F1F8-347E-FEAC-60CEAA4429B9}"/>
              </a:ext>
            </a:extLst>
          </p:cNvPr>
          <p:cNvSpPr>
            <a:spLocks noGrp="1"/>
          </p:cNvSpPr>
          <p:nvPr>
            <p:ph type="sldNum" sz="quarter" idx="5"/>
          </p:nvPr>
        </p:nvSpPr>
        <p:spPr/>
        <p:txBody>
          <a:bodyPr/>
          <a:lstStyle/>
          <a:p>
            <a:fld id="{93E017AD-4DAE-4101-8BD7-443876F77AC4}" type="slidenum">
              <a:rPr lang="en-US" smtClean="0"/>
              <a:t>47</a:t>
            </a:fld>
            <a:endParaRPr lang="en-US"/>
          </a:p>
        </p:txBody>
      </p:sp>
    </p:spTree>
    <p:extLst>
      <p:ext uri="{BB962C8B-B14F-4D97-AF65-F5344CB8AC3E}">
        <p14:creationId xmlns:p14="http://schemas.microsoft.com/office/powerpoint/2010/main" val="10213265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8.jpeg"/><Relationship Id="rId4" Type="http://schemas.microsoft.com/office/2007/relationships/hdphoto" Target="../media/hdphoto1.wdp"/></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Master" Target="../slideMasters/slideMaster1.xml"/><Relationship Id="rId4" Type="http://schemas.openxmlformats.org/officeDocument/2006/relationships/image" Target="../media/image25.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Master" Target="../slideMasters/slideMaster1.xml"/><Relationship Id="rId5" Type="http://schemas.openxmlformats.org/officeDocument/2006/relationships/image" Target="../media/image29.jpeg"/><Relationship Id="rId4" Type="http://schemas.openxmlformats.org/officeDocument/2006/relationships/image" Target="../media/image28.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Master" Target="../slideMasters/slideMaster1.xml"/><Relationship Id="rId4" Type="http://schemas.openxmlformats.org/officeDocument/2006/relationships/image" Target="../media/image34.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Master" Target="../slideMasters/slideMaster1.xml"/><Relationship Id="rId5" Type="http://schemas.openxmlformats.org/officeDocument/2006/relationships/image" Target="../media/image38.jpeg"/><Relationship Id="rId4" Type="http://schemas.openxmlformats.org/officeDocument/2006/relationships/image" Target="../media/image37.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Master" Target="../slideMasters/slideMaster1.xml"/><Relationship Id="rId6" Type="http://schemas.openxmlformats.org/officeDocument/2006/relationships/image" Target="../media/image43.jpeg"/><Relationship Id="rId5" Type="http://schemas.openxmlformats.org/officeDocument/2006/relationships/image" Target="../media/image42.jpeg"/><Relationship Id="rId4" Type="http://schemas.openxmlformats.org/officeDocument/2006/relationships/image" Target="../media/image41.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Master" Target="../slideMasters/slideMaster1.xml"/><Relationship Id="rId4" Type="http://schemas.openxmlformats.org/officeDocument/2006/relationships/image" Target="../media/image46.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Master" Target="../slideMasters/slideMaster1.xml"/><Relationship Id="rId5" Type="http://schemas.openxmlformats.org/officeDocument/2006/relationships/image" Target="../media/image47.jpeg"/><Relationship Id="rId4" Type="http://schemas.openxmlformats.org/officeDocument/2006/relationships/image" Target="../media/image46.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Master" Target="../slideMasters/slideMaster1.xml"/><Relationship Id="rId6" Type="http://schemas.openxmlformats.org/officeDocument/2006/relationships/image" Target="../media/image52.jpeg"/><Relationship Id="rId5" Type="http://schemas.openxmlformats.org/officeDocument/2006/relationships/image" Target="../media/image51.jpeg"/><Relationship Id="rId4" Type="http://schemas.openxmlformats.org/officeDocument/2006/relationships/image" Target="../media/image50.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Master" Target="../slideMasters/slideMaster1.xml"/><Relationship Id="rId4" Type="http://schemas.openxmlformats.org/officeDocument/2006/relationships/image" Target="../media/image70.svg"/></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75.svg"/><Relationship Id="rId4" Type="http://schemas.openxmlformats.org/officeDocument/2006/relationships/image" Target="../media/image74.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77.svg"/><Relationship Id="rId2" Type="http://schemas.openxmlformats.org/officeDocument/2006/relationships/image" Target="../media/image76.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jpe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3037813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080397"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080397"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8" name="Picture 7" descr="A logo of a company&#10;&#10;Description automatically generated">
            <a:extLst>
              <a:ext uri="{FF2B5EF4-FFF2-40B4-BE49-F238E27FC236}">
                <a16:creationId xmlns:a16="http://schemas.microsoft.com/office/drawing/2014/main" id="{51065696-BF77-547A-924A-9F4AB38AD419}"/>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28548296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5511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1" name="Picture 10" descr="A logo of a company&#10;&#10;Description automatically generated">
            <a:extLst>
              <a:ext uri="{FF2B5EF4-FFF2-40B4-BE49-F238E27FC236}">
                <a16:creationId xmlns:a16="http://schemas.microsoft.com/office/drawing/2014/main" id="{CAE62B93-42FC-5FEC-B67B-BA687583F380}"/>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34966446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with replaceab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495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4495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
        <p:nvSpPr>
          <p:cNvPr id="2" name="Picture Placeholder" descr="Picture placeholder">
            <a:extLst>
              <a:ext uri="{FF2B5EF4-FFF2-40B4-BE49-F238E27FC236}">
                <a16:creationId xmlns:a16="http://schemas.microsoft.com/office/drawing/2014/main" id="{9BD5030A-DADA-E973-A194-2BD6C3CE6D48}"/>
              </a:ext>
            </a:extLst>
          </p:cNvPr>
          <p:cNvSpPr>
            <a:spLocks noGrp="1"/>
          </p:cNvSpPr>
          <p:nvPr>
            <p:ph type="pic" sz="quarter" idx="11" hasCustomPrompt="1"/>
          </p:nvPr>
        </p:nvSpPr>
        <p:spPr bwMode="ltGray">
          <a:xfrm>
            <a:off x="5334000" y="0"/>
            <a:ext cx="6858000" cy="6858000"/>
          </a:xfrm>
          <a:blipFill>
            <a:blip r:embed="rId4"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40130791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Footer Placeholder 2">
            <a:extLst>
              <a:ext uri="{FF2B5EF4-FFF2-40B4-BE49-F238E27FC236}">
                <a16:creationId xmlns:a16="http://schemas.microsoft.com/office/drawing/2014/main" id="{14A27F50-1392-F6C5-A17D-8B5496727A56}"/>
              </a:ext>
            </a:extLst>
          </p:cNvPr>
          <p:cNvSpPr>
            <a:spLocks noGrp="1"/>
          </p:cNvSpPr>
          <p:nvPr>
            <p:ph type="ftr" sz="quarter" idx="12"/>
          </p:nvPr>
        </p:nvSpPr>
        <p:spPr/>
        <p:txBody>
          <a:bodyPr/>
          <a:lstStyle/>
          <a:p>
            <a:r>
              <a:rPr lang="en-US"/>
              <a:t>Building Customer-Centric Services offers</a:t>
            </a:r>
          </a:p>
        </p:txBody>
      </p:sp>
      <p:sp>
        <p:nvSpPr>
          <p:cNvPr id="7" name="Slide Number Placeholder 6">
            <a:extLst>
              <a:ext uri="{FF2B5EF4-FFF2-40B4-BE49-F238E27FC236}">
                <a16:creationId xmlns:a16="http://schemas.microsoft.com/office/drawing/2014/main" id="{BDFC5C55-4DBC-E4B3-3A8E-D6AE16C0BDE3}"/>
              </a:ext>
            </a:extLst>
          </p:cNvPr>
          <p:cNvSpPr>
            <a:spLocks noGrp="1"/>
          </p:cNvSpPr>
          <p:nvPr>
            <p:ph type="sldNum" sz="quarter" idx="13"/>
          </p:nvPr>
        </p:nvSpPr>
        <p:spPr/>
        <p:txBody>
          <a:bodyPr/>
          <a:lstStyle/>
          <a:p>
            <a:fld id="{5763EE98-C176-4152-A50F-E68840BAFA00}" type="slidenum">
              <a:rPr lang="en-US" smtClean="0"/>
              <a:pPr/>
              <a:t>‹#›</a:t>
            </a:fld>
            <a:endParaRPr lang="en-US"/>
          </a:p>
        </p:txBody>
      </p:sp>
    </p:spTree>
    <p:extLst>
      <p:ext uri="{BB962C8B-B14F-4D97-AF65-F5344CB8AC3E}">
        <p14:creationId xmlns:p14="http://schemas.microsoft.com/office/powerpoint/2010/main" val="93147241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A1363FF4-6EF0-D2BC-8DFE-19CC89CD9276}"/>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64970126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3" name="Text Placeholder 4">
            <a:extLst>
              <a:ext uri="{FF2B5EF4-FFF2-40B4-BE49-F238E27FC236}">
                <a16:creationId xmlns:a16="http://schemas.microsoft.com/office/drawing/2014/main" id="{CDC3595B-25C2-CF43-259D-75A3671E7098}"/>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Footer Placeholder 3">
            <a:extLst>
              <a:ext uri="{FF2B5EF4-FFF2-40B4-BE49-F238E27FC236}">
                <a16:creationId xmlns:a16="http://schemas.microsoft.com/office/drawing/2014/main" id="{BA7D1D33-9108-BF35-CDA3-6F6000628D68}"/>
              </a:ext>
            </a:extLst>
          </p:cNvPr>
          <p:cNvSpPr>
            <a:spLocks noGrp="1"/>
          </p:cNvSpPr>
          <p:nvPr>
            <p:ph type="ftr" sz="quarter" idx="14"/>
          </p:nvPr>
        </p:nvSpPr>
        <p:spPr/>
        <p:txBody>
          <a:bodyPr/>
          <a:lstStyle/>
          <a:p>
            <a:r>
              <a:rPr lang="en-US"/>
              <a:t>Building Customer-Centric Services offers</a:t>
            </a:r>
          </a:p>
        </p:txBody>
      </p:sp>
      <p:sp>
        <p:nvSpPr>
          <p:cNvPr id="7" name="Slide Number Placeholder 6">
            <a:extLst>
              <a:ext uri="{FF2B5EF4-FFF2-40B4-BE49-F238E27FC236}">
                <a16:creationId xmlns:a16="http://schemas.microsoft.com/office/drawing/2014/main" id="{2FDD6EFC-EE20-EFAE-9664-A05D925FF9A8}"/>
              </a:ext>
            </a:extLst>
          </p:cNvPr>
          <p:cNvSpPr>
            <a:spLocks noGrp="1"/>
          </p:cNvSpPr>
          <p:nvPr>
            <p:ph type="sldNum" sz="quarter" idx="15"/>
          </p:nvPr>
        </p:nvSpPr>
        <p:spPr/>
        <p:txBody>
          <a:bodyPr/>
          <a:lstStyle/>
          <a:p>
            <a:fld id="{5763EE98-C176-4152-A50F-E68840BAFA00}" type="slidenum">
              <a:rPr lang="en-US" smtClean="0"/>
              <a:pPr/>
              <a:t>‹#›</a:t>
            </a:fld>
            <a:endParaRPr lang="en-US"/>
          </a:p>
        </p:txBody>
      </p:sp>
    </p:spTree>
    <p:extLst>
      <p:ext uri="{BB962C8B-B14F-4D97-AF65-F5344CB8AC3E}">
        <p14:creationId xmlns:p14="http://schemas.microsoft.com/office/powerpoint/2010/main" val="388927918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Sans Display" pitchFamily="2" charset="0"/>
                <a:cs typeface="Segoe Sans Display" pitchFamily="2"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Sans Display" pitchFamily="2" charset="0"/>
                <a:cs typeface="Segoe Sans Display" pitchFamily="2"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4">
            <a:extLst>
              <a:ext uri="{FF2B5EF4-FFF2-40B4-BE49-F238E27FC236}">
                <a16:creationId xmlns:a16="http://schemas.microsoft.com/office/drawing/2014/main" id="{3A3D27F9-7D19-8ECF-C50E-71D515E54BB8}"/>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84833471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4">
            <a:extLst>
              <a:ext uri="{FF2B5EF4-FFF2-40B4-BE49-F238E27FC236}">
                <a16:creationId xmlns:a16="http://schemas.microsoft.com/office/drawing/2014/main" id="{C112CDB0-015D-94C2-ECEE-970711F59EB7}"/>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56383261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 Placeholder 4">
            <a:extLst>
              <a:ext uri="{FF2B5EF4-FFF2-40B4-BE49-F238E27FC236}">
                <a16:creationId xmlns:a16="http://schemas.microsoft.com/office/drawing/2014/main" id="{A51E17F0-59B9-3EAE-0FC7-A1EBDE8F7BB3}"/>
              </a:ext>
            </a:extLst>
          </p:cNvPr>
          <p:cNvSpPr>
            <a:spLocks noGrp="1"/>
          </p:cNvSpPr>
          <p:nvPr>
            <p:ph type="body" sz="quarter" idx="18"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26752605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496CCFA2-2D28-1617-4A3E-368924E94312}"/>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498639953"/>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8AB70484-C812-6F3C-92DD-F6B2E1A813C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Footer Placeholder 3">
            <a:extLst>
              <a:ext uri="{FF2B5EF4-FFF2-40B4-BE49-F238E27FC236}">
                <a16:creationId xmlns:a16="http://schemas.microsoft.com/office/drawing/2014/main" id="{08F227C9-19E1-C372-3D98-A6C6A6B74CDC}"/>
              </a:ext>
            </a:extLst>
          </p:cNvPr>
          <p:cNvSpPr>
            <a:spLocks noGrp="1"/>
          </p:cNvSpPr>
          <p:nvPr>
            <p:ph type="ftr" sz="quarter" idx="22"/>
          </p:nvPr>
        </p:nvSpPr>
        <p:spPr/>
        <p:txBody>
          <a:bodyPr/>
          <a:lstStyle/>
          <a:p>
            <a:r>
              <a:rPr lang="en-US"/>
              <a:t>Building Customer-Centric Services offers</a:t>
            </a:r>
          </a:p>
        </p:txBody>
      </p:sp>
      <p:sp>
        <p:nvSpPr>
          <p:cNvPr id="5" name="Slide Number Placeholder 4">
            <a:extLst>
              <a:ext uri="{FF2B5EF4-FFF2-40B4-BE49-F238E27FC236}">
                <a16:creationId xmlns:a16="http://schemas.microsoft.com/office/drawing/2014/main" id="{66C88F98-9A94-122E-1F29-C5E7F9EE0F3F}"/>
              </a:ext>
            </a:extLst>
          </p:cNvPr>
          <p:cNvSpPr>
            <a:spLocks noGrp="1"/>
          </p:cNvSpPr>
          <p:nvPr>
            <p:ph type="sldNum" sz="quarter" idx="23"/>
          </p:nvPr>
        </p:nvSpPr>
        <p:spPr/>
        <p:txBody>
          <a:bodyPr/>
          <a:lstStyle/>
          <a:p>
            <a:fld id="{5763EE98-C176-4152-A50F-E68840BAFA00}" type="slidenum">
              <a:rPr lang="en-US" smtClean="0"/>
              <a:pPr/>
              <a:t>‹#›</a:t>
            </a:fld>
            <a:endParaRPr lang="en-US"/>
          </a:p>
        </p:txBody>
      </p:sp>
    </p:spTree>
    <p:extLst>
      <p:ext uri="{BB962C8B-B14F-4D97-AF65-F5344CB8AC3E}">
        <p14:creationId xmlns:p14="http://schemas.microsoft.com/office/powerpoint/2010/main" val="2833048173"/>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AA97F131-E501-E84F-7717-E61457B6D3AC}"/>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947834608"/>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Footer Placeholder 3">
            <a:extLst>
              <a:ext uri="{FF2B5EF4-FFF2-40B4-BE49-F238E27FC236}">
                <a16:creationId xmlns:a16="http://schemas.microsoft.com/office/drawing/2014/main" id="{1F1FADE9-4C2C-6484-9D7A-677BEE3B6FC5}"/>
              </a:ext>
            </a:extLst>
          </p:cNvPr>
          <p:cNvSpPr>
            <a:spLocks noGrp="1"/>
          </p:cNvSpPr>
          <p:nvPr>
            <p:ph type="ftr" sz="quarter" idx="12"/>
          </p:nvPr>
        </p:nvSpPr>
        <p:spPr/>
        <p:txBody>
          <a:bodyPr/>
          <a:lstStyle/>
          <a:p>
            <a:r>
              <a:rPr lang="en-US"/>
              <a:t>Building Customer-Centric Services offers</a:t>
            </a:r>
          </a:p>
        </p:txBody>
      </p:sp>
      <p:sp>
        <p:nvSpPr>
          <p:cNvPr id="5" name="Slide Number Placeholder 4">
            <a:extLst>
              <a:ext uri="{FF2B5EF4-FFF2-40B4-BE49-F238E27FC236}">
                <a16:creationId xmlns:a16="http://schemas.microsoft.com/office/drawing/2014/main" id="{950A2E4C-B954-19CE-364F-F2509FBB14C8}"/>
              </a:ext>
            </a:extLst>
          </p:cNvPr>
          <p:cNvSpPr>
            <a:spLocks noGrp="1"/>
          </p:cNvSpPr>
          <p:nvPr>
            <p:ph type="sldNum" sz="quarter" idx="13"/>
          </p:nvPr>
        </p:nvSpPr>
        <p:spPr/>
        <p:txBody>
          <a:bodyPr/>
          <a:lstStyle/>
          <a:p>
            <a:fld id="{5763EE98-C176-4152-A50F-E68840BAFA00}" type="slidenum">
              <a:rPr lang="en-US" smtClean="0"/>
              <a:pPr/>
              <a:t>‹#›</a:t>
            </a:fld>
            <a:endParaRPr lang="en-US"/>
          </a:p>
        </p:txBody>
      </p:sp>
    </p:spTree>
    <p:extLst>
      <p:ext uri="{BB962C8B-B14F-4D97-AF65-F5344CB8AC3E}">
        <p14:creationId xmlns:p14="http://schemas.microsoft.com/office/powerpoint/2010/main" val="401815360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
        <p:nvSpPr>
          <p:cNvPr id="3" name="Footer Placeholder 2">
            <a:extLst>
              <a:ext uri="{FF2B5EF4-FFF2-40B4-BE49-F238E27FC236}">
                <a16:creationId xmlns:a16="http://schemas.microsoft.com/office/drawing/2014/main" id="{9778A31F-CED4-334B-1F1E-FC776637C5F1}"/>
              </a:ext>
            </a:extLst>
          </p:cNvPr>
          <p:cNvSpPr>
            <a:spLocks noGrp="1"/>
          </p:cNvSpPr>
          <p:nvPr>
            <p:ph type="ftr" sz="quarter" idx="10"/>
          </p:nvPr>
        </p:nvSpPr>
        <p:spPr/>
        <p:txBody>
          <a:bodyPr/>
          <a:lstStyle/>
          <a:p>
            <a:r>
              <a:rPr lang="en-US"/>
              <a:t>Building Customer-Centric Services offers</a:t>
            </a:r>
          </a:p>
        </p:txBody>
      </p:sp>
      <p:sp>
        <p:nvSpPr>
          <p:cNvPr id="4" name="Slide Number Placeholder 3">
            <a:extLst>
              <a:ext uri="{FF2B5EF4-FFF2-40B4-BE49-F238E27FC236}">
                <a16:creationId xmlns:a16="http://schemas.microsoft.com/office/drawing/2014/main" id="{3FC85574-09BF-B9A2-20DC-7FB98CE872B5}"/>
              </a:ext>
            </a:extLst>
          </p:cNvPr>
          <p:cNvSpPr>
            <a:spLocks noGrp="1"/>
          </p:cNvSpPr>
          <p:nvPr>
            <p:ph type="sldNum" sz="quarter" idx="11"/>
          </p:nvPr>
        </p:nvSpPr>
        <p:spPr/>
        <p:txBody>
          <a:bodyPr/>
          <a:lstStyle/>
          <a:p>
            <a:fld id="{5763EE98-C176-4152-A50F-E68840BAFA00}" type="slidenum">
              <a:rPr lang="en-US" smtClean="0"/>
              <a:pPr/>
              <a:t>‹#›</a:t>
            </a:fld>
            <a:endParaRPr lang="en-US"/>
          </a:p>
        </p:txBody>
      </p:sp>
    </p:spTree>
    <p:extLst>
      <p:ext uri="{BB962C8B-B14F-4D97-AF65-F5344CB8AC3E}">
        <p14:creationId xmlns:p14="http://schemas.microsoft.com/office/powerpoint/2010/main" val="426991346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Sans Display" pitchFamily="2" charset="0"/>
              </a:defRPr>
            </a:lvl1pPr>
          </a:lstStyle>
          <a:p>
            <a:r>
              <a:rPr lang="en-US"/>
              <a:t>Click to edit Master title style</a:t>
            </a:r>
          </a:p>
        </p:txBody>
      </p:sp>
      <p:sp>
        <p:nvSpPr>
          <p:cNvPr id="3" name="Footer Placeholder 2">
            <a:extLst>
              <a:ext uri="{FF2B5EF4-FFF2-40B4-BE49-F238E27FC236}">
                <a16:creationId xmlns:a16="http://schemas.microsoft.com/office/drawing/2014/main" id="{E7F2AAA4-E2C1-8B85-0B7F-6E81475D1DF6}"/>
              </a:ext>
            </a:extLst>
          </p:cNvPr>
          <p:cNvSpPr>
            <a:spLocks noGrp="1"/>
          </p:cNvSpPr>
          <p:nvPr>
            <p:ph type="ftr" sz="quarter" idx="10"/>
          </p:nvPr>
        </p:nvSpPr>
        <p:spPr>
          <a:xfrm>
            <a:off x="571500" y="6362701"/>
            <a:ext cx="2815166" cy="495298"/>
          </a:xfrm>
        </p:spPr>
        <p:txBody>
          <a:bodyPr/>
          <a:lstStyle/>
          <a:p>
            <a:r>
              <a:rPr lang="en-US"/>
              <a:t>Building Customer-Centric Services offers</a:t>
            </a:r>
          </a:p>
        </p:txBody>
      </p:sp>
      <p:sp>
        <p:nvSpPr>
          <p:cNvPr id="4" name="Slide Number Placeholder 3">
            <a:extLst>
              <a:ext uri="{FF2B5EF4-FFF2-40B4-BE49-F238E27FC236}">
                <a16:creationId xmlns:a16="http://schemas.microsoft.com/office/drawing/2014/main" id="{4BE198D0-2553-2262-4537-AC1C92A45950}"/>
              </a:ext>
            </a:extLst>
          </p:cNvPr>
          <p:cNvSpPr>
            <a:spLocks noGrp="1"/>
          </p:cNvSpPr>
          <p:nvPr>
            <p:ph type="sldNum" sz="quarter" idx="11"/>
          </p:nvPr>
        </p:nvSpPr>
        <p:spPr/>
        <p:txBody>
          <a:bodyPr/>
          <a:lstStyle/>
          <a:p>
            <a:fld id="{5763EE98-C176-4152-A50F-E68840BAFA00}" type="slidenum">
              <a:rPr lang="en-US" smtClean="0"/>
              <a:pPr/>
              <a:t>‹#›</a:t>
            </a:fld>
            <a:endParaRPr lang="en-US"/>
          </a:p>
        </p:txBody>
      </p:sp>
    </p:spTree>
    <p:extLst>
      <p:ext uri="{BB962C8B-B14F-4D97-AF65-F5344CB8AC3E}">
        <p14:creationId xmlns:p14="http://schemas.microsoft.com/office/powerpoint/2010/main" val="29393763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evic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6583680"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5394960"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658368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2CFD743-438B-21E8-B2BA-FF8644B73E5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6343080" y="1866864"/>
            <a:ext cx="5544120" cy="3124272"/>
          </a:xfrm>
          <a:blipFill>
            <a:blip r:embed="rId3"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106646853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888">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evic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2875002"/>
            <a:ext cx="3840862" cy="1107996"/>
          </a:xfrm>
        </p:spPr>
        <p:txBody>
          <a:bodyPr anchor="ctr" anchorCtr="0"/>
          <a:lstStyle>
            <a:lvl1pPr>
              <a:defRPr>
                <a:solidFill>
                  <a:schemeClr val="tx1"/>
                </a:solidFill>
              </a:defRPr>
            </a:lvl1pPr>
          </a:lstStyle>
          <a:p>
            <a:r>
              <a:rPr lang="en-US"/>
              <a:t>Click to edit Master title style</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453295D4-3AEF-C922-4A3C-5C3DBD4757A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5191125" y="1542284"/>
            <a:ext cx="6696075" cy="3773432"/>
          </a:xfrm>
          <a:blipFill>
            <a:blip r:embed="rId4"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302748991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solidFill>
            <a:srgbClr val="E1D3C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745164" cy="1514157"/>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2743200"/>
            <a:ext cx="4749800" cy="352583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918200" y="1155700"/>
            <a:ext cx="5702300" cy="5465928"/>
          </a:xfrm>
          <a:prstGeom prst="round2SameRect">
            <a:avLst>
              <a:gd name="adj1" fmla="val 2235"/>
              <a:gd name="adj2" fmla="val 0"/>
            </a:avLst>
          </a:prstGeom>
          <a:blipFill>
            <a:blip r:embed="rId2" cstate="email">
              <a:extLst>
                <a:ext uri="{28A0092B-C50C-407E-A947-70E740481C1C}">
                  <a14:useLocalDpi xmlns:a14="http://schemas.microsoft.com/office/drawing/2010/main"/>
                </a:ext>
              </a:extLst>
            </a:blip>
            <a:stretch>
              <a:fillRect b="-4324"/>
            </a:stretch>
          </a:blipFill>
        </p:spPr>
        <p:txBody>
          <a:bodyPr lIns="0" tIns="914400" rIns="0" anchor="t" anchorCtr="0">
            <a:noAutofit/>
          </a:bodyPr>
          <a:lstStyle>
            <a:lvl1pPr marL="0" indent="0" algn="ctr">
              <a:lnSpc>
                <a:spcPct val="100000"/>
              </a:lnSpc>
              <a:buNone/>
              <a:defRPr sz="11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3"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Tree>
    <p:extLst>
      <p:ext uri="{BB962C8B-B14F-4D97-AF65-F5344CB8AC3E}">
        <p14:creationId xmlns:p14="http://schemas.microsoft.com/office/powerpoint/2010/main" val="108231050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quare Photo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624513" y="585788"/>
            <a:ext cx="5683249" cy="5683249"/>
          </a:xfrm>
          <a:prstGeom prst="roundRect">
            <a:avLst>
              <a:gd name="adj" fmla="val 3259"/>
            </a:avLst>
          </a:prstGeom>
          <a:blipFill>
            <a:blip r:embed="rId3" cstate="email">
              <a:extLst>
                <a:ext uri="{28A0092B-C50C-407E-A947-70E740481C1C}">
                  <a14:useLocalDpi xmlns:a14="http://schemas.microsoft.com/office/drawing/2010/main"/>
                </a:ext>
              </a:extLst>
            </a:blip>
            <a:stretch>
              <a:fillRect/>
            </a:stretch>
          </a:blipFill>
        </p:spPr>
        <p:txBody>
          <a:bodyPr lIns="0" tIns="91440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2" name="Picture 1" hidden="1">
            <a:extLst>
              <a:ext uri="{FF2B5EF4-FFF2-40B4-BE49-F238E27FC236}">
                <a16:creationId xmlns:a16="http://schemas.microsoft.com/office/drawing/2014/main" id="{4E2E619B-2D74-9B55-98E1-9E6126DE0DB1}"/>
              </a:ext>
            </a:extLst>
          </p:cNvPr>
          <p:cNvPicPr>
            <a:picLocks noChangeAspect="1"/>
          </p:cNvPicPr>
          <p:nvPr userDrawn="1"/>
        </p:nvPicPr>
        <p:blipFill>
          <a:blip r:embed="rId4" cstate="email">
            <a:extLst>
              <a:ext uri="{28A0092B-C50C-407E-A947-70E740481C1C}">
                <a14:useLocalDpi xmlns:a14="http://schemas.microsoft.com/office/drawing/2010/main"/>
              </a:ext>
            </a:extLst>
          </a:blip>
          <a:srcRect b="93678"/>
          <a:stretch/>
        </p:blipFill>
        <p:spPr>
          <a:xfrm flipV="1">
            <a:off x="5614987" y="6032665"/>
            <a:ext cx="5702300" cy="236372"/>
          </a:xfrm>
          <a:prstGeom prst="round2SameRect">
            <a:avLst>
              <a:gd name="adj1" fmla="val 50000"/>
              <a:gd name="adj2" fmla="val 0"/>
            </a:avLst>
          </a:prstGeom>
        </p:spPr>
      </p:pic>
    </p:spTree>
    <p:extLst>
      <p:ext uri="{BB962C8B-B14F-4D97-AF65-F5344CB8AC3E}">
        <p14:creationId xmlns:p14="http://schemas.microsoft.com/office/powerpoint/2010/main" val="196205925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quare Photo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pic>
        <p:nvPicPr>
          <p:cNvPr id="10" name="Picture 9" descr="A close-up of a colorful object&#10;&#10;Description automatically generated">
            <a:extLst>
              <a:ext uri="{FF2B5EF4-FFF2-40B4-BE49-F238E27FC236}">
                <a16:creationId xmlns:a16="http://schemas.microsoft.com/office/drawing/2014/main" id="{89A104E1-D13F-B13B-BB5D-930C8205C897}"/>
              </a:ext>
            </a:extLst>
          </p:cNvPr>
          <p:cNvPicPr>
            <a:picLocks noChangeAspect="1"/>
          </p:cNvPicPr>
          <p:nvPr userDrawn="1"/>
        </p:nvPicPr>
        <p:blipFill>
          <a:blip r:embed="rId3" cstate="email">
            <a:extLst>
              <a:ext uri="{BEBA8EAE-BF5A-486C-A8C5-ECC9F3942E4B}">
                <a14:imgProps xmlns:a14="http://schemas.microsoft.com/office/drawing/2010/main">
                  <a14:imgLayer r:embed="rId4">
                    <a14:imgEffect>
                      <a14:sharpenSoften amount="-65000"/>
                    </a14:imgEffect>
                  </a14:imgLayer>
                </a14:imgProps>
              </a:ext>
              <a:ext uri="{28A0092B-C50C-407E-A947-70E740481C1C}">
                <a14:useLocalDpi xmlns:a14="http://schemas.microsoft.com/office/drawing/2010/main"/>
              </a:ext>
            </a:extLst>
          </a:blip>
          <a:srcRect/>
          <a:stretch/>
        </p:blipFill>
        <p:spPr>
          <a:xfrm>
            <a:off x="5333999" y="0"/>
            <a:ext cx="6858001" cy="6858000"/>
          </a:xfrm>
          <a:prstGeom prst="rect">
            <a:avLst/>
          </a:prstGeom>
          <a:solidFill>
            <a:schemeClr val="bg1"/>
          </a:solidFill>
        </p:spPr>
      </p:pic>
      <p:pic>
        <p:nvPicPr>
          <p:cNvPr id="8" name="Picture 7" descr="A colorful gradient going from darker blue on the left side to light blue to magenta to orange on the right side">
            <a:extLst>
              <a:ext uri="{FF2B5EF4-FFF2-40B4-BE49-F238E27FC236}">
                <a16:creationId xmlns:a16="http://schemas.microsoft.com/office/drawing/2014/main" id="{69B64261-FB99-ADE9-26E4-3ECE1E68CF38}"/>
              </a:ext>
            </a:extLst>
          </p:cNvPr>
          <p:cNvPicPr>
            <a:picLocks noChangeAspect="1"/>
          </p:cNvPicPr>
          <p:nvPr userDrawn="1"/>
        </p:nvPicPr>
        <p:blipFill rotWithShape="1">
          <a:blip r:embed="rId5" cstate="email">
            <a:alphaModFix amt="50000"/>
            <a:extLst>
              <a:ext uri="{28A0092B-C50C-407E-A947-70E740481C1C}">
                <a14:useLocalDpi xmlns:a14="http://schemas.microsoft.com/office/drawing/2010/main"/>
              </a:ext>
            </a:extLst>
          </a:blip>
          <a:srcRect t="160" b="160"/>
          <a:stretch/>
        </p:blipFill>
        <p:spPr>
          <a:xfrm rot="16200000">
            <a:off x="6205856" y="868680"/>
            <a:ext cx="5120640" cy="5120640"/>
          </a:xfrm>
          <a:prstGeom prst="roundRect">
            <a:avLst>
              <a:gd name="adj" fmla="val 2716"/>
            </a:avLst>
          </a:prstGeom>
        </p:spPr>
      </p:pic>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346"/>
            </a:avLst>
          </a:prstGeom>
          <a:blipFill>
            <a:blip r:embed="rId6"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7722508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quare Photo Graphic 4">
    <p:bg>
      <p:bgPr>
        <a:solidFill>
          <a:srgbClr val="FFF8F3"/>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58AEFBE-EE1F-0FBF-5C84-1DF6EC17775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0891438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71883120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rgbClr val="E8E6DF"/>
        </a:solidFill>
        <a:effectLst/>
      </p:bgPr>
    </p:bg>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F7F87341-ECEA-3B94-51B2-A9E24914685F}"/>
              </a:ext>
            </a:extLst>
          </p:cNvPr>
          <p:cNvSpPr>
            <a:spLocks noGrp="1"/>
          </p:cNvSpPr>
          <p:nvPr>
            <p:ph type="pic" sz="quarter" idx="11" hasCustomPrompt="1"/>
          </p:nvPr>
        </p:nvSpPr>
        <p:spPr bwMode="ltGray">
          <a:xfrm>
            <a:off x="5334000" y="0"/>
            <a:ext cx="6858000" cy="6858000"/>
          </a:xfrm>
          <a:blipFill dpi="0" rotWithShape="1">
            <a:blip r:embed="rId2"/>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Rectangle 5">
            <a:extLst>
              <a:ext uri="{FF2B5EF4-FFF2-40B4-BE49-F238E27FC236}">
                <a16:creationId xmlns:a16="http://schemas.microsoft.com/office/drawing/2014/main" id="{3DED39DE-8DED-DC59-2BDA-C621877CF64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1735888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3D4BC3CE-C968-246E-EAC3-B829FDF59F19}"/>
              </a:ext>
            </a:extLst>
          </p:cNvPr>
          <p:cNvSpPr>
            <a:spLocks noGrp="1"/>
          </p:cNvSpPr>
          <p:nvPr>
            <p:ph type="pic" sz="quarter" idx="11" hasCustomPrompt="1"/>
          </p:nvPr>
        </p:nvSpPr>
        <p:spPr bwMode="ltGray">
          <a:xfrm>
            <a:off x="5334000" y="0"/>
            <a:ext cx="6858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30589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804394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3" name="Picture Placeholder" descr="This photo is a 'placeholder' only. Drag or drop your photo here, or click and tap the center to insert a photo.">
            <a:extLst>
              <a:ext uri="{FF2B5EF4-FFF2-40B4-BE49-F238E27FC236}">
                <a16:creationId xmlns:a16="http://schemas.microsoft.com/office/drawing/2014/main" id="{84EB85E8-62D6-9C5F-D48A-055FCADA251A}"/>
              </a:ext>
            </a:extLst>
          </p:cNvPr>
          <p:cNvSpPr>
            <a:spLocks noGrp="1"/>
          </p:cNvSpPr>
          <p:nvPr>
            <p:ph type="pic" sz="quarter" idx="11" hasCustomPrompt="1"/>
          </p:nvPr>
        </p:nvSpPr>
        <p:spPr bwMode="ltGray">
          <a:xfrm>
            <a:off x="0" y="2286000"/>
            <a:ext cx="12192000" cy="4572000"/>
          </a:xfr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54251854"/>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2633442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0644013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142034907"/>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8472902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1884828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24616976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1977601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7534347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4596646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13561309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3788767"/>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23664928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195918726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17390358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63845844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1485821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4085685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6" userDrawn="1">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D5F20BF-1B1B-50CA-191C-F2202EAF5B89}"/>
              </a:ext>
            </a:extLst>
          </p:cNvPr>
          <p:cNvSpPr>
            <a:spLocks noGrp="1"/>
          </p:cNvSpPr>
          <p:nvPr>
            <p:ph type="pic" sz="quarter" idx="11" hasCustomPrompt="1"/>
          </p:nvPr>
        </p:nvSpPr>
        <p:spPr bwMode="ltGray">
          <a:xfrm>
            <a:off x="5334000" y="0"/>
            <a:ext cx="6858000" cy="6858000"/>
          </a:xfr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41809468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emo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10" name="Picture 9" descr="A person with curly hair standing in brightly illuminating outdoor light and shadows">
            <a:extLst>
              <a:ext uri="{FF2B5EF4-FFF2-40B4-BE49-F238E27FC236}">
                <a16:creationId xmlns:a16="http://schemas.microsoft.com/office/drawing/2014/main" id="{2E82545A-FD52-D775-7812-AC95C1735C22}"/>
              </a:ext>
            </a:extLst>
          </p:cNvPr>
          <p:cNvPicPr>
            <a:picLocks noChangeAspect="1"/>
          </p:cNvPicPr>
          <p:nvPr userDrawn="1"/>
        </p:nvPicPr>
        <p:blipFill>
          <a:blip r:embed="rId3" cstate="screen">
            <a:alphaModFix/>
            <a:extLst>
              <a:ext uri="{28A0092B-C50C-407E-A947-70E740481C1C}">
                <a14:useLocalDpi xmlns:a14="http://schemas.microsoft.com/office/drawing/2010/main"/>
              </a:ext>
            </a:extLst>
          </a:blip>
          <a:srcRect l="17213" r="21311"/>
          <a:stretch/>
        </p:blipFill>
        <p:spPr>
          <a:xfrm>
            <a:off x="5334000" y="0"/>
            <a:ext cx="6858000" cy="6858000"/>
          </a:xfrm>
          <a:prstGeom prst="roundRect">
            <a:avLst>
              <a:gd name="adj" fmla="val 0"/>
            </a:avLst>
          </a:prstGeom>
        </p:spPr>
      </p:pic>
    </p:spTree>
    <p:extLst>
      <p:ext uri="{BB962C8B-B14F-4D97-AF65-F5344CB8AC3E}">
        <p14:creationId xmlns:p14="http://schemas.microsoft.com/office/powerpoint/2010/main" val="1499097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emo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EF270AE3-8618-7645-AE3C-5E57E3BF172C}"/>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5636036" y="302036"/>
            <a:ext cx="6251164" cy="6251164"/>
          </a:xfrm>
          <a:prstGeom prst="roundRect">
            <a:avLst>
              <a:gd name="adj" fmla="val 2595"/>
            </a:avLst>
          </a:prstGeom>
        </p:spPr>
      </p:pic>
    </p:spTree>
    <p:extLst>
      <p:ext uri="{BB962C8B-B14F-4D97-AF65-F5344CB8AC3E}">
        <p14:creationId xmlns:p14="http://schemas.microsoft.com/office/powerpoint/2010/main" val="4869533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emo slide 4">
    <p:bg>
      <p:bgPr>
        <a:solidFill>
          <a:srgbClr val="E8E6D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descr="A person with white beard and hat&#10;&#10;Description automatically generated">
            <a:extLst>
              <a:ext uri="{FF2B5EF4-FFF2-40B4-BE49-F238E27FC236}">
                <a16:creationId xmlns:a16="http://schemas.microsoft.com/office/drawing/2014/main" id="{6114E386-90DD-2D33-E4EE-56C7BEC347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334000" y="0"/>
            <a:ext cx="6858000" cy="6858000"/>
          </a:xfrm>
          <a:prstGeom prst="rect">
            <a:avLst/>
          </a:prstGeom>
        </p:spPr>
      </p:pic>
      <p:sp>
        <p:nvSpPr>
          <p:cNvPr id="3" name="Rectangle 2">
            <a:extLst>
              <a:ext uri="{FF2B5EF4-FFF2-40B4-BE49-F238E27FC236}">
                <a16:creationId xmlns:a16="http://schemas.microsoft.com/office/drawing/2014/main" id="{232DA8AD-FBCB-B320-7C32-5B6DFD8E5B6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33879926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C1E8B5B3-E911-FA3B-060D-08ACEFE48A20}"/>
              </a:ext>
            </a:extLst>
          </p:cNvPr>
          <p:cNvSpPr>
            <a:spLocks noGrp="1"/>
          </p:cNvSpPr>
          <p:nvPr>
            <p:ph type="pic" sz="quarter" idx="11" hasCustomPrompt="1"/>
          </p:nvPr>
        </p:nvSpPr>
        <p:spPr bwMode="ltGray">
          <a:xfrm>
            <a:off x="5334000" y="0"/>
            <a:ext cx="6858000" cy="6858000"/>
          </a:xfr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6343042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8111608B-3482-A33C-BA63-70C5869A2A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1" y="0"/>
            <a:ext cx="6858000" cy="6861846"/>
          </a:xfrm>
          <a:prstGeom prst="rect">
            <a:avLst/>
          </a:prstGeom>
        </p:spPr>
      </p:pic>
    </p:spTree>
    <p:extLst>
      <p:ext uri="{BB962C8B-B14F-4D97-AF65-F5344CB8AC3E}">
        <p14:creationId xmlns:p14="http://schemas.microsoft.com/office/powerpoint/2010/main" val="7118067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8" name="Picture 7">
            <a:extLst>
              <a:ext uri="{FF2B5EF4-FFF2-40B4-BE49-F238E27FC236}">
                <a16:creationId xmlns:a16="http://schemas.microsoft.com/office/drawing/2014/main" id="{27F67BE8-1773-C479-4149-41024CAFA3D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Tree>
    <p:extLst>
      <p:ext uri="{BB962C8B-B14F-4D97-AF65-F5344CB8AC3E}">
        <p14:creationId xmlns:p14="http://schemas.microsoft.com/office/powerpoint/2010/main" val="1508766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spTree>
    <p:extLst>
      <p:ext uri="{BB962C8B-B14F-4D97-AF65-F5344CB8AC3E}">
        <p14:creationId xmlns:p14="http://schemas.microsoft.com/office/powerpoint/2010/main" val="22312743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ection Title 5">
    <p:bg>
      <p:bgPr>
        <a:solidFill>
          <a:schemeClr val="accent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332624874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ection Title 6">
    <p:bg>
      <p:bgPr>
        <a:solidFill>
          <a:srgbClr val="2A446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378878300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ection Title 7">
    <p:bg>
      <p:bgPr>
        <a:solidFill>
          <a:schemeClr val="accent3"/>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157797429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53D3011-E93D-CFE1-7840-7EF5DBEB1C3F}"/>
              </a:ext>
            </a:extLst>
          </p:cNvPr>
          <p:cNvSpPr>
            <a:spLocks noGrp="1"/>
          </p:cNvSpPr>
          <p:nvPr>
            <p:ph type="ftr" sz="quarter" idx="10"/>
          </p:nvPr>
        </p:nvSpPr>
        <p:spPr/>
        <p:txBody>
          <a:bodyPr/>
          <a:lstStyle/>
          <a:p>
            <a:r>
              <a:rPr lang="en-US"/>
              <a:t>Building Customer-Centric Services offers</a:t>
            </a:r>
          </a:p>
        </p:txBody>
      </p:sp>
      <p:sp>
        <p:nvSpPr>
          <p:cNvPr id="3" name="Slide Number Placeholder 2">
            <a:extLst>
              <a:ext uri="{FF2B5EF4-FFF2-40B4-BE49-F238E27FC236}">
                <a16:creationId xmlns:a16="http://schemas.microsoft.com/office/drawing/2014/main" id="{E04945D2-9ADC-321A-F962-2CE001D7ED5A}"/>
              </a:ext>
            </a:extLst>
          </p:cNvPr>
          <p:cNvSpPr>
            <a:spLocks noGrp="1"/>
          </p:cNvSpPr>
          <p:nvPr>
            <p:ph type="sldNum" sz="quarter" idx="11"/>
          </p:nvPr>
        </p:nvSpPr>
        <p:spPr/>
        <p:txBody>
          <a:bodyPr/>
          <a:lstStyle/>
          <a:p>
            <a:fld id="{5763EE98-C176-4152-A50F-E68840BAFA00}" type="slidenum">
              <a:rPr lang="en-US" smtClean="0"/>
              <a:pPr/>
              <a:t>‹#›</a:t>
            </a:fld>
            <a:endParaRPr lang="en-US"/>
          </a:p>
        </p:txBody>
      </p:sp>
    </p:spTree>
    <p:extLst>
      <p:ext uri="{BB962C8B-B14F-4D97-AF65-F5344CB8AC3E}">
        <p14:creationId xmlns:p14="http://schemas.microsoft.com/office/powerpoint/2010/main" val="420071998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666287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lan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185546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lan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788291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C87E-4CC9-0F44-6DF9-7F6E2A04362F}"/>
              </a:ext>
            </a:extLst>
          </p:cNvPr>
          <p:cNvSpPr>
            <a:spLocks noGrp="1"/>
          </p:cNvSpPr>
          <p:nvPr>
            <p:ph type="title"/>
          </p:nvPr>
        </p:nvSpPr>
        <p:spPr>
          <a:xfrm>
            <a:off x="913532" y="1008742"/>
            <a:ext cx="10363918" cy="553998"/>
          </a:xfrm>
        </p:spPr>
        <p:txBody>
          <a:bodyPr/>
          <a:lstStyle>
            <a:lvl1pPr>
              <a:defRPr>
                <a:solidFill>
                  <a:schemeClr val="tx1"/>
                </a:solidFill>
              </a:defRPr>
            </a:lvl1pPr>
          </a:lstStyle>
          <a:p>
            <a:r>
              <a:rPr lang="en-US"/>
              <a:t>Click to edit Master title style</a:t>
            </a:r>
          </a:p>
        </p:txBody>
      </p:sp>
      <p:sp>
        <p:nvSpPr>
          <p:cNvPr id="3" name="Content Placeholder 3">
            <a:extLst>
              <a:ext uri="{FF2B5EF4-FFF2-40B4-BE49-F238E27FC236}">
                <a16:creationId xmlns:a16="http://schemas.microsoft.com/office/drawing/2014/main" id="{2155222B-26E4-2F43-D7F5-FC045289128D}"/>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4">
            <a:extLst>
              <a:ext uri="{FF2B5EF4-FFF2-40B4-BE49-F238E27FC236}">
                <a16:creationId xmlns:a16="http://schemas.microsoft.com/office/drawing/2014/main" id="{49DBCD25-6DFA-052F-4ED9-1E8C8737F934}"/>
              </a:ext>
            </a:extLst>
          </p:cNvPr>
          <p:cNvSpPr>
            <a:spLocks noGrp="1"/>
          </p:cNvSpPr>
          <p:nvPr>
            <p:ph type="body" sz="quarter" idx="11" hasCustomPrompt="1"/>
          </p:nvPr>
        </p:nvSpPr>
        <p:spPr>
          <a:xfrm>
            <a:off x="913532" y="843642"/>
            <a:ext cx="10363918"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5" name="Footer Placeholder 4">
            <a:extLst>
              <a:ext uri="{FF2B5EF4-FFF2-40B4-BE49-F238E27FC236}">
                <a16:creationId xmlns:a16="http://schemas.microsoft.com/office/drawing/2014/main" id="{141C1ED5-CB1C-059B-A602-8AD1DBBC42E9}"/>
              </a:ext>
            </a:extLst>
          </p:cNvPr>
          <p:cNvSpPr>
            <a:spLocks noGrp="1"/>
          </p:cNvSpPr>
          <p:nvPr>
            <p:ph type="ftr" sz="quarter" idx="12"/>
          </p:nvPr>
        </p:nvSpPr>
        <p:spPr/>
        <p:txBody>
          <a:bodyPr/>
          <a:lstStyle>
            <a:lvl1pPr>
              <a:defRPr>
                <a:solidFill>
                  <a:schemeClr val="bg1">
                    <a:lumMod val="95000"/>
                  </a:schemeClr>
                </a:solidFill>
              </a:defRPr>
            </a:lvl1pPr>
          </a:lstStyle>
          <a:p>
            <a:r>
              <a:rPr lang="en-US"/>
              <a:t>Building Customer-Centric Services offers</a:t>
            </a:r>
          </a:p>
        </p:txBody>
      </p:sp>
      <p:sp>
        <p:nvSpPr>
          <p:cNvPr id="6" name="Slide Number Placeholder 5">
            <a:extLst>
              <a:ext uri="{FF2B5EF4-FFF2-40B4-BE49-F238E27FC236}">
                <a16:creationId xmlns:a16="http://schemas.microsoft.com/office/drawing/2014/main" id="{FC1B0AA1-C9AF-9D77-D4A4-AF73277AE928}"/>
              </a:ext>
            </a:extLst>
          </p:cNvPr>
          <p:cNvSpPr>
            <a:spLocks noGrp="1"/>
          </p:cNvSpPr>
          <p:nvPr>
            <p:ph type="sldNum" sz="quarter" idx="13"/>
          </p:nvPr>
        </p:nvSpPr>
        <p:spPr/>
        <p:txBody>
          <a:bodyPr/>
          <a:lstStyle/>
          <a:p>
            <a:fld id="{5763EE98-C176-4152-A50F-E68840BAFA00}" type="slidenum">
              <a:rPr lang="en-US" smtClean="0"/>
              <a:pPr/>
              <a:t>‹#›</a:t>
            </a:fld>
            <a:endParaRPr lang="en-US"/>
          </a:p>
        </p:txBody>
      </p:sp>
    </p:spTree>
    <p:extLst>
      <p:ext uri="{BB962C8B-B14F-4D97-AF65-F5344CB8AC3E}">
        <p14:creationId xmlns:p14="http://schemas.microsoft.com/office/powerpoint/2010/main" val="24808239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6318D53-3286-EAEB-3098-F1081AF276A8}"/>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5000"/>
                    </a14:imgEffect>
                  </a14:imgLayer>
                </a14:imgProps>
              </a:ext>
            </a:extLst>
          </a:blip>
          <a:srcRect t="48" b="48"/>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AD825C2-7FF1-3371-96A7-47B94663743F}"/>
              </a:ext>
            </a:extLst>
          </p:cNvPr>
          <p:cNvSpPr>
            <a:spLocks noGrp="1"/>
          </p:cNvSpPr>
          <p:nvPr>
            <p:ph type="title"/>
          </p:nvPr>
        </p:nvSpPr>
        <p:spPr>
          <a:xfrm>
            <a:off x="913532" y="1008742"/>
            <a:ext cx="10363918"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4DDFB201-BF2E-7E3A-CE08-CB33082FCE63}"/>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83B56F-81D2-3B74-659E-75EE6D1D4858}"/>
              </a:ext>
            </a:extLst>
          </p:cNvPr>
          <p:cNvSpPr>
            <a:spLocks noGrp="1"/>
          </p:cNvSpPr>
          <p:nvPr>
            <p:ph type="body" sz="quarter" idx="11" hasCustomPrompt="1"/>
          </p:nvPr>
        </p:nvSpPr>
        <p:spPr>
          <a:xfrm>
            <a:off x="913532" y="843642"/>
            <a:ext cx="10363918"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1147782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B6B235D-925E-935A-C0D1-66A1BCB69698}"/>
              </a:ext>
            </a:extLst>
          </p:cNvPr>
          <p:cNvPicPr>
            <a:picLocks noChangeAspect="1"/>
          </p:cNvPicPr>
          <p:nvPr userDrawn="1"/>
        </p:nvPicPr>
        <p:blipFill>
          <a:blip r:embed="rId3">
            <a:lum bright="10000"/>
            <a:extLst>
              <a:ext uri="{96DAC541-7B7A-43D3-8B79-37D633B846F1}">
                <asvg:svgBlip xmlns:asvg="http://schemas.microsoft.com/office/drawing/2016/SVG/main" r:embed="rId4"/>
              </a:ext>
            </a:extLst>
          </a:blip>
          <a:srcRect l="29" r="29"/>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8A31E95-ADF9-9E3F-1324-0D2A40C31A9D}"/>
              </a:ext>
            </a:extLst>
          </p:cNvPr>
          <p:cNvSpPr>
            <a:spLocks noGrp="1"/>
          </p:cNvSpPr>
          <p:nvPr>
            <p:ph type="title"/>
          </p:nvPr>
        </p:nvSpPr>
        <p:spPr>
          <a:xfrm>
            <a:off x="913532" y="1008742"/>
            <a:ext cx="10363918"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855F23D6-B0F2-95EC-6A60-E33F63B03998}"/>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01A9544-8C8F-F52A-1876-F01F4D0915FE}"/>
              </a:ext>
            </a:extLst>
          </p:cNvPr>
          <p:cNvSpPr>
            <a:spLocks noGrp="1"/>
          </p:cNvSpPr>
          <p:nvPr>
            <p:ph type="body" sz="quarter" idx="11" hasCustomPrompt="1"/>
          </p:nvPr>
        </p:nvSpPr>
        <p:spPr>
          <a:xfrm>
            <a:off x="913532" y="843642"/>
            <a:ext cx="10363918"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9076376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ig Numb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53C62E-72E5-F065-0EA5-5455A61A105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6" name="Text Placeholder 5">
            <a:extLst>
              <a:ext uri="{FF2B5EF4-FFF2-40B4-BE49-F238E27FC236}">
                <a16:creationId xmlns:a16="http://schemas.microsoft.com/office/drawing/2014/main" id="{E61FDE9D-CE47-EE58-DDEB-A4E2C9956FDB}"/>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7" name="Text Placeholder 5">
            <a:extLst>
              <a:ext uri="{FF2B5EF4-FFF2-40B4-BE49-F238E27FC236}">
                <a16:creationId xmlns:a16="http://schemas.microsoft.com/office/drawing/2014/main" id="{483921F1-D334-EC88-D639-C6492418B9DD}"/>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162689164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2">
          <p15:clr>
            <a:srgbClr val="A4A3A4"/>
          </p15:clr>
        </p15:guide>
        <p15:guide id="24" pos="6120">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ig Numb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4CD05008-D889-2657-9E64-AE1A68432B3A}"/>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B90B9417-A140-ED0E-9B15-EC46E435206D}"/>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AE6AC568-C052-9C82-938A-92DB6B485D9D}"/>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220882057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ig Numb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F1F03AAB-35E4-75D5-BC32-B2CE3D93644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D1F2F5D4-3A80-B49A-353F-38D18DF589C8}"/>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E7DA8D6A-DC14-6890-FE2C-FDB67210F327}"/>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281975558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rgbClr val="FFF8F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28B26F-D58F-C59C-79A9-B632CC130CA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4925569"/>
            <a:ext cx="12192000" cy="1932431"/>
          </a:xfrm>
          <a:prstGeom prst="rect">
            <a:avLst/>
          </a:prstGeom>
        </p:spPr>
      </p:pic>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570830" y="3121223"/>
            <a:ext cx="5958557" cy="307777"/>
          </a:xfrm>
        </p:spPr>
        <p:txBody>
          <a:bodyPr anchor="b" anchorCtr="0"/>
          <a:lstStyle>
            <a:lvl1pPr>
              <a:defRPr sz="2000">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571500" y="3647032"/>
            <a:ext cx="5957887" cy="246221"/>
          </a:xfrm>
        </p:spPr>
        <p:txBody>
          <a:bodyPr/>
          <a:lstStyle>
            <a:lvl1pPr marL="0" indent="0" algn="r">
              <a:buNone/>
              <a:defRPr sz="1600"/>
            </a:lvl1pPr>
          </a:lstStyle>
          <a:p>
            <a:pPr lvl="0"/>
            <a:r>
              <a:rPr lang="en-US"/>
              <a:t>Quote author, Title, Organization</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4F713963-A5EA-2AC4-41B1-2A1162C6E1A4}"/>
              </a:ext>
            </a:extLst>
          </p:cNvPr>
          <p:cNvSpPr>
            <a:spLocks noGrp="1"/>
          </p:cNvSpPr>
          <p:nvPr>
            <p:ph type="pic" sz="quarter" idx="11" hasCustomPrompt="1"/>
          </p:nvPr>
        </p:nvSpPr>
        <p:spPr bwMode="ltGray">
          <a:xfrm>
            <a:off x="7505699"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0800000">
            <a:off x="570830" y="585788"/>
            <a:ext cx="674370" cy="587754"/>
          </a:xfrm>
          <a:prstGeom prst="rect">
            <a:avLst/>
          </a:prstGeom>
        </p:spPr>
      </p:pic>
    </p:spTree>
    <p:extLst>
      <p:ext uri="{BB962C8B-B14F-4D97-AF65-F5344CB8AC3E}">
        <p14:creationId xmlns:p14="http://schemas.microsoft.com/office/powerpoint/2010/main" val="1105887318"/>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Quote Slid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2549561" y="3159323"/>
            <a:ext cx="5958557" cy="307777"/>
          </a:xfrm>
        </p:spPr>
        <p:txBody>
          <a:bodyPr anchor="b" anchorCtr="0"/>
          <a:lstStyle>
            <a:lvl1pPr>
              <a:defRPr sz="2000">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2549561" y="3647032"/>
            <a:ext cx="5957887" cy="246221"/>
          </a:xfrm>
        </p:spPr>
        <p:txBody>
          <a:bodyPr/>
          <a:lstStyle>
            <a:lvl1pPr marL="0" indent="0" algn="r">
              <a:buNone/>
              <a:defRPr sz="1600"/>
            </a:lvl1pPr>
          </a:lstStyle>
          <a:p>
            <a:pPr lvl="0"/>
            <a:r>
              <a:rPr lang="en-US"/>
              <a:t>Quote author, Title, Organization</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571500" y="585788"/>
            <a:ext cx="674370" cy="587754"/>
          </a:xfrm>
          <a:prstGeom prst="rect">
            <a:avLst/>
          </a:prstGeom>
        </p:spPr>
      </p:pic>
      <p:pic>
        <p:nvPicPr>
          <p:cNvPr id="3" name="Graphic 2" descr="Quote mark">
            <a:extLst>
              <a:ext uri="{FF2B5EF4-FFF2-40B4-BE49-F238E27FC236}">
                <a16:creationId xmlns:a16="http://schemas.microsoft.com/office/drawing/2014/main" id="{3884F2AA-E820-B43C-3C64-DA0CC8A6998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34846" y="5845760"/>
            <a:ext cx="485654" cy="423277"/>
          </a:xfrm>
          <a:prstGeom prst="rect">
            <a:avLst/>
          </a:prstGeom>
        </p:spPr>
      </p:pic>
    </p:spTree>
    <p:extLst>
      <p:ext uri="{BB962C8B-B14F-4D97-AF65-F5344CB8AC3E}">
        <p14:creationId xmlns:p14="http://schemas.microsoft.com/office/powerpoint/2010/main" val="764263952"/>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E0C3E4E-4E02-95E2-4177-86CEB87F92A0}"/>
              </a:ext>
            </a:extLst>
          </p:cNvPr>
          <p:cNvPicPr>
            <a:picLocks noChangeAspect="1"/>
          </p:cNvPicPr>
          <p:nvPr userDrawn="1"/>
        </p:nvPicPr>
        <p:blipFill>
          <a:blip r:embed="rId2">
            <a:alphaModFix amt="34000"/>
            <a:extLst>
              <a:ext uri="{28A0092B-C50C-407E-A947-70E740481C1C}">
                <a14:useLocalDpi xmlns:a14="http://schemas.microsoft.com/office/drawing/2010/main" val="0"/>
              </a:ext>
            </a:extLst>
          </a:blip>
          <a:srcRect/>
          <a:stretch/>
        </p:blipFill>
        <p:spPr>
          <a:xfrm>
            <a:off x="2476500" y="0"/>
            <a:ext cx="9715500" cy="6858000"/>
          </a:xfrm>
          <a:prstGeom prst="rect">
            <a:avLst/>
          </a:prstGeom>
          <a:blipFill dpi="0" rotWithShape="1">
            <a:blip r:embed="rId3">
              <a:alphaModFix amt="34000"/>
            </a:blip>
            <a:srcRect/>
            <a:stretch>
              <a:fillRect/>
            </a:stretch>
          </a:blipFill>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3003233" y="498144"/>
            <a:ext cx="8491609" cy="492443"/>
          </a:xfrm>
        </p:spPr>
        <p:txBody>
          <a:bodyPr/>
          <a:lstStyle>
            <a:lvl1pPr>
              <a:defRPr lang="en-US" sz="3200" kern="1200" spc="0" baseline="0" dirty="0">
                <a:solidFill>
                  <a:schemeClr val="tx1"/>
                </a:solidFill>
                <a:latin typeface="Segoe UI Semibold" panose="020B0702040204020203" pitchFamily="34" charset="0"/>
                <a:ea typeface="+mn-ea"/>
                <a:cs typeface="Segoe UI Semibold" panose="020B07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US"/>
              <a:t>Click to edit Master title style</a:t>
            </a:r>
          </a:p>
        </p:txBody>
      </p:sp>
      <p:sp>
        <p:nvSpPr>
          <p:cNvPr id="5" name="Rectangle 4">
            <a:extLst>
              <a:ext uri="{FF2B5EF4-FFF2-40B4-BE49-F238E27FC236}">
                <a16:creationId xmlns:a16="http://schemas.microsoft.com/office/drawing/2014/main" id="{5DC0FF32-03A9-6987-FE48-FB2E77F4E8D6}"/>
              </a:ext>
            </a:extLst>
          </p:cNvPr>
          <p:cNvSpPr>
            <a:spLocks/>
          </p:cNvSpPr>
          <p:nvPr userDrawn="1"/>
        </p:nvSpPr>
        <p:spPr bwMode="auto">
          <a:xfrm>
            <a:off x="-9464" y="0"/>
            <a:ext cx="2465327"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Slide Number Placeholder 5">
            <a:extLst>
              <a:ext uri="{FF2B5EF4-FFF2-40B4-BE49-F238E27FC236}">
                <a16:creationId xmlns:a16="http://schemas.microsoft.com/office/drawing/2014/main" id="{194713E6-5D17-77AF-705E-9D082C32AB4E}"/>
              </a:ext>
            </a:extLst>
          </p:cNvPr>
          <p:cNvSpPr>
            <a:spLocks noGrp="1"/>
          </p:cNvSpPr>
          <p:nvPr>
            <p:ph type="sldNum" sz="quarter" idx="11"/>
          </p:nvPr>
        </p:nvSpPr>
        <p:spPr/>
        <p:txBody>
          <a:bodyPr/>
          <a:lstStyle/>
          <a:p>
            <a:fld id="{5763EE98-C176-4152-A50F-E68840BAFA00}" type="slidenum">
              <a:rPr lang="en-US" smtClean="0"/>
              <a:pPr/>
              <a:t>‹#›</a:t>
            </a:fld>
            <a:endParaRPr lang="en-US"/>
          </a:p>
        </p:txBody>
      </p:sp>
    </p:spTree>
    <p:extLst>
      <p:ext uri="{BB962C8B-B14F-4D97-AF65-F5344CB8AC3E}">
        <p14:creationId xmlns:p14="http://schemas.microsoft.com/office/powerpoint/2010/main" val="1410073337"/>
      </p:ext>
    </p:extLst>
  </p:cSld>
  <p:clrMapOvr>
    <a:masterClrMapping/>
  </p:clrMapOvr>
  <p:transition>
    <p:fade/>
  </p:transition>
  <p:extLst>
    <p:ext uri="{DCECCB84-F9BA-43D5-87BE-67443E8EF086}">
      <p15:sldGuideLst xmlns:p15="http://schemas.microsoft.com/office/powerpoint/2012/main">
        <p15:guide id="1" pos="1896">
          <p15:clr>
            <a:srgbClr val="FBAE40"/>
          </p15:clr>
        </p15:guide>
        <p15:guide id="2" pos="1560" userDrawn="1">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7_Custom Layout">
    <p:bg>
      <p:bgPr>
        <a:blipFill dpi="0" rotWithShape="1">
          <a:blip r:embed="rId2">
            <a:alphaModFix amt="80000"/>
            <a:lum/>
          </a:blip>
          <a:srcRect/>
          <a:stretch>
            <a:fillRect t="-39000" b="-39000"/>
          </a:stretch>
        </a:blipFill>
        <a:effectLst/>
      </p:bgPr>
    </p:bg>
    <p:spTree>
      <p:nvGrpSpPr>
        <p:cNvPr id="1" name=""/>
        <p:cNvGrpSpPr/>
        <p:nvPr/>
      </p:nvGrpSpPr>
      <p:grpSpPr>
        <a:xfrm>
          <a:off x="0" y="0"/>
          <a:ext cx="0" cy="0"/>
          <a:chOff x="0" y="0"/>
          <a:chExt cx="0" cy="0"/>
        </a:xfrm>
      </p:grpSpPr>
      <p:pic>
        <p:nvPicPr>
          <p:cNvPr id="22" name="Picture 21" descr="A close up of a colorful wave&#10;&#10;Description automatically generated with medium confidence">
            <a:extLst>
              <a:ext uri="{FF2B5EF4-FFF2-40B4-BE49-F238E27FC236}">
                <a16:creationId xmlns:a16="http://schemas.microsoft.com/office/drawing/2014/main" id="{B4EDF81D-CB66-328D-C726-ED79A8B5FA52}"/>
              </a:ext>
            </a:extLst>
          </p:cNvPr>
          <p:cNvPicPr>
            <a:picLocks noChangeAspect="1"/>
          </p:cNvPicPr>
          <p:nvPr userDrawn="1"/>
        </p:nvPicPr>
        <p:blipFill rotWithShape="1">
          <a:blip r:embed="rId3">
            <a:alphaModFix amt="82000"/>
            <a:extLst>
              <a:ext uri="{28A0092B-C50C-407E-A947-70E740481C1C}">
                <a14:useLocalDpi xmlns:a14="http://schemas.microsoft.com/office/drawing/2010/main" val="0"/>
              </a:ext>
            </a:extLst>
          </a:blip>
          <a:srcRect l="938" t="15014" r="3248"/>
          <a:stretch/>
        </p:blipFill>
        <p:spPr>
          <a:xfrm rot="5400000">
            <a:off x="7052469" y="1718468"/>
            <a:ext cx="6857999" cy="3421062"/>
          </a:xfrm>
          <a:prstGeom prst="rect">
            <a:avLst/>
          </a:prstGeom>
        </p:spPr>
      </p:pic>
      <p:sp>
        <p:nvSpPr>
          <p:cNvPr id="2" name="Title 1">
            <a:extLst>
              <a:ext uri="{FF2B5EF4-FFF2-40B4-BE49-F238E27FC236}">
                <a16:creationId xmlns:a16="http://schemas.microsoft.com/office/drawing/2014/main" id="{4C2AC51A-1D7C-080B-3881-2BD277B5B900}"/>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C36F5C63-079E-0FFB-8C05-4AC954C7B896}"/>
              </a:ext>
            </a:extLst>
          </p:cNvPr>
          <p:cNvSpPr>
            <a:spLocks noGrp="1"/>
          </p:cNvSpPr>
          <p:nvPr>
            <p:ph type="ftr" sz="quarter" idx="10"/>
          </p:nvPr>
        </p:nvSpPr>
        <p:spPr/>
        <p:txBody>
          <a:bodyPr/>
          <a:lstStyle/>
          <a:p>
            <a:pPr defTabSz="914367">
              <a:defRPr/>
            </a:pPr>
            <a:r>
              <a:rPr lang="en-US"/>
              <a:t>Building Customer-Centric Services offers</a:t>
            </a:r>
          </a:p>
        </p:txBody>
      </p:sp>
      <p:sp>
        <p:nvSpPr>
          <p:cNvPr id="4" name="Slide Number Placeholder 3">
            <a:extLst>
              <a:ext uri="{FF2B5EF4-FFF2-40B4-BE49-F238E27FC236}">
                <a16:creationId xmlns:a16="http://schemas.microsoft.com/office/drawing/2014/main" id="{14ACD3B1-1DA0-885A-89DE-1973E010FC93}"/>
              </a:ext>
            </a:extLst>
          </p:cNvPr>
          <p:cNvSpPr>
            <a:spLocks noGrp="1"/>
          </p:cNvSpPr>
          <p:nvPr>
            <p:ph type="sldNum" sz="quarter" idx="11"/>
          </p:nvPr>
        </p:nvSpPr>
        <p:spPr/>
        <p:txBody>
          <a:bodyPr/>
          <a:lstStyle/>
          <a:p>
            <a:pPr defTabSz="914367">
              <a:defRPr/>
            </a:pPr>
            <a:fld id="{2A20A09D-1A50-4CA5-89CD-EDD3F91B2117}" type="slidenum">
              <a:rPr lang="en-US" smtClean="0"/>
              <a:pPr defTabSz="914367">
                <a:defRPr/>
              </a:pPr>
              <a:t>‹#›</a:t>
            </a:fld>
            <a:endParaRPr lang="en-US"/>
          </a:p>
        </p:txBody>
      </p:sp>
      <p:sp>
        <p:nvSpPr>
          <p:cNvPr id="6" name="Text Placeholder 5">
            <a:extLst>
              <a:ext uri="{FF2B5EF4-FFF2-40B4-BE49-F238E27FC236}">
                <a16:creationId xmlns:a16="http://schemas.microsoft.com/office/drawing/2014/main" id="{AB075ABD-6353-159D-177B-1B2F83338442}"/>
              </a:ext>
            </a:extLst>
          </p:cNvPr>
          <p:cNvSpPr>
            <a:spLocks noGrp="1"/>
          </p:cNvSpPr>
          <p:nvPr>
            <p:ph type="body" sz="quarter" idx="12"/>
          </p:nvPr>
        </p:nvSpPr>
        <p:spPr>
          <a:xfrm>
            <a:off x="812800" y="1267932"/>
            <a:ext cx="4711700" cy="1104879"/>
          </a:xfrm>
          <a:prstGeom prst="roundRect">
            <a:avLst>
              <a:gd name="adj" fmla="val 5589"/>
            </a:avLst>
          </a:prstGeom>
          <a:solidFill>
            <a:schemeClr val="bg1">
              <a:alpha val="31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585216" tIns="137160" rIns="137160" bIns="137160" numCol="1" spcCol="0" rtlCol="0" fromWordArt="0" anchor="t" anchorCtr="0" forceAA="0" compatLnSpc="1">
            <a:prstTxWarp prst="textNoShape">
              <a:avLst/>
            </a:prstTxWarp>
            <a:noAutofit/>
          </a:bodyPr>
          <a:lstStyle>
            <a:lvl1pPr marL="0" indent="0">
              <a:spcAft>
                <a:spcPts val="600"/>
              </a:spcAft>
              <a:buNone/>
              <a:defRPr kumimoji="0" lang="en-US" sz="1400" b="0" i="0" u="none" strike="noStrike" kern="0" cap="none" spc="0" normalizeH="0" baseline="0" smtClean="0">
                <a:ln w="3175">
                  <a:noFill/>
                </a:ln>
                <a:solidFill>
                  <a:schemeClr val="tx1"/>
                </a:solidFill>
                <a:effectLst/>
                <a:uLnTx/>
                <a:uFillTx/>
                <a:latin typeface="+mj-lt"/>
                <a:ea typeface="Segoe UI Regular" pitchFamily="34" charset="-122"/>
                <a:cs typeface="Segoe UI" panose="020B0502040204020203" pitchFamily="34" charset="0"/>
              </a:defRPr>
            </a:lvl1pPr>
            <a:lvl2pPr marL="0" indent="0">
              <a:spcBef>
                <a:spcPts val="0"/>
              </a:spcBef>
              <a:buFont typeface="Arial" panose="020B0604020202020204" pitchFamily="34" charset="0"/>
              <a:buNone/>
              <a:defRPr lang="en-US" sz="1100" kern="1200" dirty="0" smtClean="0">
                <a:solidFill>
                  <a:schemeClr val="tx1"/>
                </a:solidFill>
                <a:latin typeface="+mn-lt"/>
                <a:ea typeface="+mn-ea"/>
                <a:cs typeface="+mn-cs"/>
              </a:defRPr>
            </a:lvl2pPr>
            <a:lvl3pPr marL="1200150" indent="-285750">
              <a:buFont typeface="Arial" panose="020B0604020202020204" pitchFamily="34" charset="0"/>
              <a:buChar char="•"/>
              <a:defRPr lang="en-US" sz="1100" smtClean="0">
                <a:solidFill>
                  <a:schemeClr val="tx1"/>
                </a:solidFill>
              </a:defRPr>
            </a:lvl3pPr>
            <a:lvl4pPr marL="1657350" indent="-285750">
              <a:buFont typeface="Arial" panose="020B0604020202020204" pitchFamily="34" charset="0"/>
              <a:buChar char="•"/>
              <a:defRPr lang="en-US" sz="1100" smtClean="0">
                <a:solidFill>
                  <a:schemeClr val="tx1"/>
                </a:solidFill>
              </a:defRPr>
            </a:lvl4pPr>
            <a:lvl5pPr marL="2114550" indent="-285750">
              <a:buFont typeface="Arial" panose="020B0604020202020204" pitchFamily="34" charset="0"/>
              <a:buChar char="•"/>
              <a:defRPr lang="en-US" sz="1800">
                <a:solidFill>
                  <a:schemeClr val="tx2"/>
                </a:solidFill>
              </a:defRPr>
            </a:lvl5pPr>
          </a:lstStyle>
          <a:p>
            <a:pPr marL="0" marR="0" lvl="0" indent="0" fontAlgn="auto">
              <a:lnSpc>
                <a:spcPct val="107000"/>
              </a:lnSpc>
              <a:spcBef>
                <a:spcPts val="0"/>
              </a:spcBef>
              <a:spcAft>
                <a:spcPts val="800"/>
              </a:spcAft>
              <a:buClrTx/>
              <a:buSzTx/>
              <a:buNone/>
              <a:tabLst/>
            </a:pPr>
            <a:r>
              <a:rPr lang="en-US"/>
              <a:t>Click to edit Master text styles</a:t>
            </a:r>
          </a:p>
          <a:p>
            <a:pPr marL="0" lvl="1" indent="-571500" algn="l" defTabSz="914400" rtl="0" eaLnBrk="1" latinLnBrk="0" hangingPunct="1">
              <a:lnSpc>
                <a:spcPct val="100000"/>
              </a:lnSpc>
              <a:spcBef>
                <a:spcPts val="0"/>
              </a:spcBef>
              <a:buFont typeface="Arial" panose="020B0604020202020204" pitchFamily="34" charset="0"/>
              <a:buNone/>
            </a:pPr>
            <a:r>
              <a:rPr lang="en-US"/>
              <a:t>Second level</a:t>
            </a:r>
          </a:p>
          <a:p>
            <a:pPr marL="0" lvl="1" indent="-571500"/>
            <a:r>
              <a:rPr lang="en-US"/>
              <a:t>Third level</a:t>
            </a:r>
          </a:p>
          <a:p>
            <a:pPr marL="914400" lvl="2"/>
            <a:r>
              <a:rPr lang="en-US"/>
              <a:t>Fourth level</a:t>
            </a:r>
          </a:p>
          <a:p>
            <a:pPr marL="1371600" lvl="3"/>
            <a:r>
              <a:rPr lang="en-US"/>
              <a:t>Fifth level</a:t>
            </a:r>
          </a:p>
        </p:txBody>
      </p:sp>
      <p:sp>
        <p:nvSpPr>
          <p:cNvPr id="13" name="Text Placeholder 5">
            <a:extLst>
              <a:ext uri="{FF2B5EF4-FFF2-40B4-BE49-F238E27FC236}">
                <a16:creationId xmlns:a16="http://schemas.microsoft.com/office/drawing/2014/main" id="{DCEF9E34-6F53-CEBF-7CD7-D01313CEBE75}"/>
              </a:ext>
            </a:extLst>
          </p:cNvPr>
          <p:cNvSpPr>
            <a:spLocks noGrp="1"/>
          </p:cNvSpPr>
          <p:nvPr>
            <p:ph type="body" sz="quarter" idx="13"/>
          </p:nvPr>
        </p:nvSpPr>
        <p:spPr>
          <a:xfrm>
            <a:off x="812800" y="4775058"/>
            <a:ext cx="4711700" cy="1493980"/>
          </a:xfrm>
          <a:prstGeom prst="roundRect">
            <a:avLst>
              <a:gd name="adj" fmla="val 5589"/>
            </a:avLst>
          </a:prstGeom>
          <a:solidFill>
            <a:schemeClr val="bg1">
              <a:alpha val="31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585216" tIns="137160" rIns="137160" bIns="137160" numCol="1" spcCol="0" rtlCol="0" fromWordArt="0" anchor="t" anchorCtr="0" forceAA="0" compatLnSpc="1">
            <a:prstTxWarp prst="textNoShape">
              <a:avLst/>
            </a:prstTxWarp>
            <a:noAutofit/>
          </a:bodyPr>
          <a:lstStyle>
            <a:lvl1pPr>
              <a:defRPr kumimoji="0" lang="en-US" sz="1400" b="0" i="0" u="none" strike="noStrike" kern="0" cap="none" spc="0" normalizeH="0" baseline="0" dirty="0" smtClean="0">
                <a:ln w="3175">
                  <a:noFill/>
                </a:ln>
                <a:solidFill>
                  <a:schemeClr val="tx1"/>
                </a:solidFill>
                <a:effectLst/>
                <a:uLnTx/>
                <a:uFillTx/>
                <a:latin typeface="+mj-lt"/>
                <a:ea typeface="Segoe UI Regular" pitchFamily="34" charset="-122"/>
                <a:cs typeface="Segoe UI" panose="020B0502040204020203" pitchFamily="34" charset="0"/>
              </a:defRPr>
            </a:lvl1pPr>
            <a:lvl2pPr>
              <a:defRPr lang="en-US" sz="1100" dirty="0" smtClean="0">
                <a:solidFill>
                  <a:schemeClr val="tx1"/>
                </a:solidFill>
              </a:defRPr>
            </a:lvl2pPr>
            <a:lvl3pPr>
              <a:defRPr lang="en-US" sz="1100" dirty="0" smtClean="0">
                <a:solidFill>
                  <a:schemeClr val="tx1"/>
                </a:solidFill>
              </a:defRPr>
            </a:lvl3pPr>
            <a:lvl4pPr>
              <a:defRPr lang="en-US" sz="1100" dirty="0">
                <a:solidFill>
                  <a:schemeClr val="tx1"/>
                </a:solidFill>
              </a:defRPr>
            </a:lvl4pPr>
          </a:lstStyle>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pPr>
            <a:r>
              <a:rPr lang="en-US"/>
              <a:t>Click to edit Master text styles</a:t>
            </a:r>
          </a:p>
          <a:p>
            <a:pPr marL="0" lvl="1" indent="-571500">
              <a:spcBef>
                <a:spcPts val="0"/>
              </a:spcBef>
              <a:buNone/>
            </a:pPr>
            <a:r>
              <a:rPr lang="en-US"/>
              <a:t>Second level</a:t>
            </a:r>
          </a:p>
          <a:p>
            <a:pPr marL="0" lvl="1" indent="-571500">
              <a:spcBef>
                <a:spcPts val="0"/>
              </a:spcBef>
              <a:buNone/>
            </a:pPr>
            <a:r>
              <a:rPr lang="en-US"/>
              <a:t>Third level</a:t>
            </a:r>
          </a:p>
          <a:p>
            <a:pPr marL="914400" lvl="2" indent="-285750"/>
            <a:r>
              <a:rPr lang="en-US"/>
              <a:t>Fourth level</a:t>
            </a:r>
          </a:p>
          <a:p>
            <a:pPr marL="1371600" lvl="3" indent="-285750"/>
            <a:r>
              <a:rPr lang="en-US"/>
              <a:t>Fifth level</a:t>
            </a:r>
          </a:p>
        </p:txBody>
      </p:sp>
      <p:sp>
        <p:nvSpPr>
          <p:cNvPr id="14" name="Text Placeholder 5">
            <a:extLst>
              <a:ext uri="{FF2B5EF4-FFF2-40B4-BE49-F238E27FC236}">
                <a16:creationId xmlns:a16="http://schemas.microsoft.com/office/drawing/2014/main" id="{E3889879-6C11-2320-E4FD-A1D0D7942667}"/>
              </a:ext>
            </a:extLst>
          </p:cNvPr>
          <p:cNvSpPr>
            <a:spLocks noGrp="1"/>
          </p:cNvSpPr>
          <p:nvPr>
            <p:ph type="body" sz="quarter" idx="14"/>
          </p:nvPr>
        </p:nvSpPr>
        <p:spPr>
          <a:xfrm>
            <a:off x="812800" y="2998349"/>
            <a:ext cx="4711700" cy="1104879"/>
          </a:xfrm>
          <a:prstGeom prst="roundRect">
            <a:avLst>
              <a:gd name="adj" fmla="val 5589"/>
            </a:avLst>
          </a:prstGeom>
          <a:solidFill>
            <a:schemeClr val="bg1">
              <a:alpha val="31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585216" tIns="137160" rIns="137160" bIns="137160" numCol="1" spcCol="0" rtlCol="0" fromWordArt="0" anchor="t" anchorCtr="0" forceAA="0" compatLnSpc="1">
            <a:prstTxWarp prst="textNoShape">
              <a:avLst/>
            </a:prstTxWarp>
            <a:noAutofit/>
          </a:bodyPr>
          <a:lstStyle>
            <a:lvl1pPr>
              <a:defRPr kumimoji="0" lang="en-US" sz="1400" b="0" i="0" u="none" strike="noStrike" kern="0" cap="none" spc="0" normalizeH="0" baseline="0" dirty="0" smtClean="0">
                <a:ln w="3175">
                  <a:noFill/>
                </a:ln>
                <a:solidFill>
                  <a:schemeClr val="tx1"/>
                </a:solidFill>
                <a:effectLst/>
                <a:uLnTx/>
                <a:uFillTx/>
                <a:latin typeface="+mj-lt"/>
                <a:ea typeface="Segoe UI Regular" pitchFamily="34" charset="-122"/>
                <a:cs typeface="Segoe UI" panose="020B0502040204020203" pitchFamily="34" charset="0"/>
              </a:defRPr>
            </a:lvl1pPr>
            <a:lvl2pPr>
              <a:defRPr lang="en-US" sz="1100" dirty="0" smtClean="0">
                <a:solidFill>
                  <a:schemeClr val="tx1"/>
                </a:solidFill>
              </a:defRPr>
            </a:lvl2pPr>
            <a:lvl3pPr>
              <a:defRPr lang="en-US" sz="1100" dirty="0" smtClean="0">
                <a:solidFill>
                  <a:schemeClr val="tx1"/>
                </a:solidFill>
              </a:defRPr>
            </a:lvl3pPr>
            <a:lvl4pPr>
              <a:defRPr lang="en-US" sz="1100" dirty="0">
                <a:solidFill>
                  <a:schemeClr val="tx1"/>
                </a:solidFill>
              </a:defRPr>
            </a:lvl4pPr>
          </a:lstStyle>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pPr>
            <a:r>
              <a:rPr lang="en-US"/>
              <a:t>Click to edit Master text styles</a:t>
            </a:r>
          </a:p>
          <a:p>
            <a:pPr marL="0" lvl="1" indent="-571500">
              <a:spcBef>
                <a:spcPts val="0"/>
              </a:spcBef>
              <a:buNone/>
            </a:pPr>
            <a:r>
              <a:rPr lang="en-US"/>
              <a:t>Second level</a:t>
            </a:r>
          </a:p>
          <a:p>
            <a:pPr marL="0" lvl="1" indent="-571500">
              <a:spcBef>
                <a:spcPts val="0"/>
              </a:spcBef>
              <a:buNone/>
            </a:pPr>
            <a:r>
              <a:rPr lang="en-US"/>
              <a:t>Third level</a:t>
            </a:r>
          </a:p>
          <a:p>
            <a:pPr marL="914400" lvl="2" indent="-285750"/>
            <a:r>
              <a:rPr lang="en-US"/>
              <a:t>Fourth level</a:t>
            </a:r>
          </a:p>
          <a:p>
            <a:pPr marL="1371600" lvl="3" indent="-285750"/>
            <a:r>
              <a:rPr lang="en-US"/>
              <a:t>Fifth level</a:t>
            </a:r>
          </a:p>
        </p:txBody>
      </p:sp>
      <p:sp>
        <p:nvSpPr>
          <p:cNvPr id="15" name="Text Placeholder 5">
            <a:extLst>
              <a:ext uri="{FF2B5EF4-FFF2-40B4-BE49-F238E27FC236}">
                <a16:creationId xmlns:a16="http://schemas.microsoft.com/office/drawing/2014/main" id="{15DB7C54-EAD4-DC75-E99B-19B4157C125D}"/>
              </a:ext>
            </a:extLst>
          </p:cNvPr>
          <p:cNvSpPr>
            <a:spLocks noGrp="1"/>
          </p:cNvSpPr>
          <p:nvPr>
            <p:ph type="body" sz="quarter" idx="15"/>
          </p:nvPr>
        </p:nvSpPr>
        <p:spPr>
          <a:xfrm>
            <a:off x="5829300" y="1267932"/>
            <a:ext cx="5791200" cy="1965960"/>
          </a:xfrm>
          <a:prstGeom prst="roundRect">
            <a:avLst>
              <a:gd name="adj" fmla="val 5589"/>
            </a:avLst>
          </a:prstGeom>
          <a:solidFill>
            <a:schemeClr val="bg1">
              <a:alpha val="31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t" anchorCtr="0" forceAA="0" compatLnSpc="1">
            <a:prstTxWarp prst="textNoShape">
              <a:avLst/>
            </a:prstTxWarp>
            <a:noAutofit/>
          </a:bodyPr>
          <a:lstStyle>
            <a:lvl1pPr>
              <a:defRPr kumimoji="0" lang="en-US" sz="1400" b="0" i="0" u="none" strike="noStrike" kern="0" cap="none" spc="0" normalizeH="0" baseline="0" dirty="0" smtClean="0">
                <a:ln w="3175">
                  <a:noFill/>
                </a:ln>
                <a:solidFill>
                  <a:schemeClr val="tx1"/>
                </a:solidFill>
                <a:effectLst/>
                <a:uLnTx/>
                <a:uFillTx/>
                <a:latin typeface="+mj-lt"/>
                <a:ea typeface="Segoe UI Regular" pitchFamily="34" charset="-122"/>
                <a:cs typeface="Segoe UI" panose="020B0502040204020203" pitchFamily="34" charset="0"/>
              </a:defRPr>
            </a:lvl1pPr>
            <a:lvl2pPr>
              <a:defRPr lang="en-US" sz="1100" dirty="0" smtClean="0">
                <a:solidFill>
                  <a:schemeClr val="tx1"/>
                </a:solidFill>
              </a:defRPr>
            </a:lvl2pPr>
            <a:lvl3pPr>
              <a:defRPr lang="en-US" sz="1100" dirty="0" smtClean="0">
                <a:solidFill>
                  <a:schemeClr val="tx1"/>
                </a:solidFill>
              </a:defRPr>
            </a:lvl3pPr>
            <a:lvl4pPr>
              <a:defRPr lang="en-US" sz="1100" dirty="0">
                <a:solidFill>
                  <a:schemeClr val="tx1"/>
                </a:solidFill>
              </a:defRPr>
            </a:lvl4pPr>
          </a:lstStyle>
          <a:p>
            <a:pPr marL="0" marR="0" lvl="0" indent="0" fontAlgn="auto">
              <a:lnSpc>
                <a:spcPct val="107000"/>
              </a:lnSpc>
              <a:spcBef>
                <a:spcPts val="0"/>
              </a:spcBef>
              <a:spcAft>
                <a:spcPts val="800"/>
              </a:spcAft>
              <a:buClrTx/>
              <a:buSzTx/>
              <a:buNone/>
              <a:tabLst/>
            </a:pPr>
            <a:r>
              <a:rPr lang="en-US"/>
              <a:t>Click to edit Master text styles</a:t>
            </a:r>
          </a:p>
          <a:p>
            <a:pPr marL="0" lvl="1" indent="-571500">
              <a:spcBef>
                <a:spcPts val="0"/>
              </a:spcBef>
              <a:buNone/>
            </a:pPr>
            <a:r>
              <a:rPr lang="en-US"/>
              <a:t>Second level</a:t>
            </a:r>
          </a:p>
          <a:p>
            <a:pPr marL="0" lvl="1" indent="-571500">
              <a:spcBef>
                <a:spcPts val="0"/>
              </a:spcBef>
              <a:buNone/>
            </a:pPr>
            <a:r>
              <a:rPr lang="en-US"/>
              <a:t>Third level</a:t>
            </a:r>
          </a:p>
          <a:p>
            <a:pPr marL="914400" lvl="2" indent="-285750"/>
            <a:r>
              <a:rPr lang="en-US"/>
              <a:t>Fourth level</a:t>
            </a:r>
          </a:p>
          <a:p>
            <a:pPr marL="1371600" lvl="3" indent="-285750"/>
            <a:r>
              <a:rPr lang="en-US"/>
              <a:t>Fifth level</a:t>
            </a:r>
          </a:p>
        </p:txBody>
      </p:sp>
      <p:sp>
        <p:nvSpPr>
          <p:cNvPr id="16" name="Text Placeholder 5">
            <a:extLst>
              <a:ext uri="{FF2B5EF4-FFF2-40B4-BE49-F238E27FC236}">
                <a16:creationId xmlns:a16="http://schemas.microsoft.com/office/drawing/2014/main" id="{365C67B1-096E-1B4B-6569-11C77C6F767F}"/>
              </a:ext>
            </a:extLst>
          </p:cNvPr>
          <p:cNvSpPr>
            <a:spLocks noGrp="1"/>
          </p:cNvSpPr>
          <p:nvPr>
            <p:ph type="body" sz="quarter" idx="16"/>
          </p:nvPr>
        </p:nvSpPr>
        <p:spPr>
          <a:xfrm>
            <a:off x="5829300" y="3373403"/>
            <a:ext cx="5791200" cy="2890319"/>
          </a:xfrm>
          <a:prstGeom prst="roundRect">
            <a:avLst>
              <a:gd name="adj" fmla="val 3750"/>
            </a:avLst>
          </a:prstGeom>
          <a:solidFill>
            <a:schemeClr val="bg1">
              <a:alpha val="31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t" anchorCtr="0" forceAA="0" compatLnSpc="1">
            <a:prstTxWarp prst="textNoShape">
              <a:avLst/>
            </a:prstTxWarp>
            <a:noAutofit/>
          </a:bodyPr>
          <a:lstStyle>
            <a:lvl1pPr>
              <a:defRPr kumimoji="0" lang="en-US" sz="1400" b="0" i="0" u="none" strike="noStrike" kern="0" cap="none" spc="0" normalizeH="0" baseline="0" dirty="0" smtClean="0">
                <a:ln w="3175">
                  <a:noFill/>
                </a:ln>
                <a:solidFill>
                  <a:schemeClr val="tx1"/>
                </a:solidFill>
                <a:effectLst/>
                <a:uLnTx/>
                <a:uFillTx/>
                <a:latin typeface="+mj-lt"/>
                <a:ea typeface="Segoe UI Regular" pitchFamily="34" charset="-122"/>
                <a:cs typeface="Segoe UI" panose="020B0502040204020203" pitchFamily="34" charset="0"/>
              </a:defRPr>
            </a:lvl1pPr>
            <a:lvl2pPr>
              <a:defRPr lang="en-US" sz="1100" dirty="0" smtClean="0">
                <a:solidFill>
                  <a:schemeClr val="tx1"/>
                </a:solidFill>
              </a:defRPr>
            </a:lvl2pPr>
            <a:lvl3pPr>
              <a:defRPr lang="en-US" sz="1100" dirty="0" smtClean="0">
                <a:solidFill>
                  <a:schemeClr val="tx1"/>
                </a:solidFill>
              </a:defRPr>
            </a:lvl3pPr>
            <a:lvl4pPr>
              <a:defRPr lang="en-US" sz="1100" dirty="0">
                <a:solidFill>
                  <a:schemeClr val="tx1"/>
                </a:solidFill>
              </a:defRPr>
            </a:lvl4pPr>
          </a:lstStyle>
          <a:p>
            <a:pPr marL="0" marR="0" lvl="0" indent="0" fontAlgn="auto">
              <a:lnSpc>
                <a:spcPct val="107000"/>
              </a:lnSpc>
              <a:spcBef>
                <a:spcPts val="0"/>
              </a:spcBef>
              <a:spcAft>
                <a:spcPts val="800"/>
              </a:spcAft>
              <a:buClrTx/>
              <a:buSzTx/>
              <a:buNone/>
              <a:tabLst/>
            </a:pPr>
            <a:r>
              <a:rPr lang="en-US"/>
              <a:t>Click to edit Master text styles</a:t>
            </a:r>
          </a:p>
          <a:p>
            <a:pPr marL="0" lvl="1" indent="-571500">
              <a:spcBef>
                <a:spcPts val="0"/>
              </a:spcBef>
              <a:buNone/>
            </a:pPr>
            <a:r>
              <a:rPr lang="en-US"/>
              <a:t>Second level</a:t>
            </a:r>
          </a:p>
          <a:p>
            <a:pPr marL="0" lvl="1" indent="-571500">
              <a:spcBef>
                <a:spcPts val="0"/>
              </a:spcBef>
              <a:buNone/>
            </a:pPr>
            <a:r>
              <a:rPr lang="en-US"/>
              <a:t>Third level</a:t>
            </a:r>
          </a:p>
          <a:p>
            <a:pPr marL="914400" lvl="2" indent="-285750"/>
            <a:r>
              <a:rPr lang="en-US"/>
              <a:t>Fourth level</a:t>
            </a:r>
          </a:p>
          <a:p>
            <a:pPr marL="1371600" lvl="3" indent="-285750"/>
            <a:r>
              <a:rPr lang="en-US"/>
              <a:t>Fifth level</a:t>
            </a:r>
          </a:p>
        </p:txBody>
      </p:sp>
    </p:spTree>
    <p:extLst>
      <p:ext uri="{BB962C8B-B14F-4D97-AF65-F5344CB8AC3E}">
        <p14:creationId xmlns:p14="http://schemas.microsoft.com/office/powerpoint/2010/main" val="3913481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12" userDrawn="1">
          <p15:clr>
            <a:srgbClr val="5ACBF0"/>
          </p15:clr>
        </p15:guide>
        <p15:guide id="2" pos="3480" userDrawn="1">
          <p15:clr>
            <a:srgbClr val="5ACBF0"/>
          </p15:clr>
        </p15:guide>
        <p15:guide id="3" pos="3672" userDrawn="1">
          <p15:clr>
            <a:srgbClr val="5ACBF0"/>
          </p15:clr>
        </p15:guide>
        <p15:guide id="4" orient="horz" pos="2160" userDrawn="1">
          <p15:clr>
            <a:srgbClr val="FBAE40"/>
          </p15:clr>
        </p15:guide>
        <p15:guide id="5" orient="horz" pos="792" userDrawn="1">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Prompt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93FD22E-D362-78A6-2219-103E4138CA05}"/>
              </a:ext>
            </a:extLst>
          </p:cNvPr>
          <p:cNvSpPr>
            <a:spLocks noGrp="1"/>
          </p:cNvSpPr>
          <p:nvPr>
            <p:ph type="body" sz="quarter" idx="10"/>
          </p:nvPr>
        </p:nvSpPr>
        <p:spPr>
          <a:xfrm>
            <a:off x="4117471" y="2220685"/>
            <a:ext cx="3991884" cy="663178"/>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none" lIns="182880" tIns="91440" rIns="182880" bIns="91440" anchor="ctr" anchorCtr="0"/>
          <a:lstStyle>
            <a:lvl1pPr marL="0" indent="0" algn="ctr">
              <a:buNone/>
              <a:defRPr/>
            </a:lvl1pPr>
            <a:lvl2pPr marL="228600" indent="0">
              <a:buNone/>
              <a:defRPr/>
            </a:lvl2pPr>
          </a:lstStyle>
          <a:p>
            <a:pPr lvl="0"/>
            <a:r>
              <a:rPr lang="en-US"/>
              <a:t>Click to edit Master text styles</a:t>
            </a:r>
          </a:p>
        </p:txBody>
      </p:sp>
      <p:sp>
        <p:nvSpPr>
          <p:cNvPr id="9" name="Text Placeholder 7">
            <a:extLst>
              <a:ext uri="{FF2B5EF4-FFF2-40B4-BE49-F238E27FC236}">
                <a16:creationId xmlns:a16="http://schemas.microsoft.com/office/drawing/2014/main" id="{ED89376E-3BB0-0414-9125-A137EF9F4E8D}"/>
              </a:ext>
            </a:extLst>
          </p:cNvPr>
          <p:cNvSpPr>
            <a:spLocks noGrp="1"/>
          </p:cNvSpPr>
          <p:nvPr>
            <p:ph type="body" sz="quarter" idx="11"/>
          </p:nvPr>
        </p:nvSpPr>
        <p:spPr>
          <a:xfrm>
            <a:off x="4117471" y="3317965"/>
            <a:ext cx="3991884" cy="663178"/>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none" lIns="182880" tIns="91440" rIns="182880" bIns="91440" anchor="ctr" anchorCtr="0"/>
          <a:lstStyle>
            <a:lvl1pPr marL="0" indent="0" algn="ctr">
              <a:buNone/>
              <a:defRPr/>
            </a:lvl1pPr>
            <a:lvl2pPr marL="228600" indent="0">
              <a:buNone/>
              <a:defRPr/>
            </a:lvl2pPr>
          </a:lstStyle>
          <a:p>
            <a:pPr lvl="0"/>
            <a:r>
              <a:rPr lang="en-US"/>
              <a:t>Click to edit Master text styles</a:t>
            </a:r>
          </a:p>
        </p:txBody>
      </p:sp>
      <p:sp>
        <p:nvSpPr>
          <p:cNvPr id="10" name="Text Placeholder 7">
            <a:extLst>
              <a:ext uri="{FF2B5EF4-FFF2-40B4-BE49-F238E27FC236}">
                <a16:creationId xmlns:a16="http://schemas.microsoft.com/office/drawing/2014/main" id="{8D545552-38C6-59C4-C664-F1E24F0794B7}"/>
              </a:ext>
            </a:extLst>
          </p:cNvPr>
          <p:cNvSpPr>
            <a:spLocks noGrp="1"/>
          </p:cNvSpPr>
          <p:nvPr>
            <p:ph type="body" sz="quarter" idx="12"/>
          </p:nvPr>
        </p:nvSpPr>
        <p:spPr>
          <a:xfrm>
            <a:off x="4117471" y="4415245"/>
            <a:ext cx="3991884" cy="663178"/>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none" lIns="182880" tIns="91440" rIns="182880" bIns="91440" anchor="ctr" anchorCtr="0"/>
          <a:lstStyle>
            <a:lvl1pPr marL="0" indent="0" algn="ctr">
              <a:buNone/>
              <a:defRPr/>
            </a:lvl1pPr>
            <a:lvl2pPr marL="228600" indent="0">
              <a:buNone/>
              <a:defRPr/>
            </a:lvl2pPr>
          </a:lstStyle>
          <a:p>
            <a:pPr lvl="0"/>
            <a:r>
              <a:rPr lang="en-US"/>
              <a:t>Click to edit Master text styles</a:t>
            </a:r>
          </a:p>
        </p:txBody>
      </p:sp>
      <p:sp>
        <p:nvSpPr>
          <p:cNvPr id="2" name="Title Placeholder 1">
            <a:extLst>
              <a:ext uri="{FF2B5EF4-FFF2-40B4-BE49-F238E27FC236}">
                <a16:creationId xmlns:a16="http://schemas.microsoft.com/office/drawing/2014/main" id="{8953A433-F2D5-7B5B-B3BD-45E3929D6926}"/>
              </a:ext>
            </a:extLst>
          </p:cNvPr>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Tree>
    <p:extLst>
      <p:ext uri="{BB962C8B-B14F-4D97-AF65-F5344CB8AC3E}">
        <p14:creationId xmlns:p14="http://schemas.microsoft.com/office/powerpoint/2010/main" val="1155022015"/>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Sans Display" pitchFamily="2" charset="0"/>
              </a:rPr>
              <a:t>Copyright © 2025 Microsoft Corporation. All right reserved. Confidential. </a:t>
            </a:r>
          </a:p>
        </p:txBody>
      </p:sp>
      <p:pic>
        <p:nvPicPr>
          <p:cNvPr id="4" name="Picture 3" descr="A logo of a company&#10;&#10;Description automatically generated">
            <a:extLst>
              <a:ext uri="{FF2B5EF4-FFF2-40B4-BE49-F238E27FC236}">
                <a16:creationId xmlns:a16="http://schemas.microsoft.com/office/drawing/2014/main" id="{6D0E7ACD-25E9-7FAD-3A11-733954C79AE2}"/>
              </a:ext>
            </a:extLst>
          </p:cNvPr>
          <p:cNvPicPr>
            <a:picLocks noChangeAspect="1"/>
          </p:cNvPicPr>
          <p:nvPr userDrawn="1"/>
        </p:nvPicPr>
        <p:blipFill rotWithShape="1">
          <a:blip r:embed="rId2"/>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159367218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Sans Display" pitchFamily="2" charset="0"/>
                <a:ea typeface="Segoe Sans Display" pitchFamily="2" charset="0"/>
                <a:cs typeface="Segoe Sans Display"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Sans Display" pitchFamily="2" charset="0"/>
                <a:ea typeface="Segoe Sans Display" pitchFamily="2" charset="0"/>
                <a:cs typeface="Segoe Sans Display" pitchFamily="2" charset="0"/>
              </a:defRPr>
            </a:lvl1pPr>
          </a:lstStyle>
          <a:p>
            <a:pPr lvl="0"/>
            <a:r>
              <a:rPr lang="en-US"/>
              <a:t>Next:</a:t>
            </a:r>
          </a:p>
        </p:txBody>
      </p:sp>
    </p:spTree>
    <p:extLst>
      <p:ext uri="{BB962C8B-B14F-4D97-AF65-F5344CB8AC3E}">
        <p14:creationId xmlns:p14="http://schemas.microsoft.com/office/powerpoint/2010/main" val="363506295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image" Target="../media/image1.png"/><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74">
            <a:extLst>
              <a:ext uri="{96DAC541-7B7A-43D3-8B79-37D633B846F1}">
                <asvg:svgBlip xmlns:asvg="http://schemas.microsoft.com/office/drawing/2016/SVG/main" r:embed="rId75"/>
              </a:ext>
            </a:extLst>
          </a:blip>
          <a:srcRect/>
          <a:stretch/>
        </p:blipFill>
        <p:spPr>
          <a:xfrm rot="5400000">
            <a:off x="9509919" y="2743200"/>
            <a:ext cx="6858000" cy="1371600"/>
          </a:xfrm>
          <a:prstGeom prst="rect">
            <a:avLst/>
          </a:prstGeom>
        </p:spPr>
      </p:pic>
      <p:sp>
        <p:nvSpPr>
          <p:cNvPr id="5" name="Footer Placeholder 4">
            <a:extLst>
              <a:ext uri="{FF2B5EF4-FFF2-40B4-BE49-F238E27FC236}">
                <a16:creationId xmlns:a16="http://schemas.microsoft.com/office/drawing/2014/main" id="{AF4916E7-971A-25DB-421C-45AB21BD06B7}"/>
              </a:ext>
            </a:extLst>
          </p:cNvPr>
          <p:cNvSpPr>
            <a:spLocks noGrp="1"/>
          </p:cNvSpPr>
          <p:nvPr>
            <p:ph type="ftr" sz="quarter" idx="3"/>
          </p:nvPr>
        </p:nvSpPr>
        <p:spPr>
          <a:xfrm>
            <a:off x="571499" y="6362701"/>
            <a:ext cx="2815167" cy="495298"/>
          </a:xfrm>
          <a:prstGeom prst="rect">
            <a:avLst/>
          </a:prstGeom>
        </p:spPr>
        <p:txBody>
          <a:bodyPr vert="horz" lIns="0" tIns="0" rIns="0" bIns="0" rtlCol="0" anchor="ctr"/>
          <a:lstStyle>
            <a:lvl1pPr algn="l">
              <a:defRPr sz="1000">
                <a:solidFill>
                  <a:schemeClr val="tx1">
                    <a:tint val="82000"/>
                  </a:schemeClr>
                </a:solidFill>
              </a:defRPr>
            </a:lvl1pPr>
          </a:lstStyle>
          <a:p>
            <a:r>
              <a:rPr lang="en-US"/>
              <a:t>Building Customer-Centric Services offers</a:t>
            </a:r>
          </a:p>
        </p:txBody>
      </p:sp>
      <p:sp>
        <p:nvSpPr>
          <p:cNvPr id="6" name="Slide Number Placeholder 5">
            <a:extLst>
              <a:ext uri="{FF2B5EF4-FFF2-40B4-BE49-F238E27FC236}">
                <a16:creationId xmlns:a16="http://schemas.microsoft.com/office/drawing/2014/main" id="{EF8AA431-B2A9-837A-281B-F70352F5CF71}"/>
              </a:ext>
            </a:extLst>
          </p:cNvPr>
          <p:cNvSpPr>
            <a:spLocks noGrp="1"/>
          </p:cNvSpPr>
          <p:nvPr>
            <p:ph type="sldNum" sz="quarter" idx="4"/>
          </p:nvPr>
        </p:nvSpPr>
        <p:spPr>
          <a:xfrm>
            <a:off x="8610600" y="6362700"/>
            <a:ext cx="3009900" cy="488947"/>
          </a:xfrm>
          <a:prstGeom prst="rect">
            <a:avLst/>
          </a:prstGeom>
        </p:spPr>
        <p:txBody>
          <a:bodyPr vert="horz" lIns="0" tIns="0" rIns="0" bIns="0" rtlCol="0" anchor="ctr"/>
          <a:lstStyle>
            <a:lvl1pPr algn="r">
              <a:defRPr sz="1000">
                <a:solidFill>
                  <a:schemeClr val="tx1">
                    <a:tint val="82000"/>
                  </a:schemeClr>
                </a:solidFill>
              </a:defRPr>
            </a:lvl1pPr>
          </a:lstStyle>
          <a:p>
            <a:fld id="{5763EE98-C176-4152-A50F-E68840BAFA00}" type="slidenum">
              <a:rPr lang="en-US" smtClean="0"/>
              <a:pPr/>
              <a:t>‹#›</a:t>
            </a:fld>
            <a:endParaRPr lang="en-US"/>
          </a:p>
        </p:txBody>
      </p:sp>
    </p:spTree>
    <p:extLst>
      <p:ext uri="{BB962C8B-B14F-4D97-AF65-F5344CB8AC3E}">
        <p14:creationId xmlns:p14="http://schemas.microsoft.com/office/powerpoint/2010/main" val="639403929"/>
      </p:ext>
    </p:extLst>
  </p:cSld>
  <p:clrMap bg1="lt1" tx1="dk1" bg2="lt2" tx2="dk2" accent1="accent1" accent2="accent2" accent3="accent3" accent4="accent4" accent5="accent5" accent6="accent6" hlink="hlink" folHlink="folHlink"/>
  <p:sldLayoutIdLst>
    <p:sldLayoutId id="2147485711" r:id="rId1"/>
    <p:sldLayoutId id="2147485712" r:id="rId2"/>
    <p:sldLayoutId id="2147485713" r:id="rId3"/>
    <p:sldLayoutId id="2147485714" r:id="rId4"/>
    <p:sldLayoutId id="2147485715" r:id="rId5"/>
    <p:sldLayoutId id="2147485716" r:id="rId6"/>
    <p:sldLayoutId id="2147485717" r:id="rId7"/>
    <p:sldLayoutId id="2147485718" r:id="rId8"/>
    <p:sldLayoutId id="2147485719" r:id="rId9"/>
    <p:sldLayoutId id="2147485720" r:id="rId10"/>
    <p:sldLayoutId id="2147485721" r:id="rId11"/>
    <p:sldLayoutId id="2147485722" r:id="rId12"/>
    <p:sldLayoutId id="2147485723" r:id="rId13"/>
    <p:sldLayoutId id="2147485724" r:id="rId14"/>
    <p:sldLayoutId id="2147485725" r:id="rId15"/>
    <p:sldLayoutId id="2147485726" r:id="rId16"/>
    <p:sldLayoutId id="2147485727" r:id="rId17"/>
    <p:sldLayoutId id="2147485728" r:id="rId18"/>
    <p:sldLayoutId id="2147485729" r:id="rId19"/>
    <p:sldLayoutId id="2147485730" r:id="rId20"/>
    <p:sldLayoutId id="2147485731" r:id="rId21"/>
    <p:sldLayoutId id="2147485732" r:id="rId22"/>
    <p:sldLayoutId id="2147485733" r:id="rId23"/>
    <p:sldLayoutId id="2147485734" r:id="rId24"/>
    <p:sldLayoutId id="2147485735" r:id="rId25"/>
    <p:sldLayoutId id="2147485736" r:id="rId26"/>
    <p:sldLayoutId id="2147485737" r:id="rId27"/>
    <p:sldLayoutId id="2147485738" r:id="rId28"/>
    <p:sldLayoutId id="2147485739" r:id="rId29"/>
    <p:sldLayoutId id="2147485740" r:id="rId30"/>
    <p:sldLayoutId id="2147485741" r:id="rId31"/>
    <p:sldLayoutId id="2147485742" r:id="rId32"/>
    <p:sldLayoutId id="2147485743" r:id="rId33"/>
    <p:sldLayoutId id="2147485744" r:id="rId34"/>
    <p:sldLayoutId id="2147485745" r:id="rId35"/>
    <p:sldLayoutId id="2147485746" r:id="rId36"/>
    <p:sldLayoutId id="2147485747" r:id="rId37"/>
    <p:sldLayoutId id="2147485748" r:id="rId38"/>
    <p:sldLayoutId id="2147485749" r:id="rId39"/>
    <p:sldLayoutId id="2147485750" r:id="rId40"/>
    <p:sldLayoutId id="2147485751" r:id="rId41"/>
    <p:sldLayoutId id="2147485752" r:id="rId42"/>
    <p:sldLayoutId id="2147485753" r:id="rId43"/>
    <p:sldLayoutId id="2147485754" r:id="rId44"/>
    <p:sldLayoutId id="2147485755" r:id="rId45"/>
    <p:sldLayoutId id="2147485756" r:id="rId46"/>
    <p:sldLayoutId id="2147485757" r:id="rId47"/>
    <p:sldLayoutId id="2147485758" r:id="rId48"/>
    <p:sldLayoutId id="2147485759" r:id="rId49"/>
    <p:sldLayoutId id="2147485760" r:id="rId50"/>
    <p:sldLayoutId id="2147485761" r:id="rId51"/>
    <p:sldLayoutId id="2147485762" r:id="rId52"/>
    <p:sldLayoutId id="2147485763" r:id="rId53"/>
    <p:sldLayoutId id="2147485764" r:id="rId54"/>
    <p:sldLayoutId id="2147485765" r:id="rId55"/>
    <p:sldLayoutId id="2147485766" r:id="rId56"/>
    <p:sldLayoutId id="2147485767" r:id="rId57"/>
    <p:sldLayoutId id="2147485768" r:id="rId58"/>
    <p:sldLayoutId id="2147485769" r:id="rId59"/>
    <p:sldLayoutId id="2147485770" r:id="rId60"/>
    <p:sldLayoutId id="2147485771" r:id="rId61"/>
    <p:sldLayoutId id="2147485772" r:id="rId62"/>
    <p:sldLayoutId id="2147485773" r:id="rId63"/>
    <p:sldLayoutId id="2147485774" r:id="rId64"/>
    <p:sldLayoutId id="2147485775" r:id="rId65"/>
    <p:sldLayoutId id="2147485776" r:id="rId66"/>
    <p:sldLayoutId id="2147485777" r:id="rId67"/>
    <p:sldLayoutId id="2147485781" r:id="rId68"/>
    <p:sldLayoutId id="2147485782" r:id="rId69"/>
    <p:sldLayoutId id="2147485778" r:id="rId70"/>
    <p:sldLayoutId id="2147485779" r:id="rId71"/>
    <p:sldLayoutId id="2147485780" r:id="rId72"/>
  </p:sldLayoutIdLst>
  <p:transition>
    <p:fade/>
  </p:transition>
  <p:hf hd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87.png"/></Relationships>
</file>

<file path=ppt/slides/_rels/slide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xml"/><Relationship Id="rId1" Type="http://schemas.openxmlformats.org/officeDocument/2006/relationships/slideLayout" Target="../slideLayouts/slideLayout56.xml"/><Relationship Id="rId5" Type="http://schemas.openxmlformats.org/officeDocument/2006/relationships/hyperlink" Target="https://blogs.microsoft.com/on-the-issues/2023/09/07/copilot-copyright-commitment-ai-legal-concerns/" TargetMode="External"/><Relationship Id="rId4" Type="http://schemas.openxmlformats.org/officeDocument/2006/relationships/image" Target="../media/image88.png"/></Relationships>
</file>

<file path=ppt/slides/_rels/slide7.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79.png"/><Relationship Id="rId7" Type="http://schemas.openxmlformats.org/officeDocument/2006/relationships/image" Target="../media/image91.png"/><Relationship Id="rId2" Type="http://schemas.openxmlformats.org/officeDocument/2006/relationships/notesSlide" Target="../notesSlides/notesSlide6.xml"/><Relationship Id="rId1" Type="http://schemas.openxmlformats.org/officeDocument/2006/relationships/slideLayout" Target="../slideLayouts/slideLayout56.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7.png"/></Relationships>
</file>

<file path=ppt/slides/_rels/slide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7.xml"/><Relationship Id="rId1" Type="http://schemas.openxmlformats.org/officeDocument/2006/relationships/slideLayout" Target="../slideLayouts/slideLayout56.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9.xml.rels><?xml version="1.0" encoding="UTF-8" standalone="yes"?>
<Relationships xmlns="http://schemas.openxmlformats.org/package/2006/relationships"><Relationship Id="rId8" Type="http://schemas.openxmlformats.org/officeDocument/2006/relationships/image" Target="../media/image99.svg"/><Relationship Id="rId3" Type="http://schemas.openxmlformats.org/officeDocument/2006/relationships/image" Target="../media/image79.png"/><Relationship Id="rId7" Type="http://schemas.openxmlformats.org/officeDocument/2006/relationships/image" Target="../media/image98.png"/><Relationship Id="rId2" Type="http://schemas.openxmlformats.org/officeDocument/2006/relationships/notesSlide" Target="../notesSlides/notesSlide8.xml"/><Relationship Id="rId1" Type="http://schemas.openxmlformats.org/officeDocument/2006/relationships/slideLayout" Target="../slideLayouts/slideLayout56.xml"/><Relationship Id="rId6" Type="http://schemas.openxmlformats.org/officeDocument/2006/relationships/image" Target="../media/image97.svg"/><Relationship Id="rId5" Type="http://schemas.openxmlformats.org/officeDocument/2006/relationships/image" Target="../media/image96.png"/><Relationship Id="rId4" Type="http://schemas.openxmlformats.org/officeDocument/2006/relationships/image" Target="../media/image88.png"/></Relationships>
</file>

<file path=ppt/slides/_rels/slide1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0.xml"/><Relationship Id="rId1" Type="http://schemas.openxmlformats.org/officeDocument/2006/relationships/slideLayout" Target="../slideLayouts/slideLayout14.xml"/><Relationship Id="rId6" Type="http://schemas.openxmlformats.org/officeDocument/2006/relationships/hyperlink" Target="https://aka.ms/CopilotM365TEI" TargetMode="External"/><Relationship Id="rId5" Type="http://schemas.openxmlformats.org/officeDocument/2006/relationships/image" Target="../media/image101.png"/><Relationship Id="rId4" Type="http://schemas.openxmlformats.org/officeDocument/2006/relationships/hyperlink" Target="https://clouddamcdnprodep.azureedge.net/gdc/gdcjXrIkp/original"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5.xml"/><Relationship Id="rId1" Type="http://schemas.openxmlformats.org/officeDocument/2006/relationships/slideLayout" Target="../slideLayouts/slideLayout14.xml"/><Relationship Id="rId5" Type="http://schemas.openxmlformats.org/officeDocument/2006/relationships/hyperlink" Target="https://cloudpartners.transform.microsoft.com/partner-gtm/co-sell/copilot" TargetMode="External"/><Relationship Id="rId4" Type="http://schemas.openxmlformats.org/officeDocument/2006/relationships/hyperlink" Target="https://partner.microsoft.com/en-us/marketing-center/assets/collection/microsoft-365-copilot-ent-collection#/"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103.png"/><Relationship Id="rId7" Type="http://schemas.openxmlformats.org/officeDocument/2006/relationships/image" Target="../media/image107.svg"/><Relationship Id="rId2" Type="http://schemas.openxmlformats.org/officeDocument/2006/relationships/notesSlide" Target="../notesSlides/notesSlide17.xml"/><Relationship Id="rId1" Type="http://schemas.openxmlformats.org/officeDocument/2006/relationships/slideLayout" Target="../slideLayouts/slideLayout14.xml"/><Relationship Id="rId6" Type="http://schemas.openxmlformats.org/officeDocument/2006/relationships/image" Target="../media/image106.png"/><Relationship Id="rId5" Type="http://schemas.openxmlformats.org/officeDocument/2006/relationships/image" Target="../media/image105.svg"/><Relationship Id="rId4" Type="http://schemas.openxmlformats.org/officeDocument/2006/relationships/image" Target="../media/image104.png"/><Relationship Id="rId9" Type="http://schemas.openxmlformats.org/officeDocument/2006/relationships/image" Target="../media/image109.svg"/></Relationships>
</file>

<file path=ppt/slides/_rels/slide19.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hyperlink" Target="https://learn.microsoft.com/en-us/partner-center/marketplace-offers/gtm-marketing-best-practices"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20.xml"/><Relationship Id="rId1" Type="http://schemas.openxmlformats.org/officeDocument/2006/relationships/slideLayout" Target="../slideLayouts/slideLayout60.xml"/></Relationships>
</file>

<file path=ppt/slides/_rels/slide22.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21.xml"/><Relationship Id="rId1" Type="http://schemas.openxmlformats.org/officeDocument/2006/relationships/slideLayout" Target="../slideLayouts/slideLayout69.xml"/><Relationship Id="rId4" Type="http://schemas.openxmlformats.org/officeDocument/2006/relationships/hyperlink" Target="https://www.gartner.com/en/customer-service-support/trends/the-customer-service-customer-rep"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22.xml"/><Relationship Id="rId1" Type="http://schemas.openxmlformats.org/officeDocument/2006/relationships/slideLayout" Target="../slideLayouts/slideLayout69.xml"/></Relationships>
</file>

<file path=ppt/slides/_rels/slide24.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23.xml"/><Relationship Id="rId1" Type="http://schemas.openxmlformats.org/officeDocument/2006/relationships/slideLayout" Target="../slideLayouts/slideLayout69.xml"/></Relationships>
</file>

<file path=ppt/slides/_rels/slide25.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24.xml"/><Relationship Id="rId1" Type="http://schemas.openxmlformats.org/officeDocument/2006/relationships/slideLayout" Target="../slideLayouts/slideLayout69.xml"/></Relationships>
</file>

<file path=ppt/slides/_rels/slide26.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25.xml"/><Relationship Id="rId1" Type="http://schemas.openxmlformats.org/officeDocument/2006/relationships/slideLayout" Target="../slideLayouts/slideLayout69.xml"/></Relationships>
</file>

<file path=ppt/slides/_rels/slide27.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26.xml"/><Relationship Id="rId1" Type="http://schemas.openxmlformats.org/officeDocument/2006/relationships/slideLayout" Target="../slideLayouts/slideLayout6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2.xml"/></Relationships>
</file>

<file path=ppt/slides/_rels/slide29.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28.xml"/><Relationship Id="rId1" Type="http://schemas.openxmlformats.org/officeDocument/2006/relationships/slideLayout" Target="../slideLayouts/slideLayout68.xml"/><Relationship Id="rId4" Type="http://schemas.openxmlformats.org/officeDocument/2006/relationships/image" Target="../media/image115.png"/></Relationships>
</file>

<file path=ppt/slides/_rels/slide30.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29.xml"/><Relationship Id="rId1" Type="http://schemas.openxmlformats.org/officeDocument/2006/relationships/slideLayout" Target="../slideLayouts/slideLayout68.xml"/><Relationship Id="rId5" Type="http://schemas.openxmlformats.org/officeDocument/2006/relationships/image" Target="../media/image118.png"/><Relationship Id="rId4" Type="http://schemas.openxmlformats.org/officeDocument/2006/relationships/image" Target="../media/image117.png"/></Relationships>
</file>

<file path=ppt/slides/_rels/slide31.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30.xml"/><Relationship Id="rId1" Type="http://schemas.openxmlformats.org/officeDocument/2006/relationships/slideLayout" Target="../slideLayouts/slideLayout68.xml"/><Relationship Id="rId4" Type="http://schemas.openxmlformats.org/officeDocument/2006/relationships/image" Target="../media/image120.png"/></Relationships>
</file>

<file path=ppt/slides/_rels/slide32.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notesSlide" Target="../notesSlides/notesSlide31.xml"/><Relationship Id="rId1" Type="http://schemas.openxmlformats.org/officeDocument/2006/relationships/slideLayout" Target="../slideLayouts/slideLayout68.xml"/><Relationship Id="rId4" Type="http://schemas.openxmlformats.org/officeDocument/2006/relationships/image" Target="../media/image121.png"/></Relationships>
</file>

<file path=ppt/slides/_rels/slide33.xml.rels><?xml version="1.0" encoding="UTF-8" standalone="yes"?>
<Relationships xmlns="http://schemas.openxmlformats.org/package/2006/relationships"><Relationship Id="rId8" Type="http://schemas.openxmlformats.org/officeDocument/2006/relationships/image" Target="../media/image127.png"/><Relationship Id="rId3" Type="http://schemas.microsoft.com/office/2018/10/relationships/comments" Target="../comments/modernComment_7FFFCC76_E58AD084.xml"/><Relationship Id="rId7" Type="http://schemas.openxmlformats.org/officeDocument/2006/relationships/image" Target="../media/image123.png"/><Relationship Id="rId2" Type="http://schemas.openxmlformats.org/officeDocument/2006/relationships/notesSlide" Target="../notesSlides/notesSlide32.xml"/><Relationship Id="rId1" Type="http://schemas.openxmlformats.org/officeDocument/2006/relationships/slideLayout" Target="../slideLayouts/slideLayout68.xml"/><Relationship Id="rId6" Type="http://schemas.openxmlformats.org/officeDocument/2006/relationships/image" Target="../media/image126.png"/><Relationship Id="rId5" Type="http://schemas.openxmlformats.org/officeDocument/2006/relationships/image" Target="../media/image122.png"/><Relationship Id="rId4" Type="http://schemas.openxmlformats.org/officeDocument/2006/relationships/image" Target="../media/image121.png"/></Relationships>
</file>

<file path=ppt/slides/_rels/slide34.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33.xml"/><Relationship Id="rId1" Type="http://schemas.openxmlformats.org/officeDocument/2006/relationships/slideLayout" Target="../slideLayouts/slideLayout68.xml"/></Relationships>
</file>

<file path=ppt/slides/_rels/slide35.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34.xml"/><Relationship Id="rId1" Type="http://schemas.openxmlformats.org/officeDocument/2006/relationships/slideLayout" Target="../slideLayouts/slideLayout68.xml"/></Relationships>
</file>

<file path=ppt/slides/_rels/slide36.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35.xml"/><Relationship Id="rId1" Type="http://schemas.openxmlformats.org/officeDocument/2006/relationships/slideLayout" Target="../slideLayouts/slideLayout68.xml"/><Relationship Id="rId5" Type="http://schemas.openxmlformats.org/officeDocument/2006/relationships/image" Target="../media/image130.png"/><Relationship Id="rId4" Type="http://schemas.openxmlformats.org/officeDocument/2006/relationships/image" Target="../media/image129.png"/></Relationships>
</file>

<file path=ppt/slides/_rels/slide37.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36.xml"/><Relationship Id="rId1" Type="http://schemas.openxmlformats.org/officeDocument/2006/relationships/slideLayout" Target="../slideLayouts/slideLayout68.xml"/><Relationship Id="rId5" Type="http://schemas.openxmlformats.org/officeDocument/2006/relationships/image" Target="../media/image133.png"/><Relationship Id="rId4" Type="http://schemas.openxmlformats.org/officeDocument/2006/relationships/image" Target="../media/image132.png"/></Relationships>
</file>

<file path=ppt/slides/_rels/slide38.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37.xml"/><Relationship Id="rId1" Type="http://schemas.openxmlformats.org/officeDocument/2006/relationships/slideLayout" Target="../slideLayouts/slideLayout68.xml"/></Relationships>
</file>

<file path=ppt/slides/_rels/slide39.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38.xml"/><Relationship Id="rId1" Type="http://schemas.openxmlformats.org/officeDocument/2006/relationships/slideLayout" Target="../slideLayouts/slideLayout68.xml"/><Relationship Id="rId5" Type="http://schemas.openxmlformats.org/officeDocument/2006/relationships/image" Target="../media/image137.png"/><Relationship Id="rId4" Type="http://schemas.openxmlformats.org/officeDocument/2006/relationships/image" Target="../media/image136.png"/></Relationships>
</file>

<file path=ppt/slides/_rels/slide40.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39.xml"/><Relationship Id="rId1" Type="http://schemas.openxmlformats.org/officeDocument/2006/relationships/slideLayout" Target="../slideLayouts/slideLayout68.xml"/><Relationship Id="rId6" Type="http://schemas.openxmlformats.org/officeDocument/2006/relationships/image" Target="../media/image136.png"/><Relationship Id="rId5" Type="http://schemas.openxmlformats.org/officeDocument/2006/relationships/image" Target="../media/image140.png"/><Relationship Id="rId4" Type="http://schemas.openxmlformats.org/officeDocument/2006/relationships/image" Target="../media/image139.png"/></Relationships>
</file>

<file path=ppt/slides/_rels/slide41.xml.rels><?xml version="1.0" encoding="UTF-8" standalone="yes"?>
<Relationships xmlns="http://schemas.openxmlformats.org/package/2006/relationships"><Relationship Id="rId8" Type="http://schemas.openxmlformats.org/officeDocument/2006/relationships/image" Target="../media/image136.png"/><Relationship Id="rId3" Type="http://schemas.openxmlformats.org/officeDocument/2006/relationships/image" Target="../media/image138.png"/><Relationship Id="rId7" Type="http://schemas.openxmlformats.org/officeDocument/2006/relationships/hyperlink" Target="https://aka.ms/ModernizeEndpointsDemandGenAssets" TargetMode="External"/><Relationship Id="rId2" Type="http://schemas.openxmlformats.org/officeDocument/2006/relationships/notesSlide" Target="../notesSlides/notesSlide40.xml"/><Relationship Id="rId1" Type="http://schemas.openxmlformats.org/officeDocument/2006/relationships/slideLayout" Target="../slideLayouts/slideLayout68.xml"/><Relationship Id="rId6" Type="http://schemas.openxmlformats.org/officeDocument/2006/relationships/hyperlink" Target="https://aka.ms/FrontlineCustomerTemplate" TargetMode="External"/><Relationship Id="rId5" Type="http://schemas.openxmlformats.org/officeDocument/2006/relationships/hyperlink" Target="https://aka.ms/FLWDemandGenKits" TargetMode="External"/><Relationship Id="rId4" Type="http://schemas.openxmlformats.org/officeDocument/2006/relationships/image" Target="../media/image141.png"/></Relationships>
</file>

<file path=ppt/slides/_rels/slide42.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41.xml"/><Relationship Id="rId1" Type="http://schemas.openxmlformats.org/officeDocument/2006/relationships/slideLayout" Target="../slideLayouts/slideLayout68.xml"/><Relationship Id="rId5" Type="http://schemas.openxmlformats.org/officeDocument/2006/relationships/image" Target="../media/image136.png"/><Relationship Id="rId4" Type="http://schemas.openxmlformats.org/officeDocument/2006/relationships/image" Target="../media/image142.png"/></Relationships>
</file>

<file path=ppt/slides/_rels/slide43.xml.rels><?xml version="1.0" encoding="UTF-8" standalone="yes"?>
<Relationships xmlns="http://schemas.openxmlformats.org/package/2006/relationships"><Relationship Id="rId8" Type="http://schemas.openxmlformats.org/officeDocument/2006/relationships/hyperlink" Target="https://privacy.microsoft.com/en-US/" TargetMode="External"/><Relationship Id="rId3" Type="http://schemas.openxmlformats.org/officeDocument/2006/relationships/image" Target="../media/image143.png"/><Relationship Id="rId7" Type="http://schemas.openxmlformats.org/officeDocument/2006/relationships/hyperlink" Target="https://www.microsoft.com/licensing/terms/productoffering/Microsoft365/" TargetMode="External"/><Relationship Id="rId2" Type="http://schemas.openxmlformats.org/officeDocument/2006/relationships/notesSlide" Target="../notesSlides/notesSlide42.xml"/><Relationship Id="rId1" Type="http://schemas.openxmlformats.org/officeDocument/2006/relationships/slideLayout" Target="../slideLayouts/slideLayout14.xml"/><Relationship Id="rId6" Type="http://schemas.openxmlformats.org/officeDocument/2006/relationships/hyperlink" Target="https://adoption.microsoft.com/en-us/copilot/" TargetMode="External"/><Relationship Id="rId5" Type="http://schemas.openxmlformats.org/officeDocument/2006/relationships/hyperlink" Target="https://cloudpartners.transform.microsoft.com/practices/modern-work/copilot" TargetMode="External"/><Relationship Id="rId4" Type="http://schemas.openxmlformats.org/officeDocument/2006/relationships/hyperlink" Target="https://aka.ms/CopilotPartnerCommunity" TargetMode="External"/></Relationships>
</file>

<file path=ppt/slides/_rels/slide44.xml.rels><?xml version="1.0" encoding="UTF-8" standalone="yes"?>
<Relationships xmlns="http://schemas.openxmlformats.org/package/2006/relationships"><Relationship Id="rId8" Type="http://schemas.openxmlformats.org/officeDocument/2006/relationships/image" Target="../media/image149.png"/><Relationship Id="rId13" Type="http://schemas.openxmlformats.org/officeDocument/2006/relationships/hyperlink" Target="https://aka.ms/Copilot/VivaforCopilot" TargetMode="External"/><Relationship Id="rId3" Type="http://schemas.openxmlformats.org/officeDocument/2006/relationships/image" Target="../media/image144.jpeg"/><Relationship Id="rId7" Type="http://schemas.openxmlformats.org/officeDocument/2006/relationships/image" Target="../media/image148.jpeg"/><Relationship Id="rId12" Type="http://schemas.openxmlformats.org/officeDocument/2006/relationships/hyperlink" Target="https://aka.ms/Copilot/TechnicalReadinessGuide" TargetMode="External"/><Relationship Id="rId2" Type="http://schemas.openxmlformats.org/officeDocument/2006/relationships/notesSlide" Target="../notesSlides/notesSlide43.xml"/><Relationship Id="rId1" Type="http://schemas.openxmlformats.org/officeDocument/2006/relationships/slideLayout" Target="../slideLayouts/slideLayout14.xml"/><Relationship Id="rId6" Type="http://schemas.openxmlformats.org/officeDocument/2006/relationships/image" Target="../media/image147.jpeg"/><Relationship Id="rId11" Type="http://schemas.openxmlformats.org/officeDocument/2006/relationships/hyperlink" Target="https://aka.ms/Copilot/UserEnablementGuide" TargetMode="External"/><Relationship Id="rId5" Type="http://schemas.openxmlformats.org/officeDocument/2006/relationships/image" Target="../media/image146.jpeg"/><Relationship Id="rId10" Type="http://schemas.openxmlformats.org/officeDocument/2006/relationships/hyperlink" Target="http://aka.ms/Copilot/LeadersGuidetoAIAdoption" TargetMode="External"/><Relationship Id="rId4" Type="http://schemas.openxmlformats.org/officeDocument/2006/relationships/image" Target="../media/image145.jpeg"/><Relationship Id="rId9" Type="http://schemas.openxmlformats.org/officeDocument/2006/relationships/hyperlink" Target="https://aka.ms/Copilot/ImplementationSummaryGuide" TargetMode="External"/><Relationship Id="rId14" Type="http://schemas.openxmlformats.org/officeDocument/2006/relationships/hyperlink" Target="https://aka.ms/CopilotSuccessKit" TargetMode="External"/></Relationships>
</file>

<file path=ppt/slides/_rels/slide45.xml.rels><?xml version="1.0" encoding="UTF-8" standalone="yes"?>
<Relationships xmlns="http://schemas.openxmlformats.org/package/2006/relationships"><Relationship Id="rId8" Type="http://schemas.openxmlformats.org/officeDocument/2006/relationships/image" Target="../media/image153.png"/><Relationship Id="rId3" Type="http://schemas.openxmlformats.org/officeDocument/2006/relationships/image" Target="../media/image150.png"/><Relationship Id="rId7" Type="http://schemas.openxmlformats.org/officeDocument/2006/relationships/hyperlink" Target="https://aka.ms/copilotM365training" TargetMode="External"/><Relationship Id="rId2" Type="http://schemas.openxmlformats.org/officeDocument/2006/relationships/notesSlide" Target="../notesSlides/notesSlide44.xml"/><Relationship Id="rId1" Type="http://schemas.openxmlformats.org/officeDocument/2006/relationships/slideLayout" Target="../slideLayouts/slideLayout14.xml"/><Relationship Id="rId6" Type="http://schemas.openxmlformats.org/officeDocument/2006/relationships/image" Target="../media/image152.png"/><Relationship Id="rId5" Type="http://schemas.openxmlformats.org/officeDocument/2006/relationships/hyperlink" Target="https://aka.ms/CopilotAcademy" TargetMode="External"/><Relationship Id="rId10" Type="http://schemas.openxmlformats.org/officeDocument/2006/relationships/hyperlink" Target="https://adoption.microsoft.com/copilot" TargetMode="External"/><Relationship Id="rId4" Type="http://schemas.openxmlformats.org/officeDocument/2006/relationships/image" Target="../media/image151.png"/><Relationship Id="rId9" Type="http://schemas.openxmlformats.org/officeDocument/2006/relationships/hyperlink" Target="https://aka.ms/CopilotLab" TargetMode="External"/></Relationships>
</file>

<file path=ppt/slides/_rels/slide46.xml.rels><?xml version="1.0" encoding="UTF-8" standalone="yes"?>
<Relationships xmlns="http://schemas.openxmlformats.org/package/2006/relationships"><Relationship Id="rId8" Type="http://schemas.openxmlformats.org/officeDocument/2006/relationships/image" Target="../media/image158.png"/><Relationship Id="rId3" Type="http://schemas.openxmlformats.org/officeDocument/2006/relationships/image" Target="../media/image79.png"/><Relationship Id="rId7" Type="http://schemas.openxmlformats.org/officeDocument/2006/relationships/image" Target="../media/image157.png"/><Relationship Id="rId2" Type="http://schemas.openxmlformats.org/officeDocument/2006/relationships/notesSlide" Target="../notesSlides/notesSlide45.xml"/><Relationship Id="rId1" Type="http://schemas.openxmlformats.org/officeDocument/2006/relationships/slideLayout" Target="../slideLayouts/slideLayout14.xml"/><Relationship Id="rId6" Type="http://schemas.openxmlformats.org/officeDocument/2006/relationships/image" Target="../media/image156.svg"/><Relationship Id="rId5" Type="http://schemas.openxmlformats.org/officeDocument/2006/relationships/image" Target="../media/image155.png"/><Relationship Id="rId10" Type="http://schemas.openxmlformats.org/officeDocument/2006/relationships/hyperlink" Target="https://aka.ms/CopilotLab" TargetMode="External"/><Relationship Id="rId4" Type="http://schemas.openxmlformats.org/officeDocument/2006/relationships/image" Target="../media/image154.png"/><Relationship Id="rId9" Type="http://schemas.openxmlformats.org/officeDocument/2006/relationships/image" Target="../media/image159.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F61EB69-B831-52D8-4A95-D6A8239EE195}"/>
              </a:ext>
            </a:extLst>
          </p:cNvPr>
          <p:cNvSpPr>
            <a:spLocks noGrp="1"/>
          </p:cNvSpPr>
          <p:nvPr>
            <p:ph type="title"/>
          </p:nvPr>
        </p:nvSpPr>
        <p:spPr>
          <a:xfrm>
            <a:off x="584200" y="2303463"/>
            <a:ext cx="4321175" cy="1230312"/>
          </a:xfrm>
        </p:spPr>
        <p:txBody>
          <a:bodyPr/>
          <a:lstStyle/>
          <a:p>
            <a:r>
              <a:rPr lang="en-US"/>
              <a:t>Building Customer-Centric Services offers</a:t>
            </a:r>
          </a:p>
        </p:txBody>
      </p:sp>
      <p:sp>
        <p:nvSpPr>
          <p:cNvPr id="5" name="Text Placeholder 4">
            <a:extLst>
              <a:ext uri="{FF2B5EF4-FFF2-40B4-BE49-F238E27FC236}">
                <a16:creationId xmlns:a16="http://schemas.microsoft.com/office/drawing/2014/main" id="{7F4FBA4F-ED5E-7AF4-743F-F597801BB1BD}"/>
              </a:ext>
            </a:extLst>
          </p:cNvPr>
          <p:cNvSpPr>
            <a:spLocks noGrp="1"/>
          </p:cNvSpPr>
          <p:nvPr>
            <p:ph type="body" sz="quarter" idx="12"/>
          </p:nvPr>
        </p:nvSpPr>
        <p:spPr>
          <a:xfrm>
            <a:off x="584200" y="3962400"/>
            <a:ext cx="4080397" cy="246221"/>
          </a:xfrm>
        </p:spPr>
        <p:txBody>
          <a:bodyPr vert="horz" wrap="square" lIns="0" tIns="0" rIns="0" bIns="0" rtlCol="0" anchor="t">
            <a:noAutofit/>
          </a:bodyPr>
          <a:lstStyle/>
          <a:p>
            <a:r>
              <a:rPr lang="en-US"/>
              <a:t>Copilot Offer Development Guide </a:t>
            </a:r>
          </a:p>
          <a:p>
            <a:r>
              <a:rPr lang="en-US" sz="1000"/>
              <a:t>April 2025</a:t>
            </a:r>
          </a:p>
        </p:txBody>
      </p:sp>
      <p:pic>
        <p:nvPicPr>
          <p:cNvPr id="8" name="Picture 7" descr="Copilot, a whole new way to work" hidden="1">
            <a:extLst>
              <a:ext uri="{FF2B5EF4-FFF2-40B4-BE49-F238E27FC236}">
                <a16:creationId xmlns:a16="http://schemas.microsoft.com/office/drawing/2014/main" id="{1B724CEB-BD35-1429-18F9-846C02BD38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44126" y="7295159"/>
            <a:ext cx="5499113" cy="5499113"/>
          </a:xfrm>
          <a:prstGeom prst="rect">
            <a:avLst/>
          </a:prstGeom>
        </p:spPr>
      </p:pic>
    </p:spTree>
    <p:extLst>
      <p:ext uri="{BB962C8B-B14F-4D97-AF65-F5344CB8AC3E}">
        <p14:creationId xmlns:p14="http://schemas.microsoft.com/office/powerpoint/2010/main" val="256838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9000" b="-39000"/>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10D56C6-0F95-24CF-849C-B935D59DD190}"/>
              </a:ext>
            </a:extLst>
          </p:cNvPr>
          <p:cNvSpPr>
            <a:spLocks noGrp="1"/>
          </p:cNvSpPr>
          <p:nvPr>
            <p:ph type="title"/>
          </p:nvPr>
        </p:nvSpPr>
        <p:spPr/>
        <p:txBody>
          <a:bodyPr/>
          <a:lstStyle/>
          <a:p>
            <a:r>
              <a:rPr lang="en-US"/>
              <a:t>Guidance and purpose of this deck</a:t>
            </a:r>
          </a:p>
        </p:txBody>
      </p:sp>
      <p:sp>
        <p:nvSpPr>
          <p:cNvPr id="34" name="Slide Number Placeholder 33">
            <a:extLst>
              <a:ext uri="{FF2B5EF4-FFF2-40B4-BE49-F238E27FC236}">
                <a16:creationId xmlns:a16="http://schemas.microsoft.com/office/drawing/2014/main" id="{1A1A7596-33F0-F300-AE9F-C18E15C47EEB}"/>
              </a:ext>
            </a:extLst>
          </p:cNvPr>
          <p:cNvSpPr>
            <a:spLocks noGrp="1"/>
          </p:cNvSpPr>
          <p:nvPr>
            <p:ph type="sldNum" sz="quarter" idx="11"/>
          </p:nvPr>
        </p:nvSpPr>
        <p:spPr/>
        <p:txBody>
          <a:bodyPr/>
          <a:lstStyle/>
          <a:p>
            <a:fld id="{5763EE98-C176-4152-A50F-E68840BAFA00}" type="slidenum">
              <a:rPr lang="en-US" smtClean="0"/>
              <a:pPr/>
              <a:t>2</a:t>
            </a:fld>
            <a:endParaRPr lang="en-US"/>
          </a:p>
        </p:txBody>
      </p:sp>
      <p:graphicFrame>
        <p:nvGraphicFramePr>
          <p:cNvPr id="35" name="Table 34">
            <a:extLst>
              <a:ext uri="{FF2B5EF4-FFF2-40B4-BE49-F238E27FC236}">
                <a16:creationId xmlns:a16="http://schemas.microsoft.com/office/drawing/2014/main" id="{357212A2-B8C2-3EB9-ABF0-86E2A322B57A}"/>
              </a:ext>
            </a:extLst>
          </p:cNvPr>
          <p:cNvGraphicFramePr>
            <a:graphicFrameLocks noGrp="1"/>
          </p:cNvGraphicFramePr>
          <p:nvPr>
            <p:extLst>
              <p:ext uri="{D42A27DB-BD31-4B8C-83A1-F6EECF244321}">
                <p14:modId xmlns:p14="http://schemas.microsoft.com/office/powerpoint/2010/main" val="1154419095"/>
              </p:ext>
            </p:extLst>
          </p:nvPr>
        </p:nvGraphicFramePr>
        <p:xfrm>
          <a:off x="571500" y="1123704"/>
          <a:ext cx="11049000" cy="5150778"/>
        </p:xfrm>
        <a:graphic>
          <a:graphicData uri="http://schemas.openxmlformats.org/drawingml/2006/table">
            <a:tbl>
              <a:tblPr firstRow="1" bandRow="1">
                <a:tableStyleId>{5940675A-B579-460E-94D1-54222C63F5DA}</a:tableStyleId>
              </a:tblPr>
              <a:tblGrid>
                <a:gridCol w="1895253">
                  <a:extLst>
                    <a:ext uri="{9D8B030D-6E8A-4147-A177-3AD203B41FA5}">
                      <a16:colId xmlns:a16="http://schemas.microsoft.com/office/drawing/2014/main" val="2358574524"/>
                    </a:ext>
                  </a:extLst>
                </a:gridCol>
                <a:gridCol w="9153747">
                  <a:extLst>
                    <a:ext uri="{9D8B030D-6E8A-4147-A177-3AD203B41FA5}">
                      <a16:colId xmlns:a16="http://schemas.microsoft.com/office/drawing/2014/main" val="1478018431"/>
                    </a:ext>
                  </a:extLst>
                </a:gridCol>
              </a:tblGrid>
              <a:tr h="706063">
                <a:tc>
                  <a:txBody>
                    <a:bodyPr/>
                    <a:lstStyle/>
                    <a:p>
                      <a:r>
                        <a:rPr lang="en-US" sz="1400" b="0">
                          <a:solidFill>
                            <a:schemeClr val="accent4"/>
                          </a:solidFill>
                          <a:latin typeface="+mj-lt"/>
                        </a:rPr>
                        <a:t>Purpose</a:t>
                      </a:r>
                    </a:p>
                  </a:txBody>
                  <a:tcPr marL="137160" marR="137160" marT="137160" marB="137160" anchor="ctr">
                    <a:lnL w="12700" cmpd="sng">
                      <a:noFill/>
                    </a:lnL>
                    <a:lnR w="12700" cmpd="sng">
                      <a:noFill/>
                    </a:lnR>
                    <a:lnT w="12700" cmpd="sng">
                      <a:noFill/>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0"/>
                        <a:t>The purpose of this deck is to provide guidance to partners on building and publishing high-quality offers in the marketplace.</a:t>
                      </a:r>
                      <a:endParaRPr lang="en-US" sz="1400" b="0">
                        <a:latin typeface="+mn-lt"/>
                      </a:endParaRPr>
                    </a:p>
                  </a:txBody>
                  <a:tcPr marL="137160" marR="137160" marT="137160" marB="137160" anchor="ctr">
                    <a:lnL w="12700" cmpd="sng">
                      <a:noFill/>
                    </a:lnL>
                    <a:lnR w="12700" cmpd="sng">
                      <a:noFill/>
                    </a:lnR>
                    <a:lnT w="12700" cmpd="sng">
                      <a:noFill/>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60776835"/>
                  </a:ext>
                </a:extLst>
              </a:tr>
              <a:tr h="706063">
                <a:tc>
                  <a:txBody>
                    <a:bodyPr/>
                    <a:lstStyle/>
                    <a:p>
                      <a:r>
                        <a:rPr lang="en-US" sz="1400" b="0">
                          <a:solidFill>
                            <a:schemeClr val="accent4"/>
                          </a:solidFill>
                          <a:latin typeface="+mj-lt"/>
                        </a:rPr>
                        <a:t>Audience</a:t>
                      </a:r>
                    </a:p>
                  </a:txBody>
                  <a:tcPr marL="137160" marR="137160" marT="137160" marB="137160" anchor="ctr">
                    <a:lnL w="12700" cmpd="sng">
                      <a:noFill/>
                    </a:lnL>
                    <a:lnR w="12700" cmpd="sng">
                      <a:noFill/>
                    </a:lnR>
                    <a:lnT w="12700" cap="flat" cmpd="sng" algn="ctr">
                      <a:solidFill>
                        <a:schemeClr val="tx2">
                          <a:lumMod val="50000"/>
                          <a:lumOff val="50000"/>
                        </a:schemeClr>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0"/>
                        <a:t>Microsoft Partners with a Copilot Practice and services</a:t>
                      </a:r>
                    </a:p>
                  </a:txBody>
                  <a:tcPr marL="137160" marR="137160" marT="137160" marB="137160" anchor="ctr">
                    <a:lnL w="12700" cmpd="sng">
                      <a:noFill/>
                    </a:lnL>
                    <a:lnR w="12700" cmpd="sng">
                      <a:noFill/>
                    </a:lnR>
                    <a:lnT w="12700" cap="flat" cmpd="sng" algn="ctr">
                      <a:solidFill>
                        <a:schemeClr val="tx2">
                          <a:lumMod val="50000"/>
                          <a:lumOff val="50000"/>
                        </a:schemeClr>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45425250"/>
                  </a:ext>
                </a:extLst>
              </a:tr>
              <a:tr h="908959">
                <a:tc>
                  <a:txBody>
                    <a:bodyPr/>
                    <a:lstStyle/>
                    <a:p>
                      <a:r>
                        <a:rPr lang="en-US" sz="1400" b="0">
                          <a:solidFill>
                            <a:schemeClr val="accent4"/>
                          </a:solidFill>
                          <a:latin typeface="+mj-lt"/>
                        </a:rPr>
                        <a:t>Usage guidance</a:t>
                      </a:r>
                    </a:p>
                  </a:txBody>
                  <a:tcPr marL="137160" marR="137160" marT="137160" marB="137160" anchor="ctr">
                    <a:lnL w="12700" cmpd="sng">
                      <a:noFill/>
                    </a:lnL>
                    <a:lnR w="12700" cmpd="sng">
                      <a:noFill/>
                    </a:lnR>
                    <a:lnT w="12700" cap="flat" cmpd="sng" algn="ctr">
                      <a:solidFill>
                        <a:schemeClr val="tx2">
                          <a:lumMod val="50000"/>
                          <a:lumOff val="50000"/>
                        </a:schemeClr>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0"/>
                        <a:t>This resource is designed to help you build, update, and publish high-quality offers in the marketplace, specifically related to Microsoft 365 Copilot and targeted at customers. Focus is on partners offering services to drive a Copilot for All strategy with customers covering Microsoft 365 Copilot, Agents, and Copilot Chat.</a:t>
                      </a:r>
                    </a:p>
                  </a:txBody>
                  <a:tcPr marL="137160" marR="137160" marT="137160" marB="137160" anchor="ctr">
                    <a:lnL w="12700" cmpd="sng">
                      <a:noFill/>
                    </a:lnL>
                    <a:lnR w="12700" cmpd="sng">
                      <a:noFill/>
                    </a:lnR>
                    <a:lnT w="12700" cap="flat" cmpd="sng" algn="ctr">
                      <a:solidFill>
                        <a:schemeClr val="tx2">
                          <a:lumMod val="50000"/>
                          <a:lumOff val="50000"/>
                        </a:schemeClr>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23371488"/>
                  </a:ext>
                </a:extLst>
              </a:tr>
              <a:tr h="706063">
                <a:tc>
                  <a:txBody>
                    <a:bodyPr/>
                    <a:lstStyle/>
                    <a:p>
                      <a:r>
                        <a:rPr lang="en-US" sz="1400" b="0">
                          <a:solidFill>
                            <a:schemeClr val="accent4"/>
                          </a:solidFill>
                          <a:latin typeface="+mj-lt"/>
                        </a:rPr>
                        <a:t>Level</a:t>
                      </a:r>
                    </a:p>
                  </a:txBody>
                  <a:tcPr marL="137160" marR="137160" marT="137160" marB="137160" anchor="ctr">
                    <a:lnL w="12700" cmpd="sng">
                      <a:noFill/>
                    </a:lnL>
                    <a:lnR w="12700" cmpd="sng">
                      <a:noFill/>
                    </a:lnR>
                    <a:lnT w="12700" cap="flat" cmpd="sng" algn="ctr">
                      <a:solidFill>
                        <a:schemeClr val="tx2">
                          <a:lumMod val="50000"/>
                          <a:lumOff val="50000"/>
                        </a:schemeClr>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0"/>
                        <a:t>L100</a:t>
                      </a:r>
                      <a:endParaRPr lang="en-US" sz="1400" b="0">
                        <a:latin typeface="+mn-lt"/>
                      </a:endParaRPr>
                    </a:p>
                  </a:txBody>
                  <a:tcPr marL="137160" marR="137160" marT="137160" marB="137160" anchor="ctr">
                    <a:lnL w="12700" cmpd="sng">
                      <a:noFill/>
                    </a:lnL>
                    <a:lnR w="12700" cmpd="sng">
                      <a:noFill/>
                    </a:lnR>
                    <a:lnT w="12700" cap="flat" cmpd="sng" algn="ctr">
                      <a:solidFill>
                        <a:schemeClr val="tx2">
                          <a:lumMod val="50000"/>
                          <a:lumOff val="50000"/>
                        </a:schemeClr>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33230161"/>
                  </a:ext>
                </a:extLst>
              </a:tr>
              <a:tr h="706063">
                <a:tc>
                  <a:txBody>
                    <a:bodyPr/>
                    <a:lstStyle/>
                    <a:p>
                      <a:r>
                        <a:rPr lang="en-US" sz="1400" b="0">
                          <a:solidFill>
                            <a:schemeClr val="accent4"/>
                          </a:solidFill>
                          <a:latin typeface="+mj-lt"/>
                        </a:rPr>
                        <a:t>Deck Owner</a:t>
                      </a:r>
                    </a:p>
                  </a:txBody>
                  <a:tcPr marL="137160" marR="137160" marT="137160" marB="137160" anchor="ctr">
                    <a:lnL w="12700" cmpd="sng">
                      <a:noFill/>
                    </a:lnL>
                    <a:lnR w="12700" cmpd="sng">
                      <a:noFill/>
                    </a:lnR>
                    <a:lnT w="12700" cap="flat" cmpd="sng" algn="ctr">
                      <a:solidFill>
                        <a:schemeClr val="tx2">
                          <a:lumMod val="50000"/>
                          <a:lumOff val="50000"/>
                        </a:schemeClr>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0"/>
                        <a:t>Microsoft 365 Copilot Partner Product Marketing – Modern Work Jumpstart team</a:t>
                      </a:r>
                    </a:p>
                  </a:txBody>
                  <a:tcPr marL="137160" marR="137160" marT="137160" marB="137160" anchor="ctr">
                    <a:lnL w="12700" cmpd="sng">
                      <a:noFill/>
                    </a:lnL>
                    <a:lnR w="12700" cmpd="sng">
                      <a:noFill/>
                    </a:lnR>
                    <a:lnT w="12700" cap="flat" cmpd="sng" algn="ctr">
                      <a:solidFill>
                        <a:schemeClr val="tx2">
                          <a:lumMod val="50000"/>
                          <a:lumOff val="50000"/>
                        </a:schemeClr>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0100419"/>
                  </a:ext>
                </a:extLst>
              </a:tr>
              <a:tr h="706063">
                <a:tc>
                  <a:txBody>
                    <a:bodyPr/>
                    <a:lstStyle/>
                    <a:p>
                      <a:r>
                        <a:rPr lang="en-US" sz="1400" b="0">
                          <a:solidFill>
                            <a:schemeClr val="accent4"/>
                          </a:solidFill>
                          <a:latin typeface="+mj-lt"/>
                        </a:rPr>
                        <a:t>Last edited</a:t>
                      </a:r>
                    </a:p>
                  </a:txBody>
                  <a:tcPr marL="137160" marR="137160" marT="137160" marB="137160" anchor="ctr">
                    <a:lnL w="12700" cmpd="sng">
                      <a:noFill/>
                    </a:lnL>
                    <a:lnR w="12700" cmpd="sng">
                      <a:noFill/>
                    </a:lnR>
                    <a:lnT w="12700" cap="flat" cmpd="sng" algn="ctr">
                      <a:solidFill>
                        <a:schemeClr val="tx2">
                          <a:lumMod val="50000"/>
                          <a:lumOff val="50000"/>
                        </a:schemeClr>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0"/>
                        <a:t>April 2025</a:t>
                      </a:r>
                      <a:endParaRPr lang="en-US" sz="1400" b="0">
                        <a:latin typeface="+mn-lt"/>
                      </a:endParaRPr>
                    </a:p>
                  </a:txBody>
                  <a:tcPr marL="137160" marR="137160" marT="137160" marB="137160" anchor="ctr">
                    <a:lnL w="12700" cmpd="sng">
                      <a:noFill/>
                    </a:lnL>
                    <a:lnR w="12700" cmpd="sng">
                      <a:noFill/>
                    </a:lnR>
                    <a:lnT w="12700" cap="flat" cmpd="sng" algn="ctr">
                      <a:solidFill>
                        <a:schemeClr val="tx2">
                          <a:lumMod val="50000"/>
                          <a:lumOff val="50000"/>
                        </a:schemeClr>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49758633"/>
                  </a:ext>
                </a:extLst>
              </a:tr>
              <a:tr h="706063">
                <a:tc>
                  <a:txBody>
                    <a:bodyPr/>
                    <a:lstStyle/>
                    <a:p>
                      <a:r>
                        <a:rPr lang="en-US" sz="1400" b="0">
                          <a:solidFill>
                            <a:schemeClr val="accent4"/>
                          </a:solidFill>
                          <a:latin typeface="+mj-lt"/>
                        </a:rPr>
                        <a:t>Confidentiality</a:t>
                      </a:r>
                    </a:p>
                  </a:txBody>
                  <a:tcPr marL="137160" marR="137160" marT="137160" marB="137160" anchor="ctr">
                    <a:lnL w="12700" cmpd="sng">
                      <a:noFill/>
                    </a:lnL>
                    <a:lnR w="12700" cmpd="sng">
                      <a:noFill/>
                    </a:lnR>
                    <a:lnT w="12700" cap="flat" cmpd="sng" algn="ctr">
                      <a:solidFill>
                        <a:schemeClr val="tx2">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1"/>
                        <a:t>DO NOT SHARE THIS CONTENT ON SOCIAL MEDIA.</a:t>
                      </a:r>
                      <a:br>
                        <a:rPr lang="en-US" sz="1400" b="0"/>
                      </a:br>
                      <a:r>
                        <a:rPr lang="en-US" sz="1400" b="0"/>
                        <a:t>This deck is only for partner internal use. Do not share with customers or others.</a:t>
                      </a:r>
                      <a:endParaRPr lang="en-US" sz="1400" b="0">
                        <a:latin typeface="+mn-lt"/>
                      </a:endParaRPr>
                    </a:p>
                  </a:txBody>
                  <a:tcPr marL="137160" marR="137160" marT="137160" marB="137160" anchor="ctr">
                    <a:lnL w="12700" cmpd="sng">
                      <a:noFill/>
                    </a:lnL>
                    <a:lnR w="12700" cmpd="sng">
                      <a:noFill/>
                    </a:lnR>
                    <a:lnT w="12700" cap="flat" cmpd="sng" algn="ctr">
                      <a:solidFill>
                        <a:schemeClr val="tx2">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618502"/>
                  </a:ext>
                </a:extLst>
              </a:tr>
            </a:tbl>
          </a:graphicData>
        </a:graphic>
      </p:graphicFrame>
      <p:sp>
        <p:nvSpPr>
          <p:cNvPr id="2" name="Footer Placeholder 1">
            <a:extLst>
              <a:ext uri="{FF2B5EF4-FFF2-40B4-BE49-F238E27FC236}">
                <a16:creationId xmlns:a16="http://schemas.microsoft.com/office/drawing/2014/main" id="{4079409E-D007-8CC7-8CA6-5CB04AF538BC}"/>
              </a:ext>
            </a:extLst>
          </p:cNvPr>
          <p:cNvSpPr>
            <a:spLocks noGrp="1"/>
          </p:cNvSpPr>
          <p:nvPr>
            <p:ph type="ftr" sz="quarter" idx="10"/>
          </p:nvPr>
        </p:nvSpPr>
        <p:spPr/>
        <p:txBody>
          <a:bodyPr/>
          <a:lstStyle/>
          <a:p>
            <a:r>
              <a:rPr lang="en-US"/>
              <a:t>Building Customer-Centric Services offers</a:t>
            </a:r>
          </a:p>
        </p:txBody>
      </p:sp>
    </p:spTree>
    <p:extLst>
      <p:ext uri="{BB962C8B-B14F-4D97-AF65-F5344CB8AC3E}">
        <p14:creationId xmlns:p14="http://schemas.microsoft.com/office/powerpoint/2010/main" val="375629902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39000" b="-3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36D4D-8440-A43D-F3F3-02AE171E395B}"/>
              </a:ext>
            </a:extLst>
          </p:cNvPr>
          <p:cNvSpPr>
            <a:spLocks noGrp="1"/>
          </p:cNvSpPr>
          <p:nvPr>
            <p:ph type="title"/>
          </p:nvPr>
        </p:nvSpPr>
        <p:spPr/>
        <p:txBody>
          <a:bodyPr/>
          <a:lstStyle/>
          <a:p>
            <a:r>
              <a:rPr lang="en-US"/>
              <a:t>Contents</a:t>
            </a:r>
          </a:p>
        </p:txBody>
      </p:sp>
      <p:graphicFrame>
        <p:nvGraphicFramePr>
          <p:cNvPr id="5" name="Table 4">
            <a:extLst>
              <a:ext uri="{FF2B5EF4-FFF2-40B4-BE49-F238E27FC236}">
                <a16:creationId xmlns:a16="http://schemas.microsoft.com/office/drawing/2014/main" id="{21D1A4ED-3C25-4A51-D16C-BB8041700803}"/>
              </a:ext>
            </a:extLst>
          </p:cNvPr>
          <p:cNvGraphicFramePr>
            <a:graphicFrameLocks noGrp="1"/>
          </p:cNvGraphicFramePr>
          <p:nvPr>
            <p:extLst>
              <p:ext uri="{D42A27DB-BD31-4B8C-83A1-F6EECF244321}">
                <p14:modId xmlns:p14="http://schemas.microsoft.com/office/powerpoint/2010/main" val="644766012"/>
              </p:ext>
            </p:extLst>
          </p:nvPr>
        </p:nvGraphicFramePr>
        <p:xfrm>
          <a:off x="3413125" y="1554480"/>
          <a:ext cx="8207375" cy="3444240"/>
        </p:xfrm>
        <a:graphic>
          <a:graphicData uri="http://schemas.openxmlformats.org/drawingml/2006/table">
            <a:tbl>
              <a:tblPr firstRow="1" bandRow="1">
                <a:tableStyleId>{5C22544A-7EE6-4342-B048-85BDC9FD1C3A}</a:tableStyleId>
              </a:tblPr>
              <a:tblGrid>
                <a:gridCol w="2541108">
                  <a:extLst>
                    <a:ext uri="{9D8B030D-6E8A-4147-A177-3AD203B41FA5}">
                      <a16:colId xmlns:a16="http://schemas.microsoft.com/office/drawing/2014/main" val="881222490"/>
                    </a:ext>
                  </a:extLst>
                </a:gridCol>
                <a:gridCol w="5666267">
                  <a:extLst>
                    <a:ext uri="{9D8B030D-6E8A-4147-A177-3AD203B41FA5}">
                      <a16:colId xmlns:a16="http://schemas.microsoft.com/office/drawing/2014/main" val="682744038"/>
                    </a:ext>
                  </a:extLst>
                </a:gridCol>
              </a:tblGrid>
              <a:tr h="370840">
                <a:tc>
                  <a:txBody>
                    <a:bodyPr/>
                    <a:lstStyle/>
                    <a:p>
                      <a:r>
                        <a:rPr lang="en-US" sz="1600" b="0" kern="1200" cap="none" spc="0" baseline="0" dirty="0">
                          <a:ln w="3175">
                            <a:noFill/>
                          </a:ln>
                          <a:gradFill>
                            <a:gsLst>
                              <a:gs pos="70000">
                                <a:srgbClr val="D660FF"/>
                              </a:gs>
                              <a:gs pos="52000">
                                <a:srgbClr val="818EFF"/>
                              </a:gs>
                              <a:gs pos="35000">
                                <a:srgbClr val="2DB4FF"/>
                              </a:gs>
                              <a:gs pos="30000">
                                <a:srgbClr val="2DB4FF"/>
                              </a:gs>
                              <a:gs pos="3000">
                                <a:srgbClr val="0078D4"/>
                              </a:gs>
                              <a:gs pos="97000">
                                <a:srgbClr val="FEA874"/>
                              </a:gs>
                            </a:gsLst>
                            <a:lin ang="3000000" scaled="0"/>
                          </a:gradFill>
                          <a:effectLst/>
                          <a:latin typeface="+mj-lt"/>
                          <a:ea typeface="+mn-ea"/>
                          <a:cs typeface="Segoe UI" pitchFamily="34" charset="0"/>
                        </a:rPr>
                        <a:t>Section</a:t>
                      </a:r>
                    </a:p>
                  </a:txBody>
                  <a:tcPr marL="137160" marR="137160" marT="137160" marB="137160">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32742" rtl="0" eaLnBrk="1" latinLnBrk="0" hangingPunct="1"/>
                      <a:r>
                        <a:rPr lang="en-US" sz="1600" b="0" kern="1200" cap="none" spc="0" baseline="0" dirty="0">
                          <a:ln w="3175">
                            <a:noFill/>
                          </a:ln>
                          <a:gradFill>
                            <a:gsLst>
                              <a:gs pos="70000">
                                <a:srgbClr val="D660FF"/>
                              </a:gs>
                              <a:gs pos="52000">
                                <a:srgbClr val="818EFF"/>
                              </a:gs>
                              <a:gs pos="35000">
                                <a:srgbClr val="2DB4FF"/>
                              </a:gs>
                              <a:gs pos="30000">
                                <a:srgbClr val="2DB4FF"/>
                              </a:gs>
                              <a:gs pos="3000">
                                <a:srgbClr val="0078D4"/>
                              </a:gs>
                              <a:gs pos="97000">
                                <a:srgbClr val="FEA874"/>
                              </a:gs>
                            </a:gsLst>
                            <a:lin ang="3000000" scaled="0"/>
                          </a:gradFill>
                          <a:effectLst/>
                          <a:latin typeface="+mj-lt"/>
                          <a:ea typeface="+mn-ea"/>
                          <a:cs typeface="Segoe UI" pitchFamily="34" charset="0"/>
                        </a:rPr>
                        <a:t>Purpose</a:t>
                      </a:r>
                    </a:p>
                  </a:txBody>
                  <a:tcPr marL="137160" marR="137160" marT="137160" marB="137160">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4423644"/>
                  </a:ext>
                </a:extLst>
              </a:tr>
              <a:tr h="370840">
                <a:tc>
                  <a:txBody>
                    <a:bodyPr/>
                    <a:lstStyle/>
                    <a:p>
                      <a:r>
                        <a:rPr lang="en-US" sz="1200" spc="0" baseline="0" dirty="0">
                          <a:latin typeface="+mj-lt"/>
                        </a:rPr>
                        <a:t>Copilot Partner opportunity</a:t>
                      </a:r>
                    </a:p>
                  </a:txBody>
                  <a:tcPr marL="137160" marR="137160" marT="137160" marB="137160" anchor="ctr">
                    <a:lnL w="12700" cmpd="sng">
                      <a:noFill/>
                    </a:lnL>
                    <a:lnR w="12700" cmpd="sng">
                      <a:noFill/>
                    </a:lnR>
                    <a:lnT w="12700"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US" sz="1200" spc="0" baseline="0" dirty="0">
                          <a:latin typeface="+mn-lt"/>
                        </a:rPr>
                        <a:t>What is the Copilot opportunity? </a:t>
                      </a:r>
                    </a:p>
                    <a:p>
                      <a:pPr marL="285750" indent="-285750">
                        <a:buFont typeface="Arial" panose="020B0604020202020204" pitchFamily="34" charset="0"/>
                        <a:buChar char="•"/>
                      </a:pPr>
                      <a:r>
                        <a:rPr lang="en-US" sz="1200" spc="0" baseline="0" dirty="0">
                          <a:latin typeface="+mn-lt"/>
                        </a:rPr>
                        <a:t>Customer needs</a:t>
                      </a:r>
                    </a:p>
                    <a:p>
                      <a:pPr marL="285750" indent="-285750">
                        <a:buFont typeface="Arial" panose="020B0604020202020204" pitchFamily="34" charset="0"/>
                        <a:buChar char="•"/>
                      </a:pPr>
                      <a:r>
                        <a:rPr lang="en-US" sz="1200" spc="0" baseline="0" dirty="0">
                          <a:latin typeface="+mn-lt"/>
                        </a:rPr>
                        <a:t>Total economic impact</a:t>
                      </a:r>
                    </a:p>
                  </a:txBody>
                  <a:tcPr marL="137160" marR="137160" marT="137160" marB="137160" anchor="ctr">
                    <a:lnL w="12700" cmpd="sng">
                      <a:noFill/>
                    </a:lnL>
                    <a:lnR w="12700" cmpd="sng">
                      <a:noFill/>
                    </a:lnR>
                    <a:lnT w="12700"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9077186"/>
                  </a:ext>
                </a:extLst>
              </a:tr>
              <a:tr h="370840">
                <a:tc>
                  <a:txBody>
                    <a:bodyPr/>
                    <a:lstStyle/>
                    <a:p>
                      <a:r>
                        <a:rPr lang="en-US" sz="1200" spc="0" baseline="0" dirty="0">
                          <a:latin typeface="+mj-lt"/>
                        </a:rPr>
                        <a:t>Copilot Practices</a:t>
                      </a:r>
                    </a:p>
                  </a:txBody>
                  <a:tcPr marL="137160" marR="137160" marT="137160" marB="137160" anchor="ctr">
                    <a:lnL w="12700" cmpd="sng">
                      <a:noFill/>
                    </a:lnL>
                    <a:lnR w="12700" cmpd="sng">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US" sz="1200" spc="0" baseline="0" dirty="0">
                          <a:latin typeface="+mn-lt"/>
                        </a:rPr>
                        <a:t>Overview of ideal Copilot practices to offer in-market</a:t>
                      </a:r>
                    </a:p>
                    <a:p>
                      <a:pPr marL="285750" indent="-285750">
                        <a:buFont typeface="Arial" panose="020B0604020202020204" pitchFamily="34" charset="0"/>
                        <a:buChar char="•"/>
                      </a:pPr>
                      <a:r>
                        <a:rPr lang="en-US" sz="1200" spc="0" baseline="0" dirty="0">
                          <a:latin typeface="+mn-lt"/>
                        </a:rPr>
                        <a:t>Customer GTM guidance</a:t>
                      </a:r>
                    </a:p>
                  </a:txBody>
                  <a:tcPr marL="137160" marR="137160" marT="137160" marB="137160" anchor="ctr">
                    <a:lnL w="12700" cmpd="sng">
                      <a:noFill/>
                    </a:lnL>
                    <a:lnR w="12700" cmpd="sng">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9806782"/>
                  </a:ext>
                </a:extLst>
              </a:tr>
              <a:tr h="370840">
                <a:tc>
                  <a:txBody>
                    <a:bodyPr/>
                    <a:lstStyle/>
                    <a:p>
                      <a:r>
                        <a:rPr lang="en-US" sz="1200" spc="0" baseline="0" dirty="0">
                          <a:latin typeface="+mj-lt"/>
                        </a:rPr>
                        <a:t>Anatomy of an offer</a:t>
                      </a:r>
                    </a:p>
                  </a:txBody>
                  <a:tcPr marL="137160" marR="137160" marT="137160" marB="137160" anchor="ctr">
                    <a:lnL w="12700" cmpd="sng">
                      <a:noFill/>
                    </a:lnL>
                    <a:lnR w="12700" cmpd="sng">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US" sz="1200" spc="0" baseline="0" dirty="0">
                          <a:latin typeface="+mn-lt"/>
                        </a:rPr>
                        <a:t>Ingredients of Copilot offers</a:t>
                      </a:r>
                    </a:p>
                    <a:p>
                      <a:pPr marL="285750" indent="-285750">
                        <a:buFont typeface="Arial" panose="020B0604020202020204" pitchFamily="34" charset="0"/>
                        <a:buChar char="•"/>
                      </a:pPr>
                      <a:r>
                        <a:rPr lang="en-US" sz="1200" spc="0" baseline="0" dirty="0">
                          <a:latin typeface="+mn-lt"/>
                        </a:rPr>
                        <a:t>Key customer messages</a:t>
                      </a:r>
                    </a:p>
                    <a:p>
                      <a:pPr marL="285750" indent="-285750">
                        <a:buFont typeface="Arial" panose="020B0604020202020204" pitchFamily="34" charset="0"/>
                        <a:buChar char="•"/>
                      </a:pPr>
                      <a:r>
                        <a:rPr lang="en-US" sz="1200" spc="0" baseline="0" dirty="0">
                          <a:latin typeface="+mn-lt"/>
                        </a:rPr>
                        <a:t>Offer construct</a:t>
                      </a:r>
                    </a:p>
                  </a:txBody>
                  <a:tcPr marL="137160" marR="137160" marT="137160" marB="137160" anchor="ctr">
                    <a:lnL w="12700" cmpd="sng">
                      <a:noFill/>
                    </a:lnL>
                    <a:lnR w="12700" cmpd="sng">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8881215"/>
                  </a:ext>
                </a:extLst>
              </a:tr>
              <a:tr h="370840">
                <a:tc>
                  <a:txBody>
                    <a:bodyPr/>
                    <a:lstStyle/>
                    <a:p>
                      <a:r>
                        <a:rPr lang="en-US" sz="1200" spc="0" baseline="0" dirty="0">
                          <a:latin typeface="+mj-lt"/>
                        </a:rPr>
                        <a:t>Publishing offer in AppSource/marketplace</a:t>
                      </a:r>
                    </a:p>
                  </a:txBody>
                  <a:tcPr marL="137160" marR="137160" marT="137160" marB="137160" anchor="ctr">
                    <a:lnL w="12700" cmpd="sng">
                      <a:noFill/>
                    </a:lnL>
                    <a:lnR w="12700" cmpd="sng">
                      <a:noFill/>
                    </a:lnR>
                    <a:lnT w="3175"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US" sz="1200" spc="0" baseline="0" dirty="0">
                          <a:latin typeface="+mn-lt"/>
                        </a:rPr>
                        <a:t>Step-by-step guide</a:t>
                      </a:r>
                    </a:p>
                  </a:txBody>
                  <a:tcPr marL="137160" marR="137160" marT="137160" marB="137160" anchor="ctr">
                    <a:lnL w="12700" cmpd="sng">
                      <a:noFill/>
                    </a:lnL>
                    <a:lnR w="12700" cmpd="sng">
                      <a:noFill/>
                    </a:lnR>
                    <a:lnT w="3175"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59734818"/>
                  </a:ext>
                </a:extLst>
              </a:tr>
            </a:tbl>
          </a:graphicData>
        </a:graphic>
      </p:graphicFrame>
      <p:sp>
        <p:nvSpPr>
          <p:cNvPr id="3" name="Footer Placeholder 2">
            <a:extLst>
              <a:ext uri="{FF2B5EF4-FFF2-40B4-BE49-F238E27FC236}">
                <a16:creationId xmlns:a16="http://schemas.microsoft.com/office/drawing/2014/main" id="{E8434E9F-D64A-1588-2D36-16511C057D46}"/>
              </a:ext>
            </a:extLst>
          </p:cNvPr>
          <p:cNvSpPr>
            <a:spLocks noGrp="1"/>
          </p:cNvSpPr>
          <p:nvPr>
            <p:ph type="ftr" sz="quarter" idx="10"/>
          </p:nvPr>
        </p:nvSpPr>
        <p:spPr/>
        <p:txBody>
          <a:bodyPr/>
          <a:lstStyle/>
          <a:p>
            <a:r>
              <a:rPr lang="en-US"/>
              <a:t>Building Customer-Centric Services offers</a:t>
            </a:r>
          </a:p>
        </p:txBody>
      </p:sp>
      <p:sp>
        <p:nvSpPr>
          <p:cNvPr id="4" name="Slide Number Placeholder 3">
            <a:extLst>
              <a:ext uri="{FF2B5EF4-FFF2-40B4-BE49-F238E27FC236}">
                <a16:creationId xmlns:a16="http://schemas.microsoft.com/office/drawing/2014/main" id="{9C554EC8-39B7-950E-4200-13AEC4603CD6}"/>
              </a:ext>
            </a:extLst>
          </p:cNvPr>
          <p:cNvSpPr>
            <a:spLocks noGrp="1"/>
          </p:cNvSpPr>
          <p:nvPr>
            <p:ph type="sldNum" sz="quarter" idx="11"/>
          </p:nvPr>
        </p:nvSpPr>
        <p:spPr/>
        <p:txBody>
          <a:bodyPr/>
          <a:lstStyle/>
          <a:p>
            <a:fld id="{5763EE98-C176-4152-A50F-E68840BAFA00}" type="slidenum">
              <a:rPr lang="en-US" smtClean="0"/>
              <a:pPr/>
              <a:t>3</a:t>
            </a:fld>
            <a:endParaRPr lang="en-US"/>
          </a:p>
        </p:txBody>
      </p:sp>
    </p:spTree>
    <p:extLst>
      <p:ext uri="{BB962C8B-B14F-4D97-AF65-F5344CB8AC3E}">
        <p14:creationId xmlns:p14="http://schemas.microsoft.com/office/powerpoint/2010/main" val="124960936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39000" b="-39000"/>
          </a:stretch>
        </a:blipFill>
        <a:effectLst/>
      </p:bgPr>
    </p:bg>
    <p:spTree>
      <p:nvGrpSpPr>
        <p:cNvPr id="1" name="">
          <a:extLst>
            <a:ext uri="{FF2B5EF4-FFF2-40B4-BE49-F238E27FC236}">
              <a16:creationId xmlns:a16="http://schemas.microsoft.com/office/drawing/2014/main" id="{1B80EA69-7445-BC22-1CE7-F970EE885654}"/>
            </a:ext>
          </a:extLst>
        </p:cNvPr>
        <p:cNvGrpSpPr/>
        <p:nvPr/>
      </p:nvGrpSpPr>
      <p:grpSpPr>
        <a:xfrm>
          <a:off x="0" y="0"/>
          <a:ext cx="0" cy="0"/>
          <a:chOff x="0" y="0"/>
          <a:chExt cx="0" cy="0"/>
        </a:xfrm>
      </p:grpSpPr>
      <p:sp>
        <p:nvSpPr>
          <p:cNvPr id="41" name="Rectangle: Rounded Corners 30">
            <a:extLst>
              <a:ext uri="{FF2B5EF4-FFF2-40B4-BE49-F238E27FC236}">
                <a16:creationId xmlns:a16="http://schemas.microsoft.com/office/drawing/2014/main" id="{5FB12F39-7744-E54E-C766-6439E960C442}"/>
              </a:ext>
            </a:extLst>
          </p:cNvPr>
          <p:cNvSpPr>
            <a:spLocks/>
          </p:cNvSpPr>
          <p:nvPr/>
        </p:nvSpPr>
        <p:spPr bwMode="auto">
          <a:xfrm>
            <a:off x="571500" y="1436688"/>
            <a:ext cx="11049000" cy="4832350"/>
          </a:xfrm>
          <a:prstGeom prst="roundRect">
            <a:avLst>
              <a:gd name="adj" fmla="val 1747"/>
            </a:avLst>
          </a:prstGeom>
          <a:gradFill flip="none" rotWithShape="1">
            <a:gsLst>
              <a:gs pos="0">
                <a:schemeClr val="bg1">
                  <a:alpha val="25000"/>
                </a:schemeClr>
              </a:gs>
              <a:gs pos="100000">
                <a:schemeClr val="bg1">
                  <a:alpha val="74000"/>
                </a:schemeClr>
              </a:gs>
            </a:gsLst>
            <a:path path="circle">
              <a:fillToRect l="100000" t="100000"/>
            </a:path>
            <a:tileRect r="-100000" b="-100000"/>
          </a:gradFill>
          <a:ln w="12700">
            <a:solidFill>
              <a:schemeClr val="bg1"/>
            </a:solidFill>
          </a:ln>
        </p:spPr>
        <p:txBody>
          <a:bodyPr vert="horz" wrap="square" lIns="182880" tIns="91440" rIns="182880" bIns="91440" rtlCol="0" anchor="t" anchorCtr="0">
            <a:noAutofit/>
          </a:bodyPr>
          <a:lstStyle/>
          <a:p>
            <a:pPr defTabSz="932742">
              <a:spcBef>
                <a:spcPts val="600"/>
              </a:spcBef>
              <a:buSzPct val="90000"/>
            </a:pPr>
            <a:endParaRPr lang="en-US" baseline="30000">
              <a:solidFill>
                <a:schemeClr val="tx1"/>
              </a:solidFill>
              <a:cs typeface="Segoe Sans Display" pitchFamily="2" charset="0"/>
            </a:endParaRPr>
          </a:p>
        </p:txBody>
      </p:sp>
      <p:grpSp>
        <p:nvGrpSpPr>
          <p:cNvPr id="46" name="Group 45" descr="Microsoft 365 Copilot logo and title">
            <a:extLst>
              <a:ext uri="{FF2B5EF4-FFF2-40B4-BE49-F238E27FC236}">
                <a16:creationId xmlns:a16="http://schemas.microsoft.com/office/drawing/2014/main" id="{4BE7005A-37C0-34DB-1554-337A671B0EB4}"/>
              </a:ext>
            </a:extLst>
          </p:cNvPr>
          <p:cNvGrpSpPr/>
          <p:nvPr/>
        </p:nvGrpSpPr>
        <p:grpSpPr>
          <a:xfrm>
            <a:off x="611235" y="2971131"/>
            <a:ext cx="4419601" cy="1529880"/>
            <a:chOff x="507999" y="2729908"/>
            <a:chExt cx="4419601" cy="1529880"/>
          </a:xfrm>
        </p:grpSpPr>
        <p:pic>
          <p:nvPicPr>
            <p:cNvPr id="21" name="Picture 4" descr="A logo with a rainbow colored design&#10;&#10;Description automatically generated">
              <a:extLst>
                <a:ext uri="{FF2B5EF4-FFF2-40B4-BE49-F238E27FC236}">
                  <a16:creationId xmlns:a16="http://schemas.microsoft.com/office/drawing/2014/main" id="{D44153FC-B92E-4673-4D32-E98ED828DC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3311" y="2729908"/>
              <a:ext cx="848976" cy="859768"/>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Rounded Corners 18">
              <a:extLst>
                <a:ext uri="{FF2B5EF4-FFF2-40B4-BE49-F238E27FC236}">
                  <a16:creationId xmlns:a16="http://schemas.microsoft.com/office/drawing/2014/main" id="{21EB2697-84AB-C3E0-8C55-8A714851ED00}"/>
                </a:ext>
                <a:ext uri="{C183D7F6-B498-43B3-948B-1728B52AA6E4}">
                  <adec:decorative xmlns:adec="http://schemas.microsoft.com/office/drawing/2017/decorative" val="0"/>
                </a:ext>
              </a:extLst>
            </p:cNvPr>
            <p:cNvSpPr txBox="1">
              <a:spLocks/>
            </p:cNvSpPr>
            <p:nvPr/>
          </p:nvSpPr>
          <p:spPr bwMode="auto">
            <a:xfrm>
              <a:off x="507999" y="3767345"/>
              <a:ext cx="4419601" cy="492443"/>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462" rtl="0" eaLnBrk="1" latinLnBrk="0" hangingPunct="1">
                <a:lnSpc>
                  <a:spcPct val="100000"/>
                </a:lnSpc>
                <a:spcBef>
                  <a:spcPct val="0"/>
                </a:spcBef>
                <a:buNone/>
                <a:defRPr lang="en-US" sz="3599"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246710" rtl="0" eaLnBrk="1" fontAlgn="base" latinLnBrk="0" hangingPunct="1">
                <a:lnSpc>
                  <a:spcPct val="100000"/>
                </a:lnSpc>
                <a:spcBef>
                  <a:spcPct val="0"/>
                </a:spcBef>
                <a:spcAft>
                  <a:spcPct val="0"/>
                </a:spcAft>
                <a:buClrTx/>
                <a:buSzTx/>
                <a:buFontTx/>
                <a:buNone/>
                <a:tabLst/>
                <a:defRPr/>
              </a:pPr>
              <a:r>
                <a:rPr kumimoji="0" lang="en-CA" sz="3200" b="0" i="0" u="none" strike="noStrike" kern="1200" cap="none" spc="-50" normalizeH="0" baseline="0" noProof="0" dirty="0">
                  <a:ln>
                    <a:noFill/>
                  </a:ln>
                  <a:gradFill>
                    <a:gsLst>
                      <a:gs pos="12844">
                        <a:srgbClr val="291817"/>
                      </a:gs>
                      <a:gs pos="38000">
                        <a:srgbClr val="291817"/>
                      </a:gs>
                    </a:gsLst>
                    <a:lin ang="13500000" scaled="1"/>
                  </a:gradFill>
                  <a:effectLst/>
                  <a:uLnTx/>
                  <a:uFillTx/>
                  <a:latin typeface="Segoe Sans Display Semibold"/>
                  <a:ea typeface="+mn-ea"/>
                  <a:cs typeface="Segoe Sans Display Semibold"/>
                </a:rPr>
                <a:t>Microsoft 365</a:t>
              </a:r>
              <a:r>
                <a:rPr kumimoji="0" lang="en-CA" sz="3200" b="0" i="0" u="none" strike="noStrike" kern="1200" cap="none" spc="-50" normalizeH="0" noProof="0" dirty="0">
                  <a:ln>
                    <a:noFill/>
                  </a:ln>
                  <a:gradFill>
                    <a:gsLst>
                      <a:gs pos="12844">
                        <a:srgbClr val="291817"/>
                      </a:gs>
                      <a:gs pos="38000">
                        <a:srgbClr val="291817"/>
                      </a:gs>
                    </a:gsLst>
                    <a:lin ang="13500000" scaled="1"/>
                  </a:gradFill>
                  <a:effectLst/>
                  <a:uLnTx/>
                  <a:uFillTx/>
                  <a:latin typeface="Segoe Sans Display Semibold"/>
                  <a:ea typeface="+mn-ea"/>
                  <a:cs typeface="Segoe Sans Display Semibold"/>
                </a:rPr>
                <a:t> </a:t>
              </a:r>
              <a:r>
                <a:rPr kumimoji="0" lang="en-CA" sz="3200" b="0" i="0" u="none" strike="noStrike" kern="1200" cap="none" spc="-50" normalizeH="0" baseline="0" noProof="0" dirty="0">
                  <a:ln>
                    <a:noFill/>
                  </a:ln>
                  <a:gradFill>
                    <a:gsLst>
                      <a:gs pos="12844">
                        <a:srgbClr val="291817"/>
                      </a:gs>
                      <a:gs pos="38000">
                        <a:srgbClr val="291817"/>
                      </a:gs>
                    </a:gsLst>
                    <a:lin ang="13500000" scaled="1"/>
                  </a:gradFill>
                  <a:effectLst/>
                  <a:uLnTx/>
                  <a:uFillTx/>
                  <a:latin typeface="Segoe Sans Display Semibold"/>
                  <a:ea typeface="+mn-ea"/>
                  <a:cs typeface="Segoe Sans Display Semibold"/>
                </a:rPr>
                <a:t>Copilot</a:t>
              </a:r>
              <a:endParaRPr kumimoji="0" lang="en-US" sz="3200" b="0" i="0" u="none" strike="noStrike" kern="1200" cap="none" spc="-50" normalizeH="0" baseline="0" noProof="0" dirty="0">
                <a:ln w="3175">
                  <a:noFill/>
                </a:ln>
                <a:solidFill>
                  <a:srgbClr val="000000"/>
                </a:solidFill>
                <a:effectLst/>
                <a:uLnTx/>
                <a:uFillTx/>
                <a:latin typeface="Segoe UI Semibold"/>
                <a:ea typeface="+mn-ea"/>
              </a:endParaRPr>
            </a:p>
          </p:txBody>
        </p:sp>
      </p:grpSp>
      <p:grpSp>
        <p:nvGrpSpPr>
          <p:cNvPr id="11" name="Group 10">
            <a:extLst>
              <a:ext uri="{FF2B5EF4-FFF2-40B4-BE49-F238E27FC236}">
                <a16:creationId xmlns:a16="http://schemas.microsoft.com/office/drawing/2014/main" id="{BBD148C9-07BF-69C9-062E-1F367C27AF9D}"/>
              </a:ext>
            </a:extLst>
          </p:cNvPr>
          <p:cNvGrpSpPr/>
          <p:nvPr/>
        </p:nvGrpSpPr>
        <p:grpSpPr>
          <a:xfrm>
            <a:off x="5316219" y="1595211"/>
            <a:ext cx="6141703" cy="594360"/>
            <a:chOff x="5316219" y="1017053"/>
            <a:chExt cx="6141703" cy="594360"/>
          </a:xfrm>
        </p:grpSpPr>
        <p:sp>
          <p:nvSpPr>
            <p:cNvPr id="9" name="Rectangle: Rounded Corners 30">
              <a:extLst>
                <a:ext uri="{FF2B5EF4-FFF2-40B4-BE49-F238E27FC236}">
                  <a16:creationId xmlns:a16="http://schemas.microsoft.com/office/drawing/2014/main" id="{04A75B1D-1CF8-4336-4E32-7DC9359266D8}"/>
                </a:ext>
              </a:extLst>
            </p:cNvPr>
            <p:cNvSpPr>
              <a:spLocks/>
            </p:cNvSpPr>
            <p:nvPr/>
          </p:nvSpPr>
          <p:spPr bwMode="auto">
            <a:xfrm>
              <a:off x="5499099" y="1017053"/>
              <a:ext cx="5958823" cy="594360"/>
            </a:xfrm>
            <a:prstGeom prst="roundRect">
              <a:avLst>
                <a:gd name="adj" fmla="val 6200"/>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0" tIns="0" rIns="0" bIns="0" numCol="1" spcCol="0" rtlCol="0" fromWordArt="0" anchor="ctr" anchorCtr="0" forceAA="0" compatLnSpc="1">
              <a:prstTxWarp prst="textNoShape">
                <a:avLst/>
              </a:prstTxWarp>
              <a:noAutofit/>
            </a:bodyPr>
            <a:lstStyle/>
            <a:p>
              <a:pPr defTabSz="932472" fontAlgn="base">
                <a:spcBef>
                  <a:spcPct val="0"/>
                </a:spcBef>
                <a:spcAft>
                  <a:spcPct val="0"/>
                </a:spcAft>
              </a:pPr>
              <a:r>
                <a:rPr lang="en-US">
                  <a:solidFill>
                    <a:schemeClr val="bg1"/>
                  </a:solidFill>
                  <a:latin typeface="+mj-lt"/>
                  <a:cs typeface="Segoe UI" pitchFamily="34" charset="0"/>
                </a:rPr>
                <a:t>Consistent UI for AI</a:t>
              </a:r>
            </a:p>
          </p:txBody>
        </p:sp>
        <p:sp>
          <p:nvSpPr>
            <p:cNvPr id="10" name="Oval 9">
              <a:extLst>
                <a:ext uri="{FF2B5EF4-FFF2-40B4-BE49-F238E27FC236}">
                  <a16:creationId xmlns:a16="http://schemas.microsoft.com/office/drawing/2014/main" id="{270555E8-852D-CA0E-69BD-AA9E88A20CA7}"/>
                </a:ext>
              </a:extLst>
            </p:cNvPr>
            <p:cNvSpPr>
              <a:spLocks noChangeAspect="1"/>
            </p:cNvSpPr>
            <p:nvPr/>
          </p:nvSpPr>
          <p:spPr bwMode="auto">
            <a:xfrm>
              <a:off x="5316219" y="1136754"/>
              <a:ext cx="365760" cy="365760"/>
            </a:xfrm>
            <a:prstGeom prst="ellipse">
              <a:avLst/>
            </a:prstGeom>
            <a:solidFill>
              <a:schemeClr val="bg1"/>
            </a:solidFill>
            <a:ln w="2540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1" u="none" strike="noStrike" kern="1200" cap="none" spc="0" normalizeH="0" baseline="0" noProof="0">
                  <a:ln>
                    <a:noFill/>
                  </a:ln>
                  <a:solidFill>
                    <a:srgbClr val="0078D4"/>
                  </a:solidFill>
                  <a:effectLst/>
                  <a:uLnTx/>
                  <a:uFillTx/>
                  <a:latin typeface="Segoe Sans Display Semibold" pitchFamily="2" charset="0"/>
                  <a:ea typeface="Segoe UI" pitchFamily="34" charset="0"/>
                  <a:cs typeface="Segoe Sans Display Semibold" pitchFamily="2" charset="0"/>
                </a:rPr>
                <a:t>1</a:t>
              </a:r>
            </a:p>
          </p:txBody>
        </p:sp>
      </p:grpSp>
      <p:grpSp>
        <p:nvGrpSpPr>
          <p:cNvPr id="8" name="Group 7">
            <a:extLst>
              <a:ext uri="{FF2B5EF4-FFF2-40B4-BE49-F238E27FC236}">
                <a16:creationId xmlns:a16="http://schemas.microsoft.com/office/drawing/2014/main" id="{E359A9F1-B7C0-B24C-4A6D-27EE6B4B5819}"/>
              </a:ext>
            </a:extLst>
          </p:cNvPr>
          <p:cNvGrpSpPr/>
          <p:nvPr/>
        </p:nvGrpSpPr>
        <p:grpSpPr>
          <a:xfrm>
            <a:off x="5316219" y="2376771"/>
            <a:ext cx="6141703" cy="594360"/>
            <a:chOff x="5316219" y="1862436"/>
            <a:chExt cx="6141703" cy="594360"/>
          </a:xfrm>
        </p:grpSpPr>
        <p:sp>
          <p:nvSpPr>
            <p:cNvPr id="54" name="Rectangle: Rounded Corners 30">
              <a:extLst>
                <a:ext uri="{FF2B5EF4-FFF2-40B4-BE49-F238E27FC236}">
                  <a16:creationId xmlns:a16="http://schemas.microsoft.com/office/drawing/2014/main" id="{EEE8DE24-BE60-6496-F5F2-A3D43A20D5F6}"/>
                </a:ext>
              </a:extLst>
            </p:cNvPr>
            <p:cNvSpPr>
              <a:spLocks/>
            </p:cNvSpPr>
            <p:nvPr/>
          </p:nvSpPr>
          <p:spPr bwMode="auto">
            <a:xfrm>
              <a:off x="5499099" y="1862436"/>
              <a:ext cx="5958823" cy="594360"/>
            </a:xfrm>
            <a:prstGeom prst="roundRect">
              <a:avLst>
                <a:gd name="adj" fmla="val 6200"/>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0" tIns="0" rIns="0" bIns="0" numCol="1" spcCol="0" rtlCol="0" fromWordArt="0" anchor="ctr" anchorCtr="0" forceAA="0" compatLnSpc="1">
              <a:prstTxWarp prst="textNoShape">
                <a:avLst/>
              </a:prstTxWarp>
              <a:noAutofit/>
            </a:bodyPr>
            <a:lstStyle/>
            <a:p>
              <a:pPr defTabSz="932472" fontAlgn="base">
                <a:spcBef>
                  <a:spcPct val="0"/>
                </a:spcBef>
                <a:spcAft>
                  <a:spcPct val="0"/>
                </a:spcAft>
              </a:pPr>
              <a:r>
                <a:rPr lang="en-US">
                  <a:solidFill>
                    <a:schemeClr val="bg1"/>
                  </a:solidFill>
                  <a:latin typeface="+mj-lt"/>
                  <a:cs typeface="Segoe UI" pitchFamily="34" charset="0"/>
                </a:rPr>
                <a:t>Integrated in the tools millions use every day</a:t>
              </a:r>
            </a:p>
          </p:txBody>
        </p:sp>
        <p:sp>
          <p:nvSpPr>
            <p:cNvPr id="55" name="Oval 54">
              <a:extLst>
                <a:ext uri="{FF2B5EF4-FFF2-40B4-BE49-F238E27FC236}">
                  <a16:creationId xmlns:a16="http://schemas.microsoft.com/office/drawing/2014/main" id="{BDE4838F-2161-29FE-B69C-2991E4E65894}"/>
                </a:ext>
              </a:extLst>
            </p:cNvPr>
            <p:cNvSpPr>
              <a:spLocks noChangeAspect="1"/>
            </p:cNvSpPr>
            <p:nvPr/>
          </p:nvSpPr>
          <p:spPr bwMode="auto">
            <a:xfrm>
              <a:off x="5316219" y="1982137"/>
              <a:ext cx="365760" cy="365760"/>
            </a:xfrm>
            <a:prstGeom prst="ellipse">
              <a:avLst/>
            </a:prstGeom>
            <a:solidFill>
              <a:schemeClr val="bg1"/>
            </a:solidFill>
            <a:ln w="2540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1" u="none" strike="noStrike" kern="1200" cap="none" spc="0" normalizeH="0" baseline="0" noProof="0">
                  <a:ln>
                    <a:noFill/>
                  </a:ln>
                  <a:solidFill>
                    <a:srgbClr val="0078D4"/>
                  </a:solidFill>
                  <a:effectLst/>
                  <a:uLnTx/>
                  <a:uFillTx/>
                  <a:latin typeface="Segoe Sans Display Semibold" pitchFamily="2" charset="0"/>
                  <a:ea typeface="Segoe UI" pitchFamily="34" charset="0"/>
                  <a:cs typeface="Segoe Sans Display Semibold" pitchFamily="2" charset="0"/>
                </a:rPr>
                <a:t>2</a:t>
              </a:r>
            </a:p>
          </p:txBody>
        </p:sp>
      </p:grpSp>
      <p:grpSp>
        <p:nvGrpSpPr>
          <p:cNvPr id="7" name="Group 6">
            <a:extLst>
              <a:ext uri="{FF2B5EF4-FFF2-40B4-BE49-F238E27FC236}">
                <a16:creationId xmlns:a16="http://schemas.microsoft.com/office/drawing/2014/main" id="{DCCDDB5C-6250-C13C-46E7-993444BDDD3F}"/>
              </a:ext>
            </a:extLst>
          </p:cNvPr>
          <p:cNvGrpSpPr/>
          <p:nvPr/>
        </p:nvGrpSpPr>
        <p:grpSpPr>
          <a:xfrm>
            <a:off x="5316219" y="3158331"/>
            <a:ext cx="6141703" cy="594360"/>
            <a:chOff x="5316219" y="2707819"/>
            <a:chExt cx="6141703" cy="594360"/>
          </a:xfrm>
        </p:grpSpPr>
        <p:sp>
          <p:nvSpPr>
            <p:cNvPr id="57" name="Rectangle: Rounded Corners 30">
              <a:extLst>
                <a:ext uri="{FF2B5EF4-FFF2-40B4-BE49-F238E27FC236}">
                  <a16:creationId xmlns:a16="http://schemas.microsoft.com/office/drawing/2014/main" id="{5AA47607-8445-1585-291C-5961A4DD7D67}"/>
                </a:ext>
              </a:extLst>
            </p:cNvPr>
            <p:cNvSpPr>
              <a:spLocks/>
            </p:cNvSpPr>
            <p:nvPr/>
          </p:nvSpPr>
          <p:spPr bwMode="auto">
            <a:xfrm>
              <a:off x="5499099" y="2707819"/>
              <a:ext cx="5958823" cy="594360"/>
            </a:xfrm>
            <a:prstGeom prst="roundRect">
              <a:avLst>
                <a:gd name="adj" fmla="val 6200"/>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0" tIns="0" rIns="0" bIns="0" numCol="1" spcCol="0" rtlCol="0" fromWordArt="0" anchor="ctr" anchorCtr="0" forceAA="0" compatLnSpc="1">
              <a:prstTxWarp prst="textNoShape">
                <a:avLst/>
              </a:prstTxWarp>
              <a:noAutofit/>
            </a:bodyPr>
            <a:lstStyle/>
            <a:p>
              <a:pPr defTabSz="932472" fontAlgn="base">
                <a:spcBef>
                  <a:spcPct val="0"/>
                </a:spcBef>
                <a:spcAft>
                  <a:spcPct val="0"/>
                </a:spcAft>
              </a:pPr>
              <a:r>
                <a:rPr lang="en-US">
                  <a:solidFill>
                    <a:schemeClr val="bg1"/>
                  </a:solidFill>
                  <a:latin typeface="+mj-lt"/>
                  <a:cs typeface="Segoe UI" pitchFamily="34" charset="0"/>
                </a:rPr>
                <a:t>Platform for agents and extensibility</a:t>
              </a:r>
            </a:p>
          </p:txBody>
        </p:sp>
        <p:sp>
          <p:nvSpPr>
            <p:cNvPr id="58" name="Oval 57">
              <a:extLst>
                <a:ext uri="{FF2B5EF4-FFF2-40B4-BE49-F238E27FC236}">
                  <a16:creationId xmlns:a16="http://schemas.microsoft.com/office/drawing/2014/main" id="{05F04CD5-DF41-4EC2-31A5-22B43A22CE3C}"/>
                </a:ext>
              </a:extLst>
            </p:cNvPr>
            <p:cNvSpPr>
              <a:spLocks noChangeAspect="1"/>
            </p:cNvSpPr>
            <p:nvPr/>
          </p:nvSpPr>
          <p:spPr bwMode="auto">
            <a:xfrm>
              <a:off x="5316219" y="2827520"/>
              <a:ext cx="365760" cy="365760"/>
            </a:xfrm>
            <a:prstGeom prst="ellipse">
              <a:avLst/>
            </a:prstGeom>
            <a:solidFill>
              <a:schemeClr val="bg1"/>
            </a:solidFill>
            <a:ln w="2540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1" u="none" strike="noStrike" kern="1200" cap="none" spc="0" normalizeH="0" baseline="0" noProof="0">
                  <a:ln>
                    <a:noFill/>
                  </a:ln>
                  <a:solidFill>
                    <a:srgbClr val="0078D4"/>
                  </a:solidFill>
                  <a:effectLst/>
                  <a:uLnTx/>
                  <a:uFillTx/>
                  <a:latin typeface="Segoe Sans Display Semibold" pitchFamily="2" charset="0"/>
                  <a:ea typeface="Segoe UI" pitchFamily="34" charset="0"/>
                  <a:cs typeface="Segoe Sans Display Semibold" pitchFamily="2" charset="0"/>
                </a:rPr>
                <a:t>3</a:t>
              </a:r>
            </a:p>
          </p:txBody>
        </p:sp>
      </p:grpSp>
      <p:grpSp>
        <p:nvGrpSpPr>
          <p:cNvPr id="6" name="Group 5">
            <a:extLst>
              <a:ext uri="{FF2B5EF4-FFF2-40B4-BE49-F238E27FC236}">
                <a16:creationId xmlns:a16="http://schemas.microsoft.com/office/drawing/2014/main" id="{25D8E4E5-2C6C-FD3C-BBD0-8D1F033E58F8}"/>
              </a:ext>
            </a:extLst>
          </p:cNvPr>
          <p:cNvGrpSpPr/>
          <p:nvPr/>
        </p:nvGrpSpPr>
        <p:grpSpPr>
          <a:xfrm>
            <a:off x="5316219" y="3939891"/>
            <a:ext cx="6141703" cy="594360"/>
            <a:chOff x="5316219" y="3553202"/>
            <a:chExt cx="6141703" cy="594360"/>
          </a:xfrm>
        </p:grpSpPr>
        <p:sp>
          <p:nvSpPr>
            <p:cNvPr id="60" name="Rectangle: Rounded Corners 30">
              <a:extLst>
                <a:ext uri="{FF2B5EF4-FFF2-40B4-BE49-F238E27FC236}">
                  <a16:creationId xmlns:a16="http://schemas.microsoft.com/office/drawing/2014/main" id="{CF8FBC41-686D-B512-76BB-4A16AB9EB058}"/>
                </a:ext>
              </a:extLst>
            </p:cNvPr>
            <p:cNvSpPr>
              <a:spLocks/>
            </p:cNvSpPr>
            <p:nvPr/>
          </p:nvSpPr>
          <p:spPr bwMode="auto">
            <a:xfrm>
              <a:off x="5499099" y="3553202"/>
              <a:ext cx="5958823" cy="594360"/>
            </a:xfrm>
            <a:prstGeom prst="roundRect">
              <a:avLst>
                <a:gd name="adj" fmla="val 6200"/>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0" tIns="0" rIns="0" bIns="0" numCol="1" spcCol="0" rtlCol="0" fromWordArt="0" anchor="ctr" anchorCtr="0" forceAA="0" compatLnSpc="1">
              <a:prstTxWarp prst="textNoShape">
                <a:avLst/>
              </a:prstTxWarp>
              <a:noAutofit/>
            </a:bodyPr>
            <a:lstStyle/>
            <a:p>
              <a:pPr defTabSz="932472" fontAlgn="base">
                <a:spcBef>
                  <a:spcPct val="0"/>
                </a:spcBef>
                <a:spcAft>
                  <a:spcPct val="0"/>
                </a:spcAft>
              </a:pPr>
              <a:r>
                <a:rPr lang="en-US">
                  <a:solidFill>
                    <a:schemeClr val="bg1"/>
                  </a:solidFill>
                  <a:latin typeface="+mj-lt"/>
                  <a:cs typeface="Segoe UI" pitchFamily="34" charset="0"/>
                </a:rPr>
                <a:t>Enterprise-grade security, privacy, and compliance</a:t>
              </a:r>
            </a:p>
          </p:txBody>
        </p:sp>
        <p:sp>
          <p:nvSpPr>
            <p:cNvPr id="61" name="Oval 60">
              <a:extLst>
                <a:ext uri="{FF2B5EF4-FFF2-40B4-BE49-F238E27FC236}">
                  <a16:creationId xmlns:a16="http://schemas.microsoft.com/office/drawing/2014/main" id="{C33F9B45-CFBB-9D8A-0A61-51C553D1A982}"/>
                </a:ext>
              </a:extLst>
            </p:cNvPr>
            <p:cNvSpPr>
              <a:spLocks noChangeAspect="1"/>
            </p:cNvSpPr>
            <p:nvPr/>
          </p:nvSpPr>
          <p:spPr bwMode="auto">
            <a:xfrm>
              <a:off x="5316219" y="3672903"/>
              <a:ext cx="365760" cy="365760"/>
            </a:xfrm>
            <a:prstGeom prst="ellipse">
              <a:avLst/>
            </a:prstGeom>
            <a:solidFill>
              <a:schemeClr val="bg1"/>
            </a:solidFill>
            <a:ln w="2540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1" u="none" strike="noStrike" kern="1200" cap="none" spc="0" normalizeH="0" baseline="0" noProof="0" dirty="0">
                  <a:ln>
                    <a:noFill/>
                  </a:ln>
                  <a:solidFill>
                    <a:srgbClr val="0078D4"/>
                  </a:solidFill>
                  <a:effectLst/>
                  <a:uLnTx/>
                  <a:uFillTx/>
                  <a:latin typeface="Segoe Sans Display Semibold" pitchFamily="2" charset="0"/>
                  <a:ea typeface="Segoe UI" pitchFamily="34" charset="0"/>
                  <a:cs typeface="Segoe Sans Display Semibold" pitchFamily="2" charset="0"/>
                </a:rPr>
                <a:t>4</a:t>
              </a:r>
            </a:p>
          </p:txBody>
        </p:sp>
      </p:grpSp>
      <p:grpSp>
        <p:nvGrpSpPr>
          <p:cNvPr id="3" name="Group 2">
            <a:extLst>
              <a:ext uri="{FF2B5EF4-FFF2-40B4-BE49-F238E27FC236}">
                <a16:creationId xmlns:a16="http://schemas.microsoft.com/office/drawing/2014/main" id="{533C79A6-B622-36D5-77FB-2E8AEDC2677C}"/>
              </a:ext>
            </a:extLst>
          </p:cNvPr>
          <p:cNvGrpSpPr/>
          <p:nvPr/>
        </p:nvGrpSpPr>
        <p:grpSpPr>
          <a:xfrm>
            <a:off x="5316219" y="4721451"/>
            <a:ext cx="6141703" cy="594360"/>
            <a:chOff x="5316219" y="4398585"/>
            <a:chExt cx="6141703" cy="594360"/>
          </a:xfrm>
        </p:grpSpPr>
        <p:sp>
          <p:nvSpPr>
            <p:cNvPr id="63" name="Rectangle: Rounded Corners 30">
              <a:extLst>
                <a:ext uri="{FF2B5EF4-FFF2-40B4-BE49-F238E27FC236}">
                  <a16:creationId xmlns:a16="http://schemas.microsoft.com/office/drawing/2014/main" id="{8EE2E430-2B7E-8C31-96E8-739258176603}"/>
                </a:ext>
              </a:extLst>
            </p:cNvPr>
            <p:cNvSpPr>
              <a:spLocks/>
            </p:cNvSpPr>
            <p:nvPr/>
          </p:nvSpPr>
          <p:spPr bwMode="auto">
            <a:xfrm>
              <a:off x="5499099" y="4398585"/>
              <a:ext cx="5958823" cy="594360"/>
            </a:xfrm>
            <a:prstGeom prst="roundRect">
              <a:avLst>
                <a:gd name="adj" fmla="val 6200"/>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0" tIns="0" rIns="0" bIns="0" numCol="1" spcCol="0" rtlCol="0" fromWordArt="0" anchor="ctr" anchorCtr="0" forceAA="0" compatLnSpc="1">
              <a:prstTxWarp prst="textNoShape">
                <a:avLst/>
              </a:prstTxWarp>
              <a:noAutofit/>
            </a:bodyPr>
            <a:lstStyle/>
            <a:p>
              <a:pPr defTabSz="932472" fontAlgn="base">
                <a:spcBef>
                  <a:spcPct val="0"/>
                </a:spcBef>
                <a:spcAft>
                  <a:spcPct val="0"/>
                </a:spcAft>
              </a:pPr>
              <a:r>
                <a:rPr lang="en-US">
                  <a:solidFill>
                    <a:schemeClr val="bg1"/>
                  </a:solidFill>
                  <a:latin typeface="+mj-lt"/>
                  <a:cs typeface="Segoe UI" pitchFamily="34" charset="0"/>
                </a:rPr>
                <a:t>Flexible purchasing and deployment options</a:t>
              </a:r>
            </a:p>
          </p:txBody>
        </p:sp>
        <p:sp>
          <p:nvSpPr>
            <p:cNvPr id="64" name="Oval 63">
              <a:extLst>
                <a:ext uri="{FF2B5EF4-FFF2-40B4-BE49-F238E27FC236}">
                  <a16:creationId xmlns:a16="http://schemas.microsoft.com/office/drawing/2014/main" id="{3233E7FF-44EE-DA2C-C9FA-63906C11CF3B}"/>
                </a:ext>
              </a:extLst>
            </p:cNvPr>
            <p:cNvSpPr>
              <a:spLocks noChangeAspect="1"/>
            </p:cNvSpPr>
            <p:nvPr/>
          </p:nvSpPr>
          <p:spPr bwMode="auto">
            <a:xfrm>
              <a:off x="5316219" y="4518286"/>
              <a:ext cx="365760" cy="365760"/>
            </a:xfrm>
            <a:prstGeom prst="ellipse">
              <a:avLst/>
            </a:prstGeom>
            <a:solidFill>
              <a:schemeClr val="bg1"/>
            </a:solidFill>
            <a:ln w="2540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1" u="none" strike="noStrike" kern="1200" cap="none" spc="0" normalizeH="0" baseline="0" noProof="0" dirty="0">
                  <a:ln>
                    <a:noFill/>
                  </a:ln>
                  <a:solidFill>
                    <a:srgbClr val="0078D4"/>
                  </a:solidFill>
                  <a:effectLst/>
                  <a:uLnTx/>
                  <a:uFillTx/>
                  <a:latin typeface="Segoe Sans Display Semibold" pitchFamily="2" charset="0"/>
                  <a:ea typeface="Segoe UI" pitchFamily="34" charset="0"/>
                  <a:cs typeface="Segoe Sans Display Semibold" pitchFamily="2" charset="0"/>
                </a:rPr>
                <a:t>5</a:t>
              </a:r>
            </a:p>
          </p:txBody>
        </p:sp>
      </p:grpSp>
      <p:grpSp>
        <p:nvGrpSpPr>
          <p:cNvPr id="4" name="Group 3">
            <a:extLst>
              <a:ext uri="{FF2B5EF4-FFF2-40B4-BE49-F238E27FC236}">
                <a16:creationId xmlns:a16="http://schemas.microsoft.com/office/drawing/2014/main" id="{93A60592-8393-ACDE-8BD8-ABDA69DB96F3}"/>
              </a:ext>
            </a:extLst>
          </p:cNvPr>
          <p:cNvGrpSpPr/>
          <p:nvPr/>
        </p:nvGrpSpPr>
        <p:grpSpPr>
          <a:xfrm>
            <a:off x="5316219" y="5503010"/>
            <a:ext cx="6141703" cy="594360"/>
            <a:chOff x="5316219" y="5503010"/>
            <a:chExt cx="6141703" cy="594360"/>
          </a:xfrm>
        </p:grpSpPr>
        <p:sp>
          <p:nvSpPr>
            <p:cNvPr id="66" name="Rectangle: Rounded Corners 30">
              <a:extLst>
                <a:ext uri="{FF2B5EF4-FFF2-40B4-BE49-F238E27FC236}">
                  <a16:creationId xmlns:a16="http://schemas.microsoft.com/office/drawing/2014/main" id="{5C388282-8D6C-6210-2D17-0E660FB7A4FB}"/>
                </a:ext>
              </a:extLst>
            </p:cNvPr>
            <p:cNvSpPr>
              <a:spLocks/>
            </p:cNvSpPr>
            <p:nvPr/>
          </p:nvSpPr>
          <p:spPr bwMode="auto">
            <a:xfrm>
              <a:off x="5499099" y="5503010"/>
              <a:ext cx="5958823" cy="594360"/>
            </a:xfrm>
            <a:prstGeom prst="roundRect">
              <a:avLst>
                <a:gd name="adj" fmla="val 6200"/>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0" tIns="0" rIns="0" bIns="0" numCol="1" spcCol="0" rtlCol="0" fromWordArt="0" anchor="ctr" anchorCtr="0" forceAA="0" compatLnSpc="1">
              <a:prstTxWarp prst="textNoShape">
                <a:avLst/>
              </a:prstTxWarp>
              <a:noAutofit/>
            </a:bodyPr>
            <a:lstStyle/>
            <a:p>
              <a:pPr defTabSz="932472" fontAlgn="base">
                <a:spcBef>
                  <a:spcPct val="0"/>
                </a:spcBef>
                <a:spcAft>
                  <a:spcPct val="0"/>
                </a:spcAft>
              </a:pPr>
              <a:r>
                <a:rPr lang="en-US" dirty="0">
                  <a:solidFill>
                    <a:schemeClr val="bg1"/>
                  </a:solidFill>
                  <a:latin typeface="+mj-lt"/>
                  <a:cs typeface="Segoe UI" pitchFamily="34" charset="0"/>
                </a:rPr>
                <a:t>Measure AI impact and business value</a:t>
              </a:r>
            </a:p>
          </p:txBody>
        </p:sp>
        <p:sp>
          <p:nvSpPr>
            <p:cNvPr id="67" name="Oval 66">
              <a:extLst>
                <a:ext uri="{FF2B5EF4-FFF2-40B4-BE49-F238E27FC236}">
                  <a16:creationId xmlns:a16="http://schemas.microsoft.com/office/drawing/2014/main" id="{AC9DF6C7-A25B-877A-1DE2-B5A06BA59FCE}"/>
                </a:ext>
              </a:extLst>
            </p:cNvPr>
            <p:cNvSpPr>
              <a:spLocks noChangeAspect="1"/>
            </p:cNvSpPr>
            <p:nvPr/>
          </p:nvSpPr>
          <p:spPr bwMode="auto">
            <a:xfrm>
              <a:off x="5316219" y="5622711"/>
              <a:ext cx="365760" cy="365760"/>
            </a:xfrm>
            <a:prstGeom prst="ellipse">
              <a:avLst/>
            </a:prstGeom>
            <a:solidFill>
              <a:schemeClr val="bg1"/>
            </a:solidFill>
            <a:ln w="2540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1" u="none" strike="noStrike" kern="1200" cap="none" spc="0" normalizeH="0" baseline="0" noProof="0">
                  <a:ln>
                    <a:noFill/>
                  </a:ln>
                  <a:solidFill>
                    <a:srgbClr val="0078D4"/>
                  </a:solidFill>
                  <a:effectLst/>
                  <a:uLnTx/>
                  <a:uFillTx/>
                  <a:latin typeface="Segoe Sans Display Semibold" pitchFamily="2" charset="0"/>
                  <a:ea typeface="Segoe UI" pitchFamily="34" charset="0"/>
                  <a:cs typeface="Segoe Sans Display Semibold" pitchFamily="2" charset="0"/>
                </a:rPr>
                <a:t>6</a:t>
              </a:r>
            </a:p>
          </p:txBody>
        </p:sp>
      </p:grpSp>
      <p:sp>
        <p:nvSpPr>
          <p:cNvPr id="5" name="Title 1">
            <a:extLst>
              <a:ext uri="{FF2B5EF4-FFF2-40B4-BE49-F238E27FC236}">
                <a16:creationId xmlns:a16="http://schemas.microsoft.com/office/drawing/2014/main" id="{44DC6DC3-D54F-00EB-C295-B0A7DD4483AA}"/>
              </a:ext>
            </a:extLst>
          </p:cNvPr>
          <p:cNvSpPr>
            <a:spLocks noGrp="1"/>
          </p:cNvSpPr>
          <p:nvPr>
            <p:ph type="title"/>
          </p:nvPr>
        </p:nvSpPr>
        <p:spPr/>
        <p:txBody>
          <a:bodyPr/>
          <a:lstStyle/>
          <a:p>
            <a:pPr algn="ctr"/>
            <a:r>
              <a:rPr lang="en-US" dirty="0"/>
              <a:t>Why Microsoft 365 Copilot?</a:t>
            </a:r>
          </a:p>
        </p:txBody>
      </p:sp>
      <p:sp>
        <p:nvSpPr>
          <p:cNvPr id="13" name="Footer Placeholder 12">
            <a:extLst>
              <a:ext uri="{FF2B5EF4-FFF2-40B4-BE49-F238E27FC236}">
                <a16:creationId xmlns:a16="http://schemas.microsoft.com/office/drawing/2014/main" id="{B62D187D-36BB-E4D8-867C-6B335B3BE4F5}"/>
              </a:ext>
            </a:extLst>
          </p:cNvPr>
          <p:cNvSpPr>
            <a:spLocks noGrp="1"/>
          </p:cNvSpPr>
          <p:nvPr>
            <p:ph type="ftr" sz="quarter" idx="12"/>
          </p:nvPr>
        </p:nvSpPr>
        <p:spPr/>
        <p:txBody>
          <a:bodyPr/>
          <a:lstStyle/>
          <a:p>
            <a:r>
              <a:rPr lang="en-US"/>
              <a:t>Building Customer-Centric Services offers</a:t>
            </a:r>
          </a:p>
        </p:txBody>
      </p:sp>
      <p:sp>
        <p:nvSpPr>
          <p:cNvPr id="14" name="Slide Number Placeholder 13">
            <a:extLst>
              <a:ext uri="{FF2B5EF4-FFF2-40B4-BE49-F238E27FC236}">
                <a16:creationId xmlns:a16="http://schemas.microsoft.com/office/drawing/2014/main" id="{AA1A3BD1-91A0-A71E-BCE8-280896A6ED86}"/>
              </a:ext>
            </a:extLst>
          </p:cNvPr>
          <p:cNvSpPr>
            <a:spLocks noGrp="1"/>
          </p:cNvSpPr>
          <p:nvPr>
            <p:ph type="sldNum" sz="quarter" idx="13"/>
          </p:nvPr>
        </p:nvSpPr>
        <p:spPr/>
        <p:txBody>
          <a:bodyPr/>
          <a:lstStyle/>
          <a:p>
            <a:fld id="{5763EE98-C176-4152-A50F-E68840BAFA00}" type="slidenum">
              <a:rPr lang="en-US" smtClean="0"/>
              <a:pPr/>
              <a:t>4</a:t>
            </a:fld>
            <a:endParaRPr lang="en-US"/>
          </a:p>
        </p:txBody>
      </p:sp>
    </p:spTree>
    <p:extLst>
      <p:ext uri="{BB962C8B-B14F-4D97-AF65-F5344CB8AC3E}">
        <p14:creationId xmlns:p14="http://schemas.microsoft.com/office/powerpoint/2010/main" val="212685744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39000" b="-39000"/>
          </a:stretch>
        </a:blipFill>
        <a:effectLst/>
      </p:bgPr>
    </p:bg>
    <p:spTree>
      <p:nvGrpSpPr>
        <p:cNvPr id="1" name="">
          <a:extLst>
            <a:ext uri="{FF2B5EF4-FFF2-40B4-BE49-F238E27FC236}">
              <a16:creationId xmlns:a16="http://schemas.microsoft.com/office/drawing/2014/main" id="{FE47A7B4-2116-CFF9-C652-8DD4B3EBAF22}"/>
            </a:ext>
          </a:extLst>
        </p:cNvPr>
        <p:cNvGrpSpPr/>
        <p:nvPr/>
      </p:nvGrpSpPr>
      <p:grpSpPr>
        <a:xfrm>
          <a:off x="0" y="0"/>
          <a:ext cx="0" cy="0"/>
          <a:chOff x="0" y="0"/>
          <a:chExt cx="0" cy="0"/>
        </a:xfrm>
      </p:grpSpPr>
      <p:sp>
        <p:nvSpPr>
          <p:cNvPr id="23" name="Title 22">
            <a:extLst>
              <a:ext uri="{FF2B5EF4-FFF2-40B4-BE49-F238E27FC236}">
                <a16:creationId xmlns:a16="http://schemas.microsoft.com/office/drawing/2014/main" id="{96833057-1E13-FCB0-B53C-A27F65EA4F8F}"/>
              </a:ext>
            </a:extLst>
          </p:cNvPr>
          <p:cNvSpPr>
            <a:spLocks noGrp="1"/>
          </p:cNvSpPr>
          <p:nvPr>
            <p:ph type="title"/>
          </p:nvPr>
        </p:nvSpPr>
        <p:spPr/>
        <p:txBody>
          <a:bodyPr/>
          <a:lstStyle/>
          <a:p>
            <a:r>
              <a:rPr lang="en-US" dirty="0"/>
              <a:t>What sets Microsoft 365 Copilot apart?</a:t>
            </a:r>
            <a:endParaRPr lang="en-US" b="1" i="1" dirty="0"/>
          </a:p>
        </p:txBody>
      </p:sp>
      <p:sp>
        <p:nvSpPr>
          <p:cNvPr id="25" name="Rounded Rectangle 177_1">
            <a:extLst>
              <a:ext uri="{FF2B5EF4-FFF2-40B4-BE49-F238E27FC236}">
                <a16:creationId xmlns:a16="http://schemas.microsoft.com/office/drawing/2014/main" id="{CE6AD478-C242-E522-178A-6B3399C7AEF0}"/>
              </a:ext>
              <a:ext uri="{C183D7F6-B498-43B3-948B-1728B52AA6E4}">
                <adec:decorative xmlns:adec="http://schemas.microsoft.com/office/drawing/2017/decorative" val="1"/>
              </a:ext>
            </a:extLst>
          </p:cNvPr>
          <p:cNvSpPr>
            <a:spLocks/>
          </p:cNvSpPr>
          <p:nvPr/>
        </p:nvSpPr>
        <p:spPr bwMode="auto">
          <a:xfrm>
            <a:off x="588963" y="1641929"/>
            <a:ext cx="3550497" cy="2115788"/>
          </a:xfrm>
          <a:prstGeom prst="roundRect">
            <a:avLst>
              <a:gd name="adj" fmla="val 6200"/>
            </a:avLst>
          </a:prstGeom>
          <a:noFill/>
          <a:ln w="15875">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91F2C"/>
              </a:solidFill>
              <a:effectLst/>
              <a:uLnTx/>
              <a:uFillTx/>
              <a:latin typeface="Segoe UI Semibold"/>
              <a:ea typeface="+mn-ea"/>
              <a:cs typeface="+mn-cs"/>
            </a:endParaRPr>
          </a:p>
        </p:txBody>
      </p:sp>
      <p:sp>
        <p:nvSpPr>
          <p:cNvPr id="26" name="Rounded Rectangle 178_1">
            <a:extLst>
              <a:ext uri="{FF2B5EF4-FFF2-40B4-BE49-F238E27FC236}">
                <a16:creationId xmlns:a16="http://schemas.microsoft.com/office/drawing/2014/main" id="{3F917962-0148-1A6C-F453-F449FE9A2A45}"/>
              </a:ext>
              <a:ext uri="{C183D7F6-B498-43B3-948B-1728B52AA6E4}">
                <adec:decorative xmlns:adec="http://schemas.microsoft.com/office/drawing/2017/decorative" val="1"/>
              </a:ext>
            </a:extLst>
          </p:cNvPr>
          <p:cNvSpPr>
            <a:spLocks/>
          </p:cNvSpPr>
          <p:nvPr/>
        </p:nvSpPr>
        <p:spPr bwMode="auto">
          <a:xfrm>
            <a:off x="4322340" y="1641929"/>
            <a:ext cx="3550497" cy="2115788"/>
          </a:xfrm>
          <a:prstGeom prst="roundRect">
            <a:avLst>
              <a:gd name="adj" fmla="val 6200"/>
            </a:avLst>
          </a:prstGeom>
          <a:noFill/>
          <a:ln w="15875">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91F2C"/>
              </a:solidFill>
              <a:effectLst/>
              <a:uLnTx/>
              <a:uFillTx/>
              <a:latin typeface="Segoe UI Semibold"/>
              <a:ea typeface="+mn-ea"/>
              <a:cs typeface="+mn-cs"/>
            </a:endParaRPr>
          </a:p>
        </p:txBody>
      </p:sp>
      <p:sp>
        <p:nvSpPr>
          <p:cNvPr id="27" name="Rounded Rectangle 179_1">
            <a:extLst>
              <a:ext uri="{FF2B5EF4-FFF2-40B4-BE49-F238E27FC236}">
                <a16:creationId xmlns:a16="http://schemas.microsoft.com/office/drawing/2014/main" id="{F87E5D6F-269B-5425-3789-BF4590032D41}"/>
              </a:ext>
              <a:ext uri="{C183D7F6-B498-43B3-948B-1728B52AA6E4}">
                <adec:decorative xmlns:adec="http://schemas.microsoft.com/office/drawing/2017/decorative" val="1"/>
              </a:ext>
            </a:extLst>
          </p:cNvPr>
          <p:cNvSpPr>
            <a:spLocks/>
          </p:cNvSpPr>
          <p:nvPr/>
        </p:nvSpPr>
        <p:spPr bwMode="auto">
          <a:xfrm>
            <a:off x="8055717" y="1641929"/>
            <a:ext cx="3550497" cy="2115788"/>
          </a:xfrm>
          <a:prstGeom prst="roundRect">
            <a:avLst>
              <a:gd name="adj" fmla="val 6200"/>
            </a:avLst>
          </a:prstGeom>
          <a:noFill/>
          <a:ln w="15875">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91F2C"/>
              </a:solidFill>
              <a:effectLst/>
              <a:uLnTx/>
              <a:uFillTx/>
              <a:latin typeface="Segoe UI Semibold"/>
              <a:ea typeface="+mn-ea"/>
              <a:cs typeface="+mn-cs"/>
            </a:endParaRPr>
          </a:p>
        </p:txBody>
      </p:sp>
      <p:sp>
        <p:nvSpPr>
          <p:cNvPr id="28" name="Rounded Rectangle 180_1">
            <a:extLst>
              <a:ext uri="{FF2B5EF4-FFF2-40B4-BE49-F238E27FC236}">
                <a16:creationId xmlns:a16="http://schemas.microsoft.com/office/drawing/2014/main" id="{C00BBC77-C867-4EDA-70D8-378601517C64}"/>
              </a:ext>
              <a:ext uri="{C183D7F6-B498-43B3-948B-1728B52AA6E4}">
                <adec:decorative xmlns:adec="http://schemas.microsoft.com/office/drawing/2017/decorative" val="1"/>
              </a:ext>
            </a:extLst>
          </p:cNvPr>
          <p:cNvSpPr>
            <a:spLocks/>
          </p:cNvSpPr>
          <p:nvPr/>
        </p:nvSpPr>
        <p:spPr bwMode="auto">
          <a:xfrm>
            <a:off x="588963" y="4101736"/>
            <a:ext cx="3550497" cy="2115788"/>
          </a:xfrm>
          <a:prstGeom prst="roundRect">
            <a:avLst>
              <a:gd name="adj" fmla="val 6200"/>
            </a:avLst>
          </a:prstGeom>
          <a:noFill/>
          <a:ln w="15875">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91F2C"/>
              </a:solidFill>
              <a:effectLst/>
              <a:uLnTx/>
              <a:uFillTx/>
              <a:latin typeface="Segoe UI Semibold"/>
              <a:ea typeface="+mn-ea"/>
              <a:cs typeface="+mn-cs"/>
            </a:endParaRPr>
          </a:p>
        </p:txBody>
      </p:sp>
      <p:sp>
        <p:nvSpPr>
          <p:cNvPr id="29" name="Rounded Rectangle 181_1">
            <a:extLst>
              <a:ext uri="{FF2B5EF4-FFF2-40B4-BE49-F238E27FC236}">
                <a16:creationId xmlns:a16="http://schemas.microsoft.com/office/drawing/2014/main" id="{2F95B492-1AC7-0AED-8126-EFC7B027AC8F}"/>
              </a:ext>
              <a:ext uri="{C183D7F6-B498-43B3-948B-1728B52AA6E4}">
                <adec:decorative xmlns:adec="http://schemas.microsoft.com/office/drawing/2017/decorative" val="1"/>
              </a:ext>
            </a:extLst>
          </p:cNvPr>
          <p:cNvSpPr>
            <a:spLocks/>
          </p:cNvSpPr>
          <p:nvPr/>
        </p:nvSpPr>
        <p:spPr bwMode="auto">
          <a:xfrm>
            <a:off x="4322340" y="4101736"/>
            <a:ext cx="3550497" cy="2115788"/>
          </a:xfrm>
          <a:prstGeom prst="roundRect">
            <a:avLst>
              <a:gd name="adj" fmla="val 6200"/>
            </a:avLst>
          </a:prstGeom>
          <a:noFill/>
          <a:ln w="15875">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91F2C"/>
              </a:solidFill>
              <a:effectLst/>
              <a:uLnTx/>
              <a:uFillTx/>
              <a:latin typeface="Segoe UI Semibold"/>
              <a:ea typeface="+mn-ea"/>
              <a:cs typeface="+mn-cs"/>
            </a:endParaRPr>
          </a:p>
        </p:txBody>
      </p:sp>
      <p:sp>
        <p:nvSpPr>
          <p:cNvPr id="30" name="Rounded Rectangle 182_1">
            <a:extLst>
              <a:ext uri="{FF2B5EF4-FFF2-40B4-BE49-F238E27FC236}">
                <a16:creationId xmlns:a16="http://schemas.microsoft.com/office/drawing/2014/main" id="{7F2342B7-C827-1A97-197C-E5679858FD6C}"/>
              </a:ext>
              <a:ext uri="{C183D7F6-B498-43B3-948B-1728B52AA6E4}">
                <adec:decorative xmlns:adec="http://schemas.microsoft.com/office/drawing/2017/decorative" val="1"/>
              </a:ext>
            </a:extLst>
          </p:cNvPr>
          <p:cNvSpPr>
            <a:spLocks/>
          </p:cNvSpPr>
          <p:nvPr/>
        </p:nvSpPr>
        <p:spPr bwMode="auto">
          <a:xfrm>
            <a:off x="8055717" y="4101736"/>
            <a:ext cx="3550497" cy="2115788"/>
          </a:xfrm>
          <a:prstGeom prst="roundRect">
            <a:avLst>
              <a:gd name="adj" fmla="val 6200"/>
            </a:avLst>
          </a:prstGeom>
          <a:noFill/>
          <a:ln w="15875">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91F2C"/>
              </a:solidFill>
              <a:effectLst/>
              <a:uLnTx/>
              <a:uFillTx/>
              <a:latin typeface="Segoe UI Semibold"/>
              <a:ea typeface="+mn-ea"/>
              <a:cs typeface="+mn-cs"/>
            </a:endParaRPr>
          </a:p>
        </p:txBody>
      </p:sp>
      <p:sp>
        <p:nvSpPr>
          <p:cNvPr id="31" name="Rectangle: Rounded Corners 30">
            <a:extLst>
              <a:ext uri="{FF2B5EF4-FFF2-40B4-BE49-F238E27FC236}">
                <a16:creationId xmlns:a16="http://schemas.microsoft.com/office/drawing/2014/main" id="{7081EA96-69CD-13CE-55A4-BF29C0D3A70E}"/>
              </a:ext>
            </a:extLst>
          </p:cNvPr>
          <p:cNvSpPr>
            <a:spLocks/>
          </p:cNvSpPr>
          <p:nvPr/>
        </p:nvSpPr>
        <p:spPr bwMode="auto">
          <a:xfrm>
            <a:off x="680403" y="1733369"/>
            <a:ext cx="3355150" cy="1931457"/>
          </a:xfrm>
          <a:prstGeom prst="roundRect">
            <a:avLst>
              <a:gd name="adj" fmla="val 6200"/>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vert="horz" wrap="square" lIns="365760" tIns="365760" rIns="365760" bIns="91440" rtlCol="0" anchor="t" anchorCtr="0">
            <a:noAutofit/>
          </a:bodyPr>
          <a:lstStyle/>
          <a:p>
            <a:pPr algn="ctr" defTabSz="932742">
              <a:spcAft>
                <a:spcPts val="600"/>
              </a:spcAft>
              <a:buSzPct val="90000"/>
            </a:pPr>
            <a:r>
              <a:rPr lang="en-US" sz="1600" dirty="0">
                <a:solidFill>
                  <a:schemeClr val="accent4"/>
                </a:solidFill>
                <a:latin typeface="+mj-lt"/>
                <a:cs typeface="Segoe Sans Display" pitchFamily="2" charset="0"/>
              </a:rPr>
              <a:t>Personalized AI-first productivity app</a:t>
            </a:r>
          </a:p>
          <a:p>
            <a:pPr algn="ctr" defTabSz="932742">
              <a:spcAft>
                <a:spcPts val="600"/>
              </a:spcAft>
              <a:buSzPct val="90000"/>
            </a:pPr>
            <a:r>
              <a:rPr lang="en-US" sz="1200" dirty="0">
                <a:solidFill>
                  <a:schemeClr val="tx1"/>
                </a:solidFill>
                <a:cs typeface="Segoe Sans Display" pitchFamily="2" charset="0"/>
              </a:rPr>
              <a:t>M365 Copilot app connects to web, work, and business data and brings together chat, search, apps, and agents</a:t>
            </a:r>
          </a:p>
        </p:txBody>
      </p:sp>
      <p:sp>
        <p:nvSpPr>
          <p:cNvPr id="32" name="Rectangle: Rounded Corners 31">
            <a:extLst>
              <a:ext uri="{FF2B5EF4-FFF2-40B4-BE49-F238E27FC236}">
                <a16:creationId xmlns:a16="http://schemas.microsoft.com/office/drawing/2014/main" id="{E542E42A-56B1-048B-D237-89DD57AC4CF4}"/>
              </a:ext>
            </a:extLst>
          </p:cNvPr>
          <p:cNvSpPr>
            <a:spLocks/>
          </p:cNvSpPr>
          <p:nvPr/>
        </p:nvSpPr>
        <p:spPr bwMode="auto">
          <a:xfrm>
            <a:off x="4418425" y="1765707"/>
            <a:ext cx="3355150" cy="1931457"/>
          </a:xfrm>
          <a:prstGeom prst="roundRect">
            <a:avLst>
              <a:gd name="adj" fmla="val 6200"/>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vert="horz" wrap="square" lIns="365760" tIns="365760" rIns="365760" bIns="91440" rtlCol="0" anchor="t" anchorCtr="0">
            <a:noAutofit/>
          </a:bodyPr>
          <a:lstStyle/>
          <a:p>
            <a:pPr algn="ctr" defTabSz="932742">
              <a:spcAft>
                <a:spcPts val="600"/>
              </a:spcAft>
              <a:buSzPct val="90000"/>
            </a:pPr>
            <a:r>
              <a:rPr lang="en-US" sz="1600" dirty="0">
                <a:solidFill>
                  <a:schemeClr val="accent4"/>
                </a:solidFill>
                <a:latin typeface="+mj-lt"/>
                <a:cs typeface="Segoe Sans Display" pitchFamily="2" charset="0"/>
              </a:rPr>
              <a:t>AI integrated in the tools </a:t>
            </a:r>
            <a:br>
              <a:rPr lang="en-US" sz="1600" dirty="0">
                <a:solidFill>
                  <a:schemeClr val="accent4"/>
                </a:solidFill>
                <a:latin typeface="+mj-lt"/>
                <a:cs typeface="Segoe Sans Display" pitchFamily="2" charset="0"/>
              </a:rPr>
            </a:br>
            <a:r>
              <a:rPr lang="en-US" sz="1600" dirty="0">
                <a:solidFill>
                  <a:schemeClr val="accent4"/>
                </a:solidFill>
                <a:latin typeface="+mj-lt"/>
                <a:cs typeface="Segoe Sans Display" pitchFamily="2" charset="0"/>
              </a:rPr>
              <a:t>millions use every day</a:t>
            </a:r>
          </a:p>
          <a:p>
            <a:pPr algn="ctr" defTabSz="932742">
              <a:spcAft>
                <a:spcPts val="600"/>
              </a:spcAft>
              <a:buSzPct val="90000"/>
            </a:pPr>
            <a:r>
              <a:rPr lang="en-US" sz="1200" dirty="0">
                <a:solidFill>
                  <a:schemeClr val="tx1"/>
                </a:solidFill>
                <a:cs typeface="Segoe Sans Display" pitchFamily="2" charset="0"/>
              </a:rPr>
              <a:t>Copilot in Chat, Teams, Outlook, PowerPoint, Excel, and Word, including personalization and voice</a:t>
            </a:r>
          </a:p>
        </p:txBody>
      </p:sp>
      <p:sp>
        <p:nvSpPr>
          <p:cNvPr id="33" name="Rectangle: Rounded Corners 32">
            <a:extLst>
              <a:ext uri="{FF2B5EF4-FFF2-40B4-BE49-F238E27FC236}">
                <a16:creationId xmlns:a16="http://schemas.microsoft.com/office/drawing/2014/main" id="{119D1268-B205-560C-1131-0403A087276B}"/>
              </a:ext>
            </a:extLst>
          </p:cNvPr>
          <p:cNvSpPr>
            <a:spLocks/>
          </p:cNvSpPr>
          <p:nvPr/>
        </p:nvSpPr>
        <p:spPr bwMode="auto">
          <a:xfrm>
            <a:off x="680403" y="4194408"/>
            <a:ext cx="3355150" cy="1931457"/>
          </a:xfrm>
          <a:prstGeom prst="roundRect">
            <a:avLst>
              <a:gd name="adj" fmla="val 6200"/>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vert="horz" wrap="square" lIns="365760" tIns="365760" rIns="365760" bIns="91440" rtlCol="0" anchor="t" anchorCtr="0">
            <a:noAutofit/>
          </a:bodyPr>
          <a:lstStyle/>
          <a:p>
            <a:pPr algn="ctr" defTabSz="932742">
              <a:spcAft>
                <a:spcPts val="600"/>
              </a:spcAft>
              <a:buSzPct val="90000"/>
            </a:pPr>
            <a:r>
              <a:rPr lang="en-US" sz="1600" dirty="0">
                <a:solidFill>
                  <a:schemeClr val="accent4"/>
                </a:solidFill>
                <a:latin typeface="+mj-lt"/>
                <a:cs typeface="Segoe Sans Display" pitchFamily="2" charset="0"/>
              </a:rPr>
              <a:t>Advanced Reasoning</a:t>
            </a:r>
            <a:br>
              <a:rPr lang="en-US" sz="1600" dirty="0">
                <a:solidFill>
                  <a:schemeClr val="accent4"/>
                </a:solidFill>
                <a:latin typeface="+mj-lt"/>
                <a:cs typeface="Segoe Sans Display" pitchFamily="2" charset="0"/>
              </a:rPr>
            </a:br>
            <a:r>
              <a:rPr lang="en-US" sz="1600" dirty="0">
                <a:solidFill>
                  <a:schemeClr val="accent4"/>
                </a:solidFill>
                <a:latin typeface="+mj-lt"/>
                <a:cs typeface="Segoe Sans Display" pitchFamily="2" charset="0"/>
              </a:rPr>
              <a:t>work agents</a:t>
            </a:r>
          </a:p>
          <a:p>
            <a:pPr algn="ctr" defTabSz="932742">
              <a:spcAft>
                <a:spcPts val="600"/>
              </a:spcAft>
              <a:buSzPct val="90000"/>
            </a:pPr>
            <a:r>
              <a:rPr lang="en-US" sz="1200" dirty="0">
                <a:solidFill>
                  <a:schemeClr val="tx1"/>
                </a:solidFill>
                <a:cs typeface="Segoe Sans Display" pitchFamily="2" charset="0"/>
              </a:rPr>
              <a:t>Researcher and Analyst agents</a:t>
            </a:r>
            <a:br>
              <a:rPr lang="en-US" sz="1200" dirty="0">
                <a:solidFill>
                  <a:schemeClr val="tx1"/>
                </a:solidFill>
                <a:cs typeface="Segoe Sans Display" pitchFamily="2" charset="0"/>
              </a:rPr>
            </a:br>
            <a:r>
              <a:rPr lang="en-US" sz="1200" dirty="0">
                <a:solidFill>
                  <a:schemeClr val="tx1"/>
                </a:solidFill>
                <a:cs typeface="Segoe Sans Display" pitchFamily="2" charset="0"/>
              </a:rPr>
              <a:t>with advanced reasoning over web, work, and business data act</a:t>
            </a:r>
            <a:br>
              <a:rPr lang="en-US" sz="1200" dirty="0">
                <a:solidFill>
                  <a:schemeClr val="tx1"/>
                </a:solidFill>
                <a:cs typeface="Segoe Sans Display" pitchFamily="2" charset="0"/>
              </a:rPr>
            </a:br>
            <a:r>
              <a:rPr lang="en-US" sz="1200" dirty="0">
                <a:solidFill>
                  <a:schemeClr val="tx1"/>
                </a:solidFill>
                <a:cs typeface="Segoe Sans Display" pitchFamily="2" charset="0"/>
              </a:rPr>
              <a:t>as virtual employees</a:t>
            </a:r>
          </a:p>
        </p:txBody>
      </p:sp>
      <p:sp>
        <p:nvSpPr>
          <p:cNvPr id="34" name="Rectangle: Rounded Corners 33">
            <a:extLst>
              <a:ext uri="{FF2B5EF4-FFF2-40B4-BE49-F238E27FC236}">
                <a16:creationId xmlns:a16="http://schemas.microsoft.com/office/drawing/2014/main" id="{AF947B0D-194A-8582-A299-F7B4704449A8}"/>
              </a:ext>
            </a:extLst>
          </p:cNvPr>
          <p:cNvSpPr>
            <a:spLocks/>
          </p:cNvSpPr>
          <p:nvPr/>
        </p:nvSpPr>
        <p:spPr bwMode="auto">
          <a:xfrm>
            <a:off x="4418425" y="4188826"/>
            <a:ext cx="3355150" cy="1931457"/>
          </a:xfrm>
          <a:prstGeom prst="roundRect">
            <a:avLst>
              <a:gd name="adj" fmla="val 6200"/>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vert="horz" wrap="square" lIns="365760" tIns="365760" rIns="365760" bIns="91440" rtlCol="0" anchor="t" anchorCtr="0">
            <a:noAutofit/>
          </a:bodyPr>
          <a:lstStyle/>
          <a:p>
            <a:pPr algn="ctr" defTabSz="932742">
              <a:spcAft>
                <a:spcPts val="600"/>
              </a:spcAft>
              <a:buSzPct val="90000"/>
            </a:pPr>
            <a:r>
              <a:rPr lang="en-US" sz="1600" dirty="0">
                <a:solidFill>
                  <a:schemeClr val="accent4"/>
                </a:solidFill>
                <a:latin typeface="+mj-lt"/>
                <a:cs typeface="Segoe Sans Display" pitchFamily="2" charset="0"/>
              </a:rPr>
              <a:t>Platform for agents</a:t>
            </a:r>
          </a:p>
          <a:p>
            <a:pPr marL="0" lvl="1" algn="ctr">
              <a:spcAft>
                <a:spcPts val="600"/>
              </a:spcAft>
            </a:pPr>
            <a:r>
              <a:rPr lang="en-US" sz="1200" dirty="0">
                <a:solidFill>
                  <a:schemeClr val="tx1"/>
                </a:solidFill>
              </a:rPr>
              <a:t>Extend Copilot with a broad set of</a:t>
            </a:r>
            <a:br>
              <a:rPr lang="en-US" sz="1200" dirty="0">
                <a:solidFill>
                  <a:schemeClr val="tx1"/>
                </a:solidFill>
              </a:rPr>
            </a:br>
            <a:r>
              <a:rPr lang="en-US" sz="1200" dirty="0">
                <a:solidFill>
                  <a:schemeClr val="tx1"/>
                </a:solidFill>
              </a:rPr>
              <a:t>pre-built agents or create your</a:t>
            </a:r>
            <a:br>
              <a:rPr lang="en-US" sz="1200" dirty="0">
                <a:solidFill>
                  <a:schemeClr val="tx1"/>
                </a:solidFill>
              </a:rPr>
            </a:br>
            <a:r>
              <a:rPr lang="en-US" sz="1200" dirty="0">
                <a:solidFill>
                  <a:schemeClr val="tx1"/>
                </a:solidFill>
              </a:rPr>
              <a:t>own with Copilot Studio, all</a:t>
            </a:r>
            <a:br>
              <a:rPr lang="en-US" sz="1200" dirty="0">
                <a:solidFill>
                  <a:schemeClr val="tx1"/>
                </a:solidFill>
              </a:rPr>
            </a:br>
            <a:r>
              <a:rPr lang="en-US" sz="1200" dirty="0">
                <a:solidFill>
                  <a:schemeClr val="tx1"/>
                </a:solidFill>
              </a:rPr>
              <a:t>available in the Agent Store</a:t>
            </a:r>
          </a:p>
        </p:txBody>
      </p:sp>
      <p:sp>
        <p:nvSpPr>
          <p:cNvPr id="35" name="Rectangle: Rounded Corners 34">
            <a:extLst>
              <a:ext uri="{FF2B5EF4-FFF2-40B4-BE49-F238E27FC236}">
                <a16:creationId xmlns:a16="http://schemas.microsoft.com/office/drawing/2014/main" id="{6CD61293-E607-BF90-03BC-901D08F515A7}"/>
              </a:ext>
            </a:extLst>
          </p:cNvPr>
          <p:cNvSpPr>
            <a:spLocks/>
          </p:cNvSpPr>
          <p:nvPr/>
        </p:nvSpPr>
        <p:spPr bwMode="auto">
          <a:xfrm>
            <a:off x="8132313" y="1733369"/>
            <a:ext cx="3355150" cy="1931457"/>
          </a:xfrm>
          <a:prstGeom prst="roundRect">
            <a:avLst>
              <a:gd name="adj" fmla="val 6200"/>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vert="horz" wrap="square" lIns="365760" tIns="365760" rIns="365760" bIns="91440" rtlCol="0" anchor="t" anchorCtr="0">
            <a:noAutofit/>
          </a:bodyPr>
          <a:lstStyle/>
          <a:p>
            <a:pPr algn="ctr" defTabSz="932742">
              <a:spcAft>
                <a:spcPts val="600"/>
              </a:spcAft>
              <a:buSzPct val="90000"/>
            </a:pPr>
            <a:r>
              <a:rPr lang="en-US" sz="1600" dirty="0">
                <a:solidFill>
                  <a:schemeClr val="accent4"/>
                </a:solidFill>
                <a:latin typeface="+mj-lt"/>
                <a:cs typeface="Segoe Sans Display" pitchFamily="2" charset="0"/>
              </a:rPr>
              <a:t>AI Search</a:t>
            </a:r>
          </a:p>
          <a:p>
            <a:pPr marL="0" lvl="1" algn="ctr">
              <a:spcAft>
                <a:spcPts val="600"/>
              </a:spcAft>
            </a:pPr>
            <a:r>
              <a:rPr lang="en-US" sz="1200" dirty="0">
                <a:solidFill>
                  <a:schemeClr val="tx1"/>
                </a:solidFill>
              </a:rPr>
              <a:t>New AI-powered search integrated</a:t>
            </a:r>
            <a:br>
              <a:rPr lang="en-US" sz="1200" dirty="0">
                <a:solidFill>
                  <a:schemeClr val="tx1"/>
                </a:solidFill>
              </a:rPr>
            </a:br>
            <a:r>
              <a:rPr lang="en-US" sz="1200" dirty="0">
                <a:solidFill>
                  <a:schemeClr val="tx1"/>
                </a:solidFill>
              </a:rPr>
              <a:t>with chat and 80+ connectors so you can quickly find disparate information across your organization</a:t>
            </a:r>
          </a:p>
        </p:txBody>
      </p:sp>
      <p:sp>
        <p:nvSpPr>
          <p:cNvPr id="36" name="Rectangle: Rounded Corners 35">
            <a:extLst>
              <a:ext uri="{FF2B5EF4-FFF2-40B4-BE49-F238E27FC236}">
                <a16:creationId xmlns:a16="http://schemas.microsoft.com/office/drawing/2014/main" id="{6A2A13EE-E859-190C-D87E-E75C2A7DB4D3}"/>
              </a:ext>
            </a:extLst>
          </p:cNvPr>
          <p:cNvSpPr>
            <a:spLocks/>
          </p:cNvSpPr>
          <p:nvPr/>
        </p:nvSpPr>
        <p:spPr bwMode="auto">
          <a:xfrm>
            <a:off x="8153390" y="4193902"/>
            <a:ext cx="3355150" cy="1931457"/>
          </a:xfrm>
          <a:prstGeom prst="roundRect">
            <a:avLst>
              <a:gd name="adj" fmla="val 6200"/>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vert="horz" wrap="square" lIns="365760" tIns="365760" rIns="365760" bIns="91440" rtlCol="0" anchor="t" anchorCtr="0">
            <a:noAutofit/>
          </a:bodyPr>
          <a:lstStyle/>
          <a:p>
            <a:pPr algn="ctr" defTabSz="932742">
              <a:spcAft>
                <a:spcPts val="600"/>
              </a:spcAft>
              <a:buSzPct val="90000"/>
            </a:pPr>
            <a:r>
              <a:rPr lang="en-US" sz="1600" dirty="0">
                <a:solidFill>
                  <a:schemeClr val="accent4"/>
                </a:solidFill>
                <a:latin typeface="+mj-lt"/>
                <a:cs typeface="Segoe Sans Display" pitchFamily="2" charset="0"/>
              </a:rPr>
              <a:t>Copilot Control System</a:t>
            </a:r>
          </a:p>
          <a:p>
            <a:pPr marL="0" lvl="1" algn="ctr">
              <a:spcAft>
                <a:spcPts val="600"/>
              </a:spcAft>
            </a:pPr>
            <a:r>
              <a:rPr lang="en-US" sz="1200" dirty="0">
                <a:solidFill>
                  <a:schemeClr val="tx1"/>
                </a:solidFill>
              </a:rPr>
              <a:t>Robust security, management, measurement, and reporting for Copilot + Agents</a:t>
            </a:r>
          </a:p>
        </p:txBody>
      </p:sp>
      <p:sp>
        <p:nvSpPr>
          <p:cNvPr id="3" name="Oval 2">
            <a:extLst>
              <a:ext uri="{FF2B5EF4-FFF2-40B4-BE49-F238E27FC236}">
                <a16:creationId xmlns:a16="http://schemas.microsoft.com/office/drawing/2014/main" id="{1A817991-B513-DD5D-7F6F-02A96C6224A1}"/>
              </a:ext>
            </a:extLst>
          </p:cNvPr>
          <p:cNvSpPr>
            <a:spLocks/>
          </p:cNvSpPr>
          <p:nvPr/>
        </p:nvSpPr>
        <p:spPr bwMode="auto">
          <a:xfrm>
            <a:off x="2149813" y="1420224"/>
            <a:ext cx="457200" cy="457200"/>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a:solidFill>
                  <a:schemeClr val="bg1"/>
                </a:solidFill>
                <a:latin typeface="+mj-lt"/>
                <a:cs typeface="Segoe UI" pitchFamily="34" charset="0"/>
              </a:rPr>
              <a:t>1</a:t>
            </a:r>
          </a:p>
        </p:txBody>
      </p:sp>
      <p:sp>
        <p:nvSpPr>
          <p:cNvPr id="4" name="Oval 3">
            <a:extLst>
              <a:ext uri="{FF2B5EF4-FFF2-40B4-BE49-F238E27FC236}">
                <a16:creationId xmlns:a16="http://schemas.microsoft.com/office/drawing/2014/main" id="{65C044B7-4B95-C98E-7F5C-610E8BBAE57E}"/>
              </a:ext>
            </a:extLst>
          </p:cNvPr>
          <p:cNvSpPr/>
          <p:nvPr/>
        </p:nvSpPr>
        <p:spPr bwMode="auto">
          <a:xfrm>
            <a:off x="5867400" y="1420224"/>
            <a:ext cx="457200" cy="457200"/>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a:solidFill>
                  <a:schemeClr val="bg1"/>
                </a:solidFill>
                <a:latin typeface="+mj-lt"/>
                <a:cs typeface="Segoe UI" pitchFamily="34" charset="0"/>
              </a:rPr>
              <a:t>2</a:t>
            </a:r>
          </a:p>
        </p:txBody>
      </p:sp>
      <p:sp>
        <p:nvSpPr>
          <p:cNvPr id="5" name="Oval 4">
            <a:extLst>
              <a:ext uri="{FF2B5EF4-FFF2-40B4-BE49-F238E27FC236}">
                <a16:creationId xmlns:a16="http://schemas.microsoft.com/office/drawing/2014/main" id="{DF16C10E-608E-D0D3-376B-8B7065B4EA53}"/>
              </a:ext>
            </a:extLst>
          </p:cNvPr>
          <p:cNvSpPr/>
          <p:nvPr/>
        </p:nvSpPr>
        <p:spPr bwMode="auto">
          <a:xfrm>
            <a:off x="9659869" y="1420224"/>
            <a:ext cx="457200" cy="457200"/>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a:solidFill>
                  <a:schemeClr val="bg1"/>
                </a:solidFill>
                <a:latin typeface="+mj-lt"/>
                <a:cs typeface="Segoe UI" pitchFamily="34" charset="0"/>
              </a:rPr>
              <a:t>3</a:t>
            </a:r>
          </a:p>
        </p:txBody>
      </p:sp>
      <p:sp>
        <p:nvSpPr>
          <p:cNvPr id="6" name="Oval 5">
            <a:extLst>
              <a:ext uri="{FF2B5EF4-FFF2-40B4-BE49-F238E27FC236}">
                <a16:creationId xmlns:a16="http://schemas.microsoft.com/office/drawing/2014/main" id="{A3B11BF6-4E1E-BEC1-8A21-A4E8663B7E70}"/>
              </a:ext>
            </a:extLst>
          </p:cNvPr>
          <p:cNvSpPr/>
          <p:nvPr/>
        </p:nvSpPr>
        <p:spPr bwMode="auto">
          <a:xfrm>
            <a:off x="2149813" y="3877447"/>
            <a:ext cx="457200" cy="457200"/>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a:solidFill>
                  <a:schemeClr val="bg1"/>
                </a:solidFill>
                <a:latin typeface="+mj-lt"/>
                <a:cs typeface="Segoe UI" pitchFamily="34" charset="0"/>
              </a:rPr>
              <a:t>4</a:t>
            </a:r>
          </a:p>
        </p:txBody>
      </p:sp>
      <p:sp>
        <p:nvSpPr>
          <p:cNvPr id="7" name="Oval 6">
            <a:extLst>
              <a:ext uri="{FF2B5EF4-FFF2-40B4-BE49-F238E27FC236}">
                <a16:creationId xmlns:a16="http://schemas.microsoft.com/office/drawing/2014/main" id="{8613B55F-A615-DAD4-1FD2-1AA1C4CD2C11}"/>
              </a:ext>
            </a:extLst>
          </p:cNvPr>
          <p:cNvSpPr/>
          <p:nvPr/>
        </p:nvSpPr>
        <p:spPr bwMode="auto">
          <a:xfrm>
            <a:off x="5867400" y="3877447"/>
            <a:ext cx="457200" cy="457200"/>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a:solidFill>
                  <a:schemeClr val="bg1"/>
                </a:solidFill>
                <a:latin typeface="+mj-lt"/>
                <a:cs typeface="Segoe UI" pitchFamily="34" charset="0"/>
              </a:rPr>
              <a:t>5</a:t>
            </a:r>
          </a:p>
        </p:txBody>
      </p:sp>
      <p:sp>
        <p:nvSpPr>
          <p:cNvPr id="8" name="Oval 7">
            <a:extLst>
              <a:ext uri="{FF2B5EF4-FFF2-40B4-BE49-F238E27FC236}">
                <a16:creationId xmlns:a16="http://schemas.microsoft.com/office/drawing/2014/main" id="{0EDA58E2-E8EA-75EA-CCE8-653239AE4BF7}"/>
              </a:ext>
            </a:extLst>
          </p:cNvPr>
          <p:cNvSpPr/>
          <p:nvPr/>
        </p:nvSpPr>
        <p:spPr bwMode="auto">
          <a:xfrm>
            <a:off x="9581288" y="3877447"/>
            <a:ext cx="457200" cy="457200"/>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a:solidFill>
                  <a:schemeClr val="bg1"/>
                </a:solidFill>
                <a:latin typeface="+mj-lt"/>
                <a:cs typeface="Segoe UI" pitchFamily="34" charset="0"/>
              </a:rPr>
              <a:t>6</a:t>
            </a:r>
          </a:p>
        </p:txBody>
      </p:sp>
      <p:sp>
        <p:nvSpPr>
          <p:cNvPr id="9" name="Footer Placeholder 8">
            <a:extLst>
              <a:ext uri="{FF2B5EF4-FFF2-40B4-BE49-F238E27FC236}">
                <a16:creationId xmlns:a16="http://schemas.microsoft.com/office/drawing/2014/main" id="{8F3C97D5-5F4F-A30E-A776-082D522AE62E}"/>
              </a:ext>
            </a:extLst>
          </p:cNvPr>
          <p:cNvSpPr>
            <a:spLocks noGrp="1"/>
          </p:cNvSpPr>
          <p:nvPr>
            <p:ph type="ftr" sz="quarter" idx="12"/>
          </p:nvPr>
        </p:nvSpPr>
        <p:spPr/>
        <p:txBody>
          <a:bodyPr/>
          <a:lstStyle/>
          <a:p>
            <a:r>
              <a:rPr lang="en-US"/>
              <a:t>Building Customer-Centric Services offers</a:t>
            </a:r>
          </a:p>
        </p:txBody>
      </p:sp>
      <p:sp>
        <p:nvSpPr>
          <p:cNvPr id="10" name="Slide Number Placeholder 9">
            <a:extLst>
              <a:ext uri="{FF2B5EF4-FFF2-40B4-BE49-F238E27FC236}">
                <a16:creationId xmlns:a16="http://schemas.microsoft.com/office/drawing/2014/main" id="{7430D0A5-589A-C532-FF56-1F82CD845515}"/>
              </a:ext>
            </a:extLst>
          </p:cNvPr>
          <p:cNvSpPr>
            <a:spLocks noGrp="1"/>
          </p:cNvSpPr>
          <p:nvPr>
            <p:ph type="sldNum" sz="quarter" idx="13"/>
          </p:nvPr>
        </p:nvSpPr>
        <p:spPr/>
        <p:txBody>
          <a:bodyPr/>
          <a:lstStyle/>
          <a:p>
            <a:fld id="{5763EE98-C176-4152-A50F-E68840BAFA00}" type="slidenum">
              <a:rPr lang="en-US" smtClean="0"/>
              <a:pPr/>
              <a:t>5</a:t>
            </a:fld>
            <a:endParaRPr lang="en-US"/>
          </a:p>
        </p:txBody>
      </p:sp>
    </p:spTree>
    <p:extLst>
      <p:ext uri="{BB962C8B-B14F-4D97-AF65-F5344CB8AC3E}">
        <p14:creationId xmlns:p14="http://schemas.microsoft.com/office/powerpoint/2010/main" val="311588106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a:extLst>
            <a:ext uri="{FF2B5EF4-FFF2-40B4-BE49-F238E27FC236}">
              <a16:creationId xmlns:a16="http://schemas.microsoft.com/office/drawing/2014/main" id="{6EC289F6-DCF2-375B-3534-E15DDC21ED93}"/>
            </a:ext>
          </a:extLst>
        </p:cNvPr>
        <p:cNvGrpSpPr/>
        <p:nvPr/>
      </p:nvGrpSpPr>
      <p:grpSpPr>
        <a:xfrm>
          <a:off x="0" y="0"/>
          <a:ext cx="0" cy="0"/>
          <a:chOff x="0" y="0"/>
          <a:chExt cx="0" cy="0"/>
        </a:xfrm>
      </p:grpSpPr>
      <p:sp>
        <p:nvSpPr>
          <p:cNvPr id="13" name="Rectangle: Rounded Corners 34">
            <a:extLst>
              <a:ext uri="{FF2B5EF4-FFF2-40B4-BE49-F238E27FC236}">
                <a16:creationId xmlns:a16="http://schemas.microsoft.com/office/drawing/2014/main" id="{432D6D5A-5E09-3D17-74BF-BDFAC10D04A9}"/>
              </a:ext>
              <a:ext uri="{C183D7F6-B498-43B3-948B-1728B52AA6E4}">
                <adec:decorative xmlns:adec="http://schemas.microsoft.com/office/drawing/2017/decorative" val="1"/>
              </a:ext>
            </a:extLst>
          </p:cNvPr>
          <p:cNvSpPr/>
          <p:nvPr/>
        </p:nvSpPr>
        <p:spPr bwMode="auto">
          <a:xfrm>
            <a:off x="592435" y="1436688"/>
            <a:ext cx="5580062" cy="4755412"/>
          </a:xfrm>
          <a:prstGeom prst="roundRect">
            <a:avLst>
              <a:gd name="adj" fmla="val 2025"/>
            </a:avLst>
          </a:prstGeom>
          <a:gradFill flip="none" rotWithShape="1">
            <a:gsLst>
              <a:gs pos="0">
                <a:schemeClr val="bg1">
                  <a:alpha val="25000"/>
                </a:schemeClr>
              </a:gs>
              <a:gs pos="96552">
                <a:schemeClr val="bg1">
                  <a:alpha val="57000"/>
                </a:schemeClr>
              </a:gs>
            </a:gsLst>
            <a:path path="circle">
              <a:fillToRect l="100000" t="100000"/>
            </a:path>
            <a:tileRect r="-100000" b="-100000"/>
          </a:gradFill>
          <a:ln w="22225">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gradFill>
                <a:gsLst>
                  <a:gs pos="70000">
                    <a:srgbClr val="D660FF"/>
                  </a:gs>
                  <a:gs pos="52000">
                    <a:srgbClr val="818EFF"/>
                  </a:gs>
                  <a:gs pos="35000">
                    <a:srgbClr val="2DB4FF"/>
                  </a:gs>
                  <a:gs pos="30000">
                    <a:srgbClr val="2DB4FF"/>
                  </a:gs>
                  <a:gs pos="3000">
                    <a:srgbClr val="0078D4"/>
                  </a:gs>
                  <a:gs pos="97000">
                    <a:srgbClr val="FEA874"/>
                  </a:gs>
                </a:gsLst>
                <a:lin ang="3000000" scaled="0"/>
              </a:gradFill>
              <a:cs typeface="Segoe UI" pitchFamily="34" charset="0"/>
            </a:endParaRPr>
          </a:p>
        </p:txBody>
      </p:sp>
      <p:sp>
        <p:nvSpPr>
          <p:cNvPr id="15" name="Rectangle: Rounded Corners 14">
            <a:extLst>
              <a:ext uri="{FF2B5EF4-FFF2-40B4-BE49-F238E27FC236}">
                <a16:creationId xmlns:a16="http://schemas.microsoft.com/office/drawing/2014/main" id="{2513FC9C-2E09-2F5A-C5FF-E6D9CA46EAA9}"/>
              </a:ext>
              <a:ext uri="{C183D7F6-B498-43B3-948B-1728B52AA6E4}">
                <adec:decorative xmlns:adec="http://schemas.microsoft.com/office/drawing/2017/decorative" val="1"/>
              </a:ext>
            </a:extLst>
          </p:cNvPr>
          <p:cNvSpPr>
            <a:spLocks/>
          </p:cNvSpPr>
          <p:nvPr/>
        </p:nvSpPr>
        <p:spPr bwMode="auto">
          <a:xfrm>
            <a:off x="751978" y="2611160"/>
            <a:ext cx="2548191" cy="1630928"/>
          </a:xfrm>
          <a:prstGeom prst="roundRect">
            <a:avLst>
              <a:gd name="adj" fmla="val 4207"/>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18" name="Rectangle: Rounded Corners 17">
            <a:extLst>
              <a:ext uri="{FF2B5EF4-FFF2-40B4-BE49-F238E27FC236}">
                <a16:creationId xmlns:a16="http://schemas.microsoft.com/office/drawing/2014/main" id="{26CE8944-921B-A67A-D29B-381921CD5866}"/>
              </a:ext>
              <a:ext uri="{C183D7F6-B498-43B3-948B-1728B52AA6E4}">
                <adec:decorative xmlns:adec="http://schemas.microsoft.com/office/drawing/2017/decorative" val="1"/>
              </a:ext>
            </a:extLst>
          </p:cNvPr>
          <p:cNvSpPr>
            <a:spLocks/>
          </p:cNvSpPr>
          <p:nvPr/>
        </p:nvSpPr>
        <p:spPr bwMode="auto">
          <a:xfrm>
            <a:off x="3464761" y="2611160"/>
            <a:ext cx="2548191" cy="1630928"/>
          </a:xfrm>
          <a:prstGeom prst="roundRect">
            <a:avLst>
              <a:gd name="adj" fmla="val 4207"/>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19" name="Rectangle: Rounded Corners 18">
            <a:extLst>
              <a:ext uri="{FF2B5EF4-FFF2-40B4-BE49-F238E27FC236}">
                <a16:creationId xmlns:a16="http://schemas.microsoft.com/office/drawing/2014/main" id="{6A708A15-D12B-9CAB-17F6-47E47D443246}"/>
              </a:ext>
              <a:ext uri="{C183D7F6-B498-43B3-948B-1728B52AA6E4}">
                <adec:decorative xmlns:adec="http://schemas.microsoft.com/office/drawing/2017/decorative" val="1"/>
              </a:ext>
            </a:extLst>
          </p:cNvPr>
          <p:cNvSpPr>
            <a:spLocks/>
          </p:cNvSpPr>
          <p:nvPr/>
        </p:nvSpPr>
        <p:spPr bwMode="auto">
          <a:xfrm>
            <a:off x="751978" y="4401630"/>
            <a:ext cx="2548191" cy="1630928"/>
          </a:xfrm>
          <a:prstGeom prst="roundRect">
            <a:avLst>
              <a:gd name="adj" fmla="val 4207"/>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20" name="Rectangle: Rounded Corners 19">
            <a:extLst>
              <a:ext uri="{FF2B5EF4-FFF2-40B4-BE49-F238E27FC236}">
                <a16:creationId xmlns:a16="http://schemas.microsoft.com/office/drawing/2014/main" id="{2E15778D-FFB5-2A2A-FCB2-DB37C4480A6D}"/>
              </a:ext>
              <a:ext uri="{C183D7F6-B498-43B3-948B-1728B52AA6E4}">
                <adec:decorative xmlns:adec="http://schemas.microsoft.com/office/drawing/2017/decorative" val="1"/>
              </a:ext>
            </a:extLst>
          </p:cNvPr>
          <p:cNvSpPr>
            <a:spLocks/>
          </p:cNvSpPr>
          <p:nvPr/>
        </p:nvSpPr>
        <p:spPr bwMode="auto">
          <a:xfrm>
            <a:off x="3464761" y="4401630"/>
            <a:ext cx="2548191" cy="1630928"/>
          </a:xfrm>
          <a:prstGeom prst="roundRect">
            <a:avLst>
              <a:gd name="adj" fmla="val 4207"/>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21" name="TextBox 20">
            <a:extLst>
              <a:ext uri="{FF2B5EF4-FFF2-40B4-BE49-F238E27FC236}">
                <a16:creationId xmlns:a16="http://schemas.microsoft.com/office/drawing/2014/main" id="{2BA769E9-65A2-3315-D6C6-42847EBF7380}"/>
              </a:ext>
              <a:ext uri="{C183D7F6-B498-43B3-948B-1728B52AA6E4}">
                <adec:decorative xmlns:adec="http://schemas.microsoft.com/office/drawing/2017/decorative" val="0"/>
              </a:ext>
            </a:extLst>
          </p:cNvPr>
          <p:cNvSpPr txBox="1">
            <a:spLocks/>
          </p:cNvSpPr>
          <p:nvPr/>
        </p:nvSpPr>
        <p:spPr>
          <a:xfrm>
            <a:off x="751978" y="1566545"/>
            <a:ext cx="5283992" cy="885073"/>
          </a:xfrm>
          <a:prstGeom prst="roundRect">
            <a:avLst>
              <a:gd name="adj" fmla="val 11059"/>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defTabSz="932472" fontAlgn="base">
              <a:spcBef>
                <a:spcPct val="0"/>
              </a:spcBef>
              <a:spcAft>
                <a:spcPct val="0"/>
              </a:spcAft>
              <a:defRPr>
                <a:solidFill>
                  <a:schemeClr val="bg1"/>
                </a:solidFill>
                <a:latin typeface="+mj-lt"/>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Microsoft </a:t>
            </a:r>
            <a:br>
              <a:rPr lang="en-US" dirty="0"/>
            </a:br>
            <a:r>
              <a:rPr lang="en-US" dirty="0"/>
              <a:t>commitments and controls</a:t>
            </a:r>
          </a:p>
        </p:txBody>
      </p:sp>
      <p:sp>
        <p:nvSpPr>
          <p:cNvPr id="25" name="Graphic 55" descr="Icon of a shield with a checkmark">
            <a:extLst>
              <a:ext uri="{FF2B5EF4-FFF2-40B4-BE49-F238E27FC236}">
                <a16:creationId xmlns:a16="http://schemas.microsoft.com/office/drawing/2014/main" id="{EC46E32B-FB31-4A1C-25E9-6F2DBBF925AA}"/>
              </a:ext>
            </a:extLst>
          </p:cNvPr>
          <p:cNvSpPr/>
          <p:nvPr/>
        </p:nvSpPr>
        <p:spPr>
          <a:xfrm>
            <a:off x="1767857" y="2833954"/>
            <a:ext cx="516432" cy="573812"/>
          </a:xfrm>
          <a:custGeom>
            <a:avLst/>
            <a:gdLst>
              <a:gd name="connsiteX0" fmla="*/ 339367 w 444042"/>
              <a:gd name="connsiteY0" fmla="*/ 180155 h 493380"/>
              <a:gd name="connsiteX1" fmla="*/ 340504 w 444042"/>
              <a:gd name="connsiteY1" fmla="*/ 154014 h 493380"/>
              <a:gd name="connsiteX2" fmla="*/ 314363 w 444042"/>
              <a:gd name="connsiteY2" fmla="*/ 152878 h 493380"/>
              <a:gd name="connsiteX3" fmla="*/ 179408 w 444042"/>
              <a:gd name="connsiteY3" fmla="*/ 276587 h 493380"/>
              <a:gd name="connsiteX4" fmla="*/ 130261 w 444042"/>
              <a:gd name="connsiteY4" fmla="*/ 227441 h 493380"/>
              <a:gd name="connsiteX5" fmla="*/ 104095 w 444042"/>
              <a:gd name="connsiteY5" fmla="*/ 227441 h 493380"/>
              <a:gd name="connsiteX6" fmla="*/ 104095 w 444042"/>
              <a:gd name="connsiteY6" fmla="*/ 253605 h 493380"/>
              <a:gd name="connsiteX7" fmla="*/ 165768 w 444042"/>
              <a:gd name="connsiteY7" fmla="*/ 315278 h 493380"/>
              <a:gd name="connsiteX8" fmla="*/ 191353 w 444042"/>
              <a:gd name="connsiteY8" fmla="*/ 315835 h 493380"/>
              <a:gd name="connsiteX9" fmla="*/ 339367 w 444042"/>
              <a:gd name="connsiteY9" fmla="*/ 180155 h 493380"/>
              <a:gd name="connsiteX10" fmla="*/ 425541 w 444042"/>
              <a:gd name="connsiteY10" fmla="*/ 74007 h 493380"/>
              <a:gd name="connsiteX11" fmla="*/ 233122 w 444042"/>
              <a:gd name="connsiteY11" fmla="*/ 3700 h 493380"/>
              <a:gd name="connsiteX12" fmla="*/ 210920 w 444042"/>
              <a:gd name="connsiteY12" fmla="*/ 3700 h 493380"/>
              <a:gd name="connsiteX13" fmla="*/ 18502 w 444042"/>
              <a:gd name="connsiteY13" fmla="*/ 74007 h 493380"/>
              <a:gd name="connsiteX14" fmla="*/ 0 w 444042"/>
              <a:gd name="connsiteY14" fmla="*/ 92509 h 493380"/>
              <a:gd name="connsiteX15" fmla="*/ 0 w 444042"/>
              <a:gd name="connsiteY15" fmla="*/ 222021 h 493380"/>
              <a:gd name="connsiteX16" fmla="*/ 215240 w 444042"/>
              <a:gd name="connsiteY16" fmla="*/ 492093 h 493380"/>
              <a:gd name="connsiteX17" fmla="*/ 228803 w 444042"/>
              <a:gd name="connsiteY17" fmla="*/ 492093 h 493380"/>
              <a:gd name="connsiteX18" fmla="*/ 444043 w 444042"/>
              <a:gd name="connsiteY18" fmla="*/ 222021 h 493380"/>
              <a:gd name="connsiteX19" fmla="*/ 444043 w 444042"/>
              <a:gd name="connsiteY19" fmla="*/ 92509 h 493380"/>
              <a:gd name="connsiteX20" fmla="*/ 425541 w 444042"/>
              <a:gd name="connsiteY20" fmla="*/ 74007 h 493380"/>
              <a:gd name="connsiteX21" fmla="*/ 37004 w 444042"/>
              <a:gd name="connsiteY21" fmla="*/ 110466 h 493380"/>
              <a:gd name="connsiteX22" fmla="*/ 222021 w 444042"/>
              <a:gd name="connsiteY22" fmla="*/ 41390 h 493380"/>
              <a:gd name="connsiteX23" fmla="*/ 407039 w 444042"/>
              <a:gd name="connsiteY23" fmla="*/ 110466 h 493380"/>
              <a:gd name="connsiteX24" fmla="*/ 407039 w 444042"/>
              <a:gd name="connsiteY24" fmla="*/ 222021 h 493380"/>
              <a:gd name="connsiteX25" fmla="*/ 222021 w 444042"/>
              <a:gd name="connsiteY25" fmla="*/ 454944 h 493380"/>
              <a:gd name="connsiteX26" fmla="*/ 37004 w 444042"/>
              <a:gd name="connsiteY26" fmla="*/ 222021 h 493380"/>
              <a:gd name="connsiteX27" fmla="*/ 37004 w 444042"/>
              <a:gd name="connsiteY27" fmla="*/ 110466 h 493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44042" h="493380">
                <a:moveTo>
                  <a:pt x="339367" y="180155"/>
                </a:moveTo>
                <a:cubicBezTo>
                  <a:pt x="346899" y="173250"/>
                  <a:pt x="347409" y="161546"/>
                  <a:pt x="340504" y="154014"/>
                </a:cubicBezTo>
                <a:cubicBezTo>
                  <a:pt x="333599" y="146482"/>
                  <a:pt x="321894" y="145973"/>
                  <a:pt x="314363" y="152878"/>
                </a:cubicBezTo>
                <a:lnTo>
                  <a:pt x="179408" y="276587"/>
                </a:lnTo>
                <a:lnTo>
                  <a:pt x="130261" y="227441"/>
                </a:lnTo>
                <a:cubicBezTo>
                  <a:pt x="123035" y="220216"/>
                  <a:pt x="111321" y="220216"/>
                  <a:pt x="104095" y="227441"/>
                </a:cubicBezTo>
                <a:cubicBezTo>
                  <a:pt x="96870" y="234667"/>
                  <a:pt x="96870" y="246380"/>
                  <a:pt x="104095" y="253605"/>
                </a:cubicBezTo>
                <a:lnTo>
                  <a:pt x="165768" y="315278"/>
                </a:lnTo>
                <a:cubicBezTo>
                  <a:pt x="172772" y="322284"/>
                  <a:pt x="184051" y="322528"/>
                  <a:pt x="191353" y="315835"/>
                </a:cubicBezTo>
                <a:lnTo>
                  <a:pt x="339367" y="180155"/>
                </a:lnTo>
                <a:close/>
                <a:moveTo>
                  <a:pt x="425541" y="74007"/>
                </a:moveTo>
                <a:cubicBezTo>
                  <a:pt x="359837" y="74007"/>
                  <a:pt x="295831" y="50732"/>
                  <a:pt x="233122" y="3700"/>
                </a:cubicBezTo>
                <a:cubicBezTo>
                  <a:pt x="226543" y="-1233"/>
                  <a:pt x="217500" y="-1233"/>
                  <a:pt x="210920" y="3700"/>
                </a:cubicBezTo>
                <a:cubicBezTo>
                  <a:pt x="148211" y="50732"/>
                  <a:pt x="84206" y="74007"/>
                  <a:pt x="18502" y="74007"/>
                </a:cubicBezTo>
                <a:cubicBezTo>
                  <a:pt x="8284" y="74007"/>
                  <a:pt x="0" y="82291"/>
                  <a:pt x="0" y="92509"/>
                </a:cubicBezTo>
                <a:lnTo>
                  <a:pt x="0" y="222021"/>
                </a:lnTo>
                <a:cubicBezTo>
                  <a:pt x="0" y="345396"/>
                  <a:pt x="72960" y="436043"/>
                  <a:pt x="215240" y="492093"/>
                </a:cubicBezTo>
                <a:cubicBezTo>
                  <a:pt x="219599" y="493810"/>
                  <a:pt x="224444" y="493810"/>
                  <a:pt x="228803" y="492093"/>
                </a:cubicBezTo>
                <a:cubicBezTo>
                  <a:pt x="371082" y="436043"/>
                  <a:pt x="444043" y="345396"/>
                  <a:pt x="444043" y="222021"/>
                </a:cubicBezTo>
                <a:lnTo>
                  <a:pt x="444043" y="92509"/>
                </a:lnTo>
                <a:cubicBezTo>
                  <a:pt x="444043" y="82291"/>
                  <a:pt x="435759" y="74007"/>
                  <a:pt x="425541" y="74007"/>
                </a:cubicBezTo>
                <a:close/>
                <a:moveTo>
                  <a:pt x="37004" y="110466"/>
                </a:moveTo>
                <a:cubicBezTo>
                  <a:pt x="100584" y="106715"/>
                  <a:pt x="162343" y="83586"/>
                  <a:pt x="222021" y="41390"/>
                </a:cubicBezTo>
                <a:cubicBezTo>
                  <a:pt x="281701" y="83586"/>
                  <a:pt x="343460" y="106715"/>
                  <a:pt x="407039" y="110466"/>
                </a:cubicBezTo>
                <a:lnTo>
                  <a:pt x="407039" y="222021"/>
                </a:lnTo>
                <a:cubicBezTo>
                  <a:pt x="407039" y="327003"/>
                  <a:pt x="346516" y="404052"/>
                  <a:pt x="222021" y="454944"/>
                </a:cubicBezTo>
                <a:cubicBezTo>
                  <a:pt x="97526" y="404052"/>
                  <a:pt x="37004" y="327003"/>
                  <a:pt x="37004" y="222021"/>
                </a:cubicBezTo>
                <a:lnTo>
                  <a:pt x="37004" y="110466"/>
                </a:lnTo>
                <a:close/>
              </a:path>
            </a:pathLst>
          </a:cu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solidFill>
                <a:schemeClr val="bg1"/>
              </a:solidFill>
              <a:latin typeface="+mj-lt"/>
              <a:cs typeface="Segoe UI" pitchFamily="34" charset="0"/>
            </a:endParaRPr>
          </a:p>
        </p:txBody>
      </p:sp>
      <p:sp>
        <p:nvSpPr>
          <p:cNvPr id="26" name="TextBox 25">
            <a:extLst>
              <a:ext uri="{FF2B5EF4-FFF2-40B4-BE49-F238E27FC236}">
                <a16:creationId xmlns:a16="http://schemas.microsoft.com/office/drawing/2014/main" id="{4F8D69DC-7D7D-FA27-1A83-725CCBE0D1B1}"/>
              </a:ext>
            </a:extLst>
          </p:cNvPr>
          <p:cNvSpPr txBox="1"/>
          <p:nvPr/>
        </p:nvSpPr>
        <p:spPr>
          <a:xfrm>
            <a:off x="931348" y="3620410"/>
            <a:ext cx="2189452" cy="430887"/>
          </a:xfrm>
          <a:prstGeom prst="rect">
            <a:avLst/>
          </a:prstGeom>
          <a:noFill/>
        </p:spPr>
        <p:txBody>
          <a:bodyPr wrap="square" lIns="0" tIns="0" rIns="0" bIns="0" anchor="t">
            <a:spAutoFit/>
          </a:bodyPr>
          <a:lstStyle/>
          <a:p>
            <a:pPr marL="0" marR="0" lvl="0" indent="0" algn="ctr" defTabSz="811684"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prstClr val="black"/>
                </a:solidFill>
                <a:effectLst/>
                <a:uLnTx/>
                <a:uFillTx/>
                <a:ea typeface="+mn-ea"/>
                <a:cs typeface="+mn-cs"/>
              </a:rPr>
              <a:t>We secure your data at rest and in transit</a:t>
            </a:r>
            <a:endParaRPr kumimoji="0" lang="en-US" sz="1200" b="0" i="0" u="none" strike="noStrike" kern="1200" cap="none" spc="0" normalizeH="0" baseline="0" noProof="0" dirty="0">
              <a:ln>
                <a:noFill/>
              </a:ln>
              <a:solidFill>
                <a:prstClr val="black"/>
              </a:solidFill>
              <a:effectLst/>
              <a:uLnTx/>
              <a:uFillTx/>
              <a:ea typeface="+mn-ea"/>
              <a:cs typeface="+mn-cs"/>
            </a:endParaRPr>
          </a:p>
        </p:txBody>
      </p:sp>
      <p:sp>
        <p:nvSpPr>
          <p:cNvPr id="29" name="Graphic 74" descr="Icon of a person with a checkmark">
            <a:extLst>
              <a:ext uri="{FF2B5EF4-FFF2-40B4-BE49-F238E27FC236}">
                <a16:creationId xmlns:a16="http://schemas.microsoft.com/office/drawing/2014/main" id="{5C5E7CFE-03E5-6B10-ACCA-7F30873CBD04}"/>
              </a:ext>
            </a:extLst>
          </p:cNvPr>
          <p:cNvSpPr/>
          <p:nvPr/>
        </p:nvSpPr>
        <p:spPr>
          <a:xfrm>
            <a:off x="4452953" y="2834958"/>
            <a:ext cx="571806" cy="571806"/>
          </a:xfrm>
          <a:custGeom>
            <a:avLst/>
            <a:gdLst>
              <a:gd name="connsiteX0" fmla="*/ 147599 w 199986"/>
              <a:gd name="connsiteY0" fmla="*/ 95212 h 199986"/>
              <a:gd name="connsiteX1" fmla="*/ 199987 w 199986"/>
              <a:gd name="connsiteY1" fmla="*/ 147599 h 199986"/>
              <a:gd name="connsiteX2" fmla="*/ 147599 w 199986"/>
              <a:gd name="connsiteY2" fmla="*/ 199987 h 199986"/>
              <a:gd name="connsiteX3" fmla="*/ 95212 w 199986"/>
              <a:gd name="connsiteY3" fmla="*/ 147599 h 199986"/>
              <a:gd name="connsiteX4" fmla="*/ 147599 w 199986"/>
              <a:gd name="connsiteY4" fmla="*/ 95212 h 199986"/>
              <a:gd name="connsiteX5" fmla="*/ 122396 w 199986"/>
              <a:gd name="connsiteY5" fmla="*/ 144228 h 199986"/>
              <a:gd name="connsiteX6" fmla="*/ 115662 w 199986"/>
              <a:gd name="connsiteY6" fmla="*/ 144345 h 199986"/>
              <a:gd name="connsiteX7" fmla="*/ 115662 w 199986"/>
              <a:gd name="connsiteY7" fmla="*/ 150962 h 199986"/>
              <a:gd name="connsiteX8" fmla="*/ 134712 w 199986"/>
              <a:gd name="connsiteY8" fmla="*/ 170012 h 199986"/>
              <a:gd name="connsiteX9" fmla="*/ 141446 w 199986"/>
              <a:gd name="connsiteY9" fmla="*/ 170012 h 199986"/>
              <a:gd name="connsiteX10" fmla="*/ 179546 w 199986"/>
              <a:gd name="connsiteY10" fmla="*/ 131912 h 199986"/>
              <a:gd name="connsiteX11" fmla="*/ 179429 w 199986"/>
              <a:gd name="connsiteY11" fmla="*/ 125178 h 199986"/>
              <a:gd name="connsiteX12" fmla="*/ 172812 w 199986"/>
              <a:gd name="connsiteY12" fmla="*/ 125178 h 199986"/>
              <a:gd name="connsiteX13" fmla="*/ 138074 w 199986"/>
              <a:gd name="connsiteY13" fmla="*/ 159915 h 199986"/>
              <a:gd name="connsiteX14" fmla="*/ 122396 w 199986"/>
              <a:gd name="connsiteY14" fmla="*/ 144228 h 199986"/>
              <a:gd name="connsiteX15" fmla="*/ 95421 w 199986"/>
              <a:gd name="connsiteY15" fmla="*/ 114262 h 199986"/>
              <a:gd name="connsiteX16" fmla="*/ 88678 w 199986"/>
              <a:gd name="connsiteY16" fmla="*/ 128549 h 199986"/>
              <a:gd name="connsiteX17" fmla="*/ 21422 w 199986"/>
              <a:gd name="connsiteY17" fmla="*/ 128549 h 199986"/>
              <a:gd name="connsiteX18" fmla="*/ 14278 w 199986"/>
              <a:gd name="connsiteY18" fmla="*/ 135674 h 199986"/>
              <a:gd name="connsiteX19" fmla="*/ 14278 w 199986"/>
              <a:gd name="connsiteY19" fmla="*/ 135693 h 199986"/>
              <a:gd name="connsiteX20" fmla="*/ 14278 w 199986"/>
              <a:gd name="connsiteY20" fmla="*/ 141189 h 199986"/>
              <a:gd name="connsiteX21" fmla="*/ 19421 w 199986"/>
              <a:gd name="connsiteY21" fmla="*/ 155105 h 199986"/>
              <a:gd name="connsiteX22" fmla="*/ 76162 w 199986"/>
              <a:gd name="connsiteY22" fmla="*/ 176193 h 199986"/>
              <a:gd name="connsiteX23" fmla="*/ 92164 w 199986"/>
              <a:gd name="connsiteY23" fmla="*/ 175184 h 199986"/>
              <a:gd name="connsiteX24" fmla="*/ 100851 w 199986"/>
              <a:gd name="connsiteY24" fmla="*/ 188195 h 199986"/>
              <a:gd name="connsiteX25" fmla="*/ 76162 w 199986"/>
              <a:gd name="connsiteY25" fmla="*/ 190481 h 199986"/>
              <a:gd name="connsiteX26" fmla="*/ 8553 w 199986"/>
              <a:gd name="connsiteY26" fmla="*/ 164382 h 199986"/>
              <a:gd name="connsiteX27" fmla="*/ 0 w 199986"/>
              <a:gd name="connsiteY27" fmla="*/ 141189 h 199986"/>
              <a:gd name="connsiteX28" fmla="*/ 0 w 199986"/>
              <a:gd name="connsiteY28" fmla="*/ 135693 h 199986"/>
              <a:gd name="connsiteX29" fmla="*/ 21412 w 199986"/>
              <a:gd name="connsiteY29" fmla="*/ 114262 h 199986"/>
              <a:gd name="connsiteX30" fmla="*/ 21422 w 199986"/>
              <a:gd name="connsiteY30" fmla="*/ 114262 h 199986"/>
              <a:gd name="connsiteX31" fmla="*/ 95431 w 199986"/>
              <a:gd name="connsiteY31" fmla="*/ 114262 h 199986"/>
              <a:gd name="connsiteX32" fmla="*/ 76162 w 199986"/>
              <a:gd name="connsiteY32" fmla="*/ 0 h 199986"/>
              <a:gd name="connsiteX33" fmla="*/ 123787 w 199986"/>
              <a:gd name="connsiteY33" fmla="*/ 47625 h 199986"/>
              <a:gd name="connsiteX34" fmla="*/ 76162 w 199986"/>
              <a:gd name="connsiteY34" fmla="*/ 95250 h 199986"/>
              <a:gd name="connsiteX35" fmla="*/ 28537 w 199986"/>
              <a:gd name="connsiteY35" fmla="*/ 47625 h 199986"/>
              <a:gd name="connsiteX36" fmla="*/ 76162 w 199986"/>
              <a:gd name="connsiteY36" fmla="*/ 0 h 199986"/>
              <a:gd name="connsiteX37" fmla="*/ 76162 w 199986"/>
              <a:gd name="connsiteY37" fmla="*/ 14288 h 199986"/>
              <a:gd name="connsiteX38" fmla="*/ 42824 w 199986"/>
              <a:gd name="connsiteY38" fmla="*/ 47625 h 199986"/>
              <a:gd name="connsiteX39" fmla="*/ 76162 w 199986"/>
              <a:gd name="connsiteY39" fmla="*/ 80963 h 199986"/>
              <a:gd name="connsiteX40" fmla="*/ 109499 w 199986"/>
              <a:gd name="connsiteY40" fmla="*/ 47625 h 199986"/>
              <a:gd name="connsiteX41" fmla="*/ 76162 w 199986"/>
              <a:gd name="connsiteY41" fmla="*/ 14288 h 199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99986" h="199986">
                <a:moveTo>
                  <a:pt x="147599" y="95212"/>
                </a:moveTo>
                <a:cubicBezTo>
                  <a:pt x="176533" y="95212"/>
                  <a:pt x="199987" y="118666"/>
                  <a:pt x="199987" y="147599"/>
                </a:cubicBezTo>
                <a:cubicBezTo>
                  <a:pt x="199987" y="176533"/>
                  <a:pt x="176533" y="199987"/>
                  <a:pt x="147599" y="199987"/>
                </a:cubicBezTo>
                <a:cubicBezTo>
                  <a:pt x="118666" y="199987"/>
                  <a:pt x="95212" y="176533"/>
                  <a:pt x="95212" y="147599"/>
                </a:cubicBezTo>
                <a:cubicBezTo>
                  <a:pt x="95212" y="118666"/>
                  <a:pt x="118666" y="95212"/>
                  <a:pt x="147599" y="95212"/>
                </a:cubicBezTo>
                <a:close/>
                <a:moveTo>
                  <a:pt x="122396" y="144228"/>
                </a:moveTo>
                <a:cubicBezTo>
                  <a:pt x="120505" y="142401"/>
                  <a:pt x="117489" y="142453"/>
                  <a:pt x="115662" y="144345"/>
                </a:cubicBezTo>
                <a:cubicBezTo>
                  <a:pt x="113880" y="146191"/>
                  <a:pt x="113880" y="149116"/>
                  <a:pt x="115662" y="150962"/>
                </a:cubicBezTo>
                <a:lnTo>
                  <a:pt x="134712" y="170012"/>
                </a:lnTo>
                <a:cubicBezTo>
                  <a:pt x="136571" y="171871"/>
                  <a:pt x="139586" y="171871"/>
                  <a:pt x="141446" y="170012"/>
                </a:cubicBezTo>
                <a:lnTo>
                  <a:pt x="179546" y="131912"/>
                </a:lnTo>
                <a:cubicBezTo>
                  <a:pt x="181373" y="130020"/>
                  <a:pt x="181321" y="127004"/>
                  <a:pt x="179429" y="125178"/>
                </a:cubicBezTo>
                <a:cubicBezTo>
                  <a:pt x="177583" y="123395"/>
                  <a:pt x="174658" y="123395"/>
                  <a:pt x="172812" y="125178"/>
                </a:cubicBezTo>
                <a:lnTo>
                  <a:pt x="138074" y="159915"/>
                </a:lnTo>
                <a:lnTo>
                  <a:pt x="122396" y="144228"/>
                </a:lnTo>
                <a:close/>
                <a:moveTo>
                  <a:pt x="95421" y="114262"/>
                </a:moveTo>
                <a:cubicBezTo>
                  <a:pt x="92571" y="118716"/>
                  <a:pt x="90304" y="123517"/>
                  <a:pt x="88678" y="128549"/>
                </a:cubicBezTo>
                <a:lnTo>
                  <a:pt x="21422" y="128549"/>
                </a:lnTo>
                <a:cubicBezTo>
                  <a:pt x="17482" y="128544"/>
                  <a:pt x="14283" y="131734"/>
                  <a:pt x="14278" y="135674"/>
                </a:cubicBezTo>
                <a:cubicBezTo>
                  <a:pt x="14278" y="135681"/>
                  <a:pt x="14278" y="135686"/>
                  <a:pt x="14278" y="135693"/>
                </a:cubicBezTo>
                <a:lnTo>
                  <a:pt x="14278" y="141189"/>
                </a:lnTo>
                <a:cubicBezTo>
                  <a:pt x="14278" y="146294"/>
                  <a:pt x="16107" y="151228"/>
                  <a:pt x="19421" y="155105"/>
                </a:cubicBezTo>
                <a:cubicBezTo>
                  <a:pt x="31356" y="169088"/>
                  <a:pt x="50082" y="176193"/>
                  <a:pt x="76162" y="176193"/>
                </a:cubicBezTo>
                <a:cubicBezTo>
                  <a:pt x="81848" y="176193"/>
                  <a:pt x="87173" y="175851"/>
                  <a:pt x="92164" y="175184"/>
                </a:cubicBezTo>
                <a:cubicBezTo>
                  <a:pt x="94498" y="179899"/>
                  <a:pt x="97431" y="184261"/>
                  <a:pt x="100851" y="188195"/>
                </a:cubicBezTo>
                <a:cubicBezTo>
                  <a:pt x="93269" y="189719"/>
                  <a:pt x="85039" y="190481"/>
                  <a:pt x="76162" y="190481"/>
                </a:cubicBezTo>
                <a:cubicBezTo>
                  <a:pt x="46196" y="190481"/>
                  <a:pt x="23470" y="181861"/>
                  <a:pt x="8553" y="164382"/>
                </a:cubicBezTo>
                <a:cubicBezTo>
                  <a:pt x="3033" y="157916"/>
                  <a:pt x="0" y="149692"/>
                  <a:pt x="0" y="141189"/>
                </a:cubicBezTo>
                <a:lnTo>
                  <a:pt x="0" y="135693"/>
                </a:lnTo>
                <a:cubicBezTo>
                  <a:pt x="-5" y="123862"/>
                  <a:pt x="9581" y="114268"/>
                  <a:pt x="21412" y="114262"/>
                </a:cubicBezTo>
                <a:cubicBezTo>
                  <a:pt x="21415" y="114262"/>
                  <a:pt x="21419" y="114262"/>
                  <a:pt x="21422" y="114262"/>
                </a:cubicBezTo>
                <a:lnTo>
                  <a:pt x="95431" y="114262"/>
                </a:lnTo>
                <a:close/>
                <a:moveTo>
                  <a:pt x="76162" y="0"/>
                </a:moveTo>
                <a:cubicBezTo>
                  <a:pt x="102464" y="0"/>
                  <a:pt x="123787" y="21322"/>
                  <a:pt x="123787" y="47625"/>
                </a:cubicBezTo>
                <a:cubicBezTo>
                  <a:pt x="123787" y="73928"/>
                  <a:pt x="102464" y="95250"/>
                  <a:pt x="76162" y="95250"/>
                </a:cubicBezTo>
                <a:cubicBezTo>
                  <a:pt x="49859" y="95250"/>
                  <a:pt x="28537" y="73928"/>
                  <a:pt x="28537" y="47625"/>
                </a:cubicBezTo>
                <a:cubicBezTo>
                  <a:pt x="28537" y="21322"/>
                  <a:pt x="49859" y="0"/>
                  <a:pt x="76162" y="0"/>
                </a:cubicBezTo>
                <a:close/>
                <a:moveTo>
                  <a:pt x="76162" y="14288"/>
                </a:moveTo>
                <a:cubicBezTo>
                  <a:pt x="57750" y="14288"/>
                  <a:pt x="42824" y="29213"/>
                  <a:pt x="42824" y="47625"/>
                </a:cubicBezTo>
                <a:cubicBezTo>
                  <a:pt x="42824" y="66037"/>
                  <a:pt x="57750" y="80963"/>
                  <a:pt x="76162" y="80963"/>
                </a:cubicBezTo>
                <a:cubicBezTo>
                  <a:pt x="94574" y="80963"/>
                  <a:pt x="109499" y="66037"/>
                  <a:pt x="109499" y="47625"/>
                </a:cubicBezTo>
                <a:cubicBezTo>
                  <a:pt x="109499" y="29213"/>
                  <a:pt x="94574" y="14288"/>
                  <a:pt x="76162" y="14288"/>
                </a:cubicBezTo>
                <a:close/>
              </a:path>
            </a:pathLst>
          </a:cu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solidFill>
                <a:schemeClr val="bg1"/>
              </a:solidFill>
              <a:latin typeface="+mj-lt"/>
              <a:cs typeface="Segoe UI" pitchFamily="34" charset="0"/>
            </a:endParaRPr>
          </a:p>
        </p:txBody>
      </p:sp>
      <p:sp>
        <p:nvSpPr>
          <p:cNvPr id="30" name="TextBox 29">
            <a:extLst>
              <a:ext uri="{FF2B5EF4-FFF2-40B4-BE49-F238E27FC236}">
                <a16:creationId xmlns:a16="http://schemas.microsoft.com/office/drawing/2014/main" id="{4A088040-E8B2-56D9-CA75-1AAD344CA50A}"/>
              </a:ext>
            </a:extLst>
          </p:cNvPr>
          <p:cNvSpPr txBox="1"/>
          <p:nvPr/>
        </p:nvSpPr>
        <p:spPr>
          <a:xfrm>
            <a:off x="3808721" y="3620410"/>
            <a:ext cx="1860270" cy="215444"/>
          </a:xfrm>
          <a:prstGeom prst="rect">
            <a:avLst/>
          </a:prstGeom>
          <a:noFill/>
        </p:spPr>
        <p:txBody>
          <a:bodyPr wrap="square" lIns="0" tIns="0" rIns="0" bIns="0">
            <a:spAutoFit/>
          </a:bodyPr>
          <a:lstStyle/>
          <a:p>
            <a:pPr marL="0" marR="0" lvl="0" indent="0" algn="ctr" defTabSz="811684"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prstClr val="black"/>
                </a:solidFill>
                <a:effectLst/>
                <a:uLnTx/>
                <a:uFillTx/>
                <a:ea typeface="+mn-ea"/>
                <a:cs typeface="+mn-cs"/>
              </a:rPr>
              <a:t>You control your data</a:t>
            </a:r>
          </a:p>
        </p:txBody>
      </p:sp>
      <p:sp>
        <p:nvSpPr>
          <p:cNvPr id="31" name="Graphic 13" descr="Icon of a lock with communication signal behind">
            <a:extLst>
              <a:ext uri="{FF2B5EF4-FFF2-40B4-BE49-F238E27FC236}">
                <a16:creationId xmlns:a16="http://schemas.microsoft.com/office/drawing/2014/main" id="{905B5BB1-56A0-ABD7-BCA5-280843D7AD5A}"/>
              </a:ext>
            </a:extLst>
          </p:cNvPr>
          <p:cNvSpPr/>
          <p:nvPr/>
        </p:nvSpPr>
        <p:spPr>
          <a:xfrm>
            <a:off x="1725750" y="4650491"/>
            <a:ext cx="600646" cy="521680"/>
          </a:xfrm>
          <a:custGeom>
            <a:avLst/>
            <a:gdLst>
              <a:gd name="connsiteX0" fmla="*/ 52388 w 199822"/>
              <a:gd name="connsiteY0" fmla="*/ 68778 h 173552"/>
              <a:gd name="connsiteX1" fmla="*/ 104775 w 199822"/>
              <a:gd name="connsiteY1" fmla="*/ 121165 h 173552"/>
              <a:gd name="connsiteX2" fmla="*/ 52388 w 199822"/>
              <a:gd name="connsiteY2" fmla="*/ 173553 h 173552"/>
              <a:gd name="connsiteX3" fmla="*/ 0 w 199822"/>
              <a:gd name="connsiteY3" fmla="*/ 121165 h 173552"/>
              <a:gd name="connsiteX4" fmla="*/ 52388 w 199822"/>
              <a:gd name="connsiteY4" fmla="*/ 68778 h 173552"/>
              <a:gd name="connsiteX5" fmla="*/ 52388 w 199822"/>
              <a:gd name="connsiteY5" fmla="*/ 87809 h 173552"/>
              <a:gd name="connsiteX6" fmla="*/ 35776 w 199822"/>
              <a:gd name="connsiteY6" fmla="*/ 103115 h 173552"/>
              <a:gd name="connsiteX7" fmla="*/ 35719 w 199822"/>
              <a:gd name="connsiteY7" fmla="*/ 104477 h 173552"/>
              <a:gd name="connsiteX8" fmla="*/ 35719 w 199822"/>
              <a:gd name="connsiteY8" fmla="*/ 111916 h 173552"/>
              <a:gd name="connsiteX9" fmla="*/ 28642 w 199822"/>
              <a:gd name="connsiteY9" fmla="*/ 120051 h 173552"/>
              <a:gd name="connsiteX10" fmla="*/ 28575 w 199822"/>
              <a:gd name="connsiteY10" fmla="*/ 121146 h 173552"/>
              <a:gd name="connsiteX11" fmla="*/ 28575 w 199822"/>
              <a:gd name="connsiteY11" fmla="*/ 144959 h 173552"/>
              <a:gd name="connsiteX12" fmla="*/ 36986 w 199822"/>
              <a:gd name="connsiteY12" fmla="*/ 154417 h 173552"/>
              <a:gd name="connsiteX13" fmla="*/ 38100 w 199822"/>
              <a:gd name="connsiteY13" fmla="*/ 154484 h 173552"/>
              <a:gd name="connsiteX14" fmla="*/ 66675 w 199822"/>
              <a:gd name="connsiteY14" fmla="*/ 154484 h 173552"/>
              <a:gd name="connsiteX15" fmla="*/ 76133 w 199822"/>
              <a:gd name="connsiteY15" fmla="*/ 146073 h 173552"/>
              <a:gd name="connsiteX16" fmla="*/ 76200 w 199822"/>
              <a:gd name="connsiteY16" fmla="*/ 144959 h 173552"/>
              <a:gd name="connsiteX17" fmla="*/ 76200 w 199822"/>
              <a:gd name="connsiteY17" fmla="*/ 121146 h 173552"/>
              <a:gd name="connsiteX18" fmla="*/ 70066 w 199822"/>
              <a:gd name="connsiteY18" fmla="*/ 112240 h 173552"/>
              <a:gd name="connsiteX19" fmla="*/ 69066 w 199822"/>
              <a:gd name="connsiteY19" fmla="*/ 111926 h 173552"/>
              <a:gd name="connsiteX20" fmla="*/ 69056 w 199822"/>
              <a:gd name="connsiteY20" fmla="*/ 104477 h 173552"/>
              <a:gd name="connsiteX21" fmla="*/ 52388 w 199822"/>
              <a:gd name="connsiteY21" fmla="*/ 87809 h 173552"/>
              <a:gd name="connsiteX22" fmla="*/ 52388 w 199822"/>
              <a:gd name="connsiteY22" fmla="*/ 97334 h 173552"/>
              <a:gd name="connsiteX23" fmla="*/ 59465 w 199822"/>
              <a:gd name="connsiteY23" fmla="*/ 103506 h 173552"/>
              <a:gd name="connsiteX24" fmla="*/ 59531 w 199822"/>
              <a:gd name="connsiteY24" fmla="*/ 104477 h 173552"/>
              <a:gd name="connsiteX25" fmla="*/ 59531 w 199822"/>
              <a:gd name="connsiteY25" fmla="*/ 111621 h 173552"/>
              <a:gd name="connsiteX26" fmla="*/ 45244 w 199822"/>
              <a:gd name="connsiteY26" fmla="*/ 111621 h 173552"/>
              <a:gd name="connsiteX27" fmla="*/ 45244 w 199822"/>
              <a:gd name="connsiteY27" fmla="*/ 104477 h 173552"/>
              <a:gd name="connsiteX28" fmla="*/ 52388 w 199822"/>
              <a:gd name="connsiteY28" fmla="*/ 97334 h 173552"/>
              <a:gd name="connsiteX29" fmla="*/ 139475 w 199822"/>
              <a:gd name="connsiteY29" fmla="*/ 86113 h 173552"/>
              <a:gd name="connsiteX30" fmla="*/ 149685 w 199822"/>
              <a:gd name="connsiteY30" fmla="*/ 101182 h 173552"/>
              <a:gd name="connsiteX31" fmla="*/ 146325 w 199822"/>
              <a:gd name="connsiteY31" fmla="*/ 110710 h 173552"/>
              <a:gd name="connsiteX32" fmla="*/ 136797 w 199822"/>
              <a:gd name="connsiteY32" fmla="*/ 107349 h 173552"/>
              <a:gd name="connsiteX33" fmla="*/ 136608 w 199822"/>
              <a:gd name="connsiteY33" fmla="*/ 106916 h 173552"/>
              <a:gd name="connsiteX34" fmla="*/ 103508 w 199822"/>
              <a:gd name="connsiteY34" fmla="*/ 86237 h 173552"/>
              <a:gd name="connsiteX35" fmla="*/ 92126 w 199822"/>
              <a:gd name="connsiteY35" fmla="*/ 73683 h 173552"/>
              <a:gd name="connsiteX36" fmla="*/ 139475 w 199822"/>
              <a:gd name="connsiteY36" fmla="*/ 86104 h 173552"/>
              <a:gd name="connsiteX37" fmla="*/ 159496 w 199822"/>
              <a:gd name="connsiteY37" fmla="*/ 56871 h 173552"/>
              <a:gd name="connsiteX38" fmla="*/ 173707 w 199822"/>
              <a:gd name="connsiteY38" fmla="*/ 76588 h 173552"/>
              <a:gd name="connsiteX39" fmla="*/ 170832 w 199822"/>
              <a:gd name="connsiteY39" fmla="*/ 86273 h 173552"/>
              <a:gd name="connsiteX40" fmla="*/ 161147 w 199822"/>
              <a:gd name="connsiteY40" fmla="*/ 83398 h 173552"/>
              <a:gd name="connsiteX41" fmla="*/ 160992 w 199822"/>
              <a:gd name="connsiteY41" fmla="*/ 83094 h 173552"/>
              <a:gd name="connsiteX42" fmla="*/ 149390 w 199822"/>
              <a:gd name="connsiteY42" fmla="*/ 66977 h 173552"/>
              <a:gd name="connsiteX43" fmla="*/ 67704 w 199822"/>
              <a:gd name="connsiteY43" fmla="*/ 61158 h 173552"/>
              <a:gd name="connsiteX44" fmla="*/ 48511 w 199822"/>
              <a:gd name="connsiteY44" fmla="*/ 59367 h 173552"/>
              <a:gd name="connsiteX45" fmla="*/ 157000 w 199822"/>
              <a:gd name="connsiteY45" fmla="*/ 54484 h 173552"/>
              <a:gd name="connsiteX46" fmla="*/ 159496 w 199822"/>
              <a:gd name="connsiteY46" fmla="*/ 56871 h 173552"/>
              <a:gd name="connsiteX47" fmla="*/ 185242 w 199822"/>
              <a:gd name="connsiteY47" fmla="*/ 33335 h 173552"/>
              <a:gd name="connsiteX48" fmla="*/ 198653 w 199822"/>
              <a:gd name="connsiteY48" fmla="*/ 49499 h 173552"/>
              <a:gd name="connsiteX49" fmla="*/ 196591 w 199822"/>
              <a:gd name="connsiteY49" fmla="*/ 59389 h 173552"/>
              <a:gd name="connsiteX50" fmla="*/ 186900 w 199822"/>
              <a:gd name="connsiteY50" fmla="*/ 57614 h 173552"/>
              <a:gd name="connsiteX51" fmla="*/ 175146 w 199822"/>
              <a:gd name="connsiteY51" fmla="*/ 43432 h 173552"/>
              <a:gd name="connsiteX52" fmla="*/ 34404 w 199822"/>
              <a:gd name="connsiteY52" fmla="*/ 43432 h 173552"/>
              <a:gd name="connsiteX53" fmla="*/ 22765 w 199822"/>
              <a:gd name="connsiteY53" fmla="*/ 57567 h 173552"/>
              <a:gd name="connsiteX54" fmla="*/ 12866 w 199822"/>
              <a:gd name="connsiteY54" fmla="*/ 59587 h 173552"/>
              <a:gd name="connsiteX55" fmla="*/ 10846 w 199822"/>
              <a:gd name="connsiteY55" fmla="*/ 49688 h 173552"/>
              <a:gd name="connsiteX56" fmla="*/ 11030 w 199822"/>
              <a:gd name="connsiteY56" fmla="*/ 49423 h 173552"/>
              <a:gd name="connsiteX57" fmla="*/ 24308 w 199822"/>
              <a:gd name="connsiteY57" fmla="*/ 33326 h 173552"/>
              <a:gd name="connsiteX58" fmla="*/ 185242 w 199822"/>
              <a:gd name="connsiteY58" fmla="*/ 33326 h 173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99822" h="173552">
                <a:moveTo>
                  <a:pt x="52388" y="68778"/>
                </a:moveTo>
                <a:cubicBezTo>
                  <a:pt x="81320" y="68778"/>
                  <a:pt x="104775" y="92232"/>
                  <a:pt x="104775" y="121165"/>
                </a:cubicBezTo>
                <a:cubicBezTo>
                  <a:pt x="104775" y="150098"/>
                  <a:pt x="81320" y="173553"/>
                  <a:pt x="52388" y="173553"/>
                </a:cubicBezTo>
                <a:cubicBezTo>
                  <a:pt x="23455" y="173553"/>
                  <a:pt x="0" y="150098"/>
                  <a:pt x="0" y="121165"/>
                </a:cubicBezTo>
                <a:cubicBezTo>
                  <a:pt x="0" y="92232"/>
                  <a:pt x="23455" y="68778"/>
                  <a:pt x="52388" y="68778"/>
                </a:cubicBezTo>
                <a:close/>
                <a:moveTo>
                  <a:pt x="52388" y="87809"/>
                </a:moveTo>
                <a:cubicBezTo>
                  <a:pt x="43710" y="87810"/>
                  <a:pt x="36485" y="94468"/>
                  <a:pt x="35776" y="103115"/>
                </a:cubicBezTo>
                <a:lnTo>
                  <a:pt x="35719" y="104477"/>
                </a:lnTo>
                <a:lnTo>
                  <a:pt x="35719" y="111916"/>
                </a:lnTo>
                <a:cubicBezTo>
                  <a:pt x="31956" y="112888"/>
                  <a:pt x="29089" y="116107"/>
                  <a:pt x="28642" y="120051"/>
                </a:cubicBezTo>
                <a:lnTo>
                  <a:pt x="28575" y="121146"/>
                </a:lnTo>
                <a:lnTo>
                  <a:pt x="28575" y="144959"/>
                </a:lnTo>
                <a:cubicBezTo>
                  <a:pt x="28576" y="149788"/>
                  <a:pt x="32190" y="153852"/>
                  <a:pt x="36986" y="154417"/>
                </a:cubicBezTo>
                <a:lnTo>
                  <a:pt x="38100" y="154484"/>
                </a:lnTo>
                <a:lnTo>
                  <a:pt x="66675" y="154484"/>
                </a:lnTo>
                <a:cubicBezTo>
                  <a:pt x="71504" y="154483"/>
                  <a:pt x="75568" y="150869"/>
                  <a:pt x="76133" y="146073"/>
                </a:cubicBezTo>
                <a:lnTo>
                  <a:pt x="76200" y="144959"/>
                </a:lnTo>
                <a:lnTo>
                  <a:pt x="76200" y="121146"/>
                </a:lnTo>
                <a:cubicBezTo>
                  <a:pt x="76202" y="117192"/>
                  <a:pt x="73761" y="113648"/>
                  <a:pt x="70066" y="112240"/>
                </a:cubicBezTo>
                <a:lnTo>
                  <a:pt x="69066" y="111926"/>
                </a:lnTo>
                <a:lnTo>
                  <a:pt x="69056" y="104477"/>
                </a:lnTo>
                <a:cubicBezTo>
                  <a:pt x="69056" y="95271"/>
                  <a:pt x="61593" y="87809"/>
                  <a:pt x="52388" y="87809"/>
                </a:cubicBezTo>
                <a:close/>
                <a:moveTo>
                  <a:pt x="52388" y="97334"/>
                </a:moveTo>
                <a:cubicBezTo>
                  <a:pt x="55957" y="97334"/>
                  <a:pt x="58979" y="99969"/>
                  <a:pt x="59465" y="103506"/>
                </a:cubicBezTo>
                <a:lnTo>
                  <a:pt x="59531" y="104477"/>
                </a:lnTo>
                <a:lnTo>
                  <a:pt x="59531" y="111621"/>
                </a:lnTo>
                <a:lnTo>
                  <a:pt x="45244" y="111621"/>
                </a:lnTo>
                <a:lnTo>
                  <a:pt x="45244" y="104477"/>
                </a:lnTo>
                <a:cubicBezTo>
                  <a:pt x="45244" y="100532"/>
                  <a:pt x="48442" y="97334"/>
                  <a:pt x="52388" y="97334"/>
                </a:cubicBezTo>
                <a:close/>
                <a:moveTo>
                  <a:pt x="139475" y="86113"/>
                </a:moveTo>
                <a:cubicBezTo>
                  <a:pt x="143742" y="90371"/>
                  <a:pt x="147247" y="95610"/>
                  <a:pt x="149685" y="101182"/>
                </a:cubicBezTo>
                <a:cubicBezTo>
                  <a:pt x="151388" y="104740"/>
                  <a:pt x="149884" y="109006"/>
                  <a:pt x="146325" y="110710"/>
                </a:cubicBezTo>
                <a:cubicBezTo>
                  <a:pt x="142766" y="112413"/>
                  <a:pt x="138500" y="110908"/>
                  <a:pt x="136797" y="107349"/>
                </a:cubicBezTo>
                <a:cubicBezTo>
                  <a:pt x="136729" y="107207"/>
                  <a:pt x="136666" y="107062"/>
                  <a:pt x="136608" y="106916"/>
                </a:cubicBezTo>
                <a:cubicBezTo>
                  <a:pt x="130994" y="93772"/>
                  <a:pt x="117783" y="85519"/>
                  <a:pt x="103508" y="86237"/>
                </a:cubicBezTo>
                <a:cubicBezTo>
                  <a:pt x="100305" y="81553"/>
                  <a:pt x="96476" y="77328"/>
                  <a:pt x="92126" y="73683"/>
                </a:cubicBezTo>
                <a:cubicBezTo>
                  <a:pt x="108994" y="68966"/>
                  <a:pt x="127094" y="73714"/>
                  <a:pt x="139475" y="86104"/>
                </a:cubicBezTo>
                <a:close/>
                <a:moveTo>
                  <a:pt x="159496" y="56871"/>
                </a:moveTo>
                <a:cubicBezTo>
                  <a:pt x="165223" y="62671"/>
                  <a:pt x="170017" y="69322"/>
                  <a:pt x="173707" y="76588"/>
                </a:cubicBezTo>
                <a:cubicBezTo>
                  <a:pt x="175588" y="80056"/>
                  <a:pt x="174301" y="84393"/>
                  <a:pt x="170832" y="86273"/>
                </a:cubicBezTo>
                <a:cubicBezTo>
                  <a:pt x="167364" y="88153"/>
                  <a:pt x="163028" y="86867"/>
                  <a:pt x="161147" y="83398"/>
                </a:cubicBezTo>
                <a:cubicBezTo>
                  <a:pt x="161093" y="83298"/>
                  <a:pt x="161041" y="83197"/>
                  <a:pt x="160992" y="83094"/>
                </a:cubicBezTo>
                <a:cubicBezTo>
                  <a:pt x="157976" y="77157"/>
                  <a:pt x="154063" y="71721"/>
                  <a:pt x="149390" y="66977"/>
                </a:cubicBezTo>
                <a:cubicBezTo>
                  <a:pt x="127399" y="44990"/>
                  <a:pt x="92590" y="42510"/>
                  <a:pt x="67704" y="61158"/>
                </a:cubicBezTo>
                <a:cubicBezTo>
                  <a:pt x="61438" y="59569"/>
                  <a:pt x="54963" y="58965"/>
                  <a:pt x="48511" y="59367"/>
                </a:cubicBezTo>
                <a:cubicBezTo>
                  <a:pt x="77121" y="28060"/>
                  <a:pt x="125693" y="25874"/>
                  <a:pt x="157000" y="54484"/>
                </a:cubicBezTo>
                <a:cubicBezTo>
                  <a:pt x="157849" y="55261"/>
                  <a:pt x="158682" y="56057"/>
                  <a:pt x="159496" y="56871"/>
                </a:cubicBezTo>
                <a:close/>
                <a:moveTo>
                  <a:pt x="185242" y="33335"/>
                </a:moveTo>
                <a:cubicBezTo>
                  <a:pt x="190100" y="38183"/>
                  <a:pt x="194672" y="43717"/>
                  <a:pt x="198653" y="49499"/>
                </a:cubicBezTo>
                <a:cubicBezTo>
                  <a:pt x="200816" y="52799"/>
                  <a:pt x="199892" y="57228"/>
                  <a:pt x="196591" y="59389"/>
                </a:cubicBezTo>
                <a:cubicBezTo>
                  <a:pt x="193404" y="61477"/>
                  <a:pt x="189140" y="60696"/>
                  <a:pt x="186900" y="57614"/>
                </a:cubicBezTo>
                <a:cubicBezTo>
                  <a:pt x="183412" y="52545"/>
                  <a:pt x="179479" y="47799"/>
                  <a:pt x="175146" y="43432"/>
                </a:cubicBezTo>
                <a:cubicBezTo>
                  <a:pt x="136284" y="4570"/>
                  <a:pt x="73266" y="4570"/>
                  <a:pt x="34404" y="43432"/>
                </a:cubicBezTo>
                <a:cubicBezTo>
                  <a:pt x="30394" y="47451"/>
                  <a:pt x="26403" y="52328"/>
                  <a:pt x="22765" y="57567"/>
                </a:cubicBezTo>
                <a:cubicBezTo>
                  <a:pt x="20589" y="60858"/>
                  <a:pt x="16157" y="61762"/>
                  <a:pt x="12866" y="59587"/>
                </a:cubicBezTo>
                <a:cubicBezTo>
                  <a:pt x="9575" y="57411"/>
                  <a:pt x="8670" y="52979"/>
                  <a:pt x="10846" y="49688"/>
                </a:cubicBezTo>
                <a:cubicBezTo>
                  <a:pt x="10905" y="49598"/>
                  <a:pt x="10967" y="49510"/>
                  <a:pt x="11030" y="49423"/>
                </a:cubicBezTo>
                <a:cubicBezTo>
                  <a:pt x="15126" y="43517"/>
                  <a:pt x="19641" y="37993"/>
                  <a:pt x="24308" y="33326"/>
                </a:cubicBezTo>
                <a:cubicBezTo>
                  <a:pt x="68751" y="-11109"/>
                  <a:pt x="140799" y="-11109"/>
                  <a:pt x="185242" y="33326"/>
                </a:cubicBezTo>
                <a:close/>
              </a:path>
            </a:pathLst>
          </a:cu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solidFill>
                <a:schemeClr val="bg1"/>
              </a:solidFill>
              <a:latin typeface="+mj-lt"/>
              <a:cs typeface="Segoe UI" pitchFamily="34" charset="0"/>
            </a:endParaRPr>
          </a:p>
        </p:txBody>
      </p:sp>
      <p:sp>
        <p:nvSpPr>
          <p:cNvPr id="32" name="TextBox 31">
            <a:extLst>
              <a:ext uri="{FF2B5EF4-FFF2-40B4-BE49-F238E27FC236}">
                <a16:creationId xmlns:a16="http://schemas.microsoft.com/office/drawing/2014/main" id="{D633C32F-6742-AD34-E3E1-35A62CA99185}"/>
              </a:ext>
            </a:extLst>
          </p:cNvPr>
          <p:cNvSpPr txBox="1"/>
          <p:nvPr/>
        </p:nvSpPr>
        <p:spPr>
          <a:xfrm>
            <a:off x="867866" y="5410880"/>
            <a:ext cx="2316414" cy="430887"/>
          </a:xfrm>
          <a:prstGeom prst="rect">
            <a:avLst/>
          </a:prstGeom>
          <a:noFill/>
        </p:spPr>
        <p:txBody>
          <a:bodyPr wrap="square" lIns="0" tIns="0" rIns="0" bIns="0" anchor="t">
            <a:spAutoFit/>
          </a:bodyPr>
          <a:lstStyle/>
          <a:p>
            <a:pPr marL="0" marR="0" lvl="0" indent="0" algn="ctr" defTabSz="811684"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prstClr val="black"/>
                </a:solidFill>
                <a:effectLst/>
                <a:uLnTx/>
                <a:uFillTx/>
                <a:ea typeface="+mn-ea"/>
                <a:cs typeface="+mn-cs"/>
              </a:rPr>
              <a:t>Your data is not used to train or enrich foundation models</a:t>
            </a:r>
          </a:p>
        </p:txBody>
      </p:sp>
      <p:sp>
        <p:nvSpPr>
          <p:cNvPr id="33" name="Graphic 81" descr="Icon of an app window with a closed padlock">
            <a:extLst>
              <a:ext uri="{FF2B5EF4-FFF2-40B4-BE49-F238E27FC236}">
                <a16:creationId xmlns:a16="http://schemas.microsoft.com/office/drawing/2014/main" id="{F334226F-618E-3469-F794-20FF214096A1}"/>
              </a:ext>
            </a:extLst>
          </p:cNvPr>
          <p:cNvSpPr/>
          <p:nvPr/>
        </p:nvSpPr>
        <p:spPr>
          <a:xfrm>
            <a:off x="4460916" y="4633391"/>
            <a:ext cx="555880" cy="555880"/>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solidFill>
                <a:schemeClr val="bg1"/>
              </a:solidFill>
              <a:latin typeface="+mj-lt"/>
              <a:cs typeface="Segoe UI" pitchFamily="34" charset="0"/>
            </a:endParaRPr>
          </a:p>
        </p:txBody>
      </p:sp>
      <p:sp>
        <p:nvSpPr>
          <p:cNvPr id="34" name="TextBox 33">
            <a:extLst>
              <a:ext uri="{FF2B5EF4-FFF2-40B4-BE49-F238E27FC236}">
                <a16:creationId xmlns:a16="http://schemas.microsoft.com/office/drawing/2014/main" id="{533E32DA-4320-1652-956F-BE3E8EB107CD}"/>
              </a:ext>
            </a:extLst>
          </p:cNvPr>
          <p:cNvSpPr txBox="1"/>
          <p:nvPr/>
        </p:nvSpPr>
        <p:spPr>
          <a:xfrm>
            <a:off x="3580649" y="5410880"/>
            <a:ext cx="2316414" cy="430887"/>
          </a:xfrm>
          <a:prstGeom prst="rect">
            <a:avLst/>
          </a:prstGeom>
          <a:noFill/>
        </p:spPr>
        <p:txBody>
          <a:bodyPr wrap="square" lIns="0" tIns="0" rIns="0" bIns="0">
            <a:spAutoFit/>
          </a:bodyPr>
          <a:lstStyle/>
          <a:p>
            <a:pPr marL="0" marR="0" lvl="0" indent="0" algn="ctr" defTabSz="914165" rtl="0" eaLnBrk="1" fontAlgn="auto" latinLnBrk="0" hangingPunct="1">
              <a:lnSpc>
                <a:spcPct val="100000"/>
              </a:lnSpc>
              <a:spcBef>
                <a:spcPts val="0"/>
              </a:spcBef>
              <a:spcAft>
                <a:spcPts val="0"/>
              </a:spcAft>
              <a:buClr>
                <a:srgbClr val="FFFFFF"/>
              </a:buClr>
              <a:buSzPts val="1600"/>
              <a:buFontTx/>
              <a:buNone/>
              <a:tabLst/>
              <a:defRPr/>
            </a:pPr>
            <a:r>
              <a:rPr kumimoji="0" lang="en-US" sz="1400" b="0" i="0" u="none" strike="noStrike" kern="1200" cap="none" spc="0" normalizeH="0" baseline="0" noProof="0">
                <a:ln>
                  <a:noFill/>
                </a:ln>
                <a:solidFill>
                  <a:prstClr val="black"/>
                </a:solidFill>
                <a:effectLst/>
                <a:uLnTx/>
                <a:uFillTx/>
                <a:ea typeface="+mn-ea"/>
                <a:cs typeface="+mn-cs"/>
              </a:rPr>
              <a:t>You’re protected against AI security and copyright risks</a:t>
            </a:r>
            <a:r>
              <a:rPr kumimoji="0" lang="en-US" sz="1400" b="0" i="0" u="none" strike="noStrike" kern="0" cap="none" spc="0" normalizeH="0" baseline="30000" noProof="0">
                <a:ln>
                  <a:noFill/>
                </a:ln>
                <a:solidFill>
                  <a:prstClr val="black"/>
                </a:solidFill>
                <a:effectLst/>
                <a:uLnTx/>
                <a:uFillTx/>
                <a:ea typeface="+mn-ea"/>
                <a:cs typeface="+mn-cs"/>
              </a:rPr>
              <a:t>1</a:t>
            </a:r>
            <a:endParaRPr kumimoji="0" lang="en-US" sz="1400" b="0" i="0" u="none" strike="noStrike" kern="1200" cap="none" spc="0" normalizeH="0" baseline="0" noProof="0">
              <a:ln w="3175">
                <a:noFill/>
              </a:ln>
              <a:solidFill>
                <a:prstClr val="black"/>
              </a:solidFill>
              <a:effectLst/>
              <a:uLnTx/>
              <a:uFillTx/>
              <a:ea typeface="+mn-ea"/>
              <a:cs typeface="+mn-cs"/>
            </a:endParaRPr>
          </a:p>
        </p:txBody>
      </p:sp>
      <p:grpSp>
        <p:nvGrpSpPr>
          <p:cNvPr id="10" name="Group 9">
            <a:extLst>
              <a:ext uri="{FF2B5EF4-FFF2-40B4-BE49-F238E27FC236}">
                <a16:creationId xmlns:a16="http://schemas.microsoft.com/office/drawing/2014/main" id="{8EE3CFB5-B5EA-501C-4721-0A8926A728B3}"/>
              </a:ext>
            </a:extLst>
          </p:cNvPr>
          <p:cNvGrpSpPr/>
          <p:nvPr/>
        </p:nvGrpSpPr>
        <p:grpSpPr>
          <a:xfrm>
            <a:off x="7118498" y="1824023"/>
            <a:ext cx="3980742" cy="3980742"/>
            <a:chOff x="6530775" y="850906"/>
            <a:chExt cx="5156188" cy="5156188"/>
          </a:xfrm>
        </p:grpSpPr>
        <p:grpSp>
          <p:nvGrpSpPr>
            <p:cNvPr id="5" name="Group 4">
              <a:extLst>
                <a:ext uri="{FF2B5EF4-FFF2-40B4-BE49-F238E27FC236}">
                  <a16:creationId xmlns:a16="http://schemas.microsoft.com/office/drawing/2014/main" id="{13416DAF-8B60-A99B-FA97-8C46C5415773}"/>
                </a:ext>
                <a:ext uri="{C183D7F6-B498-43B3-948B-1728B52AA6E4}">
                  <adec:decorative xmlns:adec="http://schemas.microsoft.com/office/drawing/2017/decorative" val="1"/>
                </a:ext>
              </a:extLst>
            </p:cNvPr>
            <p:cNvGrpSpPr/>
            <p:nvPr/>
          </p:nvGrpSpPr>
          <p:grpSpPr>
            <a:xfrm>
              <a:off x="6530775" y="850906"/>
              <a:ext cx="5156188" cy="5156188"/>
              <a:chOff x="7038763" y="1104899"/>
              <a:chExt cx="4648200" cy="4648200"/>
            </a:xfrm>
          </p:grpSpPr>
          <p:sp>
            <p:nvSpPr>
              <p:cNvPr id="7" name="Oval 6">
                <a:extLst>
                  <a:ext uri="{FF2B5EF4-FFF2-40B4-BE49-F238E27FC236}">
                    <a16:creationId xmlns:a16="http://schemas.microsoft.com/office/drawing/2014/main" id="{39101514-4F41-183F-C893-20401BF1F0DD}"/>
                  </a:ext>
                  <a:ext uri="{C183D7F6-B498-43B3-948B-1728B52AA6E4}">
                    <adec:decorative xmlns:adec="http://schemas.microsoft.com/office/drawing/2017/decorative" val="1"/>
                  </a:ext>
                </a:extLst>
              </p:cNvPr>
              <p:cNvSpPr/>
              <p:nvPr/>
            </p:nvSpPr>
            <p:spPr>
              <a:xfrm>
                <a:off x="7038763" y="1104899"/>
                <a:ext cx="4648200" cy="4648200"/>
              </a:xfrm>
              <a:prstGeom prst="ellipse">
                <a:avLst/>
              </a:prstGeom>
              <a:noFill/>
              <a:ln w="22225">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gradFill>
                    <a:gsLst>
                      <a:gs pos="70000">
                        <a:srgbClr val="D660FF"/>
                      </a:gs>
                      <a:gs pos="52000">
                        <a:srgbClr val="818EFF"/>
                      </a:gs>
                      <a:gs pos="35000">
                        <a:srgbClr val="2DB4FF"/>
                      </a:gs>
                      <a:gs pos="30000">
                        <a:srgbClr val="2DB4FF"/>
                      </a:gs>
                      <a:gs pos="3000">
                        <a:srgbClr val="0078D4"/>
                      </a:gs>
                      <a:gs pos="97000">
                        <a:srgbClr val="FEA874"/>
                      </a:gs>
                    </a:gsLst>
                    <a:lin ang="3000000" scaled="0"/>
                  </a:gradFill>
                  <a:cs typeface="Segoe UI" pitchFamily="34" charset="0"/>
                </a:endParaRPr>
              </a:p>
            </p:txBody>
          </p:sp>
          <p:sp>
            <p:nvSpPr>
              <p:cNvPr id="11" name="Oval 10">
                <a:extLst>
                  <a:ext uri="{FF2B5EF4-FFF2-40B4-BE49-F238E27FC236}">
                    <a16:creationId xmlns:a16="http://schemas.microsoft.com/office/drawing/2014/main" id="{69E6E0C8-65B4-237B-0B10-C22C512438EC}"/>
                  </a:ext>
                  <a:ext uri="{C183D7F6-B498-43B3-948B-1728B52AA6E4}">
                    <adec:decorative xmlns:adec="http://schemas.microsoft.com/office/drawing/2017/decorative" val="1"/>
                  </a:ext>
                </a:extLst>
              </p:cNvPr>
              <p:cNvSpPr/>
              <p:nvPr/>
            </p:nvSpPr>
            <p:spPr>
              <a:xfrm>
                <a:off x="7192848" y="1258984"/>
                <a:ext cx="4340029" cy="4340029"/>
              </a:xfrm>
              <a:prstGeom prst="ellipse">
                <a:avLst/>
              </a:prstGeom>
              <a:gradFill flip="none" rotWithShape="1">
                <a:gsLst>
                  <a:gs pos="0">
                    <a:schemeClr val="bg1">
                      <a:alpha val="25000"/>
                    </a:schemeClr>
                  </a:gs>
                  <a:gs pos="96552">
                    <a:schemeClr val="bg1">
                      <a:alpha val="57000"/>
                    </a:schemeClr>
                  </a:gs>
                </a:gsLst>
                <a:path path="circle">
                  <a:fillToRect l="100000" t="100000"/>
                </a:path>
                <a:tileRect r="-100000" b="-100000"/>
              </a:gra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gradFill>
                    <a:gsLst>
                      <a:gs pos="70000">
                        <a:srgbClr val="D660FF"/>
                      </a:gs>
                      <a:gs pos="52000">
                        <a:srgbClr val="818EFF"/>
                      </a:gs>
                      <a:gs pos="35000">
                        <a:srgbClr val="2DB4FF"/>
                      </a:gs>
                      <a:gs pos="30000">
                        <a:srgbClr val="2DB4FF"/>
                      </a:gs>
                      <a:gs pos="3000">
                        <a:srgbClr val="0078D4"/>
                      </a:gs>
                      <a:gs pos="97000">
                        <a:srgbClr val="FEA874"/>
                      </a:gs>
                    </a:gsLst>
                    <a:lin ang="3000000" scaled="0"/>
                  </a:gradFill>
                  <a:cs typeface="Segoe UI" pitchFamily="34" charset="0"/>
                </a:endParaRPr>
              </a:p>
            </p:txBody>
          </p:sp>
        </p:grpSp>
        <p:sp>
          <p:nvSpPr>
            <p:cNvPr id="36" name="Title 1">
              <a:extLst>
                <a:ext uri="{FF2B5EF4-FFF2-40B4-BE49-F238E27FC236}">
                  <a16:creationId xmlns:a16="http://schemas.microsoft.com/office/drawing/2014/main" id="{3F328C2D-D841-994E-A800-F3CC948127BD}"/>
                </a:ext>
              </a:extLst>
            </p:cNvPr>
            <p:cNvSpPr txBox="1">
              <a:spLocks/>
            </p:cNvSpPr>
            <p:nvPr/>
          </p:nvSpPr>
          <p:spPr>
            <a:xfrm>
              <a:off x="6701701" y="3493508"/>
              <a:ext cx="4814337" cy="8734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kern="1200">
                  <a:solidFill>
                    <a:srgbClr val="000000"/>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ea typeface="+mj-ea"/>
                  <a:cs typeface="+mj-cs"/>
                </a:rPr>
                <a:t>Microsoft 365 Copilot</a:t>
              </a:r>
              <a:br>
                <a:rPr kumimoji="0" lang="en-US" sz="2400" b="0" i="0" u="none" strike="noStrike" kern="1200" cap="none" spc="0" normalizeH="0" baseline="0" noProof="0" dirty="0">
                  <a:ln>
                    <a:noFill/>
                  </a:ln>
                  <a:solidFill>
                    <a:prstClr val="black"/>
                  </a:solidFill>
                  <a:effectLst/>
                  <a:uLnTx/>
                  <a:uFillTx/>
                  <a:ea typeface="+mj-ea"/>
                  <a:cs typeface="+mj-cs"/>
                </a:rPr>
              </a:br>
              <a:r>
                <a:rPr kumimoji="0" lang="en-US" sz="2400" b="0" i="0" u="none" strike="noStrike" kern="1200" cap="none" spc="0" normalizeH="0" baseline="0" noProof="0" dirty="0">
                  <a:ln>
                    <a:noFill/>
                  </a:ln>
                  <a:solidFill>
                    <a:prstClr val="black"/>
                  </a:solidFill>
                  <a:effectLst/>
                  <a:uLnTx/>
                  <a:uFillTx/>
                  <a:ea typeface="+mj-ea"/>
                  <a:cs typeface="+mj-cs"/>
                </a:rPr>
                <a:t>is built on trust</a:t>
              </a:r>
            </a:p>
          </p:txBody>
        </p:sp>
        <p:pic>
          <p:nvPicPr>
            <p:cNvPr id="6" name="Picture 5">
              <a:extLst>
                <a:ext uri="{FF2B5EF4-FFF2-40B4-BE49-F238E27FC236}">
                  <a16:creationId xmlns:a16="http://schemas.microsoft.com/office/drawing/2014/main" id="{F930D487-52FD-D438-8A14-9864E842A1C7}"/>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73183" y="2017713"/>
              <a:ext cx="1271373" cy="1285146"/>
            </a:xfrm>
            <a:prstGeom prst="rect">
              <a:avLst/>
            </a:prstGeom>
          </p:spPr>
        </p:pic>
      </p:grpSp>
      <p:sp>
        <p:nvSpPr>
          <p:cNvPr id="38" name="TextBox 37">
            <a:extLst>
              <a:ext uri="{FF2B5EF4-FFF2-40B4-BE49-F238E27FC236}">
                <a16:creationId xmlns:a16="http://schemas.microsoft.com/office/drawing/2014/main" id="{80DD34C7-7C28-0069-B523-B9291CB32A48}"/>
              </a:ext>
            </a:extLst>
          </p:cNvPr>
          <p:cNvSpPr txBox="1"/>
          <p:nvPr/>
        </p:nvSpPr>
        <p:spPr>
          <a:xfrm>
            <a:off x="3317478" y="6479268"/>
            <a:ext cx="6670158"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30000" noProof="0" dirty="0">
                <a:ln>
                  <a:noFill/>
                </a:ln>
                <a:solidFill>
                  <a:prstClr val="black"/>
                </a:solidFill>
                <a:effectLst/>
                <a:uLnTx/>
                <a:uFillTx/>
                <a:ea typeface="+mn-ea"/>
                <a:cs typeface="+mn-cs"/>
              </a:rPr>
              <a:t>1 </a:t>
            </a:r>
            <a:r>
              <a:rPr kumimoji="0" lang="en-US" sz="1000" b="0" i="0" u="none" strike="noStrike" kern="1200" cap="none" spc="0" normalizeH="0" baseline="0" noProof="0" dirty="0">
                <a:ln>
                  <a:noFill/>
                </a:ln>
                <a:solidFill>
                  <a:srgbClr val="0070C0"/>
                </a:solidFill>
                <a:effectLst/>
                <a:uLnTx/>
                <a:uFillTx/>
                <a:ea typeface="+mn-ea"/>
                <a:cs typeface="+mn-cs"/>
                <a:hlinkClick r:id="rId5">
                  <a:extLst>
                    <a:ext uri="{A12FA001-AC4F-418D-AE19-62706E023703}">
                      <ahyp:hlinkClr xmlns:ahyp="http://schemas.microsoft.com/office/drawing/2018/hyperlinkcolor" val="tx"/>
                    </a:ext>
                  </a:extLst>
                </a:hlinkClick>
              </a:rPr>
              <a:t>Learn more about the Customer Copyright Commitment</a:t>
            </a:r>
            <a:r>
              <a:rPr kumimoji="0" lang="en-US" sz="1000" b="0" i="0" u="none" strike="noStrike" kern="1200" cap="none" spc="0" normalizeH="0" baseline="0" noProof="0" dirty="0">
                <a:ln>
                  <a:noFill/>
                </a:ln>
                <a:solidFill>
                  <a:srgbClr val="0070C0"/>
                </a:solidFill>
                <a:effectLst/>
                <a:uLnTx/>
                <a:uFillTx/>
                <a:ea typeface="+mn-ea"/>
                <a:cs typeface="+mn-cs"/>
              </a:rPr>
              <a:t> </a:t>
            </a:r>
            <a:r>
              <a:rPr kumimoji="0" lang="en-US" sz="1000" b="0" i="0" u="none" strike="noStrike" kern="1200" cap="none" spc="0" normalizeH="0" baseline="0" noProof="0" dirty="0">
                <a:ln>
                  <a:noFill/>
                </a:ln>
                <a:effectLst/>
                <a:uLnTx/>
                <a:uFillTx/>
                <a:ea typeface="+mn-ea"/>
                <a:cs typeface="+mn-cs"/>
              </a:rPr>
              <a:t>| Microsoft</a:t>
            </a:r>
          </a:p>
        </p:txBody>
      </p:sp>
      <p:sp>
        <p:nvSpPr>
          <p:cNvPr id="3" name="Footer Placeholder 2">
            <a:extLst>
              <a:ext uri="{FF2B5EF4-FFF2-40B4-BE49-F238E27FC236}">
                <a16:creationId xmlns:a16="http://schemas.microsoft.com/office/drawing/2014/main" id="{8ADD2646-6C58-3133-BC88-63F877989C33}"/>
              </a:ext>
            </a:extLst>
          </p:cNvPr>
          <p:cNvSpPr>
            <a:spLocks noGrp="1"/>
          </p:cNvSpPr>
          <p:nvPr>
            <p:ph type="ftr" sz="quarter" idx="10"/>
          </p:nvPr>
        </p:nvSpPr>
        <p:spPr>
          <a:xfrm>
            <a:off x="571499" y="6362701"/>
            <a:ext cx="2815167" cy="495298"/>
          </a:xfrm>
        </p:spPr>
        <p:txBody>
          <a:bodyPr/>
          <a:lstStyle/>
          <a:p>
            <a:r>
              <a:rPr lang="en-US"/>
              <a:t>Building Customer-Centric Services offers</a:t>
            </a:r>
          </a:p>
        </p:txBody>
      </p:sp>
      <p:sp>
        <p:nvSpPr>
          <p:cNvPr id="4" name="Slide Number Placeholder 3">
            <a:extLst>
              <a:ext uri="{FF2B5EF4-FFF2-40B4-BE49-F238E27FC236}">
                <a16:creationId xmlns:a16="http://schemas.microsoft.com/office/drawing/2014/main" id="{D0ABE14A-3DD2-E54C-5811-4FA8ABBF1011}"/>
              </a:ext>
            </a:extLst>
          </p:cNvPr>
          <p:cNvSpPr>
            <a:spLocks noGrp="1"/>
          </p:cNvSpPr>
          <p:nvPr>
            <p:ph type="sldNum" sz="quarter" idx="11"/>
          </p:nvPr>
        </p:nvSpPr>
        <p:spPr>
          <a:xfrm>
            <a:off x="8610600" y="6362700"/>
            <a:ext cx="3009900" cy="488947"/>
          </a:xfrm>
        </p:spPr>
        <p:txBody>
          <a:bodyPr/>
          <a:lstStyle/>
          <a:p>
            <a:fld id="{5763EE98-C176-4152-A50F-E68840BAFA00}" type="slidenum">
              <a:rPr lang="en-US" smtClean="0"/>
              <a:pPr/>
              <a:t>6</a:t>
            </a:fld>
            <a:endParaRPr lang="en-US" dirty="0"/>
          </a:p>
        </p:txBody>
      </p:sp>
      <p:sp>
        <p:nvSpPr>
          <p:cNvPr id="2" name="Title 1">
            <a:extLst>
              <a:ext uri="{FF2B5EF4-FFF2-40B4-BE49-F238E27FC236}">
                <a16:creationId xmlns:a16="http://schemas.microsoft.com/office/drawing/2014/main" id="{0FA93072-1EDD-BA92-F136-5B1B5FDED8DB}"/>
              </a:ext>
            </a:extLst>
          </p:cNvPr>
          <p:cNvSpPr>
            <a:spLocks noGrp="1"/>
          </p:cNvSpPr>
          <p:nvPr>
            <p:ph type="title" idx="4294967295"/>
          </p:nvPr>
        </p:nvSpPr>
        <p:spPr>
          <a:xfrm>
            <a:off x="576816" y="454023"/>
            <a:ext cx="7004198" cy="554038"/>
          </a:xfrm>
        </p:spPr>
        <p:txBody>
          <a:bodyPr>
            <a:noAutofit/>
          </a:bodyPr>
          <a:lstStyle/>
          <a:p>
            <a:r>
              <a:rPr lang="en-US" spc="0" dirty="0"/>
              <a:t>Foundational AI Commitments</a:t>
            </a:r>
          </a:p>
        </p:txBody>
      </p:sp>
    </p:spTree>
    <p:extLst>
      <p:ext uri="{BB962C8B-B14F-4D97-AF65-F5344CB8AC3E}">
        <p14:creationId xmlns:p14="http://schemas.microsoft.com/office/powerpoint/2010/main" val="288993598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a:extLst>
            <a:ext uri="{FF2B5EF4-FFF2-40B4-BE49-F238E27FC236}">
              <a16:creationId xmlns:a16="http://schemas.microsoft.com/office/drawing/2014/main" id="{A2516B9F-6772-832F-05E4-91E24C00B899}"/>
            </a:ext>
          </a:extLst>
        </p:cNvPr>
        <p:cNvGrpSpPr/>
        <p:nvPr/>
      </p:nvGrpSpPr>
      <p:grpSpPr>
        <a:xfrm>
          <a:off x="0" y="0"/>
          <a:ext cx="0" cy="0"/>
          <a:chOff x="0" y="0"/>
          <a:chExt cx="0" cy="0"/>
        </a:xfrm>
      </p:grpSpPr>
      <p:sp>
        <p:nvSpPr>
          <p:cNvPr id="16" name="Rectangle: Rounded Corners 34">
            <a:extLst>
              <a:ext uri="{FF2B5EF4-FFF2-40B4-BE49-F238E27FC236}">
                <a16:creationId xmlns:a16="http://schemas.microsoft.com/office/drawing/2014/main" id="{01DAA39A-0086-7462-4F8E-908359C3BDD1}"/>
              </a:ext>
              <a:ext uri="{C183D7F6-B498-43B3-948B-1728B52AA6E4}">
                <adec:decorative xmlns:adec="http://schemas.microsoft.com/office/drawing/2017/decorative" val="1"/>
              </a:ext>
            </a:extLst>
          </p:cNvPr>
          <p:cNvSpPr/>
          <p:nvPr/>
        </p:nvSpPr>
        <p:spPr bwMode="auto">
          <a:xfrm>
            <a:off x="832529" y="2479250"/>
            <a:ext cx="10526942" cy="3415698"/>
          </a:xfrm>
          <a:prstGeom prst="roundRect">
            <a:avLst>
              <a:gd name="adj" fmla="val 5099"/>
            </a:avLst>
          </a:prstGeom>
          <a:gradFill flip="none" rotWithShape="1">
            <a:gsLst>
              <a:gs pos="0">
                <a:schemeClr val="bg1">
                  <a:alpha val="25000"/>
                </a:schemeClr>
              </a:gs>
              <a:gs pos="96552">
                <a:schemeClr val="bg1"/>
              </a:gs>
            </a:gsLst>
            <a:path path="circle">
              <a:fillToRect l="100000" t="100000"/>
            </a:path>
            <a:tileRect r="-100000" b="-100000"/>
          </a:gradFill>
          <a:ln w="22225">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gradFill>
                <a:gsLst>
                  <a:gs pos="70000">
                    <a:srgbClr val="D660FF"/>
                  </a:gs>
                  <a:gs pos="52000">
                    <a:srgbClr val="818EFF"/>
                  </a:gs>
                  <a:gs pos="35000">
                    <a:srgbClr val="2DB4FF"/>
                  </a:gs>
                  <a:gs pos="30000">
                    <a:srgbClr val="2DB4FF"/>
                  </a:gs>
                  <a:gs pos="3000">
                    <a:srgbClr val="0078D4"/>
                  </a:gs>
                  <a:gs pos="97000">
                    <a:srgbClr val="FEA874"/>
                  </a:gs>
                </a:gsLst>
                <a:lin ang="3000000" scaled="0"/>
              </a:gradFill>
              <a:cs typeface="Segoe UI" pitchFamily="34" charset="0"/>
            </a:endParaRPr>
          </a:p>
        </p:txBody>
      </p:sp>
      <p:pic>
        <p:nvPicPr>
          <p:cNvPr id="8" name="Picture 4" descr="A logo with a rainbow colored design&#10;&#10;Description automatically generated">
            <a:extLst>
              <a:ext uri="{FF2B5EF4-FFF2-40B4-BE49-F238E27FC236}">
                <a16:creationId xmlns:a16="http://schemas.microsoft.com/office/drawing/2014/main" id="{65B98141-CBA0-EF58-16C8-3DE13A673B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38887" y="586989"/>
            <a:ext cx="704088" cy="713038"/>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Rounded Corners 18">
            <a:extLst>
              <a:ext uri="{FF2B5EF4-FFF2-40B4-BE49-F238E27FC236}">
                <a16:creationId xmlns:a16="http://schemas.microsoft.com/office/drawing/2014/main" id="{A24A29FA-6974-E00E-0D71-B585958363B1}"/>
              </a:ext>
              <a:ext uri="{C183D7F6-B498-43B3-948B-1728B52AA6E4}">
                <adec:decorative xmlns:adec="http://schemas.microsoft.com/office/drawing/2017/decorative" val="0"/>
              </a:ext>
            </a:extLst>
          </p:cNvPr>
          <p:cNvSpPr txBox="1">
            <a:spLocks/>
          </p:cNvSpPr>
          <p:nvPr/>
        </p:nvSpPr>
        <p:spPr bwMode="auto">
          <a:xfrm>
            <a:off x="2032319" y="1424818"/>
            <a:ext cx="8158915" cy="5539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462" rtl="0" eaLnBrk="1" latinLnBrk="0" hangingPunct="1">
              <a:lnSpc>
                <a:spcPct val="100000"/>
              </a:lnSpc>
              <a:spcBef>
                <a:spcPct val="0"/>
              </a:spcBef>
              <a:buNone/>
              <a:defRPr lang="en-US" sz="3599"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246710" rtl="0" eaLnBrk="1" fontAlgn="base" latinLnBrk="0" hangingPunct="1">
              <a:lnSpc>
                <a:spcPct val="100000"/>
              </a:lnSpc>
              <a:spcBef>
                <a:spcPct val="0"/>
              </a:spcBef>
              <a:spcAft>
                <a:spcPct val="0"/>
              </a:spcAft>
              <a:buClrTx/>
              <a:buSzTx/>
              <a:buFontTx/>
              <a:buNone/>
              <a:tabLst/>
              <a:defRPr/>
            </a:pPr>
            <a:r>
              <a:rPr kumimoji="0" lang="en-CA" sz="3600" b="0" i="0" u="none" strike="noStrike" kern="1200" cap="none" spc="-50" normalizeH="0" baseline="0" noProof="0" dirty="0">
                <a:ln>
                  <a:noFill/>
                </a:ln>
                <a:gradFill>
                  <a:gsLst>
                    <a:gs pos="12844">
                      <a:srgbClr val="291817"/>
                    </a:gs>
                    <a:gs pos="38000">
                      <a:srgbClr val="291817"/>
                    </a:gs>
                  </a:gsLst>
                  <a:lin ang="13500000" scaled="1"/>
                </a:gradFill>
                <a:effectLst/>
                <a:uLnTx/>
                <a:uFillTx/>
                <a:latin typeface="Segoe Sans Display Semibold"/>
                <a:ea typeface="+mn-ea"/>
                <a:cs typeface="Segoe Sans Display Semibold"/>
              </a:rPr>
              <a:t>Microsoft 365 Copilot Chat</a:t>
            </a:r>
            <a:endParaRPr kumimoji="0" lang="en-US" sz="3599" b="0" i="0" u="none" strike="noStrike" kern="1200" cap="none" spc="-50" normalizeH="0" baseline="0" noProof="0" dirty="0">
              <a:ln w="3175">
                <a:noFill/>
              </a:ln>
              <a:solidFill>
                <a:srgbClr val="000000"/>
              </a:solidFill>
              <a:effectLst/>
              <a:uLnTx/>
              <a:uFillTx/>
              <a:latin typeface="Segoe UI Semibold"/>
              <a:ea typeface="+mn-ea"/>
              <a:cs typeface="Segoe UI" pitchFamily="34" charset="0"/>
            </a:endParaRPr>
          </a:p>
        </p:txBody>
      </p:sp>
      <p:sp>
        <p:nvSpPr>
          <p:cNvPr id="20" name="TextBox 19">
            <a:extLst>
              <a:ext uri="{FF2B5EF4-FFF2-40B4-BE49-F238E27FC236}">
                <a16:creationId xmlns:a16="http://schemas.microsoft.com/office/drawing/2014/main" id="{12A4D00E-48BF-FB8A-B198-3A5714544512}"/>
              </a:ext>
            </a:extLst>
          </p:cNvPr>
          <p:cNvSpPr txBox="1"/>
          <p:nvPr/>
        </p:nvSpPr>
        <p:spPr>
          <a:xfrm>
            <a:off x="8308169" y="4880281"/>
            <a:ext cx="2468880" cy="246093"/>
          </a:xfrm>
          <a:prstGeom prst="rect">
            <a:avLst/>
          </a:prstGeom>
          <a:noFill/>
        </p:spPr>
        <p:txBody>
          <a:bodyPr wrap="square" lIns="0" tIns="0" rIns="0" bIns="0" rtlCol="0" anchor="t">
            <a:spAutoFit/>
          </a:bodyPr>
          <a:lstStyle/>
          <a:p>
            <a:pPr marL="0" marR="0" lvl="0" indent="0" algn="ctr" defTabSz="812485"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a:ln>
                  <a:noFill/>
                </a:ln>
                <a:gradFill>
                  <a:gsLst>
                    <a:gs pos="12844">
                      <a:srgbClr val="291817"/>
                    </a:gs>
                    <a:gs pos="38000">
                      <a:srgbClr val="291817"/>
                    </a:gs>
                  </a:gsLst>
                </a:gradFill>
                <a:effectLst/>
                <a:uLnTx/>
                <a:uFillTx/>
                <a:latin typeface="Segoe Sans Display Semibold"/>
                <a:ea typeface="+mn-ea"/>
                <a:cs typeface="Segoe Sans Display Semibold"/>
              </a:rPr>
              <a:t>IT Controls</a:t>
            </a:r>
            <a:endParaRPr kumimoji="0" lang="en-US" sz="1765"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22" name="TextBox 21">
            <a:extLst>
              <a:ext uri="{FF2B5EF4-FFF2-40B4-BE49-F238E27FC236}">
                <a16:creationId xmlns:a16="http://schemas.microsoft.com/office/drawing/2014/main" id="{67F1D973-8ECC-A388-E282-AEFE9C25F4A3}"/>
              </a:ext>
            </a:extLst>
          </p:cNvPr>
          <p:cNvSpPr txBox="1">
            <a:spLocks/>
          </p:cNvSpPr>
          <p:nvPr/>
        </p:nvSpPr>
        <p:spPr>
          <a:xfrm>
            <a:off x="1688676" y="4865046"/>
            <a:ext cx="2011680" cy="238527"/>
          </a:xfrm>
          <a:prstGeom prst="rect">
            <a:avLst/>
          </a:prstGeom>
          <a:noFill/>
        </p:spPr>
        <p:txBody>
          <a:bodyPr wrap="square" lIns="0" tIns="0" rIns="0" bIns="0" rtlCol="0" anchor="ctr">
            <a:spAutoFit/>
          </a:bodyPr>
          <a:lstStyle/>
          <a:p>
            <a:pPr marL="0" marR="0" lvl="0" indent="0" algn="ctr" defTabSz="812485"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a:ln>
                  <a:noFill/>
                </a:ln>
                <a:gradFill>
                  <a:gsLst>
                    <a:gs pos="12844">
                      <a:srgbClr val="291817"/>
                    </a:gs>
                    <a:gs pos="38000">
                      <a:srgbClr val="291817"/>
                    </a:gs>
                  </a:gsLst>
                  <a:lin ang="13500000" scaled="1"/>
                </a:gradFill>
                <a:effectLst/>
                <a:uLnTx/>
                <a:uFillTx/>
                <a:latin typeface="Segoe Sans Display Semibold"/>
                <a:ea typeface="+mn-ea"/>
                <a:cs typeface="Segoe Sans Display Semibold"/>
              </a:rPr>
              <a:t>Chat</a:t>
            </a:r>
            <a:endParaRPr kumimoji="0" lang="en-US" sz="1550" b="1" i="0" u="none" strike="noStrike" kern="1200" cap="none" spc="0" normalizeH="0" baseline="0" noProof="0">
              <a:ln>
                <a:noFill/>
              </a:ln>
              <a:gradFill>
                <a:gsLst>
                  <a:gs pos="12844">
                    <a:srgbClr val="291817"/>
                  </a:gs>
                  <a:gs pos="38000">
                    <a:srgbClr val="291817"/>
                  </a:gs>
                </a:gsLst>
                <a:lin ang="13500000" scaled="1"/>
              </a:gradFill>
              <a:effectLst/>
              <a:uLnTx/>
              <a:uFillTx/>
              <a:latin typeface="Segoe Sans Display Semibold" pitchFamily="2" charset="0"/>
              <a:ea typeface="+mn-ea"/>
              <a:cs typeface="Segoe Sans Display Semibold" pitchFamily="2" charset="0"/>
            </a:endParaRPr>
          </a:p>
        </p:txBody>
      </p:sp>
      <p:pic>
        <p:nvPicPr>
          <p:cNvPr id="27" name="Picture 26">
            <a:extLst>
              <a:ext uri="{FF2B5EF4-FFF2-40B4-BE49-F238E27FC236}">
                <a16:creationId xmlns:a16="http://schemas.microsoft.com/office/drawing/2014/main" id="{E266295A-148B-F0D3-0108-1C8157EBAA4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a:stretch/>
        </p:blipFill>
        <p:spPr bwMode="auto">
          <a:xfrm>
            <a:off x="4719907" y="2977776"/>
            <a:ext cx="2761580" cy="1537037"/>
          </a:xfrm>
          <a:prstGeom prst="roundRect">
            <a:avLst>
              <a:gd name="adj" fmla="val 3902"/>
            </a:avLst>
          </a:prstGeom>
          <a:effectLst>
            <a:outerShdw blurRad="228600" dist="165100" dir="2700000" algn="tl" rotWithShape="0">
              <a:prstClr val="black">
                <a:alpha val="16000"/>
              </a:prstClr>
            </a:outerShdw>
          </a:effectLst>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2289B283-4858-560A-0033-4B1170E215EB}"/>
              </a:ext>
            </a:extLst>
          </p:cNvPr>
          <p:cNvSpPr txBox="1"/>
          <p:nvPr/>
        </p:nvSpPr>
        <p:spPr>
          <a:xfrm>
            <a:off x="5094857" y="4891871"/>
            <a:ext cx="2011680" cy="221599"/>
          </a:xfrm>
          <a:prstGeom prst="rect">
            <a:avLst/>
          </a:prstGeom>
          <a:noFill/>
        </p:spPr>
        <p:txBody>
          <a:bodyPr wrap="square" lIns="0" tIns="0" rIns="0" bIns="0" rtlCol="0" anchor="ctr">
            <a:spAutoFit/>
          </a:bodyPr>
          <a:lstStyle/>
          <a:p>
            <a:pPr marL="0" marR="0" lvl="0" indent="0" algn="ctr" defTabSz="812485" rtl="0" eaLnBrk="1" fontAlgn="auto" latinLnBrk="0" hangingPunct="1">
              <a:lnSpc>
                <a:spcPct val="90000"/>
              </a:lnSpc>
              <a:spcBef>
                <a:spcPts val="0"/>
              </a:spcBef>
              <a:spcAft>
                <a:spcPts val="0"/>
              </a:spcAft>
              <a:buClrTx/>
              <a:buSzTx/>
              <a:buFontTx/>
              <a:buNone/>
              <a:tabLst/>
              <a:defRPr/>
            </a:pPr>
            <a:r>
              <a:rPr kumimoji="0" lang="en-US" sz="1600" b="1" i="0" u="none" strike="noStrike" kern="1200" cap="none" spc="0" normalizeH="0" baseline="0" noProof="0">
                <a:ln>
                  <a:noFill/>
                </a:ln>
                <a:gradFill>
                  <a:gsLst>
                    <a:gs pos="12844">
                      <a:srgbClr val="291817"/>
                    </a:gs>
                    <a:gs pos="38000">
                      <a:srgbClr val="291817"/>
                    </a:gs>
                  </a:gsLst>
                  <a:lin ang="13500000" scaled="1"/>
                </a:gradFill>
                <a:effectLst/>
                <a:uLnTx/>
                <a:uFillTx/>
                <a:latin typeface="Segoe Sans Display Semibold"/>
                <a:ea typeface="+mn-ea"/>
                <a:cs typeface="Segoe Sans Display Semibold"/>
              </a:rPr>
              <a:t>Agents</a:t>
            </a:r>
            <a:endParaRPr kumimoji="0" lang="en-US" sz="1600" b="1" i="0" u="none" strike="noStrike" kern="1200" cap="none" spc="0" normalizeH="0" baseline="0" noProof="0">
              <a:ln>
                <a:noFill/>
              </a:ln>
              <a:gradFill>
                <a:gsLst>
                  <a:gs pos="12844">
                    <a:srgbClr val="291817"/>
                  </a:gs>
                  <a:gs pos="38000">
                    <a:srgbClr val="291817"/>
                  </a:gs>
                </a:gsLst>
                <a:lin ang="13500000" scaled="1"/>
              </a:gradFill>
              <a:effectLst/>
              <a:uLnTx/>
              <a:uFillTx/>
              <a:latin typeface="Segoe Sans Display Semibold" pitchFamily="2" charset="0"/>
              <a:ea typeface="+mn-ea"/>
              <a:cs typeface="Segoe Sans Display Semibold" pitchFamily="2" charset="0"/>
            </a:endParaRPr>
          </a:p>
        </p:txBody>
      </p:sp>
      <p:sp>
        <p:nvSpPr>
          <p:cNvPr id="30" name="Graphic 9">
            <a:extLst>
              <a:ext uri="{FF2B5EF4-FFF2-40B4-BE49-F238E27FC236}">
                <a16:creationId xmlns:a16="http://schemas.microsoft.com/office/drawing/2014/main" id="{035D7B55-C562-D3FA-FDFF-45C40A4C84C6}"/>
              </a:ext>
              <a:ext uri="{C183D7F6-B498-43B3-948B-1728B52AA6E4}">
                <adec:decorative xmlns:adec="http://schemas.microsoft.com/office/drawing/2017/decorative" val="1"/>
              </a:ext>
            </a:extLst>
          </p:cNvPr>
          <p:cNvSpPr>
            <a:spLocks noChangeAspect="1"/>
          </p:cNvSpPr>
          <p:nvPr/>
        </p:nvSpPr>
        <p:spPr>
          <a:xfrm>
            <a:off x="7862052" y="4922314"/>
            <a:ext cx="160713" cy="160713"/>
          </a:xfrm>
          <a:custGeom>
            <a:avLst/>
            <a:gdLst>
              <a:gd name="connsiteX0" fmla="*/ 176213 w 352425"/>
              <a:gd name="connsiteY0" fmla="*/ 0 h 352425"/>
              <a:gd name="connsiteX1" fmla="*/ 190500 w 352425"/>
              <a:gd name="connsiteY1" fmla="*/ 14288 h 352425"/>
              <a:gd name="connsiteX2" fmla="*/ 190500 w 352425"/>
              <a:gd name="connsiteY2" fmla="*/ 161925 h 352425"/>
              <a:gd name="connsiteX3" fmla="*/ 338138 w 352425"/>
              <a:gd name="connsiteY3" fmla="*/ 161925 h 352425"/>
              <a:gd name="connsiteX4" fmla="*/ 352425 w 352425"/>
              <a:gd name="connsiteY4" fmla="*/ 176213 h 352425"/>
              <a:gd name="connsiteX5" fmla="*/ 338138 w 352425"/>
              <a:gd name="connsiteY5" fmla="*/ 190500 h 352425"/>
              <a:gd name="connsiteX6" fmla="*/ 190500 w 352425"/>
              <a:gd name="connsiteY6" fmla="*/ 190500 h 352425"/>
              <a:gd name="connsiteX7" fmla="*/ 190500 w 352425"/>
              <a:gd name="connsiteY7" fmla="*/ 338138 h 352425"/>
              <a:gd name="connsiteX8" fmla="*/ 176213 w 352425"/>
              <a:gd name="connsiteY8" fmla="*/ 352425 h 352425"/>
              <a:gd name="connsiteX9" fmla="*/ 161925 w 352425"/>
              <a:gd name="connsiteY9" fmla="*/ 338138 h 352425"/>
              <a:gd name="connsiteX10" fmla="*/ 161925 w 352425"/>
              <a:gd name="connsiteY10" fmla="*/ 190500 h 352425"/>
              <a:gd name="connsiteX11" fmla="*/ 14288 w 352425"/>
              <a:gd name="connsiteY11" fmla="*/ 190500 h 352425"/>
              <a:gd name="connsiteX12" fmla="*/ 0 w 352425"/>
              <a:gd name="connsiteY12" fmla="*/ 176213 h 352425"/>
              <a:gd name="connsiteX13" fmla="*/ 14288 w 352425"/>
              <a:gd name="connsiteY13" fmla="*/ 161925 h 352425"/>
              <a:gd name="connsiteX14" fmla="*/ 161925 w 352425"/>
              <a:gd name="connsiteY14" fmla="*/ 161925 h 352425"/>
              <a:gd name="connsiteX15" fmla="*/ 161925 w 352425"/>
              <a:gd name="connsiteY15" fmla="*/ 14288 h 352425"/>
              <a:gd name="connsiteX16" fmla="*/ 176213 w 352425"/>
              <a:gd name="connsiteY16" fmla="*/ 0 h 352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52425" h="352425">
                <a:moveTo>
                  <a:pt x="176213" y="0"/>
                </a:moveTo>
                <a:cubicBezTo>
                  <a:pt x="184118" y="0"/>
                  <a:pt x="190500" y="6382"/>
                  <a:pt x="190500" y="14288"/>
                </a:cubicBezTo>
                <a:lnTo>
                  <a:pt x="190500" y="161925"/>
                </a:lnTo>
                <a:lnTo>
                  <a:pt x="338138" y="161925"/>
                </a:lnTo>
                <a:cubicBezTo>
                  <a:pt x="346043" y="161925"/>
                  <a:pt x="352425" y="168307"/>
                  <a:pt x="352425" y="176213"/>
                </a:cubicBezTo>
                <a:cubicBezTo>
                  <a:pt x="352425" y="184118"/>
                  <a:pt x="346043" y="190500"/>
                  <a:pt x="338138" y="190500"/>
                </a:cubicBezTo>
                <a:lnTo>
                  <a:pt x="190500" y="190500"/>
                </a:lnTo>
                <a:lnTo>
                  <a:pt x="190500" y="338138"/>
                </a:lnTo>
                <a:cubicBezTo>
                  <a:pt x="190500" y="346043"/>
                  <a:pt x="184118" y="352425"/>
                  <a:pt x="176213" y="352425"/>
                </a:cubicBezTo>
                <a:cubicBezTo>
                  <a:pt x="168307" y="352425"/>
                  <a:pt x="161925" y="346043"/>
                  <a:pt x="161925" y="338138"/>
                </a:cubicBezTo>
                <a:lnTo>
                  <a:pt x="161925" y="190500"/>
                </a:lnTo>
                <a:lnTo>
                  <a:pt x="14288" y="190500"/>
                </a:lnTo>
                <a:cubicBezTo>
                  <a:pt x="6382" y="190500"/>
                  <a:pt x="0" y="184118"/>
                  <a:pt x="0" y="176213"/>
                </a:cubicBezTo>
                <a:cubicBezTo>
                  <a:pt x="0" y="168307"/>
                  <a:pt x="6382" y="161925"/>
                  <a:pt x="14288" y="161925"/>
                </a:cubicBezTo>
                <a:lnTo>
                  <a:pt x="161925" y="161925"/>
                </a:lnTo>
                <a:lnTo>
                  <a:pt x="161925" y="14288"/>
                </a:lnTo>
                <a:cubicBezTo>
                  <a:pt x="161925" y="6382"/>
                  <a:pt x="168307" y="0"/>
                  <a:pt x="176213" y="0"/>
                </a:cubicBezTo>
                <a:close/>
              </a:path>
            </a:pathLst>
          </a:custGeom>
          <a:solidFill>
            <a:srgbClr val="291817"/>
          </a:solidFill>
          <a:ln w="0" cap="flat">
            <a:noFill/>
            <a:prstDash val="solid"/>
            <a:miter/>
          </a:ln>
          <a:effectLst/>
        </p:spPr>
        <p:txBody>
          <a:bodyPr rtlCol="0" anchor="ctr"/>
          <a:lstStyle/>
          <a:p>
            <a:pPr marL="0" marR="0" lvl="0" indent="0" algn="l" defTabSz="664393" rtl="0" eaLnBrk="1" fontAlgn="auto" latinLnBrk="0" hangingPunct="1">
              <a:lnSpc>
                <a:spcPct val="100000"/>
              </a:lnSpc>
              <a:spcBef>
                <a:spcPts val="0"/>
              </a:spcBef>
              <a:spcAft>
                <a:spcPts val="0"/>
              </a:spcAft>
              <a:buClrTx/>
              <a:buSzTx/>
              <a:buFontTx/>
              <a:buNone/>
              <a:tabLst/>
              <a:defRPr/>
            </a:pPr>
            <a:endParaRPr kumimoji="0" lang="en-US" sz="3349" b="0" i="0" u="none" strike="noStrike" kern="1200" cap="none" spc="0" normalizeH="0" baseline="0" noProof="0">
              <a:ln>
                <a:noFill/>
              </a:ln>
              <a:gradFill>
                <a:gsLst>
                  <a:gs pos="12844">
                    <a:srgbClr val="291817"/>
                  </a:gs>
                  <a:gs pos="58000">
                    <a:srgbClr val="291817"/>
                  </a:gs>
                </a:gsLst>
                <a:path path="circle">
                  <a:fillToRect r="100000" b="100000"/>
                </a:path>
              </a:gradFill>
              <a:effectLst/>
              <a:uLnTx/>
              <a:uFillTx/>
              <a:latin typeface="Segoe Sans Display Semibold" pitchFamily="2" charset="0"/>
              <a:ea typeface="+mn-ea"/>
              <a:cs typeface="Segoe Sans Display Semibold" pitchFamily="2" charset="0"/>
            </a:endParaRPr>
          </a:p>
        </p:txBody>
      </p:sp>
      <p:sp>
        <p:nvSpPr>
          <p:cNvPr id="32" name="Graphic 9">
            <a:extLst>
              <a:ext uri="{FF2B5EF4-FFF2-40B4-BE49-F238E27FC236}">
                <a16:creationId xmlns:a16="http://schemas.microsoft.com/office/drawing/2014/main" id="{F3F8CC45-FD68-DB12-D372-6700312D0D88}"/>
              </a:ext>
              <a:ext uri="{C183D7F6-B498-43B3-948B-1728B52AA6E4}">
                <adec:decorative xmlns:adec="http://schemas.microsoft.com/office/drawing/2017/decorative" val="1"/>
              </a:ext>
            </a:extLst>
          </p:cNvPr>
          <p:cNvSpPr>
            <a:spLocks noChangeAspect="1"/>
          </p:cNvSpPr>
          <p:nvPr/>
        </p:nvSpPr>
        <p:spPr>
          <a:xfrm>
            <a:off x="4319066" y="4922314"/>
            <a:ext cx="160713" cy="160713"/>
          </a:xfrm>
          <a:custGeom>
            <a:avLst/>
            <a:gdLst>
              <a:gd name="connsiteX0" fmla="*/ 176213 w 352425"/>
              <a:gd name="connsiteY0" fmla="*/ 0 h 352425"/>
              <a:gd name="connsiteX1" fmla="*/ 190500 w 352425"/>
              <a:gd name="connsiteY1" fmla="*/ 14288 h 352425"/>
              <a:gd name="connsiteX2" fmla="*/ 190500 w 352425"/>
              <a:gd name="connsiteY2" fmla="*/ 161925 h 352425"/>
              <a:gd name="connsiteX3" fmla="*/ 338138 w 352425"/>
              <a:gd name="connsiteY3" fmla="*/ 161925 h 352425"/>
              <a:gd name="connsiteX4" fmla="*/ 352425 w 352425"/>
              <a:gd name="connsiteY4" fmla="*/ 176213 h 352425"/>
              <a:gd name="connsiteX5" fmla="*/ 338138 w 352425"/>
              <a:gd name="connsiteY5" fmla="*/ 190500 h 352425"/>
              <a:gd name="connsiteX6" fmla="*/ 190500 w 352425"/>
              <a:gd name="connsiteY6" fmla="*/ 190500 h 352425"/>
              <a:gd name="connsiteX7" fmla="*/ 190500 w 352425"/>
              <a:gd name="connsiteY7" fmla="*/ 338138 h 352425"/>
              <a:gd name="connsiteX8" fmla="*/ 176213 w 352425"/>
              <a:gd name="connsiteY8" fmla="*/ 352425 h 352425"/>
              <a:gd name="connsiteX9" fmla="*/ 161925 w 352425"/>
              <a:gd name="connsiteY9" fmla="*/ 338138 h 352425"/>
              <a:gd name="connsiteX10" fmla="*/ 161925 w 352425"/>
              <a:gd name="connsiteY10" fmla="*/ 190500 h 352425"/>
              <a:gd name="connsiteX11" fmla="*/ 14288 w 352425"/>
              <a:gd name="connsiteY11" fmla="*/ 190500 h 352425"/>
              <a:gd name="connsiteX12" fmla="*/ 0 w 352425"/>
              <a:gd name="connsiteY12" fmla="*/ 176213 h 352425"/>
              <a:gd name="connsiteX13" fmla="*/ 14288 w 352425"/>
              <a:gd name="connsiteY13" fmla="*/ 161925 h 352425"/>
              <a:gd name="connsiteX14" fmla="*/ 161925 w 352425"/>
              <a:gd name="connsiteY14" fmla="*/ 161925 h 352425"/>
              <a:gd name="connsiteX15" fmla="*/ 161925 w 352425"/>
              <a:gd name="connsiteY15" fmla="*/ 14288 h 352425"/>
              <a:gd name="connsiteX16" fmla="*/ 176213 w 352425"/>
              <a:gd name="connsiteY16" fmla="*/ 0 h 352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52425" h="352425">
                <a:moveTo>
                  <a:pt x="176213" y="0"/>
                </a:moveTo>
                <a:cubicBezTo>
                  <a:pt x="184118" y="0"/>
                  <a:pt x="190500" y="6382"/>
                  <a:pt x="190500" y="14288"/>
                </a:cubicBezTo>
                <a:lnTo>
                  <a:pt x="190500" y="161925"/>
                </a:lnTo>
                <a:lnTo>
                  <a:pt x="338138" y="161925"/>
                </a:lnTo>
                <a:cubicBezTo>
                  <a:pt x="346043" y="161925"/>
                  <a:pt x="352425" y="168307"/>
                  <a:pt x="352425" y="176213"/>
                </a:cubicBezTo>
                <a:cubicBezTo>
                  <a:pt x="352425" y="184118"/>
                  <a:pt x="346043" y="190500"/>
                  <a:pt x="338138" y="190500"/>
                </a:cubicBezTo>
                <a:lnTo>
                  <a:pt x="190500" y="190500"/>
                </a:lnTo>
                <a:lnTo>
                  <a:pt x="190500" y="338138"/>
                </a:lnTo>
                <a:cubicBezTo>
                  <a:pt x="190500" y="346043"/>
                  <a:pt x="184118" y="352425"/>
                  <a:pt x="176213" y="352425"/>
                </a:cubicBezTo>
                <a:cubicBezTo>
                  <a:pt x="168307" y="352425"/>
                  <a:pt x="161925" y="346043"/>
                  <a:pt x="161925" y="338138"/>
                </a:cubicBezTo>
                <a:lnTo>
                  <a:pt x="161925" y="190500"/>
                </a:lnTo>
                <a:lnTo>
                  <a:pt x="14288" y="190500"/>
                </a:lnTo>
                <a:cubicBezTo>
                  <a:pt x="6382" y="190500"/>
                  <a:pt x="0" y="184118"/>
                  <a:pt x="0" y="176213"/>
                </a:cubicBezTo>
                <a:cubicBezTo>
                  <a:pt x="0" y="168307"/>
                  <a:pt x="6382" y="161925"/>
                  <a:pt x="14288" y="161925"/>
                </a:cubicBezTo>
                <a:lnTo>
                  <a:pt x="161925" y="161925"/>
                </a:lnTo>
                <a:lnTo>
                  <a:pt x="161925" y="14288"/>
                </a:lnTo>
                <a:cubicBezTo>
                  <a:pt x="161925" y="6382"/>
                  <a:pt x="168307" y="0"/>
                  <a:pt x="176213" y="0"/>
                </a:cubicBezTo>
                <a:close/>
              </a:path>
            </a:pathLst>
          </a:custGeom>
          <a:solidFill>
            <a:srgbClr val="291817"/>
          </a:solidFill>
          <a:ln w="0" cap="flat">
            <a:noFill/>
            <a:prstDash val="solid"/>
            <a:miter/>
          </a:ln>
          <a:effectLst/>
        </p:spPr>
        <p:txBody>
          <a:bodyPr rtlCol="0" anchor="ctr"/>
          <a:lstStyle/>
          <a:p>
            <a:pPr marL="0" marR="0" lvl="0" indent="0" algn="l" defTabSz="664393" rtl="0" eaLnBrk="1" fontAlgn="auto" latinLnBrk="0" hangingPunct="1">
              <a:lnSpc>
                <a:spcPct val="100000"/>
              </a:lnSpc>
              <a:spcBef>
                <a:spcPts val="0"/>
              </a:spcBef>
              <a:spcAft>
                <a:spcPts val="0"/>
              </a:spcAft>
              <a:buClrTx/>
              <a:buSzTx/>
              <a:buFontTx/>
              <a:buNone/>
              <a:tabLst/>
              <a:defRPr/>
            </a:pPr>
            <a:endParaRPr kumimoji="0" lang="en-US" sz="3349" b="0" i="0" u="none" strike="noStrike" kern="1200" cap="none" spc="0" normalizeH="0" baseline="0" noProof="0">
              <a:ln>
                <a:noFill/>
              </a:ln>
              <a:gradFill>
                <a:gsLst>
                  <a:gs pos="12844">
                    <a:srgbClr val="291817"/>
                  </a:gs>
                  <a:gs pos="58000">
                    <a:srgbClr val="291817"/>
                  </a:gs>
                </a:gsLst>
                <a:path path="circle">
                  <a:fillToRect r="100000" b="100000"/>
                </a:path>
              </a:gradFill>
              <a:effectLst/>
              <a:uLnTx/>
              <a:uFillTx/>
              <a:latin typeface="Segoe Sans Display Semibold" pitchFamily="2" charset="0"/>
              <a:ea typeface="+mn-ea"/>
              <a:cs typeface="Segoe Sans Display Semibold" pitchFamily="2" charset="0"/>
            </a:endParaRPr>
          </a:p>
        </p:txBody>
      </p:sp>
      <p:grpSp>
        <p:nvGrpSpPr>
          <p:cNvPr id="5" name="Group 4">
            <a:extLst>
              <a:ext uri="{FF2B5EF4-FFF2-40B4-BE49-F238E27FC236}">
                <a16:creationId xmlns:a16="http://schemas.microsoft.com/office/drawing/2014/main" id="{003BAE74-BE87-9739-19B8-977542F0A273}"/>
              </a:ext>
            </a:extLst>
          </p:cNvPr>
          <p:cNvGrpSpPr>
            <a:grpSpLocks noChangeAspect="1"/>
          </p:cNvGrpSpPr>
          <p:nvPr/>
        </p:nvGrpSpPr>
        <p:grpSpPr>
          <a:xfrm>
            <a:off x="1353047" y="3002145"/>
            <a:ext cx="2682936" cy="1557750"/>
            <a:chOff x="879883" y="3216750"/>
            <a:chExt cx="2404402" cy="1398393"/>
          </a:xfrm>
          <a:effectLst>
            <a:outerShdw blurRad="228600" dist="165100" dir="2700000" algn="tl" rotWithShape="0">
              <a:prstClr val="black">
                <a:alpha val="16000"/>
              </a:prstClr>
            </a:outerShdw>
          </a:effectLst>
        </p:grpSpPr>
        <p:pic>
          <p:nvPicPr>
            <p:cNvPr id="3" name="Picture 2">
              <a:extLst>
                <a:ext uri="{FF2B5EF4-FFF2-40B4-BE49-F238E27FC236}">
                  <a16:creationId xmlns:a16="http://schemas.microsoft.com/office/drawing/2014/main" id="{E1E62502-3C6A-E108-3C47-7A0FD2FDEDCD}"/>
                </a:ext>
              </a:extLst>
            </p:cNvPr>
            <p:cNvPicPr>
              <a:picLocks noChangeAspect="1"/>
            </p:cNvPicPr>
            <p:nvPr/>
          </p:nvPicPr>
          <p:blipFill>
            <a:blip r:embed="rId6"/>
            <a:srcRect t="722" b="722"/>
            <a:stretch/>
          </p:blipFill>
          <p:spPr>
            <a:xfrm>
              <a:off x="879883" y="3216750"/>
              <a:ext cx="2279162" cy="1266675"/>
            </a:xfrm>
            <a:prstGeom prst="roundRect">
              <a:avLst>
                <a:gd name="adj" fmla="val 4418"/>
              </a:avLst>
            </a:prstGeom>
            <a:effectLst>
              <a:outerShdw blurRad="127000" dist="63500" dir="2700000" algn="tl" rotWithShape="0">
                <a:srgbClr val="291817">
                  <a:alpha val="20000"/>
                </a:srgbClr>
              </a:outerShdw>
            </a:effectLst>
          </p:spPr>
        </p:pic>
        <p:pic>
          <p:nvPicPr>
            <p:cNvPr id="4" name="Picture 3">
              <a:extLst>
                <a:ext uri="{FF2B5EF4-FFF2-40B4-BE49-F238E27FC236}">
                  <a16:creationId xmlns:a16="http://schemas.microsoft.com/office/drawing/2014/main" id="{3A18C789-04C8-F626-FB51-0E4761BF2AD7}"/>
                </a:ext>
              </a:extLst>
            </p:cNvPr>
            <p:cNvPicPr>
              <a:picLocks noChangeAspect="1"/>
            </p:cNvPicPr>
            <p:nvPr/>
          </p:nvPicPr>
          <p:blipFill>
            <a:blip r:embed="rId7"/>
            <a:srcRect l="970" r="970"/>
            <a:stretch/>
          </p:blipFill>
          <p:spPr>
            <a:xfrm>
              <a:off x="2768601" y="3474499"/>
              <a:ext cx="515684" cy="1140644"/>
            </a:xfrm>
            <a:prstGeom prst="roundRect">
              <a:avLst>
                <a:gd name="adj" fmla="val 9561"/>
              </a:avLst>
            </a:prstGeom>
            <a:ln w="19050">
              <a:solidFill>
                <a:schemeClr val="tx1"/>
              </a:solidFill>
            </a:ln>
            <a:effectLst>
              <a:outerShdw blurRad="50800" dist="38100" dir="2700000" algn="ctr" rotWithShape="0">
                <a:srgbClr val="000000">
                  <a:alpha val="15000"/>
                </a:srgbClr>
              </a:outerShdw>
            </a:effectLst>
          </p:spPr>
        </p:pic>
      </p:grpSp>
      <p:sp>
        <p:nvSpPr>
          <p:cNvPr id="2" name="TextBox 1">
            <a:extLst>
              <a:ext uri="{FF2B5EF4-FFF2-40B4-BE49-F238E27FC236}">
                <a16:creationId xmlns:a16="http://schemas.microsoft.com/office/drawing/2014/main" id="{DD99F00E-B9DB-8E75-88C1-BDE244C455B1}"/>
              </a:ext>
            </a:extLst>
          </p:cNvPr>
          <p:cNvSpPr txBox="1"/>
          <p:nvPr/>
        </p:nvSpPr>
        <p:spPr>
          <a:xfrm>
            <a:off x="1322916" y="5130204"/>
            <a:ext cx="2743200"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91F2C"/>
                </a:solidFill>
                <a:effectLst/>
                <a:uLnTx/>
                <a:uFillTx/>
                <a:latin typeface="Segoe Sans Display"/>
                <a:ea typeface="+mn-ea"/>
                <a:cs typeface="+mn-cs"/>
              </a:rPr>
              <a:t>Free, secure AI chat –</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91F2C"/>
                </a:solidFill>
                <a:effectLst/>
                <a:uLnTx/>
                <a:uFillTx/>
                <a:latin typeface="Segoe Sans Display"/>
                <a:ea typeface="+mn-ea"/>
                <a:cs typeface="+mn-cs"/>
              </a:rPr>
              <a:t> powered by GPT-4o and web grounded </a:t>
            </a:r>
            <a:endParaRPr kumimoji="0" lang="en-US" sz="1765"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6" name="TextBox 5">
            <a:extLst>
              <a:ext uri="{FF2B5EF4-FFF2-40B4-BE49-F238E27FC236}">
                <a16:creationId xmlns:a16="http://schemas.microsoft.com/office/drawing/2014/main" id="{56BF2419-3A50-5D1D-7453-28CC6508AFF7}"/>
              </a:ext>
            </a:extLst>
          </p:cNvPr>
          <p:cNvSpPr txBox="1"/>
          <p:nvPr/>
        </p:nvSpPr>
        <p:spPr>
          <a:xfrm>
            <a:off x="4729097" y="5130204"/>
            <a:ext cx="2743200"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91F2C"/>
                </a:solidFill>
                <a:effectLst/>
                <a:uLnTx/>
                <a:uFillTx/>
                <a:latin typeface="Segoe Sans Display"/>
                <a:ea typeface="+mn-ea"/>
                <a:cs typeface="+mn-cs"/>
              </a:rPr>
              <a:t>Integrated into the chat experience and paid for on a consumption basis</a:t>
            </a:r>
            <a:endParaRPr kumimoji="0" lang="en-US" sz="1765"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9" name="TextBox 8">
            <a:extLst>
              <a:ext uri="{FF2B5EF4-FFF2-40B4-BE49-F238E27FC236}">
                <a16:creationId xmlns:a16="http://schemas.microsoft.com/office/drawing/2014/main" id="{2B4DE610-E040-0ACD-C35C-AD871B69D304}"/>
              </a:ext>
            </a:extLst>
          </p:cNvPr>
          <p:cNvSpPr txBox="1"/>
          <p:nvPr/>
        </p:nvSpPr>
        <p:spPr>
          <a:xfrm>
            <a:off x="8087375" y="5130204"/>
            <a:ext cx="2910468"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91F2C"/>
                </a:solidFill>
                <a:effectLst/>
                <a:uLnTx/>
                <a:uFillTx/>
                <a:latin typeface="Segoe Sans Display"/>
                <a:ea typeface="+mn-ea"/>
                <a:cs typeface="+mn-cs"/>
              </a:rPr>
              <a:t>Enterprise Data Protection </a:t>
            </a:r>
            <a:endParaRPr kumimoji="0" lang="en-US" sz="1765" b="0" i="0" u="none" strike="noStrike" kern="1200" cap="none" spc="0" normalizeH="0" baseline="0" noProof="0">
              <a:ln>
                <a:noFill/>
              </a:ln>
              <a:solidFill>
                <a:srgbClr val="091F2C"/>
              </a:solidFill>
              <a:effectLst/>
              <a:uLnTx/>
              <a:uFillTx/>
              <a:latin typeface="Segoe Sans Display"/>
              <a:ea typeface="+mn-ea"/>
              <a:cs typeface="+mn-cs"/>
            </a:endParaRP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91F2C"/>
                </a:solidFill>
                <a:effectLst/>
                <a:uLnTx/>
                <a:uFillTx/>
                <a:latin typeface="Segoe Sans Display"/>
                <a:ea typeface="+mn-ea"/>
                <a:cs typeface="+mn-cs"/>
              </a:rPr>
              <a:t>and agent management</a:t>
            </a:r>
            <a:endParaRPr kumimoji="0" lang="en-US" sz="1750" b="0" i="0" u="none" strike="noStrike" kern="1200" cap="none" spc="0" normalizeH="0" baseline="0" noProof="0">
              <a:ln>
                <a:noFill/>
              </a:ln>
              <a:solidFill>
                <a:srgbClr val="091F2C"/>
              </a:solidFill>
              <a:effectLst/>
              <a:uLnTx/>
              <a:uFillTx/>
              <a:latin typeface="Segoe Sans Display"/>
              <a:ea typeface="+mn-ea"/>
              <a:cs typeface="+mn-cs"/>
            </a:endParaRPr>
          </a:p>
        </p:txBody>
      </p:sp>
      <p:pic>
        <p:nvPicPr>
          <p:cNvPr id="10" name="Picture 9" descr="A screenshot of a computer&#10;&#10;Description automatically generated">
            <a:extLst>
              <a:ext uri="{FF2B5EF4-FFF2-40B4-BE49-F238E27FC236}">
                <a16:creationId xmlns:a16="http://schemas.microsoft.com/office/drawing/2014/main" id="{28903B99-F8B2-02C4-ACED-9F5AE1F72AAF}"/>
              </a:ext>
            </a:extLst>
          </p:cNvPr>
          <p:cNvPicPr>
            <a:picLocks noChangeAspect="1"/>
          </p:cNvPicPr>
          <p:nvPr/>
        </p:nvPicPr>
        <p:blipFill>
          <a:blip r:embed="rId8">
            <a:extLst>
              <a:ext uri="{28A0092B-C50C-407E-A947-70E740481C1C}">
                <a14:useLocalDpi xmlns:a14="http://schemas.microsoft.com/office/drawing/2010/main" val="0"/>
              </a:ext>
            </a:extLst>
          </a:blip>
          <a:srcRect t="91" b="91"/>
          <a:stretch>
            <a:fillRect/>
          </a:stretch>
        </p:blipFill>
        <p:spPr bwMode="auto">
          <a:xfrm>
            <a:off x="8364942" y="2964191"/>
            <a:ext cx="2355335" cy="1564206"/>
          </a:xfrm>
          <a:prstGeom prst="rect">
            <a:avLst/>
          </a:prstGeom>
          <a:noFill/>
          <a:ln>
            <a:solidFill>
              <a:schemeClr val="bg1">
                <a:lumMod val="75000"/>
              </a:schemeClr>
            </a:solidFill>
          </a:ln>
          <a:effectLst>
            <a:outerShdw blurRad="228600" dist="165100" dir="2700000" algn="tl" rotWithShape="0">
              <a:prstClr val="black">
                <a:alpha val="16000"/>
              </a:prstClr>
            </a:outerShdw>
          </a:effectLst>
          <a:extLst>
            <a:ext uri="{53640926-AAD7-44D8-BBD7-CCE9431645EC}">
              <a14:shadowObscured xmlns:a14="http://schemas.microsoft.com/office/drawing/2010/main"/>
            </a:ext>
          </a:extLst>
        </p:spPr>
      </p:pic>
      <p:sp>
        <p:nvSpPr>
          <p:cNvPr id="7" name="Footer Placeholder 6">
            <a:extLst>
              <a:ext uri="{FF2B5EF4-FFF2-40B4-BE49-F238E27FC236}">
                <a16:creationId xmlns:a16="http://schemas.microsoft.com/office/drawing/2014/main" id="{A90BA197-0486-5D99-CEC0-498E242547D9}"/>
              </a:ext>
            </a:extLst>
          </p:cNvPr>
          <p:cNvSpPr>
            <a:spLocks noGrp="1"/>
          </p:cNvSpPr>
          <p:nvPr>
            <p:ph type="ftr" sz="quarter" idx="10"/>
          </p:nvPr>
        </p:nvSpPr>
        <p:spPr/>
        <p:txBody>
          <a:bodyPr/>
          <a:lstStyle/>
          <a:p>
            <a:r>
              <a:rPr lang="en-US"/>
              <a:t>Building Customer-Centric Services offers</a:t>
            </a:r>
          </a:p>
        </p:txBody>
      </p:sp>
      <p:sp>
        <p:nvSpPr>
          <p:cNvPr id="11" name="Slide Number Placeholder 10">
            <a:extLst>
              <a:ext uri="{FF2B5EF4-FFF2-40B4-BE49-F238E27FC236}">
                <a16:creationId xmlns:a16="http://schemas.microsoft.com/office/drawing/2014/main" id="{F3961473-AA0B-0986-6852-21B2172B3EE0}"/>
              </a:ext>
            </a:extLst>
          </p:cNvPr>
          <p:cNvSpPr>
            <a:spLocks noGrp="1"/>
          </p:cNvSpPr>
          <p:nvPr>
            <p:ph type="sldNum" sz="quarter" idx="11"/>
          </p:nvPr>
        </p:nvSpPr>
        <p:spPr/>
        <p:txBody>
          <a:bodyPr/>
          <a:lstStyle/>
          <a:p>
            <a:fld id="{5763EE98-C176-4152-A50F-E68840BAFA00}" type="slidenum">
              <a:rPr lang="en-US" smtClean="0"/>
              <a:pPr/>
              <a:t>7</a:t>
            </a:fld>
            <a:endParaRPr lang="en-US"/>
          </a:p>
        </p:txBody>
      </p:sp>
    </p:spTree>
    <p:extLst>
      <p:ext uri="{BB962C8B-B14F-4D97-AF65-F5344CB8AC3E}">
        <p14:creationId xmlns:p14="http://schemas.microsoft.com/office/powerpoint/2010/main" val="387306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a:extLst>
            <a:ext uri="{FF2B5EF4-FFF2-40B4-BE49-F238E27FC236}">
              <a16:creationId xmlns:a16="http://schemas.microsoft.com/office/drawing/2014/main" id="{8F01D611-4087-B41E-83D4-7E371256C5A6}"/>
            </a:ext>
          </a:extLst>
        </p:cNvPr>
        <p:cNvGrpSpPr/>
        <p:nvPr/>
      </p:nvGrpSpPr>
      <p:grpSpPr>
        <a:xfrm>
          <a:off x="0" y="0"/>
          <a:ext cx="0" cy="0"/>
          <a:chOff x="0" y="0"/>
          <a:chExt cx="0" cy="0"/>
        </a:xfrm>
      </p:grpSpPr>
      <p:sp>
        <p:nvSpPr>
          <p:cNvPr id="27" name="Rectangle: Rounded Corners 26">
            <a:extLst>
              <a:ext uri="{FF2B5EF4-FFF2-40B4-BE49-F238E27FC236}">
                <a16:creationId xmlns:a16="http://schemas.microsoft.com/office/drawing/2014/main" id="{0E2ADD84-3241-2166-474E-FF705E1778BC}"/>
              </a:ext>
              <a:ext uri="{C183D7F6-B498-43B3-948B-1728B52AA6E4}">
                <adec:decorative xmlns:adec="http://schemas.microsoft.com/office/drawing/2017/decorative" val="1"/>
              </a:ext>
            </a:extLst>
          </p:cNvPr>
          <p:cNvSpPr>
            <a:spLocks/>
          </p:cNvSpPr>
          <p:nvPr/>
        </p:nvSpPr>
        <p:spPr bwMode="auto">
          <a:xfrm>
            <a:off x="586740" y="457201"/>
            <a:ext cx="11018520" cy="5905499"/>
          </a:xfrm>
          <a:prstGeom prst="roundRect">
            <a:avLst>
              <a:gd name="adj" fmla="val 2140"/>
            </a:avLst>
          </a:prstGeom>
          <a:gradFill flip="none" rotWithShape="1">
            <a:gsLst>
              <a:gs pos="0">
                <a:schemeClr val="bg1">
                  <a:alpha val="25000"/>
                </a:schemeClr>
              </a:gs>
              <a:gs pos="96552">
                <a:schemeClr val="bg1"/>
              </a:gs>
            </a:gsLst>
            <a:path path="circle">
              <a:fillToRect l="100000" t="100000"/>
            </a:path>
            <a:tileRect r="-100000" b="-100000"/>
          </a:gradFill>
          <a:ln w="22225">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gradFill>
                <a:gsLst>
                  <a:gs pos="70000">
                    <a:srgbClr val="D660FF"/>
                  </a:gs>
                  <a:gs pos="52000">
                    <a:srgbClr val="818EFF"/>
                  </a:gs>
                  <a:gs pos="35000">
                    <a:srgbClr val="2DB4FF"/>
                  </a:gs>
                  <a:gs pos="30000">
                    <a:srgbClr val="2DB4FF"/>
                  </a:gs>
                  <a:gs pos="3000">
                    <a:srgbClr val="0078D4"/>
                  </a:gs>
                  <a:gs pos="97000">
                    <a:srgbClr val="FEA874"/>
                  </a:gs>
                </a:gsLst>
                <a:lin ang="3000000" scaled="0"/>
              </a:gradFill>
              <a:cs typeface="Segoe UI" pitchFamily="34" charset="0"/>
            </a:endParaRPr>
          </a:p>
        </p:txBody>
      </p:sp>
      <p:sp>
        <p:nvSpPr>
          <p:cNvPr id="55" name="Rectangle: Rounded Corners 54">
            <a:extLst>
              <a:ext uri="{FF2B5EF4-FFF2-40B4-BE49-F238E27FC236}">
                <a16:creationId xmlns:a16="http://schemas.microsoft.com/office/drawing/2014/main" id="{F0FB43B0-82AE-EC09-6D65-5A7B2DA79823}"/>
              </a:ext>
              <a:ext uri="{C183D7F6-B498-43B3-948B-1728B52AA6E4}">
                <adec:decorative xmlns:adec="http://schemas.microsoft.com/office/drawing/2017/decorative" val="1"/>
              </a:ext>
            </a:extLst>
          </p:cNvPr>
          <p:cNvSpPr/>
          <p:nvPr/>
        </p:nvSpPr>
        <p:spPr bwMode="auto">
          <a:xfrm>
            <a:off x="736600" y="2305774"/>
            <a:ext cx="5297553" cy="3908956"/>
          </a:xfrm>
          <a:prstGeom prst="roundRect">
            <a:avLst>
              <a:gd name="adj" fmla="val 2726"/>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7" name="Rectangle: Top Corners Rounded 56">
            <a:extLst>
              <a:ext uri="{FF2B5EF4-FFF2-40B4-BE49-F238E27FC236}">
                <a16:creationId xmlns:a16="http://schemas.microsoft.com/office/drawing/2014/main" id="{E70B6A10-8251-A399-40EF-1E02339DDDA9}"/>
              </a:ext>
              <a:ext uri="{C183D7F6-B498-43B3-948B-1728B52AA6E4}">
                <adec:decorative xmlns:adec="http://schemas.microsoft.com/office/drawing/2017/decorative" val="1"/>
              </a:ext>
            </a:extLst>
          </p:cNvPr>
          <p:cNvSpPr>
            <a:spLocks/>
          </p:cNvSpPr>
          <p:nvPr/>
        </p:nvSpPr>
        <p:spPr bwMode="auto">
          <a:xfrm>
            <a:off x="2386489" y="2017713"/>
            <a:ext cx="1997774" cy="288061"/>
          </a:xfrm>
          <a:prstGeom prst="round2SameRect">
            <a:avLst>
              <a:gd name="adj1" fmla="val 32444"/>
              <a:gd name="adj2" fmla="val 0"/>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err="1">
              <a:solidFill>
                <a:schemeClr val="bg1"/>
              </a:solidFill>
              <a:latin typeface="+mj-lt"/>
              <a:cs typeface="Segoe UI" pitchFamily="34" charset="0"/>
            </a:endParaRPr>
          </a:p>
        </p:txBody>
      </p:sp>
      <p:sp>
        <p:nvSpPr>
          <p:cNvPr id="76" name="Rectangle: Rounded Corners 75">
            <a:extLst>
              <a:ext uri="{FF2B5EF4-FFF2-40B4-BE49-F238E27FC236}">
                <a16:creationId xmlns:a16="http://schemas.microsoft.com/office/drawing/2014/main" id="{3CBA104C-CF22-FB19-B13D-ED2A5A608E2B}"/>
              </a:ext>
              <a:ext uri="{C183D7F6-B498-43B3-948B-1728B52AA6E4}">
                <adec:decorative xmlns:adec="http://schemas.microsoft.com/office/drawing/2017/decorative" val="1"/>
              </a:ext>
            </a:extLst>
          </p:cNvPr>
          <p:cNvSpPr/>
          <p:nvPr/>
        </p:nvSpPr>
        <p:spPr bwMode="auto">
          <a:xfrm>
            <a:off x="6157847" y="2305772"/>
            <a:ext cx="5297553" cy="3908958"/>
          </a:xfrm>
          <a:prstGeom prst="roundRect">
            <a:avLst>
              <a:gd name="adj" fmla="val 2726"/>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3" name="Title 32">
            <a:extLst>
              <a:ext uri="{FF2B5EF4-FFF2-40B4-BE49-F238E27FC236}">
                <a16:creationId xmlns:a16="http://schemas.microsoft.com/office/drawing/2014/main" id="{240D8BAA-5171-C7D3-D523-0E0F19B188F7}"/>
              </a:ext>
              <a:ext uri="{C183D7F6-B498-43B3-948B-1728B52AA6E4}">
                <adec:decorative xmlns:adec="http://schemas.microsoft.com/office/drawing/2017/decorative" val="0"/>
              </a:ext>
            </a:extLst>
          </p:cNvPr>
          <p:cNvSpPr txBox="1">
            <a:spLocks noGrp="1"/>
          </p:cNvSpPr>
          <p:nvPr>
            <p:ph type="title" idx="4294967295"/>
          </p:nvPr>
        </p:nvSpPr>
        <p:spPr>
          <a:xfrm>
            <a:off x="5009559" y="716780"/>
            <a:ext cx="2727325" cy="461962"/>
          </a:xfrm>
          <a:prstGeom prst="rect">
            <a:avLst/>
          </a:prstGeom>
          <a:noFill/>
          <a:ln>
            <a:noFill/>
            <a:prstDash/>
          </a:ln>
          <a:effectLst/>
        </p:spPr>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defPPr>
              <a:defRPr lang="en-US"/>
            </a:defPPr>
            <a:lvl1pPr defTabSz="932742">
              <a:lnSpc>
                <a:spcPct val="100000"/>
              </a:lnSpc>
              <a:spcBef>
                <a:spcPct val="0"/>
              </a:spcBef>
              <a:buNone/>
              <a:defRPr sz="2000" b="0" cap="none" spc="-50" baseline="0">
                <a:ln w="3175">
                  <a:noFill/>
                </a:ln>
                <a:effectLst/>
                <a:latin typeface="+mj-lt"/>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a:ln w="3175">
                  <a:noFill/>
                </a:ln>
                <a:effectLst/>
                <a:uLnTx/>
                <a:uFillTx/>
                <a:latin typeface="+mj-lt"/>
                <a:ea typeface="+mn-ea"/>
                <a:cs typeface="Segoe UI" pitchFamily="34" charset="0"/>
              </a:rPr>
              <a:t>Copilot Studio</a:t>
            </a:r>
          </a:p>
        </p:txBody>
      </p:sp>
      <p:sp>
        <p:nvSpPr>
          <p:cNvPr id="54" name="TextBox 53">
            <a:extLst>
              <a:ext uri="{FF2B5EF4-FFF2-40B4-BE49-F238E27FC236}">
                <a16:creationId xmlns:a16="http://schemas.microsoft.com/office/drawing/2014/main" id="{43156734-4F08-D57E-4A7D-88F7FDFDB055}"/>
              </a:ext>
            </a:extLst>
          </p:cNvPr>
          <p:cNvSpPr txBox="1">
            <a:spLocks/>
          </p:cNvSpPr>
          <p:nvPr/>
        </p:nvSpPr>
        <p:spPr>
          <a:xfrm>
            <a:off x="1534967" y="1489480"/>
            <a:ext cx="9122065" cy="276999"/>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w="3175">
                  <a:noFill/>
                </a:ln>
                <a:solidFill>
                  <a:srgbClr val="000000"/>
                </a:solidFill>
                <a:effectLst/>
                <a:uLnTx/>
                <a:uFillTx/>
                <a:latin typeface="Segoe UI Semibold"/>
                <a:ea typeface="+mn-ea"/>
                <a:cs typeface="Segoe Sans Display"/>
              </a:rPr>
              <a:t>Copilot Studio is</a:t>
            </a:r>
            <a:r>
              <a:rPr kumimoji="0" lang="en-US" sz="1800" b="0" i="0" u="none" strike="noStrike" kern="1200" cap="none" spc="0" normalizeH="0" baseline="0" noProof="0" dirty="0">
                <a:ln w="3175">
                  <a:noFill/>
                </a:ln>
                <a:solidFill>
                  <a:srgbClr val="000000"/>
                </a:solidFill>
                <a:effectLst/>
                <a:uLnTx/>
                <a:uFillTx/>
                <a:latin typeface="Segoe UI Semibold"/>
                <a:ea typeface="+mn-lt"/>
                <a:cs typeface="Segoe UI"/>
              </a:rPr>
              <a:t> our low-code tool for creating agents and extending M365 Copilot. </a:t>
            </a:r>
            <a:endParaRPr kumimoji="0" lang="en-US" sz="1800" b="0" i="0" u="none" strike="noStrike" kern="1200" cap="none" spc="0" normalizeH="0" baseline="0" noProof="0" dirty="0">
              <a:ln>
                <a:noFill/>
              </a:ln>
              <a:solidFill>
                <a:srgbClr val="000000"/>
              </a:solidFill>
              <a:effectLst/>
              <a:uLnTx/>
              <a:uFillTx/>
              <a:latin typeface="Segoe UI Semibold"/>
              <a:ea typeface="+mn-lt"/>
              <a:cs typeface="Segoe UI"/>
            </a:endParaRPr>
          </a:p>
        </p:txBody>
      </p:sp>
      <p:sp>
        <p:nvSpPr>
          <p:cNvPr id="63" name="TextBox 62">
            <a:extLst>
              <a:ext uri="{FF2B5EF4-FFF2-40B4-BE49-F238E27FC236}">
                <a16:creationId xmlns:a16="http://schemas.microsoft.com/office/drawing/2014/main" id="{3FC78972-4F72-5DFC-5BEF-273BE4AA6ED6}"/>
              </a:ext>
            </a:extLst>
          </p:cNvPr>
          <p:cNvSpPr txBox="1">
            <a:spLocks/>
          </p:cNvSpPr>
          <p:nvPr/>
        </p:nvSpPr>
        <p:spPr>
          <a:xfrm>
            <a:off x="2662778" y="2043398"/>
            <a:ext cx="1445197" cy="246221"/>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w="3175">
                  <a:noFill/>
                </a:ln>
                <a:solidFill>
                  <a:srgbClr val="FFFFFF"/>
                </a:solidFill>
                <a:effectLst/>
                <a:uLnTx/>
                <a:uFillTx/>
                <a:latin typeface="Segoe UI Semibold"/>
                <a:ea typeface="+mn-ea"/>
                <a:cs typeface="+mn-cs"/>
              </a:rPr>
              <a:t>For end users</a:t>
            </a:r>
          </a:p>
        </p:txBody>
      </p:sp>
      <p:pic>
        <p:nvPicPr>
          <p:cNvPr id="56" name="Picture 55" descr="A screen showing the user experience in Microsoft Copilot Studio agent builder: the left side of the screen shows a chat between an agent and the user building it. The right side of the screen shows the features of the agent being built based on information from the chat.">
            <a:extLst>
              <a:ext uri="{FF2B5EF4-FFF2-40B4-BE49-F238E27FC236}">
                <a16:creationId xmlns:a16="http://schemas.microsoft.com/office/drawing/2014/main" id="{5C5863D8-34C4-E878-0817-25DFB3F39F01}"/>
              </a:ext>
            </a:extLst>
          </p:cNvPr>
          <p:cNvPicPr>
            <a:picLocks/>
          </p:cNvPicPr>
          <p:nvPr/>
        </p:nvPicPr>
        <p:blipFill rotWithShape="1">
          <a:blip r:embed="rId4">
            <a:extLst>
              <a:ext uri="{28A0092B-C50C-407E-A947-70E740481C1C}">
                <a14:useLocalDpi xmlns:a14="http://schemas.microsoft.com/office/drawing/2010/main" val="0"/>
              </a:ext>
            </a:extLst>
          </a:blip>
          <a:srcRect/>
          <a:stretch/>
        </p:blipFill>
        <p:spPr>
          <a:xfrm>
            <a:off x="891673" y="2457013"/>
            <a:ext cx="4987406" cy="2937561"/>
          </a:xfrm>
          <a:prstGeom prst="roundRect">
            <a:avLst>
              <a:gd name="adj" fmla="val 3902"/>
            </a:avLst>
          </a:prstGeom>
          <a:effectLst>
            <a:outerShdw blurRad="228600" dist="165100" dir="2700000" algn="tl" rotWithShape="0">
              <a:prstClr val="black">
                <a:alpha val="16000"/>
              </a:prstClr>
            </a:outerShdw>
          </a:effectLst>
        </p:spPr>
      </p:pic>
      <p:sp>
        <p:nvSpPr>
          <p:cNvPr id="16" name="Rectangle: Top Corners Rounded 15">
            <a:extLst>
              <a:ext uri="{FF2B5EF4-FFF2-40B4-BE49-F238E27FC236}">
                <a16:creationId xmlns:a16="http://schemas.microsoft.com/office/drawing/2014/main" id="{E2FF831A-8B11-E343-4353-EE4BF0A44155}"/>
              </a:ext>
              <a:ext uri="{C183D7F6-B498-43B3-948B-1728B52AA6E4}">
                <adec:decorative xmlns:adec="http://schemas.microsoft.com/office/drawing/2017/decorative" val="1"/>
              </a:ext>
            </a:extLst>
          </p:cNvPr>
          <p:cNvSpPr>
            <a:spLocks/>
          </p:cNvSpPr>
          <p:nvPr/>
        </p:nvSpPr>
        <p:spPr bwMode="auto">
          <a:xfrm>
            <a:off x="7463405" y="2017713"/>
            <a:ext cx="2686436" cy="288061"/>
          </a:xfrm>
          <a:prstGeom prst="round2SameRect">
            <a:avLst>
              <a:gd name="adj1" fmla="val 32444"/>
              <a:gd name="adj2" fmla="val 0"/>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err="1">
              <a:solidFill>
                <a:schemeClr val="bg1"/>
              </a:solidFill>
              <a:latin typeface="+mj-lt"/>
              <a:cs typeface="Segoe UI" pitchFamily="34" charset="0"/>
            </a:endParaRPr>
          </a:p>
        </p:txBody>
      </p:sp>
      <p:sp>
        <p:nvSpPr>
          <p:cNvPr id="58" name="TextBox 57">
            <a:extLst>
              <a:ext uri="{FF2B5EF4-FFF2-40B4-BE49-F238E27FC236}">
                <a16:creationId xmlns:a16="http://schemas.microsoft.com/office/drawing/2014/main" id="{BF7776AB-ACBF-764C-0195-6E6D03A94B73}"/>
              </a:ext>
            </a:extLst>
          </p:cNvPr>
          <p:cNvSpPr txBox="1">
            <a:spLocks/>
          </p:cNvSpPr>
          <p:nvPr/>
        </p:nvSpPr>
        <p:spPr>
          <a:xfrm>
            <a:off x="1156157" y="5545812"/>
            <a:ext cx="4458439" cy="461665"/>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w="3175">
                  <a:noFill/>
                </a:ln>
                <a:solidFill>
                  <a:srgbClr val="0078D4"/>
                </a:solidFill>
                <a:effectLst/>
                <a:uLnTx/>
                <a:uFillTx/>
                <a:latin typeface="Segoe UI Semibold"/>
                <a:ea typeface="+mn-ea"/>
                <a:cs typeface="+mn-cs"/>
              </a:rPr>
              <a:t>Copilot Studio agent builder</a:t>
            </a:r>
            <a:br>
              <a:rPr kumimoji="0" lang="en-US" sz="1800" b="0" i="0" u="none" strike="noStrike" kern="1200" cap="none" spc="0" normalizeH="0" baseline="0" noProof="0" dirty="0">
                <a:ln w="3175">
                  <a:noFill/>
                </a:ln>
                <a:solidFill>
                  <a:srgbClr val="0078D4"/>
                </a:solidFill>
                <a:effectLst/>
                <a:uLnTx/>
                <a:uFillTx/>
                <a:latin typeface="Segoe UI Semibold"/>
                <a:ea typeface="+mn-ea"/>
                <a:cs typeface="+mn-cs"/>
              </a:rPr>
            </a:br>
            <a:r>
              <a:rPr kumimoji="0" lang="en-US" sz="1200" b="0" i="0" u="none" strike="noStrike" kern="1200" cap="none" spc="0" normalizeH="0" baseline="0" noProof="0" dirty="0">
                <a:ln w="3175">
                  <a:noFill/>
                </a:ln>
                <a:solidFill>
                  <a:srgbClr val="000000"/>
                </a:solidFill>
                <a:effectLst/>
                <a:uLnTx/>
                <a:uFillTx/>
                <a:latin typeface="Segoe UI"/>
                <a:ea typeface="+mn-ea"/>
                <a:cs typeface="+mn-cs"/>
              </a:rPr>
              <a:t>in Microsoft 365 Copilot </a:t>
            </a:r>
            <a:r>
              <a:rPr kumimoji="0" lang="en-US" sz="1200" b="0" i="0" u="none" strike="noStrike" kern="1200" cap="none" spc="0" normalizeH="0" baseline="0" noProof="0" dirty="0" err="1">
                <a:ln w="3175">
                  <a:noFill/>
                </a:ln>
                <a:solidFill>
                  <a:srgbClr val="000000"/>
                </a:solidFill>
                <a:effectLst/>
                <a:uLnTx/>
                <a:uFillTx/>
                <a:latin typeface="Segoe UI"/>
                <a:ea typeface="+mn-ea"/>
                <a:cs typeface="+mn-cs"/>
              </a:rPr>
              <a:t>BizChat</a:t>
            </a:r>
            <a:r>
              <a:rPr kumimoji="0" lang="en-US" sz="1200" b="0" i="0" u="none" strike="noStrike" kern="1200" cap="none" spc="0" normalizeH="0" baseline="0" noProof="0" dirty="0">
                <a:ln w="3175">
                  <a:noFill/>
                </a:ln>
                <a:solidFill>
                  <a:srgbClr val="000000"/>
                </a:solidFill>
                <a:effectLst/>
                <a:uLnTx/>
                <a:uFillTx/>
                <a:latin typeface="Segoe UI"/>
                <a:ea typeface="+mn-ea"/>
                <a:cs typeface="+mn-cs"/>
              </a:rPr>
              <a:t> and SharePoint</a:t>
            </a:r>
            <a:endParaRPr kumimoji="0" lang="en-US" sz="1800" b="0" i="0" u="none" strike="noStrike" kern="1200" cap="none" spc="0" normalizeH="0" baseline="0" noProof="0" dirty="0">
              <a:ln w="3175">
                <a:noFill/>
              </a:ln>
              <a:solidFill>
                <a:srgbClr val="000000"/>
              </a:solidFill>
              <a:effectLst/>
              <a:uLnTx/>
              <a:uFillTx/>
              <a:latin typeface="Segoe UI"/>
              <a:ea typeface="+mn-ea"/>
              <a:cs typeface="+mn-cs"/>
            </a:endParaRPr>
          </a:p>
        </p:txBody>
      </p:sp>
      <p:sp>
        <p:nvSpPr>
          <p:cNvPr id="80" name="TextBox 79">
            <a:extLst>
              <a:ext uri="{FF2B5EF4-FFF2-40B4-BE49-F238E27FC236}">
                <a16:creationId xmlns:a16="http://schemas.microsoft.com/office/drawing/2014/main" id="{09375BED-87D9-5F6E-3E4F-710A31A3E6D1}"/>
              </a:ext>
            </a:extLst>
          </p:cNvPr>
          <p:cNvSpPr txBox="1">
            <a:spLocks/>
          </p:cNvSpPr>
          <p:nvPr/>
        </p:nvSpPr>
        <p:spPr>
          <a:xfrm>
            <a:off x="7529909" y="2043398"/>
            <a:ext cx="2553428" cy="246221"/>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w="3175">
                  <a:noFill/>
                </a:ln>
                <a:solidFill>
                  <a:srgbClr val="FFFFFF"/>
                </a:solidFill>
                <a:effectLst/>
                <a:uLnTx/>
                <a:uFillTx/>
                <a:latin typeface="Segoe UI Semibold"/>
                <a:ea typeface="+mn-ea"/>
                <a:cs typeface="+mn-cs"/>
              </a:rPr>
              <a:t>For IT &amp; developers</a:t>
            </a:r>
          </a:p>
        </p:txBody>
      </p:sp>
      <p:pic>
        <p:nvPicPr>
          <p:cNvPr id="88" name="Picture 87" descr="A screenshot showing the in product experience of copilot studio">
            <a:extLst>
              <a:ext uri="{FF2B5EF4-FFF2-40B4-BE49-F238E27FC236}">
                <a16:creationId xmlns:a16="http://schemas.microsoft.com/office/drawing/2014/main" id="{7F92AA2B-9B6D-2CC7-FF7D-BAABA12704F4}"/>
              </a:ext>
            </a:extLst>
          </p:cNvPr>
          <p:cNvPicPr>
            <a:picLocks/>
          </p:cNvPicPr>
          <p:nvPr/>
        </p:nvPicPr>
        <p:blipFill rotWithShape="1">
          <a:blip r:embed="rId5">
            <a:extLst>
              <a:ext uri="{28A0092B-C50C-407E-A947-70E740481C1C}">
                <a14:useLocalDpi xmlns:a14="http://schemas.microsoft.com/office/drawing/2010/main" val="0"/>
              </a:ext>
            </a:extLst>
          </a:blip>
          <a:srcRect/>
          <a:stretch/>
        </p:blipFill>
        <p:spPr>
          <a:xfrm>
            <a:off x="6312920" y="2457012"/>
            <a:ext cx="4987406" cy="2937561"/>
          </a:xfrm>
          <a:prstGeom prst="roundRect">
            <a:avLst>
              <a:gd name="adj" fmla="val 3902"/>
            </a:avLst>
          </a:prstGeom>
          <a:effectLst>
            <a:outerShdw blurRad="228600" dist="165100" dir="2700000" algn="tl" rotWithShape="0">
              <a:prstClr val="black">
                <a:alpha val="16000"/>
              </a:prstClr>
            </a:outerShdw>
          </a:effectLst>
        </p:spPr>
      </p:pic>
      <p:sp>
        <p:nvSpPr>
          <p:cNvPr id="79" name="TextBox 78">
            <a:extLst>
              <a:ext uri="{FF2B5EF4-FFF2-40B4-BE49-F238E27FC236}">
                <a16:creationId xmlns:a16="http://schemas.microsoft.com/office/drawing/2014/main" id="{31AF6746-7D04-F58C-4382-1AC910960B14}"/>
              </a:ext>
            </a:extLst>
          </p:cNvPr>
          <p:cNvSpPr txBox="1">
            <a:spLocks/>
          </p:cNvSpPr>
          <p:nvPr/>
        </p:nvSpPr>
        <p:spPr>
          <a:xfrm>
            <a:off x="6577404" y="5545811"/>
            <a:ext cx="4458439" cy="461665"/>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w="3175">
                  <a:noFill/>
                </a:ln>
                <a:solidFill>
                  <a:srgbClr val="0078D4"/>
                </a:solidFill>
                <a:effectLst/>
                <a:uLnTx/>
                <a:uFillTx/>
                <a:latin typeface="Segoe UI Semibold"/>
                <a:ea typeface="+mn-ea"/>
                <a:cs typeface="+mn-cs"/>
              </a:rPr>
              <a:t>Copilot Studio</a:t>
            </a:r>
            <a:br>
              <a:rPr kumimoji="0" lang="en-US" sz="1800" b="0" i="0" u="none" strike="noStrike" kern="1200" cap="none" spc="0" normalizeH="0" baseline="0" noProof="0">
                <a:ln w="3175">
                  <a:noFill/>
                </a:ln>
                <a:solidFill>
                  <a:srgbClr val="0078D4"/>
                </a:solidFill>
                <a:effectLst/>
                <a:uLnTx/>
                <a:uFillTx/>
                <a:latin typeface="Segoe UI Semibold"/>
                <a:ea typeface="+mn-ea"/>
                <a:cs typeface="+mn-cs"/>
              </a:rPr>
            </a:br>
            <a:r>
              <a:rPr kumimoji="0" lang="en-US" sz="1200" b="0" i="0" u="none" strike="noStrike" kern="1200" cap="none" spc="0" normalizeH="0" baseline="0" noProof="0">
                <a:ln w="3175">
                  <a:noFill/>
                </a:ln>
                <a:solidFill>
                  <a:srgbClr val="000000"/>
                </a:solidFill>
                <a:effectLst/>
                <a:uLnTx/>
                <a:uFillTx/>
                <a:latin typeface="Segoe UI"/>
                <a:ea typeface="+mn-ea"/>
                <a:cs typeface="+mn-cs"/>
              </a:rPr>
              <a:t>Full-featured graphical authoring environment</a:t>
            </a:r>
            <a:endParaRPr kumimoji="0" lang="en-US" sz="1800" b="0" i="0" u="none" strike="noStrike" kern="1200" cap="none" spc="0" normalizeH="0" baseline="0" noProof="0">
              <a:ln w="3175">
                <a:noFill/>
              </a:ln>
              <a:solidFill>
                <a:srgbClr val="0078D4"/>
              </a:solidFill>
              <a:effectLst/>
              <a:uLnTx/>
              <a:uFillTx/>
              <a:latin typeface="Segoe UI Semibold"/>
              <a:ea typeface="+mn-ea"/>
              <a:cs typeface="+mn-cs"/>
            </a:endParaRPr>
          </a:p>
        </p:txBody>
      </p:sp>
      <p:sp>
        <p:nvSpPr>
          <p:cNvPr id="2" name="Footer Placeholder 1">
            <a:extLst>
              <a:ext uri="{FF2B5EF4-FFF2-40B4-BE49-F238E27FC236}">
                <a16:creationId xmlns:a16="http://schemas.microsoft.com/office/drawing/2014/main" id="{868C3064-33A8-8A65-78CF-4318292E7D45}"/>
              </a:ext>
            </a:extLst>
          </p:cNvPr>
          <p:cNvSpPr>
            <a:spLocks noGrp="1"/>
          </p:cNvSpPr>
          <p:nvPr>
            <p:ph type="ftr" sz="quarter" idx="10"/>
          </p:nvPr>
        </p:nvSpPr>
        <p:spPr/>
        <p:txBody>
          <a:bodyPr/>
          <a:lstStyle/>
          <a:p>
            <a:r>
              <a:rPr lang="en-US"/>
              <a:t>Building Customer-Centric Services offers</a:t>
            </a:r>
          </a:p>
        </p:txBody>
      </p:sp>
      <p:sp>
        <p:nvSpPr>
          <p:cNvPr id="3" name="Slide Number Placeholder 2">
            <a:extLst>
              <a:ext uri="{FF2B5EF4-FFF2-40B4-BE49-F238E27FC236}">
                <a16:creationId xmlns:a16="http://schemas.microsoft.com/office/drawing/2014/main" id="{9974AD4E-FAC2-32AF-3A33-099ED54BA9BF}"/>
              </a:ext>
            </a:extLst>
          </p:cNvPr>
          <p:cNvSpPr>
            <a:spLocks noGrp="1"/>
          </p:cNvSpPr>
          <p:nvPr>
            <p:ph type="sldNum" sz="quarter" idx="11"/>
          </p:nvPr>
        </p:nvSpPr>
        <p:spPr/>
        <p:txBody>
          <a:bodyPr/>
          <a:lstStyle/>
          <a:p>
            <a:fld id="{5763EE98-C176-4152-A50F-E68840BAFA00}" type="slidenum">
              <a:rPr lang="en-US" smtClean="0"/>
              <a:pPr/>
              <a:t>8</a:t>
            </a:fld>
            <a:endParaRPr lang="en-US"/>
          </a:p>
        </p:txBody>
      </p:sp>
      <p:pic>
        <p:nvPicPr>
          <p:cNvPr id="7" name="Picture 6" descr="A group of colorful squares&#10;&#10;AI-generated content may be incorrect.">
            <a:extLst>
              <a:ext uri="{FF2B5EF4-FFF2-40B4-BE49-F238E27FC236}">
                <a16:creationId xmlns:a16="http://schemas.microsoft.com/office/drawing/2014/main" id="{8EBAE2AD-1802-21F3-067B-09621AA4F1C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34071" y="709066"/>
            <a:ext cx="475488" cy="475488"/>
          </a:xfrm>
          <a:prstGeom prst="rect">
            <a:avLst/>
          </a:prstGeom>
        </p:spPr>
      </p:pic>
    </p:spTree>
    <p:extLst>
      <p:ext uri="{BB962C8B-B14F-4D97-AF65-F5344CB8AC3E}">
        <p14:creationId xmlns:p14="http://schemas.microsoft.com/office/powerpoint/2010/main" val="2632455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a:extLst>
            <a:ext uri="{FF2B5EF4-FFF2-40B4-BE49-F238E27FC236}">
              <a16:creationId xmlns:a16="http://schemas.microsoft.com/office/drawing/2014/main" id="{59A7A251-0193-F3A8-9DA7-54C8670F1D10}"/>
            </a:ext>
          </a:extLst>
        </p:cNvPr>
        <p:cNvGrpSpPr/>
        <p:nvPr/>
      </p:nvGrpSpPr>
      <p:grpSpPr>
        <a:xfrm>
          <a:off x="0" y="0"/>
          <a:ext cx="0" cy="0"/>
          <a:chOff x="0" y="0"/>
          <a:chExt cx="0" cy="0"/>
        </a:xfrm>
      </p:grpSpPr>
      <p:sp>
        <p:nvSpPr>
          <p:cNvPr id="3" name="Rectangle: Rounded Corners 34">
            <a:extLst>
              <a:ext uri="{FF2B5EF4-FFF2-40B4-BE49-F238E27FC236}">
                <a16:creationId xmlns:a16="http://schemas.microsoft.com/office/drawing/2014/main" id="{6C62C0E9-3446-B2BB-E612-EB1ED7264B15}"/>
              </a:ext>
              <a:ext uri="{C183D7F6-B498-43B3-948B-1728B52AA6E4}">
                <adec:decorative xmlns:adec="http://schemas.microsoft.com/office/drawing/2017/decorative" val="1"/>
              </a:ext>
            </a:extLst>
          </p:cNvPr>
          <p:cNvSpPr/>
          <p:nvPr/>
        </p:nvSpPr>
        <p:spPr bwMode="auto">
          <a:xfrm>
            <a:off x="571501" y="552735"/>
            <a:ext cx="11049000" cy="5461622"/>
          </a:xfrm>
          <a:prstGeom prst="roundRect">
            <a:avLst>
              <a:gd name="adj" fmla="val 2025"/>
            </a:avLst>
          </a:prstGeom>
          <a:gradFill flip="none" rotWithShape="1">
            <a:gsLst>
              <a:gs pos="0">
                <a:schemeClr val="bg1">
                  <a:alpha val="25000"/>
                </a:schemeClr>
              </a:gs>
              <a:gs pos="96552">
                <a:schemeClr val="bg1"/>
              </a:gs>
            </a:gsLst>
            <a:path path="circle">
              <a:fillToRect l="100000" t="100000"/>
            </a:path>
            <a:tileRect r="-100000" b="-100000"/>
          </a:gradFill>
          <a:ln w="22225">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gradFill>
                <a:gsLst>
                  <a:gs pos="70000">
                    <a:srgbClr val="D660FF"/>
                  </a:gs>
                  <a:gs pos="52000">
                    <a:srgbClr val="818EFF"/>
                  </a:gs>
                  <a:gs pos="35000">
                    <a:srgbClr val="2DB4FF"/>
                  </a:gs>
                  <a:gs pos="30000">
                    <a:srgbClr val="2DB4FF"/>
                  </a:gs>
                  <a:gs pos="3000">
                    <a:srgbClr val="0078D4"/>
                  </a:gs>
                  <a:gs pos="97000">
                    <a:srgbClr val="FEA874"/>
                  </a:gs>
                </a:gsLst>
                <a:lin ang="3000000" scaled="0"/>
              </a:gradFill>
              <a:cs typeface="Segoe UI" pitchFamily="34" charset="0"/>
            </a:endParaRPr>
          </a:p>
        </p:txBody>
      </p:sp>
      <p:graphicFrame>
        <p:nvGraphicFramePr>
          <p:cNvPr id="36" name="Table 35">
            <a:extLst>
              <a:ext uri="{FF2B5EF4-FFF2-40B4-BE49-F238E27FC236}">
                <a16:creationId xmlns:a16="http://schemas.microsoft.com/office/drawing/2014/main" id="{1CE32DDA-DEB0-68E6-37A2-147F82CE7B96}"/>
              </a:ext>
            </a:extLst>
          </p:cNvPr>
          <p:cNvGraphicFramePr>
            <a:graphicFrameLocks noGrp="1"/>
          </p:cNvGraphicFramePr>
          <p:nvPr>
            <p:extLst>
              <p:ext uri="{D42A27DB-BD31-4B8C-83A1-F6EECF244321}">
                <p14:modId xmlns:p14="http://schemas.microsoft.com/office/powerpoint/2010/main" val="4265591737"/>
              </p:ext>
            </p:extLst>
          </p:nvPr>
        </p:nvGraphicFramePr>
        <p:xfrm>
          <a:off x="6064673" y="1286590"/>
          <a:ext cx="5462538" cy="4314219"/>
        </p:xfrm>
        <a:graphic>
          <a:graphicData uri="http://schemas.openxmlformats.org/drawingml/2006/table">
            <a:tbl>
              <a:tblPr firstRow="1" bandRow="1">
                <a:tableStyleId>{BC89EF96-8CEA-46FF-86C4-4CE0E7609802}</a:tableStyleId>
              </a:tblPr>
              <a:tblGrid>
                <a:gridCol w="2731269">
                  <a:extLst>
                    <a:ext uri="{9D8B030D-6E8A-4147-A177-3AD203B41FA5}">
                      <a16:colId xmlns:a16="http://schemas.microsoft.com/office/drawing/2014/main" val="2322957005"/>
                    </a:ext>
                  </a:extLst>
                </a:gridCol>
                <a:gridCol w="2731269">
                  <a:extLst>
                    <a:ext uri="{9D8B030D-6E8A-4147-A177-3AD203B41FA5}">
                      <a16:colId xmlns:a16="http://schemas.microsoft.com/office/drawing/2014/main" val="1809676513"/>
                    </a:ext>
                  </a:extLst>
                </a:gridCol>
              </a:tblGrid>
              <a:tr h="1438073">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rPr>
                        <a:t>Honors your existing permissions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a:ln>
                            <a:noFill/>
                          </a:ln>
                          <a:solidFill>
                            <a:schemeClr val="tx1"/>
                          </a:solidFill>
                          <a:effectLst/>
                          <a:uLnTx/>
                          <a:uFillTx/>
                          <a:latin typeface="+mn-lt"/>
                          <a:ea typeface="+mn-ea"/>
                          <a:cs typeface="+mn-cs"/>
                        </a:rPr>
                        <a:t>Supports your lifecycle policies and audit requirements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64169820"/>
                  </a:ext>
                </a:extLst>
              </a:tr>
              <a:tr h="1438073">
                <a:tc>
                  <a:txBody>
                    <a:bodyPr/>
                    <a:lstStyle/>
                    <a:p>
                      <a:pPr marL="0" marR="0" lvl="0" indent="0" algn="ctr" defTabSz="811684" rtl="0" eaLnBrk="1" fontAlgn="auto" latinLnBrk="0" hangingPunct="1">
                        <a:spcBef>
                          <a:spcPts val="0"/>
                        </a:spcBef>
                        <a:spcAft>
                          <a:spcPts val="1200"/>
                        </a:spcAft>
                        <a:buClrTx/>
                        <a:buSzTx/>
                        <a:buFontTx/>
                        <a:buNone/>
                        <a:tabLst/>
                        <a:defRPr/>
                      </a:pPr>
                      <a:r>
                        <a:rPr lang="en-US" sz="1600" dirty="0"/>
                        <a:t>Protects against data loss and insider risk</a:t>
                      </a:r>
                      <a:endParaRPr kumimoji="0" lang="en-US" sz="1600" b="0" i="0" u="none" strike="noStrike" kern="1200" cap="none" spc="0" normalizeH="0" baseline="0" noProof="0" dirty="0">
                        <a:ln>
                          <a:noFill/>
                        </a:ln>
                        <a:effectLst/>
                        <a:uLnTx/>
                        <a:uFillTx/>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t>Detect and investigate </a:t>
                      </a:r>
                      <a:br>
                        <a:rPr lang="en-US" sz="1600" dirty="0"/>
                      </a:br>
                      <a:r>
                        <a:rPr lang="en-US" sz="1600" dirty="0"/>
                        <a:t>non-compliant and unethical usage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1905392"/>
                  </a:ext>
                </a:extLst>
              </a:tr>
              <a:tr h="1438073">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effectLst/>
                          <a:uLnTx/>
                          <a:uFillTx/>
                        </a:rPr>
                        <a:t>Assess oversharing risks and apply recommended corrections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t>Guided assistance to remain compliant with AI regulations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1907629"/>
                  </a:ext>
                </a:extLst>
              </a:tr>
            </a:tbl>
          </a:graphicData>
        </a:graphic>
      </p:graphicFrame>
      <p:cxnSp>
        <p:nvCxnSpPr>
          <p:cNvPr id="21" name="Straight Connector 20">
            <a:extLst>
              <a:ext uri="{FF2B5EF4-FFF2-40B4-BE49-F238E27FC236}">
                <a16:creationId xmlns:a16="http://schemas.microsoft.com/office/drawing/2014/main" id="{47CA83D5-BEA0-4D35-6D8B-C12865D07C67}"/>
              </a:ext>
              <a:ext uri="{C183D7F6-B498-43B3-948B-1728B52AA6E4}">
                <adec:decorative xmlns:adec="http://schemas.microsoft.com/office/drawing/2017/decorative" val="1"/>
              </a:ext>
            </a:extLst>
          </p:cNvPr>
          <p:cNvCxnSpPr>
            <a:cxnSpLocks/>
          </p:cNvCxnSpPr>
          <p:nvPr/>
        </p:nvCxnSpPr>
        <p:spPr>
          <a:xfrm>
            <a:off x="6300635" y="2672759"/>
            <a:ext cx="525999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4" name="Rectangle: Rounded Corners 23">
            <a:extLst>
              <a:ext uri="{FF2B5EF4-FFF2-40B4-BE49-F238E27FC236}">
                <a16:creationId xmlns:a16="http://schemas.microsoft.com/office/drawing/2014/main" id="{8C017AF6-0F39-B090-3DB8-E663B7D7E571}"/>
              </a:ext>
              <a:ext uri="{C183D7F6-B498-43B3-948B-1728B52AA6E4}">
                <adec:decorative xmlns:adec="http://schemas.microsoft.com/office/drawing/2017/decorative" val="0"/>
              </a:ext>
            </a:extLst>
          </p:cNvPr>
          <p:cNvSpPr/>
          <p:nvPr/>
        </p:nvSpPr>
        <p:spPr bwMode="auto">
          <a:xfrm>
            <a:off x="6404083" y="944575"/>
            <a:ext cx="2023894" cy="297305"/>
          </a:xfrm>
          <a:prstGeom prst="roundRect">
            <a:avLst>
              <a:gd name="adj" fmla="val 50000"/>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a:solidFill>
                  <a:schemeClr val="bg1"/>
                </a:solidFill>
                <a:latin typeface="+mj-lt"/>
                <a:cs typeface="Segoe UI" pitchFamily="34" charset="0"/>
              </a:rPr>
              <a:t>Secure</a:t>
            </a:r>
          </a:p>
        </p:txBody>
      </p:sp>
      <p:sp>
        <p:nvSpPr>
          <p:cNvPr id="28" name="!!Rectangle: Rounded Corners 25">
            <a:extLst>
              <a:ext uri="{FF2B5EF4-FFF2-40B4-BE49-F238E27FC236}">
                <a16:creationId xmlns:a16="http://schemas.microsoft.com/office/drawing/2014/main" id="{EA9C8EDE-130B-A6A9-C365-B6FB985F8115}"/>
              </a:ext>
              <a:ext uri="{C183D7F6-B498-43B3-948B-1728B52AA6E4}">
                <adec:decorative xmlns:adec="http://schemas.microsoft.com/office/drawing/2017/decorative" val="0"/>
              </a:ext>
            </a:extLst>
          </p:cNvPr>
          <p:cNvSpPr/>
          <p:nvPr/>
        </p:nvSpPr>
        <p:spPr bwMode="auto">
          <a:xfrm>
            <a:off x="9234713" y="938245"/>
            <a:ext cx="2023894" cy="297305"/>
          </a:xfrm>
          <a:prstGeom prst="roundRect">
            <a:avLst>
              <a:gd name="adj" fmla="val 50000"/>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a:solidFill>
                  <a:schemeClr val="bg1"/>
                </a:solidFill>
                <a:latin typeface="+mj-lt"/>
                <a:cs typeface="Segoe UI" pitchFamily="34" charset="0"/>
              </a:rPr>
              <a:t>Govern</a:t>
            </a:r>
          </a:p>
        </p:txBody>
      </p:sp>
      <p:cxnSp>
        <p:nvCxnSpPr>
          <p:cNvPr id="39" name="Straight Connector 38">
            <a:extLst>
              <a:ext uri="{FF2B5EF4-FFF2-40B4-BE49-F238E27FC236}">
                <a16:creationId xmlns:a16="http://schemas.microsoft.com/office/drawing/2014/main" id="{57C6F8DD-1D0A-DDF4-D8C6-4C0B748A7015}"/>
              </a:ext>
              <a:ext uri="{C183D7F6-B498-43B3-948B-1728B52AA6E4}">
                <adec:decorative xmlns:adec="http://schemas.microsoft.com/office/drawing/2017/decorative" val="1"/>
              </a:ext>
            </a:extLst>
          </p:cNvPr>
          <p:cNvCxnSpPr>
            <a:cxnSpLocks/>
          </p:cNvCxnSpPr>
          <p:nvPr/>
        </p:nvCxnSpPr>
        <p:spPr>
          <a:xfrm>
            <a:off x="6336335" y="4107966"/>
            <a:ext cx="526239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5785D775-1CB5-A338-9CA6-DBA8B189256C}"/>
              </a:ext>
              <a:ext uri="{C183D7F6-B498-43B3-948B-1728B52AA6E4}">
                <adec:decorative xmlns:adec="http://schemas.microsoft.com/office/drawing/2017/decorative" val="1"/>
              </a:ext>
            </a:extLst>
          </p:cNvPr>
          <p:cNvSpPr txBox="1"/>
          <p:nvPr/>
        </p:nvSpPr>
        <p:spPr>
          <a:xfrm>
            <a:off x="1010232" y="5797411"/>
            <a:ext cx="10201697" cy="465279"/>
          </a:xfrm>
          <a:prstGeom prst="roundRect">
            <a:avLst>
              <a:gd name="adj" fmla="val 48819"/>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defTabSz="932472" fontAlgn="base">
              <a:spcBef>
                <a:spcPct val="0"/>
              </a:spcBef>
              <a:spcAft>
                <a:spcPct val="0"/>
              </a:spcAft>
              <a:defRPr>
                <a:solidFill>
                  <a:schemeClr val="bg1"/>
                </a:solidFill>
                <a:latin typeface="+mj-lt"/>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t>A complete solution to secure and govern Copilot</a:t>
            </a:r>
          </a:p>
        </p:txBody>
      </p:sp>
      <p:cxnSp>
        <p:nvCxnSpPr>
          <p:cNvPr id="43" name="Straight Connector 42">
            <a:extLst>
              <a:ext uri="{FF2B5EF4-FFF2-40B4-BE49-F238E27FC236}">
                <a16:creationId xmlns:a16="http://schemas.microsoft.com/office/drawing/2014/main" id="{AB5C286C-3FE8-22E9-6AF6-C6CA3E2E9381}"/>
              </a:ext>
              <a:ext uri="{C183D7F6-B498-43B3-948B-1728B52AA6E4}">
                <adec:decorative xmlns:adec="http://schemas.microsoft.com/office/drawing/2017/decorative" val="1"/>
              </a:ext>
            </a:extLst>
          </p:cNvPr>
          <p:cNvCxnSpPr>
            <a:cxnSpLocks/>
            <a:stCxn id="36" idx="0"/>
            <a:endCxn id="36" idx="2"/>
          </p:cNvCxnSpPr>
          <p:nvPr/>
        </p:nvCxnSpPr>
        <p:spPr>
          <a:xfrm>
            <a:off x="8795942" y="1286590"/>
            <a:ext cx="0" cy="4314219"/>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1C42BE48-CD88-7303-2DAE-A42880164E5E}"/>
              </a:ext>
            </a:extLst>
          </p:cNvPr>
          <p:cNvSpPr>
            <a:spLocks noGrp="1"/>
          </p:cNvSpPr>
          <p:nvPr>
            <p:ph type="title" idx="4294967295"/>
          </p:nvPr>
        </p:nvSpPr>
        <p:spPr>
          <a:xfrm>
            <a:off x="0" y="-784225"/>
            <a:ext cx="12222163" cy="739775"/>
          </a:xfrm>
        </p:spPr>
        <p:txBody>
          <a:bodyPr>
            <a:normAutofit/>
          </a:bodyPr>
          <a:lstStyle/>
          <a:p>
            <a:r>
              <a:rPr lang="en-US" sz="2400"/>
              <a:t>Microsoft 365 + Microsoft Purview are a complete solution to secure and govern Copilot</a:t>
            </a:r>
          </a:p>
        </p:txBody>
      </p:sp>
      <p:sp>
        <p:nvSpPr>
          <p:cNvPr id="7" name="Freeform: Shape 6">
            <a:extLst>
              <a:ext uri="{FF2B5EF4-FFF2-40B4-BE49-F238E27FC236}">
                <a16:creationId xmlns:a16="http://schemas.microsoft.com/office/drawing/2014/main" id="{A19777A7-C0E2-DC71-7D68-E0971EC05617}"/>
              </a:ext>
            </a:extLst>
          </p:cNvPr>
          <p:cNvSpPr>
            <a:spLocks/>
          </p:cNvSpPr>
          <p:nvPr/>
        </p:nvSpPr>
        <p:spPr bwMode="auto">
          <a:xfrm>
            <a:off x="1199628" y="2238051"/>
            <a:ext cx="4134707" cy="397590"/>
          </a:xfrm>
          <a:custGeom>
            <a:avLst/>
            <a:gdLst>
              <a:gd name="connsiteX0" fmla="*/ 118144 w 5299368"/>
              <a:gd name="connsiteY0" fmla="*/ 0 h 1552892"/>
              <a:gd name="connsiteX1" fmla="*/ 5181224 w 5299368"/>
              <a:gd name="connsiteY1" fmla="*/ 0 h 1552892"/>
              <a:gd name="connsiteX2" fmla="*/ 5299368 w 5299368"/>
              <a:gd name="connsiteY2" fmla="*/ 118144 h 1552892"/>
              <a:gd name="connsiteX3" fmla="*/ 5299368 w 5299368"/>
              <a:gd name="connsiteY3" fmla="*/ 428727 h 1552892"/>
              <a:gd name="connsiteX4" fmla="*/ 5237875 w 5299368"/>
              <a:gd name="connsiteY4" fmla="*/ 447816 h 1552892"/>
              <a:gd name="connsiteX5" fmla="*/ 5033780 w 5299368"/>
              <a:gd name="connsiteY5" fmla="*/ 755723 h 1552892"/>
              <a:gd name="connsiteX6" fmla="*/ 5237875 w 5299368"/>
              <a:gd name="connsiteY6" fmla="*/ 1063630 h 1552892"/>
              <a:gd name="connsiteX7" fmla="*/ 5299368 w 5299368"/>
              <a:gd name="connsiteY7" fmla="*/ 1082719 h 1552892"/>
              <a:gd name="connsiteX8" fmla="*/ 5299368 w 5299368"/>
              <a:gd name="connsiteY8" fmla="*/ 1434748 h 1552892"/>
              <a:gd name="connsiteX9" fmla="*/ 5181224 w 5299368"/>
              <a:gd name="connsiteY9" fmla="*/ 1552892 h 1552892"/>
              <a:gd name="connsiteX10" fmla="*/ 118144 w 5299368"/>
              <a:gd name="connsiteY10" fmla="*/ 1552892 h 1552892"/>
              <a:gd name="connsiteX11" fmla="*/ 0 w 5299368"/>
              <a:gd name="connsiteY11" fmla="*/ 1434748 h 1552892"/>
              <a:gd name="connsiteX12" fmla="*/ 0 w 5299368"/>
              <a:gd name="connsiteY12" fmla="*/ 118144 h 1552892"/>
              <a:gd name="connsiteX13" fmla="*/ 118144 w 5299368"/>
              <a:gd name="connsiteY13" fmla="*/ 0 h 1552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99368" h="1552892">
                <a:moveTo>
                  <a:pt x="118144" y="0"/>
                </a:moveTo>
                <a:lnTo>
                  <a:pt x="5181224" y="0"/>
                </a:lnTo>
                <a:cubicBezTo>
                  <a:pt x="5246473" y="0"/>
                  <a:pt x="5299368" y="52895"/>
                  <a:pt x="5299368" y="118144"/>
                </a:cubicBezTo>
                <a:lnTo>
                  <a:pt x="5299368" y="428727"/>
                </a:lnTo>
                <a:lnTo>
                  <a:pt x="5237875" y="447816"/>
                </a:lnTo>
                <a:cubicBezTo>
                  <a:pt x="5117937" y="498545"/>
                  <a:pt x="5033780" y="617306"/>
                  <a:pt x="5033780" y="755723"/>
                </a:cubicBezTo>
                <a:cubicBezTo>
                  <a:pt x="5033780" y="894140"/>
                  <a:pt x="5117937" y="1012901"/>
                  <a:pt x="5237875" y="1063630"/>
                </a:cubicBezTo>
                <a:lnTo>
                  <a:pt x="5299368" y="1082719"/>
                </a:lnTo>
                <a:lnTo>
                  <a:pt x="5299368" y="1434748"/>
                </a:lnTo>
                <a:cubicBezTo>
                  <a:pt x="5299368" y="1499997"/>
                  <a:pt x="5246473" y="1552892"/>
                  <a:pt x="5181224" y="1552892"/>
                </a:cubicBezTo>
                <a:lnTo>
                  <a:pt x="118144" y="1552892"/>
                </a:lnTo>
                <a:cubicBezTo>
                  <a:pt x="52895" y="1552892"/>
                  <a:pt x="0" y="1499997"/>
                  <a:pt x="0" y="1434748"/>
                </a:cubicBezTo>
                <a:lnTo>
                  <a:pt x="0" y="118144"/>
                </a:lnTo>
                <a:cubicBezTo>
                  <a:pt x="0" y="52895"/>
                  <a:pt x="52895" y="0"/>
                  <a:pt x="118144" y="0"/>
                </a:cubicBezTo>
                <a:close/>
              </a:path>
            </a:pathLst>
          </a:custGeom>
          <a:noFill/>
          <a:ln w="12700" cap="rnd">
            <a:no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32742" rtl="0" eaLnBrk="1" fontAlgn="auto" latinLnBrk="0" hangingPunct="1">
              <a:lnSpc>
                <a:spcPct val="100000"/>
              </a:lnSpc>
              <a:spcBef>
                <a:spcPts val="0"/>
              </a:spcBef>
              <a:spcAft>
                <a:spcPts val="60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mj-lt"/>
                <a:ea typeface="+mn-ea"/>
                <a:cs typeface="Segoe UI Semibold"/>
              </a:rPr>
              <a:t>Microsoft 365 Copilot</a:t>
            </a:r>
            <a:endParaRPr kumimoji="0" lang="en-US" sz="1800" b="0" i="0" u="none" strike="noStrike" kern="1200" cap="none" spc="0" normalizeH="0" baseline="0" noProof="0" dirty="0">
              <a:ln>
                <a:noFill/>
              </a:ln>
              <a:solidFill>
                <a:srgbClr val="000000"/>
              </a:solidFill>
              <a:effectLst/>
              <a:uLnTx/>
              <a:uFillTx/>
              <a:latin typeface="+mj-lt"/>
              <a:ea typeface="+mn-ea"/>
              <a:cs typeface="+mn-cs"/>
            </a:endParaRPr>
          </a:p>
        </p:txBody>
      </p:sp>
      <p:pic>
        <p:nvPicPr>
          <p:cNvPr id="10" name="Picture 9">
            <a:extLst>
              <a:ext uri="{FF2B5EF4-FFF2-40B4-BE49-F238E27FC236}">
                <a16:creationId xmlns:a16="http://schemas.microsoft.com/office/drawing/2014/main" id="{FE19CDBB-4495-5C6C-7F88-37E3C2B6BCA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86921" y="1207249"/>
            <a:ext cx="960120" cy="970521"/>
          </a:xfrm>
          <a:prstGeom prst="rect">
            <a:avLst/>
          </a:prstGeom>
        </p:spPr>
      </p:pic>
      <p:sp>
        <p:nvSpPr>
          <p:cNvPr id="12" name="Freeform: Shape 11">
            <a:extLst>
              <a:ext uri="{FF2B5EF4-FFF2-40B4-BE49-F238E27FC236}">
                <a16:creationId xmlns:a16="http://schemas.microsoft.com/office/drawing/2014/main" id="{C68F1293-CF81-12AF-2E33-A69A2E471FAA}"/>
              </a:ext>
            </a:extLst>
          </p:cNvPr>
          <p:cNvSpPr>
            <a:spLocks/>
          </p:cNvSpPr>
          <p:nvPr/>
        </p:nvSpPr>
        <p:spPr bwMode="auto">
          <a:xfrm>
            <a:off x="1199628" y="4616561"/>
            <a:ext cx="4134707" cy="479596"/>
          </a:xfrm>
          <a:custGeom>
            <a:avLst/>
            <a:gdLst>
              <a:gd name="connsiteX0" fmla="*/ 118144 w 5299368"/>
              <a:gd name="connsiteY0" fmla="*/ 0 h 1552892"/>
              <a:gd name="connsiteX1" fmla="*/ 5181224 w 5299368"/>
              <a:gd name="connsiteY1" fmla="*/ 0 h 1552892"/>
              <a:gd name="connsiteX2" fmla="*/ 5299368 w 5299368"/>
              <a:gd name="connsiteY2" fmla="*/ 118144 h 1552892"/>
              <a:gd name="connsiteX3" fmla="*/ 5299368 w 5299368"/>
              <a:gd name="connsiteY3" fmla="*/ 1434748 h 1552892"/>
              <a:gd name="connsiteX4" fmla="*/ 5181224 w 5299368"/>
              <a:gd name="connsiteY4" fmla="*/ 1552892 h 1552892"/>
              <a:gd name="connsiteX5" fmla="*/ 118144 w 5299368"/>
              <a:gd name="connsiteY5" fmla="*/ 1552892 h 1552892"/>
              <a:gd name="connsiteX6" fmla="*/ 0 w 5299368"/>
              <a:gd name="connsiteY6" fmla="*/ 1434748 h 1552892"/>
              <a:gd name="connsiteX7" fmla="*/ 0 w 5299368"/>
              <a:gd name="connsiteY7" fmla="*/ 1082719 h 1552892"/>
              <a:gd name="connsiteX8" fmla="*/ 61493 w 5299368"/>
              <a:gd name="connsiteY8" fmla="*/ 1063630 h 1552892"/>
              <a:gd name="connsiteX9" fmla="*/ 265588 w 5299368"/>
              <a:gd name="connsiteY9" fmla="*/ 755723 h 1552892"/>
              <a:gd name="connsiteX10" fmla="*/ 61493 w 5299368"/>
              <a:gd name="connsiteY10" fmla="*/ 447816 h 1552892"/>
              <a:gd name="connsiteX11" fmla="*/ 0 w 5299368"/>
              <a:gd name="connsiteY11" fmla="*/ 428727 h 1552892"/>
              <a:gd name="connsiteX12" fmla="*/ 0 w 5299368"/>
              <a:gd name="connsiteY12" fmla="*/ 118144 h 1552892"/>
              <a:gd name="connsiteX13" fmla="*/ 118144 w 5299368"/>
              <a:gd name="connsiteY13" fmla="*/ 0 h 1552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99368" h="1552892">
                <a:moveTo>
                  <a:pt x="118144" y="0"/>
                </a:moveTo>
                <a:lnTo>
                  <a:pt x="5181224" y="0"/>
                </a:lnTo>
                <a:cubicBezTo>
                  <a:pt x="5246473" y="0"/>
                  <a:pt x="5299368" y="52895"/>
                  <a:pt x="5299368" y="118144"/>
                </a:cubicBezTo>
                <a:lnTo>
                  <a:pt x="5299368" y="1434748"/>
                </a:lnTo>
                <a:cubicBezTo>
                  <a:pt x="5299368" y="1499997"/>
                  <a:pt x="5246473" y="1552892"/>
                  <a:pt x="5181224" y="1552892"/>
                </a:cubicBezTo>
                <a:lnTo>
                  <a:pt x="118144" y="1552892"/>
                </a:lnTo>
                <a:cubicBezTo>
                  <a:pt x="52895" y="1552892"/>
                  <a:pt x="0" y="1499997"/>
                  <a:pt x="0" y="1434748"/>
                </a:cubicBezTo>
                <a:lnTo>
                  <a:pt x="0" y="1082719"/>
                </a:lnTo>
                <a:lnTo>
                  <a:pt x="61493" y="1063630"/>
                </a:lnTo>
                <a:cubicBezTo>
                  <a:pt x="181431" y="1012901"/>
                  <a:pt x="265588" y="894140"/>
                  <a:pt x="265588" y="755723"/>
                </a:cubicBezTo>
                <a:cubicBezTo>
                  <a:pt x="265588" y="617306"/>
                  <a:pt x="181431" y="498545"/>
                  <a:pt x="61493" y="447816"/>
                </a:cubicBezTo>
                <a:lnTo>
                  <a:pt x="0" y="428727"/>
                </a:lnTo>
                <a:lnTo>
                  <a:pt x="0" y="118144"/>
                </a:lnTo>
                <a:cubicBezTo>
                  <a:pt x="0" y="52895"/>
                  <a:pt x="52895" y="0"/>
                  <a:pt x="118144" y="0"/>
                </a:cubicBezTo>
                <a:close/>
              </a:path>
            </a:pathLst>
          </a:custGeom>
          <a:noFill/>
          <a:ln w="12700" cap="rnd">
            <a:no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2" indent="0" algn="ctr" defTabSz="932742" rtl="0" eaLnBrk="1" fontAlgn="auto" latinLnBrk="0" hangingPunct="1">
              <a:lnSpc>
                <a:spcPct val="100000"/>
              </a:lnSpc>
              <a:spcBef>
                <a:spcPts val="0"/>
              </a:spcBef>
              <a:spcAft>
                <a:spcPts val="600"/>
              </a:spcAft>
              <a:buClrTx/>
              <a:buSzTx/>
              <a:buFontTx/>
              <a:buNone/>
              <a:tabLst/>
              <a:defRPr/>
            </a:pPr>
            <a:r>
              <a:rPr kumimoji="0" lang="en-US" sz="2800" b="0" i="0" u="none" strike="noStrike" kern="1200" cap="none" spc="0" normalizeH="0" baseline="0" noProof="0">
                <a:ln>
                  <a:noFill/>
                </a:ln>
                <a:solidFill>
                  <a:srgbClr val="000000"/>
                </a:solidFill>
                <a:effectLst/>
                <a:uLnTx/>
                <a:uFillTx/>
                <a:latin typeface="+mj-lt"/>
                <a:ea typeface="+mn-ea"/>
                <a:cs typeface="Segoe UI Semibold"/>
              </a:rPr>
              <a:t>Microsoft Purview</a:t>
            </a:r>
            <a:endParaRPr kumimoji="0" lang="en-US" sz="2800" b="0" i="0" u="none" strike="noStrike" kern="1200" cap="none" spc="0" normalizeH="0" baseline="0" noProof="0">
              <a:ln>
                <a:noFill/>
              </a:ln>
              <a:solidFill>
                <a:srgbClr val="000000"/>
              </a:solidFill>
              <a:effectLst/>
              <a:uLnTx/>
              <a:uFillTx/>
              <a:latin typeface="+mj-lt"/>
              <a:ea typeface="+mn-ea"/>
              <a:cs typeface="+mn-cs"/>
            </a:endParaRPr>
          </a:p>
        </p:txBody>
      </p:sp>
      <p:pic>
        <p:nvPicPr>
          <p:cNvPr id="15" name="purview">
            <a:extLst>
              <a:ext uri="{FF2B5EF4-FFF2-40B4-BE49-F238E27FC236}">
                <a16:creationId xmlns:a16="http://schemas.microsoft.com/office/drawing/2014/main" id="{BA50A596-9DA4-5AF0-EECF-954E2A4F2E21}"/>
              </a:ext>
              <a:ext uri="{C183D7F6-B498-43B3-948B-1728B52AA6E4}">
                <adec:decorative xmlns:adec="http://schemas.microsoft.com/office/drawing/2017/decorative" val="1"/>
              </a:ext>
            </a:extLst>
          </p:cNvPr>
          <p:cNvPicPr>
            <a:picLocks/>
          </p:cNvPicPr>
          <p:nvPr/>
        </p:nvPicPr>
        <p:blipFill rotWithShape="1">
          <a:blip r:embed="rId5">
            <a:extLst>
              <a:ext uri="{96DAC541-7B7A-43D3-8B79-37D633B846F1}">
                <asvg:svgBlip xmlns:asvg="http://schemas.microsoft.com/office/drawing/2016/SVG/main" r:embed="rId6"/>
              </a:ext>
            </a:extLst>
          </a:blip>
          <a:srcRect l="1020" r="1020"/>
          <a:stretch/>
        </p:blipFill>
        <p:spPr>
          <a:xfrm>
            <a:off x="2786280" y="3576902"/>
            <a:ext cx="961402" cy="961402"/>
          </a:xfrm>
          <a:prstGeom prst="rect">
            <a:avLst/>
          </a:prstGeom>
        </p:spPr>
      </p:pic>
      <p:pic>
        <p:nvPicPr>
          <p:cNvPr id="18" name="Graphic 17">
            <a:extLst>
              <a:ext uri="{FF2B5EF4-FFF2-40B4-BE49-F238E27FC236}">
                <a16:creationId xmlns:a16="http://schemas.microsoft.com/office/drawing/2014/main" id="{AD984FFC-CFC0-E43A-EF53-0047044C1747}"/>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137902" y="3062056"/>
            <a:ext cx="258158" cy="258158"/>
          </a:xfrm>
          <a:prstGeom prst="rect">
            <a:avLst/>
          </a:prstGeom>
          <a:effectLst>
            <a:outerShdw blurRad="63500" dist="63500" dir="2700000" algn="ctr" rotWithShape="0">
              <a:schemeClr val="bg1">
                <a:alpha val="20000"/>
              </a:schemeClr>
            </a:outerShdw>
          </a:effectLst>
        </p:spPr>
      </p:pic>
      <p:sp>
        <p:nvSpPr>
          <p:cNvPr id="27" name="Graphic 25" descr="Add with solid fill">
            <a:extLst>
              <a:ext uri="{FF2B5EF4-FFF2-40B4-BE49-F238E27FC236}">
                <a16:creationId xmlns:a16="http://schemas.microsoft.com/office/drawing/2014/main" id="{CF59EC1A-DC47-8699-F996-A1A5D627CB3E}"/>
              </a:ext>
            </a:extLst>
          </p:cNvPr>
          <p:cNvSpPr/>
          <p:nvPr/>
        </p:nvSpPr>
        <p:spPr>
          <a:xfrm>
            <a:off x="3069209" y="2912903"/>
            <a:ext cx="395545" cy="395545"/>
          </a:xfrm>
          <a:custGeom>
            <a:avLst/>
            <a:gdLst>
              <a:gd name="connsiteX0" fmla="*/ 395546 w 395545"/>
              <a:gd name="connsiteY0" fmla="*/ 168107 h 395545"/>
              <a:gd name="connsiteX1" fmla="*/ 227439 w 395545"/>
              <a:gd name="connsiteY1" fmla="*/ 168107 h 395545"/>
              <a:gd name="connsiteX2" fmla="*/ 227439 w 395545"/>
              <a:gd name="connsiteY2" fmla="*/ 0 h 395545"/>
              <a:gd name="connsiteX3" fmla="*/ 168107 w 395545"/>
              <a:gd name="connsiteY3" fmla="*/ 0 h 395545"/>
              <a:gd name="connsiteX4" fmla="*/ 168107 w 395545"/>
              <a:gd name="connsiteY4" fmla="*/ 168107 h 395545"/>
              <a:gd name="connsiteX5" fmla="*/ 0 w 395545"/>
              <a:gd name="connsiteY5" fmla="*/ 168107 h 395545"/>
              <a:gd name="connsiteX6" fmla="*/ 0 w 395545"/>
              <a:gd name="connsiteY6" fmla="*/ 227439 h 395545"/>
              <a:gd name="connsiteX7" fmla="*/ 168107 w 395545"/>
              <a:gd name="connsiteY7" fmla="*/ 227439 h 395545"/>
              <a:gd name="connsiteX8" fmla="*/ 168107 w 395545"/>
              <a:gd name="connsiteY8" fmla="*/ 395546 h 395545"/>
              <a:gd name="connsiteX9" fmla="*/ 227439 w 395545"/>
              <a:gd name="connsiteY9" fmla="*/ 395546 h 395545"/>
              <a:gd name="connsiteX10" fmla="*/ 227439 w 395545"/>
              <a:gd name="connsiteY10" fmla="*/ 227439 h 395545"/>
              <a:gd name="connsiteX11" fmla="*/ 395546 w 395545"/>
              <a:gd name="connsiteY11" fmla="*/ 227439 h 395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95545" h="395545">
                <a:moveTo>
                  <a:pt x="395546" y="168107"/>
                </a:moveTo>
                <a:lnTo>
                  <a:pt x="227439" y="168107"/>
                </a:lnTo>
                <a:lnTo>
                  <a:pt x="227439" y="0"/>
                </a:lnTo>
                <a:lnTo>
                  <a:pt x="168107" y="0"/>
                </a:lnTo>
                <a:lnTo>
                  <a:pt x="168107" y="168107"/>
                </a:lnTo>
                <a:lnTo>
                  <a:pt x="0" y="168107"/>
                </a:lnTo>
                <a:lnTo>
                  <a:pt x="0" y="227439"/>
                </a:lnTo>
                <a:lnTo>
                  <a:pt x="168107" y="227439"/>
                </a:lnTo>
                <a:lnTo>
                  <a:pt x="168107" y="395546"/>
                </a:lnTo>
                <a:lnTo>
                  <a:pt x="227439" y="395546"/>
                </a:lnTo>
                <a:lnTo>
                  <a:pt x="227439" y="227439"/>
                </a:lnTo>
                <a:lnTo>
                  <a:pt x="395546" y="227439"/>
                </a:lnTo>
                <a:close/>
              </a:path>
            </a:pathLst>
          </a:custGeom>
          <a:gradFill flip="none" rotWithShape="1">
            <a:gsLst>
              <a:gs pos="0">
                <a:srgbClr val="F65567"/>
              </a:gs>
              <a:gs pos="32000">
                <a:srgbClr val="AC35AF"/>
              </a:gs>
              <a:gs pos="68000">
                <a:srgbClr val="0A6BBA"/>
              </a:gs>
              <a:gs pos="100000">
                <a:srgbClr val="318581"/>
              </a:gs>
            </a:gsLst>
            <a:path path="circle">
              <a:fillToRect l="100000" t="100000"/>
            </a:path>
            <a:tileRect r="-100000" b="-100000"/>
          </a:gradFill>
        </p:spPr>
        <p:txBody>
          <a:bodyPr wrap="square" lIns="146957" tIns="25718" rIns="146957" bIns="27432" rtlCol="0" anchor="ctr">
            <a:noAutofit/>
          </a:bodyPr>
          <a:lstStyle/>
          <a:p>
            <a:pPr marL="0" marR="0" lvl="0" indent="0" algn="ctr" defTabSz="2275850" rtl="0" eaLnBrk="1" fontAlgn="base" latinLnBrk="0" hangingPunct="1">
              <a:lnSpc>
                <a:spcPct val="100000"/>
              </a:lnSpc>
              <a:spcBef>
                <a:spcPts val="1800"/>
              </a:spcBef>
              <a:spcAft>
                <a:spcPts val="1800"/>
              </a:spcAft>
              <a:buClrTx/>
              <a:buSzTx/>
              <a:buFontTx/>
              <a:buNone/>
              <a:tabLst>
                <a:tab pos="3701239" algn="l"/>
              </a:tabLst>
              <a:defRPr/>
            </a:pPr>
            <a:endParaRPr kumimoji="0" lang="en-US" sz="24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2" name="Footer Placeholder 1">
            <a:extLst>
              <a:ext uri="{FF2B5EF4-FFF2-40B4-BE49-F238E27FC236}">
                <a16:creationId xmlns:a16="http://schemas.microsoft.com/office/drawing/2014/main" id="{25AB0207-7652-7528-246D-D35283B96699}"/>
              </a:ext>
            </a:extLst>
          </p:cNvPr>
          <p:cNvSpPr>
            <a:spLocks noGrp="1"/>
          </p:cNvSpPr>
          <p:nvPr>
            <p:ph type="ftr" sz="quarter" idx="10"/>
          </p:nvPr>
        </p:nvSpPr>
        <p:spPr/>
        <p:txBody>
          <a:bodyPr/>
          <a:lstStyle/>
          <a:p>
            <a:r>
              <a:rPr lang="en-US" dirty="0"/>
              <a:t>Building Customer-Centric Services offers</a:t>
            </a:r>
          </a:p>
        </p:txBody>
      </p:sp>
      <p:sp>
        <p:nvSpPr>
          <p:cNvPr id="4" name="Slide Number Placeholder 3">
            <a:extLst>
              <a:ext uri="{FF2B5EF4-FFF2-40B4-BE49-F238E27FC236}">
                <a16:creationId xmlns:a16="http://schemas.microsoft.com/office/drawing/2014/main" id="{08299505-A8C2-606F-6C03-D06F238A5862}"/>
              </a:ext>
            </a:extLst>
          </p:cNvPr>
          <p:cNvSpPr>
            <a:spLocks noGrp="1"/>
          </p:cNvSpPr>
          <p:nvPr>
            <p:ph type="sldNum" sz="quarter" idx="11"/>
          </p:nvPr>
        </p:nvSpPr>
        <p:spPr/>
        <p:txBody>
          <a:bodyPr/>
          <a:lstStyle/>
          <a:p>
            <a:fld id="{5763EE98-C176-4152-A50F-E68840BAFA00}" type="slidenum">
              <a:rPr lang="en-US" smtClean="0"/>
              <a:pPr/>
              <a:t>9</a:t>
            </a:fld>
            <a:endParaRPr lang="en-US"/>
          </a:p>
        </p:txBody>
      </p:sp>
    </p:spTree>
    <p:extLst>
      <p:ext uri="{BB962C8B-B14F-4D97-AF65-F5344CB8AC3E}">
        <p14:creationId xmlns:p14="http://schemas.microsoft.com/office/powerpoint/2010/main" val="5729638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39000" b="-39000"/>
          </a:stretch>
        </a:blipFill>
        <a:effectLst/>
      </p:bgPr>
    </p:bg>
    <p:spTree>
      <p:nvGrpSpPr>
        <p:cNvPr id="1" name="">
          <a:extLst>
            <a:ext uri="{FF2B5EF4-FFF2-40B4-BE49-F238E27FC236}">
              <a16:creationId xmlns:a16="http://schemas.microsoft.com/office/drawing/2014/main" id="{A812986F-DFFE-882C-9C17-AFD1098DACE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C668518-DB11-F4F8-3D57-F21DD14BA799}"/>
              </a:ext>
            </a:extLst>
          </p:cNvPr>
          <p:cNvSpPr>
            <a:spLocks noGrp="1"/>
          </p:cNvSpPr>
          <p:nvPr>
            <p:ph type="title"/>
          </p:nvPr>
        </p:nvSpPr>
        <p:spPr/>
        <p:txBody>
          <a:bodyPr>
            <a:spAutoFit/>
          </a:bodyPr>
          <a:lstStyle/>
          <a:p>
            <a:pPr algn="ctr">
              <a:lnSpc>
                <a:spcPct val="100000"/>
              </a:lnSpc>
            </a:pPr>
            <a:r>
              <a:rPr lang="en-US" sz="3600" dirty="0"/>
              <a:t>Activate the power of Copilot </a:t>
            </a:r>
            <a:r>
              <a:rPr lang="en-US" sz="3600" spc="0" dirty="0">
                <a:solidFill>
                  <a:schemeClr val="accent4"/>
                </a:solidFill>
                <a:ea typeface="+mn-ea"/>
              </a:rPr>
              <a:t>with customers</a:t>
            </a:r>
            <a:endParaRPr lang="en-US" sz="1600" spc="0" dirty="0">
              <a:solidFill>
                <a:schemeClr val="accent4"/>
              </a:solidFill>
              <a:ea typeface="+mn-ea"/>
            </a:endParaRPr>
          </a:p>
        </p:txBody>
      </p:sp>
      <p:sp>
        <p:nvSpPr>
          <p:cNvPr id="14" name="Rectangle: Rounded Corners 34">
            <a:extLst>
              <a:ext uri="{FF2B5EF4-FFF2-40B4-BE49-F238E27FC236}">
                <a16:creationId xmlns:a16="http://schemas.microsoft.com/office/drawing/2014/main" id="{1E374DE2-33E2-3CC7-D20E-83AE7F73BB0B}"/>
              </a:ext>
            </a:extLst>
          </p:cNvPr>
          <p:cNvSpPr/>
          <p:nvPr/>
        </p:nvSpPr>
        <p:spPr bwMode="auto">
          <a:xfrm flipV="1">
            <a:off x="586740" y="2204680"/>
            <a:ext cx="11018520" cy="2228372"/>
          </a:xfrm>
          <a:prstGeom prst="roundRect">
            <a:avLst>
              <a:gd name="adj" fmla="val 2214"/>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a:effectLst>
            <a:outerShdw blurRad="266700" dist="38100" dir="2700000" algn="tl" rotWithShape="0">
              <a:prstClr val="black">
                <a:alpha val="5000"/>
              </a:prstClr>
            </a:outerShdw>
          </a:effectLst>
        </p:spPr>
        <p:txBody>
          <a:bodyPr vert="horz" wrap="square" lIns="182880" tIns="91440" rIns="182880" bIns="91440" rtlCol="0" anchor="t" anchorCtr="0">
            <a:noAutofit/>
          </a:bodyPr>
          <a:lstStyle/>
          <a:p>
            <a:pPr defTabSz="932742">
              <a:spcBef>
                <a:spcPts val="600"/>
              </a:spcBef>
              <a:buSzPct val="90000"/>
            </a:pPr>
            <a:endParaRPr lang="en-US" baseline="30000">
              <a:solidFill>
                <a:schemeClr val="tx1"/>
              </a:solidFill>
              <a:cs typeface="Segoe Sans Display" pitchFamily="2" charset="0"/>
            </a:endParaRPr>
          </a:p>
        </p:txBody>
      </p:sp>
      <p:grpSp>
        <p:nvGrpSpPr>
          <p:cNvPr id="10" name="Group 9">
            <a:extLst>
              <a:ext uri="{FF2B5EF4-FFF2-40B4-BE49-F238E27FC236}">
                <a16:creationId xmlns:a16="http://schemas.microsoft.com/office/drawing/2014/main" id="{CD41A259-85C4-4660-5A9E-2A96231707D1}"/>
              </a:ext>
            </a:extLst>
          </p:cNvPr>
          <p:cNvGrpSpPr/>
          <p:nvPr/>
        </p:nvGrpSpPr>
        <p:grpSpPr>
          <a:xfrm>
            <a:off x="2775727" y="2595156"/>
            <a:ext cx="6638073" cy="1578124"/>
            <a:chOff x="2775727" y="2224103"/>
            <a:chExt cx="6638073" cy="2228373"/>
          </a:xfrm>
        </p:grpSpPr>
        <p:cxnSp>
          <p:nvCxnSpPr>
            <p:cNvPr id="16" name="!! Line5">
              <a:extLst>
                <a:ext uri="{FF2B5EF4-FFF2-40B4-BE49-F238E27FC236}">
                  <a16:creationId xmlns:a16="http://schemas.microsoft.com/office/drawing/2014/main" id="{9FE6EFE4-DD53-92A1-0D10-F3FB18E94554}"/>
                </a:ext>
                <a:ext uri="{C183D7F6-B498-43B3-948B-1728B52AA6E4}">
                  <adec:decorative xmlns:adec="http://schemas.microsoft.com/office/drawing/2017/decorative" val="1"/>
                </a:ext>
              </a:extLst>
            </p:cNvPr>
            <p:cNvCxnSpPr>
              <a:cxnSpLocks/>
            </p:cNvCxnSpPr>
            <p:nvPr/>
          </p:nvCxnSpPr>
          <p:spPr>
            <a:xfrm>
              <a:off x="4988418" y="2224103"/>
              <a:ext cx="0" cy="2194560"/>
            </a:xfrm>
            <a:prstGeom prst="line">
              <a:avLst/>
            </a:prstGeom>
            <a:gradFill>
              <a:gsLst>
                <a:gs pos="30000">
                  <a:srgbClr val="2DB4FF"/>
                </a:gs>
                <a:gs pos="3000">
                  <a:srgbClr val="0078D4"/>
                </a:gs>
                <a:gs pos="35000">
                  <a:srgbClr val="2DB4FF"/>
                </a:gs>
                <a:gs pos="52000">
                  <a:srgbClr val="818EFF"/>
                </a:gs>
                <a:gs pos="96552">
                  <a:srgbClr val="FEA874"/>
                </a:gs>
                <a:gs pos="70000">
                  <a:srgbClr val="D660FF"/>
                </a:gs>
              </a:gsLst>
              <a:lin ang="5400000" scaled="1"/>
            </a:gradFill>
            <a:ln w="15875">
              <a:gradFill flip="none" rotWithShape="1">
                <a:gsLst>
                  <a:gs pos="30000">
                    <a:srgbClr val="2DB4FF"/>
                  </a:gs>
                  <a:gs pos="3000">
                    <a:srgbClr val="0078D4"/>
                  </a:gs>
                  <a:gs pos="35000">
                    <a:srgbClr val="2DB4FF"/>
                  </a:gs>
                  <a:gs pos="52000">
                    <a:srgbClr val="818EFF"/>
                  </a:gs>
                  <a:gs pos="96552">
                    <a:srgbClr val="FEA874"/>
                  </a:gs>
                  <a:gs pos="70000">
                    <a:srgbClr val="D660FF"/>
                  </a:gs>
                </a:gsLst>
                <a:lin ang="54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7" name="!! Line4">
              <a:extLst>
                <a:ext uri="{FF2B5EF4-FFF2-40B4-BE49-F238E27FC236}">
                  <a16:creationId xmlns:a16="http://schemas.microsoft.com/office/drawing/2014/main" id="{6F4C48F2-2BC2-732D-E8B6-DE1B6B983A25}"/>
                </a:ext>
                <a:ext uri="{C183D7F6-B498-43B3-948B-1728B52AA6E4}">
                  <adec:decorative xmlns:adec="http://schemas.microsoft.com/office/drawing/2017/decorative" val="1"/>
                </a:ext>
              </a:extLst>
            </p:cNvPr>
            <p:cNvCxnSpPr>
              <a:cxnSpLocks/>
            </p:cNvCxnSpPr>
            <p:nvPr/>
          </p:nvCxnSpPr>
          <p:spPr>
            <a:xfrm>
              <a:off x="2775727" y="2224103"/>
              <a:ext cx="0" cy="2194560"/>
            </a:xfrm>
            <a:prstGeom prst="line">
              <a:avLst/>
            </a:prstGeom>
            <a:gradFill>
              <a:gsLst>
                <a:gs pos="30000">
                  <a:srgbClr val="2DB4FF"/>
                </a:gs>
                <a:gs pos="3000">
                  <a:srgbClr val="0078D4"/>
                </a:gs>
                <a:gs pos="35000">
                  <a:srgbClr val="2DB4FF"/>
                </a:gs>
                <a:gs pos="52000">
                  <a:srgbClr val="818EFF"/>
                </a:gs>
                <a:gs pos="96552">
                  <a:srgbClr val="FEA874"/>
                </a:gs>
                <a:gs pos="70000">
                  <a:srgbClr val="D660FF"/>
                </a:gs>
              </a:gsLst>
              <a:lin ang="5400000" scaled="1"/>
            </a:gradFill>
            <a:ln w="15875">
              <a:gradFill flip="none" rotWithShape="1">
                <a:gsLst>
                  <a:gs pos="30000">
                    <a:srgbClr val="2DB4FF"/>
                  </a:gs>
                  <a:gs pos="3000">
                    <a:srgbClr val="0078D4"/>
                  </a:gs>
                  <a:gs pos="35000">
                    <a:srgbClr val="2DB4FF"/>
                  </a:gs>
                  <a:gs pos="52000">
                    <a:srgbClr val="818EFF"/>
                  </a:gs>
                  <a:gs pos="96552">
                    <a:srgbClr val="FEA874"/>
                  </a:gs>
                  <a:gs pos="70000">
                    <a:srgbClr val="D660FF"/>
                  </a:gs>
                </a:gsLst>
                <a:lin ang="54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8" name="Straight Connector 17">
              <a:extLst>
                <a:ext uri="{FF2B5EF4-FFF2-40B4-BE49-F238E27FC236}">
                  <a16:creationId xmlns:a16="http://schemas.microsoft.com/office/drawing/2014/main" id="{4F4D69F0-86E4-BA1F-E588-6EE4DF2D4C6E}"/>
                </a:ext>
                <a:ext uri="{C183D7F6-B498-43B3-948B-1728B52AA6E4}">
                  <adec:decorative xmlns:adec="http://schemas.microsoft.com/office/drawing/2017/decorative" val="1"/>
                </a:ext>
              </a:extLst>
            </p:cNvPr>
            <p:cNvCxnSpPr>
              <a:cxnSpLocks/>
            </p:cNvCxnSpPr>
            <p:nvPr/>
          </p:nvCxnSpPr>
          <p:spPr>
            <a:xfrm>
              <a:off x="7201109" y="2224103"/>
              <a:ext cx="0" cy="2194560"/>
            </a:xfrm>
            <a:prstGeom prst="line">
              <a:avLst/>
            </a:prstGeom>
            <a:gradFill>
              <a:gsLst>
                <a:gs pos="30000">
                  <a:srgbClr val="2DB4FF"/>
                </a:gs>
                <a:gs pos="3000">
                  <a:srgbClr val="0078D4"/>
                </a:gs>
                <a:gs pos="35000">
                  <a:srgbClr val="2DB4FF"/>
                </a:gs>
                <a:gs pos="52000">
                  <a:srgbClr val="818EFF"/>
                </a:gs>
                <a:gs pos="96552">
                  <a:srgbClr val="FEA874"/>
                </a:gs>
                <a:gs pos="70000">
                  <a:srgbClr val="D660FF"/>
                </a:gs>
              </a:gsLst>
              <a:lin ang="5400000" scaled="1"/>
            </a:gradFill>
            <a:ln w="15875">
              <a:gradFill flip="none" rotWithShape="1">
                <a:gsLst>
                  <a:gs pos="30000">
                    <a:srgbClr val="2DB4FF"/>
                  </a:gs>
                  <a:gs pos="3000">
                    <a:srgbClr val="0078D4"/>
                  </a:gs>
                  <a:gs pos="35000">
                    <a:srgbClr val="2DB4FF"/>
                  </a:gs>
                  <a:gs pos="52000">
                    <a:srgbClr val="818EFF"/>
                  </a:gs>
                  <a:gs pos="96552">
                    <a:srgbClr val="FEA874"/>
                  </a:gs>
                  <a:gs pos="70000">
                    <a:srgbClr val="D660FF"/>
                  </a:gs>
                </a:gsLst>
                <a:lin ang="54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0" name="Straight Connector 19">
              <a:extLst>
                <a:ext uri="{FF2B5EF4-FFF2-40B4-BE49-F238E27FC236}">
                  <a16:creationId xmlns:a16="http://schemas.microsoft.com/office/drawing/2014/main" id="{0EEC438E-A0A7-69F0-7112-131C75A7FD4B}"/>
                </a:ext>
                <a:ext uri="{C183D7F6-B498-43B3-948B-1728B52AA6E4}">
                  <adec:decorative xmlns:adec="http://schemas.microsoft.com/office/drawing/2017/decorative" val="1"/>
                </a:ext>
              </a:extLst>
            </p:cNvPr>
            <p:cNvCxnSpPr>
              <a:cxnSpLocks/>
            </p:cNvCxnSpPr>
            <p:nvPr/>
          </p:nvCxnSpPr>
          <p:spPr>
            <a:xfrm>
              <a:off x="9413800" y="2224103"/>
              <a:ext cx="0" cy="2228373"/>
            </a:xfrm>
            <a:prstGeom prst="line">
              <a:avLst/>
            </a:prstGeom>
            <a:gradFill>
              <a:gsLst>
                <a:gs pos="30000">
                  <a:srgbClr val="2DB4FF"/>
                </a:gs>
                <a:gs pos="3000">
                  <a:srgbClr val="0078D4"/>
                </a:gs>
                <a:gs pos="35000">
                  <a:srgbClr val="2DB4FF"/>
                </a:gs>
                <a:gs pos="52000">
                  <a:srgbClr val="818EFF"/>
                </a:gs>
                <a:gs pos="96552">
                  <a:srgbClr val="FEA874"/>
                </a:gs>
                <a:gs pos="70000">
                  <a:srgbClr val="D660FF"/>
                </a:gs>
              </a:gsLst>
              <a:lin ang="5400000" scaled="1"/>
            </a:gradFill>
            <a:ln w="15875">
              <a:gradFill flip="none" rotWithShape="1">
                <a:gsLst>
                  <a:gs pos="30000">
                    <a:srgbClr val="2DB4FF"/>
                  </a:gs>
                  <a:gs pos="3000">
                    <a:srgbClr val="0078D4"/>
                  </a:gs>
                  <a:gs pos="35000">
                    <a:srgbClr val="2DB4FF"/>
                  </a:gs>
                  <a:gs pos="52000">
                    <a:srgbClr val="818EFF"/>
                  </a:gs>
                  <a:gs pos="96552">
                    <a:srgbClr val="FEA874"/>
                  </a:gs>
                  <a:gs pos="70000">
                    <a:srgbClr val="D660FF"/>
                  </a:gs>
                </a:gsLst>
                <a:lin ang="54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sp>
        <p:nvSpPr>
          <p:cNvPr id="22" name="Rectangle 21">
            <a:extLst>
              <a:ext uri="{FF2B5EF4-FFF2-40B4-BE49-F238E27FC236}">
                <a16:creationId xmlns:a16="http://schemas.microsoft.com/office/drawing/2014/main" id="{EA6B2C2F-A0E6-760C-F959-765506032969}"/>
              </a:ext>
            </a:extLst>
          </p:cNvPr>
          <p:cNvSpPr>
            <a:spLocks/>
          </p:cNvSpPr>
          <p:nvPr/>
        </p:nvSpPr>
        <p:spPr bwMode="auto">
          <a:xfrm>
            <a:off x="584255" y="2758322"/>
            <a:ext cx="2176219" cy="73866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7160" tIns="0" rIns="137160" bIns="0" numCol="1" spcCol="0" rtlCol="0" fromWordArt="0" anchor="ctr" anchorCtr="0" forceAA="0" compatLnSpc="1">
            <a:prstTxWarp prst="textNoShape">
              <a:avLst/>
            </a:prstTxWarp>
            <a:spAutoFit/>
          </a:bodyPr>
          <a:lstStyle/>
          <a:p>
            <a:pPr marL="0" marR="0" lvl="0" indent="0" algn="ctr" defTabSz="914367" rtl="0" eaLnBrk="1" fontAlgn="b" latinLnBrk="0" hangingPunct="1">
              <a:lnSpc>
                <a:spcPct val="100000"/>
              </a:lnSpc>
              <a:spcBef>
                <a:spcPts val="0"/>
              </a:spcBef>
              <a:spcAft>
                <a:spcPts val="294"/>
              </a:spcAft>
              <a:buClrTx/>
              <a:buSzTx/>
              <a:buFontTx/>
              <a:buNone/>
              <a:tabLst/>
              <a:defRPr/>
            </a:pPr>
            <a:r>
              <a:rPr kumimoji="0" lang="en-US" sz="1600" b="0" i="0" u="none" strike="noStrike" kern="1200" cap="none" spc="0" normalizeH="0" baseline="0" noProof="0" dirty="0">
                <a:ln>
                  <a:noFill/>
                </a:ln>
                <a:solidFill>
                  <a:prstClr val="black"/>
                </a:solidFill>
                <a:effectLst/>
                <a:uLnTx/>
                <a:uFillTx/>
                <a:ea typeface="+mn-ea"/>
                <a:cs typeface="Segoe Sans Display" pitchFamily="2" charset="0"/>
              </a:rPr>
              <a:t>Position Wall-to-Wall </a:t>
            </a:r>
            <a:r>
              <a:rPr kumimoji="0" lang="en-US" sz="1600" b="1" i="0" u="none" strike="noStrike" kern="1200" cap="none" spc="0" normalizeH="0" baseline="0" noProof="0" dirty="0">
                <a:ln>
                  <a:noFill/>
                </a:ln>
                <a:solidFill>
                  <a:schemeClr val="accent4"/>
                </a:solidFill>
                <a:effectLst/>
                <a:uLnTx/>
                <a:uFillTx/>
                <a:latin typeface="+mj-lt"/>
                <a:ea typeface="+mn-ea"/>
                <a:cs typeface="Segoe Sans Display Semibold" pitchFamily="2" charset="0"/>
              </a:rPr>
              <a:t>Copilot</a:t>
            </a:r>
            <a:r>
              <a:rPr kumimoji="0" lang="en-US" sz="1600" b="1" i="0" u="none" strike="noStrike" kern="1200" cap="none" spc="0" normalizeH="0" baseline="0" noProof="0" dirty="0">
                <a:ln>
                  <a:noFill/>
                </a:ln>
                <a:gradFill>
                  <a:gsLst>
                    <a:gs pos="0">
                      <a:srgbClr val="0078D4"/>
                    </a:gs>
                    <a:gs pos="50000">
                      <a:srgbClr val="8661C5"/>
                    </a:gs>
                    <a:gs pos="100000">
                      <a:srgbClr val="C73ECC"/>
                    </a:gs>
                  </a:gsLst>
                  <a:lin ang="0" scaled="1"/>
                </a:gradFill>
                <a:effectLst/>
                <a:uLnTx/>
                <a:uFillTx/>
                <a:ea typeface="+mn-ea"/>
                <a:cs typeface="Segoe Sans Display Semibold" pitchFamily="2" charset="0"/>
              </a:rPr>
              <a:t> </a:t>
            </a:r>
            <a:r>
              <a:rPr kumimoji="0" lang="en-US" sz="1600" b="0" i="0" u="none" strike="noStrike" kern="1200" cap="none" spc="0" normalizeH="0" baseline="0" noProof="0" dirty="0">
                <a:ln>
                  <a:noFill/>
                </a:ln>
                <a:solidFill>
                  <a:prstClr val="black"/>
                </a:solidFill>
                <a:effectLst/>
                <a:uLnTx/>
                <a:uFillTx/>
                <a:ea typeface="+mn-ea"/>
                <a:cs typeface="Segoe Sans Display" pitchFamily="2" charset="0"/>
              </a:rPr>
              <a:t>coverage for all users </a:t>
            </a:r>
          </a:p>
        </p:txBody>
      </p:sp>
      <p:grpSp>
        <p:nvGrpSpPr>
          <p:cNvPr id="40" name="Group 39">
            <a:extLst>
              <a:ext uri="{FF2B5EF4-FFF2-40B4-BE49-F238E27FC236}">
                <a16:creationId xmlns:a16="http://schemas.microsoft.com/office/drawing/2014/main" id="{1CBB3A1B-BE83-7896-060B-0739F7A6AD4B}"/>
              </a:ext>
            </a:extLst>
          </p:cNvPr>
          <p:cNvGrpSpPr/>
          <p:nvPr/>
        </p:nvGrpSpPr>
        <p:grpSpPr>
          <a:xfrm>
            <a:off x="1549368" y="1981017"/>
            <a:ext cx="9168132" cy="392233"/>
            <a:chOff x="1549367" y="1981018"/>
            <a:chExt cx="9168132" cy="392233"/>
          </a:xfrm>
        </p:grpSpPr>
        <p:sp>
          <p:nvSpPr>
            <p:cNvPr id="41" name="Oval 40">
              <a:extLst>
                <a:ext uri="{FF2B5EF4-FFF2-40B4-BE49-F238E27FC236}">
                  <a16:creationId xmlns:a16="http://schemas.microsoft.com/office/drawing/2014/main" id="{1C7CD919-8629-5BE6-C282-273E49ECD31A}"/>
                </a:ext>
              </a:extLst>
            </p:cNvPr>
            <p:cNvSpPr/>
            <p:nvPr/>
          </p:nvSpPr>
          <p:spPr>
            <a:xfrm>
              <a:off x="1549367" y="1981018"/>
              <a:ext cx="392233" cy="392233"/>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a:ln w="3175">
                    <a:noFill/>
                  </a:ln>
                  <a:solidFill>
                    <a:prstClr val="white"/>
                  </a:solidFill>
                  <a:effectLst/>
                  <a:uLnTx/>
                  <a:uFillTx/>
                  <a:latin typeface="Segoe Sans Display Semibold" pitchFamily="2" charset="0"/>
                  <a:ea typeface="+mn-ea"/>
                  <a:cs typeface="Segoe Sans Display Semibold" pitchFamily="2" charset="0"/>
                </a:rPr>
                <a:t>1</a:t>
              </a:r>
              <a:endParaRPr kumimoji="0" lang="en-US" sz="1800" b="1" i="0" u="none" strike="noStrike" kern="1200" cap="none" spc="0" normalizeH="0" baseline="0" noProof="0">
                <a:ln w="3175">
                  <a:noFill/>
                </a:ln>
                <a:solidFill>
                  <a:prstClr val="white"/>
                </a:solidFill>
                <a:effectLst/>
                <a:uLnTx/>
                <a:uFillTx/>
                <a:latin typeface="Segoe Sans Display Semibold" pitchFamily="2" charset="0"/>
                <a:ea typeface="+mn-ea"/>
                <a:cs typeface="Segoe Sans Display Semibold" pitchFamily="2" charset="0"/>
              </a:endParaRPr>
            </a:p>
          </p:txBody>
        </p:sp>
        <p:sp>
          <p:nvSpPr>
            <p:cNvPr id="42" name="Oval 41">
              <a:extLst>
                <a:ext uri="{FF2B5EF4-FFF2-40B4-BE49-F238E27FC236}">
                  <a16:creationId xmlns:a16="http://schemas.microsoft.com/office/drawing/2014/main" id="{B9444F3A-144D-0C78-9A98-B337A7C455F9}"/>
                </a:ext>
              </a:extLst>
            </p:cNvPr>
            <p:cNvSpPr/>
            <p:nvPr/>
          </p:nvSpPr>
          <p:spPr>
            <a:xfrm>
              <a:off x="3685955" y="1981018"/>
              <a:ext cx="392233" cy="392233"/>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a:ln w="3175">
                    <a:noFill/>
                  </a:ln>
                  <a:solidFill>
                    <a:prstClr val="white"/>
                  </a:solidFill>
                  <a:effectLst/>
                  <a:uLnTx/>
                  <a:uFillTx/>
                  <a:latin typeface="Segoe Sans Display Semibold" pitchFamily="2" charset="0"/>
                  <a:ea typeface="+mn-ea"/>
                  <a:cs typeface="Segoe Sans Display Semibold" pitchFamily="2" charset="0"/>
                </a:rPr>
                <a:t>2</a:t>
              </a:r>
              <a:endParaRPr kumimoji="0" lang="en-US" sz="1800" b="1" i="0" u="none" strike="noStrike" kern="1200" cap="none" spc="0" normalizeH="0" baseline="0" noProof="0">
                <a:ln w="3175">
                  <a:noFill/>
                </a:ln>
                <a:solidFill>
                  <a:prstClr val="white"/>
                </a:solidFill>
                <a:effectLst/>
                <a:uLnTx/>
                <a:uFillTx/>
                <a:latin typeface="Segoe Sans Display Semibold" pitchFamily="2" charset="0"/>
                <a:ea typeface="+mn-ea"/>
                <a:cs typeface="Segoe Sans Display Semibold" pitchFamily="2" charset="0"/>
              </a:endParaRPr>
            </a:p>
          </p:txBody>
        </p:sp>
        <p:sp>
          <p:nvSpPr>
            <p:cNvPr id="43" name="Oval 42">
              <a:extLst>
                <a:ext uri="{FF2B5EF4-FFF2-40B4-BE49-F238E27FC236}">
                  <a16:creationId xmlns:a16="http://schemas.microsoft.com/office/drawing/2014/main" id="{1B5109EE-54EE-66C9-3746-88B29594D42C}"/>
                </a:ext>
              </a:extLst>
            </p:cNvPr>
            <p:cNvSpPr/>
            <p:nvPr/>
          </p:nvSpPr>
          <p:spPr>
            <a:xfrm>
              <a:off x="5883135" y="1981018"/>
              <a:ext cx="392233" cy="392233"/>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a:ln w="3175">
                    <a:noFill/>
                  </a:ln>
                  <a:solidFill>
                    <a:prstClr val="white"/>
                  </a:solidFill>
                  <a:effectLst/>
                  <a:uLnTx/>
                  <a:uFillTx/>
                  <a:latin typeface="Segoe Sans Display Semibold" pitchFamily="2" charset="0"/>
                  <a:ea typeface="+mn-ea"/>
                  <a:cs typeface="Segoe Sans Display Semibold" pitchFamily="2" charset="0"/>
                </a:rPr>
                <a:t>3</a:t>
              </a:r>
              <a:endParaRPr kumimoji="0" lang="en-US" sz="1800" b="1" i="0" u="none" strike="noStrike" kern="1200" cap="none" spc="0" normalizeH="0" baseline="0" noProof="0">
                <a:ln w="3175">
                  <a:noFill/>
                </a:ln>
                <a:solidFill>
                  <a:prstClr val="white"/>
                </a:solidFill>
                <a:effectLst/>
                <a:uLnTx/>
                <a:uFillTx/>
                <a:latin typeface="Segoe Sans Display Semibold" pitchFamily="2" charset="0"/>
                <a:ea typeface="+mn-ea"/>
                <a:cs typeface="Segoe Sans Display Semibold" pitchFamily="2" charset="0"/>
              </a:endParaRPr>
            </a:p>
          </p:txBody>
        </p:sp>
        <p:sp>
          <p:nvSpPr>
            <p:cNvPr id="44" name="Oval 43">
              <a:extLst>
                <a:ext uri="{FF2B5EF4-FFF2-40B4-BE49-F238E27FC236}">
                  <a16:creationId xmlns:a16="http://schemas.microsoft.com/office/drawing/2014/main" id="{0FB46858-A7A9-F961-41A5-A1489F399DD9}"/>
                </a:ext>
              </a:extLst>
            </p:cNvPr>
            <p:cNvSpPr/>
            <p:nvPr/>
          </p:nvSpPr>
          <p:spPr>
            <a:xfrm>
              <a:off x="8130854" y="1981018"/>
              <a:ext cx="392233" cy="392233"/>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a:ln w="3175">
                    <a:noFill/>
                  </a:ln>
                  <a:solidFill>
                    <a:prstClr val="white"/>
                  </a:solidFill>
                  <a:effectLst/>
                  <a:uLnTx/>
                  <a:uFillTx/>
                  <a:latin typeface="Segoe Sans Display Semibold" pitchFamily="2" charset="0"/>
                  <a:ea typeface="+mn-ea"/>
                  <a:cs typeface="Segoe Sans Display Semibold" pitchFamily="2" charset="0"/>
                </a:rPr>
                <a:t>4</a:t>
              </a:r>
              <a:endParaRPr kumimoji="0" lang="en-US" sz="1800" b="1" i="0" u="none" strike="noStrike" kern="1200" cap="none" spc="0" normalizeH="0" baseline="0" noProof="0">
                <a:ln w="3175">
                  <a:noFill/>
                </a:ln>
                <a:solidFill>
                  <a:prstClr val="white"/>
                </a:solidFill>
                <a:effectLst/>
                <a:uLnTx/>
                <a:uFillTx/>
                <a:latin typeface="Segoe Sans Display Semibold" pitchFamily="2" charset="0"/>
                <a:ea typeface="+mn-ea"/>
                <a:cs typeface="Segoe Sans Display Semibold" pitchFamily="2" charset="0"/>
              </a:endParaRPr>
            </a:p>
          </p:txBody>
        </p:sp>
        <p:sp>
          <p:nvSpPr>
            <p:cNvPr id="45" name="Oval 44">
              <a:extLst>
                <a:ext uri="{FF2B5EF4-FFF2-40B4-BE49-F238E27FC236}">
                  <a16:creationId xmlns:a16="http://schemas.microsoft.com/office/drawing/2014/main" id="{CD57541D-4709-9C1F-A448-164FFBAC90E0}"/>
                </a:ext>
              </a:extLst>
            </p:cNvPr>
            <p:cNvSpPr/>
            <p:nvPr/>
          </p:nvSpPr>
          <p:spPr>
            <a:xfrm>
              <a:off x="10325266" y="1981018"/>
              <a:ext cx="392233" cy="392233"/>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a:ln w="3175">
                    <a:noFill/>
                  </a:ln>
                  <a:solidFill>
                    <a:prstClr val="white"/>
                  </a:solidFill>
                  <a:effectLst/>
                  <a:uLnTx/>
                  <a:uFillTx/>
                  <a:latin typeface="Segoe Sans Display Semibold" pitchFamily="2" charset="0"/>
                  <a:ea typeface="+mn-ea"/>
                  <a:cs typeface="Segoe Sans Display Semibold" pitchFamily="2" charset="0"/>
                </a:rPr>
                <a:t>5</a:t>
              </a:r>
              <a:endParaRPr kumimoji="0" lang="en-US" sz="1800" b="1" i="0" u="none" strike="noStrike" kern="1200" cap="none" spc="0" normalizeH="0" baseline="0" noProof="0">
                <a:ln w="3175">
                  <a:noFill/>
                </a:ln>
                <a:solidFill>
                  <a:prstClr val="white"/>
                </a:solidFill>
                <a:effectLst/>
                <a:uLnTx/>
                <a:uFillTx/>
                <a:latin typeface="Segoe Sans Display Semibold" pitchFamily="2" charset="0"/>
                <a:ea typeface="+mn-ea"/>
                <a:cs typeface="Segoe Sans Display Semibold" pitchFamily="2" charset="0"/>
              </a:endParaRPr>
            </a:p>
          </p:txBody>
        </p:sp>
      </p:grpSp>
      <p:sp>
        <p:nvSpPr>
          <p:cNvPr id="46" name="Rectangle 45">
            <a:extLst>
              <a:ext uri="{FF2B5EF4-FFF2-40B4-BE49-F238E27FC236}">
                <a16:creationId xmlns:a16="http://schemas.microsoft.com/office/drawing/2014/main" id="{3B9A155F-11A8-DB4E-081D-6D4AA1C893EF}"/>
              </a:ext>
            </a:extLst>
          </p:cNvPr>
          <p:cNvSpPr>
            <a:spLocks/>
          </p:cNvSpPr>
          <p:nvPr/>
        </p:nvSpPr>
        <p:spPr bwMode="auto">
          <a:xfrm>
            <a:off x="2775714" y="2758322"/>
            <a:ext cx="2212688" cy="123110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7160" tIns="0" rIns="137160" bIns="0" numCol="1" spcCol="0" rtlCol="0" fromWordArt="0" anchor="ctr" anchorCtr="0" forceAA="0" compatLnSpc="1">
            <a:prstTxWarp prst="textNoShape">
              <a:avLst/>
            </a:prstTxWarp>
            <a:spAutoFit/>
          </a:bodyPr>
          <a:lstStyle/>
          <a:p>
            <a:pPr marL="0" marR="0" lvl="0" indent="0" algn="ctr" defTabSz="914367" rtl="0" eaLnBrk="1" fontAlgn="b" latinLnBrk="0" hangingPunct="1">
              <a:lnSpc>
                <a:spcPct val="100000"/>
              </a:lnSpc>
              <a:spcBef>
                <a:spcPts val="0"/>
              </a:spcBef>
              <a:spcAft>
                <a:spcPts val="294"/>
              </a:spcAft>
              <a:buClrTx/>
              <a:buSzTx/>
              <a:buFontTx/>
              <a:buNone/>
              <a:tabLst/>
              <a:defRPr/>
            </a:pPr>
            <a:r>
              <a:rPr kumimoji="0" lang="en-US" sz="1600" b="0" i="0" u="none" strike="noStrike" kern="1200" cap="none" spc="0" normalizeH="0" baseline="0" noProof="0" dirty="0">
                <a:ln>
                  <a:noFill/>
                </a:ln>
                <a:solidFill>
                  <a:prstClr val="black"/>
                </a:solidFill>
                <a:effectLst/>
                <a:uLnTx/>
                <a:uFillTx/>
                <a:ea typeface="+mn-ea"/>
                <a:cs typeface="Segoe Sans Display" pitchFamily="2" charset="0"/>
              </a:rPr>
              <a:t>Build intent by delivering </a:t>
            </a:r>
            <a:r>
              <a:rPr lang="en-US" sz="1600" b="1" dirty="0">
                <a:solidFill>
                  <a:schemeClr val="accent4"/>
                </a:solidFill>
                <a:latin typeface="+mj-lt"/>
                <a:cs typeface="Segoe Sans Display Semibold" pitchFamily="2" charset="0"/>
              </a:rPr>
              <a:t>immersive customer experiences</a:t>
            </a:r>
            <a:r>
              <a:rPr lang="en-US" sz="1600" dirty="0">
                <a:solidFill>
                  <a:prstClr val="black"/>
                </a:solidFill>
                <a:cs typeface="Segoe Sans Display" pitchFamily="2" charset="0"/>
              </a:rPr>
              <a:t>, </a:t>
            </a:r>
            <a:r>
              <a:rPr kumimoji="0" lang="en-US" sz="1600" b="0" i="0" u="none" strike="noStrike" kern="1200" cap="none" spc="0" normalizeH="0" baseline="0" noProof="0" dirty="0">
                <a:ln>
                  <a:noFill/>
                </a:ln>
                <a:solidFill>
                  <a:prstClr val="black"/>
                </a:solidFill>
                <a:effectLst/>
                <a:uLnTx/>
                <a:uFillTx/>
                <a:ea typeface="+mn-ea"/>
                <a:cs typeface="Segoe Sans Display" pitchFamily="2" charset="0"/>
              </a:rPr>
              <a:t>like prompt-a-thons</a:t>
            </a:r>
          </a:p>
        </p:txBody>
      </p:sp>
      <p:sp>
        <p:nvSpPr>
          <p:cNvPr id="47" name="Rectangle 46">
            <a:extLst>
              <a:ext uri="{FF2B5EF4-FFF2-40B4-BE49-F238E27FC236}">
                <a16:creationId xmlns:a16="http://schemas.microsoft.com/office/drawing/2014/main" id="{8125E60F-7C67-4BD7-8A33-A7DB85C3D455}"/>
              </a:ext>
            </a:extLst>
          </p:cNvPr>
          <p:cNvSpPr>
            <a:spLocks/>
          </p:cNvSpPr>
          <p:nvPr/>
        </p:nvSpPr>
        <p:spPr bwMode="auto">
          <a:xfrm>
            <a:off x="4988412" y="2758322"/>
            <a:ext cx="2212689" cy="98488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7160" tIns="0" rIns="137160" bIns="0" numCol="1" spcCol="0" rtlCol="0" fromWordArt="0" anchor="ctr" anchorCtr="0" forceAA="0" compatLnSpc="1">
            <a:prstTxWarp prst="textNoShape">
              <a:avLst/>
            </a:prstTxWarp>
            <a:spAutoFit/>
          </a:bodyPr>
          <a:lstStyle/>
          <a:p>
            <a:pPr marL="0" marR="0" lvl="0" indent="0" algn="ctr" defTabSz="914367" rtl="0" eaLnBrk="1" fontAlgn="b" latinLnBrk="0" hangingPunct="1">
              <a:lnSpc>
                <a:spcPct val="100000"/>
              </a:lnSpc>
              <a:spcBef>
                <a:spcPts val="0"/>
              </a:spcBef>
              <a:spcAft>
                <a:spcPts val="294"/>
              </a:spcAft>
              <a:buClrTx/>
              <a:buSzTx/>
              <a:buFontTx/>
              <a:buNone/>
              <a:tabLst/>
              <a:defRPr/>
            </a:pPr>
            <a:r>
              <a:rPr kumimoji="0" lang="en-US" sz="1600" b="0" i="0" u="none" strike="noStrike" kern="1200" cap="none" spc="0" normalizeH="0" baseline="0" noProof="0" dirty="0">
                <a:ln>
                  <a:noFill/>
                </a:ln>
                <a:solidFill>
                  <a:prstClr val="black"/>
                </a:solidFill>
                <a:effectLst/>
                <a:uLnTx/>
                <a:uFillTx/>
                <a:ea typeface="+mn-ea"/>
                <a:cs typeface="Segoe Sans Display" pitchFamily="2" charset="0"/>
              </a:rPr>
              <a:t>Enhance Copilot with  </a:t>
            </a:r>
            <a:r>
              <a:rPr lang="en-US" sz="1600" b="1" dirty="0">
                <a:solidFill>
                  <a:schemeClr val="accent4"/>
                </a:solidFill>
                <a:latin typeface="+mj-lt"/>
                <a:cs typeface="Segoe Sans Display Semibold" pitchFamily="2" charset="0"/>
              </a:rPr>
              <a:t>Agents’ </a:t>
            </a:r>
            <a:r>
              <a:rPr kumimoji="0" lang="en-US" sz="1600" b="0" i="0" u="none" strike="noStrike" kern="1200" cap="none" spc="0" normalizeH="0" baseline="0" noProof="0" dirty="0">
                <a:ln>
                  <a:noFill/>
                </a:ln>
                <a:solidFill>
                  <a:prstClr val="black"/>
                </a:solidFill>
                <a:effectLst/>
                <a:uLnTx/>
                <a:uFillTx/>
                <a:ea typeface="+mn-ea"/>
                <a:cs typeface="Segoe Sans Display" pitchFamily="2" charset="0"/>
              </a:rPr>
              <a:t>experiences to </a:t>
            </a:r>
            <a:r>
              <a:rPr lang="en-US" sz="1600" b="1" dirty="0">
                <a:solidFill>
                  <a:schemeClr val="accent4"/>
                </a:solidFill>
                <a:latin typeface="+mj-lt"/>
                <a:cs typeface="Segoe Sans Display Semibold" pitchFamily="2" charset="0"/>
              </a:rPr>
              <a:t>transform business process</a:t>
            </a:r>
          </a:p>
        </p:txBody>
      </p:sp>
      <p:sp>
        <p:nvSpPr>
          <p:cNvPr id="48" name="Rectangle 47">
            <a:extLst>
              <a:ext uri="{FF2B5EF4-FFF2-40B4-BE49-F238E27FC236}">
                <a16:creationId xmlns:a16="http://schemas.microsoft.com/office/drawing/2014/main" id="{091F8FD0-3F10-E05D-BE6A-D7C9CC7FB72B}"/>
              </a:ext>
            </a:extLst>
          </p:cNvPr>
          <p:cNvSpPr>
            <a:spLocks/>
          </p:cNvSpPr>
          <p:nvPr/>
        </p:nvSpPr>
        <p:spPr bwMode="auto">
          <a:xfrm>
            <a:off x="7201109" y="2758322"/>
            <a:ext cx="2212685" cy="73866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7160" tIns="0" rIns="137160" bIns="0" numCol="1" spcCol="0" rtlCol="0" fromWordArt="0" anchor="ctr" anchorCtr="0" forceAA="0" compatLnSpc="1">
            <a:prstTxWarp prst="textNoShape">
              <a:avLst/>
            </a:prstTxWarp>
            <a:spAutoFit/>
          </a:bodyPr>
          <a:lstStyle/>
          <a:p>
            <a:pPr marL="0" marR="0" lvl="0" indent="0" algn="ctr" defTabSz="914367" rtl="0" eaLnBrk="1" fontAlgn="b" latinLnBrk="0" hangingPunct="1">
              <a:lnSpc>
                <a:spcPct val="100000"/>
              </a:lnSpc>
              <a:spcBef>
                <a:spcPts val="0"/>
              </a:spcBef>
              <a:spcAft>
                <a:spcPts val="294"/>
              </a:spcAft>
              <a:buClrTx/>
              <a:buSzTx/>
              <a:buFontTx/>
              <a:buNone/>
              <a:tabLst/>
              <a:defRPr/>
            </a:pPr>
            <a:r>
              <a:rPr lang="en-US" sz="1600" dirty="0">
                <a:solidFill>
                  <a:prstClr val="black"/>
                </a:solidFill>
                <a:cs typeface="Segoe Sans Display" pitchFamily="2" charset="0"/>
              </a:rPr>
              <a:t>Land</a:t>
            </a:r>
            <a:r>
              <a:rPr lang="en-US" sz="1600" b="1" dirty="0">
                <a:solidFill>
                  <a:schemeClr val="accent4"/>
                </a:solidFill>
                <a:latin typeface="+mj-lt"/>
                <a:cs typeface="Segoe Sans Display Semibold" pitchFamily="2" charset="0"/>
              </a:rPr>
              <a:t> business value </a:t>
            </a:r>
            <a:r>
              <a:rPr kumimoji="0" lang="en-US" sz="1600" b="0" i="0" u="none" strike="noStrike" kern="1200" cap="none" spc="0" normalizeH="0" baseline="0" noProof="0" dirty="0">
                <a:ln>
                  <a:noFill/>
                </a:ln>
                <a:solidFill>
                  <a:prstClr val="black"/>
                </a:solidFill>
                <a:effectLst/>
                <a:uLnTx/>
                <a:uFillTx/>
                <a:ea typeface="+mn-ea"/>
                <a:cs typeface="Segoe Sans Display" pitchFamily="2" charset="0"/>
              </a:rPr>
              <a:t>and </a:t>
            </a:r>
            <a:r>
              <a:rPr lang="en-US" sz="1600" b="1" dirty="0">
                <a:solidFill>
                  <a:schemeClr val="accent4"/>
                </a:solidFill>
                <a:latin typeface="+mj-lt"/>
                <a:cs typeface="Segoe Sans Display Semibold" pitchFamily="2" charset="0"/>
              </a:rPr>
              <a:t>ROI</a:t>
            </a:r>
            <a:r>
              <a:rPr kumimoji="0" lang="en-US" sz="1600" b="1" i="0" u="none" strike="noStrike" kern="1200" cap="none" spc="0" normalizeH="0" baseline="0" noProof="0" dirty="0">
                <a:ln>
                  <a:noFill/>
                </a:ln>
                <a:gradFill>
                  <a:gsLst>
                    <a:gs pos="0">
                      <a:srgbClr val="0078D4"/>
                    </a:gs>
                    <a:gs pos="50000">
                      <a:srgbClr val="8661C5"/>
                    </a:gs>
                    <a:gs pos="100000">
                      <a:srgbClr val="C73ECC"/>
                    </a:gs>
                  </a:gsLst>
                  <a:lin ang="0" scaled="1"/>
                </a:gradFill>
                <a:effectLst/>
                <a:uLnTx/>
                <a:uFillTx/>
                <a:ea typeface="+mn-ea"/>
                <a:cs typeface="Segoe Sans Display Semibold" pitchFamily="2" charset="0"/>
              </a:rPr>
              <a:t> </a:t>
            </a:r>
            <a:r>
              <a:rPr kumimoji="0" lang="en-US" sz="1600" b="0" i="0" u="none" strike="noStrike" kern="1200" cap="none" spc="0" normalizeH="0" baseline="0" noProof="0" dirty="0">
                <a:ln>
                  <a:noFill/>
                </a:ln>
                <a:solidFill>
                  <a:prstClr val="black"/>
                </a:solidFill>
                <a:effectLst/>
                <a:uLnTx/>
                <a:uFillTx/>
                <a:ea typeface="+mn-ea"/>
                <a:cs typeface="Segoe Sans Display" pitchFamily="2" charset="0"/>
              </a:rPr>
              <a:t>with healthy usage</a:t>
            </a:r>
            <a:endParaRPr kumimoji="0" lang="en-US" sz="1600" b="1" i="0" u="none" strike="noStrike" kern="1200" cap="none" spc="0" normalizeH="0" baseline="0" noProof="0" dirty="0">
              <a:ln>
                <a:noFill/>
              </a:ln>
              <a:gradFill>
                <a:gsLst>
                  <a:gs pos="0">
                    <a:srgbClr val="0078D4"/>
                  </a:gs>
                  <a:gs pos="50000">
                    <a:srgbClr val="8661C5"/>
                  </a:gs>
                  <a:gs pos="100000">
                    <a:srgbClr val="C73ECC"/>
                  </a:gs>
                </a:gsLst>
                <a:lin ang="0" scaled="1"/>
              </a:gradFill>
              <a:effectLst/>
              <a:uLnTx/>
              <a:uFillTx/>
              <a:ea typeface="+mn-ea"/>
              <a:cs typeface="Segoe Sans Display Semibold" pitchFamily="2" charset="0"/>
            </a:endParaRPr>
          </a:p>
        </p:txBody>
      </p:sp>
      <p:sp>
        <p:nvSpPr>
          <p:cNvPr id="49" name="Rectangle 48">
            <a:extLst>
              <a:ext uri="{FF2B5EF4-FFF2-40B4-BE49-F238E27FC236}">
                <a16:creationId xmlns:a16="http://schemas.microsoft.com/office/drawing/2014/main" id="{C1E8D840-F9FA-A184-16B6-FFFFEB3B8AD6}"/>
              </a:ext>
            </a:extLst>
          </p:cNvPr>
          <p:cNvSpPr>
            <a:spLocks/>
          </p:cNvSpPr>
          <p:nvPr/>
        </p:nvSpPr>
        <p:spPr bwMode="auto">
          <a:xfrm>
            <a:off x="9413800" y="2758322"/>
            <a:ext cx="2206700" cy="73866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7160" tIns="0" rIns="137160" bIns="0" numCol="1" spcCol="0" rtlCol="0" fromWordArt="0" anchor="ctr" anchorCtr="0" forceAA="0" compatLnSpc="1">
            <a:prstTxWarp prst="textNoShape">
              <a:avLst/>
            </a:prstTxWarp>
            <a:spAutoFit/>
          </a:bodyPr>
          <a:lstStyle/>
          <a:p>
            <a:pPr marL="0" marR="0" lvl="0" indent="0" algn="ctr" defTabSz="914367" rtl="0" eaLnBrk="1" fontAlgn="b" latinLnBrk="0" hangingPunct="1">
              <a:lnSpc>
                <a:spcPct val="100000"/>
              </a:lnSpc>
              <a:spcBef>
                <a:spcPts val="0"/>
              </a:spcBef>
              <a:spcAft>
                <a:spcPts val="294"/>
              </a:spcAft>
              <a:buClrTx/>
              <a:buSzTx/>
              <a:buFontTx/>
              <a:buNone/>
              <a:tabLst/>
              <a:defRPr/>
            </a:pPr>
            <a:r>
              <a:rPr kumimoji="0" lang="en-US" sz="1600" b="0" i="0" u="none" strike="noStrike" kern="1200" cap="none" spc="0" normalizeH="0" baseline="0" noProof="0" dirty="0">
                <a:ln>
                  <a:noFill/>
                </a:ln>
                <a:solidFill>
                  <a:prstClr val="black"/>
                </a:solidFill>
                <a:effectLst/>
                <a:uLnTx/>
                <a:uFillTx/>
                <a:ea typeface="+mn-ea"/>
                <a:cs typeface="Segoe Sans Display" pitchFamily="2" charset="0"/>
              </a:rPr>
              <a:t>Align with Microsoft sellers to drive </a:t>
            </a:r>
            <a:r>
              <a:rPr lang="en-US" sz="1600" b="1" dirty="0">
                <a:solidFill>
                  <a:schemeClr val="accent4"/>
                </a:solidFill>
                <a:latin typeface="+mj-lt"/>
                <a:cs typeface="Segoe Sans Display Semibold" pitchFamily="2" charset="0"/>
              </a:rPr>
              <a:t>upsell</a:t>
            </a:r>
            <a:r>
              <a:rPr kumimoji="0" lang="en-US" sz="1600" b="0" i="0" u="none" strike="noStrike" kern="1200" cap="none" spc="0" normalizeH="0" baseline="0" noProof="0" dirty="0">
                <a:ln>
                  <a:noFill/>
                </a:ln>
                <a:solidFill>
                  <a:prstClr val="black"/>
                </a:solidFill>
                <a:effectLst/>
                <a:uLnTx/>
                <a:uFillTx/>
                <a:ea typeface="+mn-ea"/>
                <a:cs typeface="Segoe Sans Display" pitchFamily="2" charset="0"/>
              </a:rPr>
              <a:t> and conversion</a:t>
            </a:r>
            <a:endParaRPr kumimoji="0" lang="en-US" sz="1600" b="0" i="0" u="none" strike="noStrike" kern="1200" cap="none" spc="0" normalizeH="0" baseline="0" noProof="0" dirty="0">
              <a:ln>
                <a:noFill/>
              </a:ln>
              <a:solidFill>
                <a:prstClr val="white"/>
              </a:solidFill>
              <a:effectLst/>
              <a:uLnTx/>
              <a:uFillTx/>
              <a:ea typeface="+mn-ea"/>
              <a:cs typeface="Segoe Sans Display" pitchFamily="2" charset="0"/>
            </a:endParaRPr>
          </a:p>
        </p:txBody>
      </p:sp>
      <p:sp>
        <p:nvSpPr>
          <p:cNvPr id="50" name="Left Bracket 49">
            <a:extLst>
              <a:ext uri="{FF2B5EF4-FFF2-40B4-BE49-F238E27FC236}">
                <a16:creationId xmlns:a16="http://schemas.microsoft.com/office/drawing/2014/main" id="{C2A2C8AF-97FE-3430-76E8-D324AE4B1B1B}"/>
              </a:ext>
            </a:extLst>
          </p:cNvPr>
          <p:cNvSpPr/>
          <p:nvPr/>
        </p:nvSpPr>
        <p:spPr>
          <a:xfrm rot="16200000">
            <a:off x="6040039" y="-693473"/>
            <a:ext cx="155448" cy="11018520"/>
          </a:xfrm>
          <a:prstGeom prst="leftBracket">
            <a:avLst>
              <a:gd name="adj" fmla="val 100672"/>
            </a:avLst>
          </a:prstGeom>
          <a:ln w="952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useBgFill="1">
        <p:nvSpPr>
          <p:cNvPr id="51" name="TextBox 50">
            <a:extLst>
              <a:ext uri="{FF2B5EF4-FFF2-40B4-BE49-F238E27FC236}">
                <a16:creationId xmlns:a16="http://schemas.microsoft.com/office/drawing/2014/main" id="{21FBF9D5-3741-77B9-E5FF-83A3E279C8A2}"/>
              </a:ext>
            </a:extLst>
          </p:cNvPr>
          <p:cNvSpPr txBox="1"/>
          <p:nvPr/>
        </p:nvSpPr>
        <p:spPr>
          <a:xfrm>
            <a:off x="3544946" y="4740798"/>
            <a:ext cx="5099794" cy="307777"/>
          </a:xfrm>
          <a:prstGeom prst="rect">
            <a:avLst/>
          </a:prstGeom>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w="3175">
                  <a:noFill/>
                </a:ln>
                <a:solidFill>
                  <a:schemeClr val="tx2"/>
                </a:solidFill>
                <a:effectLst/>
                <a:uLnTx/>
                <a:uFillTx/>
                <a:latin typeface="Segoe Sans Display Semibold" pitchFamily="2" charset="0"/>
                <a:ea typeface="+mn-ea"/>
                <a:cs typeface="Segoe Sans Display Semibold" pitchFamily="2" charset="0"/>
              </a:rPr>
              <a:t>   Immersion      |       Extensibility      |      ROI   </a:t>
            </a:r>
          </a:p>
        </p:txBody>
      </p:sp>
      <p:sp>
        <p:nvSpPr>
          <p:cNvPr id="5" name="Round Same Side Corner Rectangle 17">
            <a:extLst>
              <a:ext uri="{FF2B5EF4-FFF2-40B4-BE49-F238E27FC236}">
                <a16:creationId xmlns:a16="http://schemas.microsoft.com/office/drawing/2014/main" id="{C4FB9057-7A33-5E87-238D-3D0CF16976E7}"/>
              </a:ext>
            </a:extLst>
          </p:cNvPr>
          <p:cNvSpPr>
            <a:spLocks/>
          </p:cNvSpPr>
          <p:nvPr/>
        </p:nvSpPr>
        <p:spPr bwMode="auto">
          <a:xfrm rot="10800000" flipH="1" flipV="1">
            <a:off x="1440782" y="1982775"/>
            <a:ext cx="457200" cy="457200"/>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1350000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472" fontAlgn="base">
              <a:spcBef>
                <a:spcPct val="0"/>
              </a:spcBef>
              <a:spcAft>
                <a:spcPct val="0"/>
              </a:spcAft>
            </a:pPr>
            <a:r>
              <a:rPr lang="en-US" dirty="0">
                <a:solidFill>
                  <a:schemeClr val="bg1"/>
                </a:solidFill>
                <a:latin typeface="+mj-lt"/>
                <a:cs typeface="Segoe UI" pitchFamily="34" charset="0"/>
              </a:rPr>
              <a:t>1</a:t>
            </a:r>
          </a:p>
        </p:txBody>
      </p:sp>
      <p:sp>
        <p:nvSpPr>
          <p:cNvPr id="6" name="Round Same Side Corner Rectangle 17">
            <a:extLst>
              <a:ext uri="{FF2B5EF4-FFF2-40B4-BE49-F238E27FC236}">
                <a16:creationId xmlns:a16="http://schemas.microsoft.com/office/drawing/2014/main" id="{9CF6AB84-2F2F-6EE6-4210-42A8587F6027}"/>
              </a:ext>
            </a:extLst>
          </p:cNvPr>
          <p:cNvSpPr>
            <a:spLocks/>
          </p:cNvSpPr>
          <p:nvPr/>
        </p:nvSpPr>
        <p:spPr bwMode="auto">
          <a:xfrm rot="10800000" flipH="1" flipV="1">
            <a:off x="3709394" y="1982775"/>
            <a:ext cx="457200" cy="457200"/>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1350000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472" fontAlgn="base">
              <a:spcBef>
                <a:spcPct val="0"/>
              </a:spcBef>
              <a:spcAft>
                <a:spcPct val="0"/>
              </a:spcAft>
            </a:pPr>
            <a:r>
              <a:rPr lang="en-US" dirty="0">
                <a:solidFill>
                  <a:schemeClr val="bg1"/>
                </a:solidFill>
                <a:latin typeface="+mj-lt"/>
                <a:cs typeface="Segoe UI" pitchFamily="34" charset="0"/>
              </a:rPr>
              <a:t>2</a:t>
            </a:r>
          </a:p>
        </p:txBody>
      </p:sp>
      <p:sp>
        <p:nvSpPr>
          <p:cNvPr id="7" name="Round Same Side Corner Rectangle 17">
            <a:extLst>
              <a:ext uri="{FF2B5EF4-FFF2-40B4-BE49-F238E27FC236}">
                <a16:creationId xmlns:a16="http://schemas.microsoft.com/office/drawing/2014/main" id="{DEF36206-1209-F6F0-D582-B6C2531DD773}"/>
              </a:ext>
            </a:extLst>
          </p:cNvPr>
          <p:cNvSpPr>
            <a:spLocks/>
          </p:cNvSpPr>
          <p:nvPr/>
        </p:nvSpPr>
        <p:spPr bwMode="auto">
          <a:xfrm rot="10800000" flipH="1" flipV="1">
            <a:off x="5866163" y="1982775"/>
            <a:ext cx="457200" cy="457200"/>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1350000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472" fontAlgn="base">
              <a:spcBef>
                <a:spcPct val="0"/>
              </a:spcBef>
              <a:spcAft>
                <a:spcPct val="0"/>
              </a:spcAft>
            </a:pPr>
            <a:r>
              <a:rPr lang="en-US" dirty="0">
                <a:solidFill>
                  <a:schemeClr val="bg1"/>
                </a:solidFill>
                <a:latin typeface="+mj-lt"/>
                <a:cs typeface="Segoe UI" pitchFamily="34" charset="0"/>
              </a:rPr>
              <a:t>3</a:t>
            </a:r>
          </a:p>
        </p:txBody>
      </p:sp>
      <p:sp>
        <p:nvSpPr>
          <p:cNvPr id="8" name="Round Same Side Corner Rectangle 17">
            <a:extLst>
              <a:ext uri="{FF2B5EF4-FFF2-40B4-BE49-F238E27FC236}">
                <a16:creationId xmlns:a16="http://schemas.microsoft.com/office/drawing/2014/main" id="{B3839B1A-4A1E-9985-429F-7466CEAC37A1}"/>
              </a:ext>
            </a:extLst>
          </p:cNvPr>
          <p:cNvSpPr>
            <a:spLocks/>
          </p:cNvSpPr>
          <p:nvPr/>
        </p:nvSpPr>
        <p:spPr bwMode="auto">
          <a:xfrm rot="10800000" flipH="1" flipV="1">
            <a:off x="8136787" y="1982775"/>
            <a:ext cx="457200" cy="457200"/>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1350000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472" fontAlgn="base">
              <a:spcBef>
                <a:spcPct val="0"/>
              </a:spcBef>
              <a:spcAft>
                <a:spcPct val="0"/>
              </a:spcAft>
            </a:pPr>
            <a:r>
              <a:rPr lang="en-US" dirty="0">
                <a:solidFill>
                  <a:schemeClr val="bg1"/>
                </a:solidFill>
                <a:latin typeface="+mj-lt"/>
                <a:cs typeface="Segoe UI" pitchFamily="34" charset="0"/>
              </a:rPr>
              <a:t>4</a:t>
            </a:r>
          </a:p>
        </p:txBody>
      </p:sp>
      <p:sp>
        <p:nvSpPr>
          <p:cNvPr id="9" name="Round Same Side Corner Rectangle 17">
            <a:extLst>
              <a:ext uri="{FF2B5EF4-FFF2-40B4-BE49-F238E27FC236}">
                <a16:creationId xmlns:a16="http://schemas.microsoft.com/office/drawing/2014/main" id="{3951DA36-AABB-BED8-77DE-7CEA68CCFEC7}"/>
              </a:ext>
            </a:extLst>
          </p:cNvPr>
          <p:cNvSpPr>
            <a:spLocks/>
          </p:cNvSpPr>
          <p:nvPr/>
        </p:nvSpPr>
        <p:spPr bwMode="auto">
          <a:xfrm rot="10800000" flipH="1" flipV="1">
            <a:off x="10243550" y="1982775"/>
            <a:ext cx="457200" cy="457200"/>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1350000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472" fontAlgn="base">
              <a:spcBef>
                <a:spcPct val="0"/>
              </a:spcBef>
              <a:spcAft>
                <a:spcPct val="0"/>
              </a:spcAft>
            </a:pPr>
            <a:r>
              <a:rPr lang="en-US" dirty="0">
                <a:solidFill>
                  <a:schemeClr val="bg1"/>
                </a:solidFill>
                <a:latin typeface="+mj-lt"/>
                <a:cs typeface="Segoe UI" pitchFamily="34" charset="0"/>
              </a:rPr>
              <a:t>5</a:t>
            </a:r>
          </a:p>
        </p:txBody>
      </p:sp>
      <p:sp>
        <p:nvSpPr>
          <p:cNvPr id="11" name="Footer Placeholder 10">
            <a:extLst>
              <a:ext uri="{FF2B5EF4-FFF2-40B4-BE49-F238E27FC236}">
                <a16:creationId xmlns:a16="http://schemas.microsoft.com/office/drawing/2014/main" id="{4E73531C-0BF0-F779-44B9-B34752FEFB5A}"/>
              </a:ext>
            </a:extLst>
          </p:cNvPr>
          <p:cNvSpPr>
            <a:spLocks noGrp="1"/>
          </p:cNvSpPr>
          <p:nvPr>
            <p:ph type="ftr" sz="quarter" idx="12"/>
          </p:nvPr>
        </p:nvSpPr>
        <p:spPr/>
        <p:txBody>
          <a:bodyPr/>
          <a:lstStyle/>
          <a:p>
            <a:r>
              <a:rPr lang="en-US"/>
              <a:t>Building Customer-Centric Services offers</a:t>
            </a:r>
          </a:p>
        </p:txBody>
      </p:sp>
      <p:sp>
        <p:nvSpPr>
          <p:cNvPr id="12" name="Slide Number Placeholder 11">
            <a:extLst>
              <a:ext uri="{FF2B5EF4-FFF2-40B4-BE49-F238E27FC236}">
                <a16:creationId xmlns:a16="http://schemas.microsoft.com/office/drawing/2014/main" id="{937ED985-7403-31CA-4E60-EF1CC3331DBC}"/>
              </a:ext>
            </a:extLst>
          </p:cNvPr>
          <p:cNvSpPr>
            <a:spLocks noGrp="1"/>
          </p:cNvSpPr>
          <p:nvPr>
            <p:ph type="sldNum" sz="quarter" idx="13"/>
          </p:nvPr>
        </p:nvSpPr>
        <p:spPr/>
        <p:txBody>
          <a:bodyPr/>
          <a:lstStyle/>
          <a:p>
            <a:fld id="{5763EE98-C176-4152-A50F-E68840BAFA00}" type="slidenum">
              <a:rPr lang="en-US" smtClean="0"/>
              <a:pPr/>
              <a:t>10</a:t>
            </a:fld>
            <a:endParaRPr lang="en-US"/>
          </a:p>
        </p:txBody>
      </p:sp>
    </p:spTree>
    <p:extLst>
      <p:ext uri="{BB962C8B-B14F-4D97-AF65-F5344CB8AC3E}">
        <p14:creationId xmlns:p14="http://schemas.microsoft.com/office/powerpoint/2010/main" val="379529085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5000"/>
            <a:lum/>
          </a:blip>
          <a:srcRect/>
          <a:stretch>
            <a:fillRect t="-39000" b="-39000"/>
          </a:stretch>
        </a:blipFill>
        <a:effectLst/>
      </p:bgPr>
    </p:bg>
    <p:spTree>
      <p:nvGrpSpPr>
        <p:cNvPr id="1" name="">
          <a:extLst>
            <a:ext uri="{FF2B5EF4-FFF2-40B4-BE49-F238E27FC236}">
              <a16:creationId xmlns:a16="http://schemas.microsoft.com/office/drawing/2014/main" id="{BF3CFA9A-8CDE-1766-D0B4-8667EE7D55F8}"/>
            </a:ext>
          </a:extLst>
        </p:cNvPr>
        <p:cNvGrpSpPr/>
        <p:nvPr/>
      </p:nvGrpSpPr>
      <p:grpSpPr>
        <a:xfrm>
          <a:off x="0" y="0"/>
          <a:ext cx="0" cy="0"/>
          <a:chOff x="0" y="0"/>
          <a:chExt cx="0" cy="0"/>
        </a:xfrm>
      </p:grpSpPr>
      <p:grpSp>
        <p:nvGrpSpPr>
          <p:cNvPr id="21" name="Group 20">
            <a:extLst>
              <a:ext uri="{FF2B5EF4-FFF2-40B4-BE49-F238E27FC236}">
                <a16:creationId xmlns:a16="http://schemas.microsoft.com/office/drawing/2014/main" id="{54AAE387-68D1-F69F-F9AB-E686EB480398}"/>
              </a:ext>
            </a:extLst>
          </p:cNvPr>
          <p:cNvGrpSpPr/>
          <p:nvPr/>
        </p:nvGrpSpPr>
        <p:grpSpPr>
          <a:xfrm>
            <a:off x="5756352" y="1451750"/>
            <a:ext cx="5864147" cy="1014896"/>
            <a:chOff x="5756353" y="1599382"/>
            <a:chExt cx="5864147" cy="1014896"/>
          </a:xfrm>
        </p:grpSpPr>
        <p:sp>
          <p:nvSpPr>
            <p:cNvPr id="13" name="Rectangle: Rounded Corners 12">
              <a:extLst>
                <a:ext uri="{FF2B5EF4-FFF2-40B4-BE49-F238E27FC236}">
                  <a16:creationId xmlns:a16="http://schemas.microsoft.com/office/drawing/2014/main" id="{38A0605E-F331-47CD-083E-6EB3B03CF0A1}"/>
                </a:ext>
                <a:ext uri="{C183D7F6-B498-43B3-948B-1728B52AA6E4}">
                  <adec:decorative xmlns:adec="http://schemas.microsoft.com/office/drawing/2017/decorative" val="1"/>
                </a:ext>
              </a:extLst>
            </p:cNvPr>
            <p:cNvSpPr>
              <a:spLocks/>
            </p:cNvSpPr>
            <p:nvPr/>
          </p:nvSpPr>
          <p:spPr bwMode="auto">
            <a:xfrm>
              <a:off x="5756353" y="1599382"/>
              <a:ext cx="5864147" cy="1014896"/>
            </a:xfrm>
            <a:prstGeom prst="roundRect">
              <a:avLst>
                <a:gd name="adj" fmla="val 8000"/>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vert="horz" wrap="square" lIns="182880" tIns="91440" rIns="182880" bIns="91440" rtlCol="0" anchor="t" anchorCtr="0">
              <a:noAutofit/>
            </a:bodyPr>
            <a:lstStyle/>
            <a:p>
              <a:pPr defTabSz="932742">
                <a:spcBef>
                  <a:spcPts val="600"/>
                </a:spcBef>
                <a:buSzPct val="90000"/>
              </a:pPr>
              <a:endParaRPr lang="en-GB" baseline="30000">
                <a:cs typeface="Segoe Sans Display" pitchFamily="2" charset="0"/>
              </a:endParaRPr>
            </a:p>
          </p:txBody>
        </p:sp>
        <p:sp>
          <p:nvSpPr>
            <p:cNvPr id="8" name="Content Placeholder 3">
              <a:extLst>
                <a:ext uri="{FF2B5EF4-FFF2-40B4-BE49-F238E27FC236}">
                  <a16:creationId xmlns:a16="http://schemas.microsoft.com/office/drawing/2014/main" id="{7283ECBF-9252-72C4-B1AE-3CE4E442C4C2}"/>
                </a:ext>
              </a:extLst>
            </p:cNvPr>
            <p:cNvSpPr txBox="1">
              <a:spLocks/>
            </p:cNvSpPr>
            <p:nvPr/>
          </p:nvSpPr>
          <p:spPr>
            <a:xfrm>
              <a:off x="7466393" y="1723055"/>
              <a:ext cx="1709505" cy="769441"/>
            </a:xfrm>
            <a:prstGeom prst="rect">
              <a:avLst/>
            </a:prstGeom>
            <a:noFill/>
          </p:spPr>
          <p:txBody>
            <a:bodyPr vert="horz" wrap="square" lIns="90000" tIns="45720" rIns="91440" bIns="45720" rtlCol="0" anchor="t">
              <a:sp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0"/>
                </a:spcBef>
                <a:spcAft>
                  <a:spcPts val="0"/>
                </a:spcAft>
                <a:buClrTx/>
                <a:buSzTx/>
                <a:buFont typeface="Arial" panose="020B0604020202020204" pitchFamily="34" charset="0"/>
                <a:buNone/>
                <a:tabLst/>
                <a:defRPr/>
              </a:pPr>
              <a:r>
                <a:rPr lang="en-US" sz="4400" spc="-50" dirty="0">
                  <a:ln w="3175">
                    <a:noFill/>
                  </a:ln>
                  <a:gradFill>
                    <a:gsLst>
                      <a:gs pos="70000">
                        <a:srgbClr val="D660FF"/>
                      </a:gs>
                      <a:gs pos="52000">
                        <a:srgbClr val="818EFF"/>
                      </a:gs>
                      <a:gs pos="35000">
                        <a:srgbClr val="2DB4FF"/>
                      </a:gs>
                      <a:gs pos="30000">
                        <a:srgbClr val="2DB4FF"/>
                      </a:gs>
                      <a:gs pos="3000">
                        <a:srgbClr val="0078D4"/>
                      </a:gs>
                      <a:gs pos="97000">
                        <a:srgbClr val="FEA874"/>
                      </a:gs>
                    </a:gsLst>
                    <a:lin ang="3000000" scaled="0"/>
                  </a:gradFill>
                  <a:latin typeface="+mj-lt"/>
                  <a:cs typeface="Segoe UI" pitchFamily="34" charset="0"/>
                </a:rPr>
                <a:t>1-4%</a:t>
              </a:r>
            </a:p>
          </p:txBody>
        </p:sp>
        <p:sp>
          <p:nvSpPr>
            <p:cNvPr id="9" name="TextBox 8">
              <a:extLst>
                <a:ext uri="{FF2B5EF4-FFF2-40B4-BE49-F238E27FC236}">
                  <a16:creationId xmlns:a16="http://schemas.microsoft.com/office/drawing/2014/main" id="{5801F287-3BF1-55E3-10C8-6E43D8E0008F}"/>
                </a:ext>
              </a:extLst>
            </p:cNvPr>
            <p:cNvSpPr txBox="1"/>
            <p:nvPr/>
          </p:nvSpPr>
          <p:spPr>
            <a:xfrm>
              <a:off x="9078629" y="1933882"/>
              <a:ext cx="2192386" cy="409343"/>
            </a:xfrm>
            <a:prstGeom prst="rect">
              <a:avLst/>
            </a:prstGeom>
            <a:noFill/>
          </p:spPr>
          <p:txBody>
            <a:bodyPr wrap="square" lIns="0" tIns="0" rIns="0" bIns="0" anchor="ctr" anchorCtr="0">
              <a:spAutoFit/>
            </a:bodyPr>
            <a:lstStyle/>
            <a:p>
              <a:pPr marL="0" marR="0" lvl="0" indent="0" defTabSz="652943" rtl="0" eaLnBrk="1" fontAlgn="base" latinLnBrk="0" hangingPunct="1">
                <a:lnSpc>
                  <a:spcPct val="95000"/>
                </a:lnSpc>
                <a:spcBef>
                  <a:spcPct val="0"/>
                </a:spcBef>
                <a:spcAft>
                  <a:spcPct val="0"/>
                </a:spcAft>
                <a:buClrTx/>
                <a:buSzTx/>
                <a:buFontTx/>
                <a:buNone/>
                <a:tabLst/>
                <a:defRPr/>
              </a:pPr>
              <a:r>
                <a:rPr kumimoji="0" lang="en-US" sz="1400" b="0" i="0" u="none" strike="noStrike" kern="0" cap="none" spc="0" normalizeH="0" baseline="0" noProof="0" dirty="0">
                  <a:ln>
                    <a:noFill/>
                  </a:ln>
                  <a:gradFill>
                    <a:gsLst>
                      <a:gs pos="575">
                        <a:srgbClr val="000000"/>
                      </a:gs>
                      <a:gs pos="17416">
                        <a:srgbClr val="000000"/>
                      </a:gs>
                    </a:gsLst>
                    <a:lin ang="4200000" scaled="0"/>
                  </a:gradFill>
                  <a:effectLst/>
                  <a:uLnTx/>
                  <a:uFillTx/>
                  <a:ea typeface="+mn-ea"/>
                  <a:cs typeface="Segoe Sans Display" pitchFamily="2" charset="0"/>
                </a:rPr>
                <a:t>revenue lift from existing and new business</a:t>
              </a:r>
              <a:r>
                <a:rPr kumimoji="0" lang="en-US" sz="1400" b="0" i="0" u="none" strike="noStrike" kern="0" cap="none" spc="0" normalizeH="0" baseline="30000" noProof="0" dirty="0">
                  <a:ln>
                    <a:noFill/>
                  </a:ln>
                  <a:gradFill>
                    <a:gsLst>
                      <a:gs pos="575">
                        <a:srgbClr val="000000"/>
                      </a:gs>
                      <a:gs pos="17416">
                        <a:srgbClr val="000000"/>
                      </a:gs>
                    </a:gsLst>
                    <a:lin ang="4200000" scaled="0"/>
                  </a:gradFill>
                  <a:effectLst/>
                  <a:uLnTx/>
                  <a:uFillTx/>
                  <a:ea typeface="+mn-ea"/>
                  <a:cs typeface="Segoe Sans Display" pitchFamily="2" charset="0"/>
                </a:rPr>
                <a:t>1</a:t>
              </a:r>
            </a:p>
          </p:txBody>
        </p:sp>
        <p:sp>
          <p:nvSpPr>
            <p:cNvPr id="17" name="Rounded Rectangle 11">
              <a:extLst>
                <a:ext uri="{FF2B5EF4-FFF2-40B4-BE49-F238E27FC236}">
                  <a16:creationId xmlns:a16="http://schemas.microsoft.com/office/drawing/2014/main" id="{965BF15D-79D3-56C1-0C45-263A0132D039}"/>
                </a:ext>
              </a:extLst>
            </p:cNvPr>
            <p:cNvSpPr/>
            <p:nvPr/>
          </p:nvSpPr>
          <p:spPr bwMode="auto">
            <a:xfrm>
              <a:off x="5871173" y="1751328"/>
              <a:ext cx="1582482" cy="764179"/>
            </a:xfrm>
            <a:prstGeom prst="roundRect">
              <a:avLst>
                <a:gd name="adj" fmla="val 5536"/>
              </a:avLst>
            </a:prstGeom>
            <a:solidFill>
              <a:schemeClr val="accent4"/>
            </a:solidFill>
            <a:ln w="26988"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mj-lt"/>
                  <a:ea typeface="+mn-ea"/>
                  <a:cs typeface="Segoe Sans Display" pitchFamily="2" charset="0"/>
                </a:rPr>
                <a:t>Increase revenue</a:t>
              </a:r>
            </a:p>
          </p:txBody>
        </p:sp>
      </p:grpSp>
      <p:grpSp>
        <p:nvGrpSpPr>
          <p:cNvPr id="20" name="Group 19">
            <a:extLst>
              <a:ext uri="{FF2B5EF4-FFF2-40B4-BE49-F238E27FC236}">
                <a16:creationId xmlns:a16="http://schemas.microsoft.com/office/drawing/2014/main" id="{2261D803-6473-2570-AE8D-D40CF5D8D1CA}"/>
              </a:ext>
            </a:extLst>
          </p:cNvPr>
          <p:cNvGrpSpPr/>
          <p:nvPr/>
        </p:nvGrpSpPr>
        <p:grpSpPr>
          <a:xfrm>
            <a:off x="5756353" y="2866818"/>
            <a:ext cx="5864147" cy="1014896"/>
            <a:chOff x="5756353" y="3181690"/>
            <a:chExt cx="5864147" cy="1014896"/>
          </a:xfrm>
        </p:grpSpPr>
        <p:sp>
          <p:nvSpPr>
            <p:cNvPr id="12" name="Rectangle: Rounded Corners 11">
              <a:extLst>
                <a:ext uri="{FF2B5EF4-FFF2-40B4-BE49-F238E27FC236}">
                  <a16:creationId xmlns:a16="http://schemas.microsoft.com/office/drawing/2014/main" id="{303F90BF-D290-B115-836C-1370608364B5}"/>
                </a:ext>
                <a:ext uri="{C183D7F6-B498-43B3-948B-1728B52AA6E4}">
                  <adec:decorative xmlns:adec="http://schemas.microsoft.com/office/drawing/2017/decorative" val="1"/>
                </a:ext>
              </a:extLst>
            </p:cNvPr>
            <p:cNvSpPr>
              <a:spLocks/>
            </p:cNvSpPr>
            <p:nvPr/>
          </p:nvSpPr>
          <p:spPr bwMode="auto">
            <a:xfrm>
              <a:off x="5756353" y="3181690"/>
              <a:ext cx="5864147" cy="1014896"/>
            </a:xfrm>
            <a:prstGeom prst="roundRect">
              <a:avLst>
                <a:gd name="adj" fmla="val 8000"/>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vert="horz" wrap="square" lIns="182880" tIns="91440" rIns="182880" bIns="91440" rtlCol="0" anchor="t" anchorCtr="0">
              <a:noAutofit/>
            </a:bodyPr>
            <a:lstStyle/>
            <a:p>
              <a:pPr defTabSz="932742">
                <a:spcBef>
                  <a:spcPts val="600"/>
                </a:spcBef>
                <a:buSzPct val="90000"/>
              </a:pPr>
              <a:endParaRPr lang="en-GB" baseline="30000">
                <a:cs typeface="Segoe Sans Display" pitchFamily="2" charset="0"/>
              </a:endParaRPr>
            </a:p>
          </p:txBody>
        </p:sp>
        <p:sp>
          <p:nvSpPr>
            <p:cNvPr id="23" name="Content Placeholder 3">
              <a:extLst>
                <a:ext uri="{FF2B5EF4-FFF2-40B4-BE49-F238E27FC236}">
                  <a16:creationId xmlns:a16="http://schemas.microsoft.com/office/drawing/2014/main" id="{99A7C8F7-FEBB-23D0-5136-5B886DE799E1}"/>
                </a:ext>
              </a:extLst>
            </p:cNvPr>
            <p:cNvSpPr txBox="1">
              <a:spLocks/>
            </p:cNvSpPr>
            <p:nvPr/>
          </p:nvSpPr>
          <p:spPr>
            <a:xfrm>
              <a:off x="7466393" y="3307185"/>
              <a:ext cx="1709505" cy="769441"/>
            </a:xfrm>
            <a:prstGeom prst="rect">
              <a:avLst/>
            </a:prstGeom>
            <a:noFill/>
          </p:spPr>
          <p:txBody>
            <a:bodyPr vert="horz" wrap="square" lIns="90000" tIns="45720" rIns="91440" bIns="45720" rtlCol="0" anchor="t">
              <a:sp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32742">
                <a:lnSpc>
                  <a:spcPct val="100000"/>
                </a:lnSpc>
                <a:spcBef>
                  <a:spcPct val="0"/>
                </a:spcBef>
                <a:buNone/>
                <a:defRPr/>
              </a:pPr>
              <a:r>
                <a:rPr lang="en-US" sz="4400" spc="-50" dirty="0">
                  <a:ln w="3175">
                    <a:noFill/>
                  </a:ln>
                  <a:gradFill>
                    <a:gsLst>
                      <a:gs pos="70000">
                        <a:srgbClr val="D660FF"/>
                      </a:gs>
                      <a:gs pos="52000">
                        <a:srgbClr val="818EFF"/>
                      </a:gs>
                      <a:gs pos="35000">
                        <a:srgbClr val="2DB4FF"/>
                      </a:gs>
                      <a:gs pos="30000">
                        <a:srgbClr val="2DB4FF"/>
                      </a:gs>
                      <a:gs pos="3000">
                        <a:srgbClr val="0078D4"/>
                      </a:gs>
                      <a:gs pos="97000">
                        <a:srgbClr val="FEA874"/>
                      </a:gs>
                    </a:gsLst>
                    <a:lin ang="3000000" scaled="0"/>
                  </a:gradFill>
                  <a:latin typeface="+mj-lt"/>
                  <a:cs typeface="Segoe UI" pitchFamily="34" charset="0"/>
                </a:rPr>
                <a:t>0.7% </a:t>
              </a:r>
            </a:p>
          </p:txBody>
        </p:sp>
        <p:sp>
          <p:nvSpPr>
            <p:cNvPr id="25" name="TextBox 24">
              <a:extLst>
                <a:ext uri="{FF2B5EF4-FFF2-40B4-BE49-F238E27FC236}">
                  <a16:creationId xmlns:a16="http://schemas.microsoft.com/office/drawing/2014/main" id="{97C0AE3A-B5A2-7AC3-85F0-241FD6707C29}"/>
                </a:ext>
              </a:extLst>
            </p:cNvPr>
            <p:cNvSpPr txBox="1"/>
            <p:nvPr/>
          </p:nvSpPr>
          <p:spPr>
            <a:xfrm>
              <a:off x="9069298" y="3434912"/>
              <a:ext cx="2308991" cy="501676"/>
            </a:xfrm>
            <a:prstGeom prst="rect">
              <a:avLst/>
            </a:prstGeom>
            <a:noFill/>
          </p:spPr>
          <p:txBody>
            <a:bodyPr wrap="square" lIns="0" tIns="91440" rIns="0" bIns="0" anchor="ctr" anchorCtr="0">
              <a:spAutoFit/>
            </a:bodyPr>
            <a:lstStyle/>
            <a:p>
              <a:pPr marL="0" marR="0" lvl="0" indent="0" defTabSz="652943" rtl="0" eaLnBrk="1" fontAlgn="base" latinLnBrk="0" hangingPunct="1">
                <a:lnSpc>
                  <a:spcPct val="95000"/>
                </a:lnSpc>
                <a:spcBef>
                  <a:spcPct val="0"/>
                </a:spcBef>
                <a:spcAft>
                  <a:spcPct val="0"/>
                </a:spcAft>
                <a:buClrTx/>
                <a:buSzTx/>
                <a:buFontTx/>
                <a:buNone/>
                <a:tabLst/>
                <a:defRPr/>
              </a:pPr>
              <a:r>
                <a:rPr kumimoji="0" lang="en-US" sz="1400" b="0" i="0" u="none" strike="noStrike" kern="0" cap="none" spc="0" normalizeH="0" baseline="0" noProof="0">
                  <a:ln>
                    <a:noFill/>
                  </a:ln>
                  <a:gradFill>
                    <a:gsLst>
                      <a:gs pos="575">
                        <a:srgbClr val="000000"/>
                      </a:gs>
                      <a:gs pos="17416">
                        <a:srgbClr val="000000"/>
                      </a:gs>
                    </a:gsLst>
                    <a:lin ang="4200000" scaled="0"/>
                  </a:gradFill>
                  <a:effectLst/>
                  <a:uLnTx/>
                  <a:uFillTx/>
                  <a:ea typeface="+mn-ea"/>
                  <a:cs typeface="Segoe Sans Display" pitchFamily="2" charset="0"/>
                </a:rPr>
                <a:t>reduction in total operational expenditures</a:t>
              </a:r>
              <a:r>
                <a:rPr kumimoji="0" lang="en-US" sz="1400" b="0" i="0" u="none" strike="noStrike" kern="0" cap="none" spc="0" normalizeH="0" baseline="30000" noProof="0">
                  <a:ln>
                    <a:noFill/>
                  </a:ln>
                  <a:gradFill>
                    <a:gsLst>
                      <a:gs pos="575">
                        <a:srgbClr val="000000"/>
                      </a:gs>
                      <a:gs pos="17416">
                        <a:srgbClr val="000000"/>
                      </a:gs>
                    </a:gsLst>
                    <a:lin ang="4200000" scaled="0"/>
                  </a:gradFill>
                  <a:effectLst/>
                  <a:uLnTx/>
                  <a:uFillTx/>
                  <a:ea typeface="+mn-ea"/>
                  <a:cs typeface="Segoe Sans Display" pitchFamily="2" charset="0"/>
                </a:rPr>
                <a:t>1</a:t>
              </a:r>
              <a:endParaRPr kumimoji="0" lang="en-US" sz="1400" b="0" i="0" u="none" strike="noStrike" kern="0" cap="none" spc="0" normalizeH="0" baseline="0" noProof="0">
                <a:ln>
                  <a:noFill/>
                </a:ln>
                <a:gradFill>
                  <a:gsLst>
                    <a:gs pos="575">
                      <a:srgbClr val="000000"/>
                    </a:gs>
                    <a:gs pos="17416">
                      <a:srgbClr val="000000"/>
                    </a:gs>
                  </a:gsLst>
                  <a:lin ang="4200000" scaled="0"/>
                </a:gradFill>
                <a:effectLst/>
                <a:uLnTx/>
                <a:uFillTx/>
                <a:ea typeface="+mn-ea"/>
                <a:cs typeface="Segoe Sans Display" pitchFamily="2" charset="0"/>
              </a:endParaRPr>
            </a:p>
          </p:txBody>
        </p:sp>
        <p:sp>
          <p:nvSpPr>
            <p:cNvPr id="18" name="Rounded Rectangle 11">
              <a:extLst>
                <a:ext uri="{FF2B5EF4-FFF2-40B4-BE49-F238E27FC236}">
                  <a16:creationId xmlns:a16="http://schemas.microsoft.com/office/drawing/2014/main" id="{E7312E10-72BB-DAA7-DD26-23A239815438}"/>
                </a:ext>
              </a:extLst>
            </p:cNvPr>
            <p:cNvSpPr/>
            <p:nvPr/>
          </p:nvSpPr>
          <p:spPr bwMode="auto">
            <a:xfrm>
              <a:off x="5871173" y="3298525"/>
              <a:ext cx="1582482" cy="764179"/>
            </a:xfrm>
            <a:prstGeom prst="roundRect">
              <a:avLst>
                <a:gd name="adj" fmla="val 11101"/>
              </a:avLst>
            </a:prstGeom>
            <a:solidFill>
              <a:schemeClr val="accent4"/>
            </a:solidFill>
            <a:ln w="26988"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mj-lt"/>
                  <a:ea typeface="+mn-ea"/>
                  <a:cs typeface="Segoe Sans Display" pitchFamily="2" charset="0"/>
                </a:rPr>
                <a:t>Optimize costs</a:t>
              </a:r>
            </a:p>
          </p:txBody>
        </p:sp>
      </p:grpSp>
      <p:grpSp>
        <p:nvGrpSpPr>
          <p:cNvPr id="16" name="Group 15">
            <a:extLst>
              <a:ext uri="{FF2B5EF4-FFF2-40B4-BE49-F238E27FC236}">
                <a16:creationId xmlns:a16="http://schemas.microsoft.com/office/drawing/2014/main" id="{E194B57D-5485-7224-ADCB-B90BC02D436F}"/>
              </a:ext>
            </a:extLst>
          </p:cNvPr>
          <p:cNvGrpSpPr/>
          <p:nvPr/>
        </p:nvGrpSpPr>
        <p:grpSpPr>
          <a:xfrm>
            <a:off x="5756353" y="4281887"/>
            <a:ext cx="5864147" cy="1014896"/>
            <a:chOff x="5756353" y="4721369"/>
            <a:chExt cx="5864147" cy="1014896"/>
          </a:xfrm>
        </p:grpSpPr>
        <p:sp>
          <p:nvSpPr>
            <p:cNvPr id="11" name="Rectangle: Rounded Corners 10">
              <a:extLst>
                <a:ext uri="{FF2B5EF4-FFF2-40B4-BE49-F238E27FC236}">
                  <a16:creationId xmlns:a16="http://schemas.microsoft.com/office/drawing/2014/main" id="{1114FCD4-718F-325E-4F69-EDF6081BC54F}"/>
                </a:ext>
                <a:ext uri="{C183D7F6-B498-43B3-948B-1728B52AA6E4}">
                  <adec:decorative xmlns:adec="http://schemas.microsoft.com/office/drawing/2017/decorative" val="1"/>
                </a:ext>
              </a:extLst>
            </p:cNvPr>
            <p:cNvSpPr>
              <a:spLocks/>
            </p:cNvSpPr>
            <p:nvPr/>
          </p:nvSpPr>
          <p:spPr bwMode="auto">
            <a:xfrm>
              <a:off x="5756353" y="4721369"/>
              <a:ext cx="5864147" cy="1014896"/>
            </a:xfrm>
            <a:prstGeom prst="roundRect">
              <a:avLst>
                <a:gd name="adj" fmla="val 8000"/>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vert="horz" wrap="square" lIns="182880" tIns="91440" rIns="182880" bIns="91440" rtlCol="0" anchor="t" anchorCtr="0">
              <a:noAutofit/>
            </a:bodyPr>
            <a:lstStyle/>
            <a:p>
              <a:pPr defTabSz="932742">
                <a:spcBef>
                  <a:spcPts val="600"/>
                </a:spcBef>
                <a:buSzPct val="90000"/>
              </a:pPr>
              <a:endParaRPr lang="en-GB" baseline="30000">
                <a:cs typeface="Segoe Sans Display" pitchFamily="2" charset="0"/>
              </a:endParaRPr>
            </a:p>
          </p:txBody>
        </p:sp>
        <p:sp>
          <p:nvSpPr>
            <p:cNvPr id="29" name="Content Placeholder 3">
              <a:extLst>
                <a:ext uri="{FF2B5EF4-FFF2-40B4-BE49-F238E27FC236}">
                  <a16:creationId xmlns:a16="http://schemas.microsoft.com/office/drawing/2014/main" id="{2DC42E9C-15AF-16FC-3F62-08255D2BC4D1}"/>
                </a:ext>
              </a:extLst>
            </p:cNvPr>
            <p:cNvSpPr txBox="1">
              <a:spLocks/>
            </p:cNvSpPr>
            <p:nvPr/>
          </p:nvSpPr>
          <p:spPr>
            <a:xfrm>
              <a:off x="7466393" y="4848226"/>
              <a:ext cx="1709505" cy="769441"/>
            </a:xfrm>
            <a:prstGeom prst="rect">
              <a:avLst/>
            </a:prstGeom>
            <a:noFill/>
          </p:spPr>
          <p:txBody>
            <a:bodyPr vert="horz" wrap="square" lIns="90000" tIns="45720" rIns="91440" bIns="45720" rtlCol="0" anchor="t">
              <a:sp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32742" fontAlgn="auto">
                <a:lnSpc>
                  <a:spcPct val="100000"/>
                </a:lnSpc>
                <a:spcBef>
                  <a:spcPct val="0"/>
                </a:spcBef>
                <a:spcAft>
                  <a:spcPts val="0"/>
                </a:spcAft>
                <a:buClrTx/>
                <a:buSzTx/>
                <a:buNone/>
                <a:tabLst/>
                <a:defRPr/>
              </a:pPr>
              <a:r>
                <a:rPr lang="en-US" sz="4400" spc="-50" dirty="0">
                  <a:ln w="3175">
                    <a:noFill/>
                  </a:ln>
                  <a:gradFill>
                    <a:gsLst>
                      <a:gs pos="70000">
                        <a:srgbClr val="D660FF"/>
                      </a:gs>
                      <a:gs pos="52000">
                        <a:srgbClr val="818EFF"/>
                      </a:gs>
                      <a:gs pos="35000">
                        <a:srgbClr val="2DB4FF"/>
                      </a:gs>
                      <a:gs pos="30000">
                        <a:srgbClr val="2DB4FF"/>
                      </a:gs>
                      <a:gs pos="3000">
                        <a:srgbClr val="0078D4"/>
                      </a:gs>
                      <a:gs pos="97000">
                        <a:srgbClr val="FEA874"/>
                      </a:gs>
                    </a:gsLst>
                    <a:lin ang="3000000" scaled="0"/>
                  </a:gradFill>
                  <a:latin typeface="+mj-lt"/>
                  <a:cs typeface="Segoe UI" pitchFamily="34" charset="0"/>
                </a:rPr>
                <a:t>51.9% </a:t>
              </a:r>
            </a:p>
          </p:txBody>
        </p:sp>
        <p:sp>
          <p:nvSpPr>
            <p:cNvPr id="30" name="TextBox 29">
              <a:extLst>
                <a:ext uri="{FF2B5EF4-FFF2-40B4-BE49-F238E27FC236}">
                  <a16:creationId xmlns:a16="http://schemas.microsoft.com/office/drawing/2014/main" id="{30C825FD-B4B2-B913-EDB7-89B8ED12CF6B}"/>
                </a:ext>
              </a:extLst>
            </p:cNvPr>
            <p:cNvSpPr txBox="1"/>
            <p:nvPr/>
          </p:nvSpPr>
          <p:spPr>
            <a:xfrm>
              <a:off x="9188636" y="4925939"/>
              <a:ext cx="2251997" cy="614014"/>
            </a:xfrm>
            <a:prstGeom prst="rect">
              <a:avLst/>
            </a:prstGeom>
            <a:noFill/>
          </p:spPr>
          <p:txBody>
            <a:bodyPr wrap="square" lIns="0" tIns="0" rIns="0" bIns="0" anchor="ctr" anchorCtr="0">
              <a:spAutoFit/>
            </a:bodyPr>
            <a:lstStyle/>
            <a:p>
              <a:pPr marL="0" marR="0" lvl="0" indent="0" defTabSz="652943" rtl="0" eaLnBrk="1" fontAlgn="base" latinLnBrk="0" hangingPunct="1">
                <a:lnSpc>
                  <a:spcPct val="95000"/>
                </a:lnSpc>
                <a:spcBef>
                  <a:spcPct val="0"/>
                </a:spcBef>
                <a:spcAft>
                  <a:spcPct val="0"/>
                </a:spcAft>
                <a:buClrTx/>
                <a:buSzTx/>
                <a:buFontTx/>
                <a:buNone/>
                <a:tabLst/>
                <a:defRPr/>
              </a:pPr>
              <a:r>
                <a:rPr kumimoji="0" lang="en-US" sz="1400" b="0" i="0" u="none" strike="noStrike" kern="0" cap="none" spc="0" normalizeH="0" baseline="0" noProof="0" dirty="0">
                  <a:ln>
                    <a:noFill/>
                  </a:ln>
                  <a:gradFill>
                    <a:gsLst>
                      <a:gs pos="575">
                        <a:srgbClr val="000000"/>
                      </a:gs>
                      <a:gs pos="17416">
                        <a:srgbClr val="000000"/>
                      </a:gs>
                    </a:gsLst>
                    <a:lin ang="4200000" scaled="0"/>
                  </a:gradFill>
                  <a:effectLst/>
                  <a:uLnTx/>
                  <a:uFillTx/>
                  <a:ea typeface="+mn-ea"/>
                  <a:cs typeface="Segoe Sans Display" pitchFamily="2" charset="0"/>
                </a:rPr>
                <a:t>of companies surveyed cite employee well-being as a top outcome</a:t>
              </a:r>
              <a:r>
                <a:rPr kumimoji="0" lang="en-US" sz="1400" b="0" i="0" u="none" strike="noStrike" kern="0" cap="none" spc="0" normalizeH="0" baseline="30000" noProof="0" dirty="0">
                  <a:ln>
                    <a:noFill/>
                  </a:ln>
                  <a:gradFill>
                    <a:gsLst>
                      <a:gs pos="575">
                        <a:srgbClr val="000000"/>
                      </a:gs>
                      <a:gs pos="17416">
                        <a:srgbClr val="000000"/>
                      </a:gs>
                    </a:gsLst>
                    <a:lin ang="4200000" scaled="0"/>
                  </a:gradFill>
                  <a:effectLst/>
                  <a:uLnTx/>
                  <a:uFillTx/>
                  <a:ea typeface="+mn-ea"/>
                  <a:cs typeface="Segoe Sans Display" pitchFamily="2" charset="0"/>
                </a:rPr>
                <a:t>1</a:t>
              </a:r>
              <a:endParaRPr kumimoji="0" lang="en-US" sz="1400" b="0" i="0" u="none" strike="noStrike" kern="0" cap="none" spc="0" normalizeH="0" baseline="0" noProof="0" dirty="0">
                <a:ln>
                  <a:noFill/>
                </a:ln>
                <a:gradFill>
                  <a:gsLst>
                    <a:gs pos="575">
                      <a:srgbClr val="000000"/>
                    </a:gs>
                    <a:gs pos="17416">
                      <a:srgbClr val="000000"/>
                    </a:gs>
                  </a:gsLst>
                  <a:lin ang="4200000" scaled="0"/>
                </a:gradFill>
                <a:effectLst/>
                <a:uLnTx/>
                <a:uFillTx/>
                <a:ea typeface="+mn-ea"/>
                <a:cs typeface="Segoe Sans Display" pitchFamily="2" charset="0"/>
              </a:endParaRPr>
            </a:p>
          </p:txBody>
        </p:sp>
        <p:sp>
          <p:nvSpPr>
            <p:cNvPr id="19" name="Rounded Rectangle 11">
              <a:extLst>
                <a:ext uri="{FF2B5EF4-FFF2-40B4-BE49-F238E27FC236}">
                  <a16:creationId xmlns:a16="http://schemas.microsoft.com/office/drawing/2014/main" id="{23F40F8D-4A78-4514-D3D0-287578C802AD}"/>
                </a:ext>
              </a:extLst>
            </p:cNvPr>
            <p:cNvSpPr/>
            <p:nvPr/>
          </p:nvSpPr>
          <p:spPr bwMode="auto">
            <a:xfrm>
              <a:off x="5871173" y="4850857"/>
              <a:ext cx="1582482" cy="764179"/>
            </a:xfrm>
            <a:prstGeom prst="roundRect">
              <a:avLst>
                <a:gd name="adj" fmla="val 9710"/>
              </a:avLst>
            </a:prstGeom>
            <a:solidFill>
              <a:schemeClr val="accent4"/>
            </a:solidFill>
            <a:ln w="26988"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dirty="0">
                  <a:ln>
                    <a:noFill/>
                  </a:ln>
                  <a:solidFill>
                    <a:srgbClr val="FFFFFF"/>
                  </a:solidFill>
                  <a:effectLst/>
                  <a:uLnTx/>
                  <a:uFillTx/>
                  <a:latin typeface="+mj-lt"/>
                  <a:ea typeface="+mn-ea"/>
                  <a:cs typeface="Segoe Sans Display" pitchFamily="2" charset="0"/>
                </a:rPr>
                <a:t>Employee experience</a:t>
              </a:r>
            </a:p>
          </p:txBody>
        </p:sp>
      </p:grpSp>
      <p:sp>
        <p:nvSpPr>
          <p:cNvPr id="4" name="TextBox 3">
            <a:extLst>
              <a:ext uri="{FF2B5EF4-FFF2-40B4-BE49-F238E27FC236}">
                <a16:creationId xmlns:a16="http://schemas.microsoft.com/office/drawing/2014/main" id="{1B3D9C19-3B10-0ADF-8DEA-2569D9724B47}"/>
              </a:ext>
            </a:extLst>
          </p:cNvPr>
          <p:cNvSpPr txBox="1"/>
          <p:nvPr/>
        </p:nvSpPr>
        <p:spPr>
          <a:xfrm>
            <a:off x="5804198" y="5609874"/>
            <a:ext cx="5684281" cy="461665"/>
          </a:xfrm>
          <a:prstGeom prst="rect">
            <a:avLst/>
          </a:prstGeom>
        </p:spPr>
        <p:txBody>
          <a:bodyPr wrap="square" lIns="0" tIns="0" rIns="0" bIns="0" rtlCol="0" anchor="b">
            <a:spAutoFit/>
          </a:bodyPr>
          <a:lstStyle/>
          <a:p>
            <a:pPr marL="58738" marR="0" lvl="0" indent="-58738" algn="l" defTabSz="914400" rtl="0" eaLnBrk="1" fontAlgn="auto" latinLnBrk="0" hangingPunct="1">
              <a:lnSpc>
                <a:spcPct val="100000"/>
              </a:lnSpc>
              <a:spcBef>
                <a:spcPts val="0"/>
              </a:spcBef>
              <a:spcAft>
                <a:spcPts val="0"/>
              </a:spcAft>
              <a:buClrTx/>
              <a:buSzTx/>
              <a:buFontTx/>
              <a:buNone/>
              <a:tabLst>
                <a:tab pos="455613" algn="l"/>
                <a:tab pos="4570413" algn="l"/>
              </a:tabLst>
              <a:defRPr/>
            </a:pPr>
            <a:r>
              <a:rPr kumimoji="0" lang="en-US" sz="1000" b="0" i="0" u="none" strike="noStrike" kern="1200" cap="none" spc="0" normalizeH="0" baseline="30000" noProof="0" dirty="0">
                <a:ln>
                  <a:noFill/>
                </a:ln>
                <a:solidFill>
                  <a:srgbClr val="000000"/>
                </a:solidFill>
                <a:effectLst/>
                <a:uLnTx/>
                <a:uFillTx/>
                <a:ea typeface="+mn-ea"/>
                <a:cs typeface="Segoe Sans Small Thin" pitchFamily="2" charset="0"/>
              </a:rPr>
              <a:t>1 </a:t>
            </a:r>
            <a:r>
              <a:rPr kumimoji="0" lang="en-US" sz="1000" b="0" i="0" u="none" strike="noStrike" kern="1200" cap="none" spc="0" normalizeH="0" baseline="0" noProof="0" dirty="0">
                <a:ln>
                  <a:noFill/>
                </a:ln>
                <a:solidFill>
                  <a:srgbClr val="000000"/>
                </a:solidFill>
                <a:effectLst/>
                <a:uLnTx/>
                <a:uFillTx/>
                <a:ea typeface="+mn-ea"/>
                <a:cs typeface="Segoe Sans Small Thin" pitchFamily="2" charset="0"/>
              </a:rPr>
              <a:t>Forrester Consulting, </a:t>
            </a:r>
            <a:r>
              <a:rPr kumimoji="0" lang="en-US" sz="1000" b="0" i="0" u="none" strike="noStrike" kern="1200" cap="none" spc="0" normalizeH="0" baseline="0" noProof="0" dirty="0">
                <a:ln>
                  <a:noFill/>
                </a:ln>
                <a:solidFill>
                  <a:srgbClr val="000000"/>
                </a:solidFill>
                <a:effectLst/>
                <a:uLnTx/>
                <a:uFillTx/>
                <a:ea typeface="+mn-ea"/>
                <a:cs typeface="Segoe Sans Small Thin" pitchFamily="2" charset="0"/>
                <a:hlinkClick r:id="rId4">
                  <a:extLst>
                    <a:ext uri="{A12FA001-AC4F-418D-AE19-62706E023703}">
                      <ahyp:hlinkClr xmlns:ahyp="http://schemas.microsoft.com/office/drawing/2018/hyperlinkcolor" val="tx"/>
                    </a:ext>
                  </a:extLst>
                </a:hlinkClick>
              </a:rPr>
              <a:t>New Technology: The Projected Total Economic Impact™ of Microsoft Copilot for Microsoft 365</a:t>
            </a:r>
            <a:r>
              <a:rPr kumimoji="0" lang="en-US" sz="1000" b="0" i="0" u="none" strike="noStrike" kern="1200" cap="none" spc="0" normalizeH="0" baseline="0" noProof="0" dirty="0">
                <a:ln>
                  <a:noFill/>
                </a:ln>
                <a:solidFill>
                  <a:srgbClr val="000000"/>
                </a:solidFill>
                <a:effectLst/>
                <a:uLnTx/>
                <a:uFillTx/>
                <a:ea typeface="+mn-ea"/>
                <a:cs typeface="Segoe Sans Small Thin" pitchFamily="2" charset="0"/>
              </a:rPr>
              <a:t>, commissioned by Microsoft, April 2024. </a:t>
            </a:r>
          </a:p>
          <a:p>
            <a:pPr marL="58738" marR="0" lvl="0" indent="-58738" algn="l" defTabSz="914400" rtl="0" eaLnBrk="1" fontAlgn="auto" latinLnBrk="0" hangingPunct="1">
              <a:lnSpc>
                <a:spcPct val="100000"/>
              </a:lnSpc>
              <a:spcBef>
                <a:spcPts val="0"/>
              </a:spcBef>
              <a:spcAft>
                <a:spcPts val="0"/>
              </a:spcAft>
              <a:buClrTx/>
              <a:buSzTx/>
              <a:buFontTx/>
              <a:buNone/>
              <a:tabLst>
                <a:tab pos="455613" algn="l"/>
                <a:tab pos="4570413" algn="l"/>
              </a:tabLst>
              <a:defRPr/>
            </a:pPr>
            <a:r>
              <a:rPr kumimoji="0" lang="en-US" sz="1000" b="0" i="0" u="none" strike="noStrike" kern="1200" cap="none" spc="0" normalizeH="0" baseline="0" noProof="0" dirty="0">
                <a:ln>
                  <a:noFill/>
                </a:ln>
                <a:solidFill>
                  <a:srgbClr val="000000"/>
                </a:solidFill>
                <a:effectLst/>
                <a:uLnTx/>
                <a:uFillTx/>
                <a:ea typeface="+mn-ea"/>
                <a:cs typeface="Segoe Sans Small Thin" pitchFamily="2" charset="0"/>
              </a:rPr>
              <a:t>Results based on a composite organization made up of 8 organizations as stated in the linked study.</a:t>
            </a:r>
          </a:p>
        </p:txBody>
      </p:sp>
      <p:pic>
        <p:nvPicPr>
          <p:cNvPr id="14" name="Picture 13">
            <a:extLst>
              <a:ext uri="{FF2B5EF4-FFF2-40B4-BE49-F238E27FC236}">
                <a16:creationId xmlns:a16="http://schemas.microsoft.com/office/drawing/2014/main" id="{6CBB6774-D9E6-9E63-2CA2-B7269524677F}"/>
              </a:ext>
            </a:extLst>
          </p:cNvPr>
          <p:cNvPicPr>
            <a:picLocks noChangeAspect="1"/>
          </p:cNvPicPr>
          <p:nvPr/>
        </p:nvPicPr>
        <p:blipFill>
          <a:blip r:embed="rId5"/>
          <a:stretch>
            <a:fillRect/>
          </a:stretch>
        </p:blipFill>
        <p:spPr>
          <a:xfrm>
            <a:off x="571500" y="1436688"/>
            <a:ext cx="4842376" cy="3865563"/>
          </a:xfrm>
          <a:prstGeom prst="roundRect">
            <a:avLst>
              <a:gd name="adj" fmla="val 3464"/>
            </a:avLst>
          </a:prstGeom>
          <a:ln>
            <a:noFill/>
          </a:ln>
          <a:effectLst/>
        </p:spPr>
      </p:pic>
      <p:sp>
        <p:nvSpPr>
          <p:cNvPr id="15" name="TextBox 14">
            <a:extLst>
              <a:ext uri="{FF2B5EF4-FFF2-40B4-BE49-F238E27FC236}">
                <a16:creationId xmlns:a16="http://schemas.microsoft.com/office/drawing/2014/main" id="{A4EAC1C4-DD08-423A-9C4A-BCA22FA7C8BC}"/>
              </a:ext>
            </a:extLst>
          </p:cNvPr>
          <p:cNvSpPr txBox="1"/>
          <p:nvPr/>
        </p:nvSpPr>
        <p:spPr>
          <a:xfrm>
            <a:off x="571501" y="5615036"/>
            <a:ext cx="4842376" cy="451342"/>
          </a:xfrm>
          <a:prstGeom prst="rect">
            <a:avLst/>
          </a:prstGeom>
          <a:noFill/>
        </p:spPr>
        <p:txBody>
          <a:bodyPr wrap="square">
            <a:spAutoFit/>
          </a:bodyPr>
          <a:lstStyle/>
          <a:p>
            <a:pPr algn="ctr" defTabSz="761970"/>
            <a:r>
              <a:rPr lang="en-US" sz="2333" dirty="0">
                <a:solidFill>
                  <a:srgbClr val="0078D7"/>
                </a:solidFill>
                <a:latin typeface="+mj-lt"/>
                <a:hlinkClick r:id="rId6">
                  <a:extLst>
                    <a:ext uri="{A12FA001-AC4F-418D-AE19-62706E023703}">
                      <ahyp:hlinkClr xmlns:ahyp="http://schemas.microsoft.com/office/drawing/2018/hyperlinkcolor" val="tx"/>
                    </a:ext>
                  </a:extLst>
                </a:hlinkClick>
              </a:rPr>
              <a:t>https://aka.ms/CopilotM365TEI</a:t>
            </a:r>
            <a:r>
              <a:rPr lang="en-US" sz="2333" dirty="0">
                <a:solidFill>
                  <a:srgbClr val="0078D7"/>
                </a:solidFill>
                <a:latin typeface="+mj-lt"/>
              </a:rPr>
              <a:t> </a:t>
            </a:r>
          </a:p>
        </p:txBody>
      </p:sp>
      <p:sp>
        <p:nvSpPr>
          <p:cNvPr id="2" name="Title 1">
            <a:extLst>
              <a:ext uri="{FF2B5EF4-FFF2-40B4-BE49-F238E27FC236}">
                <a16:creationId xmlns:a16="http://schemas.microsoft.com/office/drawing/2014/main" id="{C59B4E7D-B1EE-C583-8B50-862FAC6F0B3F}"/>
              </a:ext>
            </a:extLst>
          </p:cNvPr>
          <p:cNvSpPr>
            <a:spLocks noGrp="1"/>
          </p:cNvSpPr>
          <p:nvPr>
            <p:ph type="title"/>
          </p:nvPr>
        </p:nvSpPr>
        <p:spPr>
          <a:xfrm>
            <a:off x="588263" y="457200"/>
            <a:ext cx="11018520" cy="553998"/>
          </a:xfrm>
        </p:spPr>
        <p:txBody>
          <a:bodyPr/>
          <a:lstStyle/>
          <a:p>
            <a:r>
              <a:rPr lang="en-US" dirty="0"/>
              <a:t>M365 Copilot Total Economic Impact (TEI) by Forrester</a:t>
            </a:r>
          </a:p>
        </p:txBody>
      </p:sp>
      <p:sp>
        <p:nvSpPr>
          <p:cNvPr id="24" name="Footer Placeholder 23">
            <a:extLst>
              <a:ext uri="{FF2B5EF4-FFF2-40B4-BE49-F238E27FC236}">
                <a16:creationId xmlns:a16="http://schemas.microsoft.com/office/drawing/2014/main" id="{4C4BF33C-1234-B535-C3F1-41EF24771B6C}"/>
              </a:ext>
            </a:extLst>
          </p:cNvPr>
          <p:cNvSpPr>
            <a:spLocks noGrp="1"/>
          </p:cNvSpPr>
          <p:nvPr>
            <p:ph type="ftr" sz="quarter" idx="12"/>
          </p:nvPr>
        </p:nvSpPr>
        <p:spPr/>
        <p:txBody>
          <a:bodyPr/>
          <a:lstStyle/>
          <a:p>
            <a:r>
              <a:rPr lang="en-US"/>
              <a:t>Building Customer-Centric Services offers</a:t>
            </a:r>
          </a:p>
        </p:txBody>
      </p:sp>
      <p:sp>
        <p:nvSpPr>
          <p:cNvPr id="26" name="Slide Number Placeholder 25">
            <a:extLst>
              <a:ext uri="{FF2B5EF4-FFF2-40B4-BE49-F238E27FC236}">
                <a16:creationId xmlns:a16="http://schemas.microsoft.com/office/drawing/2014/main" id="{20443E37-2AE7-BD01-FC7D-2865B5F5127E}"/>
              </a:ext>
            </a:extLst>
          </p:cNvPr>
          <p:cNvSpPr>
            <a:spLocks noGrp="1"/>
          </p:cNvSpPr>
          <p:nvPr>
            <p:ph type="sldNum" sz="quarter" idx="13"/>
          </p:nvPr>
        </p:nvSpPr>
        <p:spPr/>
        <p:txBody>
          <a:bodyPr/>
          <a:lstStyle/>
          <a:p>
            <a:fld id="{5763EE98-C176-4152-A50F-E68840BAFA00}" type="slidenum">
              <a:rPr lang="en-US" smtClean="0"/>
              <a:pPr/>
              <a:t>11</a:t>
            </a:fld>
            <a:endParaRPr lang="en-US"/>
          </a:p>
        </p:txBody>
      </p:sp>
    </p:spTree>
    <p:extLst>
      <p:ext uri="{BB962C8B-B14F-4D97-AF65-F5344CB8AC3E}">
        <p14:creationId xmlns:p14="http://schemas.microsoft.com/office/powerpoint/2010/main" val="401466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7000"/>
            <a:lum/>
          </a:blip>
          <a:srcRect/>
          <a:stretch>
            <a:fillRect t="-39000" b="-39000"/>
          </a:stretch>
        </a:blipFill>
        <a:effectLst/>
      </p:bgPr>
    </p:bg>
    <p:spTree>
      <p:nvGrpSpPr>
        <p:cNvPr id="1" name="">
          <a:extLst>
            <a:ext uri="{FF2B5EF4-FFF2-40B4-BE49-F238E27FC236}">
              <a16:creationId xmlns:a16="http://schemas.microsoft.com/office/drawing/2014/main" id="{378CD009-DE76-47D4-B39F-C9B93B65017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F57D757-C26A-6060-4D9A-AF87EA70648C}"/>
              </a:ext>
            </a:extLst>
          </p:cNvPr>
          <p:cNvSpPr>
            <a:spLocks noGrp="1"/>
          </p:cNvSpPr>
          <p:nvPr>
            <p:ph type="title"/>
          </p:nvPr>
        </p:nvSpPr>
        <p:spPr>
          <a:xfrm>
            <a:off x="588263" y="457200"/>
            <a:ext cx="11018520" cy="553998"/>
          </a:xfrm>
        </p:spPr>
        <p:txBody>
          <a:bodyPr/>
          <a:lstStyle/>
          <a:p>
            <a:r>
              <a:rPr lang="en-US"/>
              <a:t>Copilot Services Partner Capability View</a:t>
            </a:r>
          </a:p>
        </p:txBody>
      </p:sp>
      <p:sp>
        <p:nvSpPr>
          <p:cNvPr id="15" name="TextBox 14">
            <a:extLst>
              <a:ext uri="{FF2B5EF4-FFF2-40B4-BE49-F238E27FC236}">
                <a16:creationId xmlns:a16="http://schemas.microsoft.com/office/drawing/2014/main" id="{DAE15F85-A9B3-2FA4-3E9C-4C4B43E964F6}"/>
              </a:ext>
            </a:extLst>
          </p:cNvPr>
          <p:cNvSpPr txBox="1"/>
          <p:nvPr/>
        </p:nvSpPr>
        <p:spPr>
          <a:xfrm rot="16200000">
            <a:off x="5565435" y="-3490690"/>
            <a:ext cx="1188720" cy="12064415"/>
          </a:xfrm>
          <a:prstGeom prst="round2SameRect">
            <a:avLst>
              <a:gd name="adj1" fmla="val 7673"/>
              <a:gd name="adj2" fmla="val 0"/>
            </a:avLst>
          </a:prstGeom>
          <a:solidFill>
            <a:schemeClr val="accent5">
              <a:lumMod val="20000"/>
              <a:lumOff val="80000"/>
            </a:schemeClr>
          </a:solidFill>
        </p:spPr>
        <p:txBody>
          <a:bodyPr wrap="none" lIns="0" tIns="0" rIns="0" bIns="0" rtlCol="0">
            <a:noAutofit/>
          </a:bodyPr>
          <a:lstStyle/>
          <a:p>
            <a:pPr marL="0" marR="0" lvl="0" indent="0" algn="ctr" defTabSz="932563" rtl="0" eaLnBrk="1" fontAlgn="t"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accent5">
                    <a:lumMod val="50000"/>
                  </a:schemeClr>
                </a:solidFill>
                <a:effectLst/>
                <a:uLnTx/>
                <a:uFillTx/>
                <a:latin typeface="+mj-lt"/>
                <a:ea typeface="+mn-ea"/>
                <a:cs typeface="+mn-cs"/>
              </a:rPr>
              <a:t>Initiation</a:t>
            </a:r>
          </a:p>
        </p:txBody>
      </p:sp>
      <p:sp>
        <p:nvSpPr>
          <p:cNvPr id="13" name="TextBox 12">
            <a:extLst>
              <a:ext uri="{FF2B5EF4-FFF2-40B4-BE49-F238E27FC236}">
                <a16:creationId xmlns:a16="http://schemas.microsoft.com/office/drawing/2014/main" id="{844E5ED4-0CB3-A325-0798-5A9A3B05D811}"/>
              </a:ext>
            </a:extLst>
          </p:cNvPr>
          <p:cNvSpPr txBox="1"/>
          <p:nvPr/>
        </p:nvSpPr>
        <p:spPr>
          <a:xfrm>
            <a:off x="571500" y="2089566"/>
            <a:ext cx="2551112" cy="63863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367" rtl="0" eaLnBrk="1" fontAlgn="auto" latinLnBrk="0" hangingPunct="1">
              <a:lnSpc>
                <a:spcPct val="100000"/>
              </a:lnSpc>
              <a:spcBef>
                <a:spcPts val="0"/>
              </a:spcBef>
              <a:spcAft>
                <a:spcPts val="300"/>
              </a:spcAft>
              <a:buClrTx/>
              <a:buSzTx/>
              <a:buFontTx/>
              <a:buNone/>
              <a:tabLst/>
              <a:defRPr/>
            </a:pPr>
            <a:r>
              <a:rPr kumimoji="0" lang="en-US" sz="1200" b="0" i="0" u="none" strike="noStrike" kern="1200" cap="none" normalizeH="0" baseline="0" noProof="0" dirty="0">
                <a:ln>
                  <a:noFill/>
                </a:ln>
                <a:solidFill>
                  <a:schemeClr val="tx2"/>
                </a:solidFill>
                <a:effectLst/>
                <a:uLnTx/>
                <a:uFillTx/>
                <a:latin typeface="+mj-lt"/>
                <a:ea typeface="+mn-ea"/>
                <a:cs typeface="+mn-cs"/>
              </a:rPr>
              <a:t>GenAI Advisory </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normalizeH="0" baseline="0" noProof="0" dirty="0">
                <a:ln>
                  <a:noFill/>
                </a:ln>
                <a:solidFill>
                  <a:schemeClr val="tx2"/>
                </a:solidFill>
                <a:effectLst/>
                <a:uLnTx/>
                <a:uFillTx/>
                <a:ea typeface="+mn-ea"/>
                <a:cs typeface="+mn-cs"/>
              </a:rPr>
              <a:t>Advise customers on their GenAI transformation strategy, connecting to top business objectives and priorities.</a:t>
            </a:r>
            <a:endParaRPr kumimoji="0" lang="en-US" sz="900" b="0" i="0" u="none" strike="noStrike" kern="1200" cap="none" normalizeH="0" baseline="0" noProof="0" dirty="0">
              <a:ln>
                <a:noFill/>
              </a:ln>
              <a:solidFill>
                <a:schemeClr val="tx2"/>
              </a:solidFill>
              <a:effectLst/>
              <a:uLnTx/>
              <a:uFillTx/>
              <a:ea typeface="+mn-ea"/>
              <a:cs typeface="Segoe UI"/>
            </a:endParaRPr>
          </a:p>
        </p:txBody>
      </p:sp>
      <p:sp>
        <p:nvSpPr>
          <p:cNvPr id="17" name="TextBox 16">
            <a:extLst>
              <a:ext uri="{FF2B5EF4-FFF2-40B4-BE49-F238E27FC236}">
                <a16:creationId xmlns:a16="http://schemas.microsoft.com/office/drawing/2014/main" id="{3793254D-61EA-BC60-8536-DE549B618443}"/>
              </a:ext>
            </a:extLst>
          </p:cNvPr>
          <p:cNvSpPr txBox="1"/>
          <p:nvPr/>
        </p:nvSpPr>
        <p:spPr>
          <a:xfrm>
            <a:off x="3413124" y="2089566"/>
            <a:ext cx="2538413" cy="77713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914367">
              <a:spcAft>
                <a:spcPts val="300"/>
              </a:spcAft>
              <a:defRPr/>
            </a:pPr>
            <a:r>
              <a:rPr lang="en-US" sz="1200" dirty="0">
                <a:solidFill>
                  <a:schemeClr val="tx2"/>
                </a:solidFill>
                <a:latin typeface="+mj-lt"/>
              </a:rPr>
              <a:t>Readiness </a:t>
            </a:r>
          </a:p>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900" b="0" i="0" u="none" strike="noStrike" kern="1200" cap="none" normalizeH="0" baseline="0" noProof="0" dirty="0">
                <a:ln>
                  <a:noFill/>
                </a:ln>
                <a:solidFill>
                  <a:schemeClr val="tx2"/>
                </a:solidFill>
                <a:effectLst/>
                <a:uLnTx/>
                <a:uFillTx/>
                <a:ea typeface="+mn-ea"/>
                <a:cs typeface="+mn-cs"/>
              </a:rPr>
              <a:t>Advise customers on tenant readiness to adopt Copilot Chat and Microsoft 365 Copilot with a structured process and remediating data security blockers.</a:t>
            </a:r>
            <a:endParaRPr kumimoji="0" lang="en-US" sz="900" b="0" i="0" u="none" strike="noStrike" kern="1200" cap="none" normalizeH="0" baseline="0" noProof="0" dirty="0">
              <a:ln>
                <a:noFill/>
              </a:ln>
              <a:solidFill>
                <a:schemeClr val="tx2"/>
              </a:solidFill>
              <a:effectLst/>
              <a:uLnTx/>
              <a:uFillTx/>
              <a:ea typeface="+mn-ea"/>
              <a:cs typeface="Segoe UI"/>
            </a:endParaRPr>
          </a:p>
        </p:txBody>
      </p:sp>
      <p:sp>
        <p:nvSpPr>
          <p:cNvPr id="19" name="TextBox 18">
            <a:extLst>
              <a:ext uri="{FF2B5EF4-FFF2-40B4-BE49-F238E27FC236}">
                <a16:creationId xmlns:a16="http://schemas.microsoft.com/office/drawing/2014/main" id="{E4D16E38-CA93-CBAB-56D6-F6C80FC3846D}"/>
              </a:ext>
            </a:extLst>
          </p:cNvPr>
          <p:cNvSpPr txBox="1"/>
          <p:nvPr/>
        </p:nvSpPr>
        <p:spPr>
          <a:xfrm>
            <a:off x="6242051" y="2089566"/>
            <a:ext cx="2542032" cy="77713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R="0" lvl="0" indent="0" defTabSz="914367" fontAlgn="auto">
              <a:lnSpc>
                <a:spcPct val="100000"/>
              </a:lnSpc>
              <a:spcBef>
                <a:spcPts val="0"/>
              </a:spcBef>
              <a:spcAft>
                <a:spcPts val="300"/>
              </a:spcAft>
              <a:buClrTx/>
              <a:buSzTx/>
              <a:buFontTx/>
              <a:buNone/>
              <a:tabLst/>
              <a:defRPr/>
            </a:pPr>
            <a:r>
              <a:rPr lang="en-US" sz="1200" dirty="0">
                <a:solidFill>
                  <a:schemeClr val="tx2"/>
                </a:solidFill>
                <a:latin typeface="+mj-lt"/>
              </a:rPr>
              <a:t>Engagement Strategy </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normalizeH="0" baseline="0" noProof="0" dirty="0">
                <a:ln>
                  <a:noFill/>
                </a:ln>
                <a:solidFill>
                  <a:schemeClr val="tx2"/>
                </a:solidFill>
                <a:effectLst/>
                <a:uLnTx/>
                <a:uFillTx/>
                <a:ea typeface="+mn-ea"/>
                <a:cs typeface="Segoe Sans Display"/>
              </a:rPr>
              <a:t>Design a plan that outlines communication and workforce transformation strategy that aligns with overall GenAI strategy to effectively drive adoption.</a:t>
            </a:r>
          </a:p>
        </p:txBody>
      </p:sp>
      <p:sp>
        <p:nvSpPr>
          <p:cNvPr id="20" name="TextBox 19">
            <a:extLst>
              <a:ext uri="{FF2B5EF4-FFF2-40B4-BE49-F238E27FC236}">
                <a16:creationId xmlns:a16="http://schemas.microsoft.com/office/drawing/2014/main" id="{F83C3541-B652-4819-A7E9-21F605CE39BE}"/>
              </a:ext>
            </a:extLst>
          </p:cNvPr>
          <p:cNvSpPr txBox="1"/>
          <p:nvPr/>
        </p:nvSpPr>
        <p:spPr>
          <a:xfrm>
            <a:off x="9070975" y="2089566"/>
            <a:ext cx="2549525" cy="91563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914367">
              <a:spcAft>
                <a:spcPts val="300"/>
              </a:spcAft>
              <a:defRPr/>
            </a:pPr>
            <a:r>
              <a:rPr lang="en-US" sz="1200" dirty="0">
                <a:solidFill>
                  <a:schemeClr val="tx2"/>
                </a:solidFill>
                <a:latin typeface="+mj-lt"/>
              </a:rPr>
              <a:t>Agent &amp; Automation Strategy</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normalizeH="0" baseline="0" noProof="0" dirty="0">
                <a:ln>
                  <a:noFill/>
                </a:ln>
                <a:solidFill>
                  <a:schemeClr val="tx2"/>
                </a:solidFill>
                <a:effectLst/>
                <a:uLnTx/>
                <a:uFillTx/>
                <a:ea typeface="+mn-ea"/>
                <a:cs typeface="Segoe UI"/>
              </a:rPr>
              <a:t>Define a strategy to extend Microsoft 365 Copilot. Solution may include agentic scenarios by industry, function, and persona, including the problem, solution, and key metrics for success and monetization strategy.</a:t>
            </a:r>
          </a:p>
        </p:txBody>
      </p:sp>
      <p:sp>
        <p:nvSpPr>
          <p:cNvPr id="16" name="TextBox 15">
            <a:extLst>
              <a:ext uri="{FF2B5EF4-FFF2-40B4-BE49-F238E27FC236}">
                <a16:creationId xmlns:a16="http://schemas.microsoft.com/office/drawing/2014/main" id="{5B31B39A-9CBA-773A-1BB2-D0901E39F15E}"/>
              </a:ext>
            </a:extLst>
          </p:cNvPr>
          <p:cNvSpPr txBox="1"/>
          <p:nvPr/>
        </p:nvSpPr>
        <p:spPr>
          <a:xfrm rot="16200000">
            <a:off x="5327430" y="-1891051"/>
            <a:ext cx="1655064" cy="12054749"/>
          </a:xfrm>
          <a:prstGeom prst="round2SameRect">
            <a:avLst>
              <a:gd name="adj1" fmla="val 3818"/>
              <a:gd name="adj2" fmla="val 0"/>
            </a:avLst>
          </a:prstGeom>
          <a:solidFill>
            <a:schemeClr val="accent3">
              <a:lumMod val="20000"/>
              <a:lumOff val="80000"/>
            </a:schemeClr>
          </a:solidFill>
        </p:spPr>
        <p:txBody>
          <a:bodyPr wrap="none" lIns="0" tIns="0" rIns="0" bIns="0" rtlCol="0" anchor="t">
            <a:noAutofit/>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3">
                    <a:lumMod val="75000"/>
                  </a:schemeClr>
                </a:solidFill>
                <a:effectLst/>
                <a:uLnTx/>
                <a:uFillTx/>
                <a:latin typeface="+mj-lt"/>
                <a:ea typeface="+mn-ea"/>
                <a:cs typeface="+mn-cs"/>
              </a:rPr>
              <a:t>Activation</a:t>
            </a:r>
            <a:endParaRPr kumimoji="0" lang="en-US" sz="1800" b="0" i="0" u="none" strike="noStrike" kern="1200" cap="none" spc="0" normalizeH="0" baseline="0" noProof="0" dirty="0">
              <a:ln>
                <a:noFill/>
              </a:ln>
              <a:solidFill>
                <a:schemeClr val="accent3">
                  <a:lumMod val="75000"/>
                </a:schemeClr>
              </a:solidFill>
              <a:effectLst/>
              <a:uLnTx/>
              <a:uFillTx/>
              <a:latin typeface="+mj-lt"/>
              <a:ea typeface="+mn-ea"/>
              <a:cs typeface="Segoe UI"/>
            </a:endParaRPr>
          </a:p>
        </p:txBody>
      </p:sp>
      <p:sp>
        <p:nvSpPr>
          <p:cNvPr id="5" name="TextBox 4">
            <a:extLst>
              <a:ext uri="{FF2B5EF4-FFF2-40B4-BE49-F238E27FC236}">
                <a16:creationId xmlns:a16="http://schemas.microsoft.com/office/drawing/2014/main" id="{642016C4-9211-51D3-C272-5FAA7EBB63E0}"/>
              </a:ext>
            </a:extLst>
          </p:cNvPr>
          <p:cNvSpPr txBox="1"/>
          <p:nvPr/>
        </p:nvSpPr>
        <p:spPr>
          <a:xfrm>
            <a:off x="4742024" y="3447673"/>
            <a:ext cx="1207008" cy="1238801"/>
          </a:xfrm>
          <a:prstGeom prst="rect">
            <a:avLst/>
          </a:prstGeom>
          <a:noFill/>
        </p:spPr>
        <p:txBody>
          <a:bodyPr wrap="square" lIns="0" tIns="0" rIns="0" bIns="0" anchor="t">
            <a:spAutoFit/>
          </a:bodyPr>
          <a:lstStyle>
            <a:defPPr>
              <a:defRPr lang="en-US"/>
            </a:defPPr>
            <a:lvl1pPr marR="0" lvl="0" indent="0" defTabSz="914367" fontAlgn="auto">
              <a:lnSpc>
                <a:spcPct val="100000"/>
              </a:lnSpc>
              <a:spcBef>
                <a:spcPts val="0"/>
              </a:spcBef>
              <a:spcAft>
                <a:spcPts val="0"/>
              </a:spcAft>
              <a:buClrTx/>
              <a:buSzTx/>
              <a:buFontTx/>
              <a:buNone/>
              <a:tabLst/>
              <a:defRPr>
                <a:solidFill>
                  <a:srgbClr val="0078D4"/>
                </a:solidFill>
                <a:latin typeface="Segoe UI  "/>
              </a:defRPr>
            </a:lvl1pPr>
          </a:lstStyle>
          <a:p>
            <a:pPr marR="0" lvl="0" indent="0" fontAlgn="t">
              <a:lnSpc>
                <a:spcPct val="100000"/>
              </a:lnSpc>
              <a:spcBef>
                <a:spcPts val="0"/>
              </a:spcBef>
              <a:spcAft>
                <a:spcPts val="300"/>
              </a:spcAft>
              <a:buClrTx/>
              <a:buSzTx/>
              <a:buFontTx/>
              <a:buNone/>
              <a:tabLst/>
              <a:defRPr/>
            </a:pPr>
            <a:r>
              <a:rPr lang="en-US" sz="1200" dirty="0">
                <a:solidFill>
                  <a:schemeClr val="tx2"/>
                </a:solidFill>
                <a:latin typeface="+mj-lt"/>
              </a:rPr>
              <a:t>Security and Compliance* </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normalizeH="0" baseline="0" noProof="0" dirty="0">
                <a:ln>
                  <a:noFill/>
                </a:ln>
                <a:solidFill>
                  <a:schemeClr val="tx2"/>
                </a:solidFill>
                <a:effectLst/>
                <a:uLnTx/>
                <a:uFillTx/>
                <a:latin typeface="+mn-lt"/>
                <a:ea typeface="+mn-ea"/>
                <a:cs typeface="+mn-cs"/>
              </a:rPr>
              <a:t>Address and remediate security and compliance concerns. Implement governance policies to manage the environment.</a:t>
            </a:r>
          </a:p>
        </p:txBody>
      </p:sp>
      <p:sp>
        <p:nvSpPr>
          <p:cNvPr id="4" name="TextBox 3">
            <a:extLst>
              <a:ext uri="{FF2B5EF4-FFF2-40B4-BE49-F238E27FC236}">
                <a16:creationId xmlns:a16="http://schemas.microsoft.com/office/drawing/2014/main" id="{1CA4D501-9F0D-0DFE-EA55-699A9188B082}"/>
              </a:ext>
            </a:extLst>
          </p:cNvPr>
          <p:cNvSpPr txBox="1"/>
          <p:nvPr/>
        </p:nvSpPr>
        <p:spPr>
          <a:xfrm>
            <a:off x="571500" y="3447673"/>
            <a:ext cx="2551112" cy="63863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R="0" lvl="0" indent="0" defTabSz="914367" fontAlgn="t">
              <a:lnSpc>
                <a:spcPct val="100000"/>
              </a:lnSpc>
              <a:spcBef>
                <a:spcPts val="0"/>
              </a:spcBef>
              <a:spcAft>
                <a:spcPts val="300"/>
              </a:spcAft>
              <a:buClrTx/>
              <a:buSzTx/>
              <a:buFontTx/>
              <a:buNone/>
              <a:tabLst/>
              <a:defRPr/>
            </a:pPr>
            <a:r>
              <a:rPr lang="en-US" sz="1200" dirty="0">
                <a:solidFill>
                  <a:schemeClr val="tx2"/>
                </a:solidFill>
                <a:latin typeface="+mj-lt"/>
              </a:rPr>
              <a:t>Business Transformation </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normalizeH="0" baseline="0" noProof="0" dirty="0">
                <a:ln>
                  <a:noFill/>
                </a:ln>
                <a:solidFill>
                  <a:schemeClr val="tx2"/>
                </a:solidFill>
                <a:effectLst/>
                <a:uLnTx/>
                <a:uFillTx/>
                <a:ea typeface="+mn-ea"/>
                <a:cs typeface="Segoe UI"/>
              </a:rPr>
              <a:t>Drive scenario discovery and solution design leading to transforming business processes, workforce, leadership, and culture transformation.</a:t>
            </a:r>
          </a:p>
        </p:txBody>
      </p:sp>
      <p:sp>
        <p:nvSpPr>
          <p:cNvPr id="21" name="TextBox 20">
            <a:extLst>
              <a:ext uri="{FF2B5EF4-FFF2-40B4-BE49-F238E27FC236}">
                <a16:creationId xmlns:a16="http://schemas.microsoft.com/office/drawing/2014/main" id="{9BCA50AD-E6CC-8CBD-5216-95F79620BDAD}"/>
              </a:ext>
            </a:extLst>
          </p:cNvPr>
          <p:cNvSpPr txBox="1"/>
          <p:nvPr/>
        </p:nvSpPr>
        <p:spPr>
          <a:xfrm>
            <a:off x="3415489" y="3447673"/>
            <a:ext cx="1207008" cy="91563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914367" fontAlgn="t">
              <a:spcAft>
                <a:spcPts val="300"/>
              </a:spcAft>
              <a:defRPr/>
            </a:pPr>
            <a:r>
              <a:rPr lang="en-US" sz="1200" dirty="0">
                <a:solidFill>
                  <a:schemeClr val="tx2"/>
                </a:solidFill>
                <a:latin typeface="+mj-lt"/>
              </a:rPr>
              <a:t>Deployment </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normalizeH="0" baseline="0" noProof="0" dirty="0">
                <a:ln>
                  <a:noFill/>
                </a:ln>
                <a:solidFill>
                  <a:schemeClr val="tx2"/>
                </a:solidFill>
                <a:effectLst/>
                <a:uLnTx/>
                <a:uFillTx/>
                <a:ea typeface="+mn-ea"/>
                <a:cs typeface="+mn-cs"/>
              </a:rPr>
              <a:t>Optimize and deploy Microsoft 365 Copilot and/or </a:t>
            </a:r>
            <a:r>
              <a:rPr lang="en-US" sz="900" dirty="0">
                <a:solidFill>
                  <a:schemeClr val="tx2"/>
                </a:solidFill>
              </a:rPr>
              <a:t>C</a:t>
            </a:r>
            <a:r>
              <a:rPr kumimoji="0" lang="en-US" sz="900" b="0" i="0" u="none" strike="noStrike" kern="1200" cap="none" normalizeH="0" baseline="0" noProof="0" dirty="0" err="1">
                <a:ln>
                  <a:noFill/>
                </a:ln>
                <a:solidFill>
                  <a:schemeClr val="tx2"/>
                </a:solidFill>
                <a:effectLst/>
                <a:uLnTx/>
                <a:uFillTx/>
                <a:ea typeface="+mn-ea"/>
                <a:cs typeface="+mn-cs"/>
              </a:rPr>
              <a:t>opilot</a:t>
            </a:r>
            <a:r>
              <a:rPr kumimoji="0" lang="en-US" sz="900" b="0" i="0" u="none" strike="noStrike" kern="1200" cap="none" normalizeH="0" baseline="0" noProof="0" dirty="0">
                <a:ln>
                  <a:noFill/>
                </a:ln>
                <a:solidFill>
                  <a:schemeClr val="tx2"/>
                </a:solidFill>
                <a:effectLst/>
                <a:uLnTx/>
                <a:uFillTx/>
                <a:ea typeface="+mn-ea"/>
                <a:cs typeface="+mn-cs"/>
              </a:rPr>
              <a:t> Chat and conduct ongoing service health reviews.</a:t>
            </a:r>
          </a:p>
        </p:txBody>
      </p:sp>
      <p:sp>
        <p:nvSpPr>
          <p:cNvPr id="22" name="TextBox 21">
            <a:extLst>
              <a:ext uri="{FF2B5EF4-FFF2-40B4-BE49-F238E27FC236}">
                <a16:creationId xmlns:a16="http://schemas.microsoft.com/office/drawing/2014/main" id="{2D41B616-0C44-1AF1-B98B-B1547D58B6D5}"/>
              </a:ext>
            </a:extLst>
          </p:cNvPr>
          <p:cNvSpPr txBox="1"/>
          <p:nvPr/>
        </p:nvSpPr>
        <p:spPr>
          <a:xfrm>
            <a:off x="9070975" y="3447673"/>
            <a:ext cx="1347489" cy="137730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R="0" lvl="0" indent="0" defTabSz="914367" fontAlgn="t">
              <a:lnSpc>
                <a:spcPct val="100000"/>
              </a:lnSpc>
              <a:spcBef>
                <a:spcPts val="0"/>
              </a:spcBef>
              <a:spcAft>
                <a:spcPts val="300"/>
              </a:spcAft>
              <a:buClrTx/>
              <a:buSzTx/>
              <a:buFontTx/>
              <a:buNone/>
              <a:tabLst/>
              <a:defRPr/>
            </a:pPr>
            <a:r>
              <a:rPr lang="en-US" sz="1200" dirty="0">
                <a:solidFill>
                  <a:schemeClr val="tx2"/>
                </a:solidFill>
                <a:latin typeface="+mj-lt"/>
              </a:rPr>
              <a:t>Agent Development* </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normalizeH="0" baseline="0" noProof="0" dirty="0">
                <a:ln>
                  <a:noFill/>
                </a:ln>
                <a:solidFill>
                  <a:schemeClr val="tx2"/>
                </a:solidFill>
                <a:effectLst/>
                <a:uLnTx/>
                <a:uFillTx/>
                <a:ea typeface="+mn-ea"/>
                <a:cs typeface="Segoe UI"/>
              </a:rPr>
              <a:t>Use tools like M365 Agent Builder, Copilot Studio, Power Platform, Azure AI Foundry to create and deploy agents supporting complex customer scenarios.</a:t>
            </a:r>
          </a:p>
        </p:txBody>
      </p:sp>
      <p:sp>
        <p:nvSpPr>
          <p:cNvPr id="23" name="TextBox 22">
            <a:extLst>
              <a:ext uri="{FF2B5EF4-FFF2-40B4-BE49-F238E27FC236}">
                <a16:creationId xmlns:a16="http://schemas.microsoft.com/office/drawing/2014/main" id="{43BCF0B9-FE4C-31ED-CBDE-EE0D7DA68F84}"/>
              </a:ext>
            </a:extLst>
          </p:cNvPr>
          <p:cNvSpPr txBox="1"/>
          <p:nvPr/>
        </p:nvSpPr>
        <p:spPr>
          <a:xfrm>
            <a:off x="6312930" y="3447673"/>
            <a:ext cx="2542032" cy="63863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914367" fontAlgn="t">
              <a:spcAft>
                <a:spcPts val="300"/>
              </a:spcAft>
              <a:defRPr/>
            </a:pPr>
            <a:r>
              <a:rPr lang="en-US" sz="1200" dirty="0">
                <a:solidFill>
                  <a:schemeClr val="tx2"/>
                </a:solidFill>
                <a:latin typeface="+mj-lt"/>
              </a:rPr>
              <a:t>People Transformation </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normalizeH="0" baseline="0" noProof="0" dirty="0">
                <a:ln>
                  <a:noFill/>
                </a:ln>
                <a:solidFill>
                  <a:schemeClr val="tx2"/>
                </a:solidFill>
                <a:effectLst/>
                <a:uLnTx/>
                <a:uFillTx/>
                <a:ea typeface="+mn-ea"/>
                <a:cs typeface="Segoe Sans Display"/>
              </a:rPr>
              <a:t>Lead </a:t>
            </a:r>
            <a:r>
              <a:rPr kumimoji="0" lang="en-US" sz="900" b="0" i="0" u="none" strike="noStrike" kern="1200" cap="none" normalizeH="0" baseline="0" noProof="0" dirty="0">
                <a:ln>
                  <a:noFill/>
                </a:ln>
                <a:solidFill>
                  <a:schemeClr val="tx2"/>
                </a:solidFill>
                <a:effectLst/>
                <a:uLnTx/>
                <a:uFillTx/>
                <a:ea typeface="+mn-ea"/>
                <a:cs typeface="Segoe UI"/>
              </a:rPr>
              <a:t>Copilot adoption by training users, building skills, knowledge, and mindsets necessary to transform customer’s work using AI.</a:t>
            </a:r>
          </a:p>
        </p:txBody>
      </p:sp>
      <p:sp>
        <p:nvSpPr>
          <p:cNvPr id="28" name="TextBox 27">
            <a:extLst>
              <a:ext uri="{FF2B5EF4-FFF2-40B4-BE49-F238E27FC236}">
                <a16:creationId xmlns:a16="http://schemas.microsoft.com/office/drawing/2014/main" id="{A867C1E8-0AF5-429C-723C-589717495C17}"/>
              </a:ext>
            </a:extLst>
          </p:cNvPr>
          <p:cNvSpPr txBox="1"/>
          <p:nvPr/>
        </p:nvSpPr>
        <p:spPr>
          <a:xfrm>
            <a:off x="10553647" y="3447673"/>
            <a:ext cx="1207008" cy="1377300"/>
          </a:xfrm>
          <a:prstGeom prst="rect">
            <a:avLst/>
          </a:prstGeom>
          <a:noFill/>
        </p:spPr>
        <p:txBody>
          <a:bodyPr wrap="square" lIns="0" tIns="0" rIns="0" bIns="0">
            <a:spAutoFit/>
          </a:bodyPr>
          <a:lstStyle/>
          <a:p>
            <a:pPr defTabSz="914367" fontAlgn="t">
              <a:spcAft>
                <a:spcPts val="300"/>
              </a:spcAft>
              <a:defRPr/>
            </a:pPr>
            <a:r>
              <a:rPr lang="en-US" sz="1200" dirty="0">
                <a:solidFill>
                  <a:schemeClr val="tx2"/>
                </a:solidFill>
                <a:latin typeface="+mj-lt"/>
              </a:rPr>
              <a:t>Plugins &amp; API Integration</a:t>
            </a:r>
          </a:p>
          <a:p>
            <a:pPr marL="0" marR="0" lvl="0" indent="0" algn="l" defTabSz="914367" rtl="0" eaLnBrk="1" fontAlgn="auto" latinLnBrk="0" hangingPunct="1">
              <a:lnSpc>
                <a:spcPct val="100000"/>
              </a:lnSpc>
              <a:spcBef>
                <a:spcPts val="0"/>
              </a:spcBef>
              <a:spcAft>
                <a:spcPts val="0"/>
              </a:spcAft>
              <a:buClrTx/>
              <a:buSzTx/>
              <a:buFont typeface="Arial"/>
              <a:buNone/>
              <a:tabLst/>
              <a:defRPr/>
            </a:pPr>
            <a:r>
              <a:rPr kumimoji="0" lang="en-US" sz="900" b="0" i="0" u="none" strike="noStrike" kern="1200" cap="none" normalizeH="0" baseline="0" noProof="0" dirty="0">
                <a:ln>
                  <a:noFill/>
                </a:ln>
                <a:solidFill>
                  <a:schemeClr val="tx2"/>
                </a:solidFill>
                <a:effectLst/>
                <a:uLnTx/>
                <a:uFillTx/>
                <a:ea typeface="+mn-ea"/>
                <a:cs typeface="Segoe UI"/>
              </a:rPr>
              <a:t>Extend Copilot capabilities using Microsoft Graph API, custom plug-ins, and Power Platform for deep system integrations.</a:t>
            </a:r>
          </a:p>
        </p:txBody>
      </p:sp>
      <p:sp>
        <p:nvSpPr>
          <p:cNvPr id="18" name="TextBox 17">
            <a:extLst>
              <a:ext uri="{FF2B5EF4-FFF2-40B4-BE49-F238E27FC236}">
                <a16:creationId xmlns:a16="http://schemas.microsoft.com/office/drawing/2014/main" id="{5E62F3C4-1ED0-3B3F-0355-CCAAD39FC0CF}"/>
              </a:ext>
            </a:extLst>
          </p:cNvPr>
          <p:cNvSpPr txBox="1"/>
          <p:nvPr/>
        </p:nvSpPr>
        <p:spPr>
          <a:xfrm rot="16200000">
            <a:off x="5634013" y="-367809"/>
            <a:ext cx="1051560" cy="12064414"/>
          </a:xfrm>
          <a:prstGeom prst="round2SameRect">
            <a:avLst>
              <a:gd name="adj1" fmla="val 7352"/>
              <a:gd name="adj2" fmla="val 0"/>
            </a:avLst>
          </a:prstGeom>
          <a:solidFill>
            <a:schemeClr val="accent2">
              <a:lumMod val="20000"/>
              <a:lumOff val="80000"/>
            </a:schemeClr>
          </a:solidFill>
        </p:spPr>
        <p:txBody>
          <a:bodyPr wrap="none" lIns="0" tIns="0" rIns="0" bIns="0" rtlCol="0" anchor="t">
            <a:noAutofit/>
          </a:bodyPr>
          <a:lstStyle/>
          <a:p>
            <a:pPr marL="0" marR="0" lvl="0" indent="0" algn="ctr" defTabSz="932563" rtl="0" eaLnBrk="1" fontAlgn="t"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2">
                    <a:lumMod val="75000"/>
                  </a:schemeClr>
                </a:solidFill>
                <a:effectLst/>
                <a:uLnTx/>
                <a:uFillTx/>
                <a:latin typeface="+mj-lt"/>
                <a:ea typeface="+mn-ea"/>
                <a:cs typeface="+mn-cs"/>
              </a:rPr>
              <a:t>Impact</a:t>
            </a:r>
            <a:endParaRPr kumimoji="0" lang="en-US" sz="1200" b="0" i="0" u="none" strike="noStrike" kern="1200" cap="none" spc="0" normalizeH="0" baseline="0" noProof="0" dirty="0">
              <a:ln>
                <a:noFill/>
              </a:ln>
              <a:solidFill>
                <a:schemeClr val="accent2">
                  <a:lumMod val="75000"/>
                </a:schemeClr>
              </a:solidFill>
              <a:effectLst/>
              <a:uLnTx/>
              <a:uFillTx/>
              <a:latin typeface="+mj-lt"/>
              <a:ea typeface="+mn-ea"/>
              <a:cs typeface="Segoe UI Semibold"/>
            </a:endParaRPr>
          </a:p>
        </p:txBody>
      </p:sp>
      <p:sp>
        <p:nvSpPr>
          <p:cNvPr id="14" name="TextBox 13">
            <a:extLst>
              <a:ext uri="{FF2B5EF4-FFF2-40B4-BE49-F238E27FC236}">
                <a16:creationId xmlns:a16="http://schemas.microsoft.com/office/drawing/2014/main" id="{9520026B-20E3-193C-2C7F-008DD4612248}"/>
              </a:ext>
            </a:extLst>
          </p:cNvPr>
          <p:cNvSpPr txBox="1"/>
          <p:nvPr/>
        </p:nvSpPr>
        <p:spPr>
          <a:xfrm>
            <a:off x="571499" y="5275829"/>
            <a:ext cx="2551113" cy="77713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914367" fontAlgn="t">
              <a:spcAft>
                <a:spcPts val="300"/>
              </a:spcAft>
              <a:defRPr/>
            </a:pPr>
            <a:r>
              <a:rPr lang="en-US" sz="1200" dirty="0">
                <a:solidFill>
                  <a:schemeClr val="tx2"/>
                </a:solidFill>
                <a:latin typeface="+mj-lt"/>
              </a:rPr>
              <a:t>Business Value*</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normalizeH="0" baseline="0" noProof="0" dirty="0">
                <a:ln>
                  <a:noFill/>
                </a:ln>
                <a:solidFill>
                  <a:schemeClr val="tx2"/>
                </a:solidFill>
                <a:effectLst/>
                <a:uLnTx/>
                <a:uFillTx/>
                <a:ea typeface="+mn-ea"/>
                <a:cs typeface="Segoe UI"/>
              </a:rPr>
              <a:t>Help customers realize the ROI of their Copilot investments and quantifying benefits, i.e., using Copilot Analytics to analyze ROI and drive changes in Adoption and Change Management strategy.</a:t>
            </a:r>
          </a:p>
        </p:txBody>
      </p:sp>
      <p:sp>
        <p:nvSpPr>
          <p:cNvPr id="27" name="TextBox 26">
            <a:extLst>
              <a:ext uri="{FF2B5EF4-FFF2-40B4-BE49-F238E27FC236}">
                <a16:creationId xmlns:a16="http://schemas.microsoft.com/office/drawing/2014/main" id="{EE90FD62-837C-8C16-EB55-151879D66BA4}"/>
              </a:ext>
            </a:extLst>
          </p:cNvPr>
          <p:cNvSpPr txBox="1">
            <a:spLocks/>
          </p:cNvSpPr>
          <p:nvPr/>
        </p:nvSpPr>
        <p:spPr>
          <a:xfrm>
            <a:off x="6242052" y="5275829"/>
            <a:ext cx="2535236" cy="526667"/>
          </a:xfrm>
          <a:prstGeom prst="rect">
            <a:avLst/>
          </a:prstGeom>
          <a:noFill/>
        </p:spPr>
        <p:txBody>
          <a:bodyPr wrap="square" lIns="0" tIns="0" rIns="0" bIns="0" anchor="ctr">
            <a:noAutofit/>
          </a:bodyPr>
          <a:lstStyle/>
          <a:p>
            <a:pPr marR="0" lvl="0" indent="0" defTabSz="914367" fontAlgn="t">
              <a:lnSpc>
                <a:spcPct val="100000"/>
              </a:lnSpc>
              <a:spcBef>
                <a:spcPts val="0"/>
              </a:spcBef>
              <a:spcAft>
                <a:spcPts val="300"/>
              </a:spcAft>
              <a:buClrTx/>
              <a:buSzTx/>
              <a:buFontTx/>
              <a:buNone/>
              <a:tabLst/>
              <a:defRPr/>
            </a:pPr>
            <a:r>
              <a:rPr lang="en-US" sz="1200" dirty="0">
                <a:solidFill>
                  <a:schemeClr val="tx2"/>
                </a:solidFill>
                <a:latin typeface="+mj-lt"/>
              </a:rPr>
              <a:t>Impact Measurement*​</a:t>
            </a:r>
          </a:p>
          <a:p>
            <a:pPr marL="0" marR="0" lvl="0" indent="0" defTabSz="932563" rtl="0" eaLnBrk="1" fontAlgn="t" latinLnBrk="0" hangingPunct="1">
              <a:lnSpc>
                <a:spcPct val="100000"/>
              </a:lnSpc>
              <a:spcBef>
                <a:spcPts val="100"/>
              </a:spcBef>
              <a:spcAft>
                <a:spcPts val="0"/>
              </a:spcAft>
              <a:buClrTx/>
              <a:buSzTx/>
              <a:buFontTx/>
              <a:buNone/>
              <a:tabLst/>
              <a:defRPr/>
            </a:pPr>
            <a:r>
              <a:rPr kumimoji="0" lang="en-US" sz="900" b="0" i="0" u="none" strike="noStrike" kern="1200" cap="none" normalizeH="0" baseline="0" noProof="0" dirty="0">
                <a:ln>
                  <a:noFill/>
                </a:ln>
                <a:solidFill>
                  <a:schemeClr val="tx2"/>
                </a:solidFill>
                <a:effectLst/>
                <a:uLnTx/>
                <a:uFillTx/>
                <a:ea typeface="+mn-ea"/>
                <a:cs typeface="Segoe UI"/>
              </a:rPr>
              <a:t>Use Copilot Analytics to track impact of AI and show value realization. </a:t>
            </a:r>
          </a:p>
        </p:txBody>
      </p:sp>
      <p:cxnSp>
        <p:nvCxnSpPr>
          <p:cNvPr id="10" name="Straight Connector 9">
            <a:extLst>
              <a:ext uri="{FF2B5EF4-FFF2-40B4-BE49-F238E27FC236}">
                <a16:creationId xmlns:a16="http://schemas.microsoft.com/office/drawing/2014/main" id="{CBEAC4F4-AD8A-CCD7-3FCE-863242177EB7}"/>
              </a:ext>
            </a:extLst>
          </p:cNvPr>
          <p:cNvCxnSpPr>
            <a:cxnSpLocks/>
          </p:cNvCxnSpPr>
          <p:nvPr/>
        </p:nvCxnSpPr>
        <p:spPr>
          <a:xfrm>
            <a:off x="8929812" y="1335575"/>
            <a:ext cx="0" cy="5040598"/>
          </a:xfrm>
          <a:prstGeom prst="line">
            <a:avLst/>
          </a:prstGeom>
          <a:solidFill>
            <a:schemeClr val="bg2"/>
          </a:solidFill>
          <a:ln w="25400" cap="rnd">
            <a:gradFill flip="none" rotWithShape="1">
              <a:gsLst>
                <a:gs pos="30000">
                  <a:srgbClr val="2DB4FF"/>
                </a:gs>
                <a:gs pos="3000">
                  <a:srgbClr val="0078D4"/>
                </a:gs>
                <a:gs pos="35000">
                  <a:srgbClr val="2DB4FF"/>
                </a:gs>
                <a:gs pos="52000">
                  <a:srgbClr val="818EFF"/>
                </a:gs>
                <a:gs pos="96552">
                  <a:srgbClr val="FEA874"/>
                </a:gs>
                <a:gs pos="70000">
                  <a:srgbClr val="D660FF"/>
                </a:gs>
              </a:gsLst>
              <a:lin ang="54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12" name="TextBox 11">
            <a:extLst>
              <a:ext uri="{FF2B5EF4-FFF2-40B4-BE49-F238E27FC236}">
                <a16:creationId xmlns:a16="http://schemas.microsoft.com/office/drawing/2014/main" id="{C3A91C30-1532-9AF8-BCE6-0A0594837721}"/>
              </a:ext>
            </a:extLst>
          </p:cNvPr>
          <p:cNvSpPr txBox="1"/>
          <p:nvPr/>
        </p:nvSpPr>
        <p:spPr>
          <a:xfrm>
            <a:off x="5345528" y="6487521"/>
            <a:ext cx="1928075"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2"/>
                </a:solidFill>
                <a:effectLst/>
                <a:uLnTx/>
                <a:uFillTx/>
                <a:ea typeface="+mn-ea"/>
                <a:cs typeface="+mn-cs"/>
              </a:rPr>
              <a:t>* Key capability focus in FY26</a:t>
            </a:r>
          </a:p>
        </p:txBody>
      </p:sp>
      <p:sp>
        <p:nvSpPr>
          <p:cNvPr id="33" name="Rectangle: Rounded Corners 32">
            <a:extLst>
              <a:ext uri="{FF2B5EF4-FFF2-40B4-BE49-F238E27FC236}">
                <a16:creationId xmlns:a16="http://schemas.microsoft.com/office/drawing/2014/main" id="{23293F9F-E3DB-13B7-4282-0DF6F34289BF}"/>
              </a:ext>
            </a:extLst>
          </p:cNvPr>
          <p:cNvSpPr/>
          <p:nvPr/>
        </p:nvSpPr>
        <p:spPr>
          <a:xfrm>
            <a:off x="571500" y="1304158"/>
            <a:ext cx="2542032" cy="476136"/>
          </a:xfrm>
          <a:prstGeom prst="roundRect">
            <a:avLst/>
          </a:prstGeom>
          <a:solidFill>
            <a:schemeClr val="accent4"/>
          </a:solidFill>
          <a:ln w="6350" cap="flat" cmpd="sng" algn="ctr">
            <a:noFill/>
            <a:prstDash val="solid"/>
            <a:miter lim="800000"/>
            <a:headEnd type="none" w="med" len="med"/>
            <a:tailEnd type="none" w="med" len="med"/>
          </a:ln>
          <a:effectLst>
            <a:outerShdw blurRad="214029" dist="43797" dir="2700000" algn="tl" rotWithShape="0">
              <a:prstClr val="black">
                <a:alpha val="1488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35943">
              <a:spcAft>
                <a:spcPts val="87"/>
              </a:spcAft>
              <a:defRPr/>
            </a:pPr>
            <a:r>
              <a:rPr kumimoji="0" lang="en-US" sz="1200" b="0" i="0" u="none" strike="noStrike" kern="1200" cap="none" spc="0" normalizeH="0" baseline="0" noProof="0">
                <a:ln>
                  <a:noFill/>
                </a:ln>
                <a:solidFill>
                  <a:srgbClr val="FFFFFF"/>
                </a:solidFill>
                <a:effectLst/>
                <a:uLnTx/>
                <a:uFillTx/>
                <a:latin typeface="+mj-lt"/>
                <a:ea typeface="+mj-ea"/>
                <a:cs typeface="+mj-cs"/>
              </a:rPr>
              <a:t>AI + Copilot Advisory</a:t>
            </a:r>
            <a:endParaRPr kumimoji="0" lang="en-US" sz="1200" b="0" i="0" u="none" strike="noStrike" kern="1200" cap="none" spc="0" normalizeH="0" baseline="0" noProof="0">
              <a:ln>
                <a:noFill/>
              </a:ln>
              <a:solidFill>
                <a:prstClr val="white"/>
              </a:solidFill>
              <a:effectLst/>
              <a:uLnTx/>
              <a:uFillTx/>
              <a:latin typeface="+mj-lt"/>
              <a:ea typeface="+mn-ea"/>
              <a:cs typeface="+mn-cs"/>
            </a:endParaRPr>
          </a:p>
        </p:txBody>
      </p:sp>
      <p:sp>
        <p:nvSpPr>
          <p:cNvPr id="34" name="Rectangle: Rounded Corners 33">
            <a:extLst>
              <a:ext uri="{FF2B5EF4-FFF2-40B4-BE49-F238E27FC236}">
                <a16:creationId xmlns:a16="http://schemas.microsoft.com/office/drawing/2014/main" id="{0E5D73B3-A4B9-439A-516C-E5115DBE2BEC}"/>
              </a:ext>
            </a:extLst>
          </p:cNvPr>
          <p:cNvSpPr/>
          <p:nvPr/>
        </p:nvSpPr>
        <p:spPr>
          <a:xfrm>
            <a:off x="3409506" y="1304158"/>
            <a:ext cx="2542032" cy="476136"/>
          </a:xfrm>
          <a:prstGeom prst="roundRect">
            <a:avLst>
              <a:gd name="adj" fmla="val 12229"/>
            </a:avLst>
          </a:prstGeom>
          <a:solidFill>
            <a:schemeClr val="accent4"/>
          </a:solidFill>
          <a:ln w="6350" cap="flat" cmpd="sng" algn="ctr">
            <a:noFill/>
            <a:prstDash val="solid"/>
            <a:miter lim="800000"/>
            <a:headEnd type="none" w="med" len="med"/>
            <a:tailEnd type="none" w="med" len="med"/>
          </a:ln>
          <a:effectLst>
            <a:outerShdw blurRad="214029" dist="43797" dir="2700000" algn="tl" rotWithShape="0">
              <a:prstClr val="black">
                <a:alpha val="1488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buNone/>
            </a:pPr>
            <a:r>
              <a:rPr kumimoji="0" lang="en-US" sz="1200" b="0" i="0" u="none" strike="noStrike" kern="1200" cap="none" spc="0" normalizeH="0" baseline="0" dirty="0">
                <a:ln>
                  <a:noFill/>
                </a:ln>
                <a:solidFill>
                  <a:srgbClr val="FFFFFF"/>
                </a:solidFill>
                <a:effectLst/>
                <a:uLnTx/>
                <a:uFillTx/>
                <a:latin typeface="+mj-lt"/>
                <a:ea typeface="+mj-ea"/>
                <a:cs typeface="+mj-cs"/>
              </a:rPr>
              <a:t>Copilot Deployment + </a:t>
            </a:r>
            <a:br>
              <a:rPr kumimoji="0" lang="en-US" sz="1200" b="0" i="0" u="none" strike="noStrike" kern="1200" cap="none" spc="0" normalizeH="0" baseline="0" dirty="0">
                <a:ln>
                  <a:noFill/>
                </a:ln>
                <a:solidFill>
                  <a:srgbClr val="FFFFFF"/>
                </a:solidFill>
                <a:effectLst/>
                <a:uLnTx/>
                <a:uFillTx/>
                <a:latin typeface="+mj-lt"/>
                <a:ea typeface="+mj-ea"/>
                <a:cs typeface="+mj-cs"/>
              </a:rPr>
            </a:br>
            <a:r>
              <a:rPr kumimoji="0" lang="en-US" sz="1200" b="0" i="0" u="none" strike="noStrike" kern="1200" cap="none" spc="0" normalizeH="0" baseline="0" dirty="0">
                <a:ln>
                  <a:noFill/>
                </a:ln>
                <a:solidFill>
                  <a:srgbClr val="FFFFFF"/>
                </a:solidFill>
                <a:effectLst/>
                <a:uLnTx/>
                <a:uFillTx/>
                <a:latin typeface="+mj-lt"/>
                <a:ea typeface="+mj-ea"/>
                <a:cs typeface="+mj-cs"/>
              </a:rPr>
              <a:t>Data Governance</a:t>
            </a:r>
          </a:p>
        </p:txBody>
      </p:sp>
      <p:sp>
        <p:nvSpPr>
          <p:cNvPr id="35" name="Rectangle: Rounded Corners 34">
            <a:extLst>
              <a:ext uri="{FF2B5EF4-FFF2-40B4-BE49-F238E27FC236}">
                <a16:creationId xmlns:a16="http://schemas.microsoft.com/office/drawing/2014/main" id="{5963223C-E362-3376-BB23-1B634E17D810}"/>
              </a:ext>
            </a:extLst>
          </p:cNvPr>
          <p:cNvSpPr/>
          <p:nvPr/>
        </p:nvSpPr>
        <p:spPr>
          <a:xfrm>
            <a:off x="9080906" y="1304158"/>
            <a:ext cx="2542032" cy="476136"/>
          </a:xfrm>
          <a:prstGeom prst="roundRect">
            <a:avLst>
              <a:gd name="adj" fmla="val 11341"/>
            </a:avLst>
          </a:prstGeom>
          <a:solidFill>
            <a:schemeClr val="accent4"/>
          </a:solidFill>
          <a:ln w="6350" cap="flat" cmpd="sng" algn="ctr">
            <a:noFill/>
            <a:prstDash val="solid"/>
            <a:miter lim="800000"/>
            <a:headEnd type="none" w="med" len="med"/>
            <a:tailEnd type="none" w="med" len="med"/>
          </a:ln>
          <a:effectLst>
            <a:outerShdw blurRad="214029" dist="43797" dir="2700000" algn="tl" rotWithShape="0">
              <a:prstClr val="black">
                <a:alpha val="1488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635943" rtl="0" eaLnBrk="1" fontAlgn="auto" latinLnBrk="0" hangingPunct="1">
              <a:lnSpc>
                <a:spcPct val="100000"/>
              </a:lnSpc>
              <a:spcBef>
                <a:spcPts val="0"/>
              </a:spcBef>
              <a:spcAft>
                <a:spcPts val="87"/>
              </a:spcAft>
              <a:buClrTx/>
              <a:buSzTx/>
              <a:buFontTx/>
              <a:buNone/>
              <a:tabLst/>
              <a:defRPr/>
            </a:pPr>
            <a:r>
              <a:rPr kumimoji="0" lang="en-US" sz="1200" b="0" i="0" u="none" strike="noStrike" kern="1200" cap="none" spc="0" normalizeH="0" baseline="0" noProof="0">
                <a:ln>
                  <a:noFill/>
                </a:ln>
                <a:solidFill>
                  <a:srgbClr val="FFFFFF"/>
                </a:solidFill>
                <a:effectLst/>
                <a:uLnTx/>
                <a:uFillTx/>
                <a:latin typeface="+mj-lt"/>
                <a:ea typeface="+mj-ea"/>
                <a:cs typeface="+mj-cs"/>
              </a:rPr>
              <a:t>Extensibility</a:t>
            </a:r>
            <a:endParaRPr kumimoji="0" lang="en-US" sz="1200" b="0" i="0" u="none" strike="noStrike" kern="1200" cap="none" spc="0" normalizeH="0" baseline="0" noProof="0">
              <a:ln>
                <a:noFill/>
              </a:ln>
              <a:solidFill>
                <a:prstClr val="white"/>
              </a:solidFill>
              <a:effectLst/>
              <a:uLnTx/>
              <a:uFillTx/>
              <a:latin typeface="+mj-lt"/>
              <a:ea typeface="+mn-ea"/>
              <a:cs typeface="+mn-cs"/>
            </a:endParaRPr>
          </a:p>
        </p:txBody>
      </p:sp>
      <p:sp>
        <p:nvSpPr>
          <p:cNvPr id="36" name="Rectangle: Rounded Corners 35">
            <a:extLst>
              <a:ext uri="{FF2B5EF4-FFF2-40B4-BE49-F238E27FC236}">
                <a16:creationId xmlns:a16="http://schemas.microsoft.com/office/drawing/2014/main" id="{E7F0BCEC-D3DA-02C3-1623-FA14BF020B16}"/>
              </a:ext>
            </a:extLst>
          </p:cNvPr>
          <p:cNvSpPr/>
          <p:nvPr/>
        </p:nvSpPr>
        <p:spPr>
          <a:xfrm>
            <a:off x="6235256" y="1304158"/>
            <a:ext cx="2542032" cy="476136"/>
          </a:xfrm>
          <a:prstGeom prst="roundRect">
            <a:avLst/>
          </a:prstGeom>
          <a:solidFill>
            <a:schemeClr val="accent4"/>
          </a:solidFill>
          <a:ln w="6350" cap="flat" cmpd="sng" algn="ctr">
            <a:noFill/>
            <a:prstDash val="solid"/>
            <a:miter lim="800000"/>
            <a:headEnd type="none" w="med" len="med"/>
            <a:tailEnd type="none" w="med" len="med"/>
          </a:ln>
          <a:effectLst>
            <a:outerShdw blurRad="214029" dist="43797" dir="2700000" algn="tl" rotWithShape="0">
              <a:prstClr val="black">
                <a:alpha val="1488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ts val="0"/>
              </a:spcAft>
              <a:buClrTx/>
              <a:buSzPct val="90000"/>
              <a:buFontTx/>
              <a:buNone/>
              <a:tabLst/>
              <a:defRPr/>
            </a:pPr>
            <a:r>
              <a:rPr kumimoji="0" lang="en-US" sz="1200" b="0" i="0" u="none" strike="noStrike" kern="1200" cap="none" spc="0" normalizeH="0" baseline="0" noProof="0" dirty="0">
                <a:ln>
                  <a:noFill/>
                </a:ln>
                <a:solidFill>
                  <a:srgbClr val="FFFFFF"/>
                </a:solidFill>
                <a:effectLst/>
                <a:uLnTx/>
                <a:uFillTx/>
                <a:latin typeface="+mj-lt"/>
                <a:ea typeface="+mj-ea"/>
                <a:cs typeface="+mj-cs"/>
              </a:rPr>
              <a:t> Adoption + Change Management</a:t>
            </a:r>
          </a:p>
        </p:txBody>
      </p:sp>
      <p:cxnSp>
        <p:nvCxnSpPr>
          <p:cNvPr id="41" name="Straight Connector 40">
            <a:extLst>
              <a:ext uri="{FF2B5EF4-FFF2-40B4-BE49-F238E27FC236}">
                <a16:creationId xmlns:a16="http://schemas.microsoft.com/office/drawing/2014/main" id="{A2A30BB3-5F46-2C0F-6B23-44247365B59D}"/>
              </a:ext>
            </a:extLst>
          </p:cNvPr>
          <p:cNvCxnSpPr>
            <a:cxnSpLocks/>
          </p:cNvCxnSpPr>
          <p:nvPr/>
        </p:nvCxnSpPr>
        <p:spPr>
          <a:xfrm>
            <a:off x="6096000" y="1335575"/>
            <a:ext cx="0" cy="5040598"/>
          </a:xfrm>
          <a:prstGeom prst="line">
            <a:avLst/>
          </a:prstGeom>
          <a:solidFill>
            <a:schemeClr val="bg2"/>
          </a:solidFill>
          <a:ln w="25400" cap="rnd">
            <a:gradFill flip="none" rotWithShape="1">
              <a:gsLst>
                <a:gs pos="30000">
                  <a:srgbClr val="2DB4FF"/>
                </a:gs>
                <a:gs pos="3000">
                  <a:srgbClr val="0078D4"/>
                </a:gs>
                <a:gs pos="35000">
                  <a:srgbClr val="2DB4FF"/>
                </a:gs>
                <a:gs pos="52000">
                  <a:srgbClr val="818EFF"/>
                </a:gs>
                <a:gs pos="96552">
                  <a:srgbClr val="FEA874"/>
                </a:gs>
                <a:gs pos="70000">
                  <a:srgbClr val="D660FF"/>
                </a:gs>
              </a:gsLst>
              <a:lin ang="54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42" name="Straight Connector 41">
            <a:extLst>
              <a:ext uri="{FF2B5EF4-FFF2-40B4-BE49-F238E27FC236}">
                <a16:creationId xmlns:a16="http://schemas.microsoft.com/office/drawing/2014/main" id="{E37A2049-BBF5-83B6-ECB1-B63C3CA6B5AF}"/>
              </a:ext>
            </a:extLst>
          </p:cNvPr>
          <p:cNvCxnSpPr>
            <a:cxnSpLocks/>
          </p:cNvCxnSpPr>
          <p:nvPr/>
        </p:nvCxnSpPr>
        <p:spPr>
          <a:xfrm>
            <a:off x="3262423" y="1335575"/>
            <a:ext cx="0" cy="5040598"/>
          </a:xfrm>
          <a:prstGeom prst="line">
            <a:avLst/>
          </a:prstGeom>
          <a:solidFill>
            <a:schemeClr val="bg2"/>
          </a:solidFill>
          <a:ln w="25400" cap="rnd">
            <a:gradFill flip="none" rotWithShape="1">
              <a:gsLst>
                <a:gs pos="30000">
                  <a:srgbClr val="2DB4FF"/>
                </a:gs>
                <a:gs pos="3000">
                  <a:srgbClr val="0078D4"/>
                </a:gs>
                <a:gs pos="35000">
                  <a:srgbClr val="2DB4FF"/>
                </a:gs>
                <a:gs pos="52000">
                  <a:srgbClr val="818EFF"/>
                </a:gs>
                <a:gs pos="96552">
                  <a:srgbClr val="FEA874"/>
                </a:gs>
                <a:gs pos="70000">
                  <a:srgbClr val="D660FF"/>
                </a:gs>
              </a:gsLst>
              <a:lin ang="54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43" name="Footer Placeholder 42">
            <a:extLst>
              <a:ext uri="{FF2B5EF4-FFF2-40B4-BE49-F238E27FC236}">
                <a16:creationId xmlns:a16="http://schemas.microsoft.com/office/drawing/2014/main" id="{D4E0D80A-C6C4-A63F-0D67-BFDE87FEE402}"/>
              </a:ext>
            </a:extLst>
          </p:cNvPr>
          <p:cNvSpPr>
            <a:spLocks noGrp="1"/>
          </p:cNvSpPr>
          <p:nvPr>
            <p:ph type="ftr" sz="quarter" idx="12"/>
          </p:nvPr>
        </p:nvSpPr>
        <p:spPr/>
        <p:txBody>
          <a:bodyPr/>
          <a:lstStyle/>
          <a:p>
            <a:r>
              <a:rPr lang="en-US"/>
              <a:t>Building Customer-Centric Services offers</a:t>
            </a:r>
          </a:p>
        </p:txBody>
      </p:sp>
      <p:sp>
        <p:nvSpPr>
          <p:cNvPr id="44" name="Slide Number Placeholder 43">
            <a:extLst>
              <a:ext uri="{FF2B5EF4-FFF2-40B4-BE49-F238E27FC236}">
                <a16:creationId xmlns:a16="http://schemas.microsoft.com/office/drawing/2014/main" id="{BE3ACBFB-8DF1-BA56-2CAA-2704B52D5B48}"/>
              </a:ext>
            </a:extLst>
          </p:cNvPr>
          <p:cNvSpPr>
            <a:spLocks noGrp="1"/>
          </p:cNvSpPr>
          <p:nvPr>
            <p:ph type="sldNum" sz="quarter" idx="13"/>
          </p:nvPr>
        </p:nvSpPr>
        <p:spPr/>
        <p:txBody>
          <a:bodyPr/>
          <a:lstStyle/>
          <a:p>
            <a:fld id="{5763EE98-C176-4152-A50F-E68840BAFA00}" type="slidenum">
              <a:rPr lang="en-US" smtClean="0"/>
              <a:pPr/>
              <a:t>12</a:t>
            </a:fld>
            <a:endParaRPr lang="en-US"/>
          </a:p>
        </p:txBody>
      </p:sp>
    </p:spTree>
    <p:extLst>
      <p:ext uri="{BB962C8B-B14F-4D97-AF65-F5344CB8AC3E}">
        <p14:creationId xmlns:p14="http://schemas.microsoft.com/office/powerpoint/2010/main" val="184513856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44000"/>
            <a:lum/>
          </a:blip>
          <a:srcRect/>
          <a:stretch>
            <a:fillRect t="-39000" b="-39000"/>
          </a:stretch>
        </a:blipFill>
        <a:effectLst/>
      </p:bgPr>
    </p:bg>
    <p:spTree>
      <p:nvGrpSpPr>
        <p:cNvPr id="1" name="">
          <a:extLst>
            <a:ext uri="{FF2B5EF4-FFF2-40B4-BE49-F238E27FC236}">
              <a16:creationId xmlns:a16="http://schemas.microsoft.com/office/drawing/2014/main" id="{AA0D9FFA-1750-B634-3662-44EEE2F66B0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BD9AA5E-CCE4-DC7D-2F62-89F276E94886}"/>
              </a:ext>
              <a:ext uri="{C183D7F6-B498-43B3-948B-1728B52AA6E4}">
                <adec:decorative xmlns:adec="http://schemas.microsoft.com/office/drawing/2017/decorative" val="1"/>
              </a:ext>
            </a:extLst>
          </p:cNvPr>
          <p:cNvSpPr/>
          <p:nvPr/>
        </p:nvSpPr>
        <p:spPr bwMode="auto">
          <a:xfrm>
            <a:off x="0" y="6269038"/>
            <a:ext cx="12191999" cy="585000"/>
          </a:xfrm>
          <a:prstGeom prst="rect">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1200">
              <a:solidFill>
                <a:schemeClr val="bg1"/>
              </a:solidFill>
              <a:latin typeface="+mj-lt"/>
              <a:cs typeface="Segoe UI" pitchFamily="34" charset="0"/>
            </a:endParaRPr>
          </a:p>
        </p:txBody>
      </p:sp>
      <p:sp>
        <p:nvSpPr>
          <p:cNvPr id="59" name="!!Rectangle: Rounded Corners 5">
            <a:extLst>
              <a:ext uri="{FF2B5EF4-FFF2-40B4-BE49-F238E27FC236}">
                <a16:creationId xmlns:a16="http://schemas.microsoft.com/office/drawing/2014/main" id="{36F092FD-71DD-46A2-4F78-46481E142B3C}"/>
              </a:ext>
              <a:ext uri="{C183D7F6-B498-43B3-948B-1728B52AA6E4}">
                <adec:decorative xmlns:adec="http://schemas.microsoft.com/office/drawing/2017/decorative" val="1"/>
              </a:ext>
            </a:extLst>
          </p:cNvPr>
          <p:cNvSpPr/>
          <p:nvPr/>
        </p:nvSpPr>
        <p:spPr>
          <a:xfrm>
            <a:off x="495299" y="4617853"/>
            <a:ext cx="11391901" cy="1197847"/>
          </a:xfrm>
          <a:prstGeom prst="roundRect">
            <a:avLst>
              <a:gd name="adj" fmla="val 11151"/>
            </a:avLst>
          </a:prstGeom>
          <a:noFill/>
          <a:ln w="12700">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932472" fontAlgn="base">
              <a:spcBef>
                <a:spcPct val="0"/>
              </a:spcBef>
              <a:spcAft>
                <a:spcPct val="0"/>
              </a:spcAft>
            </a:pPr>
            <a:endParaRPr lang="en-US" sz="2000">
              <a:gradFill>
                <a:gsLst>
                  <a:gs pos="70000">
                    <a:srgbClr val="D660FF"/>
                  </a:gs>
                  <a:gs pos="52000">
                    <a:srgbClr val="818EFF"/>
                  </a:gs>
                  <a:gs pos="35000">
                    <a:srgbClr val="2DB4FF"/>
                  </a:gs>
                  <a:gs pos="30000">
                    <a:srgbClr val="2DB4FF"/>
                  </a:gs>
                  <a:gs pos="3000">
                    <a:srgbClr val="0078D4"/>
                  </a:gs>
                  <a:gs pos="97000">
                    <a:srgbClr val="FEA874"/>
                  </a:gs>
                </a:gsLst>
                <a:lin ang="3000000" scaled="0"/>
              </a:gradFill>
              <a:cs typeface="Segoe UI" pitchFamily="34" charset="0"/>
            </a:endParaRPr>
          </a:p>
        </p:txBody>
      </p:sp>
      <p:sp>
        <p:nvSpPr>
          <p:cNvPr id="7" name="!!Rectangle: Rounded Corners 5">
            <a:extLst>
              <a:ext uri="{FF2B5EF4-FFF2-40B4-BE49-F238E27FC236}">
                <a16:creationId xmlns:a16="http://schemas.microsoft.com/office/drawing/2014/main" id="{E0FB3BCF-2DA5-C0BB-85F0-3C362AF0F474}"/>
              </a:ext>
              <a:ext uri="{C183D7F6-B498-43B3-948B-1728B52AA6E4}">
                <adec:decorative xmlns:adec="http://schemas.microsoft.com/office/drawing/2017/decorative" val="1"/>
              </a:ext>
            </a:extLst>
          </p:cNvPr>
          <p:cNvSpPr/>
          <p:nvPr/>
        </p:nvSpPr>
        <p:spPr>
          <a:xfrm>
            <a:off x="495299" y="1826164"/>
            <a:ext cx="11391901" cy="2320178"/>
          </a:xfrm>
          <a:prstGeom prst="roundRect">
            <a:avLst>
              <a:gd name="adj" fmla="val 5850"/>
            </a:avLst>
          </a:prstGeom>
          <a:noFill/>
          <a:ln w="12700">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932472" fontAlgn="base">
              <a:spcBef>
                <a:spcPct val="0"/>
              </a:spcBef>
              <a:spcAft>
                <a:spcPct val="0"/>
              </a:spcAft>
            </a:pPr>
            <a:endParaRPr lang="en-US" sz="2000">
              <a:gradFill>
                <a:gsLst>
                  <a:gs pos="70000">
                    <a:srgbClr val="D660FF"/>
                  </a:gs>
                  <a:gs pos="52000">
                    <a:srgbClr val="818EFF"/>
                  </a:gs>
                  <a:gs pos="35000">
                    <a:srgbClr val="2DB4FF"/>
                  </a:gs>
                  <a:gs pos="30000">
                    <a:srgbClr val="2DB4FF"/>
                  </a:gs>
                  <a:gs pos="3000">
                    <a:srgbClr val="0078D4"/>
                  </a:gs>
                  <a:gs pos="97000">
                    <a:srgbClr val="FEA874"/>
                  </a:gs>
                </a:gsLst>
                <a:lin ang="3000000" scaled="0"/>
              </a:gradFill>
              <a:cs typeface="Segoe UI" pitchFamily="34" charset="0"/>
            </a:endParaRPr>
          </a:p>
        </p:txBody>
      </p:sp>
      <p:sp>
        <p:nvSpPr>
          <p:cNvPr id="2" name="Title 1">
            <a:extLst>
              <a:ext uri="{FF2B5EF4-FFF2-40B4-BE49-F238E27FC236}">
                <a16:creationId xmlns:a16="http://schemas.microsoft.com/office/drawing/2014/main" id="{E6D75C06-AEB9-870E-0E90-873F51E37826}"/>
              </a:ext>
            </a:extLst>
          </p:cNvPr>
          <p:cNvSpPr>
            <a:spLocks noGrp="1"/>
          </p:cNvSpPr>
          <p:nvPr>
            <p:ph type="title"/>
          </p:nvPr>
        </p:nvSpPr>
        <p:spPr>
          <a:xfrm>
            <a:off x="577850" y="387350"/>
            <a:ext cx="11195050" cy="1172629"/>
          </a:xfrm>
        </p:spPr>
        <p:txBody>
          <a:bodyPr/>
          <a:lstStyle/>
          <a:p>
            <a:r>
              <a:rPr lang="en-US" sz="3600" dirty="0"/>
              <a:t>Partner services practice activation</a:t>
            </a:r>
          </a:p>
        </p:txBody>
      </p:sp>
      <p:sp>
        <p:nvSpPr>
          <p:cNvPr id="36" name="TextBox 35">
            <a:extLst>
              <a:ext uri="{FF2B5EF4-FFF2-40B4-BE49-F238E27FC236}">
                <a16:creationId xmlns:a16="http://schemas.microsoft.com/office/drawing/2014/main" id="{6F63399D-F6D4-EA0D-B338-0A658EE8571E}"/>
              </a:ext>
            </a:extLst>
          </p:cNvPr>
          <p:cNvSpPr txBox="1">
            <a:spLocks/>
          </p:cNvSpPr>
          <p:nvPr/>
        </p:nvSpPr>
        <p:spPr>
          <a:xfrm>
            <a:off x="495300" y="1832760"/>
            <a:ext cx="1683129" cy="2314287"/>
          </a:xfrm>
          <a:prstGeom prst="rect">
            <a:avLst/>
          </a:prstGeom>
          <a:noFill/>
        </p:spPr>
        <p:txBody>
          <a:bodyPr wrap="square" lIns="292608" tIns="0" rIns="0" bIns="0" anchor="ctr">
            <a:noAutofit/>
          </a:bodyPr>
          <a:lstStyle/>
          <a:p>
            <a:pPr marL="0" marR="0" lvl="1" indent="0" algn="l" defTabSz="951304" rtl="0" eaLnBrk="1" fontAlgn="auto" latinLnBrk="0" hangingPunct="1">
              <a:lnSpc>
                <a:spcPct val="80000"/>
              </a:lnSpc>
              <a:spcBef>
                <a:spcPts val="0"/>
              </a:spcBef>
              <a:spcAft>
                <a:spcPts val="300"/>
              </a:spcAft>
              <a:buClrTx/>
              <a:buSzTx/>
              <a:buFontTx/>
              <a:buNone/>
              <a:tabLst/>
              <a:defRPr/>
            </a:pPr>
            <a:r>
              <a:rPr lang="en-US" sz="2400" spc="-50" dirty="0">
                <a:ln w="3175">
                  <a:noFill/>
                </a:ln>
                <a:gradFill>
                  <a:gsLst>
                    <a:gs pos="70000">
                      <a:srgbClr val="D660FF"/>
                    </a:gs>
                    <a:gs pos="52000">
                      <a:srgbClr val="818EFF"/>
                    </a:gs>
                    <a:gs pos="35000">
                      <a:srgbClr val="2DB4FF"/>
                    </a:gs>
                    <a:gs pos="30000">
                      <a:srgbClr val="2DB4FF"/>
                    </a:gs>
                    <a:gs pos="3000">
                      <a:srgbClr val="0078D4"/>
                    </a:gs>
                    <a:gs pos="97000">
                      <a:srgbClr val="FEA874"/>
                    </a:gs>
                  </a:gsLst>
                  <a:lin ang="3000000" scaled="0"/>
                </a:gradFill>
                <a:latin typeface="+mj-lt"/>
                <a:cs typeface="Segoe UI" pitchFamily="34" charset="0"/>
              </a:rPr>
              <a:t>M365 Copilot</a:t>
            </a:r>
          </a:p>
          <a:p>
            <a:pPr marL="0" marR="0" lvl="1" indent="0" algn="l" defTabSz="623438" rtl="0" eaLnBrk="1" fontAlgn="auto" latinLnBrk="0" hangingPunct="1">
              <a:lnSpc>
                <a:spcPct val="100000"/>
              </a:lnSpc>
              <a:spcBef>
                <a:spcPts val="0"/>
              </a:spcBef>
              <a:spcAft>
                <a:spcPts val="409"/>
              </a:spcAft>
              <a:buClrTx/>
              <a:buSzTx/>
              <a:buFontTx/>
              <a:buNone/>
              <a:tabLst/>
              <a:defRPr/>
            </a:pPr>
            <a:r>
              <a:rPr kumimoji="0" lang="en-US" sz="1200" b="0" i="0" u="none" strike="noStrike" kern="1200" cap="none" spc="0" normalizeH="0" baseline="0" noProof="0" dirty="0">
                <a:ln>
                  <a:noFill/>
                </a:ln>
                <a:solidFill>
                  <a:prstClr val="black"/>
                </a:solidFill>
                <a:effectLst/>
                <a:uLnTx/>
                <a:uFillTx/>
                <a:ea typeface="+mn-ea"/>
                <a:cs typeface="+mn-cs"/>
              </a:rPr>
              <a:t>[Users ready for M365 Copilot]</a:t>
            </a:r>
          </a:p>
        </p:txBody>
      </p:sp>
      <p:sp>
        <p:nvSpPr>
          <p:cNvPr id="37" name="TextBox 36">
            <a:extLst>
              <a:ext uri="{FF2B5EF4-FFF2-40B4-BE49-F238E27FC236}">
                <a16:creationId xmlns:a16="http://schemas.microsoft.com/office/drawing/2014/main" id="{17A79ED1-FB5D-BE13-3F7E-103D60EF3C9A}"/>
              </a:ext>
            </a:extLst>
          </p:cNvPr>
          <p:cNvSpPr txBox="1">
            <a:spLocks/>
          </p:cNvSpPr>
          <p:nvPr/>
        </p:nvSpPr>
        <p:spPr>
          <a:xfrm>
            <a:off x="495301" y="4617854"/>
            <a:ext cx="1679948" cy="1197846"/>
          </a:xfrm>
          <a:prstGeom prst="rect">
            <a:avLst/>
          </a:prstGeom>
          <a:noFill/>
        </p:spPr>
        <p:txBody>
          <a:bodyPr wrap="square" lIns="292608" tIns="0" rIns="0" bIns="0" anchor="ctr">
            <a:noAutofit/>
          </a:bodyPr>
          <a:lstStyle/>
          <a:p>
            <a:pPr marL="0" lvl="1" defTabSz="951304">
              <a:lnSpc>
                <a:spcPct val="80000"/>
              </a:lnSpc>
              <a:spcAft>
                <a:spcPts val="300"/>
              </a:spcAft>
              <a:defRPr/>
            </a:pPr>
            <a:r>
              <a:rPr lang="en-US" sz="2400" spc="-50" dirty="0">
                <a:ln w="3175">
                  <a:noFill/>
                </a:ln>
                <a:gradFill>
                  <a:gsLst>
                    <a:gs pos="70000">
                      <a:srgbClr val="D660FF"/>
                    </a:gs>
                    <a:gs pos="52000">
                      <a:srgbClr val="818EFF"/>
                    </a:gs>
                    <a:gs pos="35000">
                      <a:srgbClr val="2DB4FF"/>
                    </a:gs>
                    <a:gs pos="30000">
                      <a:srgbClr val="2DB4FF"/>
                    </a:gs>
                    <a:gs pos="3000">
                      <a:srgbClr val="0078D4"/>
                    </a:gs>
                    <a:gs pos="97000">
                      <a:srgbClr val="FEA874"/>
                    </a:gs>
                  </a:gsLst>
                  <a:lin ang="3000000" scaled="0"/>
                </a:gradFill>
                <a:latin typeface="+mj-lt"/>
                <a:cs typeface="Segoe UI" pitchFamily="34" charset="0"/>
              </a:rPr>
              <a:t>Copilot Chat</a:t>
            </a:r>
          </a:p>
          <a:p>
            <a:pPr marL="0" marR="0" lvl="1" indent="0" algn="l" defTabSz="623438" rtl="0" eaLnBrk="1" fontAlgn="auto" latinLnBrk="0" hangingPunct="1">
              <a:lnSpc>
                <a:spcPct val="100000"/>
              </a:lnSpc>
              <a:spcBef>
                <a:spcPts val="0"/>
              </a:spcBef>
              <a:spcAft>
                <a:spcPts val="409"/>
              </a:spcAft>
              <a:buClrTx/>
              <a:buSzTx/>
              <a:buFontTx/>
              <a:buNone/>
              <a:tabLst/>
              <a:defRPr/>
            </a:pPr>
            <a:r>
              <a:rPr kumimoji="0" lang="en-US" sz="1200" b="0" i="0" u="none" strike="noStrike" kern="1200" cap="none" spc="0" normalizeH="0" baseline="0" noProof="0" dirty="0">
                <a:ln>
                  <a:noFill/>
                </a:ln>
                <a:solidFill>
                  <a:prstClr val="black"/>
                </a:solidFill>
                <a:effectLst/>
                <a:uLnTx/>
                <a:uFillTx/>
                <a:ea typeface="+mn-ea"/>
                <a:cs typeface="+mn-cs"/>
              </a:rPr>
              <a:t>[Everyone else]</a:t>
            </a:r>
          </a:p>
        </p:txBody>
      </p:sp>
      <p:sp>
        <p:nvSpPr>
          <p:cNvPr id="46" name="TextBox 45">
            <a:extLst>
              <a:ext uri="{FF2B5EF4-FFF2-40B4-BE49-F238E27FC236}">
                <a16:creationId xmlns:a16="http://schemas.microsoft.com/office/drawing/2014/main" id="{96711D94-2AFF-4F34-4A7F-12FF43440522}"/>
              </a:ext>
            </a:extLst>
          </p:cNvPr>
          <p:cNvSpPr txBox="1">
            <a:spLocks/>
          </p:cNvSpPr>
          <p:nvPr/>
        </p:nvSpPr>
        <p:spPr>
          <a:xfrm>
            <a:off x="7983380" y="4617852"/>
            <a:ext cx="1783080" cy="1109094"/>
          </a:xfrm>
          <a:prstGeom prst="rect">
            <a:avLst/>
          </a:prstGeom>
          <a:noFill/>
        </p:spPr>
        <p:txBody>
          <a:bodyPr wrap="square" lIns="0" tIns="0" rIns="0" bIns="0" anchor="ctr">
            <a:noAutofit/>
          </a:bodyPr>
          <a:lstStyle/>
          <a:p>
            <a:pPr marL="0" marR="0" lvl="1" indent="0" algn="ctr" defTabSz="623438" rtl="0" eaLnBrk="1" fontAlgn="auto" latinLnBrk="0" hangingPunct="1">
              <a:lnSpc>
                <a:spcPct val="100000"/>
              </a:lnSpc>
              <a:spcBef>
                <a:spcPts val="0"/>
              </a:spcBef>
              <a:spcAft>
                <a:spcPts val="409"/>
              </a:spcAft>
              <a:buClrTx/>
              <a:buSzTx/>
              <a:buFontTx/>
              <a:buNone/>
              <a:tabLst/>
              <a:defRPr/>
            </a:pPr>
            <a:endParaRPr kumimoji="0" lang="en-US" sz="950" b="0" i="0" u="none" strike="noStrike" kern="1200" cap="none" spc="0" normalizeH="0" baseline="0" noProof="0">
              <a:ln>
                <a:noFill/>
              </a:ln>
              <a:solidFill>
                <a:prstClr val="black"/>
              </a:solidFill>
              <a:effectLst/>
              <a:uLnTx/>
              <a:uFillTx/>
              <a:latin typeface="Segoe Sans Text"/>
              <a:ea typeface="+mn-ea"/>
              <a:cs typeface="+mn-cs"/>
            </a:endParaRPr>
          </a:p>
        </p:txBody>
      </p:sp>
      <p:sp>
        <p:nvSpPr>
          <p:cNvPr id="6" name="Rectangle 5">
            <a:extLst>
              <a:ext uri="{FF2B5EF4-FFF2-40B4-BE49-F238E27FC236}">
                <a16:creationId xmlns:a16="http://schemas.microsoft.com/office/drawing/2014/main" id="{5FF8D41B-F34C-CAE6-A29D-279B6DFD45BD}"/>
              </a:ext>
            </a:extLst>
          </p:cNvPr>
          <p:cNvSpPr/>
          <p:nvPr/>
        </p:nvSpPr>
        <p:spPr bwMode="auto">
          <a:xfrm>
            <a:off x="786879" y="6284526"/>
            <a:ext cx="3568700" cy="566928"/>
          </a:xfrm>
          <a:prstGeom prst="rect">
            <a:avLst/>
          </a:prstGeom>
          <a:noFill/>
          <a:ln w="19050">
            <a:no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mj-lt"/>
                <a:ea typeface="+mn-ea"/>
                <a:cs typeface="Segoe Sans Display Semibold" pitchFamily="2" charset="0"/>
              </a:rPr>
              <a:t>Pre-sales</a:t>
            </a:r>
          </a:p>
        </p:txBody>
      </p:sp>
      <p:sp>
        <p:nvSpPr>
          <p:cNvPr id="12" name="Rectangle 11">
            <a:extLst>
              <a:ext uri="{FF2B5EF4-FFF2-40B4-BE49-F238E27FC236}">
                <a16:creationId xmlns:a16="http://schemas.microsoft.com/office/drawing/2014/main" id="{4E053BB6-E63F-671E-37BB-95B73A87F9A4}"/>
              </a:ext>
            </a:extLst>
          </p:cNvPr>
          <p:cNvSpPr/>
          <p:nvPr/>
        </p:nvSpPr>
        <p:spPr bwMode="auto">
          <a:xfrm>
            <a:off x="4346919" y="6284526"/>
            <a:ext cx="3481387" cy="566928"/>
          </a:xfrm>
          <a:prstGeom prst="rect">
            <a:avLst/>
          </a:prstGeom>
          <a:noFill/>
          <a:ln w="19050">
            <a:no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mj-lt"/>
                <a:ea typeface="+mn-ea"/>
                <a:cs typeface="Segoe Sans Display Semibold" pitchFamily="2" charset="0"/>
              </a:rPr>
              <a:t>Sales</a:t>
            </a:r>
          </a:p>
        </p:txBody>
      </p:sp>
      <p:sp>
        <p:nvSpPr>
          <p:cNvPr id="15" name="Rectangle 14">
            <a:extLst>
              <a:ext uri="{FF2B5EF4-FFF2-40B4-BE49-F238E27FC236}">
                <a16:creationId xmlns:a16="http://schemas.microsoft.com/office/drawing/2014/main" id="{DCEE795F-190F-62C2-63CD-FE65508970C2}"/>
              </a:ext>
            </a:extLst>
          </p:cNvPr>
          <p:cNvSpPr/>
          <p:nvPr/>
        </p:nvSpPr>
        <p:spPr bwMode="auto">
          <a:xfrm>
            <a:off x="7828306" y="6284526"/>
            <a:ext cx="3568700" cy="566928"/>
          </a:xfrm>
          <a:prstGeom prst="rect">
            <a:avLst/>
          </a:prstGeom>
          <a:noFill/>
          <a:ln w="19050">
            <a:no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mj-lt"/>
                <a:ea typeface="+mn-ea"/>
                <a:cs typeface="Segoe Sans Display Semibold" pitchFamily="2" charset="0"/>
              </a:rPr>
              <a:t>Post-sales</a:t>
            </a:r>
          </a:p>
        </p:txBody>
      </p:sp>
      <p:sp>
        <p:nvSpPr>
          <p:cNvPr id="5" name="TextBox 4">
            <a:extLst>
              <a:ext uri="{FF2B5EF4-FFF2-40B4-BE49-F238E27FC236}">
                <a16:creationId xmlns:a16="http://schemas.microsoft.com/office/drawing/2014/main" id="{72BC694F-B9EF-65A3-723B-C7AA21F4D913}"/>
              </a:ext>
            </a:extLst>
          </p:cNvPr>
          <p:cNvSpPr txBox="1">
            <a:spLocks/>
          </p:cNvSpPr>
          <p:nvPr/>
        </p:nvSpPr>
        <p:spPr>
          <a:xfrm>
            <a:off x="7135142" y="1832760"/>
            <a:ext cx="1783080" cy="2314288"/>
          </a:xfrm>
          <a:prstGeom prst="rect">
            <a:avLst/>
          </a:prstGeom>
          <a:noFill/>
        </p:spPr>
        <p:txBody>
          <a:bodyPr wrap="square" lIns="146304" tIns="0" rIns="146304" bIns="0" anchor="ctr">
            <a:noAutofit/>
          </a:bodyPr>
          <a:lstStyle/>
          <a:p>
            <a:pPr marL="173736" marR="0" lvl="1" indent="-173736" algn="l" defTabSz="623438"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50" b="0" i="0" u="none" strike="noStrike" kern="1200" cap="none" spc="0" normalizeH="0" baseline="0" noProof="0">
              <a:ln>
                <a:noFill/>
              </a:ln>
              <a:solidFill>
                <a:prstClr val="black"/>
              </a:solidFill>
              <a:effectLst/>
              <a:uLnTx/>
              <a:uFillTx/>
              <a:latin typeface="Segoe Sans Text"/>
              <a:ea typeface="+mn-ea"/>
              <a:cs typeface="+mn-cs"/>
            </a:endParaRPr>
          </a:p>
        </p:txBody>
      </p:sp>
      <p:sp>
        <p:nvSpPr>
          <p:cNvPr id="13" name="TextBox 12">
            <a:extLst>
              <a:ext uri="{FF2B5EF4-FFF2-40B4-BE49-F238E27FC236}">
                <a16:creationId xmlns:a16="http://schemas.microsoft.com/office/drawing/2014/main" id="{684395D1-5E30-2AC6-06AB-8ED10B9FF76A}"/>
              </a:ext>
            </a:extLst>
          </p:cNvPr>
          <p:cNvSpPr txBox="1">
            <a:spLocks/>
          </p:cNvSpPr>
          <p:nvPr/>
        </p:nvSpPr>
        <p:spPr>
          <a:xfrm>
            <a:off x="4625355" y="1832760"/>
            <a:ext cx="1680785" cy="2314288"/>
          </a:xfrm>
          <a:prstGeom prst="rect">
            <a:avLst/>
          </a:prstGeom>
          <a:noFill/>
        </p:spPr>
        <p:txBody>
          <a:bodyPr wrap="square" lIns="146304" tIns="0" rIns="146304" bIns="0" anchor="ctr">
            <a:noAutofit/>
          </a:bodyPr>
          <a:lstStyle/>
          <a:p>
            <a:pPr marL="173736" marR="0" lvl="1" indent="-173736" algn="l" defTabSz="623438"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50" b="0" i="0" u="none" strike="noStrike" kern="1200" cap="none" spc="0" normalizeH="0" baseline="0" noProof="0">
              <a:ln>
                <a:noFill/>
              </a:ln>
              <a:solidFill>
                <a:prstClr val="black"/>
              </a:solidFill>
              <a:effectLst/>
              <a:uLnTx/>
              <a:uFillTx/>
              <a:latin typeface="Segoe Sans Text"/>
              <a:ea typeface="+mn-ea"/>
              <a:cs typeface="+mn-cs"/>
            </a:endParaRPr>
          </a:p>
        </p:txBody>
      </p:sp>
      <p:sp>
        <p:nvSpPr>
          <p:cNvPr id="29" name="Rectangle: Rounded Corners 28">
            <a:extLst>
              <a:ext uri="{FF2B5EF4-FFF2-40B4-BE49-F238E27FC236}">
                <a16:creationId xmlns:a16="http://schemas.microsoft.com/office/drawing/2014/main" id="{E7C73920-7725-30ED-3966-6394A7FC08CB}"/>
              </a:ext>
              <a:ext uri="{C183D7F6-B498-43B3-948B-1728B52AA6E4}">
                <adec:decorative xmlns:adec="http://schemas.microsoft.com/office/drawing/2017/decorative" val="1"/>
              </a:ext>
            </a:extLst>
          </p:cNvPr>
          <p:cNvSpPr/>
          <p:nvPr/>
        </p:nvSpPr>
        <p:spPr bwMode="auto">
          <a:xfrm>
            <a:off x="2186823" y="1122744"/>
            <a:ext cx="2275264" cy="5032314"/>
          </a:xfrm>
          <a:prstGeom prst="roundRect">
            <a:avLst>
              <a:gd name="adj" fmla="val 5453"/>
            </a:avLst>
          </a:prstGeom>
          <a:solidFill>
            <a:schemeClr val="bg1">
              <a:alpha val="97000"/>
            </a:schemeClr>
          </a:solidFill>
          <a:ln>
            <a:noFill/>
          </a:ln>
          <a:effectLst>
            <a:outerShdw blurRad="76200" algn="ctr"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45720" r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Sans Text"/>
              <a:ea typeface="+mn-ea"/>
              <a:cs typeface="+mn-cs"/>
            </a:endParaRPr>
          </a:p>
        </p:txBody>
      </p:sp>
      <p:sp>
        <p:nvSpPr>
          <p:cNvPr id="14" name="Grey oval containing warning">
            <a:extLst>
              <a:ext uri="{FF2B5EF4-FFF2-40B4-BE49-F238E27FC236}">
                <a16:creationId xmlns:a16="http://schemas.microsoft.com/office/drawing/2014/main" id="{53A7C627-A6B4-2FE0-268A-C94D248F936B}"/>
              </a:ext>
              <a:ext uri="{C183D7F6-B498-43B3-948B-1728B52AA6E4}">
                <adec:decorative xmlns:adec="http://schemas.microsoft.com/office/drawing/2017/decorative" val="1"/>
              </a:ext>
            </a:extLst>
          </p:cNvPr>
          <p:cNvSpPr/>
          <p:nvPr/>
        </p:nvSpPr>
        <p:spPr>
          <a:xfrm>
            <a:off x="2958915" y="6045238"/>
            <a:ext cx="731080" cy="45719"/>
          </a:xfrm>
          <a:prstGeom prst="roundRect">
            <a:avLst>
              <a:gd name="adj" fmla="val 50000"/>
            </a:avLst>
          </a:prstGeom>
          <a:solidFill>
            <a:schemeClr val="accent4"/>
          </a:solidFill>
          <a:ln w="31909" cap="flat">
            <a:noFill/>
            <a:prstDash val="solid"/>
            <a:miter/>
          </a:ln>
          <a:effectLst>
            <a:outerShdw blurRad="127000" dist="76200" dir="2700000" algn="tl" rotWithShape="0">
              <a:schemeClr val="accent6">
                <a:alpha val="20000"/>
              </a:schemeClr>
            </a:outerShdw>
          </a:effectLst>
        </p:spPr>
        <p:txBody>
          <a:bodyPr rot="0" spcFirstLastPara="0" vertOverflow="overflow" horzOverflow="overflow" vert="horz" wrap="square" lIns="146304" tIns="45720" rIns="146304" bIns="4572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ts val="600"/>
              </a:spcBef>
              <a:spcAft>
                <a:spcPct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Segoe Sans Text Semibold"/>
              <a:ea typeface="+mn-ea"/>
              <a:cs typeface="Segoe UI" pitchFamily="34" charset="0"/>
              <a:sym typeface="Segoe UI Semilight"/>
            </a:endParaRPr>
          </a:p>
        </p:txBody>
      </p:sp>
      <p:sp>
        <p:nvSpPr>
          <p:cNvPr id="31" name="Rectangle: Rounded Corners 30">
            <a:extLst>
              <a:ext uri="{FF2B5EF4-FFF2-40B4-BE49-F238E27FC236}">
                <a16:creationId xmlns:a16="http://schemas.microsoft.com/office/drawing/2014/main" id="{F2E61466-2431-1D8B-4DED-4341246B633F}"/>
              </a:ext>
            </a:extLst>
          </p:cNvPr>
          <p:cNvSpPr/>
          <p:nvPr/>
        </p:nvSpPr>
        <p:spPr>
          <a:xfrm>
            <a:off x="2236736" y="1182029"/>
            <a:ext cx="2176272" cy="550840"/>
          </a:xfrm>
          <a:prstGeom prst="roundRect">
            <a:avLst/>
          </a:prstGeom>
          <a:solidFill>
            <a:schemeClr val="accent4"/>
          </a:solidFill>
          <a:ln w="6350" cap="flat" cmpd="sng" algn="ctr">
            <a:noFill/>
            <a:prstDash val="solid"/>
            <a:miter lim="800000"/>
            <a:headEnd type="none" w="med" len="med"/>
            <a:tailEnd type="none" w="med" len="med"/>
          </a:ln>
          <a:effectLst>
            <a:outerShdw blurRad="214029" dist="43797" dir="2700000" algn="tl" rotWithShape="0">
              <a:prstClr val="black">
                <a:alpha val="1488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35943">
              <a:spcAft>
                <a:spcPts val="87"/>
              </a:spcAft>
              <a:defRPr/>
            </a:pPr>
            <a:r>
              <a:rPr kumimoji="0" lang="en-US" sz="1400" b="0" i="0" u="none" strike="noStrike" kern="1200" cap="none" spc="0" normalizeH="0" baseline="0" noProof="0">
                <a:ln>
                  <a:noFill/>
                </a:ln>
                <a:solidFill>
                  <a:srgbClr val="FFFFFF"/>
                </a:solidFill>
                <a:effectLst/>
                <a:uLnTx/>
                <a:uFillTx/>
                <a:latin typeface="+mj-lt"/>
                <a:ea typeface="+mj-ea"/>
                <a:cs typeface="+mj-cs"/>
              </a:rPr>
              <a:t>AI + Copilot Advisory</a:t>
            </a:r>
            <a:endParaRPr kumimoji="0" lang="en-US" sz="1400" b="0" i="0" u="none" strike="noStrike" kern="1200" cap="none" spc="0" normalizeH="0" baseline="0" noProof="0">
              <a:ln>
                <a:noFill/>
              </a:ln>
              <a:solidFill>
                <a:prstClr val="white"/>
              </a:solidFill>
              <a:effectLst/>
              <a:uLnTx/>
              <a:uFillTx/>
              <a:latin typeface="+mj-lt"/>
              <a:ea typeface="+mn-ea"/>
              <a:cs typeface="+mn-cs"/>
            </a:endParaRPr>
          </a:p>
        </p:txBody>
      </p:sp>
      <p:sp>
        <p:nvSpPr>
          <p:cNvPr id="43" name="TextBox 42">
            <a:extLst>
              <a:ext uri="{FF2B5EF4-FFF2-40B4-BE49-F238E27FC236}">
                <a16:creationId xmlns:a16="http://schemas.microsoft.com/office/drawing/2014/main" id="{0E8D7BF4-9AC0-073E-0324-AF0D0F547EEB}"/>
              </a:ext>
            </a:extLst>
          </p:cNvPr>
          <p:cNvSpPr txBox="1">
            <a:spLocks/>
          </p:cNvSpPr>
          <p:nvPr/>
        </p:nvSpPr>
        <p:spPr>
          <a:xfrm>
            <a:off x="2432915" y="4626162"/>
            <a:ext cx="1783080" cy="1109094"/>
          </a:xfrm>
          <a:prstGeom prst="rect">
            <a:avLst/>
          </a:prstGeom>
          <a:noFill/>
        </p:spPr>
        <p:txBody>
          <a:bodyPr wrap="square" lIns="0" tIns="0" rIns="0" bIns="0" anchor="ctr">
            <a:noAutofit/>
          </a:bodyPr>
          <a:lstStyle/>
          <a:p>
            <a:pPr marL="0" marR="0" lvl="1" indent="0" algn="ctr" defTabSz="623438"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w="3175">
                  <a:noFill/>
                </a:ln>
                <a:gradFill>
                  <a:gsLst>
                    <a:gs pos="88073">
                      <a:srgbClr val="000000"/>
                    </a:gs>
                    <a:gs pos="68807">
                      <a:srgbClr val="000000"/>
                    </a:gs>
                  </a:gsLst>
                  <a:lin ang="5400000" scaled="1"/>
                </a:gradFill>
                <a:effectLst/>
                <a:uLnTx/>
                <a:uFillTx/>
                <a:latin typeface="+mj-lt"/>
                <a:ea typeface="+mn-ea"/>
                <a:cs typeface="Segoe Sans Display Semibold" pitchFamily="2" charset="0"/>
              </a:rPr>
              <a:t>Expand AI transformation scope to include all users and processes</a:t>
            </a:r>
          </a:p>
        </p:txBody>
      </p:sp>
      <p:sp>
        <p:nvSpPr>
          <p:cNvPr id="48" name="TextBox 47">
            <a:extLst>
              <a:ext uri="{FF2B5EF4-FFF2-40B4-BE49-F238E27FC236}">
                <a16:creationId xmlns:a16="http://schemas.microsoft.com/office/drawing/2014/main" id="{6225F2F5-1D7F-EBE8-5750-5C082CA3DB75}"/>
              </a:ext>
            </a:extLst>
          </p:cNvPr>
          <p:cNvSpPr txBox="1">
            <a:spLocks/>
          </p:cNvSpPr>
          <p:nvPr/>
        </p:nvSpPr>
        <p:spPr>
          <a:xfrm>
            <a:off x="2432915" y="4150377"/>
            <a:ext cx="1783080" cy="435915"/>
          </a:xfrm>
          <a:prstGeom prst="rect">
            <a:avLst/>
          </a:prstGeom>
          <a:noFill/>
        </p:spPr>
        <p:txBody>
          <a:bodyPr wrap="square" lIns="0" tIns="0" rIns="0" bIns="0" anchor="ctr">
            <a:noAutofit/>
          </a:bodyPr>
          <a:lstStyle/>
          <a:p>
            <a:pPr marL="0" marR="0" lvl="0" indent="0" algn="ctr" defTabSz="951304"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accent4"/>
                </a:solidFill>
                <a:effectLst/>
                <a:uLnTx/>
                <a:uFillTx/>
                <a:latin typeface="Segoe UI"/>
                <a:ea typeface="+mn-ea"/>
                <a:cs typeface="+mn-cs"/>
              </a:rPr>
              <a:t>+</a:t>
            </a:r>
          </a:p>
        </p:txBody>
      </p:sp>
      <p:sp>
        <p:nvSpPr>
          <p:cNvPr id="16" name="TextBox 15">
            <a:extLst>
              <a:ext uri="{FF2B5EF4-FFF2-40B4-BE49-F238E27FC236}">
                <a16:creationId xmlns:a16="http://schemas.microsoft.com/office/drawing/2014/main" id="{768FAD8E-8173-4559-3986-0FCBB1DB379D}"/>
              </a:ext>
            </a:extLst>
          </p:cNvPr>
          <p:cNvSpPr txBox="1">
            <a:spLocks/>
          </p:cNvSpPr>
          <p:nvPr/>
        </p:nvSpPr>
        <p:spPr>
          <a:xfrm>
            <a:off x="2267759" y="1843956"/>
            <a:ext cx="1783080" cy="2320178"/>
          </a:xfrm>
          <a:prstGeom prst="rect">
            <a:avLst/>
          </a:prstGeom>
          <a:noFill/>
        </p:spPr>
        <p:txBody>
          <a:bodyPr wrap="square" lIns="146304" tIns="0" rIns="146304" bIns="0" anchor="ctr">
            <a:noAutofit/>
          </a:bodyPr>
          <a:lstStyle/>
          <a:p>
            <a:pPr marL="0" marR="0" lvl="1" indent="0" algn="l" defTabSz="623438" rtl="0" eaLnBrk="1" fontAlgn="auto" latinLnBrk="0" hangingPunct="1">
              <a:lnSpc>
                <a:spcPct val="100000"/>
              </a:lnSpc>
              <a:spcBef>
                <a:spcPts val="0"/>
              </a:spcBef>
              <a:spcAft>
                <a:spcPts val="0"/>
              </a:spcAft>
              <a:buClrTx/>
              <a:buSzTx/>
              <a:buFontTx/>
              <a:buNone/>
              <a:tabLst/>
              <a:defRPr/>
            </a:pPr>
            <a:endParaRPr kumimoji="0" lang="en-US" sz="950" b="0" i="0" u="none" strike="noStrike" kern="1200" cap="none" spc="0" normalizeH="0" baseline="0" noProof="0">
              <a:ln>
                <a:noFill/>
              </a:ln>
              <a:solidFill>
                <a:prstClr val="black"/>
              </a:solidFill>
              <a:effectLst/>
              <a:uLnTx/>
              <a:uFillTx/>
              <a:latin typeface="Segoe Sans Text"/>
              <a:ea typeface="+mn-ea"/>
              <a:cs typeface="+mn-cs"/>
            </a:endParaRPr>
          </a:p>
        </p:txBody>
      </p:sp>
      <p:sp>
        <p:nvSpPr>
          <p:cNvPr id="17" name="TextBox 16">
            <a:extLst>
              <a:ext uri="{FF2B5EF4-FFF2-40B4-BE49-F238E27FC236}">
                <a16:creationId xmlns:a16="http://schemas.microsoft.com/office/drawing/2014/main" id="{01DFE153-7317-66D8-F963-EEC80E217EA7}"/>
              </a:ext>
            </a:extLst>
          </p:cNvPr>
          <p:cNvSpPr txBox="1"/>
          <p:nvPr/>
        </p:nvSpPr>
        <p:spPr>
          <a:xfrm>
            <a:off x="2477103" y="2148672"/>
            <a:ext cx="1694704" cy="1774845"/>
          </a:xfrm>
          <a:prstGeom prst="rect">
            <a:avLst/>
          </a:prstGeom>
          <a:noFill/>
        </p:spPr>
        <p:txBody>
          <a:bodyPr wrap="square">
            <a:spAutoFit/>
          </a:bodyPr>
          <a:lstStyle/>
          <a:p>
            <a:pPr marL="0" marR="0" lvl="0" indent="0" algn="ctr" defTabSz="2413444" rtl="0" eaLnBrk="1" fontAlgn="base" latinLnBrk="0" hangingPunct="1">
              <a:lnSpc>
                <a:spcPct val="100000"/>
              </a:lnSpc>
              <a:spcBef>
                <a:spcPts val="844"/>
              </a:spcBef>
              <a:spcAft>
                <a:spcPct val="0"/>
              </a:spcAft>
              <a:buClrTx/>
              <a:buSzTx/>
              <a:buFontTx/>
              <a:buNone/>
              <a:tabLst>
                <a:tab pos="3966300" algn="l"/>
              </a:tabLst>
              <a:defRPr/>
            </a:pPr>
            <a:r>
              <a:rPr kumimoji="0" lang="en-US" sz="1200" b="1" i="0" u="none" strike="noStrike" kern="1200" cap="none" spc="0" normalizeH="0" baseline="0" noProof="0">
                <a:ln w="3175">
                  <a:noFill/>
                </a:ln>
                <a:gradFill>
                  <a:gsLst>
                    <a:gs pos="88073">
                      <a:srgbClr val="000000"/>
                    </a:gs>
                    <a:gs pos="68807">
                      <a:srgbClr val="000000"/>
                    </a:gs>
                  </a:gsLst>
                  <a:lin ang="5400000" scaled="1"/>
                </a:gradFill>
                <a:effectLst/>
                <a:uLnTx/>
                <a:uFillTx/>
                <a:latin typeface="+mj-lt"/>
                <a:ea typeface="+mn-ea"/>
                <a:cs typeface="Segoe Sans Display Semibold" pitchFamily="2" charset="0"/>
              </a:rPr>
              <a:t>Help customers build AI transformation strategies</a:t>
            </a:r>
          </a:p>
          <a:p>
            <a:pPr marL="0" marR="0" lvl="0" indent="0" algn="ctr" defTabSz="2413444" rtl="0" eaLnBrk="1" fontAlgn="base" latinLnBrk="0" hangingPunct="1">
              <a:lnSpc>
                <a:spcPct val="100000"/>
              </a:lnSpc>
              <a:spcBef>
                <a:spcPts val="844"/>
              </a:spcBef>
              <a:spcAft>
                <a:spcPct val="0"/>
              </a:spcAft>
              <a:buClrTx/>
              <a:buSzTx/>
              <a:buFontTx/>
              <a:buNone/>
              <a:tabLst>
                <a:tab pos="3966300" algn="l"/>
              </a:tabLst>
              <a:defRPr/>
            </a:pPr>
            <a:endParaRPr lang="en-US" sz="1200" b="1">
              <a:ln w="3175">
                <a:noFill/>
              </a:ln>
              <a:gradFill>
                <a:gsLst>
                  <a:gs pos="88073">
                    <a:srgbClr val="000000"/>
                  </a:gs>
                  <a:gs pos="68807">
                    <a:srgbClr val="000000"/>
                  </a:gs>
                </a:gsLst>
                <a:lin ang="5400000" scaled="1"/>
              </a:gradFill>
              <a:latin typeface="+mj-lt"/>
              <a:cs typeface="Segoe Sans Display Semibold" pitchFamily="2" charset="0"/>
            </a:endParaRPr>
          </a:p>
          <a:p>
            <a:pPr marL="0" marR="0" lvl="0" indent="0" algn="ctr" defTabSz="2413444" rtl="0" eaLnBrk="1" fontAlgn="base" latinLnBrk="0" hangingPunct="1">
              <a:lnSpc>
                <a:spcPct val="100000"/>
              </a:lnSpc>
              <a:spcBef>
                <a:spcPts val="844"/>
              </a:spcBef>
              <a:spcAft>
                <a:spcPct val="0"/>
              </a:spcAft>
              <a:buClrTx/>
              <a:buSzTx/>
              <a:buFontTx/>
              <a:buNone/>
              <a:tabLst>
                <a:tab pos="3966300" algn="l"/>
              </a:tabLst>
              <a:defRPr/>
            </a:pPr>
            <a:r>
              <a:rPr kumimoji="0" lang="en-US" sz="1200" b="1" i="0" u="none" strike="noStrike" kern="1200" cap="none" spc="0" normalizeH="0" baseline="0" noProof="0">
                <a:ln w="3175">
                  <a:noFill/>
                </a:ln>
                <a:gradFill>
                  <a:gsLst>
                    <a:gs pos="88073">
                      <a:srgbClr val="000000"/>
                    </a:gs>
                    <a:gs pos="68807">
                      <a:srgbClr val="000000"/>
                    </a:gs>
                  </a:gsLst>
                  <a:lin ang="5400000" scaled="1"/>
                </a:gradFill>
                <a:effectLst/>
                <a:uLnTx/>
                <a:uFillTx/>
                <a:latin typeface="+mj-lt"/>
                <a:ea typeface="+mn-ea"/>
                <a:cs typeface="Segoe Sans Display Semibold" pitchFamily="2" charset="0"/>
              </a:rPr>
              <a:t>Develop business case and expected ROI to drive M365 Copilot purchases</a:t>
            </a:r>
          </a:p>
        </p:txBody>
      </p:sp>
      <p:sp>
        <p:nvSpPr>
          <p:cNvPr id="30" name="Rectangle: Rounded Corners 29">
            <a:extLst>
              <a:ext uri="{FF2B5EF4-FFF2-40B4-BE49-F238E27FC236}">
                <a16:creationId xmlns:a16="http://schemas.microsoft.com/office/drawing/2014/main" id="{07148A56-6903-7607-83E9-8CD1DED340DE}"/>
              </a:ext>
              <a:ext uri="{C183D7F6-B498-43B3-948B-1728B52AA6E4}">
                <adec:decorative xmlns:adec="http://schemas.microsoft.com/office/drawing/2017/decorative" val="1"/>
              </a:ext>
            </a:extLst>
          </p:cNvPr>
          <p:cNvSpPr/>
          <p:nvPr/>
        </p:nvSpPr>
        <p:spPr bwMode="auto">
          <a:xfrm>
            <a:off x="4570878" y="1122744"/>
            <a:ext cx="2276135" cy="5032314"/>
          </a:xfrm>
          <a:prstGeom prst="roundRect">
            <a:avLst>
              <a:gd name="adj" fmla="val 4524"/>
            </a:avLst>
          </a:prstGeom>
          <a:solidFill>
            <a:schemeClr val="bg1">
              <a:alpha val="97000"/>
            </a:schemeClr>
          </a:solidFill>
          <a:ln>
            <a:noFill/>
          </a:ln>
          <a:effectLst>
            <a:outerShdw blurRad="76200" algn="ctr"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45720" r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Sans Text"/>
              <a:ea typeface="+mn-ea"/>
              <a:cs typeface="+mn-cs"/>
            </a:endParaRPr>
          </a:p>
        </p:txBody>
      </p:sp>
      <p:sp>
        <p:nvSpPr>
          <p:cNvPr id="32" name="Rectangle: Rounded Corners 31">
            <a:extLst>
              <a:ext uri="{FF2B5EF4-FFF2-40B4-BE49-F238E27FC236}">
                <a16:creationId xmlns:a16="http://schemas.microsoft.com/office/drawing/2014/main" id="{06706624-2881-65EE-4716-330C512FA425}"/>
              </a:ext>
            </a:extLst>
          </p:cNvPr>
          <p:cNvSpPr/>
          <p:nvPr/>
        </p:nvSpPr>
        <p:spPr>
          <a:xfrm>
            <a:off x="4620809" y="1182029"/>
            <a:ext cx="2176272" cy="550840"/>
          </a:xfrm>
          <a:prstGeom prst="roundRect">
            <a:avLst>
              <a:gd name="adj" fmla="val 12229"/>
            </a:avLst>
          </a:prstGeom>
          <a:solidFill>
            <a:schemeClr val="accent4"/>
          </a:solidFill>
          <a:ln w="6350" cap="flat" cmpd="sng" algn="ctr">
            <a:noFill/>
            <a:prstDash val="solid"/>
            <a:miter lim="800000"/>
            <a:headEnd type="none" w="med" len="med"/>
            <a:tailEnd type="none" w="med" len="med"/>
          </a:ln>
          <a:effectLst>
            <a:outerShdw blurRad="214029" dist="43797" dir="2700000" algn="tl" rotWithShape="0">
              <a:prstClr val="black">
                <a:alpha val="1488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buNone/>
            </a:pPr>
            <a:r>
              <a:rPr kumimoji="0" lang="en-US" sz="1400" b="0" i="0" u="none" strike="noStrike" kern="1200" cap="none" spc="0" normalizeH="0" baseline="0" dirty="0">
                <a:ln>
                  <a:noFill/>
                </a:ln>
                <a:solidFill>
                  <a:srgbClr val="FFFFFF"/>
                </a:solidFill>
                <a:effectLst/>
                <a:uLnTx/>
                <a:uFillTx/>
                <a:latin typeface="+mj-lt"/>
                <a:ea typeface="+mj-ea"/>
                <a:cs typeface="+mj-cs"/>
              </a:rPr>
              <a:t>Copilot Deployment + Data Governance</a:t>
            </a:r>
          </a:p>
        </p:txBody>
      </p:sp>
      <p:sp>
        <p:nvSpPr>
          <p:cNvPr id="44" name="TextBox 43">
            <a:extLst>
              <a:ext uri="{FF2B5EF4-FFF2-40B4-BE49-F238E27FC236}">
                <a16:creationId xmlns:a16="http://schemas.microsoft.com/office/drawing/2014/main" id="{4D25588C-21FF-75C4-88D9-E3B1219A0E3C}"/>
              </a:ext>
            </a:extLst>
          </p:cNvPr>
          <p:cNvSpPr txBox="1">
            <a:spLocks/>
          </p:cNvSpPr>
          <p:nvPr/>
        </p:nvSpPr>
        <p:spPr>
          <a:xfrm>
            <a:off x="4570878" y="4697190"/>
            <a:ext cx="2276135" cy="1261666"/>
          </a:xfrm>
          <a:prstGeom prst="rect">
            <a:avLst/>
          </a:prstGeom>
          <a:noFill/>
        </p:spPr>
        <p:txBody>
          <a:bodyPr wrap="square" lIns="146304" tIns="0" rIns="146304" bIns="0" anchor="ctr">
            <a:noAutofit/>
          </a:bodyPr>
          <a:lstStyle/>
          <a:p>
            <a:pPr marL="0" lvl="1" algn="ctr" defTabSz="623438">
              <a:spcAft>
                <a:spcPts val="409"/>
              </a:spcAft>
              <a:defRPr/>
            </a:pPr>
            <a:r>
              <a:rPr kumimoji="0" lang="en-US" sz="1200" b="1" i="0" u="none" strike="noStrike" kern="1200" cap="none" spc="0" normalizeH="0" baseline="0" noProof="0">
                <a:ln w="3175">
                  <a:noFill/>
                </a:ln>
                <a:gradFill>
                  <a:gsLst>
                    <a:gs pos="88073">
                      <a:srgbClr val="000000"/>
                    </a:gs>
                    <a:gs pos="68807">
                      <a:srgbClr val="000000"/>
                    </a:gs>
                  </a:gsLst>
                  <a:lin ang="5400000" scaled="1"/>
                </a:gradFill>
                <a:effectLst/>
                <a:uLnTx/>
                <a:uFillTx/>
                <a:latin typeface="+mj-lt"/>
                <a:ea typeface="+mn-ea"/>
                <a:cs typeface="Segoe Sans Display Semibold" pitchFamily="2" charset="0"/>
              </a:rPr>
              <a:t>Define governance model</a:t>
            </a:r>
          </a:p>
          <a:p>
            <a:pPr marL="0" lvl="1" algn="ctr" defTabSz="623438">
              <a:spcAft>
                <a:spcPts val="409"/>
              </a:spcAft>
              <a:defRPr/>
            </a:pPr>
            <a:endParaRPr lang="en-US" sz="1200" b="1">
              <a:ln w="3175">
                <a:noFill/>
              </a:ln>
              <a:gradFill>
                <a:gsLst>
                  <a:gs pos="88073">
                    <a:srgbClr val="000000"/>
                  </a:gs>
                  <a:gs pos="68807">
                    <a:srgbClr val="000000"/>
                  </a:gs>
                </a:gsLst>
                <a:lin ang="5400000" scaled="1"/>
              </a:gradFill>
              <a:latin typeface="+mj-lt"/>
              <a:cs typeface="Segoe Sans Display Semibold" pitchFamily="2" charset="0"/>
            </a:endParaRPr>
          </a:p>
          <a:p>
            <a:pPr marL="0" marR="0" lvl="1" indent="0" algn="ctr" defTabSz="623438" rtl="0" eaLnBrk="1" fontAlgn="auto" latinLnBrk="0" hangingPunct="1">
              <a:lnSpc>
                <a:spcPct val="100000"/>
              </a:lnSpc>
              <a:spcBef>
                <a:spcPts val="0"/>
              </a:spcBef>
              <a:spcAft>
                <a:spcPts val="409"/>
              </a:spcAft>
              <a:buClrTx/>
              <a:buSzTx/>
              <a:buFontTx/>
              <a:buNone/>
              <a:tabLst/>
              <a:defRPr/>
            </a:pPr>
            <a:r>
              <a:rPr kumimoji="0" lang="en-US" sz="1200" b="1" i="0" u="none" strike="noStrike" kern="1200" cap="none" spc="0" normalizeH="0" baseline="0" noProof="0">
                <a:ln w="3175">
                  <a:noFill/>
                </a:ln>
                <a:gradFill>
                  <a:gsLst>
                    <a:gs pos="88073">
                      <a:srgbClr val="000000"/>
                    </a:gs>
                    <a:gs pos="68807">
                      <a:srgbClr val="000000"/>
                    </a:gs>
                  </a:gsLst>
                  <a:lin ang="5400000" scaled="1"/>
                </a:gradFill>
                <a:effectLst/>
                <a:uLnTx/>
                <a:uFillTx/>
                <a:latin typeface="+mj-lt"/>
                <a:ea typeface="+mn-ea"/>
                <a:cs typeface="Segoe Sans Display Semibold" pitchFamily="2" charset="0"/>
              </a:rPr>
              <a:t>Set up agent consumption model </a:t>
            </a:r>
          </a:p>
        </p:txBody>
      </p:sp>
      <p:sp>
        <p:nvSpPr>
          <p:cNvPr id="53" name="TextBox 52">
            <a:extLst>
              <a:ext uri="{FF2B5EF4-FFF2-40B4-BE49-F238E27FC236}">
                <a16:creationId xmlns:a16="http://schemas.microsoft.com/office/drawing/2014/main" id="{C9FA31D2-FFA8-5214-7185-BD042C47B98B}"/>
              </a:ext>
            </a:extLst>
          </p:cNvPr>
          <p:cNvSpPr txBox="1">
            <a:spLocks/>
          </p:cNvSpPr>
          <p:nvPr/>
        </p:nvSpPr>
        <p:spPr>
          <a:xfrm>
            <a:off x="4817405" y="4131807"/>
            <a:ext cx="1783080" cy="435915"/>
          </a:xfrm>
          <a:prstGeom prst="rect">
            <a:avLst/>
          </a:prstGeom>
          <a:noFill/>
        </p:spPr>
        <p:txBody>
          <a:bodyPr wrap="square" lIns="0" tIns="0" rIns="0" bIns="0" anchor="ctr">
            <a:noAutofit/>
          </a:bodyPr>
          <a:lstStyle/>
          <a:p>
            <a:pPr marL="0" marR="0" lvl="1" indent="0" algn="ctr" defTabSz="951304"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chemeClr val="accent4"/>
                </a:solidFill>
                <a:effectLst/>
                <a:uLnTx/>
                <a:uFillTx/>
                <a:latin typeface="Segoe UI"/>
                <a:ea typeface="+mn-ea"/>
                <a:cs typeface="+mn-cs"/>
              </a:rPr>
              <a:t>+</a:t>
            </a:r>
          </a:p>
        </p:txBody>
      </p:sp>
      <p:sp>
        <p:nvSpPr>
          <p:cNvPr id="63" name="Grey oval containing warning">
            <a:extLst>
              <a:ext uri="{FF2B5EF4-FFF2-40B4-BE49-F238E27FC236}">
                <a16:creationId xmlns:a16="http://schemas.microsoft.com/office/drawing/2014/main" id="{67B6E6E2-CFF2-C05B-047D-4B0550E5E2A5}"/>
              </a:ext>
              <a:ext uri="{C183D7F6-B498-43B3-948B-1728B52AA6E4}">
                <adec:decorative xmlns:adec="http://schemas.microsoft.com/office/drawing/2017/decorative" val="1"/>
              </a:ext>
            </a:extLst>
          </p:cNvPr>
          <p:cNvSpPr/>
          <p:nvPr/>
        </p:nvSpPr>
        <p:spPr>
          <a:xfrm>
            <a:off x="5343405" y="6043552"/>
            <a:ext cx="731080" cy="45719"/>
          </a:xfrm>
          <a:prstGeom prst="roundRect">
            <a:avLst>
              <a:gd name="adj" fmla="val 50000"/>
            </a:avLst>
          </a:prstGeom>
          <a:solidFill>
            <a:schemeClr val="accent4"/>
          </a:solidFill>
          <a:ln w="31909" cap="flat">
            <a:noFill/>
            <a:prstDash val="solid"/>
            <a:miter/>
          </a:ln>
          <a:effectLst>
            <a:outerShdw blurRad="127000" dist="76200" dir="2700000" algn="tl" rotWithShape="0">
              <a:schemeClr val="accent6">
                <a:alpha val="20000"/>
              </a:schemeClr>
            </a:outerShdw>
          </a:effectLst>
        </p:spPr>
        <p:txBody>
          <a:bodyPr rot="0" spcFirstLastPara="0" vertOverflow="overflow" horzOverflow="overflow" vert="horz" wrap="square" lIns="146304" tIns="45720" rIns="146304" bIns="4572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ts val="600"/>
              </a:spcBef>
              <a:spcAft>
                <a:spcPct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Segoe Sans Text Semibold"/>
              <a:ea typeface="+mn-ea"/>
              <a:cs typeface="Segoe UI" pitchFamily="34" charset="0"/>
              <a:sym typeface="Segoe UI Semilight"/>
            </a:endParaRPr>
          </a:p>
        </p:txBody>
      </p:sp>
      <p:sp>
        <p:nvSpPr>
          <p:cNvPr id="22" name="TextBox 21">
            <a:extLst>
              <a:ext uri="{FF2B5EF4-FFF2-40B4-BE49-F238E27FC236}">
                <a16:creationId xmlns:a16="http://schemas.microsoft.com/office/drawing/2014/main" id="{5040246C-2EB3-4C5B-14C4-32DD4EC11604}"/>
              </a:ext>
            </a:extLst>
          </p:cNvPr>
          <p:cNvSpPr txBox="1"/>
          <p:nvPr/>
        </p:nvSpPr>
        <p:spPr>
          <a:xfrm>
            <a:off x="4671980" y="2104742"/>
            <a:ext cx="2073931" cy="1754326"/>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w="3175">
                  <a:noFill/>
                </a:ln>
                <a:gradFill>
                  <a:gsLst>
                    <a:gs pos="88073">
                      <a:srgbClr val="000000"/>
                    </a:gs>
                    <a:gs pos="68807">
                      <a:srgbClr val="000000"/>
                    </a:gs>
                  </a:gsLst>
                  <a:lin ang="5400000" scaled="1"/>
                </a:gradFill>
                <a:effectLst/>
                <a:uLnTx/>
                <a:uFillTx/>
                <a:latin typeface="+mj-lt"/>
                <a:ea typeface="+mn-ea"/>
                <a:cs typeface="Segoe Sans Display Semibold" pitchFamily="2" charset="0"/>
              </a:rPr>
              <a:t>Assess customer technical readiness, close gaps</a:t>
            </a:r>
          </a:p>
          <a:p>
            <a:pPr marL="0" marR="0" lvl="0" indent="0" algn="ctr" defTabSz="914367" rtl="0" eaLnBrk="1" fontAlgn="auto" latinLnBrk="0" hangingPunct="1">
              <a:lnSpc>
                <a:spcPct val="100000"/>
              </a:lnSpc>
              <a:spcBef>
                <a:spcPts val="0"/>
              </a:spcBef>
              <a:spcAft>
                <a:spcPts val="0"/>
              </a:spcAft>
              <a:buClrTx/>
              <a:buSzTx/>
              <a:buFontTx/>
              <a:buNone/>
              <a:tabLst/>
              <a:defRPr/>
            </a:pPr>
            <a:endParaRPr lang="en-US" sz="1200" b="1">
              <a:ln w="3175">
                <a:noFill/>
              </a:ln>
              <a:gradFill>
                <a:gsLst>
                  <a:gs pos="88073">
                    <a:srgbClr val="000000"/>
                  </a:gs>
                  <a:gs pos="68807">
                    <a:srgbClr val="000000"/>
                  </a:gs>
                </a:gsLst>
                <a:lin ang="5400000" scaled="1"/>
              </a:gradFill>
              <a:latin typeface="+mj-lt"/>
              <a:cs typeface="Segoe Sans Display Semibold" pitchFamily="2" charset="0"/>
            </a:endParaRP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w="3175">
                  <a:noFill/>
                </a:ln>
                <a:gradFill>
                  <a:gsLst>
                    <a:gs pos="88073">
                      <a:srgbClr val="000000"/>
                    </a:gs>
                    <a:gs pos="68807">
                      <a:srgbClr val="000000"/>
                    </a:gs>
                  </a:gsLst>
                  <a:lin ang="5400000" scaled="1"/>
                </a:gradFill>
                <a:effectLst/>
                <a:uLnTx/>
                <a:uFillTx/>
                <a:latin typeface="+mj-lt"/>
                <a:ea typeface="+mn-ea"/>
                <a:cs typeface="Segoe Sans Display Semibold" pitchFamily="2" charset="0"/>
              </a:rPr>
              <a:t>Run data security assessment(s) with Microsoft Purview</a:t>
            </a:r>
          </a:p>
          <a:p>
            <a:pPr marL="0" marR="0" lvl="0" indent="0" algn="ctr" defTabSz="914367" rtl="0" eaLnBrk="1" fontAlgn="auto" latinLnBrk="0" hangingPunct="1">
              <a:lnSpc>
                <a:spcPct val="100000"/>
              </a:lnSpc>
              <a:spcBef>
                <a:spcPts val="0"/>
              </a:spcBef>
              <a:spcAft>
                <a:spcPts val="0"/>
              </a:spcAft>
              <a:buClrTx/>
              <a:buSzTx/>
              <a:buFontTx/>
              <a:buNone/>
              <a:tabLst/>
              <a:defRPr/>
            </a:pPr>
            <a:endParaRPr lang="en-US" sz="1200" b="1">
              <a:ln w="3175">
                <a:noFill/>
              </a:ln>
              <a:gradFill>
                <a:gsLst>
                  <a:gs pos="88073">
                    <a:srgbClr val="000000"/>
                  </a:gs>
                  <a:gs pos="68807">
                    <a:srgbClr val="000000"/>
                  </a:gs>
                </a:gsLst>
                <a:lin ang="5400000" scaled="1"/>
              </a:gradFill>
              <a:latin typeface="+mj-lt"/>
              <a:cs typeface="Segoe Sans Display Semibold" pitchFamily="2" charset="0"/>
            </a:endParaRP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w="3175">
                  <a:noFill/>
                </a:ln>
                <a:gradFill>
                  <a:gsLst>
                    <a:gs pos="88073">
                      <a:srgbClr val="000000"/>
                    </a:gs>
                    <a:gs pos="68807">
                      <a:srgbClr val="000000"/>
                    </a:gs>
                  </a:gsLst>
                  <a:lin ang="5400000" scaled="1"/>
                </a:gradFill>
                <a:effectLst/>
                <a:uLnTx/>
                <a:uFillTx/>
                <a:latin typeface="+mj-lt"/>
                <a:ea typeface="+mn-ea"/>
                <a:cs typeface="Segoe Sans Display Semibold" pitchFamily="2" charset="0"/>
              </a:rPr>
              <a:t>Address oversharing concerns</a:t>
            </a:r>
          </a:p>
        </p:txBody>
      </p:sp>
      <p:sp>
        <p:nvSpPr>
          <p:cNvPr id="10" name="Rectangle: Rounded Corners 9">
            <a:extLst>
              <a:ext uri="{FF2B5EF4-FFF2-40B4-BE49-F238E27FC236}">
                <a16:creationId xmlns:a16="http://schemas.microsoft.com/office/drawing/2014/main" id="{02718997-3162-E402-0473-3B93E78FA6BC}"/>
              </a:ext>
              <a:ext uri="{C183D7F6-B498-43B3-948B-1728B52AA6E4}">
                <adec:decorative xmlns:adec="http://schemas.microsoft.com/office/drawing/2017/decorative" val="1"/>
              </a:ext>
            </a:extLst>
          </p:cNvPr>
          <p:cNvSpPr/>
          <p:nvPr/>
        </p:nvSpPr>
        <p:spPr bwMode="auto">
          <a:xfrm>
            <a:off x="9341452" y="1122744"/>
            <a:ext cx="2276856" cy="5032314"/>
          </a:xfrm>
          <a:prstGeom prst="roundRect">
            <a:avLst>
              <a:gd name="adj" fmla="val 4923"/>
            </a:avLst>
          </a:prstGeom>
          <a:solidFill>
            <a:schemeClr val="bg1">
              <a:alpha val="97000"/>
            </a:schemeClr>
          </a:solidFill>
          <a:ln>
            <a:noFill/>
          </a:ln>
          <a:effectLst>
            <a:outerShdw blurRad="76200" algn="ctr"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45720" r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Sans Text"/>
              <a:ea typeface="+mn-ea"/>
              <a:cs typeface="+mn-cs"/>
            </a:endParaRPr>
          </a:p>
        </p:txBody>
      </p:sp>
      <p:sp>
        <p:nvSpPr>
          <p:cNvPr id="35" name="Rectangle: Rounded Corners 34">
            <a:extLst>
              <a:ext uri="{FF2B5EF4-FFF2-40B4-BE49-F238E27FC236}">
                <a16:creationId xmlns:a16="http://schemas.microsoft.com/office/drawing/2014/main" id="{A9A1AECF-309B-A00E-FE6F-BD94F0DF0041}"/>
              </a:ext>
            </a:extLst>
          </p:cNvPr>
          <p:cNvSpPr/>
          <p:nvPr/>
        </p:nvSpPr>
        <p:spPr>
          <a:xfrm>
            <a:off x="9391744" y="1183047"/>
            <a:ext cx="2176272" cy="550840"/>
          </a:xfrm>
          <a:prstGeom prst="roundRect">
            <a:avLst>
              <a:gd name="adj" fmla="val 11341"/>
            </a:avLst>
          </a:prstGeom>
          <a:solidFill>
            <a:schemeClr val="accent4"/>
          </a:solidFill>
          <a:ln w="6350" cap="flat" cmpd="sng" algn="ctr">
            <a:noFill/>
            <a:prstDash val="solid"/>
            <a:miter lim="800000"/>
            <a:headEnd type="none" w="med" len="med"/>
            <a:tailEnd type="none" w="med" len="med"/>
          </a:ln>
          <a:effectLst>
            <a:outerShdw blurRad="214029" dist="43797" dir="2700000" algn="tl" rotWithShape="0">
              <a:prstClr val="black">
                <a:alpha val="1488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635943" rtl="0" eaLnBrk="1" fontAlgn="auto" latinLnBrk="0" hangingPunct="1">
              <a:lnSpc>
                <a:spcPct val="100000"/>
              </a:lnSpc>
              <a:spcBef>
                <a:spcPts val="0"/>
              </a:spcBef>
              <a:spcAft>
                <a:spcPts val="87"/>
              </a:spcAft>
              <a:buClrTx/>
              <a:buSzTx/>
              <a:buFontTx/>
              <a:buNone/>
              <a:tabLst/>
              <a:defRPr/>
            </a:pPr>
            <a:r>
              <a:rPr kumimoji="0" lang="en-US" sz="1400" b="0" i="0" u="none" strike="noStrike" kern="1200" cap="none" spc="0" normalizeH="0" baseline="0" noProof="0">
                <a:ln>
                  <a:noFill/>
                </a:ln>
                <a:solidFill>
                  <a:srgbClr val="FFFFFF"/>
                </a:solidFill>
                <a:effectLst/>
                <a:uLnTx/>
                <a:uFillTx/>
                <a:latin typeface="+mj-lt"/>
                <a:ea typeface="+mj-ea"/>
                <a:cs typeface="+mj-cs"/>
              </a:rPr>
              <a:t>Extensibility</a:t>
            </a:r>
            <a:endParaRPr kumimoji="0" lang="en-US" sz="1400" b="0" i="0" u="none" strike="noStrike" kern="1200" cap="none" spc="0" normalizeH="0" baseline="0" noProof="0">
              <a:ln>
                <a:noFill/>
              </a:ln>
              <a:solidFill>
                <a:prstClr val="white"/>
              </a:solidFill>
              <a:effectLst/>
              <a:uLnTx/>
              <a:uFillTx/>
              <a:latin typeface="+mj-lt"/>
              <a:ea typeface="+mn-ea"/>
              <a:cs typeface="+mn-cs"/>
            </a:endParaRPr>
          </a:p>
        </p:txBody>
      </p:sp>
      <p:sp>
        <p:nvSpPr>
          <p:cNvPr id="42" name="TextBox 41">
            <a:extLst>
              <a:ext uri="{FF2B5EF4-FFF2-40B4-BE49-F238E27FC236}">
                <a16:creationId xmlns:a16="http://schemas.microsoft.com/office/drawing/2014/main" id="{4ED3D057-A17D-6229-2BBF-2AF034140042}"/>
              </a:ext>
            </a:extLst>
          </p:cNvPr>
          <p:cNvSpPr txBox="1">
            <a:spLocks/>
          </p:cNvSpPr>
          <p:nvPr/>
        </p:nvSpPr>
        <p:spPr>
          <a:xfrm>
            <a:off x="9843966" y="1832760"/>
            <a:ext cx="1783080" cy="2314288"/>
          </a:xfrm>
          <a:prstGeom prst="rect">
            <a:avLst/>
          </a:prstGeom>
          <a:noFill/>
        </p:spPr>
        <p:txBody>
          <a:bodyPr wrap="square" lIns="146304" tIns="0" rIns="146304" bIns="0" anchor="ctr">
            <a:noAutofit/>
          </a:bodyPr>
          <a:lstStyle/>
          <a:p>
            <a:pPr marL="173736" marR="0" lvl="1" indent="-173736" algn="l" defTabSz="623438"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50" b="0" i="0" u="none" strike="noStrike" kern="1200" cap="none" spc="0" normalizeH="0" baseline="0" noProof="0">
              <a:ln>
                <a:noFill/>
              </a:ln>
              <a:solidFill>
                <a:prstClr val="black"/>
              </a:solidFill>
              <a:effectLst/>
              <a:uLnTx/>
              <a:uFillTx/>
              <a:latin typeface="Segoe Sans Text"/>
              <a:ea typeface="+mn-ea"/>
              <a:cs typeface="+mn-cs"/>
            </a:endParaRPr>
          </a:p>
        </p:txBody>
      </p:sp>
      <p:sp>
        <p:nvSpPr>
          <p:cNvPr id="47" name="TextBox 46">
            <a:extLst>
              <a:ext uri="{FF2B5EF4-FFF2-40B4-BE49-F238E27FC236}">
                <a16:creationId xmlns:a16="http://schemas.microsoft.com/office/drawing/2014/main" id="{A39CF40A-9BED-E60C-8433-6A696C6E28AE}"/>
              </a:ext>
            </a:extLst>
          </p:cNvPr>
          <p:cNvSpPr txBox="1">
            <a:spLocks/>
          </p:cNvSpPr>
          <p:nvPr/>
        </p:nvSpPr>
        <p:spPr>
          <a:xfrm>
            <a:off x="9464896" y="4645104"/>
            <a:ext cx="2029968" cy="1109094"/>
          </a:xfrm>
          <a:prstGeom prst="rect">
            <a:avLst/>
          </a:prstGeom>
          <a:noFill/>
        </p:spPr>
        <p:txBody>
          <a:bodyPr wrap="square" lIns="146304" tIns="0" rIns="146304" bIns="0" anchor="ctr">
            <a:noAutofit/>
          </a:bodyPr>
          <a:lstStyle/>
          <a:p>
            <a:pPr marL="0" lvl="1" algn="ctr" defTabSz="623438">
              <a:spcAft>
                <a:spcPts val="409"/>
              </a:spcAft>
              <a:defRPr/>
            </a:pPr>
            <a:r>
              <a:rPr kumimoji="0" lang="en-US" sz="1200" b="1" i="0" u="none" strike="noStrike" kern="1200" cap="none" spc="0" normalizeH="0" baseline="0" noProof="0" dirty="0">
                <a:ln w="3175">
                  <a:noFill/>
                </a:ln>
                <a:gradFill>
                  <a:gsLst>
                    <a:gs pos="88073">
                      <a:srgbClr val="000000"/>
                    </a:gs>
                    <a:gs pos="68807">
                      <a:srgbClr val="000000"/>
                    </a:gs>
                  </a:gsLst>
                  <a:lin ang="5400000" scaled="1"/>
                </a:gradFill>
                <a:effectLst/>
                <a:uLnTx/>
                <a:uFillTx/>
                <a:latin typeface="+mj-lt"/>
                <a:ea typeface="+mn-ea"/>
                <a:cs typeface="Segoe Sans Display Semibold" pitchFamily="2" charset="0"/>
              </a:rPr>
              <a:t>Build agents for high-value scenarios:</a:t>
            </a:r>
          </a:p>
          <a:p>
            <a:pPr marL="171450" marR="0" lvl="1" indent="-171450" defTabSz="623438" rtl="0" eaLnBrk="1" fontAlgn="auto" latinLnBrk="0" hangingPunct="1">
              <a:lnSpc>
                <a:spcPct val="100000"/>
              </a:lnSpc>
              <a:spcBef>
                <a:spcPts val="0"/>
              </a:spcBef>
              <a:spcAft>
                <a:spcPts val="409"/>
              </a:spcAft>
              <a:buClrTx/>
              <a:buSzTx/>
              <a:buFont typeface="Arial" panose="020B0604020202020204" pitchFamily="34" charset="0"/>
              <a:buChar char="•"/>
              <a:tabLst/>
              <a:defRPr/>
            </a:pPr>
            <a:r>
              <a:rPr lang="en-US" sz="1000" b="1" dirty="0">
                <a:ln w="3175">
                  <a:noFill/>
                </a:ln>
                <a:gradFill>
                  <a:gsLst>
                    <a:gs pos="88073">
                      <a:srgbClr val="000000"/>
                    </a:gs>
                    <a:gs pos="68807">
                      <a:srgbClr val="000000"/>
                    </a:gs>
                  </a:gsLst>
                  <a:lin ang="5400000" scaled="1"/>
                </a:gradFill>
                <a:latin typeface="+mj-lt"/>
                <a:cs typeface="Segoe Sans Display Semibold" pitchFamily="2" charset="0"/>
              </a:rPr>
              <a:t>Autonomous</a:t>
            </a:r>
          </a:p>
          <a:p>
            <a:pPr marL="171450" marR="0" lvl="1" indent="-171450" defTabSz="623438" rtl="0" eaLnBrk="1" fontAlgn="auto" latinLnBrk="0" hangingPunct="1">
              <a:lnSpc>
                <a:spcPct val="100000"/>
              </a:lnSpc>
              <a:spcBef>
                <a:spcPts val="0"/>
              </a:spcBef>
              <a:spcAft>
                <a:spcPts val="409"/>
              </a:spcAft>
              <a:buClrTx/>
              <a:buSzTx/>
              <a:buFont typeface="Arial" panose="020B0604020202020204" pitchFamily="34" charset="0"/>
              <a:buChar char="•"/>
              <a:tabLst/>
              <a:defRPr/>
            </a:pPr>
            <a:r>
              <a:rPr lang="en-US" sz="1000" b="1" dirty="0">
                <a:ln w="3175">
                  <a:noFill/>
                </a:ln>
                <a:gradFill>
                  <a:gsLst>
                    <a:gs pos="88073">
                      <a:srgbClr val="000000"/>
                    </a:gs>
                    <a:gs pos="68807">
                      <a:srgbClr val="000000"/>
                    </a:gs>
                  </a:gsLst>
                  <a:lin ang="5400000" scaled="1"/>
                </a:gradFill>
                <a:latin typeface="+mj-lt"/>
                <a:cs typeface="Segoe Sans Display Semibold" pitchFamily="2" charset="0"/>
              </a:rPr>
              <a:t>Declarative</a:t>
            </a:r>
          </a:p>
          <a:p>
            <a:pPr marL="171450" marR="0" lvl="1" indent="-171450" defTabSz="623438" rtl="0" eaLnBrk="1" fontAlgn="auto" latinLnBrk="0" hangingPunct="1">
              <a:lnSpc>
                <a:spcPct val="100000"/>
              </a:lnSpc>
              <a:spcBef>
                <a:spcPts val="0"/>
              </a:spcBef>
              <a:spcAft>
                <a:spcPts val="409"/>
              </a:spcAft>
              <a:buClrTx/>
              <a:buSzTx/>
              <a:buFont typeface="Arial" panose="020B0604020202020204" pitchFamily="34" charset="0"/>
              <a:buChar char="•"/>
              <a:tabLst/>
              <a:defRPr/>
            </a:pPr>
            <a:r>
              <a:rPr lang="en-US" sz="1000" b="1" dirty="0">
                <a:ln w="3175">
                  <a:noFill/>
                </a:ln>
                <a:gradFill>
                  <a:gsLst>
                    <a:gs pos="88073">
                      <a:srgbClr val="000000"/>
                    </a:gs>
                    <a:gs pos="68807">
                      <a:srgbClr val="000000"/>
                    </a:gs>
                  </a:gsLst>
                  <a:lin ang="5400000" scaled="1"/>
                </a:gradFill>
                <a:latin typeface="+mj-lt"/>
                <a:cs typeface="Segoe Sans Display Semibold" pitchFamily="2" charset="0"/>
              </a:rPr>
              <a:t>Frontline</a:t>
            </a:r>
            <a:endParaRPr kumimoji="0" lang="en-US" sz="1000" b="1" i="0" u="none" strike="noStrike" kern="1200" cap="none" spc="0" normalizeH="0" baseline="0" noProof="0" dirty="0">
              <a:ln w="3175">
                <a:noFill/>
              </a:ln>
              <a:gradFill>
                <a:gsLst>
                  <a:gs pos="88073">
                    <a:srgbClr val="000000"/>
                  </a:gs>
                  <a:gs pos="68807">
                    <a:srgbClr val="000000"/>
                  </a:gs>
                </a:gsLst>
                <a:lin ang="5400000" scaled="1"/>
              </a:gradFill>
              <a:effectLst/>
              <a:uLnTx/>
              <a:uFillTx/>
              <a:latin typeface="+mj-lt"/>
              <a:ea typeface="+mn-ea"/>
              <a:cs typeface="Segoe Sans Display Semibold" pitchFamily="2" charset="0"/>
            </a:endParaRPr>
          </a:p>
        </p:txBody>
      </p:sp>
      <p:sp>
        <p:nvSpPr>
          <p:cNvPr id="56" name="TextBox 55">
            <a:extLst>
              <a:ext uri="{FF2B5EF4-FFF2-40B4-BE49-F238E27FC236}">
                <a16:creationId xmlns:a16="http://schemas.microsoft.com/office/drawing/2014/main" id="{F99A8ADE-DF1F-C3E1-4B6C-E7452FC4A37E}"/>
              </a:ext>
            </a:extLst>
          </p:cNvPr>
          <p:cNvSpPr txBox="1">
            <a:spLocks/>
          </p:cNvSpPr>
          <p:nvPr/>
        </p:nvSpPr>
        <p:spPr>
          <a:xfrm>
            <a:off x="9588340" y="4152938"/>
            <a:ext cx="1783080" cy="435915"/>
          </a:xfrm>
          <a:prstGeom prst="rect">
            <a:avLst/>
          </a:prstGeom>
          <a:noFill/>
        </p:spPr>
        <p:txBody>
          <a:bodyPr wrap="square" lIns="0" tIns="0" rIns="0" bIns="0" anchor="ctr">
            <a:noAutofit/>
          </a:bodyPr>
          <a:lstStyle/>
          <a:p>
            <a:pPr marL="0" marR="0" lvl="1" indent="0" algn="ctr" defTabSz="951304"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chemeClr val="accent4"/>
                </a:solidFill>
                <a:effectLst/>
                <a:uLnTx/>
                <a:uFillTx/>
                <a:latin typeface="Segoe UI"/>
                <a:ea typeface="+mn-ea"/>
                <a:cs typeface="+mn-cs"/>
              </a:rPr>
              <a:t>+</a:t>
            </a:r>
          </a:p>
        </p:txBody>
      </p:sp>
      <p:sp>
        <p:nvSpPr>
          <p:cNvPr id="66" name="Grey oval containing warning">
            <a:extLst>
              <a:ext uri="{FF2B5EF4-FFF2-40B4-BE49-F238E27FC236}">
                <a16:creationId xmlns:a16="http://schemas.microsoft.com/office/drawing/2014/main" id="{35F3384F-9E60-191A-B36D-D1711D95D08D}"/>
              </a:ext>
              <a:ext uri="{C183D7F6-B498-43B3-948B-1728B52AA6E4}">
                <adec:decorative xmlns:adec="http://schemas.microsoft.com/office/drawing/2017/decorative" val="1"/>
              </a:ext>
            </a:extLst>
          </p:cNvPr>
          <p:cNvSpPr/>
          <p:nvPr/>
        </p:nvSpPr>
        <p:spPr>
          <a:xfrm>
            <a:off x="10114340" y="6044176"/>
            <a:ext cx="731080" cy="45719"/>
          </a:xfrm>
          <a:prstGeom prst="roundRect">
            <a:avLst>
              <a:gd name="adj" fmla="val 50000"/>
            </a:avLst>
          </a:prstGeom>
          <a:solidFill>
            <a:schemeClr val="accent4"/>
          </a:solidFill>
          <a:ln w="31909" cap="flat">
            <a:noFill/>
            <a:prstDash val="solid"/>
            <a:miter/>
          </a:ln>
          <a:effectLst>
            <a:outerShdw blurRad="127000" dist="76200" dir="2700000" algn="tl" rotWithShape="0">
              <a:schemeClr val="accent6">
                <a:alpha val="20000"/>
              </a:schemeClr>
            </a:outerShdw>
          </a:effectLst>
        </p:spPr>
        <p:txBody>
          <a:bodyPr rot="0" spcFirstLastPara="0" vertOverflow="overflow" horzOverflow="overflow" vert="horz" wrap="square" lIns="146304" tIns="45720" rIns="146304" bIns="4572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ts val="600"/>
              </a:spcBef>
              <a:spcAft>
                <a:spcPct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Segoe Sans Text Semibold"/>
              <a:ea typeface="+mn-ea"/>
              <a:cs typeface="Segoe UI" pitchFamily="34" charset="0"/>
              <a:sym typeface="Segoe UI Semilight"/>
            </a:endParaRPr>
          </a:p>
        </p:txBody>
      </p:sp>
      <p:sp>
        <p:nvSpPr>
          <p:cNvPr id="25" name="TextBox 24">
            <a:extLst>
              <a:ext uri="{FF2B5EF4-FFF2-40B4-BE49-F238E27FC236}">
                <a16:creationId xmlns:a16="http://schemas.microsoft.com/office/drawing/2014/main" id="{1A2D09F7-9CA9-2BF3-7CFC-144ADF4FDAAF}"/>
              </a:ext>
            </a:extLst>
          </p:cNvPr>
          <p:cNvSpPr txBox="1"/>
          <p:nvPr/>
        </p:nvSpPr>
        <p:spPr>
          <a:xfrm>
            <a:off x="9686412" y="1982429"/>
            <a:ext cx="1586936" cy="1754326"/>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lang="en-US" sz="1200" b="1" dirty="0">
              <a:ln w="3175">
                <a:noFill/>
              </a:ln>
              <a:gradFill>
                <a:gsLst>
                  <a:gs pos="88073">
                    <a:srgbClr val="000000"/>
                  </a:gs>
                  <a:gs pos="68807">
                    <a:srgbClr val="000000"/>
                  </a:gs>
                </a:gsLst>
                <a:lin ang="5400000" scaled="1"/>
              </a:gradFill>
              <a:latin typeface="+mj-lt"/>
              <a:cs typeface="Segoe Sans Display Semibold" pitchFamily="2" charset="0"/>
            </a:endParaRP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w="3175">
                  <a:noFill/>
                </a:ln>
                <a:gradFill>
                  <a:gsLst>
                    <a:gs pos="88073">
                      <a:srgbClr val="000000"/>
                    </a:gs>
                    <a:gs pos="68807">
                      <a:srgbClr val="000000"/>
                    </a:gs>
                  </a:gsLst>
                  <a:lin ang="5400000" scaled="1"/>
                </a:gradFill>
                <a:effectLst/>
                <a:uLnTx/>
                <a:uFillTx/>
                <a:latin typeface="+mj-lt"/>
                <a:ea typeface="+mn-ea"/>
                <a:cs typeface="Segoe Sans Display Semibold" pitchFamily="2" charset="0"/>
              </a:rPr>
              <a:t>Extend M365 Copilot by building agents</a:t>
            </a:r>
          </a:p>
          <a:p>
            <a:pPr marL="0" marR="0" lvl="0" indent="0" algn="ctr" defTabSz="914367" rtl="0" eaLnBrk="1" fontAlgn="auto" latinLnBrk="0" hangingPunct="1">
              <a:lnSpc>
                <a:spcPct val="100000"/>
              </a:lnSpc>
              <a:spcBef>
                <a:spcPts val="0"/>
              </a:spcBef>
              <a:spcAft>
                <a:spcPts val="0"/>
              </a:spcAft>
              <a:buClrTx/>
              <a:buSzTx/>
              <a:buFontTx/>
              <a:buNone/>
              <a:tabLst/>
              <a:defRPr/>
            </a:pPr>
            <a:endParaRPr lang="en-US" sz="1200" b="1" dirty="0">
              <a:ln w="3175">
                <a:noFill/>
              </a:ln>
              <a:gradFill>
                <a:gsLst>
                  <a:gs pos="88073">
                    <a:srgbClr val="000000"/>
                  </a:gs>
                  <a:gs pos="68807">
                    <a:srgbClr val="000000"/>
                  </a:gs>
                </a:gsLst>
                <a:lin ang="5400000" scaled="1"/>
              </a:gradFill>
              <a:highlight>
                <a:srgbClr val="FFFF00"/>
              </a:highlight>
              <a:latin typeface="+mj-lt"/>
              <a:cs typeface="Segoe Sans Display Semibold" pitchFamily="2" charset="0"/>
            </a:endParaRP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w="3175">
                  <a:noFill/>
                </a:ln>
                <a:gradFill>
                  <a:gsLst>
                    <a:gs pos="88073">
                      <a:srgbClr val="000000"/>
                    </a:gs>
                    <a:gs pos="68807">
                      <a:srgbClr val="000000"/>
                    </a:gs>
                  </a:gsLst>
                  <a:lin ang="5400000" scaled="1"/>
                </a:gradFill>
                <a:effectLst/>
                <a:uLnTx/>
                <a:uFillTx/>
                <a:latin typeface="+mj-lt"/>
                <a:ea typeface="+mn-ea"/>
                <a:cs typeface="Segoe Sans Display Semibold" pitchFamily="2" charset="0"/>
              </a:rPr>
              <a:t>Bring </a:t>
            </a:r>
            <a:r>
              <a:rPr lang="en-US" sz="1200" b="1" dirty="0">
                <a:ln w="3175">
                  <a:noFill/>
                </a:ln>
                <a:gradFill>
                  <a:gsLst>
                    <a:gs pos="88073">
                      <a:srgbClr val="000000"/>
                    </a:gs>
                    <a:gs pos="68807">
                      <a:srgbClr val="000000"/>
                    </a:gs>
                  </a:gsLst>
                  <a:lin ang="5400000" scaled="1"/>
                </a:gradFill>
                <a:latin typeface="+mj-lt"/>
                <a:cs typeface="Segoe Sans Display Semibold" pitchFamily="2" charset="0"/>
              </a:rPr>
              <a:t>customer business data to measure ROI with Copilot Analytics</a:t>
            </a:r>
            <a:endParaRPr kumimoji="0" lang="en-US" sz="1200" b="1" i="0" u="none" strike="noStrike" kern="1200" cap="none" spc="0" normalizeH="0" baseline="0" noProof="0" dirty="0">
              <a:ln w="3175">
                <a:noFill/>
              </a:ln>
              <a:gradFill>
                <a:gsLst>
                  <a:gs pos="88073">
                    <a:srgbClr val="000000"/>
                  </a:gs>
                  <a:gs pos="68807">
                    <a:srgbClr val="000000"/>
                  </a:gs>
                </a:gsLst>
                <a:lin ang="5400000" scaled="1"/>
              </a:gradFill>
              <a:effectLst/>
              <a:uLnTx/>
              <a:uFillTx/>
              <a:latin typeface="+mj-lt"/>
              <a:ea typeface="+mn-ea"/>
              <a:cs typeface="Segoe Sans Display Semibold" pitchFamily="2" charset="0"/>
            </a:endParaRPr>
          </a:p>
        </p:txBody>
      </p:sp>
      <p:sp>
        <p:nvSpPr>
          <p:cNvPr id="9" name="Rectangle: Rounded Corners 8">
            <a:extLst>
              <a:ext uri="{FF2B5EF4-FFF2-40B4-BE49-F238E27FC236}">
                <a16:creationId xmlns:a16="http://schemas.microsoft.com/office/drawing/2014/main" id="{6DEA2BC0-DCAE-DB4A-E433-3ED6EE3730EC}"/>
              </a:ext>
              <a:ext uri="{C183D7F6-B498-43B3-948B-1728B52AA6E4}">
                <adec:decorative xmlns:adec="http://schemas.microsoft.com/office/drawing/2017/decorative" val="1"/>
              </a:ext>
            </a:extLst>
          </p:cNvPr>
          <p:cNvSpPr/>
          <p:nvPr/>
        </p:nvSpPr>
        <p:spPr bwMode="auto">
          <a:xfrm>
            <a:off x="6955804" y="1122744"/>
            <a:ext cx="2276856" cy="5032314"/>
          </a:xfrm>
          <a:prstGeom prst="roundRect">
            <a:avLst>
              <a:gd name="adj" fmla="val 5567"/>
            </a:avLst>
          </a:prstGeom>
          <a:solidFill>
            <a:schemeClr val="bg1">
              <a:alpha val="97000"/>
            </a:schemeClr>
          </a:solidFill>
          <a:ln>
            <a:noFill/>
          </a:ln>
          <a:effectLst>
            <a:outerShdw blurRad="76200" algn="ctr"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45720" r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Sans Text"/>
              <a:ea typeface="+mn-ea"/>
              <a:cs typeface="+mn-cs"/>
            </a:endParaRPr>
          </a:p>
        </p:txBody>
      </p:sp>
      <p:sp>
        <p:nvSpPr>
          <p:cNvPr id="34" name="Rectangle: Rounded Corners 33">
            <a:extLst>
              <a:ext uri="{FF2B5EF4-FFF2-40B4-BE49-F238E27FC236}">
                <a16:creationId xmlns:a16="http://schemas.microsoft.com/office/drawing/2014/main" id="{D62CF2E1-9F72-1927-4E5A-B77E907E6F3C}"/>
              </a:ext>
            </a:extLst>
          </p:cNvPr>
          <p:cNvSpPr/>
          <p:nvPr/>
        </p:nvSpPr>
        <p:spPr>
          <a:xfrm>
            <a:off x="7006096" y="1176385"/>
            <a:ext cx="2176272" cy="550840"/>
          </a:xfrm>
          <a:prstGeom prst="roundRect">
            <a:avLst/>
          </a:prstGeom>
          <a:solidFill>
            <a:schemeClr val="accent4"/>
          </a:solidFill>
          <a:ln w="6350" cap="flat" cmpd="sng" algn="ctr">
            <a:noFill/>
            <a:prstDash val="solid"/>
            <a:miter lim="800000"/>
            <a:headEnd type="none" w="med" len="med"/>
            <a:tailEnd type="none" w="med" len="med"/>
          </a:ln>
          <a:effectLst>
            <a:outerShdw blurRad="214029" dist="43797" dir="2700000" algn="tl" rotWithShape="0">
              <a:prstClr val="black">
                <a:alpha val="1488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ts val="0"/>
              </a:spcAft>
              <a:buClrTx/>
              <a:buSzPct val="90000"/>
              <a:buFontTx/>
              <a:buNone/>
              <a:tabLst/>
              <a:defRPr/>
            </a:pPr>
            <a:r>
              <a:rPr kumimoji="0" lang="en-US" sz="1400" b="0" i="0" u="none" strike="noStrike" kern="1200" cap="none" spc="0" normalizeH="0" baseline="0" noProof="0" dirty="0">
                <a:ln>
                  <a:noFill/>
                </a:ln>
                <a:solidFill>
                  <a:srgbClr val="FFFFFF"/>
                </a:solidFill>
                <a:effectLst/>
                <a:uLnTx/>
                <a:uFillTx/>
                <a:latin typeface="+mj-lt"/>
                <a:ea typeface="+mj-ea"/>
                <a:cs typeface="+mj-cs"/>
              </a:rPr>
              <a:t> Adoption + Change Management</a:t>
            </a:r>
          </a:p>
        </p:txBody>
      </p:sp>
      <p:sp>
        <p:nvSpPr>
          <p:cNvPr id="55" name="TextBox 54">
            <a:extLst>
              <a:ext uri="{FF2B5EF4-FFF2-40B4-BE49-F238E27FC236}">
                <a16:creationId xmlns:a16="http://schemas.microsoft.com/office/drawing/2014/main" id="{4E98FE41-F9E7-F708-EA6C-4F244A53F925}"/>
              </a:ext>
            </a:extLst>
          </p:cNvPr>
          <p:cNvSpPr txBox="1">
            <a:spLocks/>
          </p:cNvSpPr>
          <p:nvPr/>
        </p:nvSpPr>
        <p:spPr>
          <a:xfrm>
            <a:off x="7202692" y="4131807"/>
            <a:ext cx="1783080" cy="435915"/>
          </a:xfrm>
          <a:prstGeom prst="rect">
            <a:avLst/>
          </a:prstGeom>
          <a:noFill/>
        </p:spPr>
        <p:txBody>
          <a:bodyPr wrap="square" lIns="0" tIns="0" rIns="0" bIns="0" anchor="ctr">
            <a:noAutofit/>
          </a:bodyPr>
          <a:lstStyle/>
          <a:p>
            <a:pPr marL="0" marR="0" lvl="1" indent="0" algn="ctr" defTabSz="951304"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chemeClr val="accent4"/>
                </a:solidFill>
                <a:effectLst/>
                <a:uLnTx/>
                <a:uFillTx/>
                <a:latin typeface="Segoe UI"/>
                <a:ea typeface="+mn-ea"/>
                <a:cs typeface="+mn-cs"/>
              </a:rPr>
              <a:t>+</a:t>
            </a:r>
          </a:p>
        </p:txBody>
      </p:sp>
      <p:sp>
        <p:nvSpPr>
          <p:cNvPr id="65" name="Grey oval containing warning">
            <a:extLst>
              <a:ext uri="{FF2B5EF4-FFF2-40B4-BE49-F238E27FC236}">
                <a16:creationId xmlns:a16="http://schemas.microsoft.com/office/drawing/2014/main" id="{FCBE5CDC-06DE-EC06-3C7A-EED80B8101D7}"/>
              </a:ext>
              <a:ext uri="{C183D7F6-B498-43B3-948B-1728B52AA6E4}">
                <adec:decorative xmlns:adec="http://schemas.microsoft.com/office/drawing/2017/decorative" val="1"/>
              </a:ext>
            </a:extLst>
          </p:cNvPr>
          <p:cNvSpPr/>
          <p:nvPr/>
        </p:nvSpPr>
        <p:spPr>
          <a:xfrm>
            <a:off x="7728692" y="6042837"/>
            <a:ext cx="731080" cy="45719"/>
          </a:xfrm>
          <a:prstGeom prst="roundRect">
            <a:avLst>
              <a:gd name="adj" fmla="val 50000"/>
            </a:avLst>
          </a:prstGeom>
          <a:solidFill>
            <a:schemeClr val="accent4"/>
          </a:solidFill>
          <a:ln w="31909" cap="flat">
            <a:noFill/>
            <a:prstDash val="solid"/>
            <a:miter/>
          </a:ln>
          <a:effectLst>
            <a:outerShdw blurRad="127000" dist="76200" dir="2700000" algn="tl" rotWithShape="0">
              <a:schemeClr val="accent6">
                <a:alpha val="20000"/>
              </a:schemeClr>
            </a:outerShdw>
          </a:effectLst>
        </p:spPr>
        <p:txBody>
          <a:bodyPr rot="0" spcFirstLastPara="0" vertOverflow="overflow" horzOverflow="overflow" vert="horz" wrap="square" lIns="146304" tIns="45720" rIns="146304" bIns="4572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ts val="600"/>
              </a:spcBef>
              <a:spcAft>
                <a:spcPct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Segoe Sans Text Semibold"/>
              <a:ea typeface="+mn-ea"/>
              <a:cs typeface="Segoe UI" pitchFamily="34" charset="0"/>
              <a:sym typeface="Segoe UI Semilight"/>
            </a:endParaRPr>
          </a:p>
        </p:txBody>
      </p:sp>
      <p:sp>
        <p:nvSpPr>
          <p:cNvPr id="24" name="TextBox 23">
            <a:extLst>
              <a:ext uri="{FF2B5EF4-FFF2-40B4-BE49-F238E27FC236}">
                <a16:creationId xmlns:a16="http://schemas.microsoft.com/office/drawing/2014/main" id="{3A582F1B-BBAD-42BE-69FB-E7C395753D49}"/>
              </a:ext>
            </a:extLst>
          </p:cNvPr>
          <p:cNvSpPr txBox="1"/>
          <p:nvPr/>
        </p:nvSpPr>
        <p:spPr>
          <a:xfrm>
            <a:off x="7300764" y="2152277"/>
            <a:ext cx="1586936" cy="1569660"/>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w="3175">
                  <a:noFill/>
                </a:ln>
                <a:gradFill>
                  <a:gsLst>
                    <a:gs pos="88073">
                      <a:srgbClr val="000000"/>
                    </a:gs>
                    <a:gs pos="68807">
                      <a:srgbClr val="000000"/>
                    </a:gs>
                  </a:gsLst>
                  <a:lin ang="5400000" scaled="1"/>
                </a:gradFill>
                <a:effectLst/>
                <a:uLnTx/>
                <a:uFillTx/>
                <a:latin typeface="+mj-lt"/>
                <a:ea typeface="+mn-ea"/>
                <a:cs typeface="Segoe Sans Display Semibold" pitchFamily="2" charset="0"/>
              </a:rPr>
              <a:t>Adoption plan</a:t>
            </a:r>
          </a:p>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w="3175">
                <a:noFill/>
              </a:ln>
              <a:gradFill>
                <a:gsLst>
                  <a:gs pos="88073">
                    <a:srgbClr val="000000"/>
                  </a:gs>
                  <a:gs pos="68807">
                    <a:srgbClr val="000000"/>
                  </a:gs>
                </a:gsLst>
                <a:lin ang="5400000" scaled="1"/>
              </a:gradFill>
              <a:effectLst/>
              <a:uLnTx/>
              <a:uFillTx/>
              <a:latin typeface="+mj-lt"/>
              <a:ea typeface="+mn-ea"/>
              <a:cs typeface="Segoe Sans Display Semibold" pitchFamily="2" charset="0"/>
            </a:endParaRP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w="3175">
                  <a:noFill/>
                </a:ln>
                <a:gradFill>
                  <a:gsLst>
                    <a:gs pos="88073">
                      <a:srgbClr val="000000"/>
                    </a:gs>
                    <a:gs pos="68807">
                      <a:srgbClr val="000000"/>
                    </a:gs>
                  </a:gsLst>
                  <a:lin ang="5400000" scaled="1"/>
                </a:gradFill>
                <a:effectLst/>
                <a:uLnTx/>
                <a:uFillTx/>
                <a:latin typeface="+mj-lt"/>
                <a:ea typeface="+mn-ea"/>
                <a:cs typeface="Segoe Sans Display Semibold" pitchFamily="2" charset="0"/>
              </a:rPr>
              <a:t>Readiness</a:t>
            </a:r>
          </a:p>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w="3175">
                <a:noFill/>
              </a:ln>
              <a:gradFill>
                <a:gsLst>
                  <a:gs pos="88073">
                    <a:srgbClr val="000000"/>
                  </a:gs>
                  <a:gs pos="68807">
                    <a:srgbClr val="000000"/>
                  </a:gs>
                </a:gsLst>
                <a:lin ang="5400000" scaled="1"/>
              </a:gradFill>
              <a:effectLst/>
              <a:uLnTx/>
              <a:uFillTx/>
              <a:latin typeface="+mj-lt"/>
              <a:ea typeface="+mn-ea"/>
              <a:cs typeface="Segoe Sans Display Semibold" pitchFamily="2" charset="0"/>
            </a:endParaRP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w="3175">
                  <a:noFill/>
                </a:ln>
                <a:gradFill>
                  <a:gsLst>
                    <a:gs pos="88073">
                      <a:srgbClr val="000000"/>
                    </a:gs>
                    <a:gs pos="68807">
                      <a:srgbClr val="000000"/>
                    </a:gs>
                  </a:gsLst>
                  <a:lin ang="5400000" scaled="1"/>
                </a:gradFill>
                <a:effectLst/>
                <a:uLnTx/>
                <a:uFillTx/>
                <a:latin typeface="+mj-lt"/>
                <a:ea typeface="+mn-ea"/>
                <a:cs typeface="Segoe Sans Display Semibold" pitchFamily="2" charset="0"/>
              </a:rPr>
              <a:t>Establish a Copilot COE</a:t>
            </a:r>
          </a:p>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w="3175">
                <a:noFill/>
              </a:ln>
              <a:gradFill>
                <a:gsLst>
                  <a:gs pos="88073">
                    <a:srgbClr val="000000"/>
                  </a:gs>
                  <a:gs pos="68807">
                    <a:srgbClr val="000000"/>
                  </a:gs>
                </a:gsLst>
                <a:lin ang="5400000" scaled="1"/>
              </a:gradFill>
              <a:effectLst/>
              <a:uLnTx/>
              <a:uFillTx/>
              <a:latin typeface="+mj-lt"/>
              <a:ea typeface="+mn-ea"/>
              <a:cs typeface="Segoe Sans Display Semibold" pitchFamily="2" charset="0"/>
            </a:endParaRP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w="3175">
                  <a:noFill/>
                </a:ln>
                <a:gradFill>
                  <a:gsLst>
                    <a:gs pos="88073">
                      <a:srgbClr val="000000"/>
                    </a:gs>
                    <a:gs pos="68807">
                      <a:srgbClr val="000000"/>
                    </a:gs>
                  </a:gsLst>
                  <a:lin ang="5400000" scaled="1"/>
                </a:gradFill>
                <a:effectLst/>
                <a:uLnTx/>
                <a:uFillTx/>
                <a:latin typeface="+mj-lt"/>
                <a:ea typeface="+mn-ea"/>
                <a:cs typeface="Segoe Sans Display Semibold" pitchFamily="2" charset="0"/>
              </a:rPr>
              <a:t>Measure impact</a:t>
            </a:r>
          </a:p>
        </p:txBody>
      </p:sp>
      <p:sp>
        <p:nvSpPr>
          <p:cNvPr id="26" name="TextBox 25">
            <a:extLst>
              <a:ext uri="{FF2B5EF4-FFF2-40B4-BE49-F238E27FC236}">
                <a16:creationId xmlns:a16="http://schemas.microsoft.com/office/drawing/2014/main" id="{4949FE23-B038-F689-D4EA-AFBD2798560A}"/>
              </a:ext>
            </a:extLst>
          </p:cNvPr>
          <p:cNvSpPr txBox="1">
            <a:spLocks/>
          </p:cNvSpPr>
          <p:nvPr/>
        </p:nvSpPr>
        <p:spPr>
          <a:xfrm>
            <a:off x="7202692" y="4667982"/>
            <a:ext cx="1783080" cy="1109094"/>
          </a:xfrm>
          <a:prstGeom prst="rect">
            <a:avLst/>
          </a:prstGeom>
          <a:noFill/>
        </p:spPr>
        <p:txBody>
          <a:bodyPr wrap="square" lIns="0" tIns="0" rIns="0" bIns="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lang="en-US" sz="1200" b="1">
                <a:ln w="3175">
                  <a:noFill/>
                </a:ln>
                <a:gradFill>
                  <a:gsLst>
                    <a:gs pos="88073">
                      <a:srgbClr val="000000"/>
                    </a:gs>
                    <a:gs pos="68807">
                      <a:srgbClr val="000000"/>
                    </a:gs>
                  </a:gsLst>
                  <a:lin ang="5400000" scaled="1"/>
                </a:gradFill>
                <a:latin typeface="+mj-lt"/>
                <a:cs typeface="Segoe Sans Display Semibold" pitchFamily="2" charset="0"/>
              </a:rPr>
              <a:t>Build Champions Networks</a:t>
            </a:r>
          </a:p>
          <a:p>
            <a:pPr marL="0" marR="0" lvl="0" indent="0" algn="ctr" defTabSz="914367" rtl="0" eaLnBrk="1" fontAlgn="auto" latinLnBrk="0" hangingPunct="1">
              <a:lnSpc>
                <a:spcPct val="100000"/>
              </a:lnSpc>
              <a:spcBef>
                <a:spcPts val="0"/>
              </a:spcBef>
              <a:spcAft>
                <a:spcPts val="0"/>
              </a:spcAft>
              <a:buClrTx/>
              <a:buSzTx/>
              <a:buFontTx/>
              <a:buNone/>
              <a:tabLst/>
              <a:defRPr/>
            </a:pPr>
            <a:endParaRPr lang="en-US" sz="1200" b="1">
              <a:ln w="3175">
                <a:noFill/>
              </a:ln>
              <a:gradFill>
                <a:gsLst>
                  <a:gs pos="88073">
                    <a:srgbClr val="000000"/>
                  </a:gs>
                  <a:gs pos="68807">
                    <a:srgbClr val="000000"/>
                  </a:gs>
                </a:gsLst>
                <a:lin ang="5400000" scaled="1"/>
              </a:gradFill>
              <a:latin typeface="+mj-lt"/>
              <a:cs typeface="Segoe Sans Display Semibold" pitchFamily="2" charset="0"/>
            </a:endParaRP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w="3175">
                  <a:noFill/>
                </a:ln>
                <a:gradFill>
                  <a:gsLst>
                    <a:gs pos="88073">
                      <a:srgbClr val="000000"/>
                    </a:gs>
                    <a:gs pos="68807">
                      <a:srgbClr val="000000"/>
                    </a:gs>
                  </a:gsLst>
                  <a:lin ang="5400000" scaled="1"/>
                </a:gradFill>
                <a:effectLst/>
                <a:uLnTx/>
                <a:uFillTx/>
                <a:latin typeface="+mj-lt"/>
                <a:ea typeface="+mn-ea"/>
                <a:cs typeface="Segoe Sans Display Semibold" pitchFamily="2" charset="0"/>
              </a:rPr>
              <a:t>Deliver training to drive higher usage and adoption</a:t>
            </a:r>
          </a:p>
        </p:txBody>
      </p:sp>
    </p:spTree>
    <p:extLst>
      <p:ext uri="{BB962C8B-B14F-4D97-AF65-F5344CB8AC3E}">
        <p14:creationId xmlns:p14="http://schemas.microsoft.com/office/powerpoint/2010/main" val="238842922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39000" b="-39000"/>
          </a:stretch>
        </a:blipFill>
        <a:effectLst/>
      </p:bgPr>
    </p:bg>
    <p:spTree>
      <p:nvGrpSpPr>
        <p:cNvPr id="1" name="">
          <a:extLst>
            <a:ext uri="{FF2B5EF4-FFF2-40B4-BE49-F238E27FC236}">
              <a16:creationId xmlns:a16="http://schemas.microsoft.com/office/drawing/2014/main" id="{68B1BB5E-4909-C5A5-665C-E8F04EE9FD67}"/>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B5DC69AA-87C0-AA6E-F53F-1A6024BFFC9F}"/>
              </a:ext>
            </a:extLst>
          </p:cNvPr>
          <p:cNvGrpSpPr/>
          <p:nvPr/>
        </p:nvGrpSpPr>
        <p:grpSpPr>
          <a:xfrm>
            <a:off x="1467452" y="6054923"/>
            <a:ext cx="9257097" cy="307777"/>
            <a:chOff x="1396866" y="6436662"/>
            <a:chExt cx="9257097" cy="307777"/>
          </a:xfrm>
        </p:grpSpPr>
        <p:sp>
          <p:nvSpPr>
            <p:cNvPr id="24" name="Left Bracket 23">
              <a:extLst>
                <a:ext uri="{FF2B5EF4-FFF2-40B4-BE49-F238E27FC236}">
                  <a16:creationId xmlns:a16="http://schemas.microsoft.com/office/drawing/2014/main" id="{154A2953-0566-21DF-06AE-F2266F7293EB}"/>
                </a:ext>
              </a:extLst>
            </p:cNvPr>
            <p:cNvSpPr/>
            <p:nvPr/>
          </p:nvSpPr>
          <p:spPr>
            <a:xfrm rot="16200000">
              <a:off x="5975993" y="1937980"/>
              <a:ext cx="98844" cy="9257097"/>
            </a:xfrm>
            <a:prstGeom prst="leftBracket">
              <a:avLst>
                <a:gd name="adj" fmla="val 101200"/>
              </a:avLst>
            </a:prstGeom>
            <a:ln w="9525" cap="rnd">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solidFill>
                  <a:srgbClr val="FFFFFF"/>
                </a:solidFill>
                <a:latin typeface="+mj-lt"/>
              </a:endParaRPr>
            </a:p>
          </p:txBody>
        </p:sp>
        <p:sp useBgFill="1">
          <p:nvSpPr>
            <p:cNvPr id="25" name="TextBox 24">
              <a:extLst>
                <a:ext uri="{FF2B5EF4-FFF2-40B4-BE49-F238E27FC236}">
                  <a16:creationId xmlns:a16="http://schemas.microsoft.com/office/drawing/2014/main" id="{3CD1C694-3C06-03E6-017F-944DEED7E5A8}"/>
                </a:ext>
              </a:extLst>
            </p:cNvPr>
            <p:cNvSpPr txBox="1"/>
            <p:nvPr/>
          </p:nvSpPr>
          <p:spPr>
            <a:xfrm>
              <a:off x="4200877" y="6436662"/>
              <a:ext cx="3649076" cy="307777"/>
            </a:xfrm>
            <a:prstGeom prst="rect">
              <a:avLst/>
            </a:prstGeom>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w="3175">
                    <a:noFill/>
                  </a:ln>
                  <a:gradFill>
                    <a:gsLst>
                      <a:gs pos="0">
                        <a:srgbClr val="0078D4"/>
                      </a:gs>
                      <a:gs pos="50000">
                        <a:srgbClr val="8661C5"/>
                      </a:gs>
                      <a:gs pos="100000">
                        <a:srgbClr val="C73ECC"/>
                      </a:gs>
                    </a:gsLst>
                    <a:lin ang="0" scaled="1"/>
                  </a:gradFill>
                  <a:effectLst/>
                  <a:uLnTx/>
                  <a:uFillTx/>
                  <a:latin typeface="+mj-lt"/>
                  <a:ea typeface="+mn-ea"/>
                  <a:cs typeface="Segoe Sans Display Semibold" pitchFamily="2" charset="0"/>
                </a:rPr>
                <a:t>   </a:t>
              </a:r>
              <a:r>
                <a:rPr kumimoji="0" lang="en-US" sz="2000" b="1" i="0" u="none" strike="noStrike" kern="1200" cap="none" spc="0" normalizeH="0" baseline="0" noProof="0" dirty="0">
                  <a:ln w="3175">
                    <a:noFill/>
                  </a:ln>
                  <a:solidFill>
                    <a:schemeClr val="tx2"/>
                  </a:solidFill>
                  <a:effectLst/>
                  <a:uLnTx/>
                  <a:uFillTx/>
                  <a:latin typeface="+mj-lt"/>
                  <a:ea typeface="+mn-ea"/>
                  <a:cs typeface="Segoe Sans Display Semibold" pitchFamily="2" charset="0"/>
                </a:rPr>
                <a:t>Partner Services Opportunity </a:t>
              </a:r>
            </a:p>
          </p:txBody>
        </p:sp>
      </p:grpSp>
      <p:grpSp>
        <p:nvGrpSpPr>
          <p:cNvPr id="26" name="Group 25">
            <a:extLst>
              <a:ext uri="{FF2B5EF4-FFF2-40B4-BE49-F238E27FC236}">
                <a16:creationId xmlns:a16="http://schemas.microsoft.com/office/drawing/2014/main" id="{DC05221E-CED0-2211-08BB-D4CEAE844A1E}"/>
              </a:ext>
            </a:extLst>
          </p:cNvPr>
          <p:cNvGrpSpPr/>
          <p:nvPr/>
        </p:nvGrpSpPr>
        <p:grpSpPr>
          <a:xfrm>
            <a:off x="571499" y="1435100"/>
            <a:ext cx="307777" cy="4410792"/>
            <a:chOff x="724585" y="1293395"/>
            <a:chExt cx="307777" cy="4848726"/>
          </a:xfrm>
        </p:grpSpPr>
        <p:sp>
          <p:nvSpPr>
            <p:cNvPr id="27" name="Left Bracket 26">
              <a:extLst>
                <a:ext uri="{FF2B5EF4-FFF2-40B4-BE49-F238E27FC236}">
                  <a16:creationId xmlns:a16="http://schemas.microsoft.com/office/drawing/2014/main" id="{4E24A790-3DD6-2D01-BA0A-8F175F28F60D}"/>
                </a:ext>
              </a:extLst>
            </p:cNvPr>
            <p:cNvSpPr/>
            <p:nvPr/>
          </p:nvSpPr>
          <p:spPr>
            <a:xfrm>
              <a:off x="885966" y="1293395"/>
              <a:ext cx="142733" cy="4848726"/>
            </a:xfrm>
            <a:prstGeom prst="leftBracket">
              <a:avLst>
                <a:gd name="adj" fmla="val 81317"/>
              </a:avLst>
            </a:prstGeom>
            <a:ln w="952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useBgFill="1">
          <p:nvSpPr>
            <p:cNvPr id="28" name="TextBox 27">
              <a:extLst>
                <a:ext uri="{FF2B5EF4-FFF2-40B4-BE49-F238E27FC236}">
                  <a16:creationId xmlns:a16="http://schemas.microsoft.com/office/drawing/2014/main" id="{29574ACB-412E-F315-4A64-60E9AC76763B}"/>
                </a:ext>
              </a:extLst>
            </p:cNvPr>
            <p:cNvSpPr txBox="1"/>
            <p:nvPr/>
          </p:nvSpPr>
          <p:spPr>
            <a:xfrm rot="16200000">
              <a:off x="-928026" y="3489983"/>
              <a:ext cx="3612999" cy="307777"/>
            </a:xfrm>
            <a:prstGeom prst="rect">
              <a:avLst/>
            </a:prstGeom>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w="3175">
                    <a:noFill/>
                  </a:ln>
                  <a:solidFill>
                    <a:schemeClr val="tx2"/>
                  </a:solidFill>
                  <a:effectLst/>
                  <a:uLnTx/>
                  <a:uFillTx/>
                  <a:latin typeface="+mj-lt"/>
                  <a:ea typeface="+mn-ea"/>
                  <a:cs typeface="Segoe Sans Display Semibold" pitchFamily="2" charset="0"/>
                </a:rPr>
                <a:t>Complexity of Agent Skills</a:t>
              </a:r>
            </a:p>
          </p:txBody>
        </p:sp>
      </p:grpSp>
      <p:sp>
        <p:nvSpPr>
          <p:cNvPr id="5" name="Title 4">
            <a:extLst>
              <a:ext uri="{FF2B5EF4-FFF2-40B4-BE49-F238E27FC236}">
                <a16:creationId xmlns:a16="http://schemas.microsoft.com/office/drawing/2014/main" id="{3CE36BF2-274D-8FDF-FC09-E8532B0E04B9}"/>
              </a:ext>
            </a:extLst>
          </p:cNvPr>
          <p:cNvSpPr>
            <a:spLocks noGrp="1"/>
          </p:cNvSpPr>
          <p:nvPr>
            <p:ph type="title"/>
          </p:nvPr>
        </p:nvSpPr>
        <p:spPr>
          <a:xfrm>
            <a:off x="588263" y="457200"/>
            <a:ext cx="11018520" cy="553998"/>
          </a:xfrm>
        </p:spPr>
        <p:txBody>
          <a:bodyPr/>
          <a:lstStyle/>
          <a:p>
            <a:r>
              <a:rPr lang="en-US" dirty="0"/>
              <a:t>Partner opportunity with Agents</a:t>
            </a:r>
          </a:p>
        </p:txBody>
      </p:sp>
      <p:sp>
        <p:nvSpPr>
          <p:cNvPr id="8" name="Footer Placeholder 7">
            <a:extLst>
              <a:ext uri="{FF2B5EF4-FFF2-40B4-BE49-F238E27FC236}">
                <a16:creationId xmlns:a16="http://schemas.microsoft.com/office/drawing/2014/main" id="{4CE43228-53E8-BF7B-FB7A-09412C18EC9D}"/>
              </a:ext>
            </a:extLst>
          </p:cNvPr>
          <p:cNvSpPr>
            <a:spLocks noGrp="1"/>
          </p:cNvSpPr>
          <p:nvPr>
            <p:ph type="ftr" sz="quarter" idx="12"/>
          </p:nvPr>
        </p:nvSpPr>
        <p:spPr/>
        <p:txBody>
          <a:bodyPr/>
          <a:lstStyle/>
          <a:p>
            <a:r>
              <a:rPr lang="en-US"/>
              <a:t>Building Customer-Centric Services offers</a:t>
            </a:r>
          </a:p>
        </p:txBody>
      </p:sp>
      <p:sp>
        <p:nvSpPr>
          <p:cNvPr id="9" name="Slide Number Placeholder 8">
            <a:extLst>
              <a:ext uri="{FF2B5EF4-FFF2-40B4-BE49-F238E27FC236}">
                <a16:creationId xmlns:a16="http://schemas.microsoft.com/office/drawing/2014/main" id="{DED9015F-D684-8BD0-E6EF-569EFCCCBB02}"/>
              </a:ext>
            </a:extLst>
          </p:cNvPr>
          <p:cNvSpPr>
            <a:spLocks noGrp="1"/>
          </p:cNvSpPr>
          <p:nvPr>
            <p:ph type="sldNum" sz="quarter" idx="13"/>
          </p:nvPr>
        </p:nvSpPr>
        <p:spPr/>
        <p:txBody>
          <a:bodyPr/>
          <a:lstStyle/>
          <a:p>
            <a:fld id="{5763EE98-C176-4152-A50F-E68840BAFA00}" type="slidenum">
              <a:rPr lang="en-US" smtClean="0"/>
              <a:pPr/>
              <a:t>14</a:t>
            </a:fld>
            <a:endParaRPr lang="en-US"/>
          </a:p>
        </p:txBody>
      </p:sp>
      <p:sp>
        <p:nvSpPr>
          <p:cNvPr id="18" name="Title 10">
            <a:extLst>
              <a:ext uri="{FF2B5EF4-FFF2-40B4-BE49-F238E27FC236}">
                <a16:creationId xmlns:a16="http://schemas.microsoft.com/office/drawing/2014/main" id="{F5AFFC1F-D2B0-D157-400E-A336203B7825}"/>
              </a:ext>
            </a:extLst>
          </p:cNvPr>
          <p:cNvSpPr txBox="1">
            <a:spLocks/>
          </p:cNvSpPr>
          <p:nvPr/>
        </p:nvSpPr>
        <p:spPr>
          <a:xfrm>
            <a:off x="2062254" y="5114372"/>
            <a:ext cx="3084394" cy="731520"/>
          </a:xfrm>
          <a:prstGeom prst="roundRect">
            <a:avLst>
              <a:gd name="adj" fmla="val 50000"/>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defTabSz="932472" fontAlgn="base">
              <a:spcBef>
                <a:spcPct val="0"/>
              </a:spcBef>
              <a:spcAft>
                <a:spcPct val="0"/>
              </a:spcAft>
              <a:defRPr sz="2000">
                <a:gradFill>
                  <a:gsLst>
                    <a:gs pos="70000">
                      <a:srgbClr val="D660FF"/>
                    </a:gs>
                    <a:gs pos="52000">
                      <a:srgbClr val="818EFF"/>
                    </a:gs>
                    <a:gs pos="35000">
                      <a:srgbClr val="2DB4FF"/>
                    </a:gs>
                    <a:gs pos="30000">
                      <a:srgbClr val="2DB4FF"/>
                    </a:gs>
                    <a:gs pos="3000">
                      <a:srgbClr val="0078D4"/>
                    </a:gs>
                    <a:gs pos="97000">
                      <a:srgbClr val="FEA874"/>
                    </a:gs>
                  </a:gsLst>
                  <a:lin ang="3000000" scaled="0"/>
                </a:gra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800">
                <a:solidFill>
                  <a:schemeClr val="bg1"/>
                </a:solidFill>
                <a:latin typeface="+mj-lt"/>
              </a:rPr>
              <a:t>Pre-built agents</a:t>
            </a:r>
          </a:p>
        </p:txBody>
      </p:sp>
      <p:sp>
        <p:nvSpPr>
          <p:cNvPr id="19" name="Title 10">
            <a:extLst>
              <a:ext uri="{FF2B5EF4-FFF2-40B4-BE49-F238E27FC236}">
                <a16:creationId xmlns:a16="http://schemas.microsoft.com/office/drawing/2014/main" id="{C26145BE-8F9F-2602-AF9A-8D63C82C6C4F}"/>
              </a:ext>
            </a:extLst>
          </p:cNvPr>
          <p:cNvSpPr txBox="1">
            <a:spLocks/>
          </p:cNvSpPr>
          <p:nvPr/>
        </p:nvSpPr>
        <p:spPr>
          <a:xfrm>
            <a:off x="3282641" y="4192933"/>
            <a:ext cx="3084394" cy="731520"/>
          </a:xfrm>
          <a:prstGeom prst="roundRect">
            <a:avLst>
              <a:gd name="adj" fmla="val 50000"/>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defTabSz="932472" fontAlgn="base">
              <a:spcBef>
                <a:spcPct val="0"/>
              </a:spcBef>
              <a:spcAft>
                <a:spcPct val="0"/>
              </a:spcAft>
              <a:defRPr sz="2000">
                <a:gradFill>
                  <a:gsLst>
                    <a:gs pos="70000">
                      <a:srgbClr val="D660FF"/>
                    </a:gs>
                    <a:gs pos="52000">
                      <a:srgbClr val="818EFF"/>
                    </a:gs>
                    <a:gs pos="35000">
                      <a:srgbClr val="2DB4FF"/>
                    </a:gs>
                    <a:gs pos="30000">
                      <a:srgbClr val="2DB4FF"/>
                    </a:gs>
                    <a:gs pos="3000">
                      <a:srgbClr val="0078D4"/>
                    </a:gs>
                    <a:gs pos="97000">
                      <a:srgbClr val="FEA874"/>
                    </a:gs>
                  </a:gsLst>
                  <a:lin ang="3000000" scaled="0"/>
                </a:gra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800">
                <a:solidFill>
                  <a:schemeClr val="bg1"/>
                </a:solidFill>
                <a:latin typeface="+mj-lt"/>
              </a:rPr>
              <a:t>Customize</a:t>
            </a:r>
            <a:br>
              <a:rPr lang="en-US" sz="1800">
                <a:solidFill>
                  <a:schemeClr val="bg1"/>
                </a:solidFill>
                <a:latin typeface="+mj-lt"/>
              </a:rPr>
            </a:br>
            <a:r>
              <a:rPr lang="en-US" sz="1800">
                <a:solidFill>
                  <a:schemeClr val="bg1"/>
                </a:solidFill>
                <a:latin typeface="+mj-lt"/>
              </a:rPr>
              <a:t>pre-built agents</a:t>
            </a:r>
          </a:p>
        </p:txBody>
      </p:sp>
      <p:sp>
        <p:nvSpPr>
          <p:cNvPr id="20" name="Title 10">
            <a:extLst>
              <a:ext uri="{FF2B5EF4-FFF2-40B4-BE49-F238E27FC236}">
                <a16:creationId xmlns:a16="http://schemas.microsoft.com/office/drawing/2014/main" id="{382EFA77-F2ED-8CD6-D7DC-DA2516F0EEF8}"/>
              </a:ext>
            </a:extLst>
          </p:cNvPr>
          <p:cNvSpPr txBox="1">
            <a:spLocks/>
          </p:cNvSpPr>
          <p:nvPr/>
        </p:nvSpPr>
        <p:spPr>
          <a:xfrm>
            <a:off x="4638198" y="3271494"/>
            <a:ext cx="3084394" cy="731520"/>
          </a:xfrm>
          <a:prstGeom prst="roundRect">
            <a:avLst>
              <a:gd name="adj" fmla="val 50000"/>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defTabSz="932472" fontAlgn="base">
              <a:spcBef>
                <a:spcPct val="0"/>
              </a:spcBef>
              <a:spcAft>
                <a:spcPct val="0"/>
              </a:spcAft>
              <a:defRPr sz="2000">
                <a:gradFill>
                  <a:gsLst>
                    <a:gs pos="70000">
                      <a:srgbClr val="D660FF"/>
                    </a:gs>
                    <a:gs pos="52000">
                      <a:srgbClr val="818EFF"/>
                    </a:gs>
                    <a:gs pos="35000">
                      <a:srgbClr val="2DB4FF"/>
                    </a:gs>
                    <a:gs pos="30000">
                      <a:srgbClr val="2DB4FF"/>
                    </a:gs>
                    <a:gs pos="3000">
                      <a:srgbClr val="0078D4"/>
                    </a:gs>
                    <a:gs pos="97000">
                      <a:srgbClr val="FEA874"/>
                    </a:gs>
                  </a:gsLst>
                  <a:lin ang="3000000" scaled="0"/>
                </a:gra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800">
                <a:solidFill>
                  <a:schemeClr val="bg1"/>
                </a:solidFill>
                <a:latin typeface="+mj-lt"/>
              </a:rPr>
              <a:t>Build custom agents</a:t>
            </a:r>
            <a:br>
              <a:rPr lang="en-US" sz="1800">
                <a:solidFill>
                  <a:schemeClr val="bg1"/>
                </a:solidFill>
                <a:latin typeface="+mj-lt"/>
              </a:rPr>
            </a:br>
            <a:r>
              <a:rPr lang="en-US" sz="1800">
                <a:solidFill>
                  <a:schemeClr val="bg1"/>
                </a:solidFill>
                <a:latin typeface="+mj-lt"/>
              </a:rPr>
              <a:t>for customer</a:t>
            </a:r>
          </a:p>
        </p:txBody>
      </p:sp>
      <p:sp>
        <p:nvSpPr>
          <p:cNvPr id="21" name="Title 10">
            <a:extLst>
              <a:ext uri="{FF2B5EF4-FFF2-40B4-BE49-F238E27FC236}">
                <a16:creationId xmlns:a16="http://schemas.microsoft.com/office/drawing/2014/main" id="{4371BC1F-C1F1-4365-F3F7-EF9129FB848E}"/>
              </a:ext>
            </a:extLst>
          </p:cNvPr>
          <p:cNvSpPr txBox="1">
            <a:spLocks/>
          </p:cNvSpPr>
          <p:nvPr/>
        </p:nvSpPr>
        <p:spPr>
          <a:xfrm>
            <a:off x="5801251" y="2350055"/>
            <a:ext cx="3084394" cy="731520"/>
          </a:xfrm>
          <a:prstGeom prst="roundRect">
            <a:avLst>
              <a:gd name="adj" fmla="val 50000"/>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defTabSz="932472" fontAlgn="base">
              <a:spcBef>
                <a:spcPct val="0"/>
              </a:spcBef>
              <a:spcAft>
                <a:spcPct val="0"/>
              </a:spcAft>
              <a:defRPr sz="2000">
                <a:gradFill>
                  <a:gsLst>
                    <a:gs pos="70000">
                      <a:srgbClr val="D660FF"/>
                    </a:gs>
                    <a:gs pos="52000">
                      <a:srgbClr val="818EFF"/>
                    </a:gs>
                    <a:gs pos="35000">
                      <a:srgbClr val="2DB4FF"/>
                    </a:gs>
                    <a:gs pos="30000">
                      <a:srgbClr val="2DB4FF"/>
                    </a:gs>
                    <a:gs pos="3000">
                      <a:srgbClr val="0078D4"/>
                    </a:gs>
                    <a:gs pos="97000">
                      <a:srgbClr val="FEA874"/>
                    </a:gs>
                  </a:gsLst>
                  <a:lin ang="3000000" scaled="0"/>
                </a:gra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800">
                <a:solidFill>
                  <a:schemeClr val="bg1"/>
                </a:solidFill>
                <a:latin typeface="+mj-lt"/>
              </a:rPr>
              <a:t>Develop COE or</a:t>
            </a:r>
            <a:br>
              <a:rPr lang="en-US" sz="1800">
                <a:solidFill>
                  <a:schemeClr val="bg1"/>
                </a:solidFill>
                <a:latin typeface="+mj-lt"/>
              </a:rPr>
            </a:br>
            <a:r>
              <a:rPr lang="en-US" sz="1800">
                <a:solidFill>
                  <a:schemeClr val="bg1"/>
                </a:solidFill>
                <a:latin typeface="+mj-lt"/>
              </a:rPr>
              <a:t>Agent Factory</a:t>
            </a:r>
          </a:p>
        </p:txBody>
      </p:sp>
      <p:sp>
        <p:nvSpPr>
          <p:cNvPr id="22" name="Title 10">
            <a:extLst>
              <a:ext uri="{FF2B5EF4-FFF2-40B4-BE49-F238E27FC236}">
                <a16:creationId xmlns:a16="http://schemas.microsoft.com/office/drawing/2014/main" id="{98BE2E4B-B8AA-D5E4-24A6-C844E68964EE}"/>
              </a:ext>
            </a:extLst>
          </p:cNvPr>
          <p:cNvSpPr txBox="1">
            <a:spLocks/>
          </p:cNvSpPr>
          <p:nvPr/>
        </p:nvSpPr>
        <p:spPr>
          <a:xfrm>
            <a:off x="7162825" y="1435100"/>
            <a:ext cx="3084394" cy="731520"/>
          </a:xfrm>
          <a:prstGeom prst="roundRect">
            <a:avLst>
              <a:gd name="adj" fmla="val 50000"/>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defTabSz="932472" fontAlgn="base">
              <a:spcBef>
                <a:spcPct val="0"/>
              </a:spcBef>
              <a:spcAft>
                <a:spcPct val="0"/>
              </a:spcAft>
              <a:defRPr sz="2000">
                <a:gradFill>
                  <a:gsLst>
                    <a:gs pos="70000">
                      <a:srgbClr val="D660FF"/>
                    </a:gs>
                    <a:gs pos="52000">
                      <a:srgbClr val="818EFF"/>
                    </a:gs>
                    <a:gs pos="35000">
                      <a:srgbClr val="2DB4FF"/>
                    </a:gs>
                    <a:gs pos="30000">
                      <a:srgbClr val="2DB4FF"/>
                    </a:gs>
                    <a:gs pos="3000">
                      <a:srgbClr val="0078D4"/>
                    </a:gs>
                    <a:gs pos="97000">
                      <a:srgbClr val="FEA874"/>
                    </a:gs>
                  </a:gsLst>
                  <a:lin ang="3000000" scaled="0"/>
                </a:gra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800" dirty="0">
                <a:solidFill>
                  <a:schemeClr val="bg1"/>
                </a:solidFill>
                <a:latin typeface="+mj-lt"/>
              </a:rPr>
              <a:t>Develop agent </a:t>
            </a:r>
            <a:br>
              <a:rPr lang="en-US" sz="1800" dirty="0">
                <a:solidFill>
                  <a:schemeClr val="bg1"/>
                </a:solidFill>
                <a:latin typeface="+mj-lt"/>
              </a:rPr>
            </a:br>
            <a:r>
              <a:rPr lang="en-US" sz="1800" dirty="0">
                <a:solidFill>
                  <a:schemeClr val="bg1"/>
                </a:solidFill>
                <a:latin typeface="+mj-lt"/>
              </a:rPr>
              <a:t>repeatable IP</a:t>
            </a:r>
          </a:p>
        </p:txBody>
      </p:sp>
    </p:spTree>
    <p:extLst>
      <p:ext uri="{BB962C8B-B14F-4D97-AF65-F5344CB8AC3E}">
        <p14:creationId xmlns:p14="http://schemas.microsoft.com/office/powerpoint/2010/main" val="1443298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000"/>
                                        <p:tgtEl>
                                          <p:spTgt spid="18"/>
                                        </p:tgtEl>
                                      </p:cBhvr>
                                    </p:animEffect>
                                    <p:anim calcmode="lin" valueType="num">
                                      <p:cBhvr>
                                        <p:cTn id="8" dur="2000" fill="hold"/>
                                        <p:tgtEl>
                                          <p:spTgt spid="18"/>
                                        </p:tgtEl>
                                        <p:attrNameLst>
                                          <p:attrName>ppt_x</p:attrName>
                                        </p:attrNameLst>
                                      </p:cBhvr>
                                      <p:tavLst>
                                        <p:tav tm="0">
                                          <p:val>
                                            <p:strVal val="#ppt_x"/>
                                          </p:val>
                                        </p:tav>
                                        <p:tav tm="100000">
                                          <p:val>
                                            <p:strVal val="#ppt_x"/>
                                          </p:val>
                                        </p:tav>
                                      </p:tavLst>
                                    </p:anim>
                                    <p:anim calcmode="lin" valueType="num">
                                      <p:cBhvr>
                                        <p:cTn id="9" dur="2000" fill="hold"/>
                                        <p:tgtEl>
                                          <p:spTgt spid="18"/>
                                        </p:tgtEl>
                                        <p:attrNameLst>
                                          <p:attrName>ppt_y</p:attrName>
                                        </p:attrNameLst>
                                      </p:cBhvr>
                                      <p:tavLst>
                                        <p:tav tm="0">
                                          <p:val>
                                            <p:strVal val="#ppt_y+.1"/>
                                          </p:val>
                                        </p:tav>
                                        <p:tav tm="100000">
                                          <p:val>
                                            <p:strVal val="#ppt_y"/>
                                          </p:val>
                                        </p:tav>
                                      </p:tavLst>
                                    </p:anim>
                                  </p:childTnLst>
                                </p:cTn>
                              </p:par>
                            </p:childTnLst>
                          </p:cTn>
                        </p:par>
                        <p:par>
                          <p:cTn id="10" fill="hold">
                            <p:stCondLst>
                              <p:cond delay="2000"/>
                            </p:stCondLst>
                            <p:childTnLst>
                              <p:par>
                                <p:cTn id="11" presetID="42" presetClass="entr" presetSubtype="0" fill="hold" grpId="0"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2000"/>
                                        <p:tgtEl>
                                          <p:spTgt spid="19"/>
                                        </p:tgtEl>
                                      </p:cBhvr>
                                    </p:animEffect>
                                    <p:anim calcmode="lin" valueType="num">
                                      <p:cBhvr>
                                        <p:cTn id="14" dur="2000" fill="hold"/>
                                        <p:tgtEl>
                                          <p:spTgt spid="19"/>
                                        </p:tgtEl>
                                        <p:attrNameLst>
                                          <p:attrName>ppt_x</p:attrName>
                                        </p:attrNameLst>
                                      </p:cBhvr>
                                      <p:tavLst>
                                        <p:tav tm="0">
                                          <p:val>
                                            <p:strVal val="#ppt_x"/>
                                          </p:val>
                                        </p:tav>
                                        <p:tav tm="100000">
                                          <p:val>
                                            <p:strVal val="#ppt_x"/>
                                          </p:val>
                                        </p:tav>
                                      </p:tavLst>
                                    </p:anim>
                                    <p:anim calcmode="lin" valueType="num">
                                      <p:cBhvr>
                                        <p:cTn id="15" dur="2000" fill="hold"/>
                                        <p:tgtEl>
                                          <p:spTgt spid="19"/>
                                        </p:tgtEl>
                                        <p:attrNameLst>
                                          <p:attrName>ppt_y</p:attrName>
                                        </p:attrNameLst>
                                      </p:cBhvr>
                                      <p:tavLst>
                                        <p:tav tm="0">
                                          <p:val>
                                            <p:strVal val="#ppt_y+.1"/>
                                          </p:val>
                                        </p:tav>
                                        <p:tav tm="100000">
                                          <p:val>
                                            <p:strVal val="#ppt_y"/>
                                          </p:val>
                                        </p:tav>
                                      </p:tavLst>
                                    </p:anim>
                                  </p:childTnLst>
                                </p:cTn>
                              </p:par>
                            </p:childTnLst>
                          </p:cTn>
                        </p:par>
                        <p:par>
                          <p:cTn id="16" fill="hold">
                            <p:stCondLst>
                              <p:cond delay="4000"/>
                            </p:stCondLst>
                            <p:childTnLst>
                              <p:par>
                                <p:cTn id="17" presetID="42" presetClass="entr" presetSubtype="0" fill="hold" grpId="0"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000"/>
                                        <p:tgtEl>
                                          <p:spTgt spid="20"/>
                                        </p:tgtEl>
                                      </p:cBhvr>
                                    </p:animEffect>
                                    <p:anim calcmode="lin" valueType="num">
                                      <p:cBhvr>
                                        <p:cTn id="20" dur="2000" fill="hold"/>
                                        <p:tgtEl>
                                          <p:spTgt spid="20"/>
                                        </p:tgtEl>
                                        <p:attrNameLst>
                                          <p:attrName>ppt_x</p:attrName>
                                        </p:attrNameLst>
                                      </p:cBhvr>
                                      <p:tavLst>
                                        <p:tav tm="0">
                                          <p:val>
                                            <p:strVal val="#ppt_x"/>
                                          </p:val>
                                        </p:tav>
                                        <p:tav tm="100000">
                                          <p:val>
                                            <p:strVal val="#ppt_x"/>
                                          </p:val>
                                        </p:tav>
                                      </p:tavLst>
                                    </p:anim>
                                    <p:anim calcmode="lin" valueType="num">
                                      <p:cBhvr>
                                        <p:cTn id="21" dur="2000" fill="hold"/>
                                        <p:tgtEl>
                                          <p:spTgt spid="20"/>
                                        </p:tgtEl>
                                        <p:attrNameLst>
                                          <p:attrName>ppt_y</p:attrName>
                                        </p:attrNameLst>
                                      </p:cBhvr>
                                      <p:tavLst>
                                        <p:tav tm="0">
                                          <p:val>
                                            <p:strVal val="#ppt_y+.1"/>
                                          </p:val>
                                        </p:tav>
                                        <p:tav tm="100000">
                                          <p:val>
                                            <p:strVal val="#ppt_y"/>
                                          </p:val>
                                        </p:tav>
                                      </p:tavLst>
                                    </p:anim>
                                  </p:childTnLst>
                                </p:cTn>
                              </p:par>
                            </p:childTnLst>
                          </p:cTn>
                        </p:par>
                        <p:par>
                          <p:cTn id="22" fill="hold">
                            <p:stCondLst>
                              <p:cond delay="6000"/>
                            </p:stCondLst>
                            <p:childTnLst>
                              <p:par>
                                <p:cTn id="23" presetID="42" presetClass="entr" presetSubtype="0" fill="hold" grpId="0" nodeType="after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2000"/>
                                        <p:tgtEl>
                                          <p:spTgt spid="21"/>
                                        </p:tgtEl>
                                      </p:cBhvr>
                                    </p:animEffect>
                                    <p:anim calcmode="lin" valueType="num">
                                      <p:cBhvr>
                                        <p:cTn id="26" dur="2000" fill="hold"/>
                                        <p:tgtEl>
                                          <p:spTgt spid="21"/>
                                        </p:tgtEl>
                                        <p:attrNameLst>
                                          <p:attrName>ppt_x</p:attrName>
                                        </p:attrNameLst>
                                      </p:cBhvr>
                                      <p:tavLst>
                                        <p:tav tm="0">
                                          <p:val>
                                            <p:strVal val="#ppt_x"/>
                                          </p:val>
                                        </p:tav>
                                        <p:tav tm="100000">
                                          <p:val>
                                            <p:strVal val="#ppt_x"/>
                                          </p:val>
                                        </p:tav>
                                      </p:tavLst>
                                    </p:anim>
                                    <p:anim calcmode="lin" valueType="num">
                                      <p:cBhvr>
                                        <p:cTn id="27" dur="2000" fill="hold"/>
                                        <p:tgtEl>
                                          <p:spTgt spid="21"/>
                                        </p:tgtEl>
                                        <p:attrNameLst>
                                          <p:attrName>ppt_y</p:attrName>
                                        </p:attrNameLst>
                                      </p:cBhvr>
                                      <p:tavLst>
                                        <p:tav tm="0">
                                          <p:val>
                                            <p:strVal val="#ppt_y+.1"/>
                                          </p:val>
                                        </p:tav>
                                        <p:tav tm="100000">
                                          <p:val>
                                            <p:strVal val="#ppt_y"/>
                                          </p:val>
                                        </p:tav>
                                      </p:tavLst>
                                    </p:anim>
                                  </p:childTnLst>
                                </p:cTn>
                              </p:par>
                            </p:childTnLst>
                          </p:cTn>
                        </p:par>
                        <p:par>
                          <p:cTn id="28" fill="hold">
                            <p:stCondLst>
                              <p:cond delay="8000"/>
                            </p:stCondLst>
                            <p:childTnLst>
                              <p:par>
                                <p:cTn id="29" presetID="42" presetClass="entr" presetSubtype="0" fill="hold" grpId="0" nodeType="after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2000"/>
                                        <p:tgtEl>
                                          <p:spTgt spid="22"/>
                                        </p:tgtEl>
                                      </p:cBhvr>
                                    </p:animEffect>
                                    <p:anim calcmode="lin" valueType="num">
                                      <p:cBhvr>
                                        <p:cTn id="32" dur="2000" fill="hold"/>
                                        <p:tgtEl>
                                          <p:spTgt spid="22"/>
                                        </p:tgtEl>
                                        <p:attrNameLst>
                                          <p:attrName>ppt_x</p:attrName>
                                        </p:attrNameLst>
                                      </p:cBhvr>
                                      <p:tavLst>
                                        <p:tav tm="0">
                                          <p:val>
                                            <p:strVal val="#ppt_x"/>
                                          </p:val>
                                        </p:tav>
                                        <p:tav tm="100000">
                                          <p:val>
                                            <p:strVal val="#ppt_x"/>
                                          </p:val>
                                        </p:tav>
                                      </p:tavLst>
                                    </p:anim>
                                    <p:anim calcmode="lin" valueType="num">
                                      <p:cBhvr>
                                        <p:cTn id="33" dur="2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83A1126-5DFD-591F-3EEA-D2B7B35B657F}"/>
            </a:ext>
          </a:extLst>
        </p:cNvPr>
        <p:cNvGrpSpPr/>
        <p:nvPr/>
      </p:nvGrpSpPr>
      <p:grpSpPr>
        <a:xfrm>
          <a:off x="0" y="0"/>
          <a:ext cx="0" cy="0"/>
          <a:chOff x="0" y="0"/>
          <a:chExt cx="0" cy="0"/>
        </a:xfrm>
      </p:grpSpPr>
      <p:sp>
        <p:nvSpPr>
          <p:cNvPr id="36" name="Title 35">
            <a:extLst>
              <a:ext uri="{FF2B5EF4-FFF2-40B4-BE49-F238E27FC236}">
                <a16:creationId xmlns:a16="http://schemas.microsoft.com/office/drawing/2014/main" id="{A452B14F-D93A-D1D4-1BED-CC6897A380F2}"/>
              </a:ext>
            </a:extLst>
          </p:cNvPr>
          <p:cNvSpPr>
            <a:spLocks noGrp="1"/>
          </p:cNvSpPr>
          <p:nvPr>
            <p:ph type="title"/>
          </p:nvPr>
        </p:nvSpPr>
        <p:spPr>
          <a:xfrm>
            <a:off x="588263" y="457200"/>
            <a:ext cx="8735145" cy="1107996"/>
          </a:xfrm>
        </p:spPr>
        <p:txBody>
          <a:bodyPr/>
          <a:lstStyle/>
          <a:p>
            <a:r>
              <a:rPr lang="en-US" dirty="0"/>
              <a:t>Implement functional go-to-market strategies across services</a:t>
            </a:r>
          </a:p>
        </p:txBody>
      </p:sp>
      <p:sp>
        <p:nvSpPr>
          <p:cNvPr id="38" name="Text Placeholder 37">
            <a:extLst>
              <a:ext uri="{FF2B5EF4-FFF2-40B4-BE49-F238E27FC236}">
                <a16:creationId xmlns:a16="http://schemas.microsoft.com/office/drawing/2014/main" id="{941FA925-8544-FD13-FA79-60EF3FCB1641}"/>
              </a:ext>
            </a:extLst>
          </p:cNvPr>
          <p:cNvSpPr>
            <a:spLocks noGrp="1"/>
          </p:cNvSpPr>
          <p:nvPr>
            <p:ph type="body" sz="quarter" idx="14"/>
          </p:nvPr>
        </p:nvSpPr>
        <p:spPr>
          <a:xfrm>
            <a:off x="584200" y="3660493"/>
            <a:ext cx="2532063" cy="2615184"/>
          </a:xfrm>
          <a:prstGeom prst="roundRect">
            <a:avLst>
              <a:gd name="adj" fmla="val 5925"/>
            </a:avLst>
          </a:prstGeom>
          <a:gradFill flip="none" rotWithShape="1">
            <a:gsLst>
              <a:gs pos="0">
                <a:schemeClr val="bg1">
                  <a:alpha val="25000"/>
                </a:schemeClr>
              </a:gs>
              <a:gs pos="93000">
                <a:schemeClr val="bg1"/>
              </a:gs>
            </a:gsLst>
            <a:lin ang="16200000" scaled="1"/>
            <a:tileRect/>
          </a:gradFill>
          <a:ln w="12700">
            <a:solidFill>
              <a:schemeClr val="bg1"/>
            </a:solidFill>
          </a:ln>
          <a:effectLst>
            <a:outerShdw blurRad="88900" dist="101600" sx="102000" sy="102000" algn="ctr" rotWithShape="0">
              <a:prstClr val="black">
                <a:alpha val="6000"/>
              </a:prstClr>
            </a:outerShdw>
          </a:effectLst>
        </p:spPr>
        <p:txBody>
          <a:bodyPr vert="horz" wrap="square" lIns="274320" tIns="274320" rIns="274320" bIns="274320" rtlCol="0" anchor="t" anchorCtr="0">
            <a:noAutofit/>
          </a:bodyPr>
          <a:lstStyle/>
          <a:p>
            <a:pPr marL="0" indent="0" algn="ctr" defTabSz="914367">
              <a:spcBef>
                <a:spcPts val="1200"/>
              </a:spcBef>
              <a:spcAft>
                <a:spcPts val="600"/>
              </a:spcAft>
              <a:buSzTx/>
              <a:buNone/>
              <a:defRPr/>
            </a:pPr>
            <a:r>
              <a:rPr lang="en-US" dirty="0">
                <a:gradFill>
                  <a:gsLst>
                    <a:gs pos="70000">
                      <a:srgbClr val="D660FF"/>
                    </a:gs>
                    <a:gs pos="52000">
                      <a:srgbClr val="818EFF"/>
                    </a:gs>
                    <a:gs pos="35000">
                      <a:srgbClr val="2DB4FF"/>
                    </a:gs>
                    <a:gs pos="30000">
                      <a:srgbClr val="2DB4FF"/>
                    </a:gs>
                    <a:gs pos="3000">
                      <a:srgbClr val="0078D4"/>
                    </a:gs>
                    <a:gs pos="97000">
                      <a:srgbClr val="FEA874"/>
                    </a:gs>
                  </a:gsLst>
                  <a:lin ang="3000000" scaled="0"/>
                </a:gradFill>
                <a:latin typeface="+mj-lt"/>
                <a:cs typeface="Segoe UI" pitchFamily="34" charset="0"/>
              </a:rPr>
              <a:t>AI &amp; Copilot Advisory</a:t>
            </a:r>
          </a:p>
          <a:p>
            <a:pPr marL="0" indent="0">
              <a:spcBef>
                <a:spcPts val="0"/>
              </a:spcBef>
              <a:spcAft>
                <a:spcPts val="600"/>
              </a:spcAft>
              <a:buNone/>
            </a:pPr>
            <a:r>
              <a:rPr lang="en-US" sz="1400" dirty="0"/>
              <a:t>Engage with business leaders and decision makers to uncover the high-value functional scenarios within their business.</a:t>
            </a:r>
          </a:p>
        </p:txBody>
      </p:sp>
      <p:sp>
        <p:nvSpPr>
          <p:cNvPr id="39" name="Text Placeholder 38">
            <a:extLst>
              <a:ext uri="{FF2B5EF4-FFF2-40B4-BE49-F238E27FC236}">
                <a16:creationId xmlns:a16="http://schemas.microsoft.com/office/drawing/2014/main" id="{C72A8015-ADF4-359B-CE0D-2543D2E3C84C}"/>
              </a:ext>
            </a:extLst>
          </p:cNvPr>
          <p:cNvSpPr>
            <a:spLocks noGrp="1"/>
          </p:cNvSpPr>
          <p:nvPr>
            <p:ph type="body" sz="quarter" idx="15"/>
          </p:nvPr>
        </p:nvSpPr>
        <p:spPr>
          <a:xfrm>
            <a:off x="3413125" y="3653853"/>
            <a:ext cx="2532063" cy="2615184"/>
          </a:xfrm>
          <a:prstGeom prst="roundRect">
            <a:avLst>
              <a:gd name="adj" fmla="val 5799"/>
            </a:avLst>
          </a:prstGeom>
          <a:gradFill flip="none" rotWithShape="1">
            <a:gsLst>
              <a:gs pos="0">
                <a:schemeClr val="bg1">
                  <a:alpha val="25000"/>
                </a:schemeClr>
              </a:gs>
              <a:gs pos="93000">
                <a:schemeClr val="bg1"/>
              </a:gs>
            </a:gsLst>
            <a:lin ang="16200000" scaled="1"/>
            <a:tileRect/>
          </a:gradFill>
          <a:ln w="12700">
            <a:solidFill>
              <a:schemeClr val="bg1"/>
            </a:solidFill>
          </a:ln>
          <a:effectLst>
            <a:outerShdw blurRad="88900" dist="101600" sx="102000" sy="102000" algn="ctr" rotWithShape="0">
              <a:prstClr val="black">
                <a:alpha val="6000"/>
              </a:prstClr>
            </a:outerShdw>
          </a:effectLst>
        </p:spPr>
        <p:txBody>
          <a:bodyPr vert="horz" wrap="square" lIns="274320" tIns="274320" rIns="274320" bIns="274320" rtlCol="0" anchor="t" anchorCtr="0">
            <a:noAutofit/>
          </a:bodyPr>
          <a:lstStyle/>
          <a:p>
            <a:pPr marL="0" indent="0" algn="ctr" defTabSz="914367">
              <a:spcBef>
                <a:spcPts val="1200"/>
              </a:spcBef>
              <a:spcAft>
                <a:spcPts val="600"/>
              </a:spcAft>
              <a:buSzTx/>
              <a:buNone/>
              <a:defRPr/>
            </a:pPr>
            <a:r>
              <a:rPr lang="en-US" dirty="0">
                <a:gradFill>
                  <a:gsLst>
                    <a:gs pos="70000">
                      <a:srgbClr val="D660FF"/>
                    </a:gs>
                    <a:gs pos="52000">
                      <a:srgbClr val="818EFF"/>
                    </a:gs>
                    <a:gs pos="35000">
                      <a:srgbClr val="2DB4FF"/>
                    </a:gs>
                    <a:gs pos="30000">
                      <a:srgbClr val="2DB4FF"/>
                    </a:gs>
                    <a:gs pos="3000">
                      <a:srgbClr val="0078D4"/>
                    </a:gs>
                    <a:gs pos="97000">
                      <a:srgbClr val="FEA874"/>
                    </a:gs>
                  </a:gsLst>
                  <a:lin ang="3000000" scaled="0"/>
                </a:gradFill>
                <a:latin typeface="+mj-lt"/>
                <a:cs typeface="Segoe UI" pitchFamily="34" charset="0"/>
              </a:rPr>
              <a:t>Get ready and deploy</a:t>
            </a:r>
          </a:p>
          <a:p>
            <a:pPr marL="0" indent="0">
              <a:spcBef>
                <a:spcPts val="0"/>
              </a:spcBef>
              <a:spcAft>
                <a:spcPts val="600"/>
              </a:spcAft>
              <a:buNone/>
            </a:pPr>
            <a:r>
              <a:rPr lang="en-US" sz="1400" dirty="0"/>
              <a:t>Identify key technical components of each business function and create a deployment plan for each scenario.</a:t>
            </a:r>
          </a:p>
        </p:txBody>
      </p:sp>
      <p:sp>
        <p:nvSpPr>
          <p:cNvPr id="43" name="Text Placeholder 42">
            <a:extLst>
              <a:ext uri="{FF2B5EF4-FFF2-40B4-BE49-F238E27FC236}">
                <a16:creationId xmlns:a16="http://schemas.microsoft.com/office/drawing/2014/main" id="{C644FBD7-A8BB-78EF-39CF-3FAB271E979D}"/>
              </a:ext>
            </a:extLst>
          </p:cNvPr>
          <p:cNvSpPr>
            <a:spLocks noGrp="1"/>
          </p:cNvSpPr>
          <p:nvPr>
            <p:ph type="body" sz="quarter" idx="19"/>
          </p:nvPr>
        </p:nvSpPr>
        <p:spPr>
          <a:xfrm>
            <a:off x="6244208" y="3660494"/>
            <a:ext cx="2532063" cy="2612827"/>
          </a:xfrm>
          <a:prstGeom prst="roundRect">
            <a:avLst>
              <a:gd name="adj" fmla="val 5239"/>
            </a:avLst>
          </a:prstGeom>
          <a:gradFill flip="none" rotWithShape="1">
            <a:gsLst>
              <a:gs pos="0">
                <a:schemeClr val="bg1">
                  <a:alpha val="25000"/>
                </a:schemeClr>
              </a:gs>
              <a:gs pos="93000">
                <a:schemeClr val="bg1"/>
              </a:gs>
            </a:gsLst>
            <a:lin ang="16200000" scaled="1"/>
            <a:tileRect/>
          </a:gradFill>
          <a:ln w="12700">
            <a:solidFill>
              <a:schemeClr val="bg1"/>
            </a:solidFill>
          </a:ln>
          <a:effectLst>
            <a:outerShdw blurRad="88900" dist="101600" sx="102000" sy="102000" algn="ctr" rotWithShape="0">
              <a:prstClr val="black">
                <a:alpha val="6000"/>
              </a:prstClr>
            </a:outerShdw>
          </a:effectLst>
        </p:spPr>
        <p:txBody>
          <a:bodyPr vert="horz" wrap="square" lIns="274320" tIns="274320" rIns="274320" bIns="274320" rtlCol="0" anchor="t" anchorCtr="0">
            <a:spAutoFit/>
          </a:bodyPr>
          <a:lstStyle/>
          <a:p>
            <a:pPr marL="0" indent="0" algn="ctr" defTabSz="914367">
              <a:spcBef>
                <a:spcPts val="1200"/>
              </a:spcBef>
              <a:spcAft>
                <a:spcPts val="600"/>
              </a:spcAft>
              <a:buSzTx/>
              <a:buNone/>
              <a:defRPr/>
            </a:pPr>
            <a:r>
              <a:rPr lang="en-US" dirty="0">
                <a:gradFill>
                  <a:gsLst>
                    <a:gs pos="70000">
                      <a:srgbClr val="D660FF"/>
                    </a:gs>
                    <a:gs pos="52000">
                      <a:srgbClr val="818EFF"/>
                    </a:gs>
                    <a:gs pos="35000">
                      <a:srgbClr val="2DB4FF"/>
                    </a:gs>
                    <a:gs pos="30000">
                      <a:srgbClr val="2DB4FF"/>
                    </a:gs>
                    <a:gs pos="3000">
                      <a:srgbClr val="0078D4"/>
                    </a:gs>
                    <a:gs pos="97000">
                      <a:srgbClr val="FEA874"/>
                    </a:gs>
                  </a:gsLst>
                  <a:lin ang="3000000" scaled="0"/>
                </a:gradFill>
                <a:latin typeface="+mj-lt"/>
                <a:cs typeface="Segoe UI" pitchFamily="34" charset="0"/>
              </a:rPr>
              <a:t>Adoption and change management</a:t>
            </a:r>
          </a:p>
          <a:p>
            <a:pPr marL="0" indent="0">
              <a:spcBef>
                <a:spcPts val="0"/>
              </a:spcBef>
              <a:spcAft>
                <a:spcPts val="600"/>
              </a:spcAft>
              <a:buNone/>
            </a:pPr>
            <a:r>
              <a:rPr lang="en-US" sz="1400" dirty="0"/>
              <a:t>Craft custom change management programs that support your customer’s functional needs and prove ROI.</a:t>
            </a:r>
          </a:p>
        </p:txBody>
      </p:sp>
      <p:sp>
        <p:nvSpPr>
          <p:cNvPr id="53" name="Text Placeholder 52">
            <a:extLst>
              <a:ext uri="{FF2B5EF4-FFF2-40B4-BE49-F238E27FC236}">
                <a16:creationId xmlns:a16="http://schemas.microsoft.com/office/drawing/2014/main" id="{021A079D-B563-D479-42AB-6FB769F9C679}"/>
              </a:ext>
            </a:extLst>
          </p:cNvPr>
          <p:cNvSpPr>
            <a:spLocks noGrp="1"/>
          </p:cNvSpPr>
          <p:nvPr>
            <p:ph type="body" sz="quarter" idx="21"/>
          </p:nvPr>
        </p:nvSpPr>
        <p:spPr>
          <a:xfrm>
            <a:off x="9073133" y="3653854"/>
            <a:ext cx="2532063" cy="2615184"/>
          </a:xfrm>
          <a:prstGeom prst="roundRect">
            <a:avLst>
              <a:gd name="adj" fmla="val 5239"/>
            </a:avLst>
          </a:prstGeom>
          <a:gradFill flip="none" rotWithShape="1">
            <a:gsLst>
              <a:gs pos="0">
                <a:schemeClr val="bg1">
                  <a:alpha val="25000"/>
                </a:schemeClr>
              </a:gs>
              <a:gs pos="93000">
                <a:schemeClr val="bg1"/>
              </a:gs>
            </a:gsLst>
            <a:lin ang="16200000" scaled="1"/>
            <a:tileRect/>
          </a:gradFill>
          <a:ln w="12700">
            <a:solidFill>
              <a:schemeClr val="bg1"/>
            </a:solidFill>
          </a:ln>
          <a:effectLst>
            <a:outerShdw blurRad="88900" dist="101600" sx="102000" sy="102000" algn="ctr" rotWithShape="0">
              <a:prstClr val="black">
                <a:alpha val="6000"/>
              </a:prstClr>
            </a:outerShdw>
          </a:effectLst>
        </p:spPr>
        <p:txBody>
          <a:bodyPr vert="horz" wrap="square" lIns="274320" tIns="274320" rIns="274320" bIns="274320" rtlCol="0" anchor="t" anchorCtr="0">
            <a:noAutofit/>
          </a:bodyPr>
          <a:lstStyle/>
          <a:p>
            <a:pPr marL="0" indent="0" algn="ctr" defTabSz="914367">
              <a:spcBef>
                <a:spcPts val="1200"/>
              </a:spcBef>
              <a:spcAft>
                <a:spcPts val="600"/>
              </a:spcAft>
              <a:buSzTx/>
              <a:buNone/>
              <a:defRPr/>
            </a:pPr>
            <a:r>
              <a:rPr lang="en-US" dirty="0">
                <a:gradFill>
                  <a:gsLst>
                    <a:gs pos="70000">
                      <a:srgbClr val="D660FF"/>
                    </a:gs>
                    <a:gs pos="52000">
                      <a:srgbClr val="818EFF"/>
                    </a:gs>
                    <a:gs pos="35000">
                      <a:srgbClr val="2DB4FF"/>
                    </a:gs>
                    <a:gs pos="30000">
                      <a:srgbClr val="2DB4FF"/>
                    </a:gs>
                    <a:gs pos="3000">
                      <a:srgbClr val="0078D4"/>
                    </a:gs>
                    <a:gs pos="97000">
                      <a:srgbClr val="FEA874"/>
                    </a:gs>
                  </a:gsLst>
                  <a:lin ang="3000000" scaled="0"/>
                </a:gradFill>
                <a:latin typeface="+mj-lt"/>
                <a:cs typeface="Segoe UI" pitchFamily="34" charset="0"/>
              </a:rPr>
              <a:t>Extensibility</a:t>
            </a:r>
          </a:p>
          <a:p>
            <a:pPr marL="0" indent="0">
              <a:spcBef>
                <a:spcPts val="0"/>
              </a:spcBef>
              <a:spcAft>
                <a:spcPts val="600"/>
              </a:spcAft>
              <a:buNone/>
            </a:pPr>
            <a:r>
              <a:rPr lang="en-US" sz="1400" dirty="0"/>
              <a:t>Help customize the Copilot experience with agents that bridge solutions that cater to your customer’s specific functional scenarios. </a:t>
            </a:r>
          </a:p>
        </p:txBody>
      </p:sp>
      <p:sp>
        <p:nvSpPr>
          <p:cNvPr id="54" name="Right Brace 53">
            <a:extLst>
              <a:ext uri="{FF2B5EF4-FFF2-40B4-BE49-F238E27FC236}">
                <a16:creationId xmlns:a16="http://schemas.microsoft.com/office/drawing/2014/main" id="{4A43C076-758B-548B-D368-4ABCE86F5F0A}"/>
              </a:ext>
              <a:ext uri="{C183D7F6-B498-43B3-948B-1728B52AA6E4}">
                <adec:decorative xmlns:adec="http://schemas.microsoft.com/office/drawing/2017/decorative" val="1"/>
              </a:ext>
            </a:extLst>
          </p:cNvPr>
          <p:cNvSpPr/>
          <p:nvPr/>
        </p:nvSpPr>
        <p:spPr>
          <a:xfrm rot="16200000">
            <a:off x="5872531" y="-946089"/>
            <a:ext cx="440590" cy="8477248"/>
          </a:xfrm>
          <a:prstGeom prst="rightBrace">
            <a:avLst>
              <a:gd name="adj1" fmla="val 57335"/>
              <a:gd name="adj2" fmla="val 49895"/>
            </a:avLst>
          </a:prstGeom>
          <a:noFill/>
          <a:ln w="25400">
            <a:gradFill flip="none" rotWithShape="1">
              <a:gsLst>
                <a:gs pos="30000">
                  <a:srgbClr val="2DB4FF"/>
                </a:gs>
                <a:gs pos="35000">
                  <a:srgbClr val="2DB4FF"/>
                </a:gs>
                <a:gs pos="3000">
                  <a:srgbClr val="0078D4"/>
                </a:gs>
                <a:gs pos="52000">
                  <a:srgbClr val="818EFF"/>
                </a:gs>
                <a:gs pos="70000">
                  <a:srgbClr val="D660FF"/>
                </a:gs>
                <a:gs pos="97000">
                  <a:srgbClr val="FEA87A"/>
                </a:gs>
              </a:gsLst>
              <a:lin ang="162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cs typeface="Segoe UI" pitchFamily="34" charset="0"/>
            </a:endParaRPr>
          </a:p>
        </p:txBody>
      </p:sp>
      <p:sp>
        <p:nvSpPr>
          <p:cNvPr id="55" name="Content Placeholder 2">
            <a:extLst>
              <a:ext uri="{FF2B5EF4-FFF2-40B4-BE49-F238E27FC236}">
                <a16:creationId xmlns:a16="http://schemas.microsoft.com/office/drawing/2014/main" id="{75E42D4C-5CCF-14C6-8D8A-01BB11997BF7}"/>
              </a:ext>
            </a:extLst>
          </p:cNvPr>
          <p:cNvSpPr txBox="1">
            <a:spLocks/>
          </p:cNvSpPr>
          <p:nvPr/>
        </p:nvSpPr>
        <p:spPr>
          <a:xfrm>
            <a:off x="571501" y="1831369"/>
            <a:ext cx="8205788" cy="579438"/>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600"/>
              </a:spcAft>
              <a:buFont typeface="Arial" panose="020B0604020202020204" pitchFamily="34" charset="0"/>
              <a:buNone/>
            </a:pPr>
            <a:r>
              <a:rPr lang="en-US" sz="1800" dirty="0">
                <a:ea typeface="Segoe UI" panose="020B0502040204020203" pitchFamily="34" charset="0"/>
                <a:cs typeface="Times New Roman" panose="02020603050405020304" pitchFamily="18" charset="0"/>
              </a:rPr>
              <a:t>Enhance your current service offerings by considering your customer’s industry and functional business needs in each stage of their Copilot journey. </a:t>
            </a:r>
            <a:endParaRPr lang="en-US" sz="1800" b="1" dirty="0">
              <a:solidFill>
                <a:srgbClr val="282828"/>
              </a:solidFill>
              <a:ea typeface="MS Gothic" panose="020B0609070205080204" pitchFamily="49" charset="-128"/>
              <a:cs typeface="Times New Roman" panose="02020603050405020304" pitchFamily="18" charset="0"/>
            </a:endParaRPr>
          </a:p>
        </p:txBody>
      </p:sp>
      <p:sp>
        <p:nvSpPr>
          <p:cNvPr id="56" name="Text Placeholder 1">
            <a:extLst>
              <a:ext uri="{FF2B5EF4-FFF2-40B4-BE49-F238E27FC236}">
                <a16:creationId xmlns:a16="http://schemas.microsoft.com/office/drawing/2014/main" id="{F7EAAAA6-40D0-6046-6B3B-F32E71A5A28C}"/>
              </a:ext>
            </a:extLst>
          </p:cNvPr>
          <p:cNvSpPr txBox="1">
            <a:spLocks/>
          </p:cNvSpPr>
          <p:nvPr/>
        </p:nvSpPr>
        <p:spPr>
          <a:xfrm>
            <a:off x="3883681" y="2676981"/>
            <a:ext cx="4424638" cy="276999"/>
          </a:xfrm>
          <a:prstGeom prst="rect">
            <a:avLst/>
          </a:prstGeom>
        </p:spPr>
        <p:txBody>
          <a:bodyPr vert="horz" wrap="square" lIns="0" tIns="0" rIns="0" bIns="0" rtlCol="0">
            <a:spAutoFit/>
          </a:bodyPr>
          <a:lstStyle>
            <a:lvl1pPr marL="141288" marR="0" indent="-14128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800" b="0" kern="1200" cap="none" spc="0" baseline="0" dirty="0">
                <a:ln w="3175">
                  <a:noFill/>
                </a:ln>
                <a:gradFill>
                  <a:gsLst>
                    <a:gs pos="21000">
                      <a:schemeClr val="accent1"/>
                    </a:gs>
                    <a:gs pos="100000">
                      <a:schemeClr val="accent3"/>
                    </a:gs>
                  </a:gsLst>
                  <a:lin ang="2400000" scaled="0"/>
                </a:gradFill>
                <a:effectLst/>
                <a:latin typeface="Segoe UI Semibold" panose="020B0702040204020203" pitchFamily="34" charset="0"/>
                <a:ea typeface="+mn-ea"/>
                <a:cs typeface="Segoe UI Semibold" panose="020B0702040204020203" pitchFamily="34" charset="0"/>
              </a:defRPr>
            </a:lvl1pPr>
            <a:lvl2pPr marL="285750" marR="0" indent="-125413"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600" kern="1200" spc="0" baseline="0" dirty="0">
                <a:solidFill>
                  <a:schemeClr val="tx1"/>
                </a:solidFill>
                <a:latin typeface="+mn-lt"/>
                <a:ea typeface="+mn-ea"/>
                <a:cs typeface="+mn-cs"/>
              </a:defRPr>
            </a:lvl2pPr>
            <a:lvl3pPr marL="438150" marR="0" indent="-13335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600" kern="1200" spc="0" baseline="0" dirty="0">
                <a:solidFill>
                  <a:schemeClr val="tx1"/>
                </a:solidFill>
                <a:latin typeface="+mn-lt"/>
                <a:ea typeface="+mn-ea"/>
                <a:cs typeface="+mn-cs"/>
              </a:defRPr>
            </a:lvl3pPr>
            <a:lvl4pPr marL="566738" marR="0" indent="-1143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4pPr>
            <a:lvl5pPr marL="685800" marR="0" indent="-10953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dirty="0">
                <a:solidFill>
                  <a:schemeClr val="tx1"/>
                </a:solidFill>
                <a:latin typeface="+mj-lt"/>
              </a:rPr>
              <a:t>Incorporate your functional GTM strategy</a:t>
            </a:r>
          </a:p>
        </p:txBody>
      </p:sp>
      <p:sp>
        <p:nvSpPr>
          <p:cNvPr id="58" name="Footer Placeholder 57">
            <a:extLst>
              <a:ext uri="{FF2B5EF4-FFF2-40B4-BE49-F238E27FC236}">
                <a16:creationId xmlns:a16="http://schemas.microsoft.com/office/drawing/2014/main" id="{DA5A9915-C277-D0F4-3FC9-80D386397344}"/>
              </a:ext>
            </a:extLst>
          </p:cNvPr>
          <p:cNvSpPr>
            <a:spLocks noGrp="1"/>
          </p:cNvSpPr>
          <p:nvPr>
            <p:ph type="ftr" sz="quarter" idx="22"/>
          </p:nvPr>
        </p:nvSpPr>
        <p:spPr/>
        <p:txBody>
          <a:bodyPr/>
          <a:lstStyle/>
          <a:p>
            <a:r>
              <a:rPr lang="en-US"/>
              <a:t>Building Customer-Centric Services offers</a:t>
            </a:r>
          </a:p>
        </p:txBody>
      </p:sp>
      <p:sp>
        <p:nvSpPr>
          <p:cNvPr id="59" name="Slide Number Placeholder 58">
            <a:extLst>
              <a:ext uri="{FF2B5EF4-FFF2-40B4-BE49-F238E27FC236}">
                <a16:creationId xmlns:a16="http://schemas.microsoft.com/office/drawing/2014/main" id="{BE6DC16E-9B9E-2B5C-0608-4568592EA085}"/>
              </a:ext>
            </a:extLst>
          </p:cNvPr>
          <p:cNvSpPr>
            <a:spLocks noGrp="1"/>
          </p:cNvSpPr>
          <p:nvPr>
            <p:ph type="sldNum" sz="quarter" idx="23"/>
          </p:nvPr>
        </p:nvSpPr>
        <p:spPr/>
        <p:txBody>
          <a:bodyPr/>
          <a:lstStyle/>
          <a:p>
            <a:fld id="{5763EE98-C176-4152-A50F-E68840BAFA00}" type="slidenum">
              <a:rPr lang="en-US" smtClean="0"/>
              <a:pPr/>
              <a:t>15</a:t>
            </a:fld>
            <a:endParaRPr lang="en-US"/>
          </a:p>
        </p:txBody>
      </p:sp>
    </p:spTree>
    <p:extLst>
      <p:ext uri="{BB962C8B-B14F-4D97-AF65-F5344CB8AC3E}">
        <p14:creationId xmlns:p14="http://schemas.microsoft.com/office/powerpoint/2010/main" val="41807376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39000" b="-39000"/>
          </a:stretch>
        </a:blipFill>
        <a:effectLst/>
      </p:bgPr>
    </p:bg>
    <p:spTree>
      <p:nvGrpSpPr>
        <p:cNvPr id="1" name="">
          <a:extLst>
            <a:ext uri="{FF2B5EF4-FFF2-40B4-BE49-F238E27FC236}">
              <a16:creationId xmlns:a16="http://schemas.microsoft.com/office/drawing/2014/main" id="{89F3CD05-06D5-58C4-2750-B8373914D6C0}"/>
            </a:ext>
          </a:extLst>
        </p:cNvPr>
        <p:cNvGrpSpPr/>
        <p:nvPr/>
      </p:nvGrpSpPr>
      <p:grpSpPr>
        <a:xfrm>
          <a:off x="0" y="0"/>
          <a:ext cx="0" cy="0"/>
          <a:chOff x="0" y="0"/>
          <a:chExt cx="0" cy="0"/>
        </a:xfrm>
      </p:grpSpPr>
      <p:sp>
        <p:nvSpPr>
          <p:cNvPr id="986147" name="Freeform: Shape 986146">
            <a:extLst>
              <a:ext uri="{FF2B5EF4-FFF2-40B4-BE49-F238E27FC236}">
                <a16:creationId xmlns:a16="http://schemas.microsoft.com/office/drawing/2014/main" id="{F839421F-3136-D6A2-1471-557B2FF3E3E5}"/>
              </a:ext>
              <a:ext uri="{C183D7F6-B498-43B3-948B-1728B52AA6E4}">
                <adec:decorative xmlns:adec="http://schemas.microsoft.com/office/drawing/2017/decorative" val="1"/>
              </a:ext>
            </a:extLst>
          </p:cNvPr>
          <p:cNvSpPr>
            <a:spLocks/>
          </p:cNvSpPr>
          <p:nvPr/>
        </p:nvSpPr>
        <p:spPr bwMode="auto">
          <a:xfrm>
            <a:off x="1524" y="1608284"/>
            <a:ext cx="12188952" cy="1255309"/>
          </a:xfrm>
          <a:custGeom>
            <a:avLst/>
            <a:gdLst>
              <a:gd name="connsiteX0" fmla="*/ 0 w 12188952"/>
              <a:gd name="connsiteY0" fmla="*/ 0 h 982778"/>
              <a:gd name="connsiteX1" fmla="*/ 12188952 w 12188952"/>
              <a:gd name="connsiteY1" fmla="*/ 0 h 982778"/>
              <a:gd name="connsiteX2" fmla="*/ 12188952 w 12188952"/>
              <a:gd name="connsiteY2" fmla="*/ 982778 h 982778"/>
              <a:gd name="connsiteX3" fmla="*/ 0 w 12188952"/>
              <a:gd name="connsiteY3" fmla="*/ 982778 h 982778"/>
            </a:gdLst>
            <a:ahLst/>
            <a:cxnLst>
              <a:cxn ang="0">
                <a:pos x="connsiteX0" y="connsiteY0"/>
              </a:cxn>
              <a:cxn ang="0">
                <a:pos x="connsiteX1" y="connsiteY1"/>
              </a:cxn>
              <a:cxn ang="0">
                <a:pos x="connsiteX2" y="connsiteY2"/>
              </a:cxn>
              <a:cxn ang="0">
                <a:pos x="connsiteX3" y="connsiteY3"/>
              </a:cxn>
            </a:cxnLst>
            <a:rect l="l" t="t" r="r" b="b"/>
            <a:pathLst>
              <a:path w="12188952" h="982778">
                <a:moveTo>
                  <a:pt x="0" y="0"/>
                </a:moveTo>
                <a:lnTo>
                  <a:pt x="12188952" y="0"/>
                </a:lnTo>
                <a:lnTo>
                  <a:pt x="12188952" y="982778"/>
                </a:lnTo>
                <a:lnTo>
                  <a:pt x="0" y="982778"/>
                </a:lnTo>
                <a:close/>
              </a:path>
            </a:pathLst>
          </a:custGeom>
          <a:gradFill flip="none" rotWithShape="1">
            <a:gsLst>
              <a:gs pos="30000">
                <a:srgbClr val="2DB4FF"/>
              </a:gs>
              <a:gs pos="3000">
                <a:srgbClr val="0078D4"/>
              </a:gs>
              <a:gs pos="35000">
                <a:srgbClr val="2DB4FF"/>
              </a:gs>
              <a:gs pos="52000">
                <a:srgbClr val="818EFF"/>
              </a:gs>
              <a:gs pos="96552">
                <a:srgbClr val="FEA874"/>
              </a:gs>
              <a:gs pos="70000">
                <a:srgbClr val="D660FF"/>
              </a:gs>
            </a:gsLst>
            <a:lin ang="0" scaled="1"/>
            <a:tileRect/>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IN">
              <a:solidFill>
                <a:schemeClr val="bg1"/>
              </a:solidFill>
              <a:latin typeface="+mj-lt"/>
              <a:cs typeface="Segoe UI" pitchFamily="34" charset="0"/>
            </a:endParaRPr>
          </a:p>
        </p:txBody>
      </p:sp>
      <p:sp>
        <p:nvSpPr>
          <p:cNvPr id="26" name="Rounded Rectangle 64">
            <a:extLst>
              <a:ext uri="{FF2B5EF4-FFF2-40B4-BE49-F238E27FC236}">
                <a16:creationId xmlns:a16="http://schemas.microsoft.com/office/drawing/2014/main" id="{6B562A56-3994-C2E1-EC2F-AE9E82D0BEEA}"/>
              </a:ext>
              <a:ext uri="{C183D7F6-B498-43B3-948B-1728B52AA6E4}">
                <adec:decorative xmlns:adec="http://schemas.microsoft.com/office/drawing/2017/decorative" val="1"/>
              </a:ext>
            </a:extLst>
          </p:cNvPr>
          <p:cNvSpPr>
            <a:spLocks/>
          </p:cNvSpPr>
          <p:nvPr/>
        </p:nvSpPr>
        <p:spPr bwMode="auto">
          <a:xfrm>
            <a:off x="588963" y="2660947"/>
            <a:ext cx="11017251" cy="3603037"/>
          </a:xfrm>
          <a:prstGeom prst="roundRect">
            <a:avLst>
              <a:gd name="adj" fmla="val 3899"/>
            </a:avLst>
          </a:prstGeom>
          <a:gradFill flip="none" rotWithShape="1">
            <a:gsLst>
              <a:gs pos="0">
                <a:schemeClr val="bg1">
                  <a:alpha val="25000"/>
                </a:schemeClr>
              </a:gs>
              <a:gs pos="93000">
                <a:schemeClr val="bg1"/>
              </a:gs>
            </a:gsLst>
            <a:lin ang="16200000" scaled="1"/>
            <a:tileRect/>
          </a:gradFill>
          <a:ln w="12700">
            <a:solidFill>
              <a:schemeClr val="bg1"/>
            </a:solidFill>
          </a:ln>
          <a:effectLst>
            <a:outerShdw blurRad="88900" dist="101600" sx="102000" sy="102000" algn="ctr" rotWithShape="0">
              <a:prstClr val="black">
                <a:alpha val="6000"/>
              </a:prstClr>
            </a:outerShdw>
          </a:effectLst>
        </p:spPr>
        <p:txBody>
          <a:bodyPr vert="horz" wrap="square" lIns="182880" tIns="91440" rIns="182880" bIns="91440" rtlCol="0" anchor="t" anchorCtr="0">
            <a:noAutofit/>
          </a:bodyPr>
          <a:lstStyle/>
          <a:p>
            <a:pPr defTabSz="932742">
              <a:spcBef>
                <a:spcPts val="600"/>
              </a:spcBef>
              <a:buSzPct val="90000"/>
            </a:pPr>
            <a:endParaRPr lang="en-US" baseline="30000">
              <a:solidFill>
                <a:schemeClr val="tx1"/>
              </a:solidFill>
              <a:cs typeface="Segoe Sans Display" pitchFamily="2" charset="0"/>
            </a:endParaRPr>
          </a:p>
        </p:txBody>
      </p:sp>
      <p:sp>
        <p:nvSpPr>
          <p:cNvPr id="27" name="Rectangle: Rounded Corners 26">
            <a:extLst>
              <a:ext uri="{FF2B5EF4-FFF2-40B4-BE49-F238E27FC236}">
                <a16:creationId xmlns:a16="http://schemas.microsoft.com/office/drawing/2014/main" id="{4C2553A5-4415-C0AD-3922-AA725B608E05}"/>
              </a:ext>
              <a:ext uri="{C183D7F6-B498-43B3-948B-1728B52AA6E4}">
                <adec:decorative xmlns:adec="http://schemas.microsoft.com/office/drawing/2017/decorative" val="1"/>
              </a:ext>
            </a:extLst>
          </p:cNvPr>
          <p:cNvSpPr>
            <a:spLocks/>
          </p:cNvSpPr>
          <p:nvPr/>
        </p:nvSpPr>
        <p:spPr bwMode="auto">
          <a:xfrm>
            <a:off x="732631" y="3571379"/>
            <a:ext cx="2036255" cy="2555445"/>
          </a:xfrm>
          <a:prstGeom prst="roundRect">
            <a:avLst>
              <a:gd name="adj" fmla="val 5335"/>
            </a:avLst>
          </a:prstGeom>
          <a:solidFill>
            <a:schemeClr val="bg1"/>
          </a:solidFill>
          <a:ln>
            <a:noFill/>
            <a:headEnd type="none" w="med" len="med"/>
            <a:tailEnd type="none" w="med" len="med"/>
          </a:ln>
          <a:effectLst>
            <a:outerShdw blurRad="88900" dist="38100" dir="2700000" algn="tl"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0" name="Rectangle: Rounded Corners 29">
            <a:extLst>
              <a:ext uri="{FF2B5EF4-FFF2-40B4-BE49-F238E27FC236}">
                <a16:creationId xmlns:a16="http://schemas.microsoft.com/office/drawing/2014/main" id="{85308834-5E87-F597-4B81-BAF6A297CD18}"/>
              </a:ext>
              <a:ext uri="{C183D7F6-B498-43B3-948B-1728B52AA6E4}">
                <adec:decorative xmlns:adec="http://schemas.microsoft.com/office/drawing/2017/decorative" val="1"/>
              </a:ext>
            </a:extLst>
          </p:cNvPr>
          <p:cNvSpPr>
            <a:spLocks/>
          </p:cNvSpPr>
          <p:nvPr/>
        </p:nvSpPr>
        <p:spPr bwMode="auto">
          <a:xfrm>
            <a:off x="2906046" y="3571379"/>
            <a:ext cx="2036255" cy="2555445"/>
          </a:xfrm>
          <a:prstGeom prst="roundRect">
            <a:avLst>
              <a:gd name="adj" fmla="val 5335"/>
            </a:avLst>
          </a:prstGeom>
          <a:solidFill>
            <a:schemeClr val="bg1"/>
          </a:solidFill>
          <a:ln>
            <a:noFill/>
            <a:headEnd type="none" w="med" len="med"/>
            <a:tailEnd type="none" w="med" len="med"/>
          </a:ln>
          <a:effectLst>
            <a:outerShdw blurRad="88900" dist="38100" dir="2700000" algn="tl"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1" name="Rectangle: Rounded Corners 30">
            <a:extLst>
              <a:ext uri="{FF2B5EF4-FFF2-40B4-BE49-F238E27FC236}">
                <a16:creationId xmlns:a16="http://schemas.microsoft.com/office/drawing/2014/main" id="{0E4DC7C4-6B1D-A186-50AA-E2B4CE4A06E6}"/>
              </a:ext>
              <a:ext uri="{C183D7F6-B498-43B3-948B-1728B52AA6E4}">
                <adec:decorative xmlns:adec="http://schemas.microsoft.com/office/drawing/2017/decorative" val="1"/>
              </a:ext>
            </a:extLst>
          </p:cNvPr>
          <p:cNvSpPr>
            <a:spLocks/>
          </p:cNvSpPr>
          <p:nvPr/>
        </p:nvSpPr>
        <p:spPr bwMode="auto">
          <a:xfrm>
            <a:off x="5079461" y="3571379"/>
            <a:ext cx="2036255" cy="2555445"/>
          </a:xfrm>
          <a:prstGeom prst="roundRect">
            <a:avLst>
              <a:gd name="adj" fmla="val 5335"/>
            </a:avLst>
          </a:prstGeom>
          <a:solidFill>
            <a:schemeClr val="bg1"/>
          </a:solidFill>
          <a:ln>
            <a:noFill/>
            <a:headEnd type="none" w="med" len="med"/>
            <a:tailEnd type="none" w="med" len="med"/>
          </a:ln>
          <a:effectLst>
            <a:outerShdw blurRad="88900" dist="38100" dir="2700000" algn="tl"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0" name="Rectangle: Rounded Corners 39">
            <a:extLst>
              <a:ext uri="{FF2B5EF4-FFF2-40B4-BE49-F238E27FC236}">
                <a16:creationId xmlns:a16="http://schemas.microsoft.com/office/drawing/2014/main" id="{E330AE6F-C9A4-E7A8-4E9D-18DDC2853395}"/>
              </a:ext>
              <a:ext uri="{C183D7F6-B498-43B3-948B-1728B52AA6E4}">
                <adec:decorative xmlns:adec="http://schemas.microsoft.com/office/drawing/2017/decorative" val="1"/>
              </a:ext>
            </a:extLst>
          </p:cNvPr>
          <p:cNvSpPr>
            <a:spLocks/>
          </p:cNvSpPr>
          <p:nvPr/>
        </p:nvSpPr>
        <p:spPr bwMode="auto">
          <a:xfrm>
            <a:off x="7252876" y="3571379"/>
            <a:ext cx="2036255" cy="2555445"/>
          </a:xfrm>
          <a:prstGeom prst="roundRect">
            <a:avLst>
              <a:gd name="adj" fmla="val 5335"/>
            </a:avLst>
          </a:prstGeom>
          <a:solidFill>
            <a:schemeClr val="bg1"/>
          </a:solidFill>
          <a:ln>
            <a:noFill/>
            <a:headEnd type="none" w="med" len="med"/>
            <a:tailEnd type="none" w="med" len="med"/>
          </a:ln>
          <a:effectLst>
            <a:outerShdw blurRad="88900" dist="38100" dir="2700000" algn="tl"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5" name="Rectangle: Rounded Corners 44">
            <a:extLst>
              <a:ext uri="{FF2B5EF4-FFF2-40B4-BE49-F238E27FC236}">
                <a16:creationId xmlns:a16="http://schemas.microsoft.com/office/drawing/2014/main" id="{7D9AB012-05F8-3941-BE56-2B7D891EA7E4}"/>
              </a:ext>
              <a:ext uri="{C183D7F6-B498-43B3-948B-1728B52AA6E4}">
                <adec:decorative xmlns:adec="http://schemas.microsoft.com/office/drawing/2017/decorative" val="1"/>
              </a:ext>
            </a:extLst>
          </p:cNvPr>
          <p:cNvSpPr>
            <a:spLocks/>
          </p:cNvSpPr>
          <p:nvPr/>
        </p:nvSpPr>
        <p:spPr bwMode="auto">
          <a:xfrm>
            <a:off x="9426291" y="3571379"/>
            <a:ext cx="2036255" cy="2555445"/>
          </a:xfrm>
          <a:prstGeom prst="roundRect">
            <a:avLst>
              <a:gd name="adj" fmla="val 5335"/>
            </a:avLst>
          </a:prstGeom>
          <a:solidFill>
            <a:schemeClr val="bg1"/>
          </a:solidFill>
          <a:ln>
            <a:noFill/>
            <a:headEnd type="none" w="med" len="med"/>
            <a:tailEnd type="none" w="med" len="med"/>
          </a:ln>
          <a:effectLst>
            <a:outerShdw blurRad="88900" dist="38100" dir="2700000" algn="tl"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cxnSp>
        <p:nvCxnSpPr>
          <p:cNvPr id="986125" name="Straight Connector 986124">
            <a:extLst>
              <a:ext uri="{FF2B5EF4-FFF2-40B4-BE49-F238E27FC236}">
                <a16:creationId xmlns:a16="http://schemas.microsoft.com/office/drawing/2014/main" id="{9CA641C8-B61B-3EE7-2E9E-2657EF8160F5}"/>
              </a:ext>
              <a:ext uri="{C183D7F6-B498-43B3-948B-1728B52AA6E4}">
                <adec:decorative xmlns:adec="http://schemas.microsoft.com/office/drawing/2017/decorative" val="1"/>
              </a:ext>
            </a:extLst>
          </p:cNvPr>
          <p:cNvCxnSpPr>
            <a:cxnSpLocks/>
          </p:cNvCxnSpPr>
          <p:nvPr/>
        </p:nvCxnSpPr>
        <p:spPr>
          <a:xfrm>
            <a:off x="9030656" y="1827318"/>
            <a:ext cx="0" cy="646331"/>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86126" name="Straight Connector 986125">
            <a:extLst>
              <a:ext uri="{FF2B5EF4-FFF2-40B4-BE49-F238E27FC236}">
                <a16:creationId xmlns:a16="http://schemas.microsoft.com/office/drawing/2014/main" id="{ECEC3907-48AF-A205-51F4-81FF310D1615}"/>
              </a:ext>
              <a:ext uri="{C183D7F6-B498-43B3-948B-1728B52AA6E4}">
                <adec:decorative xmlns:adec="http://schemas.microsoft.com/office/drawing/2017/decorative" val="1"/>
              </a:ext>
            </a:extLst>
          </p:cNvPr>
          <p:cNvCxnSpPr>
            <a:cxnSpLocks/>
          </p:cNvCxnSpPr>
          <p:nvPr/>
        </p:nvCxnSpPr>
        <p:spPr>
          <a:xfrm>
            <a:off x="3162288" y="1827318"/>
            <a:ext cx="0" cy="646331"/>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86127" name="Straight Connector 986126">
            <a:extLst>
              <a:ext uri="{FF2B5EF4-FFF2-40B4-BE49-F238E27FC236}">
                <a16:creationId xmlns:a16="http://schemas.microsoft.com/office/drawing/2014/main" id="{5DB04CAE-24C1-2728-00F1-D1C284FEBA82}"/>
              </a:ext>
              <a:ext uri="{C183D7F6-B498-43B3-948B-1728B52AA6E4}">
                <adec:decorative xmlns:adec="http://schemas.microsoft.com/office/drawing/2017/decorative" val="1"/>
              </a:ext>
            </a:extLst>
          </p:cNvPr>
          <p:cNvCxnSpPr>
            <a:cxnSpLocks/>
          </p:cNvCxnSpPr>
          <p:nvPr/>
        </p:nvCxnSpPr>
        <p:spPr>
          <a:xfrm>
            <a:off x="6096472" y="1827318"/>
            <a:ext cx="0" cy="646331"/>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Title 11">
            <a:extLst>
              <a:ext uri="{FF2B5EF4-FFF2-40B4-BE49-F238E27FC236}">
                <a16:creationId xmlns:a16="http://schemas.microsoft.com/office/drawing/2014/main" id="{B9D447F4-3905-9A7E-FEC8-0B381B7376E1}"/>
              </a:ext>
            </a:extLst>
          </p:cNvPr>
          <p:cNvSpPr>
            <a:spLocks noGrp="1"/>
          </p:cNvSpPr>
          <p:nvPr>
            <p:ph type="title"/>
          </p:nvPr>
        </p:nvSpPr>
        <p:spPr/>
        <p:txBody>
          <a:bodyPr/>
          <a:lstStyle/>
          <a:p>
            <a:r>
              <a:rPr lang="en-US"/>
              <a:t>Driving AI transformation with your customers</a:t>
            </a:r>
            <a:br>
              <a:rPr lang="en-US">
                <a:highlight>
                  <a:srgbClr val="FFFF00"/>
                </a:highlight>
              </a:rPr>
            </a:br>
            <a:endParaRPr lang="en-IN" sz="1800">
              <a:gradFill flip="none" rotWithShape="1">
                <a:gsLst>
                  <a:gs pos="80000">
                    <a:srgbClr val="0078D4"/>
                  </a:gs>
                  <a:gs pos="0">
                    <a:srgbClr val="C03BC4"/>
                  </a:gs>
                </a:gsLst>
                <a:path path="circle">
                  <a:fillToRect l="100000" t="100000"/>
                </a:path>
                <a:tileRect r="-100000" b="-100000"/>
              </a:gradFill>
              <a:highlight>
                <a:srgbClr val="FFFF00"/>
              </a:highlight>
              <a:cs typeface="+mn-cs"/>
            </a:endParaRPr>
          </a:p>
        </p:txBody>
      </p:sp>
      <p:sp>
        <p:nvSpPr>
          <p:cNvPr id="986128" name="TextBox 986127">
            <a:extLst>
              <a:ext uri="{FF2B5EF4-FFF2-40B4-BE49-F238E27FC236}">
                <a16:creationId xmlns:a16="http://schemas.microsoft.com/office/drawing/2014/main" id="{21FC8231-6D97-7DDA-981F-3C52BAE1D6DD}"/>
              </a:ext>
            </a:extLst>
          </p:cNvPr>
          <p:cNvSpPr txBox="1">
            <a:spLocks/>
          </p:cNvSpPr>
          <p:nvPr/>
        </p:nvSpPr>
        <p:spPr>
          <a:xfrm>
            <a:off x="584200" y="1827318"/>
            <a:ext cx="2221992" cy="646331"/>
          </a:xfrm>
          <a:prstGeom prst="rect">
            <a:avLst/>
          </a:prstGeom>
        </p:spPr>
        <p:txBody>
          <a:bodyPr wrap="square" lIns="0" tIns="0" rIns="0" bIns="0" anchor="ctr">
            <a:sp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w="3175">
                  <a:noFill/>
                </a:ln>
                <a:solidFill>
                  <a:srgbClr val="FFFFFF"/>
                </a:solidFill>
                <a:effectLst/>
                <a:uLnTx/>
                <a:uFillTx/>
                <a:latin typeface="+mj-lt"/>
                <a:ea typeface="+mn-ea"/>
                <a:cs typeface="+mn-cs"/>
              </a:rPr>
              <a:t>Be the AI &amp; Copilot</a:t>
            </a:r>
            <a:br>
              <a:rPr kumimoji="0" lang="en-US" sz="1400" b="0" i="0" u="none" strike="noStrike" kern="1200" cap="none" spc="0" normalizeH="0" baseline="0" noProof="0">
                <a:ln w="3175">
                  <a:noFill/>
                </a:ln>
                <a:solidFill>
                  <a:srgbClr val="FFFFFF"/>
                </a:solidFill>
                <a:effectLst/>
                <a:uLnTx/>
                <a:uFillTx/>
                <a:latin typeface="+mj-lt"/>
                <a:ea typeface="+mn-ea"/>
                <a:cs typeface="+mn-cs"/>
              </a:rPr>
            </a:br>
            <a:r>
              <a:rPr kumimoji="0" lang="en-US" sz="1400" b="0" i="0" u="none" strike="noStrike" kern="1200" cap="none" spc="0" normalizeH="0" baseline="0" noProof="0">
                <a:ln w="3175">
                  <a:noFill/>
                </a:ln>
                <a:solidFill>
                  <a:srgbClr val="FFFFFF"/>
                </a:solidFill>
                <a:effectLst/>
                <a:uLnTx/>
                <a:uFillTx/>
                <a:latin typeface="+mj-lt"/>
                <a:ea typeface="+mn-ea"/>
                <a:cs typeface="+mn-cs"/>
              </a:rPr>
              <a:t>Advisor to business</a:t>
            </a:r>
            <a:br>
              <a:rPr kumimoji="0" lang="en-US" sz="1400" b="0" i="0" u="none" strike="noStrike" kern="1200" cap="none" spc="0" normalizeH="0" baseline="0" noProof="0">
                <a:ln w="3175">
                  <a:noFill/>
                </a:ln>
                <a:solidFill>
                  <a:srgbClr val="FFFFFF"/>
                </a:solidFill>
                <a:effectLst/>
                <a:uLnTx/>
                <a:uFillTx/>
                <a:latin typeface="+mj-lt"/>
                <a:ea typeface="+mn-ea"/>
                <a:cs typeface="+mn-cs"/>
              </a:rPr>
            </a:br>
            <a:r>
              <a:rPr kumimoji="0" lang="en-US" sz="1400" b="0" i="0" u="none" strike="noStrike" kern="1200" cap="none" spc="0" normalizeH="0" baseline="0" noProof="0">
                <a:ln w="3175">
                  <a:noFill/>
                </a:ln>
                <a:solidFill>
                  <a:srgbClr val="FFFFFF"/>
                </a:solidFill>
                <a:effectLst/>
                <a:uLnTx/>
                <a:uFillTx/>
                <a:latin typeface="+mj-lt"/>
                <a:ea typeface="+mn-ea"/>
                <a:cs typeface="+mn-cs"/>
              </a:rPr>
              <a:t>decision makers</a:t>
            </a:r>
          </a:p>
        </p:txBody>
      </p:sp>
      <p:sp>
        <p:nvSpPr>
          <p:cNvPr id="986129" name="TextBox 986128">
            <a:extLst>
              <a:ext uri="{FF2B5EF4-FFF2-40B4-BE49-F238E27FC236}">
                <a16:creationId xmlns:a16="http://schemas.microsoft.com/office/drawing/2014/main" id="{D6957AFA-171A-E85C-2728-9EF68E3F48DA}"/>
              </a:ext>
            </a:extLst>
          </p:cNvPr>
          <p:cNvSpPr txBox="1">
            <a:spLocks/>
          </p:cNvSpPr>
          <p:nvPr/>
        </p:nvSpPr>
        <p:spPr>
          <a:xfrm>
            <a:off x="3518384" y="1827318"/>
            <a:ext cx="2221992" cy="646331"/>
          </a:xfrm>
          <a:prstGeom prst="rect">
            <a:avLst/>
          </a:prstGeom>
        </p:spPr>
        <p:txBody>
          <a:bodyPr wrap="square" lIns="0" tIns="0" rIns="0" bIns="0" anchor="ctr">
            <a:sp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w="3175">
                  <a:noFill/>
                </a:ln>
                <a:solidFill>
                  <a:srgbClr val="FFFFFF"/>
                </a:solidFill>
                <a:effectLst/>
                <a:uLnTx/>
                <a:uFillTx/>
                <a:latin typeface="+mj-lt"/>
                <a:ea typeface="+mn-ea"/>
                <a:cs typeface="+mn-cs"/>
              </a:rPr>
              <a:t>Get customer ready for Copilot addressing data security and privacy</a:t>
            </a:r>
          </a:p>
        </p:txBody>
      </p:sp>
      <p:sp>
        <p:nvSpPr>
          <p:cNvPr id="986130" name="TextBox 986129">
            <a:extLst>
              <a:ext uri="{FF2B5EF4-FFF2-40B4-BE49-F238E27FC236}">
                <a16:creationId xmlns:a16="http://schemas.microsoft.com/office/drawing/2014/main" id="{18AC2289-E04C-7650-96A2-FE7EF38250AF}"/>
              </a:ext>
            </a:extLst>
          </p:cNvPr>
          <p:cNvSpPr txBox="1"/>
          <p:nvPr/>
        </p:nvSpPr>
        <p:spPr>
          <a:xfrm>
            <a:off x="6452568" y="1827318"/>
            <a:ext cx="2221992" cy="646331"/>
          </a:xfrm>
          <a:prstGeom prst="rect">
            <a:avLst/>
          </a:prstGeom>
        </p:spPr>
        <p:txBody>
          <a:bodyPr wrap="square" lIns="0" tIns="0" rIns="0" bIns="0" rtlCol="0">
            <a:sp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w="3175">
                  <a:noFill/>
                </a:ln>
                <a:solidFill>
                  <a:srgbClr val="FFFFFF"/>
                </a:solidFill>
                <a:effectLst/>
                <a:uLnTx/>
                <a:uFillTx/>
                <a:latin typeface="+mj-lt"/>
                <a:ea typeface="+mn-ea"/>
                <a:cs typeface="+mn-cs"/>
              </a:rPr>
              <a:t>Deliver end-user Copilot adoption and change management</a:t>
            </a:r>
          </a:p>
        </p:txBody>
      </p:sp>
      <p:sp>
        <p:nvSpPr>
          <p:cNvPr id="986131" name="TextBox 986130">
            <a:extLst>
              <a:ext uri="{FF2B5EF4-FFF2-40B4-BE49-F238E27FC236}">
                <a16:creationId xmlns:a16="http://schemas.microsoft.com/office/drawing/2014/main" id="{3A29D2DC-408C-2974-BAC4-C3200922B694}"/>
              </a:ext>
            </a:extLst>
          </p:cNvPr>
          <p:cNvSpPr txBox="1">
            <a:spLocks/>
          </p:cNvSpPr>
          <p:nvPr/>
        </p:nvSpPr>
        <p:spPr>
          <a:xfrm>
            <a:off x="9386749" y="1827318"/>
            <a:ext cx="2221992" cy="646331"/>
          </a:xfrm>
          <a:prstGeom prst="rect">
            <a:avLst/>
          </a:prstGeom>
        </p:spPr>
        <p:txBody>
          <a:bodyPr wrap="square" lIns="0" tIns="0" rIns="0" bIns="0" anchor="ctr">
            <a:sp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w="3175">
                  <a:noFill/>
                </a:ln>
                <a:solidFill>
                  <a:srgbClr val="FFFFFF"/>
                </a:solidFill>
                <a:effectLst/>
                <a:uLnTx/>
                <a:uFillTx/>
                <a:latin typeface="+mj-lt"/>
                <a:ea typeface="+mn-ea"/>
                <a:cs typeface="+mn-cs"/>
              </a:rPr>
              <a:t>Extend Copilot and transform business processes with agents</a:t>
            </a:r>
          </a:p>
        </p:txBody>
      </p:sp>
      <p:sp>
        <p:nvSpPr>
          <p:cNvPr id="46" name="Oval 45">
            <a:extLst>
              <a:ext uri="{FF2B5EF4-FFF2-40B4-BE49-F238E27FC236}">
                <a16:creationId xmlns:a16="http://schemas.microsoft.com/office/drawing/2014/main" id="{C287AE6F-51FD-61CC-6754-9C1B5E946FA2}"/>
              </a:ext>
              <a:ext uri="{C183D7F6-B498-43B3-948B-1728B52AA6E4}">
                <adec:decorative xmlns:adec="http://schemas.microsoft.com/office/drawing/2017/decorative" val="0"/>
              </a:ext>
            </a:extLst>
          </p:cNvPr>
          <p:cNvSpPr/>
          <p:nvPr/>
        </p:nvSpPr>
        <p:spPr bwMode="auto">
          <a:xfrm>
            <a:off x="1498188" y="2863593"/>
            <a:ext cx="505140" cy="505140"/>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l="100000" b="100000"/>
            </a:path>
            <a:tileRect t="-100000" r="-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a:solidFill>
                  <a:schemeClr val="bg1"/>
                </a:solidFill>
                <a:latin typeface="+mj-lt"/>
                <a:cs typeface="Segoe UI" pitchFamily="34" charset="0"/>
              </a:rPr>
              <a:t>1</a:t>
            </a:r>
          </a:p>
        </p:txBody>
      </p:sp>
      <p:sp>
        <p:nvSpPr>
          <p:cNvPr id="48" name="TextBox 47">
            <a:extLst>
              <a:ext uri="{FF2B5EF4-FFF2-40B4-BE49-F238E27FC236}">
                <a16:creationId xmlns:a16="http://schemas.microsoft.com/office/drawing/2014/main" id="{E7ECA0D5-81F9-08DA-4B52-C6EB85E928EA}"/>
              </a:ext>
            </a:extLst>
          </p:cNvPr>
          <p:cNvSpPr txBox="1">
            <a:spLocks/>
          </p:cNvSpPr>
          <p:nvPr/>
        </p:nvSpPr>
        <p:spPr>
          <a:xfrm>
            <a:off x="815548" y="3653975"/>
            <a:ext cx="1870420" cy="373621"/>
          </a:xfrm>
          <a:prstGeom prst="roundRect">
            <a:avLst>
              <a:gd name="adj" fmla="val 16700"/>
            </a:avLst>
          </a:prstGeom>
          <a:solidFill>
            <a:schemeClr val="accent4"/>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defTabSz="822930">
              <a:defRPr sz="1400" kern="0">
                <a:solidFill>
                  <a:schemeClr val="accent3"/>
                </a:solidFill>
                <a:latin typeface="+mj-lt"/>
                <a:cs typeface="Segoe UI" panose="020B05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w="3175">
                  <a:noFill/>
                </a:ln>
                <a:solidFill>
                  <a:srgbClr val="FFFFFF"/>
                </a:solidFill>
                <a:effectLst/>
                <a:uLnTx/>
                <a:uFillTx/>
                <a:ea typeface="+mn-ea"/>
                <a:cs typeface="Segoe UI" panose="020B0502040204020203" pitchFamily="34" charset="0"/>
              </a:rPr>
              <a:t>Listen &amp; consult</a:t>
            </a:r>
          </a:p>
        </p:txBody>
      </p:sp>
      <p:sp>
        <p:nvSpPr>
          <p:cNvPr id="49" name="Rectangle 48">
            <a:extLst>
              <a:ext uri="{FF2B5EF4-FFF2-40B4-BE49-F238E27FC236}">
                <a16:creationId xmlns:a16="http://schemas.microsoft.com/office/drawing/2014/main" id="{26497907-788E-8B54-1EFC-BC1EA231EB72}"/>
              </a:ext>
            </a:extLst>
          </p:cNvPr>
          <p:cNvSpPr>
            <a:spLocks/>
          </p:cNvSpPr>
          <p:nvPr/>
        </p:nvSpPr>
        <p:spPr bwMode="auto">
          <a:xfrm>
            <a:off x="837899" y="4198506"/>
            <a:ext cx="1825718" cy="867930"/>
          </a:xfrm>
          <a:prstGeom prst="rect">
            <a:avLst/>
          </a:prstGeom>
          <a:noFill/>
          <a:ln w="12700" cap="rnd">
            <a:noFill/>
            <a:headEnd type="none" w="lg" len="med"/>
            <a:tailEnd type="none" w="lg" len="sm"/>
          </a:ln>
          <a:effectLst/>
        </p:spPr>
        <p:style>
          <a:lnRef idx="1">
            <a:schemeClr val="accent1"/>
          </a:lnRef>
          <a:fillRef idx="0">
            <a:schemeClr val="accent1"/>
          </a:fillRef>
          <a:effectRef idx="0">
            <a:schemeClr val="accent1"/>
          </a:effectRef>
          <a:fontRef idx="minor">
            <a:schemeClr val="tx1"/>
          </a:fontRef>
        </p:style>
        <p:txBody>
          <a:bodyPr wrap="square" lIns="0" tIns="0" rIns="0" bIns="0" rtlCol="0" anchor="t">
            <a:spAutoFit/>
          </a:bodyPr>
          <a:lstStyle/>
          <a:p>
            <a:pPr marL="0" marR="0" lvl="0" indent="0" algn="ctr" defTabSz="914367"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0078D4"/>
                </a:solidFill>
                <a:effectLst/>
                <a:uLnTx/>
                <a:uFillTx/>
                <a:latin typeface="+mj-lt"/>
                <a:ea typeface="+mn-ea"/>
                <a:cs typeface="+mn-cs"/>
              </a:rPr>
              <a:t>Build Pipeline</a:t>
            </a:r>
          </a:p>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ea typeface="+mn-ea"/>
                <a:cs typeface="+mn-cs"/>
              </a:rPr>
              <a:t>Target customers and execute campaigns</a:t>
            </a:r>
          </a:p>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ea typeface="+mn-ea"/>
                <a:cs typeface="+mn-cs"/>
              </a:rPr>
              <a:t>Customer propensity list</a:t>
            </a:r>
          </a:p>
        </p:txBody>
      </p:sp>
      <p:sp>
        <p:nvSpPr>
          <p:cNvPr id="50" name="Rectangle: Rounded Corners 49">
            <a:extLst>
              <a:ext uri="{FF2B5EF4-FFF2-40B4-BE49-F238E27FC236}">
                <a16:creationId xmlns:a16="http://schemas.microsoft.com/office/drawing/2014/main" id="{747868D6-132C-3B1D-82B7-F18016E0E846}"/>
              </a:ext>
            </a:extLst>
          </p:cNvPr>
          <p:cNvSpPr>
            <a:spLocks/>
          </p:cNvSpPr>
          <p:nvPr/>
        </p:nvSpPr>
        <p:spPr bwMode="auto">
          <a:xfrm>
            <a:off x="815548" y="5313673"/>
            <a:ext cx="1870420" cy="730855"/>
          </a:xfrm>
          <a:prstGeom prst="roundRect">
            <a:avLst>
              <a:gd name="adj" fmla="val 853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367" rtl="0" eaLnBrk="1" fontAlgn="base" latinLnBrk="0" hangingPunct="1">
              <a:lnSpc>
                <a:spcPct val="100000"/>
              </a:lnSpc>
              <a:spcBef>
                <a:spcPts val="600"/>
              </a:spcBef>
              <a:spcAft>
                <a:spcPts val="600"/>
              </a:spcAft>
              <a:buClrTx/>
              <a:buSzTx/>
              <a:buFontTx/>
              <a:buNone/>
              <a:tabLst/>
              <a:defRPr/>
            </a:pPr>
            <a:r>
              <a:rPr kumimoji="0" lang="en-US" sz="1200" b="0" i="0" u="none" strike="noStrike" kern="1200" cap="none" spc="0" normalizeH="0" baseline="0" noProof="0">
                <a:ln w="3175">
                  <a:noFill/>
                </a:ln>
                <a:solidFill>
                  <a:schemeClr val="bg1"/>
                </a:solidFill>
                <a:effectLst/>
                <a:uLnTx/>
                <a:uFillTx/>
                <a:ea typeface="+mn-ea"/>
                <a:cs typeface="+mn-cs"/>
                <a:hlinkClick r:id="rId4">
                  <a:extLst>
                    <a:ext uri="{A12FA001-AC4F-418D-AE19-62706E023703}">
                      <ahyp:hlinkClr xmlns:ahyp="http://schemas.microsoft.com/office/drawing/2018/hyperlinkcolor" val="tx"/>
                    </a:ext>
                  </a:extLst>
                </a:hlinkClick>
              </a:rPr>
              <a:t>Campaign in a box</a:t>
            </a:r>
            <a:endParaRPr kumimoji="0" lang="en-US" sz="1200" b="0" i="0" u="none" strike="noStrike" kern="1200" cap="none" spc="0" normalizeH="0" baseline="0" noProof="0">
              <a:ln w="3175">
                <a:noFill/>
              </a:ln>
              <a:solidFill>
                <a:schemeClr val="bg1"/>
              </a:solidFill>
              <a:effectLst/>
              <a:uLnTx/>
              <a:uFillTx/>
              <a:ea typeface="+mn-ea"/>
              <a:cs typeface="+mn-cs"/>
            </a:endParaRPr>
          </a:p>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w="3175">
                  <a:noFill/>
                </a:ln>
                <a:solidFill>
                  <a:schemeClr val="bg1"/>
                </a:solidFill>
                <a:effectLst/>
                <a:uLnTx/>
                <a:uFillTx/>
                <a:ea typeface="+mn-ea"/>
                <a:cs typeface="+mn-cs"/>
              </a:rPr>
              <a:t>(11 Languages)</a:t>
            </a:r>
          </a:p>
        </p:txBody>
      </p:sp>
      <p:sp>
        <p:nvSpPr>
          <p:cNvPr id="51" name="Oval 50">
            <a:extLst>
              <a:ext uri="{FF2B5EF4-FFF2-40B4-BE49-F238E27FC236}">
                <a16:creationId xmlns:a16="http://schemas.microsoft.com/office/drawing/2014/main" id="{A5BC14A8-1BE6-3567-DC45-681B65622262}"/>
              </a:ext>
              <a:ext uri="{C183D7F6-B498-43B3-948B-1728B52AA6E4}">
                <adec:decorative xmlns:adec="http://schemas.microsoft.com/office/drawing/2017/decorative" val="0"/>
              </a:ext>
            </a:extLst>
          </p:cNvPr>
          <p:cNvSpPr/>
          <p:nvPr/>
        </p:nvSpPr>
        <p:spPr bwMode="auto">
          <a:xfrm>
            <a:off x="3671604" y="2863593"/>
            <a:ext cx="505140" cy="505140"/>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l="100000" b="100000"/>
            </a:path>
            <a:tileRect t="-100000" r="-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a:solidFill>
                  <a:schemeClr val="bg1"/>
                </a:solidFill>
                <a:latin typeface="+mj-lt"/>
                <a:cs typeface="Segoe UI" pitchFamily="34" charset="0"/>
              </a:rPr>
              <a:t>2</a:t>
            </a:r>
          </a:p>
        </p:txBody>
      </p:sp>
      <p:sp>
        <p:nvSpPr>
          <p:cNvPr id="52" name="TextBox 51">
            <a:extLst>
              <a:ext uri="{FF2B5EF4-FFF2-40B4-BE49-F238E27FC236}">
                <a16:creationId xmlns:a16="http://schemas.microsoft.com/office/drawing/2014/main" id="{1ADD4D97-5ED8-4373-9972-45F213C035DF}"/>
              </a:ext>
            </a:extLst>
          </p:cNvPr>
          <p:cNvSpPr txBox="1">
            <a:spLocks/>
          </p:cNvSpPr>
          <p:nvPr/>
        </p:nvSpPr>
        <p:spPr>
          <a:xfrm>
            <a:off x="2988964" y="3653975"/>
            <a:ext cx="1870420" cy="373621"/>
          </a:xfrm>
          <a:prstGeom prst="roundRect">
            <a:avLst>
              <a:gd name="adj" fmla="val 16700"/>
            </a:avLst>
          </a:prstGeom>
          <a:solidFill>
            <a:schemeClr val="accent4"/>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defTabSz="822930">
              <a:defRPr sz="1400" kern="0">
                <a:solidFill>
                  <a:schemeClr val="accent3"/>
                </a:solidFill>
                <a:latin typeface="+mj-lt"/>
                <a:cs typeface="Segoe UI" panose="020B0502040204020203" pitchFamily="34" charset="0"/>
              </a:defRPr>
            </a:lvl1pPr>
          </a:lstStyle>
          <a:p>
            <a:pPr marL="0" marR="0" lvl="0" indent="0" algn="ctr" defTabSz="914400" rtl="0" eaLnBrk="1" fontAlgn="auto" latinLnBrk="0" hangingPunct="1">
              <a:lnSpc>
                <a:spcPct val="100000"/>
              </a:lnSpc>
              <a:spcBef>
                <a:spcPts val="200"/>
              </a:spcBef>
              <a:spcAft>
                <a:spcPts val="200"/>
              </a:spcAft>
              <a:buClrTx/>
              <a:buSzTx/>
              <a:buFontTx/>
              <a:buNone/>
              <a:tabLst/>
              <a:defRPr/>
            </a:pPr>
            <a:r>
              <a:rPr kumimoji="0" lang="en-US" sz="1400" b="0" i="0" u="none" strike="noStrike" kern="1200" cap="none" spc="0" normalizeH="0" baseline="0" noProof="0">
                <a:ln w="3175">
                  <a:noFill/>
                </a:ln>
                <a:solidFill>
                  <a:srgbClr val="FFFFFF"/>
                </a:solidFill>
                <a:effectLst/>
                <a:uLnTx/>
                <a:uFillTx/>
                <a:ea typeface="+mn-ea"/>
                <a:cs typeface="Segoe UI" panose="020B0502040204020203" pitchFamily="34" charset="0"/>
              </a:rPr>
              <a:t>Inspire &amp; design</a:t>
            </a:r>
          </a:p>
        </p:txBody>
      </p:sp>
      <p:sp>
        <p:nvSpPr>
          <p:cNvPr id="53" name="Rectangle 52">
            <a:extLst>
              <a:ext uri="{FF2B5EF4-FFF2-40B4-BE49-F238E27FC236}">
                <a16:creationId xmlns:a16="http://schemas.microsoft.com/office/drawing/2014/main" id="{0F0E3D6A-5B50-6D12-C39E-E2DEF030E283}"/>
              </a:ext>
            </a:extLst>
          </p:cNvPr>
          <p:cNvSpPr>
            <a:spLocks/>
          </p:cNvSpPr>
          <p:nvPr/>
        </p:nvSpPr>
        <p:spPr bwMode="auto">
          <a:xfrm>
            <a:off x="3011315" y="4198506"/>
            <a:ext cx="1825718" cy="1111073"/>
          </a:xfrm>
          <a:prstGeom prst="rect">
            <a:avLst/>
          </a:prstGeom>
          <a:noFill/>
          <a:ln w="12700" cap="rnd">
            <a:noFill/>
            <a:headEnd type="none" w="lg" len="med"/>
            <a:tailEnd type="none" w="lg" len="sm"/>
          </a:ln>
          <a:effectLst/>
        </p:spPr>
        <p:style>
          <a:lnRef idx="1">
            <a:schemeClr val="accent1"/>
          </a:lnRef>
          <a:fillRef idx="0">
            <a:schemeClr val="accent1"/>
          </a:fillRef>
          <a:effectRef idx="0">
            <a:schemeClr val="accent1"/>
          </a:effectRef>
          <a:fontRef idx="minor">
            <a:schemeClr val="tx1"/>
          </a:fontRef>
        </p:style>
        <p:txBody>
          <a:bodyPr wrap="square" lIns="0" tIns="0" rIns="0" bIns="0" rtlCol="0" anchor="t">
            <a:spAutoFit/>
          </a:bodyPr>
          <a:lstStyle/>
          <a:p>
            <a:pPr algn="ctr" defTabSz="914367">
              <a:spcAft>
                <a:spcPts val="600"/>
              </a:spcAft>
              <a:defRPr/>
            </a:pPr>
            <a:r>
              <a:rPr lang="en-US" sz="1400" dirty="0">
                <a:solidFill>
                  <a:srgbClr val="0078D4"/>
                </a:solidFill>
                <a:latin typeface="+mj-lt"/>
              </a:rPr>
              <a:t>Design solution</a:t>
            </a:r>
          </a:p>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ea typeface="+mn-ea"/>
                <a:cs typeface="+mn-cs"/>
              </a:rPr>
              <a:t>Build customer intent</a:t>
            </a:r>
            <a:endParaRPr lang="en-US" sz="1200" dirty="0">
              <a:solidFill>
                <a:srgbClr val="000000"/>
              </a:solidFill>
            </a:endParaRPr>
          </a:p>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ea typeface="+mn-ea"/>
                <a:cs typeface="+mn-cs"/>
              </a:rPr>
              <a:t>Rapid evaluation to expand Copilot seats</a:t>
            </a:r>
          </a:p>
          <a:p>
            <a:pPr marL="0" marR="0" lvl="0" indent="0" algn="ctr" defTabSz="914367" rtl="0" eaLnBrk="1" fontAlgn="auto" latinLnBrk="0" hangingPunct="1">
              <a:lnSpc>
                <a:spcPct val="90000"/>
              </a:lnSpc>
              <a:spcBef>
                <a:spcPts val="0"/>
              </a:spcBef>
              <a:spcAft>
                <a:spcPts val="600"/>
              </a:spcAft>
              <a:buClrTx/>
              <a:buSzTx/>
              <a:buFontTx/>
              <a:buNone/>
              <a:tabLst/>
              <a:defRPr/>
            </a:pPr>
            <a:endParaRPr lang="en-US" sz="1200" dirty="0">
              <a:solidFill>
                <a:srgbClr val="000000"/>
              </a:solidFill>
            </a:endParaRPr>
          </a:p>
        </p:txBody>
      </p:sp>
      <p:sp>
        <p:nvSpPr>
          <p:cNvPr id="55" name="Oval 54">
            <a:extLst>
              <a:ext uri="{FF2B5EF4-FFF2-40B4-BE49-F238E27FC236}">
                <a16:creationId xmlns:a16="http://schemas.microsoft.com/office/drawing/2014/main" id="{F01DF4BC-59F7-7A9E-C026-198649BFE128}"/>
              </a:ext>
              <a:ext uri="{C183D7F6-B498-43B3-948B-1728B52AA6E4}">
                <adec:decorative xmlns:adec="http://schemas.microsoft.com/office/drawing/2017/decorative" val="0"/>
              </a:ext>
            </a:extLst>
          </p:cNvPr>
          <p:cNvSpPr/>
          <p:nvPr/>
        </p:nvSpPr>
        <p:spPr bwMode="auto">
          <a:xfrm>
            <a:off x="5845019" y="2863593"/>
            <a:ext cx="505140" cy="505140"/>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l="100000" b="100000"/>
            </a:path>
            <a:tileRect t="-100000" r="-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a:solidFill>
                  <a:schemeClr val="bg1"/>
                </a:solidFill>
                <a:latin typeface="+mj-lt"/>
                <a:cs typeface="Segoe UI" pitchFamily="34" charset="0"/>
              </a:rPr>
              <a:t>3</a:t>
            </a:r>
          </a:p>
        </p:txBody>
      </p:sp>
      <p:sp>
        <p:nvSpPr>
          <p:cNvPr id="56" name="TextBox 55">
            <a:extLst>
              <a:ext uri="{FF2B5EF4-FFF2-40B4-BE49-F238E27FC236}">
                <a16:creationId xmlns:a16="http://schemas.microsoft.com/office/drawing/2014/main" id="{1EFB596E-DA8A-D7D2-0219-99F35F7E201D}"/>
              </a:ext>
            </a:extLst>
          </p:cNvPr>
          <p:cNvSpPr txBox="1">
            <a:spLocks/>
          </p:cNvSpPr>
          <p:nvPr/>
        </p:nvSpPr>
        <p:spPr>
          <a:xfrm>
            <a:off x="5162378" y="3653975"/>
            <a:ext cx="1870420" cy="373621"/>
          </a:xfrm>
          <a:prstGeom prst="roundRect">
            <a:avLst>
              <a:gd name="adj" fmla="val 16700"/>
            </a:avLst>
          </a:prstGeom>
          <a:solidFill>
            <a:schemeClr val="accent4"/>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defTabSz="822930">
              <a:spcBef>
                <a:spcPts val="200"/>
              </a:spcBef>
              <a:spcAft>
                <a:spcPts val="200"/>
              </a:spcAft>
              <a:defRPr sz="1400" kern="0">
                <a:solidFill>
                  <a:schemeClr val="bg1"/>
                </a:solidFill>
                <a:latin typeface="+mj-lt"/>
                <a:cs typeface="Segoe UI" panose="020B0502040204020203" pitchFamily="34" charset="0"/>
              </a:defRPr>
            </a:lvl1pPr>
          </a:lstStyle>
          <a:p>
            <a:pPr marL="0" marR="0" lvl="0" indent="0" algn="ctr" defTabSz="914400" rtl="0" eaLnBrk="1" fontAlgn="auto" latinLnBrk="0" hangingPunct="1">
              <a:lnSpc>
                <a:spcPct val="100000"/>
              </a:lnSpc>
              <a:spcBef>
                <a:spcPts val="200"/>
              </a:spcBef>
              <a:spcAft>
                <a:spcPts val="200"/>
              </a:spcAft>
              <a:buClrTx/>
              <a:buSzTx/>
              <a:buFontTx/>
              <a:buNone/>
              <a:tabLst/>
              <a:defRPr/>
            </a:pPr>
            <a:r>
              <a:rPr kumimoji="0" lang="en-US" sz="1400" b="0" i="0" u="none" strike="noStrike" kern="1200" cap="none" spc="0" normalizeH="0" baseline="0" noProof="0">
                <a:ln w="3175">
                  <a:noFill/>
                </a:ln>
                <a:solidFill>
                  <a:srgbClr val="FFFFFF"/>
                </a:solidFill>
                <a:effectLst/>
                <a:uLnTx/>
                <a:uFillTx/>
                <a:ea typeface="+mn-ea"/>
                <a:cs typeface="Segoe UI" panose="020B0502040204020203" pitchFamily="34" charset="0"/>
              </a:rPr>
              <a:t>Empower &amp; achieve</a:t>
            </a:r>
          </a:p>
        </p:txBody>
      </p:sp>
      <p:sp>
        <p:nvSpPr>
          <p:cNvPr id="57" name="Rectangle 56">
            <a:extLst>
              <a:ext uri="{FF2B5EF4-FFF2-40B4-BE49-F238E27FC236}">
                <a16:creationId xmlns:a16="http://schemas.microsoft.com/office/drawing/2014/main" id="{2E21391D-26BB-5335-F82A-66350C1D33A2}"/>
              </a:ext>
            </a:extLst>
          </p:cNvPr>
          <p:cNvSpPr>
            <a:spLocks/>
          </p:cNvSpPr>
          <p:nvPr/>
        </p:nvSpPr>
        <p:spPr bwMode="auto">
          <a:xfrm>
            <a:off x="5184729" y="4198506"/>
            <a:ext cx="1825718" cy="624786"/>
          </a:xfrm>
          <a:prstGeom prst="rect">
            <a:avLst/>
          </a:prstGeom>
          <a:noFill/>
          <a:ln w="12700" cap="rnd">
            <a:noFill/>
            <a:headEnd type="none" w="lg" len="med"/>
            <a:tailEnd type="none" w="lg" len="sm"/>
          </a:ln>
          <a:effectLst/>
        </p:spPr>
        <p:style>
          <a:lnRef idx="1">
            <a:schemeClr val="accent1"/>
          </a:lnRef>
          <a:fillRef idx="0">
            <a:schemeClr val="accent1"/>
          </a:fillRef>
          <a:effectRef idx="0">
            <a:schemeClr val="accent1"/>
          </a:effectRef>
          <a:fontRef idx="minor">
            <a:schemeClr val="tx1"/>
          </a:fontRef>
        </p:style>
        <p:txBody>
          <a:bodyPr wrap="square" lIns="0" tIns="0" rIns="0" bIns="0" rtlCol="0" anchor="t">
            <a:spAutoFit/>
          </a:bodyPr>
          <a:lstStyle/>
          <a:p>
            <a:pPr marR="0" lvl="0" indent="0" algn="ctr" defTabSz="914367" fontAlgn="auto">
              <a:lnSpc>
                <a:spcPct val="100000"/>
              </a:lnSpc>
              <a:spcBef>
                <a:spcPts val="0"/>
              </a:spcBef>
              <a:spcAft>
                <a:spcPts val="600"/>
              </a:spcAft>
              <a:buClrTx/>
              <a:buSzTx/>
              <a:buFontTx/>
              <a:buNone/>
              <a:tabLst/>
              <a:defRPr/>
            </a:pPr>
            <a:r>
              <a:rPr lang="en-US" sz="1400" dirty="0">
                <a:solidFill>
                  <a:srgbClr val="0078D4"/>
                </a:solidFill>
                <a:latin typeface="+mj-lt"/>
              </a:rPr>
              <a:t>Win deal</a:t>
            </a:r>
          </a:p>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ea typeface="+mn-ea"/>
                <a:cs typeface="+mn-cs"/>
              </a:rPr>
              <a:t>Influence or close the M365 Copilot sale</a:t>
            </a:r>
          </a:p>
        </p:txBody>
      </p:sp>
      <p:sp>
        <p:nvSpPr>
          <p:cNvPr id="59" name="Oval 58">
            <a:extLst>
              <a:ext uri="{FF2B5EF4-FFF2-40B4-BE49-F238E27FC236}">
                <a16:creationId xmlns:a16="http://schemas.microsoft.com/office/drawing/2014/main" id="{C31C04D7-A138-486B-AEE6-7EF858FC5D0A}"/>
              </a:ext>
              <a:ext uri="{C183D7F6-B498-43B3-948B-1728B52AA6E4}">
                <adec:decorative xmlns:adec="http://schemas.microsoft.com/office/drawing/2017/decorative" val="0"/>
              </a:ext>
            </a:extLst>
          </p:cNvPr>
          <p:cNvSpPr/>
          <p:nvPr/>
        </p:nvSpPr>
        <p:spPr bwMode="auto">
          <a:xfrm>
            <a:off x="8018434" y="2863593"/>
            <a:ext cx="505140" cy="505140"/>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l="100000" b="100000"/>
            </a:path>
            <a:tileRect t="-100000" r="-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a:solidFill>
                  <a:schemeClr val="bg1"/>
                </a:solidFill>
                <a:latin typeface="+mj-lt"/>
                <a:cs typeface="Segoe UI" pitchFamily="34" charset="0"/>
              </a:rPr>
              <a:t>4</a:t>
            </a:r>
          </a:p>
        </p:txBody>
      </p:sp>
      <p:sp>
        <p:nvSpPr>
          <p:cNvPr id="60" name="TextBox 59">
            <a:extLst>
              <a:ext uri="{FF2B5EF4-FFF2-40B4-BE49-F238E27FC236}">
                <a16:creationId xmlns:a16="http://schemas.microsoft.com/office/drawing/2014/main" id="{238DC44C-1F4E-1EAC-BE3D-49193D0FCB84}"/>
              </a:ext>
            </a:extLst>
          </p:cNvPr>
          <p:cNvSpPr txBox="1">
            <a:spLocks/>
          </p:cNvSpPr>
          <p:nvPr/>
        </p:nvSpPr>
        <p:spPr>
          <a:xfrm>
            <a:off x="7335793" y="3653975"/>
            <a:ext cx="1870420" cy="373621"/>
          </a:xfrm>
          <a:prstGeom prst="roundRect">
            <a:avLst>
              <a:gd name="adj" fmla="val 16700"/>
            </a:avLst>
          </a:prstGeom>
          <a:solidFill>
            <a:schemeClr val="accent4"/>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defTabSz="822930">
              <a:spcBef>
                <a:spcPts val="200"/>
              </a:spcBef>
              <a:spcAft>
                <a:spcPts val="200"/>
              </a:spcAft>
              <a:defRPr sz="1400" kern="0">
                <a:solidFill>
                  <a:schemeClr val="bg1"/>
                </a:solidFill>
                <a:latin typeface="+mj-lt"/>
                <a:cs typeface="Segoe UI" panose="020B0502040204020203" pitchFamily="34" charset="0"/>
              </a:defRPr>
            </a:lvl1pPr>
          </a:lstStyle>
          <a:p>
            <a:pPr marL="0" marR="0" lvl="0" indent="0" algn="ctr" defTabSz="914400" rtl="0" eaLnBrk="1" fontAlgn="auto" latinLnBrk="0" hangingPunct="1">
              <a:lnSpc>
                <a:spcPct val="100000"/>
              </a:lnSpc>
              <a:spcBef>
                <a:spcPts val="200"/>
              </a:spcBef>
              <a:spcAft>
                <a:spcPts val="200"/>
              </a:spcAft>
              <a:buClrTx/>
              <a:buSzTx/>
              <a:buFontTx/>
              <a:buNone/>
              <a:tabLst/>
              <a:defRPr/>
            </a:pPr>
            <a:r>
              <a:rPr kumimoji="0" lang="en-US" sz="1400" b="0" i="0" u="none" strike="noStrike" kern="1200" cap="none" spc="0" normalizeH="0" baseline="0" noProof="0">
                <a:ln w="3175">
                  <a:noFill/>
                </a:ln>
                <a:solidFill>
                  <a:srgbClr val="FFFFFF"/>
                </a:solidFill>
                <a:effectLst/>
                <a:uLnTx/>
                <a:uFillTx/>
                <a:ea typeface="+mn-ea"/>
                <a:cs typeface="Segoe UI" panose="020B0502040204020203" pitchFamily="34" charset="0"/>
              </a:rPr>
              <a:t>Realize value</a:t>
            </a:r>
          </a:p>
        </p:txBody>
      </p:sp>
      <p:sp>
        <p:nvSpPr>
          <p:cNvPr id="62" name="Rectangle 61">
            <a:extLst>
              <a:ext uri="{FF2B5EF4-FFF2-40B4-BE49-F238E27FC236}">
                <a16:creationId xmlns:a16="http://schemas.microsoft.com/office/drawing/2014/main" id="{0FD86F24-9AFC-5647-569E-7851BCD1FB58}"/>
              </a:ext>
            </a:extLst>
          </p:cNvPr>
          <p:cNvSpPr>
            <a:spLocks/>
          </p:cNvSpPr>
          <p:nvPr/>
        </p:nvSpPr>
        <p:spPr bwMode="auto">
          <a:xfrm>
            <a:off x="7358145" y="4198506"/>
            <a:ext cx="1825718" cy="790986"/>
          </a:xfrm>
          <a:prstGeom prst="rect">
            <a:avLst/>
          </a:prstGeom>
          <a:noFill/>
          <a:ln w="12700" cap="rnd">
            <a:noFill/>
            <a:headEnd type="none" w="lg" len="med"/>
            <a:tailEnd type="none" w="lg" len="sm"/>
          </a:ln>
          <a:effectLst/>
        </p:spPr>
        <p:style>
          <a:lnRef idx="1">
            <a:schemeClr val="accent1"/>
          </a:lnRef>
          <a:fillRef idx="0">
            <a:schemeClr val="accent1"/>
          </a:fillRef>
          <a:effectRef idx="0">
            <a:schemeClr val="accent1"/>
          </a:effectRef>
          <a:fontRef idx="minor">
            <a:schemeClr val="tx1"/>
          </a:fontRef>
        </p:style>
        <p:txBody>
          <a:bodyPr wrap="square" lIns="0" tIns="0" rIns="0" bIns="0" rtlCol="0" anchor="t">
            <a:spAutoFit/>
          </a:bodyPr>
          <a:lstStyle/>
          <a:p>
            <a:pPr algn="ctr" defTabSz="914367">
              <a:spcAft>
                <a:spcPts val="600"/>
              </a:spcAft>
              <a:defRPr/>
            </a:pPr>
            <a:r>
              <a:rPr lang="en-US" sz="1400" dirty="0">
                <a:solidFill>
                  <a:srgbClr val="0078D4"/>
                </a:solidFill>
                <a:latin typeface="+mj-lt"/>
              </a:rPr>
              <a:t>Deploy/drive usage</a:t>
            </a:r>
          </a:p>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ea typeface="+mn-ea"/>
                <a:cs typeface="+mn-cs"/>
              </a:rPr>
              <a:t>Address data security </a:t>
            </a:r>
            <a:br>
              <a:rPr kumimoji="0" lang="en-US" sz="1200" b="0" i="0" u="none" strike="noStrike" kern="1200" cap="none" spc="0" normalizeH="0" baseline="0" noProof="0" dirty="0">
                <a:ln>
                  <a:noFill/>
                </a:ln>
                <a:solidFill>
                  <a:srgbClr val="000000"/>
                </a:solidFill>
                <a:effectLst/>
                <a:uLnTx/>
                <a:uFillTx/>
                <a:ea typeface="+mn-ea"/>
                <a:cs typeface="+mn-cs"/>
              </a:rPr>
            </a:br>
            <a:r>
              <a:rPr kumimoji="0" lang="en-US" sz="1200" b="0" i="0" u="none" strike="noStrike" kern="1200" cap="none" spc="0" normalizeH="0" baseline="0" noProof="0" dirty="0">
                <a:ln>
                  <a:noFill/>
                </a:ln>
                <a:solidFill>
                  <a:srgbClr val="000000"/>
                </a:solidFill>
                <a:effectLst/>
                <a:uLnTx/>
                <a:uFillTx/>
                <a:ea typeface="+mn-ea"/>
                <a:cs typeface="+mn-cs"/>
              </a:rPr>
              <a:t>and privacy while driving end-user enablement</a:t>
            </a:r>
          </a:p>
        </p:txBody>
      </p:sp>
      <p:sp>
        <p:nvSpPr>
          <p:cNvPr id="986117" name="Rectangle: Rounded Corners 986116" descr="COPILOT ACCELERATE engagements for Inspire &amp; design, Empower &amp; achieve and Realize value&#10;&#10;&#10;">
            <a:extLst>
              <a:ext uri="{FF2B5EF4-FFF2-40B4-BE49-F238E27FC236}">
                <a16:creationId xmlns:a16="http://schemas.microsoft.com/office/drawing/2014/main" id="{FAD551EF-C765-8BDB-EF91-BCE528146E75}"/>
              </a:ext>
            </a:extLst>
          </p:cNvPr>
          <p:cNvSpPr/>
          <p:nvPr/>
        </p:nvSpPr>
        <p:spPr bwMode="auto">
          <a:xfrm>
            <a:off x="2987375" y="5314586"/>
            <a:ext cx="6217249" cy="432984"/>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w="3175">
                  <a:noFill/>
                </a:ln>
                <a:solidFill>
                  <a:schemeClr val="bg1"/>
                </a:solidFill>
                <a:effectLst/>
                <a:uLnTx/>
                <a:uFillTx/>
                <a:ea typeface="+mn-ea"/>
                <a:cs typeface="+mn-cs"/>
                <a:hlinkClick r:id="rId5">
                  <a:extLst>
                    <a:ext uri="{A12FA001-AC4F-418D-AE19-62706E023703}">
                      <ahyp:hlinkClr xmlns:ahyp="http://schemas.microsoft.com/office/drawing/2018/hyperlinkcolor" val="tx"/>
                    </a:ext>
                  </a:extLst>
                </a:hlinkClick>
              </a:rPr>
              <a:t>Copilot Accelerate engagements</a:t>
            </a:r>
            <a:endParaRPr kumimoji="0" lang="en-US" sz="1100" b="0" i="0" u="none" strike="noStrike" kern="1200" cap="none" spc="0" normalizeH="0" baseline="0" noProof="0">
              <a:ln w="3175">
                <a:noFill/>
              </a:ln>
              <a:solidFill>
                <a:schemeClr val="bg1"/>
              </a:solidFill>
              <a:effectLst/>
              <a:uLnTx/>
              <a:uFillTx/>
              <a:ea typeface="+mn-ea"/>
              <a:cs typeface="+mn-cs"/>
            </a:endParaRPr>
          </a:p>
        </p:txBody>
      </p:sp>
      <p:sp>
        <p:nvSpPr>
          <p:cNvPr id="986113" name="Oval 986112">
            <a:extLst>
              <a:ext uri="{FF2B5EF4-FFF2-40B4-BE49-F238E27FC236}">
                <a16:creationId xmlns:a16="http://schemas.microsoft.com/office/drawing/2014/main" id="{53552A77-3000-F2AA-2062-3718CEB2E09A}"/>
              </a:ext>
              <a:ext uri="{C183D7F6-B498-43B3-948B-1728B52AA6E4}">
                <adec:decorative xmlns:adec="http://schemas.microsoft.com/office/drawing/2017/decorative" val="0"/>
              </a:ext>
            </a:extLst>
          </p:cNvPr>
          <p:cNvSpPr/>
          <p:nvPr/>
        </p:nvSpPr>
        <p:spPr bwMode="auto">
          <a:xfrm>
            <a:off x="10191849" y="2863593"/>
            <a:ext cx="505140" cy="505140"/>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l="100000" b="100000"/>
            </a:path>
            <a:tileRect t="-100000" r="-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a:solidFill>
                  <a:schemeClr val="bg1"/>
                </a:solidFill>
                <a:latin typeface="+mj-lt"/>
                <a:cs typeface="Segoe UI" pitchFamily="34" charset="0"/>
              </a:rPr>
              <a:t>5</a:t>
            </a:r>
          </a:p>
        </p:txBody>
      </p:sp>
      <p:sp>
        <p:nvSpPr>
          <p:cNvPr id="986114" name="TextBox 986113">
            <a:extLst>
              <a:ext uri="{FF2B5EF4-FFF2-40B4-BE49-F238E27FC236}">
                <a16:creationId xmlns:a16="http://schemas.microsoft.com/office/drawing/2014/main" id="{2BC5F8CA-6B90-EC75-EBAA-6E6C0EB72DC4}"/>
              </a:ext>
            </a:extLst>
          </p:cNvPr>
          <p:cNvSpPr txBox="1">
            <a:spLocks/>
          </p:cNvSpPr>
          <p:nvPr/>
        </p:nvSpPr>
        <p:spPr>
          <a:xfrm>
            <a:off x="9509209" y="3653975"/>
            <a:ext cx="1870420" cy="373621"/>
          </a:xfrm>
          <a:prstGeom prst="roundRect">
            <a:avLst>
              <a:gd name="adj" fmla="val 16700"/>
            </a:avLst>
          </a:prstGeom>
          <a:solidFill>
            <a:schemeClr val="accent4"/>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defTabSz="822930">
              <a:spcBef>
                <a:spcPts val="200"/>
              </a:spcBef>
              <a:spcAft>
                <a:spcPts val="200"/>
              </a:spcAft>
              <a:defRPr sz="1400" kern="0">
                <a:solidFill>
                  <a:schemeClr val="bg1"/>
                </a:solidFill>
                <a:latin typeface="+mj-lt"/>
                <a:cs typeface="Segoe UI" panose="020B0502040204020203" pitchFamily="34" charset="0"/>
              </a:defRPr>
            </a:lvl1pPr>
          </a:lstStyle>
          <a:p>
            <a:pPr marL="0" marR="0" lvl="0" indent="0" algn="ctr" defTabSz="914400" rtl="0" eaLnBrk="1" fontAlgn="auto" latinLnBrk="0" hangingPunct="1">
              <a:lnSpc>
                <a:spcPct val="100000"/>
              </a:lnSpc>
              <a:spcBef>
                <a:spcPts val="200"/>
              </a:spcBef>
              <a:spcAft>
                <a:spcPts val="200"/>
              </a:spcAft>
              <a:buClrTx/>
              <a:buSzTx/>
              <a:buFontTx/>
              <a:buNone/>
              <a:tabLst/>
              <a:defRPr/>
            </a:pPr>
            <a:r>
              <a:rPr kumimoji="0" lang="en-US" sz="1400" b="0" i="0" u="none" strike="noStrike" kern="1200" cap="none" spc="0" normalizeH="0" baseline="0" noProof="0">
                <a:ln w="3175">
                  <a:noFill/>
                </a:ln>
                <a:solidFill>
                  <a:srgbClr val="FFFFFF"/>
                </a:solidFill>
                <a:effectLst/>
                <a:uLnTx/>
                <a:uFillTx/>
                <a:ea typeface="+mn-ea"/>
                <a:cs typeface="Segoe UI" panose="020B0502040204020203" pitchFamily="34" charset="0"/>
              </a:rPr>
              <a:t>Manage &amp; optimize</a:t>
            </a:r>
          </a:p>
        </p:txBody>
      </p:sp>
      <p:sp>
        <p:nvSpPr>
          <p:cNvPr id="986115" name="Rectangle 986114">
            <a:extLst>
              <a:ext uri="{FF2B5EF4-FFF2-40B4-BE49-F238E27FC236}">
                <a16:creationId xmlns:a16="http://schemas.microsoft.com/office/drawing/2014/main" id="{0B893D07-224B-1080-90EF-5FDAA2E30A0C}"/>
              </a:ext>
            </a:extLst>
          </p:cNvPr>
          <p:cNvSpPr>
            <a:spLocks/>
          </p:cNvSpPr>
          <p:nvPr/>
        </p:nvSpPr>
        <p:spPr bwMode="auto">
          <a:xfrm>
            <a:off x="9531560" y="4198506"/>
            <a:ext cx="1825718" cy="1763560"/>
          </a:xfrm>
          <a:prstGeom prst="rect">
            <a:avLst/>
          </a:prstGeom>
          <a:noFill/>
          <a:ln w="12700" cap="rnd">
            <a:noFill/>
            <a:headEnd type="none" w="lg" len="med"/>
            <a:tailEnd type="none" w="lg" len="sm"/>
          </a:ln>
          <a:effectLst/>
        </p:spPr>
        <p:style>
          <a:lnRef idx="1">
            <a:schemeClr val="accent1"/>
          </a:lnRef>
          <a:fillRef idx="0">
            <a:schemeClr val="accent1"/>
          </a:fillRef>
          <a:effectRef idx="0">
            <a:schemeClr val="accent1"/>
          </a:effectRef>
          <a:fontRef idx="minor">
            <a:schemeClr val="tx1"/>
          </a:fontRef>
        </p:style>
        <p:txBody>
          <a:bodyPr wrap="square" lIns="0" tIns="0" rIns="0" bIns="0" rtlCol="0" anchor="t">
            <a:spAutoFit/>
          </a:bodyPr>
          <a:lstStyle/>
          <a:p>
            <a:pPr marR="0" lvl="0" indent="0" algn="ctr" defTabSz="914367" fontAlgn="auto">
              <a:lnSpc>
                <a:spcPct val="100000"/>
              </a:lnSpc>
              <a:spcBef>
                <a:spcPts val="0"/>
              </a:spcBef>
              <a:spcAft>
                <a:spcPts val="600"/>
              </a:spcAft>
              <a:buClrTx/>
              <a:buSzTx/>
              <a:buFontTx/>
              <a:buNone/>
              <a:tabLst/>
              <a:defRPr/>
            </a:pPr>
            <a:r>
              <a:rPr lang="en-US" sz="1400" dirty="0">
                <a:solidFill>
                  <a:srgbClr val="0078D4"/>
                </a:solidFill>
                <a:latin typeface="+mj-lt"/>
              </a:rPr>
              <a:t>Drive expansion</a:t>
            </a:r>
          </a:p>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ea typeface="+mn-ea"/>
                <a:cs typeface="+mn-cs"/>
              </a:rPr>
              <a:t>Build business case for expansion</a:t>
            </a:r>
          </a:p>
          <a:p>
            <a:pPr marL="0" marR="0" lvl="0" indent="0" algn="ctr" defTabSz="914367" rtl="0" eaLnBrk="1" fontAlgn="auto" latinLnBrk="0" hangingPunct="1">
              <a:lnSpc>
                <a:spcPct val="90000"/>
              </a:lnSpc>
              <a:spcBef>
                <a:spcPts val="0"/>
              </a:spcBef>
              <a:spcAft>
                <a:spcPts val="600"/>
              </a:spcAft>
              <a:buClrTx/>
              <a:buSzTx/>
              <a:buFontTx/>
              <a:buNone/>
              <a:tabLst/>
              <a:defRPr/>
            </a:pPr>
            <a:endParaRPr lang="en-US" sz="1200" dirty="0">
              <a:solidFill>
                <a:srgbClr val="000000"/>
              </a:solidFill>
            </a:endParaRPr>
          </a:p>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ea typeface="+mn-ea"/>
                <a:cs typeface="+mn-cs"/>
              </a:rPr>
              <a:t>Extend business value with agents</a:t>
            </a:r>
          </a:p>
          <a:p>
            <a:pPr marL="0" marR="0" lvl="0" indent="0" algn="ctr" defTabSz="914367" rtl="0" eaLnBrk="1" fontAlgn="auto" latinLnBrk="0" hangingPunct="1">
              <a:lnSpc>
                <a:spcPct val="9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000000"/>
              </a:solidFill>
              <a:effectLst/>
              <a:uLnTx/>
              <a:uFillTx/>
              <a:ea typeface="+mn-ea"/>
              <a:cs typeface="+mn-cs"/>
            </a:endParaRPr>
          </a:p>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ea typeface="+mn-ea"/>
                <a:cs typeface="+mn-cs"/>
              </a:rPr>
              <a:t>Claim Copilot </a:t>
            </a:r>
            <a:r>
              <a:rPr kumimoji="0" lang="en-US" sz="1200" b="0" i="0" u="none" strike="noStrike" kern="1200" cap="none" spc="0" normalizeH="0" baseline="0" noProof="0" dirty="0" err="1">
                <a:ln>
                  <a:noFill/>
                </a:ln>
                <a:solidFill>
                  <a:srgbClr val="000000"/>
                </a:solidFill>
                <a:effectLst/>
                <a:uLnTx/>
                <a:uFillTx/>
                <a:ea typeface="+mn-ea"/>
                <a:cs typeface="+mn-cs"/>
              </a:rPr>
              <a:t>CPoR</a:t>
            </a:r>
            <a:endParaRPr kumimoji="0" lang="en-US" sz="1200" b="0" i="0" u="none" strike="noStrike" kern="1200" cap="none" spc="0" normalizeH="0" baseline="0" noProof="0" dirty="0">
              <a:ln>
                <a:noFill/>
              </a:ln>
              <a:solidFill>
                <a:srgbClr val="000000"/>
              </a:solidFill>
              <a:effectLst/>
              <a:uLnTx/>
              <a:uFillTx/>
              <a:ea typeface="+mn-ea"/>
              <a:cs typeface="+mn-cs"/>
            </a:endParaRPr>
          </a:p>
        </p:txBody>
      </p:sp>
      <p:sp>
        <p:nvSpPr>
          <p:cNvPr id="3" name="Footer Placeholder 2">
            <a:extLst>
              <a:ext uri="{FF2B5EF4-FFF2-40B4-BE49-F238E27FC236}">
                <a16:creationId xmlns:a16="http://schemas.microsoft.com/office/drawing/2014/main" id="{A690A29F-4C34-F912-CA38-E08151860AB7}"/>
              </a:ext>
            </a:extLst>
          </p:cNvPr>
          <p:cNvSpPr>
            <a:spLocks noGrp="1"/>
          </p:cNvSpPr>
          <p:nvPr>
            <p:ph type="ftr" sz="quarter" idx="12"/>
          </p:nvPr>
        </p:nvSpPr>
        <p:spPr/>
        <p:txBody>
          <a:bodyPr/>
          <a:lstStyle/>
          <a:p>
            <a:r>
              <a:rPr lang="en-US"/>
              <a:t>Building Customer-Centric Services offers</a:t>
            </a:r>
          </a:p>
        </p:txBody>
      </p:sp>
      <p:sp>
        <p:nvSpPr>
          <p:cNvPr id="4" name="Slide Number Placeholder 3">
            <a:extLst>
              <a:ext uri="{FF2B5EF4-FFF2-40B4-BE49-F238E27FC236}">
                <a16:creationId xmlns:a16="http://schemas.microsoft.com/office/drawing/2014/main" id="{B465F282-0480-E5BA-86C6-652DE0817994}"/>
              </a:ext>
            </a:extLst>
          </p:cNvPr>
          <p:cNvSpPr>
            <a:spLocks noGrp="1"/>
          </p:cNvSpPr>
          <p:nvPr>
            <p:ph type="sldNum" sz="quarter" idx="13"/>
          </p:nvPr>
        </p:nvSpPr>
        <p:spPr/>
        <p:txBody>
          <a:bodyPr/>
          <a:lstStyle/>
          <a:p>
            <a:fld id="{5763EE98-C176-4152-A50F-E68840BAFA00}" type="slidenum">
              <a:rPr lang="en-US" smtClean="0"/>
              <a:pPr/>
              <a:t>16</a:t>
            </a:fld>
            <a:endParaRPr lang="en-US"/>
          </a:p>
        </p:txBody>
      </p:sp>
    </p:spTree>
    <p:extLst>
      <p:ext uri="{BB962C8B-B14F-4D97-AF65-F5344CB8AC3E}">
        <p14:creationId xmlns:p14="http://schemas.microsoft.com/office/powerpoint/2010/main" val="182752985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9000"/>
            <a:lum/>
          </a:blip>
          <a:srcRect/>
          <a:stretch>
            <a:fillRect/>
          </a:stretch>
        </a:blipFill>
        <a:effectLst/>
      </p:bgPr>
    </p:bg>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DC15723-5F7B-45E5-2C53-E41C616A33EF}"/>
              </a:ext>
            </a:extLst>
          </p:cNvPr>
          <p:cNvSpPr>
            <a:spLocks noGrp="1"/>
          </p:cNvSpPr>
          <p:nvPr>
            <p:ph type="title"/>
          </p:nvPr>
        </p:nvSpPr>
        <p:spPr>
          <a:xfrm>
            <a:off x="1428808" y="457200"/>
            <a:ext cx="9313180" cy="984885"/>
          </a:xfrm>
        </p:spPr>
        <p:txBody>
          <a:bodyPr/>
          <a:lstStyle/>
          <a:p>
            <a:pPr algn="ctr"/>
            <a:r>
              <a:rPr lang="en-US" sz="3200" dirty="0"/>
              <a:t>Position Copilot offer to include functional scenarios and key business outcomes for customers</a:t>
            </a:r>
          </a:p>
        </p:txBody>
      </p:sp>
      <p:sp>
        <p:nvSpPr>
          <p:cNvPr id="4" name="Content Placeholder 8">
            <a:extLst>
              <a:ext uri="{FF2B5EF4-FFF2-40B4-BE49-F238E27FC236}">
                <a16:creationId xmlns:a16="http://schemas.microsoft.com/office/drawing/2014/main" id="{3B0D5EBB-6965-C408-1BAD-DBC5B60A2E27}"/>
              </a:ext>
            </a:extLst>
          </p:cNvPr>
          <p:cNvSpPr txBox="1">
            <a:spLocks/>
          </p:cNvSpPr>
          <p:nvPr/>
        </p:nvSpPr>
        <p:spPr>
          <a:xfrm>
            <a:off x="0" y="2826719"/>
            <a:ext cx="5946775" cy="3187186"/>
          </a:xfrm>
          <a:prstGeom prst="rect">
            <a:avLst/>
          </a:prstGeom>
          <a:gradFill flip="none" rotWithShape="1">
            <a:gsLst>
              <a:gs pos="0">
                <a:schemeClr val="accent3">
                  <a:alpha val="17000"/>
                </a:schemeClr>
              </a:gs>
              <a:gs pos="100000">
                <a:schemeClr val="accent1">
                  <a:alpha val="20000"/>
                </a:schemeClr>
              </a:gs>
            </a:gsLst>
            <a:lin ang="10800000" scaled="1"/>
            <a:tileRect/>
          </a:gradFill>
          <a:ln w="12700">
            <a:noFill/>
          </a:ln>
        </p:spPr>
        <p:txBody>
          <a:bodyPr vert="horz" lIns="585216" tIns="1371600" rIns="274320" bIns="274320" rtlCol="0" anchor="t"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spcAft>
                <a:spcPts val="600"/>
              </a:spcAft>
            </a:pPr>
            <a:r>
              <a:rPr lang="en-US" sz="1400" dirty="0"/>
              <a:t>Overview of your offer around expanding Copilot usage by driving business transformation with AI.</a:t>
            </a:r>
          </a:p>
          <a:p>
            <a:pPr>
              <a:spcBef>
                <a:spcPts val="0"/>
              </a:spcBef>
              <a:spcAft>
                <a:spcPts val="600"/>
              </a:spcAft>
            </a:pPr>
            <a:r>
              <a:rPr lang="en-US" sz="1400" dirty="0"/>
              <a:t>Brief description with AI keywords and a summary of the business impact.</a:t>
            </a:r>
          </a:p>
        </p:txBody>
      </p:sp>
      <p:sp>
        <p:nvSpPr>
          <p:cNvPr id="5" name="Content Placeholder 15">
            <a:extLst>
              <a:ext uri="{FF2B5EF4-FFF2-40B4-BE49-F238E27FC236}">
                <a16:creationId xmlns:a16="http://schemas.microsoft.com/office/drawing/2014/main" id="{FF4E8B94-B262-B3AB-3BBD-894945B49233}"/>
              </a:ext>
            </a:extLst>
          </p:cNvPr>
          <p:cNvSpPr txBox="1">
            <a:spLocks/>
          </p:cNvSpPr>
          <p:nvPr/>
        </p:nvSpPr>
        <p:spPr>
          <a:xfrm>
            <a:off x="6243638" y="2826719"/>
            <a:ext cx="5948362" cy="3187185"/>
          </a:xfrm>
          <a:prstGeom prst="rect">
            <a:avLst/>
          </a:prstGeom>
          <a:gradFill flip="none" rotWithShape="1">
            <a:gsLst>
              <a:gs pos="0">
                <a:schemeClr val="accent3">
                  <a:alpha val="17000"/>
                </a:schemeClr>
              </a:gs>
              <a:gs pos="100000">
                <a:schemeClr val="accent1">
                  <a:alpha val="20000"/>
                </a:schemeClr>
              </a:gs>
            </a:gsLst>
            <a:lin ang="0" scaled="1"/>
            <a:tileRect/>
          </a:gradFill>
          <a:ln w="12700">
            <a:noFill/>
          </a:ln>
        </p:spPr>
        <p:txBody>
          <a:bodyPr vert="horz" lIns="274320" tIns="1371600" rIns="585216" bIns="274320" rtlCol="0" anchor="t"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spcAft>
                <a:spcPts val="600"/>
              </a:spcAft>
            </a:pPr>
            <a:r>
              <a:rPr lang="en-US" sz="1400"/>
              <a:t>Customer one-pager, including:</a:t>
            </a:r>
          </a:p>
          <a:p>
            <a:pPr lvl="1">
              <a:spcBef>
                <a:spcPts val="0"/>
              </a:spcBef>
              <a:spcAft>
                <a:spcPts val="300"/>
              </a:spcAft>
            </a:pPr>
            <a:r>
              <a:rPr lang="en-US" sz="1400"/>
              <a:t>Solution and practice overview.</a:t>
            </a:r>
          </a:p>
          <a:p>
            <a:pPr lvl="1">
              <a:spcBef>
                <a:spcPts val="0"/>
              </a:spcBef>
              <a:spcAft>
                <a:spcPts val="300"/>
              </a:spcAft>
            </a:pPr>
            <a:r>
              <a:rPr lang="en-US" sz="1400"/>
              <a:t>Hero offer for customer (workshop/demo/assessment).</a:t>
            </a:r>
          </a:p>
          <a:p>
            <a:pPr lvl="1">
              <a:spcBef>
                <a:spcPts val="0"/>
              </a:spcBef>
              <a:spcAft>
                <a:spcPts val="300"/>
              </a:spcAft>
            </a:pPr>
            <a:r>
              <a:rPr lang="en-US" sz="1400"/>
              <a:t>Business benefits and impact.</a:t>
            </a:r>
          </a:p>
          <a:p>
            <a:pPr lvl="1">
              <a:spcBef>
                <a:spcPts val="0"/>
              </a:spcBef>
              <a:spcAft>
                <a:spcPts val="300"/>
              </a:spcAft>
            </a:pPr>
            <a:r>
              <a:rPr lang="en-US" sz="1400"/>
              <a:t>Industry references.</a:t>
            </a:r>
          </a:p>
          <a:p>
            <a:pPr>
              <a:spcBef>
                <a:spcPts val="0"/>
              </a:spcBef>
              <a:spcAft>
                <a:spcPts val="600"/>
              </a:spcAft>
            </a:pPr>
            <a:r>
              <a:rPr lang="en-US" sz="1400"/>
              <a:t>Deployment framework and technical architecture.</a:t>
            </a:r>
          </a:p>
        </p:txBody>
      </p:sp>
      <p:sp>
        <p:nvSpPr>
          <p:cNvPr id="6" name="Text Placeholder 7">
            <a:extLst>
              <a:ext uri="{FF2B5EF4-FFF2-40B4-BE49-F238E27FC236}">
                <a16:creationId xmlns:a16="http://schemas.microsoft.com/office/drawing/2014/main" id="{B912008C-DF4E-8DE1-3B26-5DF6BA43CCA7}"/>
              </a:ext>
            </a:extLst>
          </p:cNvPr>
          <p:cNvSpPr txBox="1">
            <a:spLocks/>
          </p:cNvSpPr>
          <p:nvPr/>
        </p:nvSpPr>
        <p:spPr>
          <a:xfrm>
            <a:off x="593726" y="3189490"/>
            <a:ext cx="5353049" cy="823912"/>
          </a:xfrm>
          <a:prstGeom prst="rect">
            <a:avLst/>
          </a:prstGeom>
        </p:spPr>
        <p:txBody>
          <a:bodyPr anchor="b" anchorCtr="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07000"/>
              </a:lnSpc>
              <a:spcBef>
                <a:spcPts val="0"/>
              </a:spcBef>
              <a:spcAft>
                <a:spcPts val="800"/>
              </a:spcAft>
              <a:buNone/>
              <a:defRPr/>
            </a:pPr>
            <a:r>
              <a:rPr lang="en-US" kern="0" dirty="0">
                <a:latin typeface="+mj-lt"/>
                <a:ea typeface="Segoe UI Regular" pitchFamily="34" charset="-122"/>
              </a:rPr>
              <a:t>Offer summary</a:t>
            </a:r>
          </a:p>
        </p:txBody>
      </p:sp>
      <p:sp>
        <p:nvSpPr>
          <p:cNvPr id="7" name="Text Placeholder 13">
            <a:extLst>
              <a:ext uri="{FF2B5EF4-FFF2-40B4-BE49-F238E27FC236}">
                <a16:creationId xmlns:a16="http://schemas.microsoft.com/office/drawing/2014/main" id="{451F5DFA-EFB7-3E97-B934-6C62129068A3}"/>
              </a:ext>
            </a:extLst>
          </p:cNvPr>
          <p:cNvSpPr txBox="1">
            <a:spLocks/>
          </p:cNvSpPr>
          <p:nvPr/>
        </p:nvSpPr>
        <p:spPr>
          <a:xfrm>
            <a:off x="6243636" y="3189490"/>
            <a:ext cx="5351464" cy="823912"/>
          </a:xfrm>
          <a:prstGeom prst="rect">
            <a:avLst/>
          </a:prstGeom>
        </p:spPr>
        <p:txBody>
          <a:bodyPr vert="horz" lIns="274320" tIns="0" rIns="0" bIns="0" rtlCol="0" anchor="b"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07000"/>
              </a:lnSpc>
              <a:spcBef>
                <a:spcPts val="0"/>
              </a:spcBef>
              <a:spcAft>
                <a:spcPts val="800"/>
              </a:spcAft>
              <a:buNone/>
            </a:pPr>
            <a:r>
              <a:rPr lang="en-US" kern="0">
                <a:latin typeface="+mj-lt"/>
                <a:ea typeface="Segoe UI Regular" pitchFamily="34" charset="-122"/>
              </a:rPr>
              <a:t>Collateral</a:t>
            </a:r>
          </a:p>
        </p:txBody>
      </p:sp>
      <p:grpSp>
        <p:nvGrpSpPr>
          <p:cNvPr id="10" name="Group 9">
            <a:extLst>
              <a:ext uri="{FF2B5EF4-FFF2-40B4-BE49-F238E27FC236}">
                <a16:creationId xmlns:a16="http://schemas.microsoft.com/office/drawing/2014/main" id="{EB47A53F-05FB-972C-B0D4-D73B92DF2A51}"/>
              </a:ext>
              <a:ext uri="{C183D7F6-B498-43B3-948B-1728B52AA6E4}">
                <adec:decorative xmlns:adec="http://schemas.microsoft.com/office/drawing/2017/decorative" val="1"/>
              </a:ext>
            </a:extLst>
          </p:cNvPr>
          <p:cNvGrpSpPr/>
          <p:nvPr/>
        </p:nvGrpSpPr>
        <p:grpSpPr>
          <a:xfrm>
            <a:off x="2627314" y="2105928"/>
            <a:ext cx="1285873" cy="1285873"/>
            <a:chOff x="2571450" y="2354710"/>
            <a:chExt cx="1285873" cy="1285873"/>
          </a:xfrm>
        </p:grpSpPr>
        <p:sp>
          <p:nvSpPr>
            <p:cNvPr id="11" name="Text Placeholder 2">
              <a:extLst>
                <a:ext uri="{FF2B5EF4-FFF2-40B4-BE49-F238E27FC236}">
                  <a16:creationId xmlns:a16="http://schemas.microsoft.com/office/drawing/2014/main" id="{7D7FCD79-A339-CA4F-AA99-7F8B730D5D8D}"/>
                </a:ext>
              </a:extLst>
            </p:cNvPr>
            <p:cNvSpPr txBox="1">
              <a:spLocks/>
            </p:cNvSpPr>
            <p:nvPr/>
          </p:nvSpPr>
          <p:spPr>
            <a:xfrm>
              <a:off x="2571450" y="2354710"/>
              <a:ext cx="1285873" cy="1285873"/>
            </a:xfrm>
            <a:prstGeom prst="ellipse">
              <a:avLst/>
            </a:prstGeom>
            <a:solidFill>
              <a:schemeClr val="bg1"/>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640080" tIns="137160" rIns="137160" bIns="137160" numCol="1" spcCol="0" rtlCol="0" fromWordArt="0" anchor="t" anchorCtr="0" forceAA="0" compatLnSpc="1">
              <a:prstTxWarp prst="textNoShape">
                <a:avLst/>
              </a:prstTxWarp>
              <a:spAutoFit/>
            </a:bodyPr>
            <a:lstStyle>
              <a:lvl1pPr indent="0">
                <a:lnSpc>
                  <a:spcPct val="100000"/>
                </a:lnSpc>
                <a:spcBef>
                  <a:spcPts val="1000"/>
                </a:spcBef>
                <a:spcAft>
                  <a:spcPts val="600"/>
                </a:spcAft>
                <a:buFont typeface="Arial" panose="020B0604020202020204" pitchFamily="34" charset="0"/>
                <a:buNone/>
                <a:defRPr kumimoji="0" lang="en-US" sz="1400" b="0" i="0" u="none" strike="noStrike" kern="0" cap="none" spc="0" normalizeH="0" baseline="0" smtClean="0">
                  <a:ln w="3175">
                    <a:noFill/>
                  </a:ln>
                  <a:effectLst/>
                  <a:uLnTx/>
                  <a:uFillTx/>
                  <a:latin typeface="+mj-lt"/>
                  <a:ea typeface="Segoe UI Regular" pitchFamily="34" charset="-122"/>
                  <a:cs typeface="Segoe UI" panose="020B0502040204020203" pitchFamily="34" charset="0"/>
                </a:defRPr>
              </a:lvl1pPr>
              <a:lvl2pPr marL="0" lvl="1" indent="0">
                <a:lnSpc>
                  <a:spcPct val="100000"/>
                </a:lnSpc>
                <a:spcBef>
                  <a:spcPts val="0"/>
                </a:spcBef>
                <a:buFont typeface="Arial" panose="020B0604020202020204" pitchFamily="34" charset="0"/>
                <a:buNone/>
                <a:defRPr lang="en-US" sz="1100" dirty="0" smtClean="0">
                  <a:solidFill>
                    <a:schemeClr val="tx2"/>
                  </a:solidFill>
                </a:defRPr>
              </a:lvl2pPr>
              <a:lvl3pPr marL="1200150" indent="-285750">
                <a:lnSpc>
                  <a:spcPct val="100000"/>
                </a:lnSpc>
                <a:spcBef>
                  <a:spcPts val="500"/>
                </a:spcBef>
                <a:buFont typeface="Arial" panose="020B0604020202020204" pitchFamily="34" charset="0"/>
                <a:buChar char="•"/>
                <a:defRPr lang="en-US" sz="1100" smtClean="0">
                  <a:solidFill>
                    <a:schemeClr val="tx2"/>
                  </a:solidFill>
                </a:defRPr>
              </a:lvl3pPr>
              <a:lvl4pPr marL="1657350" indent="-285750">
                <a:lnSpc>
                  <a:spcPct val="100000"/>
                </a:lnSpc>
                <a:spcBef>
                  <a:spcPts val="500"/>
                </a:spcBef>
                <a:buFont typeface="Arial" panose="020B0604020202020204" pitchFamily="34" charset="0"/>
                <a:buChar char="•"/>
                <a:defRPr lang="en-US" sz="1100" smtClean="0">
                  <a:solidFill>
                    <a:schemeClr val="tx2"/>
                  </a:solidFill>
                </a:defRPr>
              </a:lvl4pPr>
              <a:lvl5pPr marL="2114550" indent="-285750">
                <a:lnSpc>
                  <a:spcPct val="100000"/>
                </a:lnSpc>
                <a:spcBef>
                  <a:spcPts val="500"/>
                </a:spcBef>
                <a:buFont typeface="Arial" panose="020B0604020202020204" pitchFamily="34" charset="0"/>
                <a:buChar char="•"/>
                <a:defRPr lang="en-US">
                  <a:solidFill>
                    <a:schemeClr val="tx2"/>
                  </a:solidFill>
                </a:defRPr>
              </a:lvl5pPr>
              <a:lvl6pPr marL="2514600" indent="-228600">
                <a:lnSpc>
                  <a:spcPct val="90000"/>
                </a:lnSpc>
                <a:spcBef>
                  <a:spcPts val="500"/>
                </a:spcBef>
                <a:buFont typeface="Arial" panose="020B0604020202020204" pitchFamily="34" charset="0"/>
                <a:buChar char="•"/>
                <a:defRPr>
                  <a:solidFill>
                    <a:schemeClr val="lt1"/>
                  </a:solidFill>
                </a:defRPr>
              </a:lvl6pPr>
              <a:lvl7pPr marL="2971800" indent="-228600">
                <a:lnSpc>
                  <a:spcPct val="90000"/>
                </a:lnSpc>
                <a:spcBef>
                  <a:spcPts val="500"/>
                </a:spcBef>
                <a:buFont typeface="Arial" panose="020B0604020202020204" pitchFamily="34" charset="0"/>
                <a:buChar char="•"/>
                <a:defRPr>
                  <a:solidFill>
                    <a:schemeClr val="lt1"/>
                  </a:solidFill>
                </a:defRPr>
              </a:lvl7pPr>
              <a:lvl8pPr marL="3429000" indent="-228600">
                <a:lnSpc>
                  <a:spcPct val="90000"/>
                </a:lnSpc>
                <a:spcBef>
                  <a:spcPts val="500"/>
                </a:spcBef>
                <a:buFont typeface="Arial" panose="020B0604020202020204" pitchFamily="34" charset="0"/>
                <a:buChar char="•"/>
                <a:defRPr>
                  <a:solidFill>
                    <a:schemeClr val="lt1"/>
                  </a:solidFill>
                </a:defRPr>
              </a:lvl8pPr>
              <a:lvl9pPr marL="3886200" indent="-228600">
                <a:lnSpc>
                  <a:spcPct val="90000"/>
                </a:lnSpc>
                <a:spcBef>
                  <a:spcPts val="500"/>
                </a:spcBef>
                <a:buFont typeface="Arial" panose="020B0604020202020204" pitchFamily="34" charset="0"/>
                <a:buChar char="•"/>
                <a:defRPr>
                  <a:solidFill>
                    <a:schemeClr val="lt1"/>
                  </a:solidFill>
                </a:defRPr>
              </a:lvl9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endParaRPr kumimoji="0" lang="en-US" sz="1400" b="0" i="0" u="none" strike="noStrike" kern="0" cap="none" spc="0" normalizeH="0" baseline="0" noProof="0">
                <a:ln w="3175">
                  <a:noFill/>
                </a:ln>
                <a:solidFill>
                  <a:prstClr val="black"/>
                </a:solidFill>
                <a:effectLst/>
                <a:uLnTx/>
                <a:uFillTx/>
                <a:latin typeface="Segoe Sans Text Semibold"/>
                <a:ea typeface="Segoe UI Regular" pitchFamily="34" charset="-122"/>
                <a:cs typeface="Segoe UI" panose="020B0502040204020203" pitchFamily="34" charset="0"/>
              </a:endParaRPr>
            </a:p>
          </p:txBody>
        </p:sp>
        <p:sp>
          <p:nvSpPr>
            <p:cNvPr id="12" name="Graphic 16" descr="Subtitles with solid fill">
              <a:extLst>
                <a:ext uri="{FF2B5EF4-FFF2-40B4-BE49-F238E27FC236}">
                  <a16:creationId xmlns:a16="http://schemas.microsoft.com/office/drawing/2014/main" id="{5C9D16C1-5DB2-E442-150E-820B6F96241D}"/>
                </a:ext>
              </a:extLst>
            </p:cNvPr>
            <p:cNvSpPr/>
            <p:nvPr/>
          </p:nvSpPr>
          <p:spPr>
            <a:xfrm>
              <a:off x="2886566" y="2751903"/>
              <a:ext cx="647701" cy="590550"/>
            </a:xfrm>
            <a:custGeom>
              <a:avLst/>
              <a:gdLst>
                <a:gd name="connsiteX0" fmla="*/ 32386 w 647701"/>
                <a:gd name="connsiteY0" fmla="*/ 0 h 590550"/>
                <a:gd name="connsiteX1" fmla="*/ 1 w 647701"/>
                <a:gd name="connsiteY1" fmla="*/ 32765 h 590550"/>
                <a:gd name="connsiteX2" fmla="*/ 1 w 647701"/>
                <a:gd name="connsiteY2" fmla="*/ 32766 h 590550"/>
                <a:gd name="connsiteX3" fmla="*/ 1 w 647701"/>
                <a:gd name="connsiteY3" fmla="*/ 427863 h 590550"/>
                <a:gd name="connsiteX4" fmla="*/ 32310 w 647701"/>
                <a:gd name="connsiteY4" fmla="*/ 457204 h 590550"/>
                <a:gd name="connsiteX5" fmla="*/ 32386 w 647701"/>
                <a:gd name="connsiteY5" fmla="*/ 457200 h 590550"/>
                <a:gd name="connsiteX6" fmla="*/ 133351 w 647701"/>
                <a:gd name="connsiteY6" fmla="*/ 457200 h 590550"/>
                <a:gd name="connsiteX7" fmla="*/ 133351 w 647701"/>
                <a:gd name="connsiteY7" fmla="*/ 590550 h 590550"/>
                <a:gd name="connsiteX8" fmla="*/ 259081 w 647701"/>
                <a:gd name="connsiteY8" fmla="*/ 457200 h 590550"/>
                <a:gd name="connsiteX9" fmla="*/ 616649 w 647701"/>
                <a:gd name="connsiteY9" fmla="*/ 457200 h 590550"/>
                <a:gd name="connsiteX10" fmla="*/ 647701 w 647701"/>
                <a:gd name="connsiteY10" fmla="*/ 426530 h 590550"/>
                <a:gd name="connsiteX11" fmla="*/ 647701 w 647701"/>
                <a:gd name="connsiteY11" fmla="*/ 426530 h 590550"/>
                <a:gd name="connsiteX12" fmla="*/ 647701 w 647701"/>
                <a:gd name="connsiteY12" fmla="*/ 32766 h 590550"/>
                <a:gd name="connsiteX13" fmla="*/ 647701 w 647701"/>
                <a:gd name="connsiteY13" fmla="*/ 32766 h 590550"/>
                <a:gd name="connsiteX14" fmla="*/ 615317 w 647701"/>
                <a:gd name="connsiteY14" fmla="*/ 0 h 590550"/>
                <a:gd name="connsiteX15" fmla="*/ 615316 w 647701"/>
                <a:gd name="connsiteY15" fmla="*/ 0 h 590550"/>
                <a:gd name="connsiteX16" fmla="*/ 581026 w 647701"/>
                <a:gd name="connsiteY16" fmla="*/ 285750 h 590550"/>
                <a:gd name="connsiteX17" fmla="*/ 466726 w 647701"/>
                <a:gd name="connsiteY17" fmla="*/ 285750 h 590550"/>
                <a:gd name="connsiteX18" fmla="*/ 466726 w 647701"/>
                <a:gd name="connsiteY18" fmla="*/ 247650 h 590550"/>
                <a:gd name="connsiteX19" fmla="*/ 581026 w 647701"/>
                <a:gd name="connsiteY19" fmla="*/ 247650 h 590550"/>
                <a:gd name="connsiteX20" fmla="*/ 400051 w 647701"/>
                <a:gd name="connsiteY20" fmla="*/ 323850 h 590550"/>
                <a:gd name="connsiteX21" fmla="*/ 581026 w 647701"/>
                <a:gd name="connsiteY21" fmla="*/ 323850 h 590550"/>
                <a:gd name="connsiteX22" fmla="*/ 581026 w 647701"/>
                <a:gd name="connsiteY22" fmla="*/ 361950 h 590550"/>
                <a:gd name="connsiteX23" fmla="*/ 400051 w 647701"/>
                <a:gd name="connsiteY23" fmla="*/ 361950 h 590550"/>
                <a:gd name="connsiteX24" fmla="*/ 257176 w 647701"/>
                <a:gd name="connsiteY24" fmla="*/ 323850 h 590550"/>
                <a:gd name="connsiteX25" fmla="*/ 361951 w 647701"/>
                <a:gd name="connsiteY25" fmla="*/ 323850 h 590550"/>
                <a:gd name="connsiteX26" fmla="*/ 361951 w 647701"/>
                <a:gd name="connsiteY26" fmla="*/ 361950 h 590550"/>
                <a:gd name="connsiteX27" fmla="*/ 257176 w 647701"/>
                <a:gd name="connsiteY27" fmla="*/ 361950 h 590550"/>
                <a:gd name="connsiteX28" fmla="*/ 228601 w 647701"/>
                <a:gd name="connsiteY28" fmla="*/ 247650 h 590550"/>
                <a:gd name="connsiteX29" fmla="*/ 419101 w 647701"/>
                <a:gd name="connsiteY29" fmla="*/ 247650 h 590550"/>
                <a:gd name="connsiteX30" fmla="*/ 419101 w 647701"/>
                <a:gd name="connsiteY30" fmla="*/ 285750 h 590550"/>
                <a:gd name="connsiteX31" fmla="*/ 228601 w 647701"/>
                <a:gd name="connsiteY31" fmla="*/ 285750 h 590550"/>
                <a:gd name="connsiteX32" fmla="*/ 114301 w 647701"/>
                <a:gd name="connsiteY32" fmla="*/ 323850 h 590550"/>
                <a:gd name="connsiteX33" fmla="*/ 219076 w 647701"/>
                <a:gd name="connsiteY33" fmla="*/ 323850 h 590550"/>
                <a:gd name="connsiteX34" fmla="*/ 219076 w 647701"/>
                <a:gd name="connsiteY34" fmla="*/ 361950 h 590550"/>
                <a:gd name="connsiteX35" fmla="*/ 114301 w 647701"/>
                <a:gd name="connsiteY35" fmla="*/ 361950 h 590550"/>
                <a:gd name="connsiteX36" fmla="*/ 66676 w 647701"/>
                <a:gd name="connsiteY36" fmla="*/ 247650 h 590550"/>
                <a:gd name="connsiteX37" fmla="*/ 190501 w 647701"/>
                <a:gd name="connsiteY37" fmla="*/ 247650 h 590550"/>
                <a:gd name="connsiteX38" fmla="*/ 190501 w 647701"/>
                <a:gd name="connsiteY38" fmla="*/ 285750 h 590550"/>
                <a:gd name="connsiteX39" fmla="*/ 66676 w 647701"/>
                <a:gd name="connsiteY39" fmla="*/ 285750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47701" h="590550">
                  <a:moveTo>
                    <a:pt x="32386" y="0"/>
                  </a:moveTo>
                  <a:cubicBezTo>
                    <a:pt x="14395" y="105"/>
                    <a:pt x="-104" y="14774"/>
                    <a:pt x="1" y="32765"/>
                  </a:cubicBezTo>
                  <a:cubicBezTo>
                    <a:pt x="1" y="32765"/>
                    <a:pt x="1" y="32766"/>
                    <a:pt x="1" y="32766"/>
                  </a:cubicBezTo>
                  <a:lnTo>
                    <a:pt x="1" y="427863"/>
                  </a:lnTo>
                  <a:cubicBezTo>
                    <a:pt x="821" y="444887"/>
                    <a:pt x="15286" y="458024"/>
                    <a:pt x="32310" y="457204"/>
                  </a:cubicBezTo>
                  <a:cubicBezTo>
                    <a:pt x="32335" y="457203"/>
                    <a:pt x="32361" y="457201"/>
                    <a:pt x="32386" y="457200"/>
                  </a:cubicBezTo>
                  <a:lnTo>
                    <a:pt x="133351" y="457200"/>
                  </a:lnTo>
                  <a:lnTo>
                    <a:pt x="133351" y="590550"/>
                  </a:lnTo>
                  <a:lnTo>
                    <a:pt x="259081" y="457200"/>
                  </a:lnTo>
                  <a:lnTo>
                    <a:pt x="616649" y="457200"/>
                  </a:lnTo>
                  <a:cubicBezTo>
                    <a:pt x="633693" y="457306"/>
                    <a:pt x="647595" y="443575"/>
                    <a:pt x="647701" y="426530"/>
                  </a:cubicBezTo>
                  <a:cubicBezTo>
                    <a:pt x="647701" y="426530"/>
                    <a:pt x="647701" y="426530"/>
                    <a:pt x="647701" y="426530"/>
                  </a:cubicBezTo>
                  <a:lnTo>
                    <a:pt x="647701" y="32766"/>
                  </a:lnTo>
                  <a:lnTo>
                    <a:pt x="647701" y="32766"/>
                  </a:lnTo>
                  <a:cubicBezTo>
                    <a:pt x="647806" y="14775"/>
                    <a:pt x="633307" y="106"/>
                    <a:pt x="615317" y="0"/>
                  </a:cubicBezTo>
                  <a:cubicBezTo>
                    <a:pt x="615317" y="0"/>
                    <a:pt x="615316" y="0"/>
                    <a:pt x="615316" y="0"/>
                  </a:cubicBezTo>
                  <a:close/>
                  <a:moveTo>
                    <a:pt x="581026" y="285750"/>
                  </a:moveTo>
                  <a:lnTo>
                    <a:pt x="466726" y="285750"/>
                  </a:lnTo>
                  <a:lnTo>
                    <a:pt x="466726" y="247650"/>
                  </a:lnTo>
                  <a:lnTo>
                    <a:pt x="581026" y="247650"/>
                  </a:lnTo>
                  <a:close/>
                  <a:moveTo>
                    <a:pt x="400051" y="323850"/>
                  </a:moveTo>
                  <a:lnTo>
                    <a:pt x="581026" y="323850"/>
                  </a:lnTo>
                  <a:lnTo>
                    <a:pt x="581026" y="361950"/>
                  </a:lnTo>
                  <a:lnTo>
                    <a:pt x="400051" y="361950"/>
                  </a:lnTo>
                  <a:close/>
                  <a:moveTo>
                    <a:pt x="257176" y="323850"/>
                  </a:moveTo>
                  <a:lnTo>
                    <a:pt x="361951" y="323850"/>
                  </a:lnTo>
                  <a:lnTo>
                    <a:pt x="361951" y="361950"/>
                  </a:lnTo>
                  <a:lnTo>
                    <a:pt x="257176" y="361950"/>
                  </a:lnTo>
                  <a:close/>
                  <a:moveTo>
                    <a:pt x="228601" y="247650"/>
                  </a:moveTo>
                  <a:lnTo>
                    <a:pt x="419101" y="247650"/>
                  </a:lnTo>
                  <a:lnTo>
                    <a:pt x="419101" y="285750"/>
                  </a:lnTo>
                  <a:lnTo>
                    <a:pt x="228601" y="285750"/>
                  </a:lnTo>
                  <a:close/>
                  <a:moveTo>
                    <a:pt x="114301" y="323850"/>
                  </a:moveTo>
                  <a:lnTo>
                    <a:pt x="219076" y="323850"/>
                  </a:lnTo>
                  <a:lnTo>
                    <a:pt x="219076" y="361950"/>
                  </a:lnTo>
                  <a:lnTo>
                    <a:pt x="114301" y="361950"/>
                  </a:lnTo>
                  <a:close/>
                  <a:moveTo>
                    <a:pt x="66676" y="247650"/>
                  </a:moveTo>
                  <a:lnTo>
                    <a:pt x="190501" y="247650"/>
                  </a:lnTo>
                  <a:lnTo>
                    <a:pt x="190501" y="285750"/>
                  </a:lnTo>
                  <a:lnTo>
                    <a:pt x="66676" y="285750"/>
                  </a:lnTo>
                  <a:close/>
                </a:path>
              </a:pathLst>
            </a:custGeom>
            <a:noFill/>
            <a:ln w="25400">
              <a:gradFill flip="none" rotWithShape="1">
                <a:gsLst>
                  <a:gs pos="30000">
                    <a:srgbClr val="2DB4FF"/>
                  </a:gs>
                  <a:gs pos="35000">
                    <a:srgbClr val="2DB4FF"/>
                  </a:gs>
                  <a:gs pos="3000">
                    <a:srgbClr val="0078D4"/>
                  </a:gs>
                  <a:gs pos="52000">
                    <a:srgbClr val="818EFF"/>
                  </a:gs>
                  <a:gs pos="70000">
                    <a:srgbClr val="D660FF"/>
                  </a:gs>
                  <a:gs pos="97000">
                    <a:srgbClr val="FEA87A"/>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mn-ea"/>
                <a:cs typeface="Segoe UI" pitchFamily="34" charset="0"/>
              </a:endParaRPr>
            </a:p>
          </p:txBody>
        </p:sp>
      </p:grpSp>
      <p:grpSp>
        <p:nvGrpSpPr>
          <p:cNvPr id="13" name="Group 12">
            <a:extLst>
              <a:ext uri="{FF2B5EF4-FFF2-40B4-BE49-F238E27FC236}">
                <a16:creationId xmlns:a16="http://schemas.microsoft.com/office/drawing/2014/main" id="{907B9DBA-471F-E0D0-901C-E2FF139B957A}"/>
              </a:ext>
              <a:ext uri="{C183D7F6-B498-43B3-948B-1728B52AA6E4}">
                <adec:decorative xmlns:adec="http://schemas.microsoft.com/office/drawing/2017/decorative" val="1"/>
              </a:ext>
            </a:extLst>
          </p:cNvPr>
          <p:cNvGrpSpPr/>
          <p:nvPr/>
        </p:nvGrpSpPr>
        <p:grpSpPr>
          <a:xfrm>
            <a:off x="8278815" y="2105928"/>
            <a:ext cx="1285873" cy="1285873"/>
            <a:chOff x="10307638" y="2161498"/>
            <a:chExt cx="1285873" cy="1285873"/>
          </a:xfrm>
        </p:grpSpPr>
        <p:sp>
          <p:nvSpPr>
            <p:cNvPr id="15" name="Text Placeholder 2">
              <a:extLst>
                <a:ext uri="{FF2B5EF4-FFF2-40B4-BE49-F238E27FC236}">
                  <a16:creationId xmlns:a16="http://schemas.microsoft.com/office/drawing/2014/main" id="{8BC677D5-C0BD-5AED-8829-A204DAD75085}"/>
                </a:ext>
              </a:extLst>
            </p:cNvPr>
            <p:cNvSpPr txBox="1">
              <a:spLocks/>
            </p:cNvSpPr>
            <p:nvPr/>
          </p:nvSpPr>
          <p:spPr>
            <a:xfrm>
              <a:off x="10307638" y="2161498"/>
              <a:ext cx="1285873" cy="1285873"/>
            </a:xfrm>
            <a:prstGeom prst="ellipse">
              <a:avLst/>
            </a:prstGeom>
            <a:solidFill>
              <a:schemeClr val="bg1"/>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640080" tIns="137160" rIns="137160" bIns="137160" numCol="1" spcCol="0" rtlCol="0" fromWordArt="0" anchor="t" anchorCtr="0" forceAA="0" compatLnSpc="1">
              <a:prstTxWarp prst="textNoShape">
                <a:avLst/>
              </a:prstTxWarp>
              <a:spAutoFit/>
            </a:bodyPr>
            <a:lstStyle>
              <a:lvl1pPr indent="0">
                <a:lnSpc>
                  <a:spcPct val="100000"/>
                </a:lnSpc>
                <a:spcBef>
                  <a:spcPts val="1000"/>
                </a:spcBef>
                <a:spcAft>
                  <a:spcPts val="600"/>
                </a:spcAft>
                <a:buFont typeface="Arial" panose="020B0604020202020204" pitchFamily="34" charset="0"/>
                <a:buNone/>
                <a:defRPr kumimoji="0" lang="en-US" sz="1400" b="0" i="0" u="none" strike="noStrike" kern="0" cap="none" spc="0" normalizeH="0" baseline="0" smtClean="0">
                  <a:ln w="3175">
                    <a:noFill/>
                  </a:ln>
                  <a:effectLst/>
                  <a:uLnTx/>
                  <a:uFillTx/>
                  <a:latin typeface="+mj-lt"/>
                  <a:ea typeface="Segoe UI Regular" pitchFamily="34" charset="-122"/>
                  <a:cs typeface="Segoe UI" panose="020B0502040204020203" pitchFamily="34" charset="0"/>
                </a:defRPr>
              </a:lvl1pPr>
              <a:lvl2pPr marL="0" lvl="1" indent="0">
                <a:lnSpc>
                  <a:spcPct val="100000"/>
                </a:lnSpc>
                <a:spcBef>
                  <a:spcPts val="0"/>
                </a:spcBef>
                <a:buFont typeface="Arial" panose="020B0604020202020204" pitchFamily="34" charset="0"/>
                <a:buNone/>
                <a:defRPr lang="en-US" sz="1100" dirty="0" smtClean="0">
                  <a:solidFill>
                    <a:schemeClr val="tx2"/>
                  </a:solidFill>
                </a:defRPr>
              </a:lvl2pPr>
              <a:lvl3pPr marL="1200150" indent="-285750">
                <a:lnSpc>
                  <a:spcPct val="100000"/>
                </a:lnSpc>
                <a:spcBef>
                  <a:spcPts val="500"/>
                </a:spcBef>
                <a:buFont typeface="Arial" panose="020B0604020202020204" pitchFamily="34" charset="0"/>
                <a:buChar char="•"/>
                <a:defRPr lang="en-US" sz="1100" smtClean="0">
                  <a:solidFill>
                    <a:schemeClr val="tx2"/>
                  </a:solidFill>
                </a:defRPr>
              </a:lvl3pPr>
              <a:lvl4pPr marL="1657350" indent="-285750">
                <a:lnSpc>
                  <a:spcPct val="100000"/>
                </a:lnSpc>
                <a:spcBef>
                  <a:spcPts val="500"/>
                </a:spcBef>
                <a:buFont typeface="Arial" panose="020B0604020202020204" pitchFamily="34" charset="0"/>
                <a:buChar char="•"/>
                <a:defRPr lang="en-US" sz="1100" smtClean="0">
                  <a:solidFill>
                    <a:schemeClr val="tx2"/>
                  </a:solidFill>
                </a:defRPr>
              </a:lvl4pPr>
              <a:lvl5pPr marL="2114550" indent="-285750">
                <a:lnSpc>
                  <a:spcPct val="100000"/>
                </a:lnSpc>
                <a:spcBef>
                  <a:spcPts val="500"/>
                </a:spcBef>
                <a:buFont typeface="Arial" panose="020B0604020202020204" pitchFamily="34" charset="0"/>
                <a:buChar char="•"/>
                <a:defRPr lang="en-US">
                  <a:solidFill>
                    <a:schemeClr val="tx2"/>
                  </a:solidFill>
                </a:defRPr>
              </a:lvl5pPr>
              <a:lvl6pPr marL="2514600" indent="-228600">
                <a:lnSpc>
                  <a:spcPct val="90000"/>
                </a:lnSpc>
                <a:spcBef>
                  <a:spcPts val="500"/>
                </a:spcBef>
                <a:buFont typeface="Arial" panose="020B0604020202020204" pitchFamily="34" charset="0"/>
                <a:buChar char="•"/>
                <a:defRPr>
                  <a:solidFill>
                    <a:schemeClr val="lt1"/>
                  </a:solidFill>
                </a:defRPr>
              </a:lvl6pPr>
              <a:lvl7pPr marL="2971800" indent="-228600">
                <a:lnSpc>
                  <a:spcPct val="90000"/>
                </a:lnSpc>
                <a:spcBef>
                  <a:spcPts val="500"/>
                </a:spcBef>
                <a:buFont typeface="Arial" panose="020B0604020202020204" pitchFamily="34" charset="0"/>
                <a:buChar char="•"/>
                <a:defRPr>
                  <a:solidFill>
                    <a:schemeClr val="lt1"/>
                  </a:solidFill>
                </a:defRPr>
              </a:lvl7pPr>
              <a:lvl8pPr marL="3429000" indent="-228600">
                <a:lnSpc>
                  <a:spcPct val="90000"/>
                </a:lnSpc>
                <a:spcBef>
                  <a:spcPts val="500"/>
                </a:spcBef>
                <a:buFont typeface="Arial" panose="020B0604020202020204" pitchFamily="34" charset="0"/>
                <a:buChar char="•"/>
                <a:defRPr>
                  <a:solidFill>
                    <a:schemeClr val="lt1"/>
                  </a:solidFill>
                </a:defRPr>
              </a:lvl8pPr>
              <a:lvl9pPr marL="3886200" indent="-228600">
                <a:lnSpc>
                  <a:spcPct val="90000"/>
                </a:lnSpc>
                <a:spcBef>
                  <a:spcPts val="500"/>
                </a:spcBef>
                <a:buFont typeface="Arial" panose="020B0604020202020204" pitchFamily="34" charset="0"/>
                <a:buChar char="•"/>
                <a:defRPr>
                  <a:solidFill>
                    <a:schemeClr val="lt1"/>
                  </a:solidFill>
                </a:defRPr>
              </a:lvl9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endParaRPr kumimoji="0" lang="en-US" sz="1400" b="0" i="0" u="none" strike="noStrike" kern="0" cap="none" spc="0" normalizeH="0" baseline="0" noProof="0">
                <a:ln w="3175">
                  <a:noFill/>
                </a:ln>
                <a:solidFill>
                  <a:prstClr val="black"/>
                </a:solidFill>
                <a:effectLst/>
                <a:uLnTx/>
                <a:uFillTx/>
                <a:latin typeface="Segoe Sans Text Semibold"/>
                <a:ea typeface="Segoe UI Regular" pitchFamily="34" charset="-122"/>
                <a:cs typeface="Segoe UI" panose="020B0502040204020203" pitchFamily="34" charset="0"/>
              </a:endParaRPr>
            </a:p>
          </p:txBody>
        </p:sp>
        <p:sp>
          <p:nvSpPr>
            <p:cNvPr id="17" name="Freeform: Shape 16">
              <a:extLst>
                <a:ext uri="{FF2B5EF4-FFF2-40B4-BE49-F238E27FC236}">
                  <a16:creationId xmlns:a16="http://schemas.microsoft.com/office/drawing/2014/main" id="{09DAA2B2-9AC8-2DC4-DEBD-312402E9E588}"/>
                </a:ext>
              </a:extLst>
            </p:cNvPr>
            <p:cNvSpPr/>
            <p:nvPr/>
          </p:nvSpPr>
          <p:spPr>
            <a:xfrm>
              <a:off x="10614035" y="2489246"/>
              <a:ext cx="673078" cy="630376"/>
            </a:xfrm>
            <a:custGeom>
              <a:avLst/>
              <a:gdLst>
                <a:gd name="connsiteX0" fmla="*/ 236158 w 673078"/>
                <a:gd name="connsiteY0" fmla="*/ 465066 h 630376"/>
                <a:gd name="connsiteX1" fmla="*/ 393596 w 673078"/>
                <a:gd name="connsiteY1" fmla="*/ 465066 h 630376"/>
                <a:gd name="connsiteX2" fmla="*/ 393596 w 673078"/>
                <a:gd name="connsiteY2" fmla="*/ 480810 h 630376"/>
                <a:gd name="connsiteX3" fmla="*/ 236158 w 673078"/>
                <a:gd name="connsiteY3" fmla="*/ 480810 h 630376"/>
                <a:gd name="connsiteX4" fmla="*/ 92157 w 673078"/>
                <a:gd name="connsiteY4" fmla="*/ 420141 h 630376"/>
                <a:gd name="connsiteX5" fmla="*/ 131855 w 673078"/>
                <a:gd name="connsiteY5" fmla="*/ 459839 h 630376"/>
                <a:gd name="connsiteX6" fmla="*/ 171553 w 673078"/>
                <a:gd name="connsiteY6" fmla="*/ 420141 h 630376"/>
                <a:gd name="connsiteX7" fmla="*/ 182684 w 673078"/>
                <a:gd name="connsiteY7" fmla="*/ 431272 h 630376"/>
                <a:gd name="connsiteX8" fmla="*/ 142986 w 673078"/>
                <a:gd name="connsiteY8" fmla="*/ 470970 h 630376"/>
                <a:gd name="connsiteX9" fmla="*/ 182684 w 673078"/>
                <a:gd name="connsiteY9" fmla="*/ 510668 h 630376"/>
                <a:gd name="connsiteX10" fmla="*/ 171553 w 673078"/>
                <a:gd name="connsiteY10" fmla="*/ 521799 h 630376"/>
                <a:gd name="connsiteX11" fmla="*/ 131855 w 673078"/>
                <a:gd name="connsiteY11" fmla="*/ 482101 h 630376"/>
                <a:gd name="connsiteX12" fmla="*/ 92157 w 673078"/>
                <a:gd name="connsiteY12" fmla="*/ 521799 h 630376"/>
                <a:gd name="connsiteX13" fmla="*/ 81026 w 673078"/>
                <a:gd name="connsiteY13" fmla="*/ 510668 h 630376"/>
                <a:gd name="connsiteX14" fmla="*/ 120724 w 673078"/>
                <a:gd name="connsiteY14" fmla="*/ 470970 h 630376"/>
                <a:gd name="connsiteX15" fmla="*/ 81026 w 673078"/>
                <a:gd name="connsiteY15" fmla="*/ 431272 h 630376"/>
                <a:gd name="connsiteX16" fmla="*/ 78719 w 673078"/>
                <a:gd name="connsiteY16" fmla="*/ 307628 h 630376"/>
                <a:gd name="connsiteX17" fmla="*/ 236157 w 673078"/>
                <a:gd name="connsiteY17" fmla="*/ 307628 h 630376"/>
                <a:gd name="connsiteX18" fmla="*/ 236157 w 673078"/>
                <a:gd name="connsiteY18" fmla="*/ 323372 h 630376"/>
                <a:gd name="connsiteX19" fmla="*/ 78719 w 673078"/>
                <a:gd name="connsiteY19" fmla="*/ 323372 h 630376"/>
                <a:gd name="connsiteX20" fmla="*/ 78719 w 673078"/>
                <a:gd name="connsiteY20" fmla="*/ 244652 h 630376"/>
                <a:gd name="connsiteX21" fmla="*/ 393596 w 673078"/>
                <a:gd name="connsiteY21" fmla="*/ 244652 h 630376"/>
                <a:gd name="connsiteX22" fmla="*/ 393596 w 673078"/>
                <a:gd name="connsiteY22" fmla="*/ 260396 h 630376"/>
                <a:gd name="connsiteX23" fmla="*/ 78719 w 673078"/>
                <a:gd name="connsiteY23" fmla="*/ 260396 h 630376"/>
                <a:gd name="connsiteX24" fmla="*/ 456571 w 673078"/>
                <a:gd name="connsiteY24" fmla="*/ 207461 h 630376"/>
                <a:gd name="connsiteX25" fmla="*/ 454462 w 673078"/>
                <a:gd name="connsiteY25" fmla="*/ 210338 h 630376"/>
                <a:gd name="connsiteX26" fmla="*/ 456571 w 673078"/>
                <a:gd name="connsiteY26" fmla="*/ 211376 h 630376"/>
                <a:gd name="connsiteX27" fmla="*/ 78719 w 673078"/>
                <a:gd name="connsiteY27" fmla="*/ 181677 h 630376"/>
                <a:gd name="connsiteX28" fmla="*/ 393596 w 673078"/>
                <a:gd name="connsiteY28" fmla="*/ 181677 h 630376"/>
                <a:gd name="connsiteX29" fmla="*/ 393596 w 673078"/>
                <a:gd name="connsiteY29" fmla="*/ 197421 h 630376"/>
                <a:gd name="connsiteX30" fmla="*/ 78719 w 673078"/>
                <a:gd name="connsiteY30" fmla="*/ 197421 h 630376"/>
                <a:gd name="connsiteX31" fmla="*/ 456571 w 673078"/>
                <a:gd name="connsiteY31" fmla="*/ 126594 h 630376"/>
                <a:gd name="connsiteX32" fmla="*/ 447158 w 673078"/>
                <a:gd name="connsiteY32" fmla="*/ 148941 h 630376"/>
                <a:gd name="connsiteX33" fmla="*/ 439930 w 673078"/>
                <a:gd name="connsiteY33" fmla="*/ 179716 h 630376"/>
                <a:gd name="connsiteX34" fmla="*/ 447090 w 673078"/>
                <a:gd name="connsiteY34" fmla="*/ 205418 h 630376"/>
                <a:gd name="connsiteX35" fmla="*/ 456571 w 673078"/>
                <a:gd name="connsiteY35" fmla="*/ 190815 h 630376"/>
                <a:gd name="connsiteX36" fmla="*/ 78719 w 673078"/>
                <a:gd name="connsiteY36" fmla="*/ 118702 h 630376"/>
                <a:gd name="connsiteX37" fmla="*/ 393596 w 673078"/>
                <a:gd name="connsiteY37" fmla="*/ 118702 h 630376"/>
                <a:gd name="connsiteX38" fmla="*/ 393596 w 673078"/>
                <a:gd name="connsiteY38" fmla="*/ 134446 h 630376"/>
                <a:gd name="connsiteX39" fmla="*/ 78719 w 673078"/>
                <a:gd name="connsiteY39" fmla="*/ 134446 h 630376"/>
                <a:gd name="connsiteX40" fmla="*/ 15744 w 673078"/>
                <a:gd name="connsiteY40" fmla="*/ 16367 h 630376"/>
                <a:gd name="connsiteX41" fmla="*/ 15744 w 673078"/>
                <a:gd name="connsiteY41" fmla="*/ 614633 h 630376"/>
                <a:gd name="connsiteX42" fmla="*/ 456571 w 673078"/>
                <a:gd name="connsiteY42" fmla="*/ 614633 h 630376"/>
                <a:gd name="connsiteX43" fmla="*/ 456571 w 673078"/>
                <a:gd name="connsiteY43" fmla="*/ 308461 h 630376"/>
                <a:gd name="connsiteX44" fmla="*/ 446798 w 673078"/>
                <a:gd name="connsiteY44" fmla="*/ 312801 h 630376"/>
                <a:gd name="connsiteX45" fmla="*/ 412603 w 673078"/>
                <a:gd name="connsiteY45" fmla="*/ 308213 h 630376"/>
                <a:gd name="connsiteX46" fmla="*/ 410724 w 673078"/>
                <a:gd name="connsiteY46" fmla="*/ 302972 h 630376"/>
                <a:gd name="connsiteX47" fmla="*/ 415964 w 673078"/>
                <a:gd name="connsiteY47" fmla="*/ 301093 h 630376"/>
                <a:gd name="connsiteX48" fmla="*/ 445230 w 673078"/>
                <a:gd name="connsiteY48" fmla="*/ 305113 h 630376"/>
                <a:gd name="connsiteX49" fmla="*/ 456571 w 673078"/>
                <a:gd name="connsiteY49" fmla="*/ 299996 h 630376"/>
                <a:gd name="connsiteX50" fmla="*/ 456571 w 673078"/>
                <a:gd name="connsiteY50" fmla="*/ 228869 h 630376"/>
                <a:gd name="connsiteX51" fmla="*/ 437469 w 673078"/>
                <a:gd name="connsiteY51" fmla="*/ 260872 h 630376"/>
                <a:gd name="connsiteX52" fmla="*/ 432444 w 673078"/>
                <a:gd name="connsiteY52" fmla="*/ 274136 h 630376"/>
                <a:gd name="connsiteX53" fmla="*/ 411060 w 673078"/>
                <a:gd name="connsiteY53" fmla="*/ 297724 h 630376"/>
                <a:gd name="connsiteX54" fmla="*/ 449861 w 673078"/>
                <a:gd name="connsiteY54" fmla="*/ 216824 h 630376"/>
                <a:gd name="connsiteX55" fmla="*/ 448172 w 673078"/>
                <a:gd name="connsiteY55" fmla="*/ 215994 h 630376"/>
                <a:gd name="connsiteX56" fmla="*/ 432086 w 673078"/>
                <a:gd name="connsiteY56" fmla="*/ 179039 h 630376"/>
                <a:gd name="connsiteX57" fmla="*/ 452860 w 673078"/>
                <a:gd name="connsiteY57" fmla="*/ 115166 h 630376"/>
                <a:gd name="connsiteX58" fmla="*/ 456571 w 673078"/>
                <a:gd name="connsiteY58" fmla="*/ 113450 h 630376"/>
                <a:gd name="connsiteX59" fmla="*/ 456571 w 673078"/>
                <a:gd name="connsiteY59" fmla="*/ 16367 h 630376"/>
                <a:gd name="connsiteX60" fmla="*/ 623074 w 673078"/>
                <a:gd name="connsiteY60" fmla="*/ 7884 h 630376"/>
                <a:gd name="connsiteX61" fmla="*/ 611019 w 673078"/>
                <a:gd name="connsiteY61" fmla="*/ 8695 h 630376"/>
                <a:gd name="connsiteX62" fmla="*/ 584333 w 673078"/>
                <a:gd name="connsiteY62" fmla="*/ 29413 h 630376"/>
                <a:gd name="connsiteX63" fmla="*/ 580519 w 673078"/>
                <a:gd name="connsiteY63" fmla="*/ 43532 h 630376"/>
                <a:gd name="connsiteX64" fmla="*/ 579795 w 673078"/>
                <a:gd name="connsiteY64" fmla="*/ 44146 h 630376"/>
                <a:gd name="connsiteX65" fmla="*/ 579066 w 673078"/>
                <a:gd name="connsiteY65" fmla="*/ 43512 h 630376"/>
                <a:gd name="connsiteX66" fmla="*/ 578783 w 673078"/>
                <a:gd name="connsiteY66" fmla="*/ 41316 h 630376"/>
                <a:gd name="connsiteX67" fmla="*/ 579991 w 673078"/>
                <a:gd name="connsiteY67" fmla="*/ 19192 h 630376"/>
                <a:gd name="connsiteX68" fmla="*/ 580031 w 673078"/>
                <a:gd name="connsiteY68" fmla="*/ 18883 h 630376"/>
                <a:gd name="connsiteX69" fmla="*/ 578570 w 673078"/>
                <a:gd name="connsiteY69" fmla="*/ 17346 h 630376"/>
                <a:gd name="connsiteX70" fmla="*/ 578039 w 673078"/>
                <a:gd name="connsiteY70" fmla="*/ 17448 h 630376"/>
                <a:gd name="connsiteX71" fmla="*/ 529288 w 673078"/>
                <a:gd name="connsiteY71" fmla="*/ 44484 h 630376"/>
                <a:gd name="connsiteX72" fmla="*/ 482136 w 673078"/>
                <a:gd name="connsiteY72" fmla="*/ 87028 h 630376"/>
                <a:gd name="connsiteX73" fmla="*/ 472315 w 673078"/>
                <a:gd name="connsiteY73" fmla="*/ 103940 h 630376"/>
                <a:gd name="connsiteX74" fmla="*/ 472315 w 673078"/>
                <a:gd name="connsiteY74" fmla="*/ 166565 h 630376"/>
                <a:gd name="connsiteX75" fmla="*/ 476111 w 673078"/>
                <a:gd name="connsiteY75" fmla="*/ 160719 h 630376"/>
                <a:gd name="connsiteX76" fmla="*/ 508739 w 673078"/>
                <a:gd name="connsiteY76" fmla="*/ 120350 h 630376"/>
                <a:gd name="connsiteX77" fmla="*/ 560756 w 673078"/>
                <a:gd name="connsiteY77" fmla="*/ 78129 h 630376"/>
                <a:gd name="connsiteX78" fmla="*/ 569352 w 673078"/>
                <a:gd name="connsiteY78" fmla="*/ 74323 h 630376"/>
                <a:gd name="connsiteX79" fmla="*/ 570250 w 673078"/>
                <a:gd name="connsiteY79" fmla="*/ 74716 h 630376"/>
                <a:gd name="connsiteX80" fmla="*/ 569994 w 673078"/>
                <a:gd name="connsiteY80" fmla="*/ 75673 h 630376"/>
                <a:gd name="connsiteX81" fmla="*/ 526478 w 673078"/>
                <a:gd name="connsiteY81" fmla="*/ 112096 h 630376"/>
                <a:gd name="connsiteX82" fmla="*/ 472315 w 673078"/>
                <a:gd name="connsiteY82" fmla="*/ 185984 h 630376"/>
                <a:gd name="connsiteX83" fmla="*/ 472315 w 673078"/>
                <a:gd name="connsiteY83" fmla="*/ 216538 h 630376"/>
                <a:gd name="connsiteX84" fmla="*/ 472410 w 673078"/>
                <a:gd name="connsiteY84" fmla="*/ 216560 h 630376"/>
                <a:gd name="connsiteX85" fmla="*/ 488319 w 673078"/>
                <a:gd name="connsiteY85" fmla="*/ 213719 h 630376"/>
                <a:gd name="connsiteX86" fmla="*/ 534763 w 673078"/>
                <a:gd name="connsiteY86" fmla="*/ 179366 h 630376"/>
                <a:gd name="connsiteX87" fmla="*/ 505783 w 673078"/>
                <a:gd name="connsiteY87" fmla="*/ 172564 h 630376"/>
                <a:gd name="connsiteX88" fmla="*/ 505367 w 673078"/>
                <a:gd name="connsiteY88" fmla="*/ 171897 h 630376"/>
                <a:gd name="connsiteX89" fmla="*/ 506109 w 673078"/>
                <a:gd name="connsiteY89" fmla="*/ 171159 h 630376"/>
                <a:gd name="connsiteX90" fmla="*/ 506224 w 673078"/>
                <a:gd name="connsiteY90" fmla="*/ 171159 h 630376"/>
                <a:gd name="connsiteX91" fmla="*/ 506723 w 673078"/>
                <a:gd name="connsiteY91" fmla="*/ 171234 h 630376"/>
                <a:gd name="connsiteX92" fmla="*/ 514875 w 673078"/>
                <a:gd name="connsiteY92" fmla="*/ 171844 h 630376"/>
                <a:gd name="connsiteX93" fmla="*/ 559084 w 673078"/>
                <a:gd name="connsiteY93" fmla="*/ 150932 h 630376"/>
                <a:gd name="connsiteX94" fmla="*/ 584604 w 673078"/>
                <a:gd name="connsiteY94" fmla="*/ 125089 h 630376"/>
                <a:gd name="connsiteX95" fmla="*/ 625479 w 673078"/>
                <a:gd name="connsiteY95" fmla="*/ 94231 h 630376"/>
                <a:gd name="connsiteX96" fmla="*/ 626042 w 673078"/>
                <a:gd name="connsiteY96" fmla="*/ 93281 h 630376"/>
                <a:gd name="connsiteX97" fmla="*/ 624798 w 673078"/>
                <a:gd name="connsiteY97" fmla="*/ 91570 h 630376"/>
                <a:gd name="connsiteX98" fmla="*/ 599061 w 673078"/>
                <a:gd name="connsiteY98" fmla="*/ 81045 h 630376"/>
                <a:gd name="connsiteX99" fmla="*/ 598738 w 673078"/>
                <a:gd name="connsiteY99" fmla="*/ 80518 h 630376"/>
                <a:gd name="connsiteX100" fmla="*/ 598809 w 673078"/>
                <a:gd name="connsiteY100" fmla="*/ 80124 h 630376"/>
                <a:gd name="connsiteX101" fmla="*/ 599478 w 673078"/>
                <a:gd name="connsiteY101" fmla="*/ 79707 h 630376"/>
                <a:gd name="connsiteX102" fmla="*/ 599691 w 673078"/>
                <a:gd name="connsiteY102" fmla="*/ 79739 h 630376"/>
                <a:gd name="connsiteX103" fmla="*/ 619288 w 673078"/>
                <a:gd name="connsiteY103" fmla="*/ 82675 h 630376"/>
                <a:gd name="connsiteX104" fmla="*/ 635276 w 673078"/>
                <a:gd name="connsiteY104" fmla="*/ 80770 h 630376"/>
                <a:gd name="connsiteX105" fmla="*/ 652673 w 673078"/>
                <a:gd name="connsiteY105" fmla="*/ 70107 h 630376"/>
                <a:gd name="connsiteX106" fmla="*/ 659002 w 673078"/>
                <a:gd name="connsiteY106" fmla="*/ 22876 h 630376"/>
                <a:gd name="connsiteX107" fmla="*/ 623074 w 673078"/>
                <a:gd name="connsiteY107" fmla="*/ 7884 h 630376"/>
                <a:gd name="connsiteX108" fmla="*/ 623086 w 673078"/>
                <a:gd name="connsiteY108" fmla="*/ 0 h 630376"/>
                <a:gd name="connsiteX109" fmla="*/ 665630 w 673078"/>
                <a:gd name="connsiteY109" fmla="*/ 18601 h 630376"/>
                <a:gd name="connsiteX110" fmla="*/ 658624 w 673078"/>
                <a:gd name="connsiteY110" fmla="*/ 75248 h 630376"/>
                <a:gd name="connsiteX111" fmla="*/ 637114 w 673078"/>
                <a:gd name="connsiteY111" fmla="*/ 88417 h 630376"/>
                <a:gd name="connsiteX112" fmla="*/ 633127 w 673078"/>
                <a:gd name="connsiteY112" fmla="*/ 89268 h 630376"/>
                <a:gd name="connsiteX113" fmla="*/ 633682 w 673078"/>
                <a:gd name="connsiteY113" fmla="*/ 90909 h 630376"/>
                <a:gd name="connsiteX114" fmla="*/ 630218 w 673078"/>
                <a:gd name="connsiteY114" fmla="*/ 100520 h 630376"/>
                <a:gd name="connsiteX115" fmla="*/ 615824 w 673078"/>
                <a:gd name="connsiteY115" fmla="*/ 111112 h 630376"/>
                <a:gd name="connsiteX116" fmla="*/ 589729 w 673078"/>
                <a:gd name="connsiteY116" fmla="*/ 131071 h 630376"/>
                <a:gd name="connsiteX117" fmla="*/ 565094 w 673078"/>
                <a:gd name="connsiteY117" fmla="*/ 156017 h 630376"/>
                <a:gd name="connsiteX118" fmla="*/ 540762 w 673078"/>
                <a:gd name="connsiteY118" fmla="*/ 174272 h 630376"/>
                <a:gd name="connsiteX119" fmla="*/ 541155 w 673078"/>
                <a:gd name="connsiteY119" fmla="*/ 183959 h 630376"/>
                <a:gd name="connsiteX120" fmla="*/ 490429 w 673078"/>
                <a:gd name="connsiteY120" fmla="*/ 221307 h 630376"/>
                <a:gd name="connsiteX121" fmla="*/ 472414 w 673078"/>
                <a:gd name="connsiteY121" fmla="*/ 224432 h 630376"/>
                <a:gd name="connsiteX122" fmla="*/ 472315 w 673078"/>
                <a:gd name="connsiteY122" fmla="*/ 224412 h 630376"/>
                <a:gd name="connsiteX123" fmla="*/ 472315 w 673078"/>
                <a:gd name="connsiteY123" fmla="*/ 292702 h 630376"/>
                <a:gd name="connsiteX124" fmla="*/ 485194 w 673078"/>
                <a:gd name="connsiteY124" fmla="*/ 286120 h 630376"/>
                <a:gd name="connsiteX125" fmla="*/ 502807 w 673078"/>
                <a:gd name="connsiteY125" fmla="*/ 283294 h 630376"/>
                <a:gd name="connsiteX126" fmla="*/ 525679 w 673078"/>
                <a:gd name="connsiteY126" fmla="*/ 298487 h 630376"/>
                <a:gd name="connsiteX127" fmla="*/ 556088 w 673078"/>
                <a:gd name="connsiteY127" fmla="*/ 304584 h 630376"/>
                <a:gd name="connsiteX128" fmla="*/ 556088 w 673078"/>
                <a:gd name="connsiteY128" fmla="*/ 304564 h 630376"/>
                <a:gd name="connsiteX129" fmla="*/ 561209 w 673078"/>
                <a:gd name="connsiteY129" fmla="*/ 306757 h 630376"/>
                <a:gd name="connsiteX130" fmla="*/ 559017 w 673078"/>
                <a:gd name="connsiteY130" fmla="*/ 311877 h 630376"/>
                <a:gd name="connsiteX131" fmla="*/ 540207 w 673078"/>
                <a:gd name="connsiteY131" fmla="*/ 316254 h 630376"/>
                <a:gd name="connsiteX132" fmla="*/ 519279 w 673078"/>
                <a:gd name="connsiteY132" fmla="*/ 303045 h 630376"/>
                <a:gd name="connsiteX133" fmla="*/ 502091 w 673078"/>
                <a:gd name="connsiteY133" fmla="*/ 291111 h 630376"/>
                <a:gd name="connsiteX134" fmla="*/ 473087 w 673078"/>
                <a:gd name="connsiteY134" fmla="*/ 301128 h 630376"/>
                <a:gd name="connsiteX135" fmla="*/ 472315 w 673078"/>
                <a:gd name="connsiteY135" fmla="*/ 301471 h 630376"/>
                <a:gd name="connsiteX136" fmla="*/ 472315 w 673078"/>
                <a:gd name="connsiteY136" fmla="*/ 630376 h 630376"/>
                <a:gd name="connsiteX137" fmla="*/ 0 w 673078"/>
                <a:gd name="connsiteY137" fmla="*/ 630376 h 630376"/>
                <a:gd name="connsiteX138" fmla="*/ 0 w 673078"/>
                <a:gd name="connsiteY138" fmla="*/ 623 h 630376"/>
                <a:gd name="connsiteX139" fmla="*/ 472315 w 673078"/>
                <a:gd name="connsiteY139" fmla="*/ 623 h 630376"/>
                <a:gd name="connsiteX140" fmla="*/ 472315 w 673078"/>
                <a:gd name="connsiteY140" fmla="*/ 89709 h 630376"/>
                <a:gd name="connsiteX141" fmla="*/ 476216 w 673078"/>
                <a:gd name="connsiteY141" fmla="*/ 81860 h 630376"/>
                <a:gd name="connsiteX142" fmla="*/ 524671 w 673078"/>
                <a:gd name="connsiteY142" fmla="*/ 38116 h 630376"/>
                <a:gd name="connsiteX143" fmla="*/ 575178 w 673078"/>
                <a:gd name="connsiteY143" fmla="*/ 10111 h 630376"/>
                <a:gd name="connsiteX144" fmla="*/ 585805 w 673078"/>
                <a:gd name="connsiteY144" fmla="*/ 12930 h 630376"/>
                <a:gd name="connsiteX145" fmla="*/ 610023 w 673078"/>
                <a:gd name="connsiteY145" fmla="*/ 874 h 630376"/>
                <a:gd name="connsiteX146" fmla="*/ 623086 w 673078"/>
                <a:gd name="connsiteY146" fmla="*/ 0 h 63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673078" h="630376">
                  <a:moveTo>
                    <a:pt x="236158" y="465066"/>
                  </a:moveTo>
                  <a:lnTo>
                    <a:pt x="393596" y="465066"/>
                  </a:lnTo>
                  <a:lnTo>
                    <a:pt x="393596" y="480810"/>
                  </a:lnTo>
                  <a:lnTo>
                    <a:pt x="236158" y="480810"/>
                  </a:lnTo>
                  <a:close/>
                  <a:moveTo>
                    <a:pt x="92157" y="420141"/>
                  </a:moveTo>
                  <a:lnTo>
                    <a:pt x="131855" y="459839"/>
                  </a:lnTo>
                  <a:lnTo>
                    <a:pt x="171553" y="420141"/>
                  </a:lnTo>
                  <a:lnTo>
                    <a:pt x="182684" y="431272"/>
                  </a:lnTo>
                  <a:lnTo>
                    <a:pt x="142986" y="470970"/>
                  </a:lnTo>
                  <a:lnTo>
                    <a:pt x="182684" y="510668"/>
                  </a:lnTo>
                  <a:lnTo>
                    <a:pt x="171553" y="521799"/>
                  </a:lnTo>
                  <a:lnTo>
                    <a:pt x="131855" y="482101"/>
                  </a:lnTo>
                  <a:lnTo>
                    <a:pt x="92157" y="521799"/>
                  </a:lnTo>
                  <a:lnTo>
                    <a:pt x="81026" y="510668"/>
                  </a:lnTo>
                  <a:lnTo>
                    <a:pt x="120724" y="470970"/>
                  </a:lnTo>
                  <a:lnTo>
                    <a:pt x="81026" y="431272"/>
                  </a:lnTo>
                  <a:close/>
                  <a:moveTo>
                    <a:pt x="78719" y="307628"/>
                  </a:moveTo>
                  <a:lnTo>
                    <a:pt x="236157" y="307628"/>
                  </a:lnTo>
                  <a:lnTo>
                    <a:pt x="236157" y="323372"/>
                  </a:lnTo>
                  <a:lnTo>
                    <a:pt x="78719" y="323372"/>
                  </a:lnTo>
                  <a:close/>
                  <a:moveTo>
                    <a:pt x="78719" y="244652"/>
                  </a:moveTo>
                  <a:lnTo>
                    <a:pt x="393596" y="244652"/>
                  </a:lnTo>
                  <a:lnTo>
                    <a:pt x="393596" y="260396"/>
                  </a:lnTo>
                  <a:lnTo>
                    <a:pt x="78719" y="260396"/>
                  </a:lnTo>
                  <a:close/>
                  <a:moveTo>
                    <a:pt x="456571" y="207461"/>
                  </a:moveTo>
                  <a:lnTo>
                    <a:pt x="454462" y="210338"/>
                  </a:lnTo>
                  <a:lnTo>
                    <a:pt x="456571" y="211376"/>
                  </a:lnTo>
                  <a:close/>
                  <a:moveTo>
                    <a:pt x="78719" y="181677"/>
                  </a:moveTo>
                  <a:lnTo>
                    <a:pt x="393596" y="181677"/>
                  </a:lnTo>
                  <a:lnTo>
                    <a:pt x="393596" y="197421"/>
                  </a:lnTo>
                  <a:lnTo>
                    <a:pt x="78719" y="197421"/>
                  </a:lnTo>
                  <a:close/>
                  <a:moveTo>
                    <a:pt x="456571" y="126594"/>
                  </a:moveTo>
                  <a:lnTo>
                    <a:pt x="447158" y="148941"/>
                  </a:lnTo>
                  <a:cubicBezTo>
                    <a:pt x="443463" y="159885"/>
                    <a:pt x="440682" y="170927"/>
                    <a:pt x="439930" y="179716"/>
                  </a:cubicBezTo>
                  <a:cubicBezTo>
                    <a:pt x="438675" y="188904"/>
                    <a:pt x="441265" y="198202"/>
                    <a:pt x="447090" y="205418"/>
                  </a:cubicBezTo>
                  <a:lnTo>
                    <a:pt x="456571" y="190815"/>
                  </a:lnTo>
                  <a:close/>
                  <a:moveTo>
                    <a:pt x="78719" y="118702"/>
                  </a:moveTo>
                  <a:lnTo>
                    <a:pt x="393596" y="118702"/>
                  </a:lnTo>
                  <a:lnTo>
                    <a:pt x="393596" y="134446"/>
                  </a:lnTo>
                  <a:lnTo>
                    <a:pt x="78719" y="134446"/>
                  </a:lnTo>
                  <a:close/>
                  <a:moveTo>
                    <a:pt x="15744" y="16367"/>
                  </a:moveTo>
                  <a:lnTo>
                    <a:pt x="15744" y="614633"/>
                  </a:lnTo>
                  <a:lnTo>
                    <a:pt x="456571" y="614633"/>
                  </a:lnTo>
                  <a:lnTo>
                    <a:pt x="456571" y="308461"/>
                  </a:lnTo>
                  <a:lnTo>
                    <a:pt x="446798" y="312801"/>
                  </a:lnTo>
                  <a:cubicBezTo>
                    <a:pt x="436979" y="314986"/>
                    <a:pt x="425843" y="314462"/>
                    <a:pt x="412603" y="308213"/>
                  </a:cubicBezTo>
                  <a:cubicBezTo>
                    <a:pt x="410637" y="307285"/>
                    <a:pt x="409796" y="304938"/>
                    <a:pt x="410724" y="302972"/>
                  </a:cubicBezTo>
                  <a:cubicBezTo>
                    <a:pt x="411652" y="301006"/>
                    <a:pt x="413998" y="300165"/>
                    <a:pt x="415964" y="301093"/>
                  </a:cubicBezTo>
                  <a:cubicBezTo>
                    <a:pt x="427347" y="306468"/>
                    <a:pt x="436733" y="307025"/>
                    <a:pt x="445230" y="305113"/>
                  </a:cubicBezTo>
                  <a:lnTo>
                    <a:pt x="456571" y="299996"/>
                  </a:lnTo>
                  <a:lnTo>
                    <a:pt x="456571" y="228869"/>
                  </a:lnTo>
                  <a:lnTo>
                    <a:pt x="437469" y="260872"/>
                  </a:lnTo>
                  <a:cubicBezTo>
                    <a:pt x="433444" y="269634"/>
                    <a:pt x="432444" y="274136"/>
                    <a:pt x="432444" y="274136"/>
                  </a:cubicBezTo>
                  <a:cubicBezTo>
                    <a:pt x="424811" y="281525"/>
                    <a:pt x="417668" y="289405"/>
                    <a:pt x="411060" y="297724"/>
                  </a:cubicBezTo>
                  <a:cubicBezTo>
                    <a:pt x="419664" y="265504"/>
                    <a:pt x="443170" y="227294"/>
                    <a:pt x="449861" y="216824"/>
                  </a:cubicBezTo>
                  <a:lnTo>
                    <a:pt x="448172" y="215994"/>
                  </a:lnTo>
                  <a:cubicBezTo>
                    <a:pt x="436959" y="210448"/>
                    <a:pt x="430645" y="195964"/>
                    <a:pt x="432086" y="179039"/>
                  </a:cubicBezTo>
                  <a:cubicBezTo>
                    <a:pt x="433715" y="159977"/>
                    <a:pt x="443807" y="132437"/>
                    <a:pt x="452860" y="115166"/>
                  </a:cubicBezTo>
                  <a:lnTo>
                    <a:pt x="456571" y="113450"/>
                  </a:lnTo>
                  <a:lnTo>
                    <a:pt x="456571" y="16367"/>
                  </a:lnTo>
                  <a:close/>
                  <a:moveTo>
                    <a:pt x="623074" y="7884"/>
                  </a:moveTo>
                  <a:cubicBezTo>
                    <a:pt x="619043" y="7896"/>
                    <a:pt x="615016" y="8167"/>
                    <a:pt x="611019" y="8695"/>
                  </a:cubicBezTo>
                  <a:cubicBezTo>
                    <a:pt x="599020" y="10239"/>
                    <a:pt x="588803" y="18172"/>
                    <a:pt x="584333" y="29413"/>
                  </a:cubicBezTo>
                  <a:cubicBezTo>
                    <a:pt x="582545" y="33965"/>
                    <a:pt x="581266" y="38700"/>
                    <a:pt x="580519" y="43532"/>
                  </a:cubicBezTo>
                  <a:cubicBezTo>
                    <a:pt x="580456" y="43884"/>
                    <a:pt x="580152" y="44142"/>
                    <a:pt x="579795" y="44146"/>
                  </a:cubicBezTo>
                  <a:cubicBezTo>
                    <a:pt x="579429" y="44144"/>
                    <a:pt x="579119" y="43874"/>
                    <a:pt x="579066" y="43512"/>
                  </a:cubicBezTo>
                  <a:cubicBezTo>
                    <a:pt x="578960" y="42784"/>
                    <a:pt x="578866" y="42044"/>
                    <a:pt x="578783" y="41316"/>
                  </a:cubicBezTo>
                  <a:cubicBezTo>
                    <a:pt x="577953" y="33925"/>
                    <a:pt x="578362" y="26448"/>
                    <a:pt x="579991" y="19192"/>
                  </a:cubicBezTo>
                  <a:cubicBezTo>
                    <a:pt x="580015" y="19091"/>
                    <a:pt x="580029" y="18987"/>
                    <a:pt x="580031" y="18883"/>
                  </a:cubicBezTo>
                  <a:cubicBezTo>
                    <a:pt x="580052" y="18055"/>
                    <a:pt x="579399" y="17367"/>
                    <a:pt x="578570" y="17346"/>
                  </a:cubicBezTo>
                  <a:cubicBezTo>
                    <a:pt x="578389" y="17346"/>
                    <a:pt x="578208" y="17381"/>
                    <a:pt x="578039" y="17448"/>
                  </a:cubicBezTo>
                  <a:cubicBezTo>
                    <a:pt x="560709" y="24358"/>
                    <a:pt x="544327" y="33443"/>
                    <a:pt x="529288" y="44484"/>
                  </a:cubicBezTo>
                  <a:cubicBezTo>
                    <a:pt x="512056" y="56890"/>
                    <a:pt x="496242" y="71157"/>
                    <a:pt x="482136" y="87028"/>
                  </a:cubicBezTo>
                  <a:lnTo>
                    <a:pt x="472315" y="103940"/>
                  </a:lnTo>
                  <a:lnTo>
                    <a:pt x="472315" y="166565"/>
                  </a:lnTo>
                  <a:lnTo>
                    <a:pt x="476111" y="160719"/>
                  </a:lnTo>
                  <a:cubicBezTo>
                    <a:pt x="487219" y="145086"/>
                    <a:pt x="498928" y="130176"/>
                    <a:pt x="508739" y="120350"/>
                  </a:cubicBezTo>
                  <a:cubicBezTo>
                    <a:pt x="524380" y="104304"/>
                    <a:pt x="541837" y="90135"/>
                    <a:pt x="560756" y="78129"/>
                  </a:cubicBezTo>
                  <a:cubicBezTo>
                    <a:pt x="563419" y="76445"/>
                    <a:pt x="566316" y="75163"/>
                    <a:pt x="569352" y="74323"/>
                  </a:cubicBezTo>
                  <a:cubicBezTo>
                    <a:pt x="569707" y="74218"/>
                    <a:pt x="570087" y="74384"/>
                    <a:pt x="570250" y="74716"/>
                  </a:cubicBezTo>
                  <a:cubicBezTo>
                    <a:pt x="570401" y="75056"/>
                    <a:pt x="570294" y="75454"/>
                    <a:pt x="569994" y="75673"/>
                  </a:cubicBezTo>
                  <a:cubicBezTo>
                    <a:pt x="554436" y="86497"/>
                    <a:pt x="539873" y="98687"/>
                    <a:pt x="526478" y="112096"/>
                  </a:cubicBezTo>
                  <a:lnTo>
                    <a:pt x="472315" y="185984"/>
                  </a:lnTo>
                  <a:lnTo>
                    <a:pt x="472315" y="216538"/>
                  </a:lnTo>
                  <a:lnTo>
                    <a:pt x="472410" y="216560"/>
                  </a:lnTo>
                  <a:cubicBezTo>
                    <a:pt x="477815" y="216316"/>
                    <a:pt x="483164" y="215361"/>
                    <a:pt x="488319" y="213719"/>
                  </a:cubicBezTo>
                  <a:cubicBezTo>
                    <a:pt x="515477" y="206177"/>
                    <a:pt x="534763" y="179366"/>
                    <a:pt x="534763" y="179366"/>
                  </a:cubicBezTo>
                  <a:cubicBezTo>
                    <a:pt x="524716" y="179295"/>
                    <a:pt x="514813" y="176971"/>
                    <a:pt x="505783" y="172564"/>
                  </a:cubicBezTo>
                  <a:cubicBezTo>
                    <a:pt x="505528" y="172440"/>
                    <a:pt x="505366" y="172180"/>
                    <a:pt x="505367" y="171897"/>
                  </a:cubicBezTo>
                  <a:cubicBezTo>
                    <a:pt x="505368" y="171488"/>
                    <a:pt x="505701" y="171158"/>
                    <a:pt x="506109" y="171159"/>
                  </a:cubicBezTo>
                  <a:cubicBezTo>
                    <a:pt x="506147" y="171155"/>
                    <a:pt x="506186" y="171155"/>
                    <a:pt x="506224" y="171159"/>
                  </a:cubicBezTo>
                  <a:lnTo>
                    <a:pt x="506723" y="171234"/>
                  </a:lnTo>
                  <a:cubicBezTo>
                    <a:pt x="509422" y="171642"/>
                    <a:pt x="512146" y="171846"/>
                    <a:pt x="514875" y="171844"/>
                  </a:cubicBezTo>
                  <a:cubicBezTo>
                    <a:pt x="531965" y="171696"/>
                    <a:pt x="548129" y="164051"/>
                    <a:pt x="559084" y="150932"/>
                  </a:cubicBezTo>
                  <a:cubicBezTo>
                    <a:pt x="566870" y="141635"/>
                    <a:pt x="575406" y="132992"/>
                    <a:pt x="584604" y="125089"/>
                  </a:cubicBezTo>
                  <a:cubicBezTo>
                    <a:pt x="596507" y="114871"/>
                    <a:pt x="611585" y="104728"/>
                    <a:pt x="625479" y="94231"/>
                  </a:cubicBezTo>
                  <a:cubicBezTo>
                    <a:pt x="625781" y="93997"/>
                    <a:pt x="625982" y="93658"/>
                    <a:pt x="626042" y="93281"/>
                  </a:cubicBezTo>
                  <a:cubicBezTo>
                    <a:pt x="626171" y="92465"/>
                    <a:pt x="625614" y="91699"/>
                    <a:pt x="624798" y="91570"/>
                  </a:cubicBezTo>
                  <a:cubicBezTo>
                    <a:pt x="615578" y="89898"/>
                    <a:pt x="606811" y="86313"/>
                    <a:pt x="599061" y="81045"/>
                  </a:cubicBezTo>
                  <a:cubicBezTo>
                    <a:pt x="598882" y="80924"/>
                    <a:pt x="598765" y="80732"/>
                    <a:pt x="598738" y="80518"/>
                  </a:cubicBezTo>
                  <a:cubicBezTo>
                    <a:pt x="598728" y="80383"/>
                    <a:pt x="598752" y="80247"/>
                    <a:pt x="598809" y="80124"/>
                  </a:cubicBezTo>
                  <a:cubicBezTo>
                    <a:pt x="598934" y="79869"/>
                    <a:pt x="599194" y="79707"/>
                    <a:pt x="599478" y="79707"/>
                  </a:cubicBezTo>
                  <a:cubicBezTo>
                    <a:pt x="599550" y="79706"/>
                    <a:pt x="599622" y="79717"/>
                    <a:pt x="599691" y="79739"/>
                  </a:cubicBezTo>
                  <a:cubicBezTo>
                    <a:pt x="606040" y="81689"/>
                    <a:pt x="612646" y="82678"/>
                    <a:pt x="619288" y="82675"/>
                  </a:cubicBezTo>
                  <a:cubicBezTo>
                    <a:pt x="624674" y="82673"/>
                    <a:pt x="630040" y="82033"/>
                    <a:pt x="635276" y="80770"/>
                  </a:cubicBezTo>
                  <a:cubicBezTo>
                    <a:pt x="642044" y="79114"/>
                    <a:pt x="648126" y="75386"/>
                    <a:pt x="652673" y="70107"/>
                  </a:cubicBezTo>
                  <a:cubicBezTo>
                    <a:pt x="665083" y="55733"/>
                    <a:pt x="670259" y="40285"/>
                    <a:pt x="659002" y="22876"/>
                  </a:cubicBezTo>
                  <a:cubicBezTo>
                    <a:pt x="652673" y="13060"/>
                    <a:pt x="639865" y="7884"/>
                    <a:pt x="623074" y="7884"/>
                  </a:cubicBezTo>
                  <a:close/>
                  <a:moveTo>
                    <a:pt x="623086" y="0"/>
                  </a:moveTo>
                  <a:cubicBezTo>
                    <a:pt x="642786" y="0"/>
                    <a:pt x="657896" y="6605"/>
                    <a:pt x="665630" y="18601"/>
                  </a:cubicBezTo>
                  <a:cubicBezTo>
                    <a:pt x="677520" y="37041"/>
                    <a:pt x="675167" y="56103"/>
                    <a:pt x="658624" y="75248"/>
                  </a:cubicBezTo>
                  <a:cubicBezTo>
                    <a:pt x="652992" y="81760"/>
                    <a:pt x="645475" y="86362"/>
                    <a:pt x="637114" y="88417"/>
                  </a:cubicBezTo>
                  <a:cubicBezTo>
                    <a:pt x="635789" y="88735"/>
                    <a:pt x="634460" y="89018"/>
                    <a:pt x="633127" y="89268"/>
                  </a:cubicBezTo>
                  <a:cubicBezTo>
                    <a:pt x="633360" y="89797"/>
                    <a:pt x="633546" y="90346"/>
                    <a:pt x="633682" y="90909"/>
                  </a:cubicBezTo>
                  <a:cubicBezTo>
                    <a:pt x="634536" y="94516"/>
                    <a:pt x="633177" y="98287"/>
                    <a:pt x="630218" y="100520"/>
                  </a:cubicBezTo>
                  <a:cubicBezTo>
                    <a:pt x="625479" y="104102"/>
                    <a:pt x="620571" y="107664"/>
                    <a:pt x="615824" y="111112"/>
                  </a:cubicBezTo>
                  <a:cubicBezTo>
                    <a:pt x="606339" y="118000"/>
                    <a:pt x="597376" y="124502"/>
                    <a:pt x="589729" y="131071"/>
                  </a:cubicBezTo>
                  <a:cubicBezTo>
                    <a:pt x="580851" y="138701"/>
                    <a:pt x="572612" y="147045"/>
                    <a:pt x="565094" y="156017"/>
                  </a:cubicBezTo>
                  <a:cubicBezTo>
                    <a:pt x="558483" y="163880"/>
                    <a:pt x="550159" y="170124"/>
                    <a:pt x="540762" y="174272"/>
                  </a:cubicBezTo>
                  <a:cubicBezTo>
                    <a:pt x="543101" y="177028"/>
                    <a:pt x="543264" y="181023"/>
                    <a:pt x="541155" y="183959"/>
                  </a:cubicBezTo>
                  <a:cubicBezTo>
                    <a:pt x="540301" y="185147"/>
                    <a:pt x="519925" y="213116"/>
                    <a:pt x="490429" y="221307"/>
                  </a:cubicBezTo>
                  <a:cubicBezTo>
                    <a:pt x="484592" y="223158"/>
                    <a:pt x="478532" y="224209"/>
                    <a:pt x="472414" y="224432"/>
                  </a:cubicBezTo>
                  <a:lnTo>
                    <a:pt x="472315" y="224412"/>
                  </a:lnTo>
                  <a:lnTo>
                    <a:pt x="472315" y="292702"/>
                  </a:lnTo>
                  <a:lnTo>
                    <a:pt x="485194" y="286120"/>
                  </a:lnTo>
                  <a:cubicBezTo>
                    <a:pt x="490742" y="283965"/>
                    <a:pt x="496553" y="282704"/>
                    <a:pt x="502807" y="283294"/>
                  </a:cubicBezTo>
                  <a:cubicBezTo>
                    <a:pt x="515650" y="284471"/>
                    <a:pt x="521212" y="292241"/>
                    <a:pt x="525679" y="298487"/>
                  </a:cubicBezTo>
                  <a:cubicBezTo>
                    <a:pt x="531579" y="306729"/>
                    <a:pt x="535846" y="312692"/>
                    <a:pt x="556088" y="304584"/>
                  </a:cubicBezTo>
                  <a:lnTo>
                    <a:pt x="556088" y="304564"/>
                  </a:lnTo>
                  <a:cubicBezTo>
                    <a:pt x="558108" y="303755"/>
                    <a:pt x="560401" y="304737"/>
                    <a:pt x="561209" y="306757"/>
                  </a:cubicBezTo>
                  <a:cubicBezTo>
                    <a:pt x="562018" y="308776"/>
                    <a:pt x="561036" y="311068"/>
                    <a:pt x="559017" y="311877"/>
                  </a:cubicBezTo>
                  <a:cubicBezTo>
                    <a:pt x="553077" y="314504"/>
                    <a:pt x="546696" y="315989"/>
                    <a:pt x="540207" y="316254"/>
                  </a:cubicBezTo>
                  <a:cubicBezTo>
                    <a:pt x="528726" y="316254"/>
                    <a:pt x="523794" y="309343"/>
                    <a:pt x="519279" y="303045"/>
                  </a:cubicBezTo>
                  <a:cubicBezTo>
                    <a:pt x="515021" y="297098"/>
                    <a:pt x="511344" y="291961"/>
                    <a:pt x="502091" y="291111"/>
                  </a:cubicBezTo>
                  <a:cubicBezTo>
                    <a:pt x="492094" y="290198"/>
                    <a:pt x="482856" y="295508"/>
                    <a:pt x="473087" y="301128"/>
                  </a:cubicBezTo>
                  <a:lnTo>
                    <a:pt x="472315" y="301471"/>
                  </a:lnTo>
                  <a:lnTo>
                    <a:pt x="472315" y="630376"/>
                  </a:lnTo>
                  <a:lnTo>
                    <a:pt x="0" y="630376"/>
                  </a:lnTo>
                  <a:lnTo>
                    <a:pt x="0" y="623"/>
                  </a:lnTo>
                  <a:lnTo>
                    <a:pt x="472315" y="623"/>
                  </a:lnTo>
                  <a:lnTo>
                    <a:pt x="472315" y="89709"/>
                  </a:lnTo>
                  <a:lnTo>
                    <a:pt x="476216" y="81860"/>
                  </a:lnTo>
                  <a:cubicBezTo>
                    <a:pt x="490714" y="65546"/>
                    <a:pt x="506964" y="50876"/>
                    <a:pt x="524671" y="38116"/>
                  </a:cubicBezTo>
                  <a:cubicBezTo>
                    <a:pt x="540249" y="26674"/>
                    <a:pt x="557221" y="17264"/>
                    <a:pt x="575178" y="10111"/>
                  </a:cubicBezTo>
                  <a:cubicBezTo>
                    <a:pt x="578955" y="8633"/>
                    <a:pt x="583256" y="9773"/>
                    <a:pt x="585805" y="12930"/>
                  </a:cubicBezTo>
                  <a:cubicBezTo>
                    <a:pt x="592292" y="6302"/>
                    <a:pt x="600824" y="2055"/>
                    <a:pt x="610023" y="874"/>
                  </a:cubicBezTo>
                  <a:cubicBezTo>
                    <a:pt x="614354" y="306"/>
                    <a:pt x="618718" y="14"/>
                    <a:pt x="623086" y="0"/>
                  </a:cubicBezTo>
                  <a:close/>
                </a:path>
              </a:pathLst>
            </a:custGeom>
            <a:noFill/>
            <a:ln w="25400">
              <a:gradFill flip="none" rotWithShape="1">
                <a:gsLst>
                  <a:gs pos="30000">
                    <a:srgbClr val="2DB4FF"/>
                  </a:gs>
                  <a:gs pos="35000">
                    <a:srgbClr val="2DB4FF"/>
                  </a:gs>
                  <a:gs pos="3000">
                    <a:srgbClr val="0078D4"/>
                  </a:gs>
                  <a:gs pos="52000">
                    <a:srgbClr val="818EFF"/>
                  </a:gs>
                  <a:gs pos="70000">
                    <a:srgbClr val="D660FF"/>
                  </a:gs>
                  <a:gs pos="97000">
                    <a:srgbClr val="FEA87A"/>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mn-ea"/>
                <a:cs typeface="Segoe UI" pitchFamily="34" charset="0"/>
              </a:endParaRPr>
            </a:p>
          </p:txBody>
        </p:sp>
      </p:grpSp>
      <p:cxnSp>
        <p:nvCxnSpPr>
          <p:cNvPr id="18" name="Straight Connector 17">
            <a:extLst>
              <a:ext uri="{FF2B5EF4-FFF2-40B4-BE49-F238E27FC236}">
                <a16:creationId xmlns:a16="http://schemas.microsoft.com/office/drawing/2014/main" id="{DE336E61-E147-04D5-3C34-0F97F6F8223A}"/>
              </a:ext>
              <a:ext uri="{C183D7F6-B498-43B3-948B-1728B52AA6E4}">
                <adec:decorative xmlns:adec="http://schemas.microsoft.com/office/drawing/2017/decorative" val="1"/>
              </a:ext>
            </a:extLst>
          </p:cNvPr>
          <p:cNvCxnSpPr>
            <a:cxnSpLocks/>
          </p:cNvCxnSpPr>
          <p:nvPr/>
        </p:nvCxnSpPr>
        <p:spPr>
          <a:xfrm>
            <a:off x="6085398" y="2019631"/>
            <a:ext cx="0" cy="4243057"/>
          </a:xfrm>
          <a:prstGeom prst="line">
            <a:avLst/>
          </a:prstGeom>
          <a:noFill/>
          <a:ln w="25400">
            <a:gradFill flip="none" rotWithShape="1">
              <a:gsLst>
                <a:gs pos="30000">
                  <a:srgbClr val="2DB4FF"/>
                </a:gs>
                <a:gs pos="35000">
                  <a:srgbClr val="2DB4FF"/>
                </a:gs>
                <a:gs pos="3000">
                  <a:srgbClr val="0078D4"/>
                </a:gs>
                <a:gs pos="52000">
                  <a:srgbClr val="818EFF"/>
                </a:gs>
                <a:gs pos="70000">
                  <a:srgbClr val="D660FF"/>
                </a:gs>
                <a:gs pos="97000">
                  <a:srgbClr val="FEA87A"/>
                </a:gs>
              </a:gsLst>
              <a:lin ang="162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2" name="Footer Placeholder 1">
            <a:extLst>
              <a:ext uri="{FF2B5EF4-FFF2-40B4-BE49-F238E27FC236}">
                <a16:creationId xmlns:a16="http://schemas.microsoft.com/office/drawing/2014/main" id="{380F6E19-53DD-4132-FB1C-8D876208440F}"/>
              </a:ext>
            </a:extLst>
          </p:cNvPr>
          <p:cNvSpPr>
            <a:spLocks noGrp="1"/>
          </p:cNvSpPr>
          <p:nvPr>
            <p:ph type="ftr" sz="quarter" idx="12"/>
          </p:nvPr>
        </p:nvSpPr>
        <p:spPr/>
        <p:txBody>
          <a:bodyPr/>
          <a:lstStyle/>
          <a:p>
            <a:r>
              <a:rPr lang="en-US"/>
              <a:t>Building Customer-Centric Services offers</a:t>
            </a:r>
          </a:p>
        </p:txBody>
      </p:sp>
      <p:sp>
        <p:nvSpPr>
          <p:cNvPr id="3" name="Slide Number Placeholder 2">
            <a:extLst>
              <a:ext uri="{FF2B5EF4-FFF2-40B4-BE49-F238E27FC236}">
                <a16:creationId xmlns:a16="http://schemas.microsoft.com/office/drawing/2014/main" id="{52B23B1B-A4D8-AD2B-5E05-ADA8685EE03F}"/>
              </a:ext>
            </a:extLst>
          </p:cNvPr>
          <p:cNvSpPr>
            <a:spLocks noGrp="1"/>
          </p:cNvSpPr>
          <p:nvPr>
            <p:ph type="sldNum" sz="quarter" idx="13"/>
          </p:nvPr>
        </p:nvSpPr>
        <p:spPr/>
        <p:txBody>
          <a:bodyPr/>
          <a:lstStyle/>
          <a:p>
            <a:fld id="{5763EE98-C176-4152-A50F-E68840BAFA00}" type="slidenum">
              <a:rPr lang="en-US" smtClean="0"/>
              <a:pPr/>
              <a:t>17</a:t>
            </a:fld>
            <a:endParaRPr lang="en-US"/>
          </a:p>
        </p:txBody>
      </p:sp>
    </p:spTree>
    <p:extLst>
      <p:ext uri="{BB962C8B-B14F-4D97-AF65-F5344CB8AC3E}">
        <p14:creationId xmlns:p14="http://schemas.microsoft.com/office/powerpoint/2010/main" val="228955355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3000"/>
            <a:lum/>
          </a:blip>
          <a:srcRect/>
          <a:stretch>
            <a:fillRect t="-39000" b="-39000"/>
          </a:stretch>
        </a:blipFill>
        <a:effectLst/>
      </p:bgPr>
    </p:bg>
    <p:spTree>
      <p:nvGrpSpPr>
        <p:cNvPr id="1" name=""/>
        <p:cNvGrpSpPr/>
        <p:nvPr/>
      </p:nvGrpSpPr>
      <p:grpSpPr>
        <a:xfrm>
          <a:off x="0" y="0"/>
          <a:ext cx="0" cy="0"/>
          <a:chOff x="0" y="0"/>
          <a:chExt cx="0" cy="0"/>
        </a:xfrm>
      </p:grpSpPr>
      <p:sp>
        <p:nvSpPr>
          <p:cNvPr id="38" name="Title 37">
            <a:extLst>
              <a:ext uri="{FF2B5EF4-FFF2-40B4-BE49-F238E27FC236}">
                <a16:creationId xmlns:a16="http://schemas.microsoft.com/office/drawing/2014/main" id="{B4CE0F99-2145-5681-E513-A681FF6AB2AD}"/>
              </a:ext>
            </a:extLst>
          </p:cNvPr>
          <p:cNvSpPr>
            <a:spLocks noGrp="1"/>
          </p:cNvSpPr>
          <p:nvPr>
            <p:ph type="title"/>
          </p:nvPr>
        </p:nvSpPr>
        <p:spPr/>
        <p:txBody>
          <a:bodyPr/>
          <a:lstStyle/>
          <a:p>
            <a:r>
              <a:rPr lang="en-US" noProof="0"/>
              <a:t>Anatomy of the offer: Construct offer pitch</a:t>
            </a:r>
            <a:endParaRPr lang="en-US"/>
          </a:p>
        </p:txBody>
      </p:sp>
      <p:grpSp>
        <p:nvGrpSpPr>
          <p:cNvPr id="9" name="Group 8">
            <a:extLst>
              <a:ext uri="{FF2B5EF4-FFF2-40B4-BE49-F238E27FC236}">
                <a16:creationId xmlns:a16="http://schemas.microsoft.com/office/drawing/2014/main" id="{140E4830-7534-939F-2C5E-CA80B49D7BCF}"/>
              </a:ext>
              <a:ext uri="{C183D7F6-B498-43B3-948B-1728B52AA6E4}">
                <adec:decorative xmlns:adec="http://schemas.microsoft.com/office/drawing/2017/decorative" val="1"/>
              </a:ext>
            </a:extLst>
          </p:cNvPr>
          <p:cNvGrpSpPr/>
          <p:nvPr/>
        </p:nvGrpSpPr>
        <p:grpSpPr>
          <a:xfrm>
            <a:off x="3819751" y="2664195"/>
            <a:ext cx="587047" cy="585216"/>
            <a:chOff x="16265084" y="2588399"/>
            <a:chExt cx="587047" cy="585216"/>
          </a:xfrm>
        </p:grpSpPr>
        <p:sp>
          <p:nvSpPr>
            <p:cNvPr id="10" name="Oval 9">
              <a:extLst>
                <a:ext uri="{FF2B5EF4-FFF2-40B4-BE49-F238E27FC236}">
                  <a16:creationId xmlns:a16="http://schemas.microsoft.com/office/drawing/2014/main" id="{9825BF23-5768-00A3-C5C4-DFEE6B1A3994}"/>
                </a:ext>
              </a:extLst>
            </p:cNvPr>
            <p:cNvSpPr>
              <a:spLocks noChangeAspect="1"/>
            </p:cNvSpPr>
            <p:nvPr/>
          </p:nvSpPr>
          <p:spPr bwMode="auto">
            <a:xfrm>
              <a:off x="16265084" y="2588399"/>
              <a:ext cx="587047" cy="585216"/>
            </a:xfrm>
            <a:prstGeom prst="ellipse">
              <a:avLst/>
            </a:prstGeom>
            <a:gradFill flip="none" rotWithShape="1">
              <a:gsLst>
                <a:gs pos="35000">
                  <a:srgbClr val="2DB4FF"/>
                </a:gs>
                <a:gs pos="70000">
                  <a:srgbClr val="D660FF"/>
                </a:gs>
                <a:gs pos="52000">
                  <a:srgbClr val="818EFF"/>
                </a:gs>
                <a:gs pos="30000">
                  <a:srgbClr val="2DB4FF"/>
                </a:gs>
                <a:gs pos="3000">
                  <a:srgbClr val="0078D4"/>
                </a:gs>
                <a:gs pos="97000">
                  <a:srgbClr val="FEA87A"/>
                </a:gs>
              </a:gsLst>
              <a:lin ang="135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pic>
          <p:nvPicPr>
            <p:cNvPr id="11" name="Graphic 10" descr="Beaker outline">
              <a:extLst>
                <a:ext uri="{FF2B5EF4-FFF2-40B4-BE49-F238E27FC236}">
                  <a16:creationId xmlns:a16="http://schemas.microsoft.com/office/drawing/2014/main" id="{27C5F0F8-48CB-CD6E-BC1B-A9331680BB0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323257" y="2646391"/>
              <a:ext cx="470700" cy="469232"/>
            </a:xfrm>
            <a:prstGeom prst="rect">
              <a:avLst/>
            </a:prstGeom>
          </p:spPr>
        </p:pic>
      </p:grpSp>
      <p:grpSp>
        <p:nvGrpSpPr>
          <p:cNvPr id="12" name="Group 11">
            <a:extLst>
              <a:ext uri="{FF2B5EF4-FFF2-40B4-BE49-F238E27FC236}">
                <a16:creationId xmlns:a16="http://schemas.microsoft.com/office/drawing/2014/main" id="{52463BEF-AC92-090C-58F4-2BC0C12D003E}"/>
              </a:ext>
              <a:ext uri="{C183D7F6-B498-43B3-948B-1728B52AA6E4}">
                <adec:decorative xmlns:adec="http://schemas.microsoft.com/office/drawing/2017/decorative" val="1"/>
              </a:ext>
            </a:extLst>
          </p:cNvPr>
          <p:cNvGrpSpPr/>
          <p:nvPr/>
        </p:nvGrpSpPr>
        <p:grpSpPr>
          <a:xfrm>
            <a:off x="3786909" y="4044817"/>
            <a:ext cx="587047" cy="585216"/>
            <a:chOff x="16231623" y="3728452"/>
            <a:chExt cx="587047" cy="585216"/>
          </a:xfrm>
        </p:grpSpPr>
        <p:sp>
          <p:nvSpPr>
            <p:cNvPr id="13" name="Oval 12">
              <a:extLst>
                <a:ext uri="{FF2B5EF4-FFF2-40B4-BE49-F238E27FC236}">
                  <a16:creationId xmlns:a16="http://schemas.microsoft.com/office/drawing/2014/main" id="{99568AF8-6D6F-5BE3-196F-42D740656563}"/>
                </a:ext>
              </a:extLst>
            </p:cNvPr>
            <p:cNvSpPr>
              <a:spLocks noChangeAspect="1"/>
            </p:cNvSpPr>
            <p:nvPr/>
          </p:nvSpPr>
          <p:spPr bwMode="auto">
            <a:xfrm>
              <a:off x="16231623" y="3728452"/>
              <a:ext cx="587047" cy="585216"/>
            </a:xfrm>
            <a:prstGeom prst="ellipse">
              <a:avLst/>
            </a:prstGeom>
            <a:gradFill flip="none" rotWithShape="1">
              <a:gsLst>
                <a:gs pos="35000">
                  <a:srgbClr val="2DB4FF"/>
                </a:gs>
                <a:gs pos="70000">
                  <a:srgbClr val="D660FF"/>
                </a:gs>
                <a:gs pos="52000">
                  <a:srgbClr val="818EFF"/>
                </a:gs>
                <a:gs pos="30000">
                  <a:srgbClr val="2DB4FF"/>
                </a:gs>
                <a:gs pos="3000">
                  <a:srgbClr val="0078D4"/>
                </a:gs>
                <a:gs pos="97000">
                  <a:srgbClr val="FEA87A"/>
                </a:gs>
              </a:gsLst>
              <a:lin ang="135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pic>
          <p:nvPicPr>
            <p:cNvPr id="14" name="Graphic 13" descr="Handshake outline">
              <a:extLst>
                <a:ext uri="{FF2B5EF4-FFF2-40B4-BE49-F238E27FC236}">
                  <a16:creationId xmlns:a16="http://schemas.microsoft.com/office/drawing/2014/main" id="{D0A366C1-0FC9-82D0-0884-A1F564FC863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6240373" y="3737175"/>
              <a:ext cx="569547" cy="567771"/>
            </a:xfrm>
            <a:prstGeom prst="rect">
              <a:avLst/>
            </a:prstGeom>
          </p:spPr>
        </p:pic>
      </p:grpSp>
      <p:grpSp>
        <p:nvGrpSpPr>
          <p:cNvPr id="15" name="Group 14">
            <a:extLst>
              <a:ext uri="{FF2B5EF4-FFF2-40B4-BE49-F238E27FC236}">
                <a16:creationId xmlns:a16="http://schemas.microsoft.com/office/drawing/2014/main" id="{F2499833-633D-CFAB-0FC3-C67B7629C255}"/>
              </a:ext>
              <a:ext uri="{C183D7F6-B498-43B3-948B-1728B52AA6E4}">
                <adec:decorative xmlns:adec="http://schemas.microsoft.com/office/drawing/2017/decorative" val="1"/>
              </a:ext>
            </a:extLst>
          </p:cNvPr>
          <p:cNvGrpSpPr/>
          <p:nvPr/>
        </p:nvGrpSpPr>
        <p:grpSpPr>
          <a:xfrm>
            <a:off x="3795040" y="5425438"/>
            <a:ext cx="587047" cy="585216"/>
            <a:chOff x="16240373" y="5068339"/>
            <a:chExt cx="587047" cy="585216"/>
          </a:xfrm>
        </p:grpSpPr>
        <p:sp>
          <p:nvSpPr>
            <p:cNvPr id="16" name="Oval 15">
              <a:extLst>
                <a:ext uri="{FF2B5EF4-FFF2-40B4-BE49-F238E27FC236}">
                  <a16:creationId xmlns:a16="http://schemas.microsoft.com/office/drawing/2014/main" id="{950215FE-36E8-9DA2-7C1D-ACB50707B3CC}"/>
                </a:ext>
              </a:extLst>
            </p:cNvPr>
            <p:cNvSpPr>
              <a:spLocks noChangeAspect="1"/>
            </p:cNvSpPr>
            <p:nvPr/>
          </p:nvSpPr>
          <p:spPr bwMode="auto">
            <a:xfrm>
              <a:off x="16240373" y="5068339"/>
              <a:ext cx="587047" cy="585216"/>
            </a:xfrm>
            <a:prstGeom prst="ellipse">
              <a:avLst/>
            </a:prstGeom>
            <a:gradFill flip="none" rotWithShape="1">
              <a:gsLst>
                <a:gs pos="35000">
                  <a:srgbClr val="2DB4FF"/>
                </a:gs>
                <a:gs pos="70000">
                  <a:srgbClr val="D660FF"/>
                </a:gs>
                <a:gs pos="52000">
                  <a:srgbClr val="818EFF"/>
                </a:gs>
                <a:gs pos="30000">
                  <a:srgbClr val="2DB4FF"/>
                </a:gs>
                <a:gs pos="3000">
                  <a:srgbClr val="0078D4"/>
                </a:gs>
                <a:gs pos="97000">
                  <a:srgbClr val="FEA87A"/>
                </a:gs>
              </a:gsLst>
              <a:lin ang="135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pic>
          <p:nvPicPr>
            <p:cNvPr id="17" name="Graphic 16" descr="Rating outline">
              <a:extLst>
                <a:ext uri="{FF2B5EF4-FFF2-40B4-BE49-F238E27FC236}">
                  <a16:creationId xmlns:a16="http://schemas.microsoft.com/office/drawing/2014/main" id="{F437D019-BB71-F69A-AEC4-11471759938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249123" y="5077062"/>
              <a:ext cx="569547" cy="567771"/>
            </a:xfrm>
            <a:prstGeom prst="rect">
              <a:avLst/>
            </a:prstGeom>
          </p:spPr>
        </p:pic>
      </p:grpSp>
      <p:grpSp>
        <p:nvGrpSpPr>
          <p:cNvPr id="18" name="Group 17">
            <a:extLst>
              <a:ext uri="{FF2B5EF4-FFF2-40B4-BE49-F238E27FC236}">
                <a16:creationId xmlns:a16="http://schemas.microsoft.com/office/drawing/2014/main" id="{CF0A0CFC-2946-51CC-4531-C39E09B86104}"/>
              </a:ext>
              <a:ext uri="{C183D7F6-B498-43B3-948B-1728B52AA6E4}">
                <adec:decorative xmlns:adec="http://schemas.microsoft.com/office/drawing/2017/decorative" val="1"/>
              </a:ext>
            </a:extLst>
          </p:cNvPr>
          <p:cNvGrpSpPr/>
          <p:nvPr/>
        </p:nvGrpSpPr>
        <p:grpSpPr>
          <a:xfrm>
            <a:off x="593725" y="2533522"/>
            <a:ext cx="585216" cy="585216"/>
            <a:chOff x="593725" y="2612302"/>
            <a:chExt cx="585216" cy="585216"/>
          </a:xfrm>
        </p:grpSpPr>
        <p:sp>
          <p:nvSpPr>
            <p:cNvPr id="19" name="Oval 18">
              <a:extLst>
                <a:ext uri="{FF2B5EF4-FFF2-40B4-BE49-F238E27FC236}">
                  <a16:creationId xmlns:a16="http://schemas.microsoft.com/office/drawing/2014/main" id="{C7C5771A-82D9-F27E-0C7A-68AEEC77FB88}"/>
                </a:ext>
              </a:extLst>
            </p:cNvPr>
            <p:cNvSpPr>
              <a:spLocks noChangeAspect="1"/>
            </p:cNvSpPr>
            <p:nvPr/>
          </p:nvSpPr>
          <p:spPr bwMode="auto">
            <a:xfrm>
              <a:off x="593725" y="2612302"/>
              <a:ext cx="585216" cy="585216"/>
            </a:xfrm>
            <a:prstGeom prst="ellipse">
              <a:avLst/>
            </a:prstGeom>
            <a:solidFill>
              <a:srgbClr val="2A446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1" name="Modern_workplace">
              <a:extLst>
                <a:ext uri="{FF2B5EF4-FFF2-40B4-BE49-F238E27FC236}">
                  <a16:creationId xmlns:a16="http://schemas.microsoft.com/office/drawing/2014/main" id="{897DF667-6CEC-A239-B763-3DBE0AA53FCF}"/>
                </a:ext>
                <a:ext uri="{C183D7F6-B498-43B3-948B-1728B52AA6E4}">
                  <adec:decorative xmlns:adec="http://schemas.microsoft.com/office/drawing/2017/decorative" val="1"/>
                </a:ext>
              </a:extLst>
            </p:cNvPr>
            <p:cNvSpPr>
              <a:spLocks noChangeAspect="1" noEditPoints="1"/>
            </p:cNvSpPr>
            <p:nvPr/>
          </p:nvSpPr>
          <p:spPr bwMode="auto">
            <a:xfrm>
              <a:off x="703453" y="2712687"/>
              <a:ext cx="365760" cy="354466"/>
            </a:xfrm>
            <a:custGeom>
              <a:avLst/>
              <a:gdLst>
                <a:gd name="T0" fmla="*/ 210 w 584"/>
                <a:gd name="T1" fmla="*/ 515 h 564"/>
                <a:gd name="T2" fmla="*/ 226 w 584"/>
                <a:gd name="T3" fmla="*/ 515 h 564"/>
                <a:gd name="T4" fmla="*/ 239 w 584"/>
                <a:gd name="T5" fmla="*/ 515 h 564"/>
                <a:gd name="T6" fmla="*/ 255 w 584"/>
                <a:gd name="T7" fmla="*/ 515 h 564"/>
                <a:gd name="T8" fmla="*/ 269 w 584"/>
                <a:gd name="T9" fmla="*/ 515 h 564"/>
                <a:gd name="T10" fmla="*/ 285 w 584"/>
                <a:gd name="T11" fmla="*/ 515 h 564"/>
                <a:gd name="T12" fmla="*/ 298 w 584"/>
                <a:gd name="T13" fmla="*/ 515 h 564"/>
                <a:gd name="T14" fmla="*/ 314 w 584"/>
                <a:gd name="T15" fmla="*/ 515 h 564"/>
                <a:gd name="T16" fmla="*/ 328 w 584"/>
                <a:gd name="T17" fmla="*/ 515 h 564"/>
                <a:gd name="T18" fmla="*/ 344 w 584"/>
                <a:gd name="T19" fmla="*/ 515 h 564"/>
                <a:gd name="T20" fmla="*/ 357 w 584"/>
                <a:gd name="T21" fmla="*/ 515 h 564"/>
                <a:gd name="T22" fmla="*/ 373 w 584"/>
                <a:gd name="T23" fmla="*/ 515 h 564"/>
                <a:gd name="T24" fmla="*/ 366 w 584"/>
                <a:gd name="T25" fmla="*/ 247 h 564"/>
                <a:gd name="T26" fmla="*/ 358 w 584"/>
                <a:gd name="T27" fmla="*/ 233 h 564"/>
                <a:gd name="T28" fmla="*/ 372 w 584"/>
                <a:gd name="T29" fmla="*/ 259 h 564"/>
                <a:gd name="T30" fmla="*/ 380 w 584"/>
                <a:gd name="T31" fmla="*/ 273 h 564"/>
                <a:gd name="T32" fmla="*/ 386 w 584"/>
                <a:gd name="T33" fmla="*/ 285 h 564"/>
                <a:gd name="T34" fmla="*/ 393 w 584"/>
                <a:gd name="T35" fmla="*/ 299 h 564"/>
                <a:gd name="T36" fmla="*/ 400 w 584"/>
                <a:gd name="T37" fmla="*/ 311 h 564"/>
                <a:gd name="T38" fmla="*/ 407 w 584"/>
                <a:gd name="T39" fmla="*/ 325 h 564"/>
                <a:gd name="T40" fmla="*/ 414 w 584"/>
                <a:gd name="T41" fmla="*/ 337 h 564"/>
                <a:gd name="T42" fmla="*/ 421 w 584"/>
                <a:gd name="T43" fmla="*/ 351 h 564"/>
                <a:gd name="T44" fmla="*/ 226 w 584"/>
                <a:gd name="T45" fmla="*/ 233 h 564"/>
                <a:gd name="T46" fmla="*/ 218 w 584"/>
                <a:gd name="T47" fmla="*/ 247 h 564"/>
                <a:gd name="T48" fmla="*/ 212 w 584"/>
                <a:gd name="T49" fmla="*/ 259 h 564"/>
                <a:gd name="T50" fmla="*/ 204 w 584"/>
                <a:gd name="T51" fmla="*/ 273 h 564"/>
                <a:gd name="T52" fmla="*/ 198 w 584"/>
                <a:gd name="T53" fmla="*/ 285 h 564"/>
                <a:gd name="T54" fmla="*/ 191 w 584"/>
                <a:gd name="T55" fmla="*/ 299 h 564"/>
                <a:gd name="T56" fmla="*/ 184 w 584"/>
                <a:gd name="T57" fmla="*/ 311 h 564"/>
                <a:gd name="T58" fmla="*/ 177 w 584"/>
                <a:gd name="T59" fmla="*/ 325 h 564"/>
                <a:gd name="T60" fmla="*/ 170 w 584"/>
                <a:gd name="T61" fmla="*/ 337 h 564"/>
                <a:gd name="T62" fmla="*/ 163 w 584"/>
                <a:gd name="T63" fmla="*/ 351 h 564"/>
                <a:gd name="T64" fmla="*/ 239 w 584"/>
                <a:gd name="T65" fmla="*/ 53 h 564"/>
                <a:gd name="T66" fmla="*/ 293 w 584"/>
                <a:gd name="T67" fmla="*/ 105 h 564"/>
                <a:gd name="T68" fmla="*/ 347 w 584"/>
                <a:gd name="T69" fmla="*/ 53 h 564"/>
                <a:gd name="T70" fmla="*/ 293 w 584"/>
                <a:gd name="T71" fmla="*/ 0 h 564"/>
                <a:gd name="T72" fmla="*/ 239 w 584"/>
                <a:gd name="T73" fmla="*/ 53 h 564"/>
                <a:gd name="T74" fmla="*/ 205 w 584"/>
                <a:gd name="T75" fmla="*/ 190 h 564"/>
                <a:gd name="T76" fmla="*/ 292 w 584"/>
                <a:gd name="T77" fmla="*/ 105 h 564"/>
                <a:gd name="T78" fmla="*/ 379 w 584"/>
                <a:gd name="T79" fmla="*/ 190 h 564"/>
                <a:gd name="T80" fmla="*/ 444 w 584"/>
                <a:gd name="T81" fmla="*/ 427 h 564"/>
                <a:gd name="T82" fmla="*/ 498 w 584"/>
                <a:gd name="T83" fmla="*/ 479 h 564"/>
                <a:gd name="T84" fmla="*/ 553 w 584"/>
                <a:gd name="T85" fmla="*/ 427 h 564"/>
                <a:gd name="T86" fmla="*/ 498 w 584"/>
                <a:gd name="T87" fmla="*/ 374 h 564"/>
                <a:gd name="T88" fmla="*/ 444 w 584"/>
                <a:gd name="T89" fmla="*/ 427 h 564"/>
                <a:gd name="T90" fmla="*/ 411 w 584"/>
                <a:gd name="T91" fmla="*/ 564 h 564"/>
                <a:gd name="T92" fmla="*/ 498 w 584"/>
                <a:gd name="T93" fmla="*/ 479 h 564"/>
                <a:gd name="T94" fmla="*/ 584 w 584"/>
                <a:gd name="T95" fmla="*/ 564 h 564"/>
                <a:gd name="T96" fmla="*/ 34 w 584"/>
                <a:gd name="T97" fmla="*/ 427 h 564"/>
                <a:gd name="T98" fmla="*/ 87 w 584"/>
                <a:gd name="T99" fmla="*/ 479 h 564"/>
                <a:gd name="T100" fmla="*/ 142 w 584"/>
                <a:gd name="T101" fmla="*/ 427 h 564"/>
                <a:gd name="T102" fmla="*/ 87 w 584"/>
                <a:gd name="T103" fmla="*/ 374 h 564"/>
                <a:gd name="T104" fmla="*/ 34 w 584"/>
                <a:gd name="T105" fmla="*/ 427 h 564"/>
                <a:gd name="T106" fmla="*/ 0 w 584"/>
                <a:gd name="T107" fmla="*/ 564 h 564"/>
                <a:gd name="T108" fmla="*/ 87 w 584"/>
                <a:gd name="T109" fmla="*/ 479 h 564"/>
                <a:gd name="T110" fmla="*/ 173 w 584"/>
                <a:gd name="T111" fmla="*/ 564 h 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84" h="564">
                  <a:moveTo>
                    <a:pt x="210" y="515"/>
                  </a:moveTo>
                  <a:cubicBezTo>
                    <a:pt x="226" y="515"/>
                    <a:pt x="226" y="515"/>
                    <a:pt x="226" y="515"/>
                  </a:cubicBezTo>
                  <a:moveTo>
                    <a:pt x="239" y="515"/>
                  </a:moveTo>
                  <a:cubicBezTo>
                    <a:pt x="255" y="515"/>
                    <a:pt x="255" y="515"/>
                    <a:pt x="255" y="515"/>
                  </a:cubicBezTo>
                  <a:moveTo>
                    <a:pt x="269" y="515"/>
                  </a:moveTo>
                  <a:cubicBezTo>
                    <a:pt x="285" y="515"/>
                    <a:pt x="285" y="515"/>
                    <a:pt x="285" y="515"/>
                  </a:cubicBezTo>
                  <a:moveTo>
                    <a:pt x="298" y="515"/>
                  </a:moveTo>
                  <a:cubicBezTo>
                    <a:pt x="314" y="515"/>
                    <a:pt x="314" y="515"/>
                    <a:pt x="314" y="515"/>
                  </a:cubicBezTo>
                  <a:moveTo>
                    <a:pt x="328" y="515"/>
                  </a:moveTo>
                  <a:cubicBezTo>
                    <a:pt x="344" y="515"/>
                    <a:pt x="344" y="515"/>
                    <a:pt x="344" y="515"/>
                  </a:cubicBezTo>
                  <a:moveTo>
                    <a:pt x="357" y="515"/>
                  </a:moveTo>
                  <a:cubicBezTo>
                    <a:pt x="373" y="515"/>
                    <a:pt x="373" y="515"/>
                    <a:pt x="373" y="515"/>
                  </a:cubicBezTo>
                  <a:moveTo>
                    <a:pt x="366" y="247"/>
                  </a:moveTo>
                  <a:cubicBezTo>
                    <a:pt x="358" y="233"/>
                    <a:pt x="358" y="233"/>
                    <a:pt x="358" y="233"/>
                  </a:cubicBezTo>
                  <a:moveTo>
                    <a:pt x="372" y="259"/>
                  </a:moveTo>
                  <a:cubicBezTo>
                    <a:pt x="380" y="273"/>
                    <a:pt x="380" y="273"/>
                    <a:pt x="380" y="273"/>
                  </a:cubicBezTo>
                  <a:moveTo>
                    <a:pt x="386" y="285"/>
                  </a:moveTo>
                  <a:cubicBezTo>
                    <a:pt x="393" y="299"/>
                    <a:pt x="393" y="299"/>
                    <a:pt x="393" y="299"/>
                  </a:cubicBezTo>
                  <a:moveTo>
                    <a:pt x="400" y="311"/>
                  </a:moveTo>
                  <a:cubicBezTo>
                    <a:pt x="407" y="325"/>
                    <a:pt x="407" y="325"/>
                    <a:pt x="407" y="325"/>
                  </a:cubicBezTo>
                  <a:moveTo>
                    <a:pt x="414" y="337"/>
                  </a:moveTo>
                  <a:cubicBezTo>
                    <a:pt x="421" y="351"/>
                    <a:pt x="421" y="351"/>
                    <a:pt x="421" y="351"/>
                  </a:cubicBezTo>
                  <a:moveTo>
                    <a:pt x="226" y="233"/>
                  </a:moveTo>
                  <a:cubicBezTo>
                    <a:pt x="218" y="247"/>
                    <a:pt x="218" y="247"/>
                    <a:pt x="218" y="247"/>
                  </a:cubicBezTo>
                  <a:moveTo>
                    <a:pt x="212" y="259"/>
                  </a:moveTo>
                  <a:cubicBezTo>
                    <a:pt x="204" y="273"/>
                    <a:pt x="204" y="273"/>
                    <a:pt x="204" y="273"/>
                  </a:cubicBezTo>
                  <a:moveTo>
                    <a:pt x="198" y="285"/>
                  </a:moveTo>
                  <a:cubicBezTo>
                    <a:pt x="191" y="299"/>
                    <a:pt x="191" y="299"/>
                    <a:pt x="191" y="299"/>
                  </a:cubicBezTo>
                  <a:moveTo>
                    <a:pt x="184" y="311"/>
                  </a:moveTo>
                  <a:cubicBezTo>
                    <a:pt x="177" y="325"/>
                    <a:pt x="177" y="325"/>
                    <a:pt x="177" y="325"/>
                  </a:cubicBezTo>
                  <a:moveTo>
                    <a:pt x="170" y="337"/>
                  </a:moveTo>
                  <a:cubicBezTo>
                    <a:pt x="163" y="351"/>
                    <a:pt x="163" y="351"/>
                    <a:pt x="163" y="351"/>
                  </a:cubicBezTo>
                  <a:moveTo>
                    <a:pt x="239" y="53"/>
                  </a:moveTo>
                  <a:cubicBezTo>
                    <a:pt x="239" y="82"/>
                    <a:pt x="263" y="105"/>
                    <a:pt x="293" y="105"/>
                  </a:cubicBezTo>
                  <a:cubicBezTo>
                    <a:pt x="322" y="105"/>
                    <a:pt x="347" y="82"/>
                    <a:pt x="347" y="53"/>
                  </a:cubicBezTo>
                  <a:cubicBezTo>
                    <a:pt x="347" y="24"/>
                    <a:pt x="322" y="0"/>
                    <a:pt x="293" y="0"/>
                  </a:cubicBezTo>
                  <a:cubicBezTo>
                    <a:pt x="263" y="0"/>
                    <a:pt x="239" y="24"/>
                    <a:pt x="239" y="53"/>
                  </a:cubicBezTo>
                  <a:close/>
                  <a:moveTo>
                    <a:pt x="205" y="190"/>
                  </a:moveTo>
                  <a:cubicBezTo>
                    <a:pt x="205" y="143"/>
                    <a:pt x="244" y="105"/>
                    <a:pt x="292" y="105"/>
                  </a:cubicBezTo>
                  <a:cubicBezTo>
                    <a:pt x="340" y="105"/>
                    <a:pt x="379" y="143"/>
                    <a:pt x="379" y="190"/>
                  </a:cubicBezTo>
                  <a:moveTo>
                    <a:pt x="444" y="427"/>
                  </a:moveTo>
                  <a:cubicBezTo>
                    <a:pt x="444" y="456"/>
                    <a:pt x="469" y="479"/>
                    <a:pt x="498" y="479"/>
                  </a:cubicBezTo>
                  <a:cubicBezTo>
                    <a:pt x="528" y="479"/>
                    <a:pt x="553" y="456"/>
                    <a:pt x="553" y="427"/>
                  </a:cubicBezTo>
                  <a:cubicBezTo>
                    <a:pt x="553" y="398"/>
                    <a:pt x="528" y="374"/>
                    <a:pt x="498" y="374"/>
                  </a:cubicBezTo>
                  <a:cubicBezTo>
                    <a:pt x="469" y="374"/>
                    <a:pt x="444" y="398"/>
                    <a:pt x="444" y="427"/>
                  </a:cubicBezTo>
                  <a:close/>
                  <a:moveTo>
                    <a:pt x="411" y="564"/>
                  </a:moveTo>
                  <a:cubicBezTo>
                    <a:pt x="411" y="517"/>
                    <a:pt x="449" y="479"/>
                    <a:pt x="498" y="479"/>
                  </a:cubicBezTo>
                  <a:cubicBezTo>
                    <a:pt x="546" y="479"/>
                    <a:pt x="584" y="517"/>
                    <a:pt x="584" y="564"/>
                  </a:cubicBezTo>
                  <a:moveTo>
                    <a:pt x="34" y="427"/>
                  </a:moveTo>
                  <a:cubicBezTo>
                    <a:pt x="34" y="456"/>
                    <a:pt x="58" y="479"/>
                    <a:pt x="87" y="479"/>
                  </a:cubicBezTo>
                  <a:cubicBezTo>
                    <a:pt x="117" y="479"/>
                    <a:pt x="142" y="456"/>
                    <a:pt x="142" y="427"/>
                  </a:cubicBezTo>
                  <a:cubicBezTo>
                    <a:pt x="142" y="398"/>
                    <a:pt x="117" y="374"/>
                    <a:pt x="87" y="374"/>
                  </a:cubicBezTo>
                  <a:cubicBezTo>
                    <a:pt x="58" y="374"/>
                    <a:pt x="34" y="398"/>
                    <a:pt x="34" y="427"/>
                  </a:cubicBezTo>
                  <a:close/>
                  <a:moveTo>
                    <a:pt x="0" y="564"/>
                  </a:moveTo>
                  <a:cubicBezTo>
                    <a:pt x="0" y="517"/>
                    <a:pt x="38" y="479"/>
                    <a:pt x="87" y="479"/>
                  </a:cubicBezTo>
                  <a:cubicBezTo>
                    <a:pt x="135" y="479"/>
                    <a:pt x="173" y="517"/>
                    <a:pt x="173" y="564"/>
                  </a:cubicBez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grpSp>
        <p:nvGrpSpPr>
          <p:cNvPr id="23" name="Group 22">
            <a:extLst>
              <a:ext uri="{FF2B5EF4-FFF2-40B4-BE49-F238E27FC236}">
                <a16:creationId xmlns:a16="http://schemas.microsoft.com/office/drawing/2014/main" id="{08E92A9B-FA86-3C49-06B1-48A4CCB032A6}"/>
              </a:ext>
              <a:ext uri="{C183D7F6-B498-43B3-948B-1728B52AA6E4}">
                <adec:decorative xmlns:adec="http://schemas.microsoft.com/office/drawing/2017/decorative" val="1"/>
              </a:ext>
            </a:extLst>
          </p:cNvPr>
          <p:cNvGrpSpPr/>
          <p:nvPr/>
        </p:nvGrpSpPr>
        <p:grpSpPr>
          <a:xfrm>
            <a:off x="593725" y="3538908"/>
            <a:ext cx="585216" cy="585216"/>
            <a:chOff x="593725" y="3538908"/>
            <a:chExt cx="585216" cy="585216"/>
          </a:xfrm>
        </p:grpSpPr>
        <p:sp>
          <p:nvSpPr>
            <p:cNvPr id="25" name="Oval 24">
              <a:extLst>
                <a:ext uri="{FF2B5EF4-FFF2-40B4-BE49-F238E27FC236}">
                  <a16:creationId xmlns:a16="http://schemas.microsoft.com/office/drawing/2014/main" id="{5A1B08D1-EE15-3BBD-CFC6-2927156B5BC6}"/>
                </a:ext>
              </a:extLst>
            </p:cNvPr>
            <p:cNvSpPr>
              <a:spLocks noChangeAspect="1"/>
            </p:cNvSpPr>
            <p:nvPr/>
          </p:nvSpPr>
          <p:spPr bwMode="auto">
            <a:xfrm>
              <a:off x="593725" y="3538908"/>
              <a:ext cx="585216" cy="585216"/>
            </a:xfrm>
            <a:prstGeom prst="ellipse">
              <a:avLst/>
            </a:prstGeom>
            <a:solidFill>
              <a:srgbClr val="2A446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7" name="Touchscreen">
              <a:extLst>
                <a:ext uri="{FF2B5EF4-FFF2-40B4-BE49-F238E27FC236}">
                  <a16:creationId xmlns:a16="http://schemas.microsoft.com/office/drawing/2014/main" id="{59374181-480F-EDB4-8D04-0A5B7729DAAC}"/>
                </a:ext>
                <a:ext uri="{C183D7F6-B498-43B3-948B-1728B52AA6E4}">
                  <adec:decorative xmlns:adec="http://schemas.microsoft.com/office/drawing/2017/decorative" val="1"/>
                </a:ext>
              </a:extLst>
            </p:cNvPr>
            <p:cNvSpPr>
              <a:spLocks noChangeAspect="1" noEditPoints="1"/>
            </p:cNvSpPr>
            <p:nvPr/>
          </p:nvSpPr>
          <p:spPr bwMode="auto">
            <a:xfrm>
              <a:off x="703453" y="3701881"/>
              <a:ext cx="365760" cy="342936"/>
            </a:xfrm>
            <a:custGeom>
              <a:avLst/>
              <a:gdLst>
                <a:gd name="T0" fmla="*/ 1917 w 3772"/>
                <a:gd name="T1" fmla="*/ 1791 h 3535"/>
                <a:gd name="T2" fmla="*/ 1917 w 3772"/>
                <a:gd name="T3" fmla="*/ 1985 h 3535"/>
                <a:gd name="T4" fmla="*/ 1917 w 3772"/>
                <a:gd name="T5" fmla="*/ 1123 h 3535"/>
                <a:gd name="T6" fmla="*/ 1745 w 3772"/>
                <a:gd name="T7" fmla="*/ 951 h 3535"/>
                <a:gd name="T8" fmla="*/ 1573 w 3772"/>
                <a:gd name="T9" fmla="*/ 1123 h 3535"/>
                <a:gd name="T10" fmla="*/ 1573 w 3772"/>
                <a:gd name="T11" fmla="*/ 1135 h 3535"/>
                <a:gd name="T12" fmla="*/ 1573 w 3772"/>
                <a:gd name="T13" fmla="*/ 2527 h 3535"/>
                <a:gd name="T14" fmla="*/ 1469 w 3772"/>
                <a:gd name="T15" fmla="*/ 2569 h 3535"/>
                <a:gd name="T16" fmla="*/ 1282 w 3772"/>
                <a:gd name="T17" fmla="*/ 2383 h 3535"/>
                <a:gd name="T18" fmla="*/ 1023 w 3772"/>
                <a:gd name="T19" fmla="*/ 2383 h 3535"/>
                <a:gd name="T20" fmla="*/ 1023 w 3772"/>
                <a:gd name="T21" fmla="*/ 2641 h 3535"/>
                <a:gd name="T22" fmla="*/ 1659 w 3772"/>
                <a:gd name="T23" fmla="*/ 3277 h 3535"/>
                <a:gd name="T24" fmla="*/ 2262 w 3772"/>
                <a:gd name="T25" fmla="*/ 3535 h 3535"/>
                <a:gd name="T26" fmla="*/ 2951 w 3772"/>
                <a:gd name="T27" fmla="*/ 2846 h 3535"/>
                <a:gd name="T28" fmla="*/ 2951 w 3772"/>
                <a:gd name="T29" fmla="*/ 2184 h 3535"/>
                <a:gd name="T30" fmla="*/ 2820 w 3772"/>
                <a:gd name="T31" fmla="*/ 2017 h 3535"/>
                <a:gd name="T32" fmla="*/ 1917 w 3772"/>
                <a:gd name="T33" fmla="*/ 1791 h 3535"/>
                <a:gd name="T34" fmla="*/ 1917 w 3772"/>
                <a:gd name="T35" fmla="*/ 1123 h 3535"/>
                <a:gd name="T36" fmla="*/ 1917 w 3772"/>
                <a:gd name="T37" fmla="*/ 1602 h 3535"/>
                <a:gd name="T38" fmla="*/ 2254 w 3772"/>
                <a:gd name="T39" fmla="*/ 1123 h 3535"/>
                <a:gd name="T40" fmla="*/ 1744 w 3772"/>
                <a:gd name="T41" fmla="*/ 614 h 3535"/>
                <a:gd name="T42" fmla="*/ 1235 w 3772"/>
                <a:gd name="T43" fmla="*/ 1123 h 3535"/>
                <a:gd name="T44" fmla="*/ 1573 w 3772"/>
                <a:gd name="T45" fmla="*/ 1603 h 3535"/>
                <a:gd name="T46" fmla="*/ 2951 w 3772"/>
                <a:gd name="T47" fmla="*/ 2672 h 3535"/>
                <a:gd name="T48" fmla="*/ 3657 w 3772"/>
                <a:gd name="T49" fmla="*/ 2672 h 3535"/>
                <a:gd name="T50" fmla="*/ 3772 w 3772"/>
                <a:gd name="T51" fmla="*/ 2557 h 3535"/>
                <a:gd name="T52" fmla="*/ 3772 w 3772"/>
                <a:gd name="T53" fmla="*/ 115 h 3535"/>
                <a:gd name="T54" fmla="*/ 3657 w 3772"/>
                <a:gd name="T55" fmla="*/ 0 h 3535"/>
                <a:gd name="T56" fmla="*/ 115 w 3772"/>
                <a:gd name="T57" fmla="*/ 0 h 3535"/>
                <a:gd name="T58" fmla="*/ 0 w 3772"/>
                <a:gd name="T59" fmla="*/ 115 h 3535"/>
                <a:gd name="T60" fmla="*/ 0 w 3772"/>
                <a:gd name="T61" fmla="*/ 2557 h 3535"/>
                <a:gd name="T62" fmla="*/ 115 w 3772"/>
                <a:gd name="T63" fmla="*/ 2672 h 3535"/>
                <a:gd name="T64" fmla="*/ 1054 w 3772"/>
                <a:gd name="T65" fmla="*/ 2672 h 3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72" h="3535">
                  <a:moveTo>
                    <a:pt x="1917" y="1791"/>
                  </a:moveTo>
                  <a:cubicBezTo>
                    <a:pt x="1917" y="1985"/>
                    <a:pt x="1917" y="1985"/>
                    <a:pt x="1917" y="1985"/>
                  </a:cubicBezTo>
                  <a:moveTo>
                    <a:pt x="1917" y="1123"/>
                  </a:moveTo>
                  <a:cubicBezTo>
                    <a:pt x="1917" y="1028"/>
                    <a:pt x="1840" y="951"/>
                    <a:pt x="1745" y="951"/>
                  </a:cubicBezTo>
                  <a:cubicBezTo>
                    <a:pt x="1650" y="951"/>
                    <a:pt x="1573" y="1028"/>
                    <a:pt x="1573" y="1123"/>
                  </a:cubicBezTo>
                  <a:cubicBezTo>
                    <a:pt x="1573" y="1123"/>
                    <a:pt x="1573" y="1127"/>
                    <a:pt x="1573" y="1135"/>
                  </a:cubicBezTo>
                  <a:cubicBezTo>
                    <a:pt x="1573" y="1252"/>
                    <a:pt x="1573" y="2194"/>
                    <a:pt x="1573" y="2527"/>
                  </a:cubicBezTo>
                  <a:cubicBezTo>
                    <a:pt x="1573" y="2581"/>
                    <a:pt x="1507" y="2608"/>
                    <a:pt x="1469" y="2569"/>
                  </a:cubicBezTo>
                  <a:cubicBezTo>
                    <a:pt x="1282" y="2383"/>
                    <a:pt x="1282" y="2383"/>
                    <a:pt x="1282" y="2383"/>
                  </a:cubicBezTo>
                  <a:cubicBezTo>
                    <a:pt x="1210" y="2311"/>
                    <a:pt x="1095" y="2311"/>
                    <a:pt x="1023" y="2383"/>
                  </a:cubicBezTo>
                  <a:cubicBezTo>
                    <a:pt x="952" y="2454"/>
                    <a:pt x="952" y="2570"/>
                    <a:pt x="1023" y="2641"/>
                  </a:cubicBezTo>
                  <a:cubicBezTo>
                    <a:pt x="1659" y="3277"/>
                    <a:pt x="1659" y="3277"/>
                    <a:pt x="1659" y="3277"/>
                  </a:cubicBezTo>
                  <a:cubicBezTo>
                    <a:pt x="1813" y="3436"/>
                    <a:pt x="2026" y="3535"/>
                    <a:pt x="2262" y="3535"/>
                  </a:cubicBezTo>
                  <a:cubicBezTo>
                    <a:pt x="2643" y="3535"/>
                    <a:pt x="2951" y="3227"/>
                    <a:pt x="2951" y="2846"/>
                  </a:cubicBezTo>
                  <a:cubicBezTo>
                    <a:pt x="2951" y="2184"/>
                    <a:pt x="2951" y="2184"/>
                    <a:pt x="2951" y="2184"/>
                  </a:cubicBezTo>
                  <a:cubicBezTo>
                    <a:pt x="2951" y="2105"/>
                    <a:pt x="2897" y="2036"/>
                    <a:pt x="2820" y="2017"/>
                  </a:cubicBezTo>
                  <a:cubicBezTo>
                    <a:pt x="1917" y="1791"/>
                    <a:pt x="1917" y="1791"/>
                    <a:pt x="1917" y="1791"/>
                  </a:cubicBezTo>
                  <a:lnTo>
                    <a:pt x="1917" y="1123"/>
                  </a:lnTo>
                  <a:close/>
                  <a:moveTo>
                    <a:pt x="1917" y="1602"/>
                  </a:moveTo>
                  <a:cubicBezTo>
                    <a:pt x="2114" y="1532"/>
                    <a:pt x="2254" y="1344"/>
                    <a:pt x="2254" y="1123"/>
                  </a:cubicBezTo>
                  <a:cubicBezTo>
                    <a:pt x="2254" y="842"/>
                    <a:pt x="2026" y="614"/>
                    <a:pt x="1744" y="614"/>
                  </a:cubicBezTo>
                  <a:cubicBezTo>
                    <a:pt x="1463" y="614"/>
                    <a:pt x="1235" y="842"/>
                    <a:pt x="1235" y="1123"/>
                  </a:cubicBezTo>
                  <a:cubicBezTo>
                    <a:pt x="1235" y="1344"/>
                    <a:pt x="1376" y="1532"/>
                    <a:pt x="1573" y="1603"/>
                  </a:cubicBezTo>
                  <a:moveTo>
                    <a:pt x="2951" y="2672"/>
                  </a:moveTo>
                  <a:cubicBezTo>
                    <a:pt x="3657" y="2672"/>
                    <a:pt x="3657" y="2672"/>
                    <a:pt x="3657" y="2672"/>
                  </a:cubicBezTo>
                  <a:cubicBezTo>
                    <a:pt x="3720" y="2672"/>
                    <a:pt x="3772" y="2621"/>
                    <a:pt x="3772" y="2557"/>
                  </a:cubicBezTo>
                  <a:cubicBezTo>
                    <a:pt x="3772" y="115"/>
                    <a:pt x="3772" y="115"/>
                    <a:pt x="3772" y="115"/>
                  </a:cubicBezTo>
                  <a:cubicBezTo>
                    <a:pt x="3772" y="51"/>
                    <a:pt x="3720" y="0"/>
                    <a:pt x="3657" y="0"/>
                  </a:cubicBezTo>
                  <a:cubicBezTo>
                    <a:pt x="115" y="0"/>
                    <a:pt x="115" y="0"/>
                    <a:pt x="115" y="0"/>
                  </a:cubicBezTo>
                  <a:cubicBezTo>
                    <a:pt x="51" y="0"/>
                    <a:pt x="0" y="51"/>
                    <a:pt x="0" y="115"/>
                  </a:cubicBezTo>
                  <a:cubicBezTo>
                    <a:pt x="0" y="2557"/>
                    <a:pt x="0" y="2557"/>
                    <a:pt x="0" y="2557"/>
                  </a:cubicBezTo>
                  <a:cubicBezTo>
                    <a:pt x="0" y="2621"/>
                    <a:pt x="51" y="2672"/>
                    <a:pt x="115" y="2672"/>
                  </a:cubicBezTo>
                  <a:cubicBezTo>
                    <a:pt x="1054" y="2672"/>
                    <a:pt x="1054" y="2672"/>
                    <a:pt x="1054" y="2672"/>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grpSp>
        <p:nvGrpSpPr>
          <p:cNvPr id="28" name="Group 27">
            <a:extLst>
              <a:ext uri="{FF2B5EF4-FFF2-40B4-BE49-F238E27FC236}">
                <a16:creationId xmlns:a16="http://schemas.microsoft.com/office/drawing/2014/main" id="{136B3208-B3F9-9B0F-1C83-845B0F31AE5A}"/>
              </a:ext>
              <a:ext uri="{C183D7F6-B498-43B3-948B-1728B52AA6E4}">
                <adec:decorative xmlns:adec="http://schemas.microsoft.com/office/drawing/2017/decorative" val="1"/>
              </a:ext>
            </a:extLst>
          </p:cNvPr>
          <p:cNvGrpSpPr/>
          <p:nvPr/>
        </p:nvGrpSpPr>
        <p:grpSpPr>
          <a:xfrm>
            <a:off x="593725" y="4544294"/>
            <a:ext cx="585216" cy="585216"/>
            <a:chOff x="593725" y="4518133"/>
            <a:chExt cx="585216" cy="585216"/>
          </a:xfrm>
        </p:grpSpPr>
        <p:sp>
          <p:nvSpPr>
            <p:cNvPr id="29" name="Oval 28">
              <a:extLst>
                <a:ext uri="{FF2B5EF4-FFF2-40B4-BE49-F238E27FC236}">
                  <a16:creationId xmlns:a16="http://schemas.microsoft.com/office/drawing/2014/main" id="{FA3C53E5-4D82-BC4F-43CB-56704195C344}"/>
                </a:ext>
              </a:extLst>
            </p:cNvPr>
            <p:cNvSpPr>
              <a:spLocks noChangeAspect="1"/>
            </p:cNvSpPr>
            <p:nvPr/>
          </p:nvSpPr>
          <p:spPr bwMode="auto">
            <a:xfrm>
              <a:off x="593725" y="4518133"/>
              <a:ext cx="585216" cy="585216"/>
            </a:xfrm>
            <a:prstGeom prst="ellipse">
              <a:avLst/>
            </a:prstGeom>
            <a:solidFill>
              <a:srgbClr val="2A446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0" name="arrow_11">
              <a:extLst>
                <a:ext uri="{FF2B5EF4-FFF2-40B4-BE49-F238E27FC236}">
                  <a16:creationId xmlns:a16="http://schemas.microsoft.com/office/drawing/2014/main" id="{DF23B2F7-96D0-4FF0-DA94-5D9D44B8FD95}"/>
                </a:ext>
                <a:ext uri="{C183D7F6-B498-43B3-948B-1728B52AA6E4}">
                  <adec:decorative xmlns:adec="http://schemas.microsoft.com/office/drawing/2017/decorative" val="1"/>
                </a:ext>
              </a:extLst>
            </p:cNvPr>
            <p:cNvSpPr>
              <a:spLocks noChangeAspect="1" noEditPoints="1"/>
            </p:cNvSpPr>
            <p:nvPr/>
          </p:nvSpPr>
          <p:spPr bwMode="auto">
            <a:xfrm>
              <a:off x="711269" y="4627861"/>
              <a:ext cx="350129" cy="365760"/>
            </a:xfrm>
            <a:custGeom>
              <a:avLst/>
              <a:gdLst>
                <a:gd name="T0" fmla="*/ 310 w 310"/>
                <a:gd name="T1" fmla="*/ 199 h 322"/>
                <a:gd name="T2" fmla="*/ 154 w 310"/>
                <a:gd name="T3" fmla="*/ 322 h 322"/>
                <a:gd name="T4" fmla="*/ 1 w 310"/>
                <a:gd name="T5" fmla="*/ 211 h 322"/>
                <a:gd name="T6" fmla="*/ 304 w 310"/>
                <a:gd name="T7" fmla="*/ 104 h 322"/>
                <a:gd name="T8" fmla="*/ 154 w 310"/>
                <a:gd name="T9" fmla="*/ 0 h 322"/>
                <a:gd name="T10" fmla="*/ 0 w 310"/>
                <a:gd name="T11" fmla="*/ 114 h 322"/>
                <a:gd name="T12" fmla="*/ 299 w 310"/>
                <a:gd name="T13" fmla="*/ 104 h 322"/>
                <a:gd name="T14" fmla="*/ 230 w 310"/>
                <a:gd name="T15" fmla="*/ 104 h 322"/>
                <a:gd name="T16" fmla="*/ 295 w 310"/>
                <a:gd name="T17" fmla="*/ 104 h 322"/>
                <a:gd name="T18" fmla="*/ 304 w 310"/>
                <a:gd name="T19" fmla="*/ 104 h 322"/>
                <a:gd name="T20" fmla="*/ 304 w 310"/>
                <a:gd name="T21" fmla="*/ 29 h 322"/>
                <a:gd name="T22" fmla="*/ 9 w 310"/>
                <a:gd name="T23" fmla="*/ 211 h 322"/>
                <a:gd name="T24" fmla="*/ 75 w 310"/>
                <a:gd name="T25" fmla="*/ 211 h 322"/>
                <a:gd name="T26" fmla="*/ 9 w 310"/>
                <a:gd name="T27" fmla="*/ 211 h 322"/>
                <a:gd name="T28" fmla="*/ 1 w 310"/>
                <a:gd name="T29" fmla="*/ 211 h 322"/>
                <a:gd name="T30" fmla="*/ 1 w 310"/>
                <a:gd name="T31" fmla="*/ 286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0" h="322">
                  <a:moveTo>
                    <a:pt x="310" y="199"/>
                  </a:moveTo>
                  <a:cubicBezTo>
                    <a:pt x="293" y="270"/>
                    <a:pt x="229" y="322"/>
                    <a:pt x="154" y="322"/>
                  </a:cubicBezTo>
                  <a:cubicBezTo>
                    <a:pt x="83" y="322"/>
                    <a:pt x="22" y="275"/>
                    <a:pt x="1" y="211"/>
                  </a:cubicBezTo>
                  <a:moveTo>
                    <a:pt x="304" y="104"/>
                  </a:moveTo>
                  <a:cubicBezTo>
                    <a:pt x="281" y="43"/>
                    <a:pt x="223" y="0"/>
                    <a:pt x="154" y="0"/>
                  </a:cubicBezTo>
                  <a:cubicBezTo>
                    <a:pt x="82" y="0"/>
                    <a:pt x="20" y="48"/>
                    <a:pt x="0" y="114"/>
                  </a:cubicBezTo>
                  <a:moveTo>
                    <a:pt x="299" y="104"/>
                  </a:moveTo>
                  <a:cubicBezTo>
                    <a:pt x="230" y="104"/>
                    <a:pt x="230" y="104"/>
                    <a:pt x="230" y="104"/>
                  </a:cubicBezTo>
                  <a:moveTo>
                    <a:pt x="295" y="104"/>
                  </a:moveTo>
                  <a:cubicBezTo>
                    <a:pt x="304" y="104"/>
                    <a:pt x="304" y="104"/>
                    <a:pt x="304" y="104"/>
                  </a:cubicBezTo>
                  <a:cubicBezTo>
                    <a:pt x="304" y="29"/>
                    <a:pt x="304" y="29"/>
                    <a:pt x="304" y="29"/>
                  </a:cubicBezTo>
                  <a:moveTo>
                    <a:pt x="9" y="211"/>
                  </a:moveTo>
                  <a:cubicBezTo>
                    <a:pt x="75" y="211"/>
                    <a:pt x="75" y="211"/>
                    <a:pt x="75" y="211"/>
                  </a:cubicBezTo>
                  <a:moveTo>
                    <a:pt x="9" y="211"/>
                  </a:moveTo>
                  <a:cubicBezTo>
                    <a:pt x="1" y="211"/>
                    <a:pt x="1" y="211"/>
                    <a:pt x="1" y="211"/>
                  </a:cubicBezTo>
                  <a:cubicBezTo>
                    <a:pt x="1" y="286"/>
                    <a:pt x="1" y="286"/>
                    <a:pt x="1" y="286"/>
                  </a:cubicBezTo>
                </a:path>
              </a:pathLst>
            </a:custGeom>
            <a:noFill/>
            <a:ln w="15875" cap="sq">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grpSp>
        <p:nvGrpSpPr>
          <p:cNvPr id="31" name="Group 30">
            <a:extLst>
              <a:ext uri="{FF2B5EF4-FFF2-40B4-BE49-F238E27FC236}">
                <a16:creationId xmlns:a16="http://schemas.microsoft.com/office/drawing/2014/main" id="{B70E18A2-E78C-934D-F41A-B0A3B81FCB7C}"/>
              </a:ext>
              <a:ext uri="{C183D7F6-B498-43B3-948B-1728B52AA6E4}">
                <adec:decorative xmlns:adec="http://schemas.microsoft.com/office/drawing/2017/decorative" val="1"/>
              </a:ext>
            </a:extLst>
          </p:cNvPr>
          <p:cNvGrpSpPr/>
          <p:nvPr/>
        </p:nvGrpSpPr>
        <p:grpSpPr>
          <a:xfrm>
            <a:off x="593725" y="5549680"/>
            <a:ext cx="585216" cy="585216"/>
            <a:chOff x="593725" y="5510838"/>
            <a:chExt cx="585216" cy="585216"/>
          </a:xfrm>
        </p:grpSpPr>
        <p:sp>
          <p:nvSpPr>
            <p:cNvPr id="33" name="Oval 32">
              <a:extLst>
                <a:ext uri="{FF2B5EF4-FFF2-40B4-BE49-F238E27FC236}">
                  <a16:creationId xmlns:a16="http://schemas.microsoft.com/office/drawing/2014/main" id="{6FB908DD-AE5E-CFA6-CCD0-753BB17975CB}"/>
                </a:ext>
              </a:extLst>
            </p:cNvPr>
            <p:cNvSpPr>
              <a:spLocks noChangeAspect="1"/>
            </p:cNvSpPr>
            <p:nvPr/>
          </p:nvSpPr>
          <p:spPr bwMode="auto">
            <a:xfrm>
              <a:off x="593725" y="5510838"/>
              <a:ext cx="585216" cy="585216"/>
            </a:xfrm>
            <a:prstGeom prst="ellipse">
              <a:avLst/>
            </a:prstGeom>
            <a:solidFill>
              <a:srgbClr val="2A446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4" name="Shield_EA18" title="Icon of a shield">
              <a:extLst>
                <a:ext uri="{FF2B5EF4-FFF2-40B4-BE49-F238E27FC236}">
                  <a16:creationId xmlns:a16="http://schemas.microsoft.com/office/drawing/2014/main" id="{26B56D7E-D7BF-422E-1A0D-9C175A5A9207}"/>
                </a:ext>
              </a:extLst>
            </p:cNvPr>
            <p:cNvSpPr>
              <a:spLocks noChangeAspect="1"/>
            </p:cNvSpPr>
            <p:nvPr/>
          </p:nvSpPr>
          <p:spPr bwMode="auto">
            <a:xfrm>
              <a:off x="714561" y="5643051"/>
              <a:ext cx="343544" cy="365760"/>
            </a:xfrm>
            <a:custGeom>
              <a:avLst/>
              <a:gdLst>
                <a:gd name="T0" fmla="*/ 3500 w 3500"/>
                <a:gd name="T1" fmla="*/ 1375 h 3725"/>
                <a:gd name="T2" fmla="*/ 1750 w 3500"/>
                <a:gd name="T3" fmla="*/ 3725 h 3725"/>
                <a:gd name="T4" fmla="*/ 0 w 3500"/>
                <a:gd name="T5" fmla="*/ 1375 h 3725"/>
                <a:gd name="T6" fmla="*/ 0 w 3500"/>
                <a:gd name="T7" fmla="*/ 500 h 3725"/>
                <a:gd name="T8" fmla="*/ 1125 w 3500"/>
                <a:gd name="T9" fmla="*/ 187 h 3725"/>
                <a:gd name="T10" fmla="*/ 1750 w 3500"/>
                <a:gd name="T11" fmla="*/ 0 h 3725"/>
                <a:gd name="T12" fmla="*/ 2375 w 3500"/>
                <a:gd name="T13" fmla="*/ 187 h 3725"/>
                <a:gd name="T14" fmla="*/ 3500 w 3500"/>
                <a:gd name="T15" fmla="*/ 500 h 3725"/>
                <a:gd name="T16" fmla="*/ 3500 w 3500"/>
                <a:gd name="T17" fmla="*/ 1375 h 3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0" h="3725">
                  <a:moveTo>
                    <a:pt x="3500" y="1375"/>
                  </a:moveTo>
                  <a:cubicBezTo>
                    <a:pt x="3500" y="2302"/>
                    <a:pt x="2831" y="3117"/>
                    <a:pt x="1750" y="3725"/>
                  </a:cubicBezTo>
                  <a:cubicBezTo>
                    <a:pt x="669" y="3117"/>
                    <a:pt x="0" y="2302"/>
                    <a:pt x="0" y="1375"/>
                  </a:cubicBezTo>
                  <a:cubicBezTo>
                    <a:pt x="0" y="500"/>
                    <a:pt x="0" y="500"/>
                    <a:pt x="0" y="500"/>
                  </a:cubicBezTo>
                  <a:cubicBezTo>
                    <a:pt x="440" y="500"/>
                    <a:pt x="837" y="380"/>
                    <a:pt x="1125" y="187"/>
                  </a:cubicBezTo>
                  <a:cubicBezTo>
                    <a:pt x="1285" y="71"/>
                    <a:pt x="1506" y="0"/>
                    <a:pt x="1750" y="0"/>
                  </a:cubicBezTo>
                  <a:cubicBezTo>
                    <a:pt x="1994" y="0"/>
                    <a:pt x="2215" y="71"/>
                    <a:pt x="2375" y="187"/>
                  </a:cubicBezTo>
                  <a:cubicBezTo>
                    <a:pt x="2663" y="380"/>
                    <a:pt x="3060" y="500"/>
                    <a:pt x="3500" y="500"/>
                  </a:cubicBezTo>
                  <a:lnTo>
                    <a:pt x="3500" y="1375"/>
                  </a:lnTo>
                  <a:close/>
                </a:path>
              </a:pathLst>
            </a:custGeom>
            <a:noFill/>
            <a:ln w="15875" cap="sq">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737373"/>
                </a:solidFill>
                <a:effectLst/>
                <a:uLnTx/>
                <a:uFillTx/>
                <a:latin typeface="Segoe UI"/>
                <a:ea typeface="+mn-ea"/>
                <a:cs typeface="+mn-cs"/>
              </a:endParaRPr>
            </a:p>
          </p:txBody>
        </p:sp>
      </p:grpSp>
      <p:sp>
        <p:nvSpPr>
          <p:cNvPr id="35" name="Content Placeholder 39">
            <a:extLst>
              <a:ext uri="{FF2B5EF4-FFF2-40B4-BE49-F238E27FC236}">
                <a16:creationId xmlns:a16="http://schemas.microsoft.com/office/drawing/2014/main" id="{511A168E-CE95-E441-7F4F-C5D511551ACC}"/>
              </a:ext>
            </a:extLst>
          </p:cNvPr>
          <p:cNvSpPr txBox="1">
            <a:spLocks/>
          </p:cNvSpPr>
          <p:nvPr/>
        </p:nvSpPr>
        <p:spPr>
          <a:xfrm>
            <a:off x="4521408" y="2408163"/>
            <a:ext cx="1574592" cy="1097280"/>
          </a:xfrm>
          <a:prstGeom prst="rect">
            <a:avLst/>
          </a:prstGeom>
        </p:spPr>
        <p:txBody>
          <a:bodyPr anchor="ctr" anchorCtr="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latin typeface="+mj-lt"/>
              </a:rPr>
              <a:t>Short description</a:t>
            </a:r>
            <a:br>
              <a:rPr lang="en-US" sz="1400" dirty="0">
                <a:latin typeface="+mj-lt"/>
              </a:rPr>
            </a:br>
            <a:r>
              <a:rPr lang="en-US" sz="1400" dirty="0">
                <a:latin typeface="+mj-lt"/>
              </a:rPr>
              <a:t>of your offer</a:t>
            </a:r>
          </a:p>
        </p:txBody>
      </p:sp>
      <p:sp>
        <p:nvSpPr>
          <p:cNvPr id="36" name="Content Placeholder 40">
            <a:extLst>
              <a:ext uri="{FF2B5EF4-FFF2-40B4-BE49-F238E27FC236}">
                <a16:creationId xmlns:a16="http://schemas.microsoft.com/office/drawing/2014/main" id="{DFA5936D-A5D7-D72E-9A72-99774119E4AC}"/>
              </a:ext>
            </a:extLst>
          </p:cNvPr>
          <p:cNvSpPr txBox="1">
            <a:spLocks/>
          </p:cNvSpPr>
          <p:nvPr/>
        </p:nvSpPr>
        <p:spPr>
          <a:xfrm>
            <a:off x="7025633" y="2410078"/>
            <a:ext cx="4588910" cy="3852610"/>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a:latin typeface="+mj-lt"/>
              </a:rPr>
              <a:t>Consider services that: </a:t>
            </a:r>
          </a:p>
          <a:p>
            <a:pPr marL="173736" lvl="1" indent="-173736">
              <a:spcBef>
                <a:spcPts val="0"/>
              </a:spcBef>
              <a:spcAft>
                <a:spcPts val="300"/>
              </a:spcAft>
              <a:buFont typeface="+mj-lt"/>
              <a:buAutoNum type="arabicPeriod"/>
            </a:pPr>
            <a:r>
              <a:rPr lang="en-US" sz="1300">
                <a:latin typeface="+mj-lt"/>
              </a:rPr>
              <a:t>Inspire quick wins and continue driving Copilot adoption: </a:t>
            </a:r>
            <a:r>
              <a:rPr lang="en-US" sz="1300"/>
              <a:t>Begin with the basics, build foundational skills, and help customers get value out of the box.</a:t>
            </a:r>
          </a:p>
          <a:p>
            <a:pPr marL="173736" lvl="1" indent="-173736">
              <a:spcBef>
                <a:spcPts val="0"/>
              </a:spcBef>
              <a:spcAft>
                <a:spcPts val="300"/>
              </a:spcAft>
              <a:buFont typeface="+mj-lt"/>
              <a:buAutoNum type="arabicPeriod"/>
            </a:pPr>
            <a:r>
              <a:rPr lang="en-US" sz="1300">
                <a:latin typeface="+mj-lt"/>
              </a:rPr>
              <a:t>Expand Copilot usage to business functions and role-based use cases: </a:t>
            </a:r>
            <a:r>
              <a:rPr lang="en-US" sz="1300"/>
              <a:t>Move beyond basic skills and grow value by optimizing functional processes and impacting role-based metrics with Copilot.</a:t>
            </a:r>
          </a:p>
          <a:p>
            <a:pPr marL="173736" lvl="1" indent="-173736">
              <a:spcBef>
                <a:spcPts val="0"/>
              </a:spcBef>
              <a:spcAft>
                <a:spcPts val="300"/>
              </a:spcAft>
              <a:buFont typeface="+mj-lt"/>
              <a:buAutoNum type="arabicPeriod"/>
            </a:pPr>
            <a:r>
              <a:rPr lang="en-US" sz="1300">
                <a:latin typeface="+mj-lt"/>
              </a:rPr>
              <a:t>Tailor data, systems, and workflows through extensions and build custom AI capabilities: </a:t>
            </a:r>
            <a:r>
              <a:rPr lang="en-US" sz="1300"/>
              <a:t>Extend Copilot to enable the identified scenarios tailored to specific roles and personalize generative AI experiences.</a:t>
            </a:r>
          </a:p>
          <a:p>
            <a:pPr marL="173736" lvl="1" indent="-173736">
              <a:spcBef>
                <a:spcPts val="0"/>
              </a:spcBef>
              <a:spcAft>
                <a:spcPts val="300"/>
              </a:spcAft>
              <a:buFont typeface="+mj-lt"/>
              <a:buAutoNum type="arabicPeriod"/>
            </a:pPr>
            <a:r>
              <a:rPr lang="en-US" sz="1300">
                <a:latin typeface="+mj-lt"/>
              </a:rPr>
              <a:t>Drive customer adoption and change management across the organization: </a:t>
            </a:r>
            <a:r>
              <a:rPr lang="en-US" sz="1300"/>
              <a:t>Scale adoption of new use cases across the organization, prioritizing training and continuous improvement around business functions and role-based metrics.</a:t>
            </a:r>
          </a:p>
          <a:p>
            <a:endParaRPr lang="en-US" sz="1400"/>
          </a:p>
        </p:txBody>
      </p:sp>
      <p:sp>
        <p:nvSpPr>
          <p:cNvPr id="39" name="Subtitle 1">
            <a:extLst>
              <a:ext uri="{FF2B5EF4-FFF2-40B4-BE49-F238E27FC236}">
                <a16:creationId xmlns:a16="http://schemas.microsoft.com/office/drawing/2014/main" id="{E5FD131A-2CC4-64FC-322D-2CF85CACE8C6}"/>
              </a:ext>
            </a:extLst>
          </p:cNvPr>
          <p:cNvSpPr txBox="1">
            <a:spLocks/>
          </p:cNvSpPr>
          <p:nvPr/>
        </p:nvSpPr>
        <p:spPr>
          <a:xfrm>
            <a:off x="593725" y="1096328"/>
            <a:ext cx="10612831" cy="901981"/>
          </a:xfrm>
          <a:prstGeom prst="rect">
            <a:avLst/>
          </a:prstGeom>
        </p:spPr>
        <p:txBody>
          <a:bodyPr lIns="0" tIns="0" rIns="0" bIns="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dirty="0"/>
              <a:t>Summarize your narrative that best describes the services and IP required to deliver on the core pillars of the </a:t>
            </a:r>
            <a:r>
              <a:rPr lang="en-US" sz="1800" dirty="0">
                <a:ln w="3175">
                  <a:noFill/>
                </a:ln>
                <a:solidFill>
                  <a:schemeClr val="accent4"/>
                </a:solidFill>
                <a:latin typeface="Segoe UI Semibold"/>
                <a:cs typeface="Segoe UI" panose="020B0502040204020203" pitchFamily="34" charset="0"/>
              </a:rPr>
              <a:t>Microsoft 365 Copilot </a:t>
            </a:r>
            <a:r>
              <a:rPr lang="en-US" sz="1800" dirty="0"/>
              <a:t>Solution Play. Think about the transformative value of expanding your Copilot offers to accommodate functional scenarios and business KPIs.</a:t>
            </a:r>
          </a:p>
        </p:txBody>
      </p:sp>
      <p:sp>
        <p:nvSpPr>
          <p:cNvPr id="47" name="Content Placeholder 36">
            <a:extLst>
              <a:ext uri="{FF2B5EF4-FFF2-40B4-BE49-F238E27FC236}">
                <a16:creationId xmlns:a16="http://schemas.microsoft.com/office/drawing/2014/main" id="{278124F5-2B0C-8855-2225-EA3DB2D0B9EC}"/>
              </a:ext>
            </a:extLst>
          </p:cNvPr>
          <p:cNvSpPr txBox="1">
            <a:spLocks/>
          </p:cNvSpPr>
          <p:nvPr/>
        </p:nvSpPr>
        <p:spPr>
          <a:xfrm>
            <a:off x="1197000" y="2453261"/>
            <a:ext cx="1726182" cy="832104"/>
          </a:xfrm>
          <a:prstGeom prst="rect">
            <a:avLst/>
          </a:prstGeom>
        </p:spPr>
        <p:txBody>
          <a:bodyPr anchor="ctr" anchorCtr="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latin typeface="+mj-lt"/>
              </a:rPr>
              <a:t>AI and Copilot advisory</a:t>
            </a:r>
          </a:p>
        </p:txBody>
      </p:sp>
      <p:sp>
        <p:nvSpPr>
          <p:cNvPr id="48" name="Arrow: Chevron 47">
            <a:extLst>
              <a:ext uri="{FF2B5EF4-FFF2-40B4-BE49-F238E27FC236}">
                <a16:creationId xmlns:a16="http://schemas.microsoft.com/office/drawing/2014/main" id="{C268C5A1-2908-30E8-45AC-9083748AD731}"/>
              </a:ext>
              <a:ext uri="{C183D7F6-B498-43B3-948B-1728B52AA6E4}">
                <adec:decorative xmlns:adec="http://schemas.microsoft.com/office/drawing/2017/decorative" val="1"/>
              </a:ext>
            </a:extLst>
          </p:cNvPr>
          <p:cNvSpPr/>
          <p:nvPr/>
        </p:nvSpPr>
        <p:spPr bwMode="auto">
          <a:xfrm>
            <a:off x="2973651" y="2281652"/>
            <a:ext cx="562862" cy="3976688"/>
          </a:xfrm>
          <a:prstGeom prst="chevron">
            <a:avLst>
              <a:gd name="adj" fmla="val 74426"/>
            </a:avLst>
          </a:prstGeom>
          <a:solidFill>
            <a:srgbClr val="2A446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3" name="Arrow: Chevron 52">
            <a:extLst>
              <a:ext uri="{FF2B5EF4-FFF2-40B4-BE49-F238E27FC236}">
                <a16:creationId xmlns:a16="http://schemas.microsoft.com/office/drawing/2014/main" id="{AFC3F46B-4B57-D3C8-5FFF-9A63757241EA}"/>
              </a:ext>
              <a:ext uri="{C183D7F6-B498-43B3-948B-1728B52AA6E4}">
                <adec:decorative xmlns:adec="http://schemas.microsoft.com/office/drawing/2017/decorative" val="1"/>
              </a:ext>
            </a:extLst>
          </p:cNvPr>
          <p:cNvSpPr/>
          <p:nvPr/>
        </p:nvSpPr>
        <p:spPr bwMode="auto">
          <a:xfrm>
            <a:off x="6196939" y="2281652"/>
            <a:ext cx="562862" cy="3976688"/>
          </a:xfrm>
          <a:prstGeom prst="chevron">
            <a:avLst>
              <a:gd name="adj" fmla="val 70188"/>
            </a:avLst>
          </a:pr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4F3F5"/>
              </a:solidFill>
              <a:effectLst/>
              <a:uLnTx/>
              <a:uFillTx/>
              <a:latin typeface="Segoe Sans Text"/>
              <a:ea typeface="+mn-ea"/>
              <a:cs typeface="+mn-cs"/>
            </a:endParaRPr>
          </a:p>
        </p:txBody>
      </p:sp>
      <p:sp>
        <p:nvSpPr>
          <p:cNvPr id="58" name="Content Placeholder 36">
            <a:extLst>
              <a:ext uri="{FF2B5EF4-FFF2-40B4-BE49-F238E27FC236}">
                <a16:creationId xmlns:a16="http://schemas.microsoft.com/office/drawing/2014/main" id="{26A35239-1C76-F9FA-627E-4F98F1502385}"/>
              </a:ext>
            </a:extLst>
          </p:cNvPr>
          <p:cNvSpPr txBox="1">
            <a:spLocks/>
          </p:cNvSpPr>
          <p:nvPr/>
        </p:nvSpPr>
        <p:spPr>
          <a:xfrm>
            <a:off x="1289935" y="5426236"/>
            <a:ext cx="1726182" cy="832104"/>
          </a:xfrm>
          <a:prstGeom prst="rect">
            <a:avLst/>
          </a:prstGeom>
        </p:spPr>
        <p:txBody>
          <a:bodyPr vert="horz" lIns="0" tIns="0" rIns="0" bIns="0" rtlCol="0" anchor="ctr" anchorCtr="0">
            <a:noAutofit/>
          </a:bodyPr>
          <a:lstStyle>
            <a:lvl1pPr marL="0" indent="0" algn="l" defTabSz="914400" rtl="0" eaLnBrk="1" latinLnBrk="0" hangingPunct="1">
              <a:lnSpc>
                <a:spcPct val="100000"/>
              </a:lnSpc>
              <a:spcBef>
                <a:spcPts val="1200"/>
              </a:spcBef>
              <a:spcAft>
                <a:spcPts val="600"/>
              </a:spcAft>
              <a:buFont typeface="Arial" panose="020B0604020202020204" pitchFamily="34" charset="0"/>
              <a:buNone/>
              <a:defRPr sz="2600" kern="1200">
                <a:solidFill>
                  <a:schemeClr val="tx1"/>
                </a:solidFill>
                <a:latin typeface="+mj-lt"/>
                <a:ea typeface="+mn-ea"/>
                <a:cs typeface="+mn-cs"/>
              </a:defRPr>
            </a:lvl1pPr>
            <a:lvl2pPr marL="0" indent="0" algn="l" defTabSz="914400" rtl="0" eaLnBrk="1" latinLnBrk="0" hangingPunct="1">
              <a:lnSpc>
                <a:spcPct val="100000"/>
              </a:lnSpc>
              <a:spcBef>
                <a:spcPts val="600"/>
              </a:spcBef>
              <a:spcAft>
                <a:spcPts val="600"/>
              </a:spcAft>
              <a:buFont typeface="Arial" panose="020B0604020202020204" pitchFamily="34" charset="0"/>
              <a:buNone/>
              <a:defRPr sz="2600" kern="1200">
                <a:solidFill>
                  <a:schemeClr val="tx1"/>
                </a:solidFill>
                <a:latin typeface="+mn-lt"/>
                <a:ea typeface="+mn-ea"/>
                <a:cs typeface="+mn-cs"/>
              </a:defRPr>
            </a:lvl2pPr>
            <a:lvl3pPr marL="0" indent="0" algn="l" defTabSz="914400" rtl="0" eaLnBrk="1" latinLnBrk="0" hangingPunct="1">
              <a:lnSpc>
                <a:spcPct val="100000"/>
              </a:lnSpc>
              <a:spcBef>
                <a:spcPts val="600"/>
              </a:spcBef>
              <a:spcAft>
                <a:spcPts val="600"/>
              </a:spcAft>
              <a:buFont typeface="Arial" panose="020B0604020202020204" pitchFamily="34" charset="0"/>
              <a:buNone/>
              <a:defRPr sz="1600" kern="1200">
                <a:solidFill>
                  <a:schemeClr val="tx1"/>
                </a:solidFill>
                <a:latin typeface="+mj-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solidFill>
                <a:latin typeface="+mn-lt"/>
                <a:ea typeface="+mn-ea"/>
                <a:cs typeface="+mn-cs"/>
              </a:defRPr>
            </a:lvl4pPr>
            <a:lvl5pPr marL="173736" indent="-173736" algn="l" defTabSz="914400" rtl="0" eaLnBrk="1" latinLnBrk="0" hangingPunct="1">
              <a:lnSpc>
                <a:spcPct val="100000"/>
              </a:lnSpc>
              <a:spcBef>
                <a:spcPts val="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ts val="1200"/>
              </a:spcBef>
              <a:spcAft>
                <a:spcPts val="600"/>
              </a:spcAft>
              <a:buClrTx/>
              <a:buSzTx/>
              <a:tabLst/>
              <a:defRPr/>
            </a:pPr>
            <a:r>
              <a:rPr kumimoji="0" lang="en-US" sz="1400" b="0" i="0" u="none" strike="noStrike" kern="1200" cap="none" spc="0" normalizeH="0" baseline="0" noProof="0" dirty="0">
                <a:ln>
                  <a:noFill/>
                </a:ln>
                <a:solidFill>
                  <a:prstClr val="black"/>
                </a:solidFill>
                <a:effectLst/>
                <a:uLnTx/>
                <a:uFillTx/>
                <a:ea typeface="+mn-ea"/>
                <a:cs typeface="+mn-cs"/>
              </a:rPr>
              <a:t>Extensibility</a:t>
            </a:r>
          </a:p>
        </p:txBody>
      </p:sp>
      <p:sp>
        <p:nvSpPr>
          <p:cNvPr id="59" name="Content Placeholder 36">
            <a:extLst>
              <a:ext uri="{FF2B5EF4-FFF2-40B4-BE49-F238E27FC236}">
                <a16:creationId xmlns:a16="http://schemas.microsoft.com/office/drawing/2014/main" id="{83A3B0D8-810A-FFCC-7B91-A16EF134DE60}"/>
              </a:ext>
            </a:extLst>
          </p:cNvPr>
          <p:cNvSpPr txBox="1">
            <a:spLocks/>
          </p:cNvSpPr>
          <p:nvPr/>
        </p:nvSpPr>
        <p:spPr>
          <a:xfrm>
            <a:off x="1289935" y="4420850"/>
            <a:ext cx="1726182" cy="832104"/>
          </a:xfrm>
          <a:prstGeom prst="rect">
            <a:avLst/>
          </a:prstGeom>
        </p:spPr>
        <p:txBody>
          <a:bodyPr vert="horz" lIns="0" tIns="0" rIns="0" bIns="0" rtlCol="0" anchor="ctr" anchorCtr="0">
            <a:noAutofit/>
          </a:bodyPr>
          <a:lstStyle>
            <a:lvl1pPr marL="0" indent="0" algn="l" defTabSz="914400" rtl="0" eaLnBrk="1" latinLnBrk="0" hangingPunct="1">
              <a:lnSpc>
                <a:spcPct val="100000"/>
              </a:lnSpc>
              <a:spcBef>
                <a:spcPts val="1200"/>
              </a:spcBef>
              <a:spcAft>
                <a:spcPts val="600"/>
              </a:spcAft>
              <a:buFont typeface="Arial" panose="020B0604020202020204" pitchFamily="34" charset="0"/>
              <a:buNone/>
              <a:defRPr sz="2600" kern="1200">
                <a:solidFill>
                  <a:schemeClr val="tx1"/>
                </a:solidFill>
                <a:latin typeface="+mj-lt"/>
                <a:ea typeface="+mn-ea"/>
                <a:cs typeface="+mn-cs"/>
              </a:defRPr>
            </a:lvl1pPr>
            <a:lvl2pPr marL="0" indent="0" algn="l" defTabSz="914400" rtl="0" eaLnBrk="1" latinLnBrk="0" hangingPunct="1">
              <a:lnSpc>
                <a:spcPct val="100000"/>
              </a:lnSpc>
              <a:spcBef>
                <a:spcPts val="600"/>
              </a:spcBef>
              <a:spcAft>
                <a:spcPts val="600"/>
              </a:spcAft>
              <a:buFont typeface="Arial" panose="020B0604020202020204" pitchFamily="34" charset="0"/>
              <a:buNone/>
              <a:defRPr sz="2600" kern="1200">
                <a:solidFill>
                  <a:schemeClr val="tx1"/>
                </a:solidFill>
                <a:latin typeface="+mn-lt"/>
                <a:ea typeface="+mn-ea"/>
                <a:cs typeface="+mn-cs"/>
              </a:defRPr>
            </a:lvl2pPr>
            <a:lvl3pPr marL="0" indent="0" algn="l" defTabSz="914400" rtl="0" eaLnBrk="1" latinLnBrk="0" hangingPunct="1">
              <a:lnSpc>
                <a:spcPct val="100000"/>
              </a:lnSpc>
              <a:spcBef>
                <a:spcPts val="600"/>
              </a:spcBef>
              <a:spcAft>
                <a:spcPts val="600"/>
              </a:spcAft>
              <a:buFont typeface="Arial" panose="020B0604020202020204" pitchFamily="34" charset="0"/>
              <a:buNone/>
              <a:defRPr sz="1600" kern="1200">
                <a:solidFill>
                  <a:schemeClr val="tx1"/>
                </a:solidFill>
                <a:latin typeface="+mj-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solidFill>
                <a:latin typeface="+mn-lt"/>
                <a:ea typeface="+mn-ea"/>
                <a:cs typeface="+mn-cs"/>
              </a:defRPr>
            </a:lvl4pPr>
            <a:lvl5pPr marL="173736" indent="-173736" algn="l" defTabSz="914400" rtl="0" eaLnBrk="1" latinLnBrk="0" hangingPunct="1">
              <a:lnSpc>
                <a:spcPct val="100000"/>
              </a:lnSpc>
              <a:spcBef>
                <a:spcPts val="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ts val="1200"/>
              </a:spcBef>
              <a:spcAft>
                <a:spcPts val="600"/>
              </a:spcAft>
              <a:buClrTx/>
              <a:buSzTx/>
              <a:tabLst/>
              <a:defRPr/>
            </a:pPr>
            <a:r>
              <a:rPr kumimoji="0" lang="en-US" sz="1400" b="0" i="0" u="none" strike="noStrike" kern="1200" cap="none" spc="0" normalizeH="0" baseline="0" noProof="0" dirty="0">
                <a:ln>
                  <a:noFill/>
                </a:ln>
                <a:solidFill>
                  <a:prstClr val="black"/>
                </a:solidFill>
                <a:effectLst/>
                <a:uLnTx/>
                <a:uFillTx/>
                <a:ea typeface="+mn-ea"/>
                <a:cs typeface="+mn-cs"/>
              </a:rPr>
              <a:t>Adoption and change management</a:t>
            </a:r>
          </a:p>
        </p:txBody>
      </p:sp>
      <p:sp>
        <p:nvSpPr>
          <p:cNvPr id="60" name="Content Placeholder 36">
            <a:extLst>
              <a:ext uri="{FF2B5EF4-FFF2-40B4-BE49-F238E27FC236}">
                <a16:creationId xmlns:a16="http://schemas.microsoft.com/office/drawing/2014/main" id="{9B655EE4-0E06-9A89-90E9-77222944CEB7}"/>
              </a:ext>
            </a:extLst>
          </p:cNvPr>
          <p:cNvSpPr txBox="1">
            <a:spLocks/>
          </p:cNvSpPr>
          <p:nvPr/>
        </p:nvSpPr>
        <p:spPr>
          <a:xfrm>
            <a:off x="1281185" y="3415464"/>
            <a:ext cx="1726182" cy="832104"/>
          </a:xfrm>
          <a:prstGeom prst="rect">
            <a:avLst/>
          </a:prstGeom>
        </p:spPr>
        <p:txBody>
          <a:bodyPr vert="horz" lIns="0" tIns="0" rIns="0" bIns="0" rtlCol="0" anchor="ctr" anchorCtr="0">
            <a:noAutofit/>
          </a:bodyPr>
          <a:lstStyle>
            <a:lvl1pPr marL="0" indent="0" algn="l" defTabSz="914400" rtl="0" eaLnBrk="1" latinLnBrk="0" hangingPunct="1">
              <a:lnSpc>
                <a:spcPct val="100000"/>
              </a:lnSpc>
              <a:spcBef>
                <a:spcPts val="1200"/>
              </a:spcBef>
              <a:spcAft>
                <a:spcPts val="600"/>
              </a:spcAft>
              <a:buFont typeface="Arial" panose="020B0604020202020204" pitchFamily="34" charset="0"/>
              <a:buNone/>
              <a:defRPr sz="2600" kern="1200">
                <a:solidFill>
                  <a:schemeClr val="tx1"/>
                </a:solidFill>
                <a:latin typeface="+mj-lt"/>
                <a:ea typeface="+mn-ea"/>
                <a:cs typeface="+mn-cs"/>
              </a:defRPr>
            </a:lvl1pPr>
            <a:lvl2pPr marL="0" indent="0" algn="l" defTabSz="914400" rtl="0" eaLnBrk="1" latinLnBrk="0" hangingPunct="1">
              <a:lnSpc>
                <a:spcPct val="100000"/>
              </a:lnSpc>
              <a:spcBef>
                <a:spcPts val="600"/>
              </a:spcBef>
              <a:spcAft>
                <a:spcPts val="600"/>
              </a:spcAft>
              <a:buFont typeface="Arial" panose="020B0604020202020204" pitchFamily="34" charset="0"/>
              <a:buNone/>
              <a:defRPr sz="2600" kern="1200">
                <a:solidFill>
                  <a:schemeClr val="tx1"/>
                </a:solidFill>
                <a:latin typeface="+mn-lt"/>
                <a:ea typeface="+mn-ea"/>
                <a:cs typeface="+mn-cs"/>
              </a:defRPr>
            </a:lvl2pPr>
            <a:lvl3pPr marL="0" indent="0" algn="l" defTabSz="914400" rtl="0" eaLnBrk="1" latinLnBrk="0" hangingPunct="1">
              <a:lnSpc>
                <a:spcPct val="100000"/>
              </a:lnSpc>
              <a:spcBef>
                <a:spcPts val="600"/>
              </a:spcBef>
              <a:spcAft>
                <a:spcPts val="600"/>
              </a:spcAft>
              <a:buFont typeface="Arial" panose="020B0604020202020204" pitchFamily="34" charset="0"/>
              <a:buNone/>
              <a:defRPr sz="1600" kern="1200">
                <a:solidFill>
                  <a:schemeClr val="tx1"/>
                </a:solidFill>
                <a:latin typeface="+mj-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solidFill>
                <a:latin typeface="+mn-lt"/>
                <a:ea typeface="+mn-ea"/>
                <a:cs typeface="+mn-cs"/>
              </a:defRPr>
            </a:lvl4pPr>
            <a:lvl5pPr marL="173736" indent="-173736" algn="l" defTabSz="914400" rtl="0" eaLnBrk="1" latinLnBrk="0" hangingPunct="1">
              <a:lnSpc>
                <a:spcPct val="100000"/>
              </a:lnSpc>
              <a:spcBef>
                <a:spcPts val="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ts val="1200"/>
              </a:spcBef>
              <a:spcAft>
                <a:spcPts val="600"/>
              </a:spcAft>
              <a:buClrTx/>
              <a:buSzTx/>
              <a:tabLst/>
              <a:defRPr/>
            </a:pPr>
            <a:r>
              <a:rPr kumimoji="0" lang="en-US" sz="1400" b="0" i="0" u="none" strike="noStrike" kern="1200" cap="none" spc="0" normalizeH="0" baseline="0" noProof="0" dirty="0">
                <a:ln>
                  <a:noFill/>
                </a:ln>
                <a:solidFill>
                  <a:prstClr val="black"/>
                </a:solidFill>
                <a:effectLst/>
                <a:uLnTx/>
                <a:uFillTx/>
                <a:ea typeface="+mn-ea"/>
                <a:cs typeface="+mn-cs"/>
              </a:rPr>
              <a:t>Get ready and deploy</a:t>
            </a:r>
          </a:p>
        </p:txBody>
      </p:sp>
      <p:sp>
        <p:nvSpPr>
          <p:cNvPr id="63" name="Content Placeholder 39">
            <a:extLst>
              <a:ext uri="{FF2B5EF4-FFF2-40B4-BE49-F238E27FC236}">
                <a16:creationId xmlns:a16="http://schemas.microsoft.com/office/drawing/2014/main" id="{E66EC681-6455-F1FD-4A9D-FF0122765566}"/>
              </a:ext>
            </a:extLst>
          </p:cNvPr>
          <p:cNvSpPr txBox="1">
            <a:spLocks/>
          </p:cNvSpPr>
          <p:nvPr/>
        </p:nvSpPr>
        <p:spPr>
          <a:xfrm>
            <a:off x="4521408" y="3788785"/>
            <a:ext cx="1574592" cy="1097280"/>
          </a:xfrm>
          <a:prstGeom prst="rect">
            <a:avLst/>
          </a:prstGeom>
        </p:spPr>
        <p:txBody>
          <a:bodyPr vert="horz" lIns="0" tIns="0" rIns="0" bIns="0" rtlCol="0" anchor="ctr" anchorCtr="0">
            <a:noAutofit/>
          </a:bodyPr>
          <a:lstStyle>
            <a:lvl1pPr marL="0" indent="0" algn="l" defTabSz="914400" rtl="0" eaLnBrk="1" latinLnBrk="0" hangingPunct="1">
              <a:lnSpc>
                <a:spcPct val="100000"/>
              </a:lnSpc>
              <a:spcBef>
                <a:spcPts val="1200"/>
              </a:spcBef>
              <a:spcAft>
                <a:spcPts val="600"/>
              </a:spcAft>
              <a:buFont typeface="Arial" panose="020B0604020202020204" pitchFamily="34" charset="0"/>
              <a:buNone/>
              <a:defRPr sz="2600" kern="1200">
                <a:solidFill>
                  <a:schemeClr val="tx1"/>
                </a:solidFill>
                <a:latin typeface="+mj-lt"/>
                <a:ea typeface="+mn-ea"/>
                <a:cs typeface="+mn-cs"/>
              </a:defRPr>
            </a:lvl1pPr>
            <a:lvl2pPr marL="0" indent="0" algn="l" defTabSz="914400" rtl="0" eaLnBrk="1" latinLnBrk="0" hangingPunct="1">
              <a:lnSpc>
                <a:spcPct val="100000"/>
              </a:lnSpc>
              <a:spcBef>
                <a:spcPts val="600"/>
              </a:spcBef>
              <a:spcAft>
                <a:spcPts val="600"/>
              </a:spcAft>
              <a:buFont typeface="Arial" panose="020B0604020202020204" pitchFamily="34" charset="0"/>
              <a:buNone/>
              <a:defRPr sz="2600" kern="1200">
                <a:solidFill>
                  <a:schemeClr val="tx1"/>
                </a:solidFill>
                <a:latin typeface="+mn-lt"/>
                <a:ea typeface="+mn-ea"/>
                <a:cs typeface="+mn-cs"/>
              </a:defRPr>
            </a:lvl2pPr>
            <a:lvl3pPr marL="0" indent="0" algn="l" defTabSz="914400" rtl="0" eaLnBrk="1" latinLnBrk="0" hangingPunct="1">
              <a:lnSpc>
                <a:spcPct val="100000"/>
              </a:lnSpc>
              <a:spcBef>
                <a:spcPts val="600"/>
              </a:spcBef>
              <a:spcAft>
                <a:spcPts val="600"/>
              </a:spcAft>
              <a:buFont typeface="Arial" panose="020B0604020202020204" pitchFamily="34" charset="0"/>
              <a:buNone/>
              <a:defRPr sz="1600" kern="1200">
                <a:solidFill>
                  <a:schemeClr val="tx1"/>
                </a:solidFill>
                <a:latin typeface="+mj-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solidFill>
                <a:latin typeface="+mn-lt"/>
                <a:ea typeface="+mn-ea"/>
                <a:cs typeface="+mn-cs"/>
              </a:defRPr>
            </a:lvl4pPr>
            <a:lvl5pPr marL="173736" indent="-173736" algn="l" defTabSz="914400" rtl="0" eaLnBrk="1" latinLnBrk="0" hangingPunct="1">
              <a:lnSpc>
                <a:spcPct val="100000"/>
              </a:lnSpc>
              <a:spcBef>
                <a:spcPts val="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ts val="1200"/>
              </a:spcBef>
              <a:spcAft>
                <a:spcPts val="600"/>
              </a:spcAft>
              <a:buClrTx/>
              <a:buSzTx/>
              <a:tabLst/>
              <a:defRPr/>
            </a:pPr>
            <a:r>
              <a:rPr kumimoji="0" lang="en-US" sz="1400" b="0" i="0" u="none" strike="noStrike" kern="1200" cap="none" spc="0" normalizeH="0" baseline="0" noProof="0" dirty="0">
                <a:ln>
                  <a:noFill/>
                </a:ln>
                <a:solidFill>
                  <a:prstClr val="black"/>
                </a:solidFill>
                <a:effectLst/>
                <a:uLnTx/>
                <a:uFillTx/>
                <a:ea typeface="+mn-ea"/>
                <a:cs typeface="+mn-cs"/>
              </a:rPr>
              <a:t>Unique value prop detailing why it is beneficial to engage</a:t>
            </a:r>
          </a:p>
        </p:txBody>
      </p:sp>
      <p:sp>
        <p:nvSpPr>
          <p:cNvPr id="69" name="Content Placeholder 39">
            <a:extLst>
              <a:ext uri="{FF2B5EF4-FFF2-40B4-BE49-F238E27FC236}">
                <a16:creationId xmlns:a16="http://schemas.microsoft.com/office/drawing/2014/main" id="{D749D41A-F8EF-A9EC-C84F-945370571972}"/>
              </a:ext>
            </a:extLst>
          </p:cNvPr>
          <p:cNvSpPr txBox="1">
            <a:spLocks/>
          </p:cNvSpPr>
          <p:nvPr/>
        </p:nvSpPr>
        <p:spPr>
          <a:xfrm>
            <a:off x="4521408" y="5169406"/>
            <a:ext cx="1574592" cy="1097280"/>
          </a:xfrm>
          <a:prstGeom prst="rect">
            <a:avLst/>
          </a:prstGeom>
        </p:spPr>
        <p:txBody>
          <a:bodyPr vert="horz" lIns="0" tIns="0" rIns="0" bIns="0" rtlCol="0" anchor="ctr" anchorCtr="0">
            <a:noAutofit/>
          </a:bodyPr>
          <a:lstStyle>
            <a:lvl1pPr marL="0" indent="0" algn="l" defTabSz="914400" rtl="0" eaLnBrk="1" latinLnBrk="0" hangingPunct="1">
              <a:lnSpc>
                <a:spcPct val="100000"/>
              </a:lnSpc>
              <a:spcBef>
                <a:spcPts val="1200"/>
              </a:spcBef>
              <a:spcAft>
                <a:spcPts val="600"/>
              </a:spcAft>
              <a:buFont typeface="Arial" panose="020B0604020202020204" pitchFamily="34" charset="0"/>
              <a:buNone/>
              <a:defRPr sz="2600" kern="1200">
                <a:solidFill>
                  <a:schemeClr val="tx1"/>
                </a:solidFill>
                <a:latin typeface="+mj-lt"/>
                <a:ea typeface="+mn-ea"/>
                <a:cs typeface="+mn-cs"/>
              </a:defRPr>
            </a:lvl1pPr>
            <a:lvl2pPr marL="0" indent="0" algn="l" defTabSz="914400" rtl="0" eaLnBrk="1" latinLnBrk="0" hangingPunct="1">
              <a:lnSpc>
                <a:spcPct val="100000"/>
              </a:lnSpc>
              <a:spcBef>
                <a:spcPts val="600"/>
              </a:spcBef>
              <a:spcAft>
                <a:spcPts val="600"/>
              </a:spcAft>
              <a:buFont typeface="Arial" panose="020B0604020202020204" pitchFamily="34" charset="0"/>
              <a:buNone/>
              <a:defRPr sz="2600" kern="1200">
                <a:solidFill>
                  <a:schemeClr val="tx1"/>
                </a:solidFill>
                <a:latin typeface="+mn-lt"/>
                <a:ea typeface="+mn-ea"/>
                <a:cs typeface="+mn-cs"/>
              </a:defRPr>
            </a:lvl2pPr>
            <a:lvl3pPr marL="0" indent="0" algn="l" defTabSz="914400" rtl="0" eaLnBrk="1" latinLnBrk="0" hangingPunct="1">
              <a:lnSpc>
                <a:spcPct val="100000"/>
              </a:lnSpc>
              <a:spcBef>
                <a:spcPts val="600"/>
              </a:spcBef>
              <a:spcAft>
                <a:spcPts val="600"/>
              </a:spcAft>
              <a:buFont typeface="Arial" panose="020B0604020202020204" pitchFamily="34" charset="0"/>
              <a:buNone/>
              <a:defRPr sz="1600" kern="1200">
                <a:solidFill>
                  <a:schemeClr val="tx1"/>
                </a:solidFill>
                <a:latin typeface="+mj-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solidFill>
                <a:latin typeface="+mn-lt"/>
                <a:ea typeface="+mn-ea"/>
                <a:cs typeface="+mn-cs"/>
              </a:defRPr>
            </a:lvl4pPr>
            <a:lvl5pPr marL="173736" indent="-173736" algn="l" defTabSz="914400" rtl="0" eaLnBrk="1" latinLnBrk="0" hangingPunct="1">
              <a:lnSpc>
                <a:spcPct val="100000"/>
              </a:lnSpc>
              <a:spcBef>
                <a:spcPts val="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ts val="1200"/>
              </a:spcBef>
              <a:spcAft>
                <a:spcPts val="600"/>
              </a:spcAft>
              <a:buClrTx/>
              <a:buSzTx/>
              <a:tabLst/>
              <a:defRPr/>
            </a:pPr>
            <a:r>
              <a:rPr kumimoji="0" lang="en-US" sz="1400" b="0" i="0" u="none" strike="noStrike" kern="1200" cap="none" spc="0" normalizeH="0" baseline="0" noProof="0">
                <a:ln>
                  <a:noFill/>
                </a:ln>
                <a:solidFill>
                  <a:prstClr val="black"/>
                </a:solidFill>
                <a:effectLst/>
                <a:uLnTx/>
                <a:uFillTx/>
                <a:ea typeface="+mn-ea"/>
                <a:cs typeface="+mn-cs"/>
              </a:rPr>
              <a:t>Business value proposition coupled with approach and deliverables</a:t>
            </a:r>
          </a:p>
        </p:txBody>
      </p:sp>
      <p:sp>
        <p:nvSpPr>
          <p:cNvPr id="2" name="Footer Placeholder 1">
            <a:extLst>
              <a:ext uri="{FF2B5EF4-FFF2-40B4-BE49-F238E27FC236}">
                <a16:creationId xmlns:a16="http://schemas.microsoft.com/office/drawing/2014/main" id="{3AFD1464-FE8D-0199-10D3-F396392FFFB7}"/>
              </a:ext>
            </a:extLst>
          </p:cNvPr>
          <p:cNvSpPr>
            <a:spLocks noGrp="1"/>
          </p:cNvSpPr>
          <p:nvPr>
            <p:ph type="ftr" sz="quarter" idx="12"/>
          </p:nvPr>
        </p:nvSpPr>
        <p:spPr/>
        <p:txBody>
          <a:bodyPr/>
          <a:lstStyle/>
          <a:p>
            <a:r>
              <a:rPr lang="en-US"/>
              <a:t>Building Customer-Centric Services offers</a:t>
            </a:r>
          </a:p>
        </p:txBody>
      </p:sp>
      <p:sp>
        <p:nvSpPr>
          <p:cNvPr id="3" name="Slide Number Placeholder 2">
            <a:extLst>
              <a:ext uri="{FF2B5EF4-FFF2-40B4-BE49-F238E27FC236}">
                <a16:creationId xmlns:a16="http://schemas.microsoft.com/office/drawing/2014/main" id="{D7EA9F8D-2579-7253-9AB3-0C2EB8EC160E}"/>
              </a:ext>
            </a:extLst>
          </p:cNvPr>
          <p:cNvSpPr>
            <a:spLocks noGrp="1"/>
          </p:cNvSpPr>
          <p:nvPr>
            <p:ph type="sldNum" sz="quarter" idx="13"/>
          </p:nvPr>
        </p:nvSpPr>
        <p:spPr/>
        <p:txBody>
          <a:bodyPr/>
          <a:lstStyle/>
          <a:p>
            <a:fld id="{5763EE98-C176-4152-A50F-E68840BAFA00}" type="slidenum">
              <a:rPr lang="en-US" smtClean="0"/>
              <a:pPr/>
              <a:t>18</a:t>
            </a:fld>
            <a:endParaRPr lang="en-US"/>
          </a:p>
        </p:txBody>
      </p:sp>
    </p:spTree>
    <p:extLst>
      <p:ext uri="{BB962C8B-B14F-4D97-AF65-F5344CB8AC3E}">
        <p14:creationId xmlns:p14="http://schemas.microsoft.com/office/powerpoint/2010/main" val="382377863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F035E62-5524-5B32-7682-87232C2656F2}"/>
              </a:ext>
            </a:extLst>
          </p:cNvPr>
          <p:cNvSpPr/>
          <p:nvPr/>
        </p:nvSpPr>
        <p:spPr bwMode="auto">
          <a:xfrm>
            <a:off x="2476500" y="3101423"/>
            <a:ext cx="6321426" cy="987552"/>
          </a:xfrm>
          <a:prstGeom prst="roundRect">
            <a:avLst>
              <a:gd name="adj" fmla="val 7974"/>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a:effectLst>
            <a:outerShdw blurRad="152400" dist="88900" dir="2700000" algn="tl" rotWithShape="0">
              <a:prstClr val="black">
                <a:alpha val="7000"/>
              </a:prstClr>
            </a:outerShdw>
          </a:effectLst>
        </p:spPr>
        <p:txBody>
          <a:bodyPr vert="horz" wrap="square" lIns="182880" tIns="91440" rIns="182880" bIns="91440" rtlCol="0" anchor="ctr" anchorCtr="0">
            <a:noAutofit/>
          </a:bodyPr>
          <a:lstStyle/>
          <a:p>
            <a:pPr defTabSz="932742">
              <a:spcAft>
                <a:spcPts val="600"/>
              </a:spcAft>
              <a:buSzPct val="90000"/>
            </a:pPr>
            <a:r>
              <a:rPr lang="en-US" altLang="en-US" sz="1200" dirty="0">
                <a:solidFill>
                  <a:schemeClr val="accent4"/>
                </a:solidFill>
                <a:latin typeface="+mj-lt"/>
                <a:cs typeface="Segoe Sans Display" pitchFamily="2" charset="0"/>
              </a:rPr>
              <a:t>What</a:t>
            </a:r>
            <a:r>
              <a:rPr lang="en-US" altLang="en-US" sz="1200" dirty="0">
                <a:solidFill>
                  <a:schemeClr val="tx2"/>
                </a:solidFill>
                <a:cs typeface="Segoe Sans Display" pitchFamily="2" charset="0"/>
              </a:rPr>
              <a:t> is the solution? The introductory statement of the solution is intended to grab your reader’s attention. Keep it in relation to the technical capability.</a:t>
            </a:r>
          </a:p>
        </p:txBody>
      </p:sp>
      <p:sp>
        <p:nvSpPr>
          <p:cNvPr id="5" name="TextBox 4">
            <a:extLst>
              <a:ext uri="{FF2B5EF4-FFF2-40B4-BE49-F238E27FC236}">
                <a16:creationId xmlns:a16="http://schemas.microsoft.com/office/drawing/2014/main" id="{14CE9A57-EBB1-EC80-5FD8-BE0476C3CB1E}"/>
              </a:ext>
            </a:extLst>
          </p:cNvPr>
          <p:cNvSpPr txBox="1"/>
          <p:nvPr/>
        </p:nvSpPr>
        <p:spPr>
          <a:xfrm>
            <a:off x="588263" y="3195154"/>
            <a:ext cx="1591374" cy="800091"/>
          </a:xfrm>
          <a:prstGeom prst="rect">
            <a:avLst/>
          </a:prstGeom>
          <a:noFill/>
        </p:spPr>
        <p:txBody>
          <a:bodyPr wrap="square" lIns="182880" tIns="146304" rIns="0" bIns="146304" rtlCol="0">
            <a:spAutoFit/>
          </a:bodyPr>
          <a:lstStyle/>
          <a:p>
            <a:pPr marR="0" lvl="0" indent="0" algn="r" fontAlgn="auto">
              <a:lnSpc>
                <a:spcPct val="107000"/>
              </a:lnSpc>
              <a:spcBef>
                <a:spcPts val="0"/>
              </a:spcBef>
              <a:spcAft>
                <a:spcPts val="800"/>
              </a:spcAft>
              <a:buClrTx/>
              <a:buSzTx/>
              <a:buFontTx/>
              <a:buNone/>
              <a:tabLst/>
              <a:defRPr/>
            </a:pPr>
            <a:r>
              <a:rPr lang="en-US" altLang="en-US" sz="1600" kern="0" dirty="0">
                <a:solidFill>
                  <a:schemeClr val="accent4"/>
                </a:solidFill>
                <a:latin typeface="+mj-lt"/>
                <a:ea typeface="Segoe UI Regular" pitchFamily="34" charset="-122"/>
              </a:rPr>
              <a:t>Describe the solution </a:t>
            </a:r>
          </a:p>
        </p:txBody>
      </p:sp>
      <p:sp>
        <p:nvSpPr>
          <p:cNvPr id="7" name="Rectangle: Rounded Corners 6">
            <a:extLst>
              <a:ext uri="{FF2B5EF4-FFF2-40B4-BE49-F238E27FC236}">
                <a16:creationId xmlns:a16="http://schemas.microsoft.com/office/drawing/2014/main" id="{42744A75-8C0A-130B-02BA-98413B305DE3}"/>
              </a:ext>
            </a:extLst>
          </p:cNvPr>
          <p:cNvSpPr/>
          <p:nvPr/>
        </p:nvSpPr>
        <p:spPr bwMode="auto">
          <a:xfrm>
            <a:off x="2476500" y="5282426"/>
            <a:ext cx="6321426" cy="987552"/>
          </a:xfrm>
          <a:prstGeom prst="roundRect">
            <a:avLst>
              <a:gd name="adj" fmla="val 6704"/>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a:effectLst>
            <a:outerShdw blurRad="152400" dist="88900" dir="2700000" algn="tl" rotWithShape="0">
              <a:prstClr val="black">
                <a:alpha val="7000"/>
              </a:prstClr>
            </a:outerShdw>
          </a:effectLst>
        </p:spPr>
        <p:txBody>
          <a:bodyPr vert="horz" wrap="square" lIns="182880" tIns="91440" rIns="182880" bIns="91440" rtlCol="0" anchor="ctr" anchorCtr="0">
            <a:noAutofit/>
          </a:bodyPr>
          <a:lstStyle/>
          <a:p>
            <a:pPr defTabSz="932742">
              <a:spcAft>
                <a:spcPts val="600"/>
              </a:spcAft>
              <a:buSzPct val="90000"/>
            </a:pPr>
            <a:r>
              <a:rPr lang="en-US" altLang="en-US" sz="1200" dirty="0">
                <a:solidFill>
                  <a:schemeClr val="tx2"/>
                </a:solidFill>
                <a:cs typeface="Segoe Sans Display" pitchFamily="2" charset="0"/>
              </a:rPr>
              <a:t>Point the customer to the resources and collateral available.</a:t>
            </a:r>
          </a:p>
          <a:p>
            <a:pPr defTabSz="932742">
              <a:spcAft>
                <a:spcPts val="600"/>
              </a:spcAft>
              <a:buSzPct val="90000"/>
            </a:pPr>
            <a:r>
              <a:rPr lang="en-US" altLang="en-US" sz="1200" dirty="0">
                <a:solidFill>
                  <a:schemeClr val="tx2"/>
                </a:solidFill>
                <a:cs typeface="Segoe Sans Display" pitchFamily="2" charset="0"/>
              </a:rPr>
              <a:t>Give a clear call to action on </a:t>
            </a:r>
            <a:r>
              <a:rPr lang="en-US" altLang="en-US" sz="1200" dirty="0">
                <a:solidFill>
                  <a:schemeClr val="accent4"/>
                </a:solidFill>
                <a:latin typeface="+mj-lt"/>
                <a:cs typeface="Segoe Sans Display" pitchFamily="2" charset="0"/>
              </a:rPr>
              <a:t>how</a:t>
            </a:r>
            <a:r>
              <a:rPr lang="en-US" altLang="en-US" sz="1200" dirty="0">
                <a:solidFill>
                  <a:schemeClr val="tx2"/>
                </a:solidFill>
                <a:cs typeface="Segoe Sans Display" pitchFamily="2" charset="0"/>
              </a:rPr>
              <a:t> to drive this engagement forward.</a:t>
            </a:r>
          </a:p>
          <a:p>
            <a:pPr defTabSz="932742">
              <a:spcAft>
                <a:spcPts val="600"/>
              </a:spcAft>
              <a:buSzPct val="90000"/>
            </a:pPr>
            <a:r>
              <a:rPr lang="en-US" sz="1200" dirty="0">
                <a:solidFill>
                  <a:schemeClr val="tx2"/>
                </a:solidFill>
                <a:cs typeface="Segoe Sans Display" pitchFamily="2" charset="0"/>
              </a:rPr>
              <a:t>Refer to step-by-step guide in this deck.</a:t>
            </a:r>
          </a:p>
        </p:txBody>
      </p:sp>
      <p:sp>
        <p:nvSpPr>
          <p:cNvPr id="8" name="TextBox 7">
            <a:extLst>
              <a:ext uri="{FF2B5EF4-FFF2-40B4-BE49-F238E27FC236}">
                <a16:creationId xmlns:a16="http://schemas.microsoft.com/office/drawing/2014/main" id="{DD582722-0306-B211-CCA9-10A90F15807F}"/>
              </a:ext>
            </a:extLst>
          </p:cNvPr>
          <p:cNvSpPr txBox="1"/>
          <p:nvPr/>
        </p:nvSpPr>
        <p:spPr>
          <a:xfrm>
            <a:off x="593725" y="5502526"/>
            <a:ext cx="1591374" cy="536622"/>
          </a:xfrm>
          <a:prstGeom prst="rect">
            <a:avLst/>
          </a:prstGeom>
          <a:noFill/>
        </p:spPr>
        <p:txBody>
          <a:bodyPr wrap="square" lIns="182880" tIns="146304" rIns="0" bIns="146304" rtlCol="0">
            <a:spAutoFit/>
          </a:bodyPr>
          <a:lstStyle/>
          <a:p>
            <a:pPr algn="r">
              <a:lnSpc>
                <a:spcPct val="107000"/>
              </a:lnSpc>
              <a:spcAft>
                <a:spcPts val="800"/>
              </a:spcAft>
              <a:defRPr/>
            </a:pPr>
            <a:r>
              <a:rPr lang="en-US" altLang="en-US" sz="1600" kern="0" dirty="0">
                <a:solidFill>
                  <a:schemeClr val="accent4"/>
                </a:solidFill>
                <a:latin typeface="+mj-lt"/>
                <a:ea typeface="Segoe UI Regular" pitchFamily="34" charset="-122"/>
              </a:rPr>
              <a:t>Call to action</a:t>
            </a:r>
          </a:p>
        </p:txBody>
      </p:sp>
      <p:sp>
        <p:nvSpPr>
          <p:cNvPr id="10" name="TextBox 9">
            <a:extLst>
              <a:ext uri="{FF2B5EF4-FFF2-40B4-BE49-F238E27FC236}">
                <a16:creationId xmlns:a16="http://schemas.microsoft.com/office/drawing/2014/main" id="{7E6BD7E1-854F-DABD-5529-865A722766FD}"/>
              </a:ext>
            </a:extLst>
          </p:cNvPr>
          <p:cNvSpPr txBox="1"/>
          <p:nvPr/>
        </p:nvSpPr>
        <p:spPr>
          <a:xfrm>
            <a:off x="9563386" y="3393401"/>
            <a:ext cx="2151934" cy="2631997"/>
          </a:xfrm>
          <a:prstGeom prst="roundRect">
            <a:avLst>
              <a:gd name="adj" fmla="val 438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a:effectLst>
            <a:outerShdw blurRad="152400" dist="88900" dir="2700000" algn="tl" rotWithShape="0">
              <a:prstClr val="black">
                <a:alpha val="7000"/>
              </a:prstClr>
            </a:outerShdw>
          </a:effectLst>
        </p:spPr>
        <p:txBody>
          <a:bodyPr vert="horz" wrap="square" lIns="182880" tIns="182880" rIns="182880" bIns="182880" rtlCol="0" anchor="t" anchorCtr="0">
            <a:spAutoFit/>
          </a:bodyPr>
          <a:lstStyle>
            <a:defPPr>
              <a:defRPr lang="en-US"/>
            </a:defPPr>
            <a:lvl1pPr defTabSz="932742">
              <a:spcAft>
                <a:spcPts val="600"/>
              </a:spcAft>
              <a:buSzPct val="90000"/>
              <a:defRPr baseline="30000">
                <a:solidFill>
                  <a:schemeClr val="accent4"/>
                </a:solidFill>
                <a:latin typeface="+mj-lt"/>
                <a:cs typeface="Segoe Sans Display" pitchFamily="2" charset="0"/>
              </a:defRPr>
            </a:lvl1pPr>
          </a:lstStyle>
          <a:p>
            <a:pPr defTabSz="914400">
              <a:lnSpc>
                <a:spcPct val="107000"/>
              </a:lnSpc>
              <a:spcAft>
                <a:spcPts val="800"/>
              </a:spcAft>
              <a:buSzTx/>
              <a:defRPr/>
            </a:pPr>
            <a:r>
              <a:rPr lang="en-US" altLang="en-US" sz="1600" kern="0" baseline="0" dirty="0">
                <a:ea typeface="Segoe UI Regular" pitchFamily="34" charset="-122"/>
                <a:cs typeface="+mn-cs"/>
              </a:rPr>
              <a:t>Keep it relevant</a:t>
            </a:r>
          </a:p>
          <a:p>
            <a:r>
              <a:rPr lang="en-US" altLang="en-US" sz="1200" baseline="0" dirty="0">
                <a:solidFill>
                  <a:schemeClr val="tx2"/>
                </a:solidFill>
                <a:latin typeface="+mn-lt"/>
              </a:rPr>
              <a:t>Include recognizable keywords when describing the offer, like </a:t>
            </a:r>
            <a:r>
              <a:rPr lang="en-US" altLang="en-US" sz="1200" baseline="0" dirty="0">
                <a:solidFill>
                  <a:schemeClr val="tx2"/>
                </a:solidFill>
              </a:rPr>
              <a:t>Microsoft 365 Copilot</a:t>
            </a:r>
            <a:r>
              <a:rPr lang="en-US" altLang="en-US" sz="1200" baseline="0" dirty="0">
                <a:solidFill>
                  <a:schemeClr val="tx2"/>
                </a:solidFill>
                <a:latin typeface="+mn-lt"/>
              </a:rPr>
              <a:t>, </a:t>
            </a:r>
            <a:r>
              <a:rPr lang="en-US" altLang="en-US" sz="1200" baseline="0" dirty="0">
                <a:solidFill>
                  <a:schemeClr val="tx2"/>
                </a:solidFill>
              </a:rPr>
              <a:t>Agents</a:t>
            </a:r>
            <a:r>
              <a:rPr lang="en-US" altLang="en-US" sz="1200" baseline="0" dirty="0">
                <a:solidFill>
                  <a:schemeClr val="tx2"/>
                </a:solidFill>
                <a:latin typeface="+mn-lt"/>
              </a:rPr>
              <a:t>, </a:t>
            </a:r>
            <a:r>
              <a:rPr lang="en-US" altLang="en-US" sz="1200" baseline="0" dirty="0">
                <a:solidFill>
                  <a:schemeClr val="tx2"/>
                </a:solidFill>
              </a:rPr>
              <a:t>Copilot Chat</a:t>
            </a:r>
            <a:r>
              <a:rPr lang="en-US" altLang="en-US" sz="1200" baseline="0" dirty="0">
                <a:solidFill>
                  <a:schemeClr val="tx2"/>
                </a:solidFill>
                <a:latin typeface="+mn-lt"/>
              </a:rPr>
              <a:t>, </a:t>
            </a:r>
            <a:r>
              <a:rPr lang="en-US" altLang="en-US" sz="1200" baseline="0" dirty="0">
                <a:solidFill>
                  <a:schemeClr val="tx2"/>
                </a:solidFill>
              </a:rPr>
              <a:t>AI Business Transformation</a:t>
            </a:r>
            <a:r>
              <a:rPr lang="en-US" altLang="en-US" sz="1200" baseline="0" dirty="0">
                <a:solidFill>
                  <a:schemeClr val="tx2"/>
                </a:solidFill>
                <a:latin typeface="+mn-lt"/>
              </a:rPr>
              <a:t>, </a:t>
            </a:r>
            <a:r>
              <a:rPr lang="en-US" altLang="en-US" sz="1200" baseline="0" dirty="0">
                <a:solidFill>
                  <a:schemeClr val="tx2"/>
                </a:solidFill>
              </a:rPr>
              <a:t>Functional GTM</a:t>
            </a:r>
            <a:r>
              <a:rPr lang="en-US" altLang="en-US" sz="1200" baseline="0" dirty="0">
                <a:solidFill>
                  <a:schemeClr val="tx2"/>
                </a:solidFill>
                <a:latin typeface="+mn-lt"/>
              </a:rPr>
              <a:t>, </a:t>
            </a:r>
            <a:r>
              <a:rPr lang="en-US" altLang="en-US" sz="1200" baseline="0" dirty="0">
                <a:solidFill>
                  <a:schemeClr val="tx2"/>
                </a:solidFill>
              </a:rPr>
              <a:t>KPIs</a:t>
            </a:r>
            <a:r>
              <a:rPr lang="en-US" altLang="en-US" sz="1200" baseline="0" dirty="0">
                <a:solidFill>
                  <a:schemeClr val="tx2"/>
                </a:solidFill>
                <a:latin typeface="+mn-lt"/>
              </a:rPr>
              <a:t>, </a:t>
            </a:r>
            <a:r>
              <a:rPr lang="en-US" altLang="en-US" sz="1200" baseline="0" dirty="0">
                <a:solidFill>
                  <a:schemeClr val="tx2"/>
                </a:solidFill>
              </a:rPr>
              <a:t>Generative AI</a:t>
            </a:r>
            <a:r>
              <a:rPr lang="en-US" altLang="en-US" sz="1200" baseline="0" dirty="0">
                <a:solidFill>
                  <a:schemeClr val="tx2"/>
                </a:solidFill>
                <a:latin typeface="+mn-lt"/>
              </a:rPr>
              <a:t>, </a:t>
            </a:r>
            <a:r>
              <a:rPr lang="en-US" altLang="en-US" sz="1200" baseline="0" dirty="0">
                <a:solidFill>
                  <a:schemeClr val="tx2"/>
                </a:solidFill>
              </a:rPr>
              <a:t>Natural Language</a:t>
            </a:r>
            <a:r>
              <a:rPr lang="en-US" altLang="en-US" sz="1200" baseline="0" dirty="0">
                <a:solidFill>
                  <a:schemeClr val="tx2"/>
                </a:solidFill>
                <a:latin typeface="+mn-lt"/>
              </a:rPr>
              <a:t>, </a:t>
            </a:r>
            <a:r>
              <a:rPr lang="en-US" altLang="en-US" sz="1200" baseline="0" dirty="0">
                <a:solidFill>
                  <a:schemeClr val="tx2"/>
                </a:solidFill>
              </a:rPr>
              <a:t>Large Language Models</a:t>
            </a:r>
            <a:r>
              <a:rPr lang="en-US" altLang="en-US" sz="1200" baseline="0" dirty="0">
                <a:solidFill>
                  <a:schemeClr val="tx2"/>
                </a:solidFill>
                <a:latin typeface="+mn-lt"/>
              </a:rPr>
              <a:t>, etc.</a:t>
            </a:r>
          </a:p>
        </p:txBody>
      </p:sp>
      <p:sp>
        <p:nvSpPr>
          <p:cNvPr id="12" name="Rectangle: Rounded Corners 11">
            <a:extLst>
              <a:ext uri="{FF2B5EF4-FFF2-40B4-BE49-F238E27FC236}">
                <a16:creationId xmlns:a16="http://schemas.microsoft.com/office/drawing/2014/main" id="{56CA440E-9951-11DE-ADD5-18F6242CF44A}"/>
              </a:ext>
            </a:extLst>
          </p:cNvPr>
          <p:cNvSpPr/>
          <p:nvPr/>
        </p:nvSpPr>
        <p:spPr bwMode="auto">
          <a:xfrm>
            <a:off x="2476500" y="4191420"/>
            <a:ext cx="6321426" cy="987552"/>
          </a:xfrm>
          <a:prstGeom prst="roundRect">
            <a:avLst>
              <a:gd name="adj" fmla="val 7760"/>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a:effectLst>
            <a:outerShdw blurRad="152400" dist="88900" dir="2700000" algn="tl" rotWithShape="0">
              <a:prstClr val="black">
                <a:alpha val="7000"/>
              </a:prstClr>
            </a:outerShdw>
          </a:effectLst>
        </p:spPr>
        <p:txBody>
          <a:bodyPr vert="horz" wrap="square" lIns="182880" tIns="91440" rIns="182880" bIns="91440" rtlCol="0" anchor="ctr" anchorCtr="0">
            <a:noAutofit/>
          </a:bodyPr>
          <a:lstStyle/>
          <a:p>
            <a:pPr defTabSz="932742">
              <a:spcAft>
                <a:spcPts val="600"/>
              </a:spcAft>
              <a:buSzPct val="90000"/>
            </a:pPr>
            <a:r>
              <a:rPr lang="en-US" altLang="en-US" sz="1200" dirty="0">
                <a:solidFill>
                  <a:schemeClr val="tx2"/>
                </a:solidFill>
                <a:cs typeface="Segoe Sans Display" pitchFamily="2" charset="0"/>
              </a:rPr>
              <a:t>Highlight the key value adds to the customer. Start with the solution impact and </a:t>
            </a:r>
            <a:r>
              <a:rPr lang="en-US" altLang="en-US" sz="1200" dirty="0">
                <a:solidFill>
                  <a:schemeClr val="accent4"/>
                </a:solidFill>
                <a:latin typeface="+mj-lt"/>
                <a:cs typeface="Segoe Sans Display" pitchFamily="2" charset="0"/>
              </a:rPr>
              <a:t>why</a:t>
            </a:r>
            <a:r>
              <a:rPr lang="en-US" altLang="en-US" sz="1200" dirty="0">
                <a:solidFill>
                  <a:schemeClr val="tx2"/>
                </a:solidFill>
                <a:cs typeface="Segoe Sans Display" pitchFamily="2" charset="0"/>
              </a:rPr>
              <a:t> it is relevant for the customer. Describe specific examples of the value this solution will deliver. Add industry or scenario alignment here – be specific. </a:t>
            </a:r>
          </a:p>
        </p:txBody>
      </p:sp>
      <p:sp>
        <p:nvSpPr>
          <p:cNvPr id="13" name="TextBox 12">
            <a:extLst>
              <a:ext uri="{FF2B5EF4-FFF2-40B4-BE49-F238E27FC236}">
                <a16:creationId xmlns:a16="http://schemas.microsoft.com/office/drawing/2014/main" id="{960C0F2D-F63A-6335-1BA6-F224FFF91C52}"/>
              </a:ext>
            </a:extLst>
          </p:cNvPr>
          <p:cNvSpPr txBox="1"/>
          <p:nvPr/>
        </p:nvSpPr>
        <p:spPr>
          <a:xfrm>
            <a:off x="588264" y="4285151"/>
            <a:ext cx="1591374" cy="800091"/>
          </a:xfrm>
          <a:prstGeom prst="rect">
            <a:avLst/>
          </a:prstGeom>
          <a:noFill/>
        </p:spPr>
        <p:txBody>
          <a:bodyPr wrap="square" lIns="182880" tIns="146304" rIns="0" bIns="146304" rtlCol="0">
            <a:spAutoFit/>
          </a:bodyPr>
          <a:lstStyle/>
          <a:p>
            <a:pPr algn="r">
              <a:lnSpc>
                <a:spcPct val="107000"/>
              </a:lnSpc>
              <a:spcAft>
                <a:spcPts val="800"/>
              </a:spcAft>
              <a:defRPr/>
            </a:pPr>
            <a:r>
              <a:rPr lang="en-US" altLang="en-US" sz="1600" kern="0" dirty="0">
                <a:solidFill>
                  <a:schemeClr val="accent4"/>
                </a:solidFill>
                <a:latin typeface="+mj-lt"/>
                <a:ea typeface="Segoe UI Regular" pitchFamily="34" charset="-122"/>
              </a:rPr>
              <a:t>Business benefits</a:t>
            </a:r>
          </a:p>
        </p:txBody>
      </p:sp>
      <p:sp>
        <p:nvSpPr>
          <p:cNvPr id="14" name="Left Brace 13">
            <a:extLst>
              <a:ext uri="{FF2B5EF4-FFF2-40B4-BE49-F238E27FC236}">
                <a16:creationId xmlns:a16="http://schemas.microsoft.com/office/drawing/2014/main" id="{515D136A-B559-8B20-12B1-1D7444B80053}"/>
              </a:ext>
              <a:ext uri="{C183D7F6-B498-43B3-948B-1728B52AA6E4}">
                <adec:decorative xmlns:adec="http://schemas.microsoft.com/office/drawing/2017/decorative" val="1"/>
              </a:ext>
            </a:extLst>
          </p:cNvPr>
          <p:cNvSpPr/>
          <p:nvPr/>
        </p:nvSpPr>
        <p:spPr>
          <a:xfrm>
            <a:off x="9020175" y="3101423"/>
            <a:ext cx="471308" cy="3167615"/>
          </a:xfrm>
          <a:prstGeom prst="leftBrace">
            <a:avLst>
              <a:gd name="adj1" fmla="val 53293"/>
              <a:gd name="adj2" fmla="val 49847"/>
            </a:avLst>
          </a:prstGeom>
          <a:noFill/>
          <a:ln w="25400">
            <a:gradFill flip="none" rotWithShape="1">
              <a:gsLst>
                <a:gs pos="30000">
                  <a:srgbClr val="2DB4FF"/>
                </a:gs>
                <a:gs pos="35000">
                  <a:srgbClr val="2DB4FF"/>
                </a:gs>
                <a:gs pos="3000">
                  <a:srgbClr val="0078D4"/>
                </a:gs>
                <a:gs pos="52000">
                  <a:srgbClr val="818EFF"/>
                </a:gs>
                <a:gs pos="70000">
                  <a:srgbClr val="D660FF"/>
                </a:gs>
                <a:gs pos="97000">
                  <a:srgbClr val="FEA87A"/>
                </a:gs>
              </a:gsLst>
              <a:lin ang="162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cs typeface="Segoe UI" pitchFamily="34" charset="0"/>
            </a:endParaRPr>
          </a:p>
        </p:txBody>
      </p:sp>
      <p:sp>
        <p:nvSpPr>
          <p:cNvPr id="15" name="TextBox 14">
            <a:extLst>
              <a:ext uri="{FF2B5EF4-FFF2-40B4-BE49-F238E27FC236}">
                <a16:creationId xmlns:a16="http://schemas.microsoft.com/office/drawing/2014/main" id="{86E104C5-CC39-D06F-D52C-8DFAA0F0CF6D}"/>
              </a:ext>
            </a:extLst>
          </p:cNvPr>
          <p:cNvSpPr txBox="1"/>
          <p:nvPr/>
        </p:nvSpPr>
        <p:spPr>
          <a:xfrm>
            <a:off x="588263" y="2574739"/>
            <a:ext cx="6934334" cy="332399"/>
          </a:xfrm>
          <a:prstGeom prst="rect">
            <a:avLst/>
          </a:prstGeom>
          <a:noFill/>
        </p:spPr>
        <p:txBody>
          <a:bodyPr wrap="none" lIns="0" tIns="0" rIns="0" bIns="0"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j-lt"/>
                <a:ea typeface="+mn-ea"/>
                <a:cs typeface="+mn-cs"/>
              </a:rPr>
              <a:t>Package your services and land the right message</a:t>
            </a:r>
          </a:p>
        </p:txBody>
      </p:sp>
      <p:sp>
        <p:nvSpPr>
          <p:cNvPr id="2" name="Title 1">
            <a:extLst>
              <a:ext uri="{FF2B5EF4-FFF2-40B4-BE49-F238E27FC236}">
                <a16:creationId xmlns:a16="http://schemas.microsoft.com/office/drawing/2014/main" id="{5AA3E965-5AD3-D298-DD24-F3131F69BF01}"/>
              </a:ext>
            </a:extLst>
          </p:cNvPr>
          <p:cNvSpPr>
            <a:spLocks noGrp="1"/>
          </p:cNvSpPr>
          <p:nvPr>
            <p:ph type="title"/>
          </p:nvPr>
        </p:nvSpPr>
        <p:spPr/>
        <p:txBody>
          <a:bodyPr/>
          <a:lstStyle/>
          <a:p>
            <a:r>
              <a:rPr lang="en-US" noProof="0"/>
              <a:t>AppSource listing guidance</a:t>
            </a:r>
            <a:endParaRPr lang="en-US"/>
          </a:p>
        </p:txBody>
      </p:sp>
      <p:sp>
        <p:nvSpPr>
          <p:cNvPr id="11" name="Content Placeholder 18">
            <a:extLst>
              <a:ext uri="{FF2B5EF4-FFF2-40B4-BE49-F238E27FC236}">
                <a16:creationId xmlns:a16="http://schemas.microsoft.com/office/drawing/2014/main" id="{9560C6BD-617F-F4F9-DE70-A049F179DB70}"/>
              </a:ext>
            </a:extLst>
          </p:cNvPr>
          <p:cNvSpPr txBox="1">
            <a:spLocks/>
          </p:cNvSpPr>
          <p:nvPr/>
        </p:nvSpPr>
        <p:spPr>
          <a:xfrm>
            <a:off x="585216" y="1336193"/>
            <a:ext cx="11018520" cy="822958"/>
          </a:xfrm>
          <a:prstGeom prst="rect">
            <a:avLst/>
          </a:prstGeom>
        </p:spPr>
        <p:txBody>
          <a:bodyPr vert="horz" lIns="0" tIns="0" rIns="0" bIns="0" rtlCol="0" anchor="ctr"/>
          <a:lstStyle>
            <a:defPPr>
              <a:defRPr lang="en-US"/>
            </a:defPPr>
            <a:lvl1pPr marL="0" algn="l" defTabSz="914400" rtl="0" eaLnBrk="1" latinLnBrk="0" hangingPunct="1">
              <a:defRPr sz="10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7000"/>
              </a:lnSpc>
              <a:spcAft>
                <a:spcPts val="800"/>
              </a:spcAft>
              <a:defRPr/>
            </a:pPr>
            <a:r>
              <a:rPr lang="en-US" sz="2400" spc="-50" dirty="0">
                <a:ln w="3175">
                  <a:noFill/>
                </a:ln>
                <a:gradFill>
                  <a:gsLst>
                    <a:gs pos="70000">
                      <a:srgbClr val="D660FF"/>
                    </a:gs>
                    <a:gs pos="52000">
                      <a:srgbClr val="818EFF"/>
                    </a:gs>
                    <a:gs pos="35000">
                      <a:srgbClr val="2DB4FF"/>
                    </a:gs>
                    <a:gs pos="30000">
                      <a:srgbClr val="2DB4FF"/>
                    </a:gs>
                    <a:gs pos="3000">
                      <a:srgbClr val="0078D4"/>
                    </a:gs>
                    <a:gs pos="97000">
                      <a:srgbClr val="FEA874"/>
                    </a:gs>
                  </a:gsLst>
                  <a:lin ang="3000000" scaled="0"/>
                </a:gradFill>
                <a:latin typeface="+mj-lt"/>
                <a:cs typeface="Segoe UI" pitchFamily="34" charset="0"/>
              </a:rPr>
              <a:t>Follow best practices for Microsoft listings</a:t>
            </a:r>
          </a:p>
          <a:p>
            <a:pPr marL="0" lvl="3"/>
            <a:r>
              <a:rPr lang="en-US" dirty="0"/>
              <a:t>Optimize your marketplace listing in the commercial marketplace by following the </a:t>
            </a:r>
            <a:r>
              <a:rPr lang="en-US" dirty="0">
                <a:hlinkClick r:id="rId4"/>
              </a:rPr>
              <a:t>latest best practices</a:t>
            </a:r>
            <a:r>
              <a:rPr lang="en-US" dirty="0"/>
              <a:t>.</a:t>
            </a:r>
          </a:p>
        </p:txBody>
      </p:sp>
      <p:sp>
        <p:nvSpPr>
          <p:cNvPr id="17" name="Footer Placeholder 16">
            <a:extLst>
              <a:ext uri="{FF2B5EF4-FFF2-40B4-BE49-F238E27FC236}">
                <a16:creationId xmlns:a16="http://schemas.microsoft.com/office/drawing/2014/main" id="{1813576B-23A2-A1BA-7ABB-4D6D0DF34035}"/>
              </a:ext>
            </a:extLst>
          </p:cNvPr>
          <p:cNvSpPr>
            <a:spLocks noGrp="1"/>
          </p:cNvSpPr>
          <p:nvPr>
            <p:ph type="ftr" sz="quarter" idx="12"/>
          </p:nvPr>
        </p:nvSpPr>
        <p:spPr/>
        <p:txBody>
          <a:bodyPr/>
          <a:lstStyle/>
          <a:p>
            <a:r>
              <a:rPr lang="en-US"/>
              <a:t>Building Customer-Centric Services offers</a:t>
            </a:r>
          </a:p>
        </p:txBody>
      </p:sp>
      <p:sp>
        <p:nvSpPr>
          <p:cNvPr id="18" name="Slide Number Placeholder 17">
            <a:extLst>
              <a:ext uri="{FF2B5EF4-FFF2-40B4-BE49-F238E27FC236}">
                <a16:creationId xmlns:a16="http://schemas.microsoft.com/office/drawing/2014/main" id="{B497A601-7C39-E57E-D8DC-2403F9133B05}"/>
              </a:ext>
            </a:extLst>
          </p:cNvPr>
          <p:cNvSpPr>
            <a:spLocks noGrp="1"/>
          </p:cNvSpPr>
          <p:nvPr>
            <p:ph type="sldNum" sz="quarter" idx="13"/>
          </p:nvPr>
        </p:nvSpPr>
        <p:spPr/>
        <p:txBody>
          <a:bodyPr/>
          <a:lstStyle/>
          <a:p>
            <a:fld id="{5763EE98-C176-4152-A50F-E68840BAFA00}" type="slidenum">
              <a:rPr lang="en-US" smtClean="0"/>
              <a:pPr/>
              <a:t>19</a:t>
            </a:fld>
            <a:endParaRPr lang="en-US"/>
          </a:p>
        </p:txBody>
      </p:sp>
    </p:spTree>
    <p:extLst>
      <p:ext uri="{BB962C8B-B14F-4D97-AF65-F5344CB8AC3E}">
        <p14:creationId xmlns:p14="http://schemas.microsoft.com/office/powerpoint/2010/main" val="297290885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39000" b="-39000"/>
          </a:stretch>
        </a:blipFill>
        <a:effectLst/>
      </p:bgPr>
    </p:bg>
    <p:spTree>
      <p:nvGrpSpPr>
        <p:cNvPr id="1" name="">
          <a:extLst>
            <a:ext uri="{FF2B5EF4-FFF2-40B4-BE49-F238E27FC236}">
              <a16:creationId xmlns:a16="http://schemas.microsoft.com/office/drawing/2014/main" id="{CCDD7B73-F987-FAF8-4BF8-7D63B18DF8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3C6B65-CCA9-39F9-08F8-BE5AC597D02F}"/>
              </a:ext>
            </a:extLst>
          </p:cNvPr>
          <p:cNvSpPr>
            <a:spLocks noGrp="1"/>
          </p:cNvSpPr>
          <p:nvPr>
            <p:ph type="title"/>
          </p:nvPr>
        </p:nvSpPr>
        <p:spPr/>
        <p:txBody>
          <a:bodyPr/>
          <a:lstStyle/>
          <a:p>
            <a:r>
              <a:rPr lang="en-US" dirty="0"/>
              <a:t>Examples of a good offer vs bad offer </a:t>
            </a:r>
          </a:p>
        </p:txBody>
      </p:sp>
      <p:sp>
        <p:nvSpPr>
          <p:cNvPr id="6" name="Content Placeholder 5">
            <a:extLst>
              <a:ext uri="{FF2B5EF4-FFF2-40B4-BE49-F238E27FC236}">
                <a16:creationId xmlns:a16="http://schemas.microsoft.com/office/drawing/2014/main" id="{EAE9368F-E963-726A-418E-76380C7D9BDA}"/>
              </a:ext>
            </a:extLst>
          </p:cNvPr>
          <p:cNvSpPr>
            <a:spLocks noGrp="1"/>
          </p:cNvSpPr>
          <p:nvPr>
            <p:ph sz="quarter" idx="12"/>
          </p:nvPr>
        </p:nvSpPr>
        <p:spPr>
          <a:xfrm>
            <a:off x="584200" y="1435100"/>
            <a:ext cx="5226050" cy="4833938"/>
          </a:xfrm>
          <a:prstGeom prst="roundRect">
            <a:avLst>
              <a:gd name="adj" fmla="val 3213"/>
            </a:avLst>
          </a:prstGeom>
          <a:solidFill>
            <a:schemeClr val="bg1">
              <a:alpha val="31000"/>
            </a:schemeClr>
          </a:solidFill>
          <a:ln w="12700">
            <a:gradFill>
              <a:gsLst>
                <a:gs pos="0">
                  <a:schemeClr val="bg1"/>
                </a:gs>
                <a:gs pos="100000">
                  <a:schemeClr val="bg2"/>
                </a:gs>
              </a:gsLst>
              <a:lin ang="5400000" scaled="1"/>
            </a:gradFill>
          </a:ln>
          <a:effectLst>
            <a:outerShdw blurRad="406400" dist="38100" dir="2700000" algn="tl" rotWithShape="0">
              <a:prstClr val="black">
                <a:alpha val="12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74320" rIns="274320" bIns="274320" numCol="1" spcCol="0" rtlCol="0" fromWordArt="0" anchor="t" anchorCtr="0" forceAA="0" compatLnSpc="1">
            <a:prstTxWarp prst="textNoShape">
              <a:avLst/>
            </a:prstTxWarp>
            <a:noAutofit/>
          </a:bodyPr>
          <a:lstStyle/>
          <a:p>
            <a:pPr marL="0" indent="0" defTabSz="914400">
              <a:lnSpc>
                <a:spcPct val="107000"/>
              </a:lnSpc>
              <a:spcAft>
                <a:spcPts val="800"/>
              </a:spcAft>
              <a:buNone/>
            </a:pPr>
            <a:r>
              <a:rPr lang="en-US" dirty="0">
                <a:ln w="3175">
                  <a:noFill/>
                </a:ln>
                <a:solidFill>
                  <a:schemeClr val="tx2"/>
                </a:solidFill>
                <a:latin typeface="+mj-lt"/>
                <a:cs typeface="Segoe UI" panose="020B0502040204020203" pitchFamily="34" charset="0"/>
              </a:rPr>
              <a:t>Do...</a:t>
            </a:r>
          </a:p>
          <a:p>
            <a:pPr marL="173736" indent="-173736" defTabSz="914400">
              <a:spcBef>
                <a:spcPts val="0"/>
              </a:spcBef>
              <a:spcAft>
                <a:spcPts val="600"/>
              </a:spcAft>
            </a:pPr>
            <a:r>
              <a:rPr lang="en-US" sz="1400" dirty="0">
                <a:ln w="3175">
                  <a:noFill/>
                </a:ln>
                <a:solidFill>
                  <a:schemeClr val="tx2"/>
                </a:solidFill>
                <a:cs typeface="Segoe UI" panose="020B0502040204020203" pitchFamily="34" charset="0"/>
              </a:rPr>
              <a:t>Provide details of a holistic approach to manage the </a:t>
            </a:r>
            <a:r>
              <a:rPr lang="en-US" sz="1400" dirty="0">
                <a:ln w="3175">
                  <a:noFill/>
                </a:ln>
                <a:solidFill>
                  <a:schemeClr val="tx2"/>
                </a:solidFill>
                <a:latin typeface="+mj-lt"/>
                <a:cs typeface="Segoe UI" panose="020B0502040204020203" pitchFamily="34" charset="0"/>
              </a:rPr>
              <a:t>people</a:t>
            </a:r>
            <a:r>
              <a:rPr lang="en-US" sz="1400" dirty="0">
                <a:ln w="3175">
                  <a:noFill/>
                </a:ln>
                <a:solidFill>
                  <a:schemeClr val="tx2"/>
                </a:solidFill>
                <a:cs typeface="Segoe UI" panose="020B0502040204020203" pitchFamily="34" charset="0"/>
              </a:rPr>
              <a:t> side of change. </a:t>
            </a:r>
          </a:p>
          <a:p>
            <a:pPr marL="173736" indent="-173736" defTabSz="914400">
              <a:spcBef>
                <a:spcPts val="0"/>
              </a:spcBef>
              <a:spcAft>
                <a:spcPts val="600"/>
              </a:spcAft>
            </a:pPr>
            <a:r>
              <a:rPr lang="en-US" sz="1400" dirty="0">
                <a:ln w="3175">
                  <a:noFill/>
                </a:ln>
                <a:solidFill>
                  <a:schemeClr val="tx2"/>
                </a:solidFill>
                <a:cs typeface="Segoe UI" panose="020B0502040204020203" pitchFamily="34" charset="0"/>
              </a:rPr>
              <a:t>Reference any formal approaches or methodologies you use or hold certifications for (e.g., </a:t>
            </a:r>
            <a:r>
              <a:rPr lang="en-US" sz="1400" dirty="0" err="1">
                <a:ln w="3175">
                  <a:noFill/>
                </a:ln>
                <a:solidFill>
                  <a:schemeClr val="tx2"/>
                </a:solidFill>
                <a:cs typeface="Segoe UI" panose="020B0502040204020203" pitchFamily="34" charset="0"/>
              </a:rPr>
              <a:t>Prosci</a:t>
            </a:r>
            <a:r>
              <a:rPr lang="en-US" sz="1400" dirty="0">
                <a:ln w="3175">
                  <a:noFill/>
                </a:ln>
                <a:solidFill>
                  <a:schemeClr val="tx2"/>
                </a:solidFill>
                <a:cs typeface="Segoe UI" panose="020B0502040204020203" pitchFamily="34" charset="0"/>
              </a:rPr>
              <a:t>).</a:t>
            </a:r>
          </a:p>
          <a:p>
            <a:pPr marL="173736" indent="-173736" defTabSz="914400">
              <a:spcBef>
                <a:spcPts val="0"/>
              </a:spcBef>
              <a:spcAft>
                <a:spcPts val="600"/>
              </a:spcAft>
            </a:pPr>
            <a:r>
              <a:rPr lang="en-US" sz="1400" dirty="0">
                <a:ln w="3175">
                  <a:noFill/>
                </a:ln>
                <a:solidFill>
                  <a:schemeClr val="tx2"/>
                </a:solidFill>
                <a:cs typeface="Segoe UI" panose="020B0502040204020203" pitchFamily="34" charset="0"/>
              </a:rPr>
              <a:t>Address how you will engage </a:t>
            </a:r>
            <a:r>
              <a:rPr lang="en-US" sz="1400" dirty="0">
                <a:ln w="3175">
                  <a:noFill/>
                </a:ln>
                <a:solidFill>
                  <a:schemeClr val="tx2"/>
                </a:solidFill>
                <a:latin typeface="+mj-lt"/>
                <a:cs typeface="Segoe UI" panose="020B0502040204020203" pitchFamily="34" charset="0"/>
              </a:rPr>
              <a:t>stakeholders</a:t>
            </a:r>
            <a:r>
              <a:rPr lang="en-US" sz="1400" dirty="0">
                <a:ln w="3175">
                  <a:noFill/>
                </a:ln>
                <a:solidFill>
                  <a:schemeClr val="tx2"/>
                </a:solidFill>
                <a:cs typeface="Segoe UI" panose="020B0502040204020203" pitchFamily="34" charset="0"/>
              </a:rPr>
              <a:t> within and outside of IT and mitigate potential resistance.</a:t>
            </a:r>
          </a:p>
          <a:p>
            <a:pPr marL="173736" indent="-173736" defTabSz="914400">
              <a:spcBef>
                <a:spcPts val="0"/>
              </a:spcBef>
              <a:spcAft>
                <a:spcPts val="600"/>
              </a:spcAft>
            </a:pPr>
            <a:r>
              <a:rPr lang="en-US" sz="1400" dirty="0">
                <a:ln w="3175">
                  <a:noFill/>
                </a:ln>
                <a:solidFill>
                  <a:schemeClr val="tx2"/>
                </a:solidFill>
                <a:cs typeface="Segoe UI" panose="020B0502040204020203" pitchFamily="34" charset="0"/>
              </a:rPr>
              <a:t>Include a comprehensive </a:t>
            </a:r>
            <a:r>
              <a:rPr lang="en-US" sz="1400" dirty="0">
                <a:ln w="3175">
                  <a:noFill/>
                </a:ln>
                <a:solidFill>
                  <a:schemeClr val="tx2"/>
                </a:solidFill>
                <a:latin typeface="+mj-lt"/>
                <a:cs typeface="Segoe UI" panose="020B0502040204020203" pitchFamily="34" charset="0"/>
              </a:rPr>
              <a:t>communication</a:t>
            </a:r>
            <a:r>
              <a:rPr lang="en-US" sz="1400" dirty="0">
                <a:ln w="3175">
                  <a:noFill/>
                </a:ln>
                <a:solidFill>
                  <a:schemeClr val="tx2"/>
                </a:solidFill>
                <a:cs typeface="Segoe UI" panose="020B0502040204020203" pitchFamily="34" charset="0"/>
              </a:rPr>
              <a:t> and </a:t>
            </a:r>
            <a:r>
              <a:rPr lang="en-US" sz="1400" dirty="0">
                <a:ln w="3175">
                  <a:noFill/>
                </a:ln>
                <a:solidFill>
                  <a:schemeClr val="tx2"/>
                </a:solidFill>
                <a:latin typeface="+mj-lt"/>
                <a:cs typeface="Segoe UI" panose="020B0502040204020203" pitchFamily="34" charset="0"/>
              </a:rPr>
              <a:t>training</a:t>
            </a:r>
            <a:r>
              <a:rPr lang="en-US" sz="1400" dirty="0">
                <a:ln w="3175">
                  <a:noFill/>
                </a:ln>
                <a:solidFill>
                  <a:schemeClr val="tx2"/>
                </a:solidFill>
                <a:cs typeface="Segoe UI" panose="020B0502040204020203" pitchFamily="34" charset="0"/>
              </a:rPr>
              <a:t> strategy.</a:t>
            </a:r>
          </a:p>
          <a:p>
            <a:pPr marL="173736" indent="-173736" defTabSz="914400">
              <a:spcBef>
                <a:spcPts val="0"/>
              </a:spcBef>
              <a:spcAft>
                <a:spcPts val="600"/>
              </a:spcAft>
            </a:pPr>
            <a:r>
              <a:rPr lang="en-US" sz="1400" dirty="0">
                <a:ln w="3175">
                  <a:noFill/>
                </a:ln>
                <a:solidFill>
                  <a:schemeClr val="tx2"/>
                </a:solidFill>
                <a:cs typeface="Segoe UI" panose="020B0502040204020203" pitchFamily="34" charset="0"/>
              </a:rPr>
              <a:t>Explain how you will collect </a:t>
            </a:r>
            <a:r>
              <a:rPr lang="en-US" sz="1400" dirty="0">
                <a:ln w="3175">
                  <a:noFill/>
                </a:ln>
                <a:solidFill>
                  <a:schemeClr val="tx2"/>
                </a:solidFill>
                <a:latin typeface="+mj-lt"/>
                <a:cs typeface="Segoe UI" panose="020B0502040204020203" pitchFamily="34" charset="0"/>
              </a:rPr>
              <a:t>feedback</a:t>
            </a:r>
            <a:r>
              <a:rPr lang="en-US" sz="1400" dirty="0">
                <a:ln w="3175">
                  <a:noFill/>
                </a:ln>
                <a:solidFill>
                  <a:schemeClr val="tx2"/>
                </a:solidFill>
                <a:cs typeface="Segoe UI" panose="020B0502040204020203" pitchFamily="34" charset="0"/>
              </a:rPr>
              <a:t> and </a:t>
            </a:r>
            <a:r>
              <a:rPr lang="en-US" sz="1400" dirty="0">
                <a:ln w="3175">
                  <a:noFill/>
                </a:ln>
                <a:solidFill>
                  <a:schemeClr val="tx2"/>
                </a:solidFill>
                <a:latin typeface="+mj-lt"/>
                <a:cs typeface="Segoe UI" panose="020B0502040204020203" pitchFamily="34" charset="0"/>
              </a:rPr>
              <a:t>metrics</a:t>
            </a:r>
            <a:r>
              <a:rPr lang="en-US" sz="1400" dirty="0">
                <a:ln w="3175">
                  <a:noFill/>
                </a:ln>
                <a:solidFill>
                  <a:schemeClr val="tx2"/>
                </a:solidFill>
                <a:cs typeface="Segoe UI" panose="020B0502040204020203" pitchFamily="34" charset="0"/>
              </a:rPr>
              <a:t> to adapt your approach and measure success.</a:t>
            </a:r>
          </a:p>
          <a:p>
            <a:pPr marL="173736" indent="-173736" defTabSz="914400">
              <a:spcBef>
                <a:spcPts val="0"/>
              </a:spcBef>
              <a:spcAft>
                <a:spcPts val="600"/>
              </a:spcAft>
            </a:pPr>
            <a:r>
              <a:rPr lang="en-US" sz="1400" dirty="0">
                <a:ln w="3175">
                  <a:noFill/>
                </a:ln>
                <a:solidFill>
                  <a:schemeClr val="tx2"/>
                </a:solidFill>
                <a:cs typeface="Segoe UI" panose="020B0502040204020203" pitchFamily="34" charset="0"/>
              </a:rPr>
              <a:t>Provide an approach that encompasses </a:t>
            </a:r>
            <a:r>
              <a:rPr lang="en-US" sz="1400" dirty="0">
                <a:ln w="3175">
                  <a:noFill/>
                </a:ln>
                <a:solidFill>
                  <a:schemeClr val="tx2"/>
                </a:solidFill>
                <a:latin typeface="+mj-lt"/>
                <a:cs typeface="Segoe UI" panose="020B0502040204020203" pitchFamily="34" charset="0"/>
              </a:rPr>
              <a:t>pre</a:t>
            </a:r>
            <a:r>
              <a:rPr lang="en-US" sz="1400" dirty="0">
                <a:ln w="3175">
                  <a:noFill/>
                </a:ln>
                <a:solidFill>
                  <a:schemeClr val="tx2"/>
                </a:solidFill>
                <a:cs typeface="Segoe UI" panose="020B0502040204020203" pitchFamily="34" charset="0"/>
              </a:rPr>
              <a:t>-launch, immediately </a:t>
            </a:r>
            <a:r>
              <a:rPr lang="en-US" sz="1400" dirty="0">
                <a:ln w="3175">
                  <a:noFill/>
                </a:ln>
                <a:solidFill>
                  <a:schemeClr val="tx2"/>
                </a:solidFill>
                <a:latin typeface="+mj-lt"/>
                <a:cs typeface="Segoe UI" panose="020B0502040204020203" pitchFamily="34" charset="0"/>
              </a:rPr>
              <a:t>post</a:t>
            </a:r>
            <a:r>
              <a:rPr lang="en-US" sz="1400" dirty="0">
                <a:ln w="3175">
                  <a:noFill/>
                </a:ln>
                <a:solidFill>
                  <a:schemeClr val="tx2"/>
                </a:solidFill>
                <a:cs typeface="Segoe UI" panose="020B0502040204020203" pitchFamily="34" charset="0"/>
              </a:rPr>
              <a:t>-launch, and </a:t>
            </a:r>
            <a:r>
              <a:rPr lang="en-US" sz="1400" dirty="0">
                <a:ln w="3175">
                  <a:noFill/>
                </a:ln>
                <a:solidFill>
                  <a:schemeClr val="tx2"/>
                </a:solidFill>
                <a:latin typeface="+mj-lt"/>
                <a:cs typeface="Segoe UI" panose="020B0502040204020203" pitchFamily="34" charset="0"/>
              </a:rPr>
              <a:t>longer term</a:t>
            </a:r>
            <a:r>
              <a:rPr lang="en-US" sz="1400" dirty="0">
                <a:ln w="3175">
                  <a:noFill/>
                </a:ln>
                <a:solidFill>
                  <a:schemeClr val="tx2"/>
                </a:solidFill>
                <a:cs typeface="Segoe UI" panose="020B0502040204020203" pitchFamily="34" charset="0"/>
              </a:rPr>
              <a:t>.</a:t>
            </a:r>
          </a:p>
          <a:p>
            <a:pPr marL="173736" indent="-173736" defTabSz="914400">
              <a:spcBef>
                <a:spcPts val="0"/>
              </a:spcBef>
              <a:spcAft>
                <a:spcPts val="600"/>
              </a:spcAft>
            </a:pPr>
            <a:r>
              <a:rPr lang="en-US" sz="1400" dirty="0">
                <a:ln w="3175">
                  <a:noFill/>
                </a:ln>
                <a:solidFill>
                  <a:schemeClr val="tx2"/>
                </a:solidFill>
                <a:cs typeface="Segoe UI" panose="020B0502040204020203" pitchFamily="34" charset="0"/>
              </a:rPr>
              <a:t>Make your offer specific to driving </a:t>
            </a:r>
            <a:r>
              <a:rPr lang="en-US" sz="1400" dirty="0">
                <a:ln w="3175">
                  <a:noFill/>
                </a:ln>
                <a:solidFill>
                  <a:schemeClr val="tx2"/>
                </a:solidFill>
                <a:latin typeface="+mj-lt"/>
                <a:cs typeface="Segoe UI" panose="020B0502040204020203" pitchFamily="34" charset="0"/>
              </a:rPr>
              <a:t>Copilot</a:t>
            </a:r>
            <a:r>
              <a:rPr lang="en-US" sz="1400" dirty="0">
                <a:ln w="3175">
                  <a:noFill/>
                </a:ln>
                <a:solidFill>
                  <a:schemeClr val="tx2"/>
                </a:solidFill>
                <a:cs typeface="Segoe UI" panose="020B0502040204020203" pitchFamily="34" charset="0"/>
              </a:rPr>
              <a:t> value.</a:t>
            </a:r>
            <a:endParaRPr lang="en-US" sz="1200" dirty="0">
              <a:ln w="3175">
                <a:noFill/>
              </a:ln>
              <a:solidFill>
                <a:schemeClr val="accent4"/>
              </a:solidFill>
              <a:latin typeface="Segoe UI Semibold"/>
              <a:cs typeface="Segoe UI" panose="020B0502040204020203" pitchFamily="34" charset="0"/>
            </a:endParaRPr>
          </a:p>
          <a:p>
            <a:pPr marL="0" defTabSz="914400">
              <a:lnSpc>
                <a:spcPct val="107000"/>
              </a:lnSpc>
              <a:spcAft>
                <a:spcPts val="800"/>
              </a:spcAft>
            </a:pPr>
            <a:endParaRPr lang="en-US" sz="1200" dirty="0">
              <a:ln w="3175">
                <a:noFill/>
              </a:ln>
              <a:solidFill>
                <a:schemeClr val="accent4"/>
              </a:solidFill>
              <a:latin typeface="Segoe UI Semibold"/>
              <a:cs typeface="Segoe UI" panose="020B0502040204020203" pitchFamily="34" charset="0"/>
            </a:endParaRPr>
          </a:p>
        </p:txBody>
      </p:sp>
      <p:sp>
        <p:nvSpPr>
          <p:cNvPr id="3" name="Content Placeholder 2">
            <a:extLst>
              <a:ext uri="{FF2B5EF4-FFF2-40B4-BE49-F238E27FC236}">
                <a16:creationId xmlns:a16="http://schemas.microsoft.com/office/drawing/2014/main" id="{10AE3587-0000-EEC5-FB23-739681048D94}"/>
              </a:ext>
            </a:extLst>
          </p:cNvPr>
          <p:cNvSpPr>
            <a:spLocks noGrp="1"/>
          </p:cNvSpPr>
          <p:nvPr>
            <p:ph sz="quarter" idx="13"/>
          </p:nvPr>
        </p:nvSpPr>
        <p:spPr>
          <a:xfrm>
            <a:off x="6389688" y="1435100"/>
            <a:ext cx="5219700" cy="4833938"/>
          </a:xfrm>
          <a:prstGeom prst="roundRect">
            <a:avLst>
              <a:gd name="adj" fmla="val 3112"/>
            </a:avLst>
          </a:prstGeom>
          <a:solidFill>
            <a:schemeClr val="bg1">
              <a:alpha val="31000"/>
            </a:schemeClr>
          </a:solidFill>
          <a:ln w="12700">
            <a:gradFill>
              <a:gsLst>
                <a:gs pos="0">
                  <a:schemeClr val="bg1"/>
                </a:gs>
                <a:gs pos="100000">
                  <a:schemeClr val="bg2"/>
                </a:gs>
              </a:gsLst>
              <a:lin ang="5400000" scaled="1"/>
            </a:gradFill>
          </a:ln>
          <a:effectLst>
            <a:outerShdw blurRad="406400" dist="38100" dir="2700000" algn="tl" rotWithShape="0">
              <a:prstClr val="black">
                <a:alpha val="12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74320" rIns="274320" bIns="274320" numCol="1" spcCol="0" rtlCol="0" fromWordArt="0" anchor="t" anchorCtr="0" forceAA="0" compatLnSpc="1">
            <a:prstTxWarp prst="textNoShape">
              <a:avLst/>
            </a:prstTxWarp>
            <a:noAutofit/>
          </a:bodyPr>
          <a:lstStyle/>
          <a:p>
            <a:pPr marL="0" indent="0" defTabSz="914400">
              <a:lnSpc>
                <a:spcPct val="107000"/>
              </a:lnSpc>
              <a:spcAft>
                <a:spcPts val="800"/>
              </a:spcAft>
              <a:buNone/>
            </a:pPr>
            <a:r>
              <a:rPr lang="en-US" dirty="0">
                <a:ln w="3175">
                  <a:noFill/>
                </a:ln>
                <a:solidFill>
                  <a:schemeClr val="tx2"/>
                </a:solidFill>
                <a:latin typeface="+mj-lt"/>
                <a:cs typeface="Segoe UI" panose="020B0502040204020203" pitchFamily="34" charset="0"/>
              </a:rPr>
              <a:t>Don’t...</a:t>
            </a:r>
          </a:p>
          <a:p>
            <a:pPr marL="173736" lvl="2" indent="-173736">
              <a:spcBef>
                <a:spcPts val="0"/>
              </a:spcBef>
              <a:spcAft>
                <a:spcPts val="300"/>
              </a:spcAft>
            </a:pPr>
            <a:r>
              <a:rPr lang="en-US" sz="1400" dirty="0">
                <a:solidFill>
                  <a:schemeClr val="tx2"/>
                </a:solidFill>
              </a:rPr>
              <a:t>Focus primarily on technical readiness without addressing the people side of change.</a:t>
            </a:r>
          </a:p>
          <a:p>
            <a:pPr marL="173736" lvl="2" indent="-173736">
              <a:spcBef>
                <a:spcPts val="0"/>
              </a:spcBef>
              <a:spcAft>
                <a:spcPts val="300"/>
              </a:spcAft>
            </a:pPr>
            <a:r>
              <a:rPr lang="en-US" sz="1400" dirty="0">
                <a:solidFill>
                  <a:schemeClr val="tx2"/>
                </a:solidFill>
              </a:rPr>
              <a:t>Focus primarily on IT stakeholders / priorities vs. other BDMs and broader organizational priorities.</a:t>
            </a:r>
          </a:p>
          <a:p>
            <a:pPr marL="173736" lvl="2" indent="-173736">
              <a:spcBef>
                <a:spcPts val="0"/>
              </a:spcBef>
              <a:spcAft>
                <a:spcPts val="300"/>
              </a:spcAft>
            </a:pPr>
            <a:r>
              <a:rPr lang="en-US" sz="1400" dirty="0">
                <a:solidFill>
                  <a:schemeClr val="tx2"/>
                </a:solidFill>
              </a:rPr>
              <a:t>Mention promoting adoption without explaining your approach.</a:t>
            </a:r>
          </a:p>
          <a:p>
            <a:pPr marL="173736" lvl="2" indent="-173736">
              <a:spcBef>
                <a:spcPts val="0"/>
              </a:spcBef>
              <a:spcAft>
                <a:spcPts val="300"/>
              </a:spcAft>
            </a:pPr>
            <a:r>
              <a:rPr lang="en-US" sz="1400" dirty="0">
                <a:solidFill>
                  <a:schemeClr val="tx2"/>
                </a:solidFill>
              </a:rPr>
              <a:t>State that you will develop a change management plan without elaborating on what it will include.</a:t>
            </a:r>
          </a:p>
          <a:p>
            <a:pPr marL="173736" lvl="2" indent="-173736">
              <a:spcBef>
                <a:spcPts val="0"/>
              </a:spcBef>
              <a:spcAft>
                <a:spcPts val="300"/>
              </a:spcAft>
            </a:pPr>
            <a:r>
              <a:rPr lang="en-US" sz="1400" dirty="0">
                <a:solidFill>
                  <a:schemeClr val="tx2"/>
                </a:solidFill>
              </a:rPr>
              <a:t>Focus only on one-time training and launch communications.</a:t>
            </a:r>
          </a:p>
          <a:p>
            <a:pPr marL="173736" lvl="2" indent="-173736">
              <a:spcBef>
                <a:spcPts val="0"/>
              </a:spcBef>
              <a:spcAft>
                <a:spcPts val="300"/>
              </a:spcAft>
            </a:pPr>
            <a:r>
              <a:rPr lang="en-US" sz="1400" dirty="0">
                <a:solidFill>
                  <a:schemeClr val="tx2"/>
                </a:solidFill>
              </a:rPr>
              <a:t>Provide a generic approach to adoption and change management without tailoring it to driving Copilot value for the customer.</a:t>
            </a:r>
          </a:p>
          <a:p>
            <a:pPr marL="173736" lvl="2" indent="-173736">
              <a:spcBef>
                <a:spcPts val="0"/>
              </a:spcBef>
              <a:spcAft>
                <a:spcPts val="300"/>
              </a:spcAft>
            </a:pPr>
            <a:r>
              <a:rPr lang="en-US" sz="1400" dirty="0">
                <a:solidFill>
                  <a:schemeClr val="tx2"/>
                </a:solidFill>
              </a:rPr>
              <a:t>Just offer Copilot Accelerate engagement without your value addition or being dependent on funding availability.</a:t>
            </a:r>
          </a:p>
        </p:txBody>
      </p:sp>
      <p:sp>
        <p:nvSpPr>
          <p:cNvPr id="5" name="Subtitle 4">
            <a:extLst>
              <a:ext uri="{FF2B5EF4-FFF2-40B4-BE49-F238E27FC236}">
                <a16:creationId xmlns:a16="http://schemas.microsoft.com/office/drawing/2014/main" id="{823DC04F-D939-F763-6366-DB142911BEB0}"/>
              </a:ext>
            </a:extLst>
          </p:cNvPr>
          <p:cNvSpPr>
            <a:spLocks noGrp="1"/>
          </p:cNvSpPr>
          <p:nvPr>
            <p:ph type="body" sz="quarter" idx="11"/>
          </p:nvPr>
        </p:nvSpPr>
        <p:spPr/>
        <p:txBody>
          <a:bodyPr vert="horz" lIns="0" tIns="0" rIns="0" bIns="0" rtlCol="0" anchor="t">
            <a:noAutofit/>
          </a:bodyPr>
          <a:lstStyle/>
          <a:p>
            <a:r>
              <a:rPr lang="en-US">
                <a:cs typeface="Segoe Sans Text"/>
              </a:rPr>
              <a:t>Example of an ACM offer</a:t>
            </a:r>
            <a:endParaRPr lang="en-US"/>
          </a:p>
        </p:txBody>
      </p:sp>
      <p:sp>
        <p:nvSpPr>
          <p:cNvPr id="8" name="Footer Placeholder 7">
            <a:extLst>
              <a:ext uri="{FF2B5EF4-FFF2-40B4-BE49-F238E27FC236}">
                <a16:creationId xmlns:a16="http://schemas.microsoft.com/office/drawing/2014/main" id="{9480D803-6344-D4DC-906E-E36CCD7F4CE5}"/>
              </a:ext>
            </a:extLst>
          </p:cNvPr>
          <p:cNvSpPr>
            <a:spLocks noGrp="1"/>
          </p:cNvSpPr>
          <p:nvPr>
            <p:ph type="ftr" sz="quarter" idx="14"/>
          </p:nvPr>
        </p:nvSpPr>
        <p:spPr/>
        <p:txBody>
          <a:bodyPr/>
          <a:lstStyle/>
          <a:p>
            <a:r>
              <a:rPr lang="en-US"/>
              <a:t>Building Customer-Centric Services offers</a:t>
            </a:r>
          </a:p>
        </p:txBody>
      </p:sp>
      <p:sp>
        <p:nvSpPr>
          <p:cNvPr id="9" name="Slide Number Placeholder 8">
            <a:extLst>
              <a:ext uri="{FF2B5EF4-FFF2-40B4-BE49-F238E27FC236}">
                <a16:creationId xmlns:a16="http://schemas.microsoft.com/office/drawing/2014/main" id="{EE1962F0-D0FA-CE90-7A4B-1F217151C9CF}"/>
              </a:ext>
            </a:extLst>
          </p:cNvPr>
          <p:cNvSpPr>
            <a:spLocks noGrp="1"/>
          </p:cNvSpPr>
          <p:nvPr>
            <p:ph type="sldNum" sz="quarter" idx="15"/>
          </p:nvPr>
        </p:nvSpPr>
        <p:spPr/>
        <p:txBody>
          <a:bodyPr/>
          <a:lstStyle/>
          <a:p>
            <a:fld id="{5763EE98-C176-4152-A50F-E68840BAFA00}" type="slidenum">
              <a:rPr lang="en-US" smtClean="0"/>
              <a:pPr/>
              <a:t>20</a:t>
            </a:fld>
            <a:endParaRPr lang="en-US"/>
          </a:p>
        </p:txBody>
      </p:sp>
      <p:cxnSp>
        <p:nvCxnSpPr>
          <p:cNvPr id="10" name="Straight Connector 9">
            <a:extLst>
              <a:ext uri="{FF2B5EF4-FFF2-40B4-BE49-F238E27FC236}">
                <a16:creationId xmlns:a16="http://schemas.microsoft.com/office/drawing/2014/main" id="{58612314-A122-4788-0225-E3FD7178A547}"/>
              </a:ext>
            </a:extLst>
          </p:cNvPr>
          <p:cNvCxnSpPr>
            <a:cxnSpLocks/>
          </p:cNvCxnSpPr>
          <p:nvPr/>
        </p:nvCxnSpPr>
        <p:spPr>
          <a:xfrm>
            <a:off x="6101025" y="1703229"/>
            <a:ext cx="0" cy="4297680"/>
          </a:xfrm>
          <a:prstGeom prst="line">
            <a:avLst/>
          </a:prstGeom>
          <a:noFill/>
          <a:ln w="25400" cap="rnd">
            <a:gradFill flip="none" rotWithShape="1">
              <a:gsLst>
                <a:gs pos="30000">
                  <a:srgbClr val="2DB4FF"/>
                </a:gs>
                <a:gs pos="35000">
                  <a:srgbClr val="2DB4FF"/>
                </a:gs>
                <a:gs pos="3000">
                  <a:srgbClr val="0078D4"/>
                </a:gs>
                <a:gs pos="52000">
                  <a:srgbClr val="818EFF"/>
                </a:gs>
                <a:gs pos="70000">
                  <a:srgbClr val="D660FF"/>
                </a:gs>
                <a:gs pos="97000">
                  <a:srgbClr val="FEA87A"/>
                </a:gs>
              </a:gsLst>
              <a:lin ang="5400000" scaled="0"/>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40254281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1E1D4-559A-6BB6-32AA-F9E328F84D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9D6BE2-C0D5-3FD9-E83F-026AA4E5A6A8}"/>
              </a:ext>
            </a:extLst>
          </p:cNvPr>
          <p:cNvSpPr>
            <a:spLocks noGrp="1"/>
          </p:cNvSpPr>
          <p:nvPr>
            <p:ph type="title"/>
          </p:nvPr>
        </p:nvSpPr>
        <p:spPr/>
        <p:txBody>
          <a:bodyPr/>
          <a:lstStyle/>
          <a:p>
            <a:pPr algn="ctr"/>
            <a:r>
              <a:rPr lang="en-GB" dirty="0"/>
              <a:t>Anatomy of a strong ACM Offer – Example</a:t>
            </a:r>
            <a:endParaRPr lang="en-US" dirty="0"/>
          </a:p>
        </p:txBody>
      </p:sp>
      <p:pic>
        <p:nvPicPr>
          <p:cNvPr id="5" name="Picture 4" descr="A purple and white website&#10;&#10;Description automatically generated">
            <a:extLst>
              <a:ext uri="{FF2B5EF4-FFF2-40B4-BE49-F238E27FC236}">
                <a16:creationId xmlns:a16="http://schemas.microsoft.com/office/drawing/2014/main" id="{08080F6A-F5C6-C0D9-943D-5A9449246F7B}"/>
              </a:ext>
            </a:extLst>
          </p:cNvPr>
          <p:cNvPicPr>
            <a:picLocks noChangeAspect="1"/>
          </p:cNvPicPr>
          <p:nvPr/>
        </p:nvPicPr>
        <p:blipFill>
          <a:blip r:embed="rId3">
            <a:extLst>
              <a:ext uri="{28A0092B-C50C-407E-A947-70E740481C1C}">
                <a14:useLocalDpi xmlns:a14="http://schemas.microsoft.com/office/drawing/2010/main" val="0"/>
              </a:ext>
            </a:extLst>
          </a:blip>
          <a:srcRect l="172" t="1003" b="653"/>
          <a:stretch/>
        </p:blipFill>
        <p:spPr>
          <a:xfrm>
            <a:off x="3155445" y="2017713"/>
            <a:ext cx="5920777" cy="3301583"/>
          </a:xfrm>
          <a:prstGeom prst="roundRect">
            <a:avLst>
              <a:gd name="adj" fmla="val 2138"/>
            </a:avLst>
          </a:prstGeom>
          <a:effectLst>
            <a:outerShdw blurRad="203200" sx="102000" sy="102000" algn="ctr" rotWithShape="0">
              <a:prstClr val="black">
                <a:alpha val="10000"/>
              </a:prstClr>
            </a:outerShdw>
          </a:effectLst>
        </p:spPr>
      </p:pic>
      <p:cxnSp>
        <p:nvCxnSpPr>
          <p:cNvPr id="4" name="Straight Arrow Connector 3">
            <a:extLst>
              <a:ext uri="{FF2B5EF4-FFF2-40B4-BE49-F238E27FC236}">
                <a16:creationId xmlns:a16="http://schemas.microsoft.com/office/drawing/2014/main" id="{9C0E9D9F-5044-B14D-9B9B-BEFE98A91608}"/>
              </a:ext>
            </a:extLst>
          </p:cNvPr>
          <p:cNvCxnSpPr>
            <a:cxnSpLocks/>
            <a:stCxn id="15" idx="3"/>
          </p:cNvCxnSpPr>
          <p:nvPr/>
        </p:nvCxnSpPr>
        <p:spPr>
          <a:xfrm>
            <a:off x="2476500" y="3244334"/>
            <a:ext cx="838811" cy="184666"/>
          </a:xfrm>
          <a:prstGeom prst="straightConnector1">
            <a:avLst/>
          </a:prstGeom>
          <a:ln w="25400" cap="rnd">
            <a:solidFill>
              <a:schemeClr val="tx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4F4DF5F3-E8EC-4891-53B4-E4105EDD9424}"/>
              </a:ext>
            </a:extLst>
          </p:cNvPr>
          <p:cNvCxnSpPr>
            <a:cxnSpLocks/>
            <a:stCxn id="17" idx="3"/>
          </p:cNvCxnSpPr>
          <p:nvPr/>
        </p:nvCxnSpPr>
        <p:spPr>
          <a:xfrm flipV="1">
            <a:off x="2547606" y="4702509"/>
            <a:ext cx="716962" cy="172473"/>
          </a:xfrm>
          <a:prstGeom prst="straightConnector1">
            <a:avLst/>
          </a:prstGeom>
          <a:ln w="25400" cap="rnd">
            <a:solidFill>
              <a:schemeClr val="tx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D27A0D7-5074-D210-99D2-84ACD3A2C753}"/>
              </a:ext>
            </a:extLst>
          </p:cNvPr>
          <p:cNvCxnSpPr>
            <a:cxnSpLocks/>
            <a:stCxn id="16" idx="3"/>
          </p:cNvCxnSpPr>
          <p:nvPr/>
        </p:nvCxnSpPr>
        <p:spPr>
          <a:xfrm>
            <a:off x="2547604" y="4014558"/>
            <a:ext cx="716964" cy="0"/>
          </a:xfrm>
          <a:prstGeom prst="straightConnector1">
            <a:avLst/>
          </a:prstGeom>
          <a:ln w="25400" cap="rnd">
            <a:solidFill>
              <a:schemeClr val="tx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8E7B0A7-89F6-D40A-F0F9-16AEF6B913E0}"/>
              </a:ext>
            </a:extLst>
          </p:cNvPr>
          <p:cNvCxnSpPr>
            <a:cxnSpLocks/>
            <a:stCxn id="18" idx="0"/>
          </p:cNvCxnSpPr>
          <p:nvPr/>
        </p:nvCxnSpPr>
        <p:spPr>
          <a:xfrm flipV="1">
            <a:off x="4666733" y="4014558"/>
            <a:ext cx="694416" cy="1489386"/>
          </a:xfrm>
          <a:prstGeom prst="straightConnector1">
            <a:avLst/>
          </a:prstGeom>
          <a:ln w="25400" cap="rnd">
            <a:solidFill>
              <a:schemeClr val="tx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053C1A8-C0AB-7C6F-E986-B49E3DEFD6CD}"/>
              </a:ext>
            </a:extLst>
          </p:cNvPr>
          <p:cNvCxnSpPr>
            <a:cxnSpLocks/>
            <a:stCxn id="19" idx="0"/>
          </p:cNvCxnSpPr>
          <p:nvPr/>
        </p:nvCxnSpPr>
        <p:spPr>
          <a:xfrm flipH="1" flipV="1">
            <a:off x="6967000" y="4317728"/>
            <a:ext cx="1092452" cy="1186216"/>
          </a:xfrm>
          <a:prstGeom prst="straightConnector1">
            <a:avLst/>
          </a:prstGeom>
          <a:ln w="25400" cap="rnd">
            <a:solidFill>
              <a:schemeClr val="tx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F39CC86-544A-42E4-237D-9DB3A96754A2}"/>
              </a:ext>
            </a:extLst>
          </p:cNvPr>
          <p:cNvCxnSpPr>
            <a:cxnSpLocks/>
            <a:stCxn id="20" idx="1"/>
          </p:cNvCxnSpPr>
          <p:nvPr/>
        </p:nvCxnSpPr>
        <p:spPr>
          <a:xfrm flipH="1">
            <a:off x="9070975" y="3800909"/>
            <a:ext cx="535903" cy="0"/>
          </a:xfrm>
          <a:prstGeom prst="straightConnector1">
            <a:avLst/>
          </a:prstGeom>
          <a:ln w="25400" cap="rnd">
            <a:solidFill>
              <a:schemeClr val="tx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5FC30F6-F781-76DB-B5C2-9F8A0E2CC8F0}"/>
              </a:ext>
            </a:extLst>
          </p:cNvPr>
          <p:cNvCxnSpPr>
            <a:cxnSpLocks/>
            <a:stCxn id="21" idx="1"/>
          </p:cNvCxnSpPr>
          <p:nvPr/>
        </p:nvCxnSpPr>
        <p:spPr>
          <a:xfrm flipH="1" flipV="1">
            <a:off x="8959471" y="4748007"/>
            <a:ext cx="647406" cy="114683"/>
          </a:xfrm>
          <a:prstGeom prst="straightConnector1">
            <a:avLst/>
          </a:prstGeom>
          <a:ln w="25400" cap="rnd">
            <a:solidFill>
              <a:schemeClr val="tx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2C1AEC6-2130-582E-22D8-863E475591B7}"/>
              </a:ext>
            </a:extLst>
          </p:cNvPr>
          <p:cNvSpPr txBox="1"/>
          <p:nvPr/>
        </p:nvSpPr>
        <p:spPr>
          <a:xfrm>
            <a:off x="571500" y="3059668"/>
            <a:ext cx="1905000" cy="369332"/>
          </a:xfrm>
          <a:prstGeom prst="rect">
            <a:avLst/>
          </a:prstGeom>
          <a:noFill/>
        </p:spPr>
        <p:txBody>
          <a:bodyPr rot="0" spcFirstLastPara="0" vertOverflow="overflow" horzOverflow="overflow" vert="horz" wrap="square" lIns="274320" tIns="0" rIns="182880" bIns="0" numCol="1" spcCol="0" rtlCol="0" fromWordArt="0" anchor="t" anchorCtr="0" forceAA="0" compatLnSpc="1">
            <a:prstTxWarp prst="textNoShape">
              <a:avLst/>
            </a:prstTxWarp>
            <a:spAutoFit/>
          </a:bodyPr>
          <a:lstStyle>
            <a:defPPr>
              <a:defRPr lang="en-US"/>
            </a:defPPr>
            <a:lvl1pPr>
              <a:defRPr sz="1200"/>
            </a:lvl1pPr>
          </a:lstStyle>
          <a:p>
            <a:r>
              <a:rPr lang="en-US" dirty="0"/>
              <a:t>Includes multi-stage process</a:t>
            </a:r>
          </a:p>
        </p:txBody>
      </p:sp>
      <p:sp>
        <p:nvSpPr>
          <p:cNvPr id="16" name="TextBox 15">
            <a:extLst>
              <a:ext uri="{FF2B5EF4-FFF2-40B4-BE49-F238E27FC236}">
                <a16:creationId xmlns:a16="http://schemas.microsoft.com/office/drawing/2014/main" id="{957CB538-03DF-553D-2D6C-1AE7AC65AB32}"/>
              </a:ext>
            </a:extLst>
          </p:cNvPr>
          <p:cNvSpPr txBox="1"/>
          <p:nvPr/>
        </p:nvSpPr>
        <p:spPr>
          <a:xfrm>
            <a:off x="571498" y="3737559"/>
            <a:ext cx="1976106" cy="553998"/>
          </a:xfrm>
          <a:prstGeom prst="rect">
            <a:avLst/>
          </a:prstGeom>
          <a:noFill/>
        </p:spPr>
        <p:txBody>
          <a:bodyPr rot="0" spcFirstLastPara="0" vertOverflow="overflow" horzOverflow="overflow" vert="horz" wrap="square" lIns="274320" tIns="0" rIns="182880" bIns="0" numCol="1" spcCol="0" rtlCol="0" fromWordArt="0" anchor="t" anchorCtr="0" forceAA="0" compatLnSpc="1">
            <a:prstTxWarp prst="textNoShape">
              <a:avLst/>
            </a:prstTxWarp>
            <a:spAutoFit/>
          </a:bodyPr>
          <a:lstStyle/>
          <a:p>
            <a:r>
              <a:rPr lang="en-US" sz="1200" dirty="0"/>
              <a:t>Strategy devised, team constructed and briefed</a:t>
            </a:r>
            <a:endParaRPr lang="en-US" sz="1200" dirty="0">
              <a:cs typeface="Segoe UI"/>
            </a:endParaRPr>
          </a:p>
        </p:txBody>
      </p:sp>
      <p:sp>
        <p:nvSpPr>
          <p:cNvPr id="17" name="TextBox 16">
            <a:extLst>
              <a:ext uri="{FF2B5EF4-FFF2-40B4-BE49-F238E27FC236}">
                <a16:creationId xmlns:a16="http://schemas.microsoft.com/office/drawing/2014/main" id="{7527146E-D6B4-BCB2-A7F5-C6E624F8D7E9}"/>
              </a:ext>
            </a:extLst>
          </p:cNvPr>
          <p:cNvSpPr txBox="1"/>
          <p:nvPr/>
        </p:nvSpPr>
        <p:spPr>
          <a:xfrm>
            <a:off x="571500" y="4690316"/>
            <a:ext cx="1976106" cy="369332"/>
          </a:xfrm>
          <a:prstGeom prst="rect">
            <a:avLst/>
          </a:prstGeom>
          <a:noFill/>
        </p:spPr>
        <p:txBody>
          <a:bodyPr rot="0" spcFirstLastPara="0" vertOverflow="overflow" horzOverflow="overflow" vert="horz" wrap="square" lIns="274320" tIns="0" rIns="182880" bIns="0" numCol="1" spcCol="0" rtlCol="0" fromWordArt="0" anchor="t" anchorCtr="0" forceAA="0" compatLnSpc="1">
            <a:prstTxWarp prst="textNoShape">
              <a:avLst/>
            </a:prstTxWarp>
            <a:spAutoFit/>
          </a:bodyPr>
          <a:lstStyle/>
          <a:p>
            <a:r>
              <a:rPr lang="en-US" sz="1200" dirty="0"/>
              <a:t>Sponsorship model developed </a:t>
            </a:r>
            <a:endParaRPr lang="en-US" dirty="0"/>
          </a:p>
        </p:txBody>
      </p:sp>
      <p:sp>
        <p:nvSpPr>
          <p:cNvPr id="18" name="TextBox 17">
            <a:extLst>
              <a:ext uri="{FF2B5EF4-FFF2-40B4-BE49-F238E27FC236}">
                <a16:creationId xmlns:a16="http://schemas.microsoft.com/office/drawing/2014/main" id="{C8A1613F-DA03-52B1-8251-F752441E0E6C}"/>
              </a:ext>
            </a:extLst>
          </p:cNvPr>
          <p:cNvSpPr txBox="1"/>
          <p:nvPr/>
        </p:nvSpPr>
        <p:spPr>
          <a:xfrm>
            <a:off x="2821439" y="5503944"/>
            <a:ext cx="3690588" cy="461665"/>
          </a:xfrm>
          <a:prstGeom prst="rect">
            <a:avLst/>
          </a:prstGeom>
          <a:noFill/>
        </p:spPr>
        <p:txBody>
          <a:bodyPr rot="0" spcFirstLastPara="0" vertOverflow="overflow" horzOverflow="overflow" vert="horz" wrap="square" lIns="0" tIns="91440" rIns="0" bIns="0" numCol="1" spcCol="0" rtlCol="0" fromWordArt="0" anchor="t" anchorCtr="0" forceAA="0" compatLnSpc="1">
            <a:prstTxWarp prst="textNoShape">
              <a:avLst/>
            </a:prstTxWarp>
            <a:spAutoFit/>
          </a:bodyPr>
          <a:lstStyle/>
          <a:p>
            <a:pPr algn="ctr"/>
            <a:r>
              <a:rPr lang="en-US" sz="1200" dirty="0"/>
              <a:t>Defines detailed plans and products to support the change and manage resistance, with a long-term view</a:t>
            </a:r>
            <a:endParaRPr lang="en-US" dirty="0"/>
          </a:p>
        </p:txBody>
      </p:sp>
      <p:sp>
        <p:nvSpPr>
          <p:cNvPr id="19" name="TextBox 18">
            <a:extLst>
              <a:ext uri="{FF2B5EF4-FFF2-40B4-BE49-F238E27FC236}">
                <a16:creationId xmlns:a16="http://schemas.microsoft.com/office/drawing/2014/main" id="{6774D6D4-E027-7B3B-5D1B-804D215E5E34}"/>
              </a:ext>
            </a:extLst>
          </p:cNvPr>
          <p:cNvSpPr txBox="1"/>
          <p:nvPr/>
        </p:nvSpPr>
        <p:spPr>
          <a:xfrm>
            <a:off x="6793015" y="5503944"/>
            <a:ext cx="2532873" cy="461665"/>
          </a:xfrm>
          <a:prstGeom prst="rect">
            <a:avLst/>
          </a:prstGeom>
          <a:noFill/>
        </p:spPr>
        <p:txBody>
          <a:bodyPr rot="0" spcFirstLastPara="0" vertOverflow="overflow" horzOverflow="overflow" vert="horz" wrap="square" lIns="0" tIns="91440" rIns="0" bIns="0" numCol="1" spcCol="0" rtlCol="0" fromWordArt="0" anchor="t" anchorCtr="0" forceAA="0" compatLnSpc="1">
            <a:prstTxWarp prst="textNoShape">
              <a:avLst/>
            </a:prstTxWarp>
            <a:spAutoFit/>
          </a:bodyPr>
          <a:lstStyle/>
          <a:p>
            <a:pPr algn="ctr"/>
            <a:r>
              <a:rPr lang="en-US" sz="1200" dirty="0"/>
              <a:t>Incorporates feedback mechanisms and open dialog with teams</a:t>
            </a:r>
            <a:endParaRPr lang="en-US" dirty="0"/>
          </a:p>
        </p:txBody>
      </p:sp>
      <p:sp>
        <p:nvSpPr>
          <p:cNvPr id="20" name="TextBox 19">
            <a:extLst>
              <a:ext uri="{FF2B5EF4-FFF2-40B4-BE49-F238E27FC236}">
                <a16:creationId xmlns:a16="http://schemas.microsoft.com/office/drawing/2014/main" id="{D35865EE-76DC-101B-01BC-F832F29BCD66}"/>
              </a:ext>
            </a:extLst>
          </p:cNvPr>
          <p:cNvSpPr txBox="1"/>
          <p:nvPr/>
        </p:nvSpPr>
        <p:spPr>
          <a:xfrm>
            <a:off x="9606878" y="3523910"/>
            <a:ext cx="2013624" cy="553998"/>
          </a:xfrm>
          <a:prstGeom prst="rect">
            <a:avLst/>
          </a:prstGeom>
          <a:noFill/>
        </p:spPr>
        <p:txBody>
          <a:bodyPr rot="0" spcFirstLastPara="0" vertOverflow="overflow" horzOverflow="overflow" vert="horz" wrap="square" lIns="182880" tIns="0" rIns="274320" bIns="0" numCol="1" spcCol="0" rtlCol="0" fromWordArt="0" anchor="t" anchorCtr="0" forceAA="0" compatLnSpc="1">
            <a:prstTxWarp prst="textNoShape">
              <a:avLst/>
            </a:prstTxWarp>
            <a:spAutoFit/>
          </a:bodyPr>
          <a:lstStyle/>
          <a:p>
            <a:r>
              <a:rPr lang="en-US" sz="1200" dirty="0">
                <a:cs typeface="Segoe UI"/>
              </a:rPr>
              <a:t>Measurement of change incorporated from the start</a:t>
            </a:r>
          </a:p>
        </p:txBody>
      </p:sp>
      <p:sp>
        <p:nvSpPr>
          <p:cNvPr id="21" name="TextBox 20">
            <a:extLst>
              <a:ext uri="{FF2B5EF4-FFF2-40B4-BE49-F238E27FC236}">
                <a16:creationId xmlns:a16="http://schemas.microsoft.com/office/drawing/2014/main" id="{4FFE656F-900C-F56D-5A27-E8A87104D899}"/>
              </a:ext>
            </a:extLst>
          </p:cNvPr>
          <p:cNvSpPr txBox="1"/>
          <p:nvPr/>
        </p:nvSpPr>
        <p:spPr>
          <a:xfrm>
            <a:off x="9606877" y="4401025"/>
            <a:ext cx="2013624" cy="923330"/>
          </a:xfrm>
          <a:prstGeom prst="rect">
            <a:avLst/>
          </a:prstGeom>
          <a:noFill/>
        </p:spPr>
        <p:txBody>
          <a:bodyPr rot="0" spcFirstLastPara="0" vertOverflow="overflow" horzOverflow="overflow" vert="horz" wrap="square" lIns="182880" tIns="0" rIns="274320" bIns="0" numCol="1" spcCol="0" rtlCol="0" fromWordArt="0" anchor="t" anchorCtr="0" forceAA="0" compatLnSpc="1">
            <a:prstTxWarp prst="textNoShape">
              <a:avLst/>
            </a:prstTxWarp>
            <a:spAutoFit/>
          </a:bodyPr>
          <a:lstStyle/>
          <a:p>
            <a:r>
              <a:rPr lang="en-US" sz="1200" dirty="0"/>
              <a:t>Mechanisms to adjust approach based on learnings, and to share learnings with the teams more broadly </a:t>
            </a:r>
            <a:endParaRPr lang="en-US" dirty="0"/>
          </a:p>
        </p:txBody>
      </p:sp>
      <p:sp>
        <p:nvSpPr>
          <p:cNvPr id="62" name="Footer Placeholder 61">
            <a:extLst>
              <a:ext uri="{FF2B5EF4-FFF2-40B4-BE49-F238E27FC236}">
                <a16:creationId xmlns:a16="http://schemas.microsoft.com/office/drawing/2014/main" id="{A303AA58-E182-B7DF-9B79-5F412FF46DC3}"/>
              </a:ext>
            </a:extLst>
          </p:cNvPr>
          <p:cNvSpPr>
            <a:spLocks noGrp="1"/>
          </p:cNvSpPr>
          <p:nvPr>
            <p:ph type="ftr" sz="quarter" idx="12"/>
          </p:nvPr>
        </p:nvSpPr>
        <p:spPr/>
        <p:txBody>
          <a:bodyPr/>
          <a:lstStyle/>
          <a:p>
            <a:r>
              <a:rPr lang="en-US"/>
              <a:t>Building Customer-Centric Services offers</a:t>
            </a:r>
          </a:p>
        </p:txBody>
      </p:sp>
      <p:sp>
        <p:nvSpPr>
          <p:cNvPr id="63" name="Slide Number Placeholder 62">
            <a:extLst>
              <a:ext uri="{FF2B5EF4-FFF2-40B4-BE49-F238E27FC236}">
                <a16:creationId xmlns:a16="http://schemas.microsoft.com/office/drawing/2014/main" id="{A2168D56-0C9B-8A4D-0C84-893241EE4FF6}"/>
              </a:ext>
            </a:extLst>
          </p:cNvPr>
          <p:cNvSpPr>
            <a:spLocks noGrp="1"/>
          </p:cNvSpPr>
          <p:nvPr>
            <p:ph type="sldNum" sz="quarter" idx="13"/>
          </p:nvPr>
        </p:nvSpPr>
        <p:spPr/>
        <p:txBody>
          <a:bodyPr/>
          <a:lstStyle/>
          <a:p>
            <a:fld id="{5763EE98-C176-4152-A50F-E68840BAFA00}" type="slidenum">
              <a:rPr lang="en-US" smtClean="0"/>
              <a:pPr/>
              <a:t>21</a:t>
            </a:fld>
            <a:endParaRPr lang="en-US"/>
          </a:p>
        </p:txBody>
      </p:sp>
    </p:spTree>
    <p:extLst>
      <p:ext uri="{BB962C8B-B14F-4D97-AF65-F5344CB8AC3E}">
        <p14:creationId xmlns:p14="http://schemas.microsoft.com/office/powerpoint/2010/main" val="342444038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1FDB22B-D2FA-A44C-AA04-B20DDE96BE0D}"/>
              </a:ext>
            </a:extLst>
          </p:cNvPr>
          <p:cNvSpPr>
            <a:spLocks noGrp="1"/>
          </p:cNvSpPr>
          <p:nvPr>
            <p:ph type="title"/>
          </p:nvPr>
        </p:nvSpPr>
        <p:spPr/>
        <p:txBody>
          <a:bodyPr/>
          <a:lstStyle/>
          <a:p>
            <a:r>
              <a:rPr lang="en-US" dirty="0"/>
              <a:t>Example offer for </a:t>
            </a:r>
            <a:r>
              <a:rPr lang="en-US" dirty="0">
                <a:ln w="3175">
                  <a:noFill/>
                </a:ln>
                <a:solidFill>
                  <a:schemeClr val="accent4"/>
                </a:solidFill>
                <a:latin typeface="Segoe UI Semibold"/>
                <a:ea typeface="+mn-ea"/>
                <a:cs typeface="Segoe UI" panose="020B0502040204020203" pitchFamily="34" charset="0"/>
              </a:rPr>
              <a:t>Customer Service</a:t>
            </a:r>
          </a:p>
        </p:txBody>
      </p:sp>
      <p:sp>
        <p:nvSpPr>
          <p:cNvPr id="2" name="Footer Placeholder 1">
            <a:extLst>
              <a:ext uri="{FF2B5EF4-FFF2-40B4-BE49-F238E27FC236}">
                <a16:creationId xmlns:a16="http://schemas.microsoft.com/office/drawing/2014/main" id="{084CFDEF-72AC-A0E3-EF91-BA1662A22ABD}"/>
              </a:ext>
            </a:extLst>
          </p:cNvPr>
          <p:cNvSpPr>
            <a:spLocks noGrp="1"/>
          </p:cNvSpPr>
          <p:nvPr>
            <p:ph type="ftr" sz="quarter" idx="10"/>
          </p:nvPr>
        </p:nvSpPr>
        <p:spPr/>
        <p:txBody>
          <a:bodyPr/>
          <a:lstStyle/>
          <a:p>
            <a:pPr defTabSz="914367">
              <a:defRPr/>
            </a:pPr>
            <a:r>
              <a:rPr lang="en-US"/>
              <a:t>Building Customer-Centric Services offers</a:t>
            </a:r>
          </a:p>
        </p:txBody>
      </p:sp>
      <p:sp>
        <p:nvSpPr>
          <p:cNvPr id="124" name="Slide Number Placeholder 123">
            <a:extLst>
              <a:ext uri="{FF2B5EF4-FFF2-40B4-BE49-F238E27FC236}">
                <a16:creationId xmlns:a16="http://schemas.microsoft.com/office/drawing/2014/main" id="{8C967E45-D19C-A79F-CFFD-0FE479B3D188}"/>
              </a:ext>
            </a:extLst>
          </p:cNvPr>
          <p:cNvSpPr>
            <a:spLocks noGrp="1"/>
          </p:cNvSpPr>
          <p:nvPr>
            <p:ph type="sldNum" sz="quarter" idx="11"/>
          </p:nvPr>
        </p:nvSpPr>
        <p:spPr/>
        <p:txBody>
          <a:bodyPr/>
          <a:lstStyle/>
          <a:p>
            <a:pPr defTabSz="914367">
              <a:defRPr/>
            </a:pPr>
            <a:fld id="{2A20A09D-1A50-4CA5-89CD-EDD3F91B2117}" type="slidenum">
              <a:rPr lang="en-US" smtClean="0"/>
              <a:pPr defTabSz="914367">
                <a:defRPr/>
              </a:pPr>
              <a:t>22</a:t>
            </a:fld>
            <a:endParaRPr lang="en-US"/>
          </a:p>
        </p:txBody>
      </p:sp>
      <p:sp>
        <p:nvSpPr>
          <p:cNvPr id="4" name="Text Placeholder 3">
            <a:extLst>
              <a:ext uri="{FF2B5EF4-FFF2-40B4-BE49-F238E27FC236}">
                <a16:creationId xmlns:a16="http://schemas.microsoft.com/office/drawing/2014/main" id="{02DBEECF-2E19-1514-E012-F81184D35985}"/>
              </a:ext>
            </a:extLst>
          </p:cNvPr>
          <p:cNvSpPr>
            <a:spLocks noGrp="1"/>
          </p:cNvSpPr>
          <p:nvPr>
            <p:ph type="body" sz="quarter" idx="12"/>
          </p:nvPr>
        </p:nvSpPr>
        <p:spPr>
          <a:xfrm>
            <a:off x="812800" y="1267932"/>
            <a:ext cx="4711700" cy="1536025"/>
          </a:xfrm>
        </p:spPr>
        <p:txBody>
          <a:bodyPr wrap="square" lIns="457200">
            <a:spAutoFit/>
          </a:bodyPr>
          <a:lstStyle/>
          <a:p>
            <a:r>
              <a:rPr lang="en-US" kern="1200" dirty="0">
                <a:ea typeface="+mn-ea"/>
              </a:rPr>
              <a:t>Goals and challenges</a:t>
            </a:r>
          </a:p>
          <a:p>
            <a:pPr lvl="1"/>
            <a:r>
              <a:rPr lang="en-US" sz="1000" dirty="0"/>
              <a:t>Microsoft Copilot in Customer Service is your strategic partner to enable Customer Service teams. 43% of Customer Service reps report they were overwhelmed by the number of systems and tools needed to complete work.</a:t>
            </a:r>
            <a:r>
              <a:rPr lang="en-US" sz="1000" baseline="30000" dirty="0"/>
              <a:t>1</a:t>
            </a:r>
            <a:r>
              <a:rPr lang="en-US" sz="1000" dirty="0"/>
              <a:t> With Microsoft Copilot, embedded directly into agent desktops, Customer Service teams can find answers fast and collaborate easily.</a:t>
            </a:r>
          </a:p>
        </p:txBody>
      </p:sp>
      <p:sp>
        <p:nvSpPr>
          <p:cNvPr id="5" name="Text Placeholder 4">
            <a:extLst>
              <a:ext uri="{FF2B5EF4-FFF2-40B4-BE49-F238E27FC236}">
                <a16:creationId xmlns:a16="http://schemas.microsoft.com/office/drawing/2014/main" id="{9235B6FC-CD74-59B8-1B6C-15106D60D7EB}"/>
              </a:ext>
            </a:extLst>
          </p:cNvPr>
          <p:cNvSpPr>
            <a:spLocks noGrp="1"/>
          </p:cNvSpPr>
          <p:nvPr>
            <p:ph type="body" sz="quarter" idx="13"/>
          </p:nvPr>
        </p:nvSpPr>
        <p:spPr>
          <a:prstGeom prst="roundRect">
            <a:avLst>
              <a:gd name="adj" fmla="val 7581"/>
            </a:avLst>
          </a:prstGeom>
          <a:solidFill>
            <a:schemeClr val="bg1">
              <a:alpha val="31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457200" tIns="137160" rIns="137160" bIns="137160" numCol="1" spcCol="0" rtlCol="0" fromWordArt="0" anchor="t" anchorCtr="0" forceAA="0" compatLnSpc="1">
            <a:prstTxWarp prst="textNoShape">
              <a:avLst/>
            </a:prstTxWarp>
            <a:noAutofit/>
          </a:bodyPr>
          <a:lstStyle/>
          <a:p>
            <a:pPr marL="0" indent="0">
              <a:spcAft>
                <a:spcPts val="600"/>
              </a:spcAft>
              <a:buNone/>
            </a:pPr>
            <a:r>
              <a:rPr lang="en-US" kern="1200">
                <a:ea typeface="+mn-ea"/>
              </a:rPr>
              <a:t>Transform Customer Service processes with Copilot and [Insert Partner Offer]</a:t>
            </a:r>
          </a:p>
          <a:p>
            <a:pPr marL="0" lvl="1" indent="0">
              <a:spcBef>
                <a:spcPts val="0"/>
              </a:spcBef>
              <a:buNone/>
            </a:pPr>
            <a:r>
              <a:rPr lang="en-US" sz="1000"/>
              <a:t>[Insert partner offer summary] </a:t>
            </a:r>
          </a:p>
        </p:txBody>
      </p:sp>
      <p:sp>
        <p:nvSpPr>
          <p:cNvPr id="6" name="Text Placeholder 5">
            <a:extLst>
              <a:ext uri="{FF2B5EF4-FFF2-40B4-BE49-F238E27FC236}">
                <a16:creationId xmlns:a16="http://schemas.microsoft.com/office/drawing/2014/main" id="{D210C65F-BDD3-4108-2D21-3D332E7140B5}"/>
              </a:ext>
            </a:extLst>
          </p:cNvPr>
          <p:cNvSpPr>
            <a:spLocks noGrp="1"/>
          </p:cNvSpPr>
          <p:nvPr>
            <p:ph type="body" sz="quarter" idx="14"/>
          </p:nvPr>
        </p:nvSpPr>
        <p:spPr>
          <a:xfrm>
            <a:off x="812800" y="2998349"/>
            <a:ext cx="4711700" cy="1448931"/>
          </a:xfrm>
          <a:solidFill>
            <a:schemeClr val="bg1">
              <a:alpha val="31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457200" tIns="137160" rIns="137160" bIns="137160" numCol="1" spcCol="0" rtlCol="0" fromWordArt="0" anchor="t" anchorCtr="0" forceAA="0" compatLnSpc="1">
            <a:prstTxWarp prst="textNoShape">
              <a:avLst/>
            </a:prstTxWarp>
            <a:spAutoFit/>
          </a:bodyPr>
          <a:lstStyle/>
          <a:p>
            <a:pPr marL="0" indent="0">
              <a:spcAft>
                <a:spcPts val="600"/>
              </a:spcAft>
              <a:buNone/>
            </a:pPr>
            <a:r>
              <a:rPr lang="en-US" kern="1200" dirty="0">
                <a:ea typeface="+mn-ea"/>
              </a:rPr>
              <a:t>Copilot can assist with…</a:t>
            </a:r>
          </a:p>
          <a:p>
            <a:pPr marL="0" indent="0" defTabSz="582780">
              <a:lnSpc>
                <a:spcPct val="110000"/>
              </a:lnSpc>
              <a:spcBef>
                <a:spcPct val="0"/>
              </a:spcBef>
              <a:spcAft>
                <a:spcPts val="300"/>
              </a:spcAft>
              <a:buSzTx/>
              <a:buNone/>
              <a:defRPr/>
            </a:pPr>
            <a:r>
              <a:rPr lang="en-US" sz="1000" kern="1200" dirty="0">
                <a:ln>
                  <a:noFill/>
                </a:ln>
                <a:solidFill>
                  <a:srgbClr val="000000"/>
                </a:solidFill>
                <a:latin typeface="Segoe UI"/>
                <a:ea typeface="+mn-ea"/>
                <a:cs typeface="Segoe UI Semilight" panose="020B0402040204020203" pitchFamily="34" charset="0"/>
              </a:rPr>
              <a:t>Copilot assists Customer Service with tasks like process optimization, collaboration, and delivering a fast, tailored experience for customers. </a:t>
            </a:r>
          </a:p>
          <a:p>
            <a:pPr marL="171450" lvl="1" indent="-171450">
              <a:spcBef>
                <a:spcPts val="0"/>
              </a:spcBef>
              <a:buFont typeface="Arial" panose="020B0604020202020204" pitchFamily="34" charset="0"/>
              <a:buChar char="•"/>
            </a:pPr>
            <a:r>
              <a:rPr lang="en-US" sz="1000" dirty="0"/>
              <a:t>Respond to a customer complaint</a:t>
            </a:r>
          </a:p>
          <a:p>
            <a:pPr marL="171450" lvl="1" indent="-171450">
              <a:spcBef>
                <a:spcPts val="0"/>
              </a:spcBef>
              <a:buFont typeface="Arial" panose="020B0604020202020204" pitchFamily="34" charset="0"/>
              <a:buChar char="•"/>
            </a:pPr>
            <a:r>
              <a:rPr lang="en-US" sz="1000" dirty="0"/>
              <a:t>Communication logging</a:t>
            </a:r>
          </a:p>
          <a:p>
            <a:pPr marL="171450" lvl="1" indent="-171450">
              <a:spcBef>
                <a:spcPts val="0"/>
              </a:spcBef>
              <a:buFont typeface="Arial" panose="020B0604020202020204" pitchFamily="34" charset="0"/>
              <a:buChar char="•"/>
            </a:pPr>
            <a:r>
              <a:rPr lang="en-US" sz="1000" dirty="0"/>
              <a:t>Identify a root cause</a:t>
            </a:r>
          </a:p>
        </p:txBody>
      </p:sp>
      <p:sp>
        <p:nvSpPr>
          <p:cNvPr id="7" name="Text Placeholder 6">
            <a:extLst>
              <a:ext uri="{FF2B5EF4-FFF2-40B4-BE49-F238E27FC236}">
                <a16:creationId xmlns:a16="http://schemas.microsoft.com/office/drawing/2014/main" id="{DAED4734-EBEF-78A4-14DD-314FB96D146E}"/>
              </a:ext>
            </a:extLst>
          </p:cNvPr>
          <p:cNvSpPr>
            <a:spLocks noGrp="1"/>
          </p:cNvSpPr>
          <p:nvPr>
            <p:ph type="body" sz="quarter" idx="15"/>
          </p:nvPr>
        </p:nvSpPr>
        <p:spPr>
          <a:prstGeom prst="roundRect">
            <a:avLst>
              <a:gd name="adj" fmla="val 3842"/>
            </a:avLst>
          </a:prstGeom>
          <a:gradFill>
            <a:gsLst>
              <a:gs pos="0">
                <a:schemeClr val="bg1">
                  <a:alpha val="30000"/>
                </a:schemeClr>
              </a:gs>
              <a:gs pos="100000">
                <a:schemeClr val="bg1">
                  <a:alpha val="50000"/>
                </a:schemeClr>
              </a:gs>
            </a:gsLst>
            <a:lin ang="0" scaled="0"/>
          </a:gradFill>
        </p:spPr>
        <p:txBody>
          <a:bodyPr/>
          <a:lstStyle/>
          <a:p>
            <a:pPr marL="0" indent="0">
              <a:spcAft>
                <a:spcPts val="600"/>
              </a:spcAft>
              <a:buNone/>
            </a:pPr>
            <a:r>
              <a:rPr lang="en-US" kern="1200">
                <a:ea typeface="+mn-ea"/>
              </a:rPr>
              <a:t>How Copilot and [Insert Partner Name] can help you achieve your goals...</a:t>
            </a:r>
          </a:p>
        </p:txBody>
      </p:sp>
      <p:sp>
        <p:nvSpPr>
          <p:cNvPr id="8" name="Text Placeholder 7">
            <a:extLst>
              <a:ext uri="{FF2B5EF4-FFF2-40B4-BE49-F238E27FC236}">
                <a16:creationId xmlns:a16="http://schemas.microsoft.com/office/drawing/2014/main" id="{A20DB765-6182-8447-E87F-D67BC733D3C0}"/>
              </a:ext>
            </a:extLst>
          </p:cNvPr>
          <p:cNvSpPr>
            <a:spLocks noGrp="1"/>
          </p:cNvSpPr>
          <p:nvPr>
            <p:ph type="body" sz="quarter" idx="16"/>
          </p:nvPr>
        </p:nvSpPr>
        <p:spPr>
          <a:prstGeom prst="roundRect">
            <a:avLst>
              <a:gd name="adj" fmla="val 4108"/>
            </a:avLst>
          </a:prstGeom>
          <a:gradFill>
            <a:gsLst>
              <a:gs pos="0">
                <a:schemeClr val="bg1">
                  <a:alpha val="30000"/>
                </a:schemeClr>
              </a:gs>
              <a:gs pos="100000">
                <a:schemeClr val="bg1">
                  <a:alpha val="50000"/>
                </a:schemeClr>
              </a:gs>
            </a:gsLst>
            <a:lin ang="0" scaled="0"/>
          </a:gradFill>
        </p:spPr>
        <p:txBody>
          <a:bodyPr/>
          <a:lstStyle/>
          <a:p>
            <a:pPr marL="0" indent="0">
              <a:spcAft>
                <a:spcPts val="600"/>
              </a:spcAft>
              <a:buNone/>
            </a:pPr>
            <a:r>
              <a:rPr lang="en-US" kern="1200">
                <a:ea typeface="+mn-ea"/>
              </a:rPr>
              <a:t>Improve key functional KPIs</a:t>
            </a:r>
          </a:p>
        </p:txBody>
      </p:sp>
      <p:sp>
        <p:nvSpPr>
          <p:cNvPr id="14" name="Text Placeholder 2">
            <a:extLst>
              <a:ext uri="{FF2B5EF4-FFF2-40B4-BE49-F238E27FC236}">
                <a16:creationId xmlns:a16="http://schemas.microsoft.com/office/drawing/2014/main" id="{925BC7F0-6EC1-B062-0180-3B40A5FDE237}"/>
              </a:ext>
              <a:ext uri="{C183D7F6-B498-43B3-948B-1728B52AA6E4}">
                <adec:decorative xmlns:adec="http://schemas.microsoft.com/office/drawing/2017/decorative" val="1"/>
              </a:ext>
            </a:extLst>
          </p:cNvPr>
          <p:cNvSpPr txBox="1">
            <a:spLocks/>
          </p:cNvSpPr>
          <p:nvPr/>
        </p:nvSpPr>
        <p:spPr>
          <a:xfrm>
            <a:off x="593723" y="1376685"/>
            <a:ext cx="457200" cy="457200"/>
          </a:xfrm>
          <a:prstGeom prst="ellipse">
            <a:avLst/>
          </a:prstGeom>
          <a:solidFill>
            <a:schemeClr val="bg1">
              <a:alpha val="74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640080" tIns="137160" rIns="137160" bIns="137160" numCol="1" spcCol="0" rtlCol="0" fromWordArt="0" anchor="t" anchorCtr="0" forceAA="0" compatLnSpc="1">
            <a:prstTxWarp prst="textNoShape">
              <a:avLst/>
            </a:prstTxWarp>
            <a:spAutoFit/>
          </a:bodyPr>
          <a:lstStyle>
            <a:lvl1pPr indent="0">
              <a:lnSpc>
                <a:spcPct val="100000"/>
              </a:lnSpc>
              <a:spcBef>
                <a:spcPts val="1000"/>
              </a:spcBef>
              <a:spcAft>
                <a:spcPts val="600"/>
              </a:spcAft>
              <a:buFont typeface="Arial" panose="020B0604020202020204" pitchFamily="34" charset="0"/>
              <a:buNone/>
              <a:defRPr kumimoji="0" lang="en-US" sz="1400" b="0" i="0" u="none" strike="noStrike" kern="0" cap="none" spc="0" normalizeH="0" baseline="0" smtClean="0">
                <a:ln w="3175">
                  <a:noFill/>
                </a:ln>
                <a:effectLst/>
                <a:uLnTx/>
                <a:uFillTx/>
                <a:latin typeface="+mj-lt"/>
                <a:ea typeface="Segoe UI Regular" pitchFamily="34" charset="-122"/>
                <a:cs typeface="Segoe UI" panose="020B0502040204020203" pitchFamily="34" charset="0"/>
              </a:defRPr>
            </a:lvl1pPr>
            <a:lvl2pPr marL="0" lvl="1" indent="0">
              <a:lnSpc>
                <a:spcPct val="100000"/>
              </a:lnSpc>
              <a:spcBef>
                <a:spcPts val="0"/>
              </a:spcBef>
              <a:buFont typeface="Arial" panose="020B0604020202020204" pitchFamily="34" charset="0"/>
              <a:buNone/>
              <a:defRPr lang="en-US" sz="1100" dirty="0" smtClean="0">
                <a:solidFill>
                  <a:schemeClr val="tx2"/>
                </a:solidFill>
              </a:defRPr>
            </a:lvl2pPr>
            <a:lvl3pPr marL="1200150" indent="-285750">
              <a:lnSpc>
                <a:spcPct val="100000"/>
              </a:lnSpc>
              <a:spcBef>
                <a:spcPts val="500"/>
              </a:spcBef>
              <a:buFont typeface="Arial" panose="020B0604020202020204" pitchFamily="34" charset="0"/>
              <a:buChar char="•"/>
              <a:defRPr lang="en-US" sz="1100" smtClean="0">
                <a:solidFill>
                  <a:schemeClr val="tx2"/>
                </a:solidFill>
              </a:defRPr>
            </a:lvl3pPr>
            <a:lvl4pPr marL="1657350" indent="-285750">
              <a:lnSpc>
                <a:spcPct val="100000"/>
              </a:lnSpc>
              <a:spcBef>
                <a:spcPts val="500"/>
              </a:spcBef>
              <a:buFont typeface="Arial" panose="020B0604020202020204" pitchFamily="34" charset="0"/>
              <a:buChar char="•"/>
              <a:defRPr lang="en-US" sz="1100" smtClean="0">
                <a:solidFill>
                  <a:schemeClr val="tx2"/>
                </a:solidFill>
              </a:defRPr>
            </a:lvl4pPr>
            <a:lvl5pPr marL="2114550" indent="-285750">
              <a:lnSpc>
                <a:spcPct val="100000"/>
              </a:lnSpc>
              <a:spcBef>
                <a:spcPts val="500"/>
              </a:spcBef>
              <a:buFont typeface="Arial" panose="020B0604020202020204" pitchFamily="34" charset="0"/>
              <a:buChar char="•"/>
              <a:defRPr lang="en-US">
                <a:solidFill>
                  <a:schemeClr val="tx2"/>
                </a:solidFill>
              </a:defRPr>
            </a:lvl5pPr>
            <a:lvl6pPr marL="2514600" indent="-228600">
              <a:lnSpc>
                <a:spcPct val="90000"/>
              </a:lnSpc>
              <a:spcBef>
                <a:spcPts val="500"/>
              </a:spcBef>
              <a:buFont typeface="Arial" panose="020B0604020202020204" pitchFamily="34" charset="0"/>
              <a:buChar char="•"/>
              <a:defRPr>
                <a:solidFill>
                  <a:schemeClr val="lt1"/>
                </a:solidFill>
              </a:defRPr>
            </a:lvl6pPr>
            <a:lvl7pPr marL="2971800" indent="-228600">
              <a:lnSpc>
                <a:spcPct val="90000"/>
              </a:lnSpc>
              <a:spcBef>
                <a:spcPts val="500"/>
              </a:spcBef>
              <a:buFont typeface="Arial" panose="020B0604020202020204" pitchFamily="34" charset="0"/>
              <a:buChar char="•"/>
              <a:defRPr>
                <a:solidFill>
                  <a:schemeClr val="lt1"/>
                </a:solidFill>
              </a:defRPr>
            </a:lvl7pPr>
            <a:lvl8pPr marL="3429000" indent="-228600">
              <a:lnSpc>
                <a:spcPct val="90000"/>
              </a:lnSpc>
              <a:spcBef>
                <a:spcPts val="500"/>
              </a:spcBef>
              <a:buFont typeface="Arial" panose="020B0604020202020204" pitchFamily="34" charset="0"/>
              <a:buChar char="•"/>
              <a:defRPr>
                <a:solidFill>
                  <a:schemeClr val="lt1"/>
                </a:solidFill>
              </a:defRPr>
            </a:lvl8pPr>
            <a:lvl9pPr marL="3886200" indent="-228600">
              <a:lnSpc>
                <a:spcPct val="90000"/>
              </a:lnSpc>
              <a:spcBef>
                <a:spcPts val="500"/>
              </a:spcBef>
              <a:buFont typeface="Arial" panose="020B0604020202020204" pitchFamily="34" charset="0"/>
              <a:buChar char="•"/>
              <a:defRPr>
                <a:solidFill>
                  <a:schemeClr val="lt1"/>
                </a:solidFill>
              </a:defRPr>
            </a:lvl9pPr>
          </a:lstStyle>
          <a:p>
            <a:endParaRPr lang="en-US"/>
          </a:p>
        </p:txBody>
      </p:sp>
      <p:sp>
        <p:nvSpPr>
          <p:cNvPr id="15" name="Graphic 120">
            <a:extLst>
              <a:ext uri="{FF2B5EF4-FFF2-40B4-BE49-F238E27FC236}">
                <a16:creationId xmlns:a16="http://schemas.microsoft.com/office/drawing/2014/main" id="{7E1EECDE-E01B-9304-F8A8-233BF299A536}"/>
              </a:ext>
              <a:ext uri="{C183D7F6-B498-43B3-948B-1728B52AA6E4}">
                <adec:decorative xmlns:adec="http://schemas.microsoft.com/office/drawing/2017/decorative" val="1"/>
              </a:ext>
            </a:extLst>
          </p:cNvPr>
          <p:cNvSpPr>
            <a:spLocks noChangeAspect="1"/>
          </p:cNvSpPr>
          <p:nvPr/>
        </p:nvSpPr>
        <p:spPr>
          <a:xfrm>
            <a:off x="708023" y="1490985"/>
            <a:ext cx="228600" cy="228600"/>
          </a:xfrm>
          <a:custGeom>
            <a:avLst/>
            <a:gdLst>
              <a:gd name="connsiteX0" fmla="*/ 95269 w 190538"/>
              <a:gd name="connsiteY0" fmla="*/ 0 h 190538"/>
              <a:gd name="connsiteX1" fmla="*/ 127911 w 190538"/>
              <a:gd name="connsiteY1" fmla="*/ 5734 h 190538"/>
              <a:gd name="connsiteX2" fmla="*/ 116529 w 190538"/>
              <a:gd name="connsiteY2" fmla="*/ 17107 h 190538"/>
              <a:gd name="connsiteX3" fmla="*/ 17136 w 190538"/>
              <a:gd name="connsiteY3" fmla="*/ 74002 h 190538"/>
              <a:gd name="connsiteX4" fmla="*/ 74031 w 190538"/>
              <a:gd name="connsiteY4" fmla="*/ 173395 h 190538"/>
              <a:gd name="connsiteX5" fmla="*/ 173425 w 190538"/>
              <a:gd name="connsiteY5" fmla="*/ 116500 h 190538"/>
              <a:gd name="connsiteX6" fmla="*/ 173431 w 190538"/>
              <a:gd name="connsiteY6" fmla="*/ 74028 h 190538"/>
              <a:gd name="connsiteX7" fmla="*/ 184804 w 190538"/>
              <a:gd name="connsiteY7" fmla="*/ 62655 h 190538"/>
              <a:gd name="connsiteX8" fmla="*/ 190538 w 190538"/>
              <a:gd name="connsiteY8" fmla="*/ 95269 h 190538"/>
              <a:gd name="connsiteX9" fmla="*/ 95269 w 190538"/>
              <a:gd name="connsiteY9" fmla="*/ 190538 h 190538"/>
              <a:gd name="connsiteX10" fmla="*/ 0 w 190538"/>
              <a:gd name="connsiteY10" fmla="*/ 95269 h 190538"/>
              <a:gd name="connsiteX11" fmla="*/ 95269 w 190538"/>
              <a:gd name="connsiteY11" fmla="*/ 0 h 190538"/>
              <a:gd name="connsiteX12" fmla="*/ 95269 w 190538"/>
              <a:gd name="connsiteY12" fmla="*/ 38119 h 190538"/>
              <a:gd name="connsiteX13" fmla="*/ 109576 w 190538"/>
              <a:gd name="connsiteY13" fmla="*/ 39929 h 190538"/>
              <a:gd name="connsiteX14" fmla="*/ 109576 w 190538"/>
              <a:gd name="connsiteY14" fmla="*/ 54854 h 190538"/>
              <a:gd name="connsiteX15" fmla="*/ 54872 w 190538"/>
              <a:gd name="connsiteY15" fmla="*/ 80967 h 190538"/>
              <a:gd name="connsiteX16" fmla="*/ 80983 w 190538"/>
              <a:gd name="connsiteY16" fmla="*/ 135671 h 190538"/>
              <a:gd name="connsiteX17" fmla="*/ 135688 w 190538"/>
              <a:gd name="connsiteY17" fmla="*/ 109558 h 190538"/>
              <a:gd name="connsiteX18" fmla="*/ 135693 w 190538"/>
              <a:gd name="connsiteY18" fmla="*/ 80982 h 190538"/>
              <a:gd name="connsiteX19" fmla="*/ 150619 w 190538"/>
              <a:gd name="connsiteY19" fmla="*/ 80982 h 190538"/>
              <a:gd name="connsiteX20" fmla="*/ 109571 w 190538"/>
              <a:gd name="connsiteY20" fmla="*/ 150605 h 190538"/>
              <a:gd name="connsiteX21" fmla="*/ 39948 w 190538"/>
              <a:gd name="connsiteY21" fmla="*/ 109557 h 190538"/>
              <a:gd name="connsiteX22" fmla="*/ 80996 w 190538"/>
              <a:gd name="connsiteY22" fmla="*/ 39934 h 190538"/>
              <a:gd name="connsiteX23" fmla="*/ 95288 w 190538"/>
              <a:gd name="connsiteY23" fmla="*/ 38119 h 190538"/>
              <a:gd name="connsiteX24" fmla="*/ 114319 w 190538"/>
              <a:gd name="connsiteY24" fmla="*/ 95269 h 190538"/>
              <a:gd name="connsiteX25" fmla="*/ 95263 w 190538"/>
              <a:gd name="connsiteY25" fmla="*/ 114313 h 190538"/>
              <a:gd name="connsiteX26" fmla="*/ 76219 w 190538"/>
              <a:gd name="connsiteY26" fmla="*/ 95257 h 190538"/>
              <a:gd name="connsiteX27" fmla="*/ 95275 w 190538"/>
              <a:gd name="connsiteY27" fmla="*/ 76213 h 190538"/>
              <a:gd name="connsiteX28" fmla="*/ 102727 w 190538"/>
              <a:gd name="connsiteY28" fmla="*/ 77734 h 190538"/>
              <a:gd name="connsiteX29" fmla="*/ 119110 w 190538"/>
              <a:gd name="connsiteY29" fmla="*/ 61351 h 190538"/>
              <a:gd name="connsiteX30" fmla="*/ 119101 w 190538"/>
              <a:gd name="connsiteY30" fmla="*/ 30975 h 190538"/>
              <a:gd name="connsiteX31" fmla="*/ 121196 w 190538"/>
              <a:gd name="connsiteY31" fmla="*/ 25927 h 190538"/>
              <a:gd name="connsiteX32" fmla="*/ 145009 w 190538"/>
              <a:gd name="connsiteY32" fmla="*/ 2115 h 190538"/>
              <a:gd name="connsiteX33" fmla="*/ 155112 w 190538"/>
              <a:gd name="connsiteY33" fmla="*/ 2121 h 190538"/>
              <a:gd name="connsiteX34" fmla="*/ 157201 w 190538"/>
              <a:gd name="connsiteY34" fmla="*/ 7163 h 190538"/>
              <a:gd name="connsiteX35" fmla="*/ 157201 w 190538"/>
              <a:gd name="connsiteY35" fmla="*/ 33357 h 190538"/>
              <a:gd name="connsiteX36" fmla="*/ 183394 w 190538"/>
              <a:gd name="connsiteY36" fmla="*/ 33357 h 190538"/>
              <a:gd name="connsiteX37" fmla="*/ 190531 w 190538"/>
              <a:gd name="connsiteY37" fmla="*/ 40507 h 190538"/>
              <a:gd name="connsiteX38" fmla="*/ 188443 w 190538"/>
              <a:gd name="connsiteY38" fmla="*/ 45549 h 190538"/>
              <a:gd name="connsiteX39" fmla="*/ 164630 w 190538"/>
              <a:gd name="connsiteY39" fmla="*/ 69361 h 190538"/>
              <a:gd name="connsiteX40" fmla="*/ 159582 w 190538"/>
              <a:gd name="connsiteY40" fmla="*/ 71457 h 190538"/>
              <a:gd name="connsiteX41" fmla="*/ 129197 w 190538"/>
              <a:gd name="connsiteY41" fmla="*/ 71457 h 190538"/>
              <a:gd name="connsiteX42" fmla="*/ 112814 w 190538"/>
              <a:gd name="connsiteY42" fmla="*/ 87840 h 190538"/>
              <a:gd name="connsiteX43" fmla="*/ 114319 w 190538"/>
              <a:gd name="connsiteY43" fmla="*/ 95269 h 190538"/>
              <a:gd name="connsiteX44" fmla="*/ 156620 w 190538"/>
              <a:gd name="connsiteY44" fmla="*/ 57169 h 190538"/>
              <a:gd name="connsiteX45" fmla="*/ 166145 w 190538"/>
              <a:gd name="connsiteY45" fmla="*/ 47644 h 190538"/>
              <a:gd name="connsiteX46" fmla="*/ 150047 w 190538"/>
              <a:gd name="connsiteY46" fmla="*/ 47644 h 190538"/>
              <a:gd name="connsiteX47" fmla="*/ 142904 w 190538"/>
              <a:gd name="connsiteY47" fmla="*/ 40500 h 190538"/>
              <a:gd name="connsiteX48" fmla="*/ 142904 w 190538"/>
              <a:gd name="connsiteY48" fmla="*/ 24403 h 190538"/>
              <a:gd name="connsiteX49" fmla="*/ 133388 w 190538"/>
              <a:gd name="connsiteY49" fmla="*/ 33928 h 190538"/>
              <a:gd name="connsiteX50" fmla="*/ 133388 w 190538"/>
              <a:gd name="connsiteY50" fmla="*/ 56607 h 190538"/>
              <a:gd name="connsiteX51" fmla="*/ 133960 w 190538"/>
              <a:gd name="connsiteY51" fmla="*/ 57169 h 190538"/>
              <a:gd name="connsiteX52" fmla="*/ 156629 w 190538"/>
              <a:gd name="connsiteY52" fmla="*/ 57169 h 1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90538" h="190538">
                <a:moveTo>
                  <a:pt x="95269" y="0"/>
                </a:moveTo>
                <a:cubicBezTo>
                  <a:pt x="106737" y="0"/>
                  <a:pt x="117729" y="2029"/>
                  <a:pt x="127911" y="5734"/>
                </a:cubicBezTo>
                <a:lnTo>
                  <a:pt x="116529" y="17107"/>
                </a:lnTo>
                <a:cubicBezTo>
                  <a:pt x="73371" y="5372"/>
                  <a:pt x="28871" y="30844"/>
                  <a:pt x="17136" y="74002"/>
                </a:cubicBezTo>
                <a:cubicBezTo>
                  <a:pt x="5400" y="117160"/>
                  <a:pt x="30873" y="161659"/>
                  <a:pt x="74031" y="173395"/>
                </a:cubicBezTo>
                <a:cubicBezTo>
                  <a:pt x="117189" y="185131"/>
                  <a:pt x="161689" y="159658"/>
                  <a:pt x="173425" y="116500"/>
                </a:cubicBezTo>
                <a:cubicBezTo>
                  <a:pt x="177205" y="102596"/>
                  <a:pt x="177208" y="87934"/>
                  <a:pt x="173431" y="74028"/>
                </a:cubicBezTo>
                <a:lnTo>
                  <a:pt x="184804" y="62655"/>
                </a:lnTo>
                <a:cubicBezTo>
                  <a:pt x="188608" y="73108"/>
                  <a:pt x="190549" y="84146"/>
                  <a:pt x="190538" y="95269"/>
                </a:cubicBezTo>
                <a:cubicBezTo>
                  <a:pt x="190538" y="147885"/>
                  <a:pt x="147885" y="190538"/>
                  <a:pt x="95269" y="190538"/>
                </a:cubicBezTo>
                <a:cubicBezTo>
                  <a:pt x="42653" y="190538"/>
                  <a:pt x="0" y="147885"/>
                  <a:pt x="0" y="95269"/>
                </a:cubicBezTo>
                <a:cubicBezTo>
                  <a:pt x="0" y="42653"/>
                  <a:pt x="42653" y="0"/>
                  <a:pt x="95269" y="0"/>
                </a:cubicBezTo>
                <a:close/>
                <a:moveTo>
                  <a:pt x="95269" y="38119"/>
                </a:moveTo>
                <a:cubicBezTo>
                  <a:pt x="100095" y="38117"/>
                  <a:pt x="104902" y="38725"/>
                  <a:pt x="109576" y="39929"/>
                </a:cubicBezTo>
                <a:lnTo>
                  <a:pt x="109576" y="54854"/>
                </a:lnTo>
                <a:cubicBezTo>
                  <a:pt x="87259" y="46959"/>
                  <a:pt x="62767" y="58650"/>
                  <a:pt x="54872" y="80967"/>
                </a:cubicBezTo>
                <a:cubicBezTo>
                  <a:pt x="46976" y="103283"/>
                  <a:pt x="58667" y="127775"/>
                  <a:pt x="80983" y="135671"/>
                </a:cubicBezTo>
                <a:cubicBezTo>
                  <a:pt x="103301" y="143567"/>
                  <a:pt x="127792" y="131876"/>
                  <a:pt x="135688" y="109558"/>
                </a:cubicBezTo>
                <a:cubicBezTo>
                  <a:pt x="138958" y="100313"/>
                  <a:pt x="138960" y="90227"/>
                  <a:pt x="135693" y="80982"/>
                </a:cubicBezTo>
                <a:lnTo>
                  <a:pt x="150619" y="80982"/>
                </a:lnTo>
                <a:cubicBezTo>
                  <a:pt x="158509" y="111543"/>
                  <a:pt x="140132" y="142713"/>
                  <a:pt x="109571" y="150605"/>
                </a:cubicBezTo>
                <a:cubicBezTo>
                  <a:pt x="79010" y="158495"/>
                  <a:pt x="47839" y="140118"/>
                  <a:pt x="39948" y="109557"/>
                </a:cubicBezTo>
                <a:cubicBezTo>
                  <a:pt x="32058" y="78996"/>
                  <a:pt x="50435" y="47825"/>
                  <a:pt x="80996" y="39934"/>
                </a:cubicBezTo>
                <a:cubicBezTo>
                  <a:pt x="85664" y="38728"/>
                  <a:pt x="90467" y="38119"/>
                  <a:pt x="95288" y="38119"/>
                </a:cubicBezTo>
                <a:close/>
                <a:moveTo>
                  <a:pt x="114319" y="95269"/>
                </a:moveTo>
                <a:cubicBezTo>
                  <a:pt x="114315" y="105790"/>
                  <a:pt x="105784" y="114316"/>
                  <a:pt x="95263" y="114313"/>
                </a:cubicBezTo>
                <a:cubicBezTo>
                  <a:pt x="84742" y="114310"/>
                  <a:pt x="76216" y="105778"/>
                  <a:pt x="76219" y="95257"/>
                </a:cubicBezTo>
                <a:cubicBezTo>
                  <a:pt x="76222" y="84735"/>
                  <a:pt x="84754" y="76210"/>
                  <a:pt x="95275" y="76213"/>
                </a:cubicBezTo>
                <a:cubicBezTo>
                  <a:pt x="97836" y="76214"/>
                  <a:pt x="100371" y="76731"/>
                  <a:pt x="102727" y="77734"/>
                </a:cubicBezTo>
                <a:lnTo>
                  <a:pt x="119110" y="61351"/>
                </a:lnTo>
                <a:lnTo>
                  <a:pt x="119101" y="30975"/>
                </a:lnTo>
                <a:cubicBezTo>
                  <a:pt x="119103" y="29081"/>
                  <a:pt x="119856" y="27266"/>
                  <a:pt x="121196" y="25927"/>
                </a:cubicBezTo>
                <a:lnTo>
                  <a:pt x="145009" y="2115"/>
                </a:lnTo>
                <a:cubicBezTo>
                  <a:pt x="147800" y="-674"/>
                  <a:pt x="152323" y="-671"/>
                  <a:pt x="155112" y="2121"/>
                </a:cubicBezTo>
                <a:cubicBezTo>
                  <a:pt x="156447" y="3459"/>
                  <a:pt x="157199" y="5272"/>
                  <a:pt x="157201" y="7163"/>
                </a:cubicBezTo>
                <a:lnTo>
                  <a:pt x="157201" y="33357"/>
                </a:lnTo>
                <a:lnTo>
                  <a:pt x="183394" y="33357"/>
                </a:lnTo>
                <a:cubicBezTo>
                  <a:pt x="187340" y="33360"/>
                  <a:pt x="190535" y="36561"/>
                  <a:pt x="190531" y="40507"/>
                </a:cubicBezTo>
                <a:cubicBezTo>
                  <a:pt x="190530" y="42397"/>
                  <a:pt x="189779" y="44211"/>
                  <a:pt x="188443" y="45549"/>
                </a:cubicBezTo>
                <a:lnTo>
                  <a:pt x="164630" y="69361"/>
                </a:lnTo>
                <a:cubicBezTo>
                  <a:pt x="163292" y="70701"/>
                  <a:pt x="161475" y="71455"/>
                  <a:pt x="159582" y="71457"/>
                </a:cubicBezTo>
                <a:lnTo>
                  <a:pt x="129197" y="71457"/>
                </a:lnTo>
                <a:lnTo>
                  <a:pt x="112814" y="87840"/>
                </a:lnTo>
                <a:cubicBezTo>
                  <a:pt x="113786" y="90126"/>
                  <a:pt x="114319" y="92631"/>
                  <a:pt x="114319" y="95269"/>
                </a:cubicBezTo>
                <a:close/>
                <a:moveTo>
                  <a:pt x="156620" y="57169"/>
                </a:moveTo>
                <a:lnTo>
                  <a:pt x="166145" y="47644"/>
                </a:lnTo>
                <a:lnTo>
                  <a:pt x="150047" y="47644"/>
                </a:lnTo>
                <a:cubicBezTo>
                  <a:pt x="146102" y="47644"/>
                  <a:pt x="142904" y="44446"/>
                  <a:pt x="142904" y="40500"/>
                </a:cubicBezTo>
                <a:lnTo>
                  <a:pt x="142904" y="24403"/>
                </a:lnTo>
                <a:lnTo>
                  <a:pt x="133388" y="33928"/>
                </a:lnTo>
                <a:lnTo>
                  <a:pt x="133388" y="56607"/>
                </a:lnTo>
                <a:cubicBezTo>
                  <a:pt x="133590" y="56783"/>
                  <a:pt x="133781" y="56970"/>
                  <a:pt x="133960" y="57169"/>
                </a:cubicBezTo>
                <a:lnTo>
                  <a:pt x="156629" y="57169"/>
                </a:ln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Placeholder 5">
            <a:extLst>
              <a:ext uri="{FF2B5EF4-FFF2-40B4-BE49-F238E27FC236}">
                <a16:creationId xmlns:a16="http://schemas.microsoft.com/office/drawing/2014/main" id="{5443F9A2-3C5B-8F1A-0E50-31517B2DEE78}"/>
              </a:ext>
            </a:extLst>
          </p:cNvPr>
          <p:cNvSpPr txBox="1">
            <a:spLocks/>
          </p:cNvSpPr>
          <p:nvPr/>
        </p:nvSpPr>
        <p:spPr>
          <a:xfrm>
            <a:off x="3386666" y="3821210"/>
            <a:ext cx="1900668" cy="307777"/>
          </a:xfrm>
          <a:prstGeom prst="rect">
            <a:avLst/>
          </a:prstGeom>
          <a:noFill/>
          <a:ln w="12700" cap="flat" cmpd="sng" algn="ctr">
            <a:noFill/>
            <a:prstDash val="solid"/>
            <a:miter lim="800000"/>
          </a:ln>
          <a:effectLst>
            <a:outerShdw blurRad="406400" dist="38100" dir="2700000" algn="tl" rotWithShape="0">
              <a:prstClr val="black">
                <a:alpha val="12000"/>
              </a:prstClr>
            </a:outerShdw>
          </a:effectLst>
        </p:spPr>
        <p:txBody>
          <a:bodyPr rot="0" spcFirstLastPara="0" vertOverflow="overflow" horzOverflow="overflow" vert="horz" wrap="square" lIns="292608" tIns="0" rIns="0" bIns="0" numCol="1" spcCol="0" rtlCol="0" fromWordArt="0" anchor="t" anchorCtr="0" forceAA="0" compatLnSpc="1">
            <a:prstTxWarp prst="textNoShape">
              <a:avLst/>
            </a:prstTxWarp>
            <a:sp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0" lang="en-US" sz="1400" b="0" i="0" u="none" strike="noStrike" kern="0" cap="none" spc="0" normalizeH="0" baseline="0" dirty="0" smtClean="0">
                <a:ln w="3175">
                  <a:noFill/>
                </a:ln>
                <a:solidFill>
                  <a:schemeClr val="tx1"/>
                </a:solidFill>
                <a:effectLst/>
                <a:uLnTx/>
                <a:uFillTx/>
                <a:latin typeface="+mj-lt"/>
                <a:ea typeface="Segoe UI Regular" pitchFamily="34" charset="-122"/>
                <a:cs typeface="Segoe UI" panose="020B0502040204020203"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lang="en-US" sz="1100" kern="1200" dirty="0" smtClean="0">
                <a:solidFill>
                  <a:schemeClr val="tx2"/>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lang="en-US" sz="1100" kern="1200" dirty="0" smtClean="0">
                <a:solidFill>
                  <a:schemeClr val="tx2"/>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lang="en-US" sz="1100" kern="1200" dirty="0">
                <a:solidFill>
                  <a:schemeClr val="tx2"/>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0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171450" lvl="1" indent="-171450" defTabSz="932742">
              <a:spcBef>
                <a:spcPts val="0"/>
              </a:spcBef>
              <a:buSzPct val="90000"/>
            </a:pPr>
            <a:r>
              <a:rPr lang="en-US" sz="1000" dirty="0">
                <a:solidFill>
                  <a:schemeClr val="tx1"/>
                </a:solidFill>
              </a:rPr>
              <a:t>Boost field efficiency</a:t>
            </a:r>
          </a:p>
          <a:p>
            <a:pPr marL="171450" lvl="1" indent="-171450" defTabSz="932742">
              <a:spcBef>
                <a:spcPts val="0"/>
              </a:spcBef>
              <a:buSzPct val="90000"/>
            </a:pPr>
            <a:r>
              <a:rPr lang="en-US" sz="1000" dirty="0">
                <a:solidFill>
                  <a:schemeClr val="tx1"/>
                </a:solidFill>
              </a:rPr>
              <a:t>Manage service agents</a:t>
            </a:r>
          </a:p>
        </p:txBody>
      </p:sp>
      <p:sp>
        <p:nvSpPr>
          <p:cNvPr id="18" name="Text Placeholder 2">
            <a:extLst>
              <a:ext uri="{FF2B5EF4-FFF2-40B4-BE49-F238E27FC236}">
                <a16:creationId xmlns:a16="http://schemas.microsoft.com/office/drawing/2014/main" id="{A11F7FEF-A7AA-A3BA-9118-0A733AAF2892}"/>
              </a:ext>
              <a:ext uri="{C183D7F6-B498-43B3-948B-1728B52AA6E4}">
                <adec:decorative xmlns:adec="http://schemas.microsoft.com/office/drawing/2017/decorative" val="1"/>
              </a:ext>
            </a:extLst>
          </p:cNvPr>
          <p:cNvSpPr txBox="1">
            <a:spLocks/>
          </p:cNvSpPr>
          <p:nvPr/>
        </p:nvSpPr>
        <p:spPr>
          <a:xfrm>
            <a:off x="593725" y="3120797"/>
            <a:ext cx="457200" cy="457200"/>
          </a:xfrm>
          <a:prstGeom prst="ellipse">
            <a:avLst/>
          </a:prstGeom>
          <a:solidFill>
            <a:schemeClr val="bg1">
              <a:alpha val="74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640080" tIns="137160" rIns="137160" bIns="137160" numCol="1" spcCol="0" rtlCol="0" fromWordArt="0" anchor="t" anchorCtr="0" forceAA="0" compatLnSpc="1">
            <a:prstTxWarp prst="textNoShape">
              <a:avLst/>
            </a:prstTxWarp>
            <a:spAutoFit/>
          </a:bodyPr>
          <a:lstStyle>
            <a:lvl1pPr indent="0">
              <a:lnSpc>
                <a:spcPct val="100000"/>
              </a:lnSpc>
              <a:spcBef>
                <a:spcPts val="1000"/>
              </a:spcBef>
              <a:spcAft>
                <a:spcPts val="600"/>
              </a:spcAft>
              <a:buFont typeface="Arial" panose="020B0604020202020204" pitchFamily="34" charset="0"/>
              <a:buNone/>
              <a:defRPr kumimoji="0" lang="en-US" sz="1400" b="0" i="0" u="none" strike="noStrike" kern="0" cap="none" spc="0" normalizeH="0" baseline="0" smtClean="0">
                <a:ln w="3175">
                  <a:noFill/>
                </a:ln>
                <a:effectLst/>
                <a:uLnTx/>
                <a:uFillTx/>
                <a:latin typeface="+mj-lt"/>
                <a:ea typeface="Segoe UI Regular" pitchFamily="34" charset="-122"/>
                <a:cs typeface="Segoe UI" panose="020B0502040204020203" pitchFamily="34" charset="0"/>
              </a:defRPr>
            </a:lvl1pPr>
            <a:lvl2pPr marL="0" lvl="1" indent="0">
              <a:lnSpc>
                <a:spcPct val="100000"/>
              </a:lnSpc>
              <a:spcBef>
                <a:spcPts val="0"/>
              </a:spcBef>
              <a:buFont typeface="Arial" panose="020B0604020202020204" pitchFamily="34" charset="0"/>
              <a:buNone/>
              <a:defRPr lang="en-US" sz="1100" dirty="0" smtClean="0">
                <a:solidFill>
                  <a:schemeClr val="tx2"/>
                </a:solidFill>
              </a:defRPr>
            </a:lvl2pPr>
            <a:lvl3pPr marL="1200150" indent="-285750">
              <a:lnSpc>
                <a:spcPct val="100000"/>
              </a:lnSpc>
              <a:spcBef>
                <a:spcPts val="500"/>
              </a:spcBef>
              <a:buFont typeface="Arial" panose="020B0604020202020204" pitchFamily="34" charset="0"/>
              <a:buChar char="•"/>
              <a:defRPr lang="en-US" sz="1100" smtClean="0">
                <a:solidFill>
                  <a:schemeClr val="tx2"/>
                </a:solidFill>
              </a:defRPr>
            </a:lvl3pPr>
            <a:lvl4pPr marL="1657350" indent="-285750">
              <a:lnSpc>
                <a:spcPct val="100000"/>
              </a:lnSpc>
              <a:spcBef>
                <a:spcPts val="500"/>
              </a:spcBef>
              <a:buFont typeface="Arial" panose="020B0604020202020204" pitchFamily="34" charset="0"/>
              <a:buChar char="•"/>
              <a:defRPr lang="en-US" sz="1100" smtClean="0">
                <a:solidFill>
                  <a:schemeClr val="tx2"/>
                </a:solidFill>
              </a:defRPr>
            </a:lvl4pPr>
            <a:lvl5pPr marL="2114550" indent="-285750">
              <a:lnSpc>
                <a:spcPct val="100000"/>
              </a:lnSpc>
              <a:spcBef>
                <a:spcPts val="500"/>
              </a:spcBef>
              <a:buFont typeface="Arial" panose="020B0604020202020204" pitchFamily="34" charset="0"/>
              <a:buChar char="•"/>
              <a:defRPr lang="en-US">
                <a:solidFill>
                  <a:schemeClr val="tx2"/>
                </a:solidFill>
              </a:defRPr>
            </a:lvl5pPr>
            <a:lvl6pPr marL="2514600" indent="-228600">
              <a:lnSpc>
                <a:spcPct val="90000"/>
              </a:lnSpc>
              <a:spcBef>
                <a:spcPts val="500"/>
              </a:spcBef>
              <a:buFont typeface="Arial" panose="020B0604020202020204" pitchFamily="34" charset="0"/>
              <a:buChar char="•"/>
              <a:defRPr>
                <a:solidFill>
                  <a:schemeClr val="lt1"/>
                </a:solidFill>
              </a:defRPr>
            </a:lvl6pPr>
            <a:lvl7pPr marL="2971800" indent="-228600">
              <a:lnSpc>
                <a:spcPct val="90000"/>
              </a:lnSpc>
              <a:spcBef>
                <a:spcPts val="500"/>
              </a:spcBef>
              <a:buFont typeface="Arial" panose="020B0604020202020204" pitchFamily="34" charset="0"/>
              <a:buChar char="•"/>
              <a:defRPr>
                <a:solidFill>
                  <a:schemeClr val="lt1"/>
                </a:solidFill>
              </a:defRPr>
            </a:lvl7pPr>
            <a:lvl8pPr marL="3429000" indent="-228600">
              <a:lnSpc>
                <a:spcPct val="90000"/>
              </a:lnSpc>
              <a:spcBef>
                <a:spcPts val="500"/>
              </a:spcBef>
              <a:buFont typeface="Arial" panose="020B0604020202020204" pitchFamily="34" charset="0"/>
              <a:buChar char="•"/>
              <a:defRPr>
                <a:solidFill>
                  <a:schemeClr val="lt1"/>
                </a:solidFill>
              </a:defRPr>
            </a:lvl8pPr>
            <a:lvl9pPr marL="3886200" indent="-228600">
              <a:lnSpc>
                <a:spcPct val="90000"/>
              </a:lnSpc>
              <a:spcBef>
                <a:spcPts val="500"/>
              </a:spcBef>
              <a:buFont typeface="Arial" panose="020B0604020202020204" pitchFamily="34" charset="0"/>
              <a:buChar char="•"/>
              <a:defRPr>
                <a:solidFill>
                  <a:schemeClr val="lt1"/>
                </a:solidFill>
              </a:defRPr>
            </a:lvl9pPr>
          </a:lstStyle>
          <a:p>
            <a:endParaRPr lang="en-US"/>
          </a:p>
        </p:txBody>
      </p:sp>
      <p:sp>
        <p:nvSpPr>
          <p:cNvPr id="22" name="Graphic 60">
            <a:extLst>
              <a:ext uri="{FF2B5EF4-FFF2-40B4-BE49-F238E27FC236}">
                <a16:creationId xmlns:a16="http://schemas.microsoft.com/office/drawing/2014/main" id="{0F8261C3-60CB-AECD-2FD7-A41CDA782E83}"/>
              </a:ext>
              <a:ext uri="{C183D7F6-B498-43B3-948B-1728B52AA6E4}">
                <adec:decorative xmlns:adec="http://schemas.microsoft.com/office/drawing/2017/decorative" val="1"/>
              </a:ext>
            </a:extLst>
          </p:cNvPr>
          <p:cNvSpPr>
            <a:spLocks/>
          </p:cNvSpPr>
          <p:nvPr/>
        </p:nvSpPr>
        <p:spPr>
          <a:xfrm>
            <a:off x="708023" y="3233501"/>
            <a:ext cx="228600" cy="228600"/>
          </a:xfrm>
          <a:custGeom>
            <a:avLst/>
            <a:gdLst>
              <a:gd name="connsiteX0" fmla="*/ 152400 w 304800"/>
              <a:gd name="connsiteY0" fmla="*/ 0 h 304800"/>
              <a:gd name="connsiteX1" fmla="*/ 304800 w 304800"/>
              <a:gd name="connsiteY1" fmla="*/ 152400 h 304800"/>
              <a:gd name="connsiteX2" fmla="*/ 152400 w 304800"/>
              <a:gd name="connsiteY2" fmla="*/ 304800 h 304800"/>
              <a:gd name="connsiteX3" fmla="*/ 0 w 304800"/>
              <a:gd name="connsiteY3" fmla="*/ 152400 h 304800"/>
              <a:gd name="connsiteX4" fmla="*/ 152400 w 304800"/>
              <a:gd name="connsiteY4" fmla="*/ 0 h 304800"/>
              <a:gd name="connsiteX5" fmla="*/ 152400 w 304800"/>
              <a:gd name="connsiteY5" fmla="*/ 25405 h 304800"/>
              <a:gd name="connsiteX6" fmla="*/ 25405 w 304800"/>
              <a:gd name="connsiteY6" fmla="*/ 152400 h 304800"/>
              <a:gd name="connsiteX7" fmla="*/ 152400 w 304800"/>
              <a:gd name="connsiteY7" fmla="*/ 279395 h 304800"/>
              <a:gd name="connsiteX8" fmla="*/ 279395 w 304800"/>
              <a:gd name="connsiteY8" fmla="*/ 152400 h 304800"/>
              <a:gd name="connsiteX9" fmla="*/ 152400 w 304800"/>
              <a:gd name="connsiteY9" fmla="*/ 25405 h 304800"/>
              <a:gd name="connsiteX10" fmla="*/ 152400 w 304800"/>
              <a:gd name="connsiteY10" fmla="*/ 205740 h 304800"/>
              <a:gd name="connsiteX11" fmla="*/ 167640 w 304800"/>
              <a:gd name="connsiteY11" fmla="*/ 220980 h 304800"/>
              <a:gd name="connsiteX12" fmla="*/ 152400 w 304800"/>
              <a:gd name="connsiteY12" fmla="*/ 236220 h 304800"/>
              <a:gd name="connsiteX13" fmla="*/ 137160 w 304800"/>
              <a:gd name="connsiteY13" fmla="*/ 220980 h 304800"/>
              <a:gd name="connsiteX14" fmla="*/ 152400 w 304800"/>
              <a:gd name="connsiteY14" fmla="*/ 205740 h 304800"/>
              <a:gd name="connsiteX15" fmla="*/ 152400 w 304800"/>
              <a:gd name="connsiteY15" fmla="*/ 72390 h 304800"/>
              <a:gd name="connsiteX16" fmla="*/ 194310 w 304800"/>
              <a:gd name="connsiteY16" fmla="*/ 114300 h 304800"/>
              <a:gd name="connsiteX17" fmla="*/ 178293 w 304800"/>
              <a:gd name="connsiteY17" fmla="*/ 150251 h 304800"/>
              <a:gd name="connsiteX18" fmla="*/ 175717 w 304800"/>
              <a:gd name="connsiteY18" fmla="*/ 152857 h 304800"/>
              <a:gd name="connsiteX19" fmla="*/ 163830 w 304800"/>
              <a:gd name="connsiteY19" fmla="*/ 175260 h 304800"/>
              <a:gd name="connsiteX20" fmla="*/ 152400 w 304800"/>
              <a:gd name="connsiteY20" fmla="*/ 186690 h 304800"/>
              <a:gd name="connsiteX21" fmla="*/ 140970 w 304800"/>
              <a:gd name="connsiteY21" fmla="*/ 175260 h 304800"/>
              <a:gd name="connsiteX22" fmla="*/ 156987 w 304800"/>
              <a:gd name="connsiteY22" fmla="*/ 139309 h 304800"/>
              <a:gd name="connsiteX23" fmla="*/ 159563 w 304800"/>
              <a:gd name="connsiteY23" fmla="*/ 136703 h 304800"/>
              <a:gd name="connsiteX24" fmla="*/ 171450 w 304800"/>
              <a:gd name="connsiteY24" fmla="*/ 114300 h 304800"/>
              <a:gd name="connsiteX25" fmla="*/ 152339 w 304800"/>
              <a:gd name="connsiteY25" fmla="*/ 95312 h 304800"/>
              <a:gd name="connsiteX26" fmla="*/ 133457 w 304800"/>
              <a:gd name="connsiteY26" fmla="*/ 112349 h 304800"/>
              <a:gd name="connsiteX27" fmla="*/ 133350 w 304800"/>
              <a:gd name="connsiteY27" fmla="*/ 114300 h 304800"/>
              <a:gd name="connsiteX28" fmla="*/ 121920 w 304800"/>
              <a:gd name="connsiteY28" fmla="*/ 125730 h 304800"/>
              <a:gd name="connsiteX29" fmla="*/ 110490 w 304800"/>
              <a:gd name="connsiteY29" fmla="*/ 114300 h 304800"/>
              <a:gd name="connsiteX30" fmla="*/ 152400 w 304800"/>
              <a:gd name="connsiteY30" fmla="*/ 7239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4800" h="304800">
                <a:moveTo>
                  <a:pt x="152400" y="0"/>
                </a:moveTo>
                <a:cubicBezTo>
                  <a:pt x="236571" y="0"/>
                  <a:pt x="304800" y="68245"/>
                  <a:pt x="304800" y="152400"/>
                </a:cubicBezTo>
                <a:cubicBezTo>
                  <a:pt x="304800" y="236555"/>
                  <a:pt x="236571" y="304800"/>
                  <a:pt x="152400" y="304800"/>
                </a:cubicBezTo>
                <a:cubicBezTo>
                  <a:pt x="68229" y="304800"/>
                  <a:pt x="0" y="236555"/>
                  <a:pt x="0" y="152400"/>
                </a:cubicBezTo>
                <a:cubicBezTo>
                  <a:pt x="0" y="68245"/>
                  <a:pt x="68229" y="0"/>
                  <a:pt x="152400" y="0"/>
                </a:cubicBezTo>
                <a:close/>
                <a:moveTo>
                  <a:pt x="152400" y="25405"/>
                </a:moveTo>
                <a:cubicBezTo>
                  <a:pt x="82372" y="25405"/>
                  <a:pt x="25405" y="82372"/>
                  <a:pt x="25405" y="152400"/>
                </a:cubicBezTo>
                <a:cubicBezTo>
                  <a:pt x="25405" y="222428"/>
                  <a:pt x="82372" y="279395"/>
                  <a:pt x="152400" y="279395"/>
                </a:cubicBezTo>
                <a:cubicBezTo>
                  <a:pt x="222428" y="279395"/>
                  <a:pt x="279395" y="222428"/>
                  <a:pt x="279395" y="152400"/>
                </a:cubicBezTo>
                <a:cubicBezTo>
                  <a:pt x="279395" y="82372"/>
                  <a:pt x="222428" y="25405"/>
                  <a:pt x="152400" y="25405"/>
                </a:cubicBezTo>
                <a:close/>
                <a:moveTo>
                  <a:pt x="152400" y="205740"/>
                </a:moveTo>
                <a:cubicBezTo>
                  <a:pt x="160817" y="205740"/>
                  <a:pt x="167640" y="212563"/>
                  <a:pt x="167640" y="220980"/>
                </a:cubicBezTo>
                <a:cubicBezTo>
                  <a:pt x="167640" y="229397"/>
                  <a:pt x="160817" y="236220"/>
                  <a:pt x="152400" y="236220"/>
                </a:cubicBezTo>
                <a:cubicBezTo>
                  <a:pt x="143983" y="236220"/>
                  <a:pt x="137160" y="229397"/>
                  <a:pt x="137160" y="220980"/>
                </a:cubicBezTo>
                <a:cubicBezTo>
                  <a:pt x="137160" y="212563"/>
                  <a:pt x="143983" y="205740"/>
                  <a:pt x="152400" y="205740"/>
                </a:cubicBezTo>
                <a:close/>
                <a:moveTo>
                  <a:pt x="152400" y="72390"/>
                </a:moveTo>
                <a:cubicBezTo>
                  <a:pt x="175547" y="72390"/>
                  <a:pt x="194310" y="91154"/>
                  <a:pt x="194310" y="114300"/>
                </a:cubicBezTo>
                <a:cubicBezTo>
                  <a:pt x="194310" y="129692"/>
                  <a:pt x="189784" y="138288"/>
                  <a:pt x="178293" y="150251"/>
                </a:cubicBezTo>
                <a:lnTo>
                  <a:pt x="175717" y="152857"/>
                </a:lnTo>
                <a:cubicBezTo>
                  <a:pt x="166238" y="162336"/>
                  <a:pt x="163830" y="166360"/>
                  <a:pt x="163830" y="175260"/>
                </a:cubicBezTo>
                <a:cubicBezTo>
                  <a:pt x="163830" y="181572"/>
                  <a:pt x="158712" y="186690"/>
                  <a:pt x="152400" y="186690"/>
                </a:cubicBezTo>
                <a:cubicBezTo>
                  <a:pt x="146088" y="186690"/>
                  <a:pt x="140970" y="181572"/>
                  <a:pt x="140970" y="175260"/>
                </a:cubicBezTo>
                <a:cubicBezTo>
                  <a:pt x="140970" y="159868"/>
                  <a:pt x="145496" y="151272"/>
                  <a:pt x="156987" y="139309"/>
                </a:cubicBezTo>
                <a:lnTo>
                  <a:pt x="159563" y="136703"/>
                </a:lnTo>
                <a:cubicBezTo>
                  <a:pt x="169042" y="127224"/>
                  <a:pt x="171450" y="123200"/>
                  <a:pt x="171450" y="114300"/>
                </a:cubicBezTo>
                <a:cubicBezTo>
                  <a:pt x="171416" y="103779"/>
                  <a:pt x="162859" y="95278"/>
                  <a:pt x="152339" y="95312"/>
                </a:cubicBezTo>
                <a:cubicBezTo>
                  <a:pt x="142621" y="95343"/>
                  <a:pt x="134484" y="102685"/>
                  <a:pt x="133457" y="112349"/>
                </a:cubicBezTo>
                <a:lnTo>
                  <a:pt x="133350" y="114300"/>
                </a:lnTo>
                <a:cubicBezTo>
                  <a:pt x="133350" y="120613"/>
                  <a:pt x="128232" y="125730"/>
                  <a:pt x="121920" y="125730"/>
                </a:cubicBezTo>
                <a:cubicBezTo>
                  <a:pt x="115607" y="125730"/>
                  <a:pt x="110490" y="120613"/>
                  <a:pt x="110490" y="114300"/>
                </a:cubicBezTo>
                <a:cubicBezTo>
                  <a:pt x="110490" y="91154"/>
                  <a:pt x="129253" y="72390"/>
                  <a:pt x="152400" y="72390"/>
                </a:cubicBez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24" name="Table 23">
            <a:extLst>
              <a:ext uri="{FF2B5EF4-FFF2-40B4-BE49-F238E27FC236}">
                <a16:creationId xmlns:a16="http://schemas.microsoft.com/office/drawing/2014/main" id="{092D4684-0950-C6A0-9BC7-B046A3F62821}"/>
              </a:ext>
            </a:extLst>
          </p:cNvPr>
          <p:cNvGraphicFramePr>
            <a:graphicFrameLocks noGrp="1"/>
          </p:cNvGraphicFramePr>
          <p:nvPr/>
        </p:nvGraphicFramePr>
        <p:xfrm>
          <a:off x="5951548" y="3848305"/>
          <a:ext cx="5516364" cy="2354970"/>
        </p:xfrm>
        <a:graphic>
          <a:graphicData uri="http://schemas.openxmlformats.org/drawingml/2006/table">
            <a:tbl>
              <a:tblPr firstRow="1" bandRow="1">
                <a:tableStyleId>{2D5ABB26-0587-4C30-8999-92F81FD0307C}</a:tableStyleId>
              </a:tblPr>
              <a:tblGrid>
                <a:gridCol w="217758">
                  <a:extLst>
                    <a:ext uri="{9D8B030D-6E8A-4147-A177-3AD203B41FA5}">
                      <a16:colId xmlns:a16="http://schemas.microsoft.com/office/drawing/2014/main" val="1905125584"/>
                    </a:ext>
                  </a:extLst>
                </a:gridCol>
                <a:gridCol w="995423">
                  <a:extLst>
                    <a:ext uri="{9D8B030D-6E8A-4147-A177-3AD203B41FA5}">
                      <a16:colId xmlns:a16="http://schemas.microsoft.com/office/drawing/2014/main" val="3580399742"/>
                    </a:ext>
                  </a:extLst>
                </a:gridCol>
                <a:gridCol w="4303183">
                  <a:extLst>
                    <a:ext uri="{9D8B030D-6E8A-4147-A177-3AD203B41FA5}">
                      <a16:colId xmlns:a16="http://schemas.microsoft.com/office/drawing/2014/main" val="1904428677"/>
                    </a:ext>
                  </a:extLst>
                </a:gridCol>
              </a:tblGrid>
              <a:tr h="590378">
                <a:tc>
                  <a:txBody>
                    <a:bodyPr/>
                    <a:lstStyle/>
                    <a:p>
                      <a:endParaRPr lang="en-US" sz="1000"/>
                    </a:p>
                  </a:txBody>
                  <a:tcPr>
                    <a:lnL>
                      <a:noFill/>
                    </a:lnL>
                    <a:lnR w="12700" cap="flat" cmpd="sng" algn="ctr">
                      <a:no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a:latin typeface="+mj-lt"/>
                        </a:rPr>
                        <a:t>First call resolution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225"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In Customer Service, First Call Resolution (FCR) is a game changer because it improves customer satisfaction, enhances agent efficiency, and fosters long-term customer loyalty.</a:t>
                      </a:r>
                    </a:p>
                  </a:txBody>
                  <a:tcPr marL="45720" marR="45720">
                    <a:lnL w="12700" cap="flat" cmpd="sng" algn="ctr">
                      <a:noFill/>
                      <a:prstDash val="solid"/>
                      <a:round/>
                      <a:headEnd type="none" w="med" len="med"/>
                      <a:tailEnd type="none" w="med" len="med"/>
                    </a:lnL>
                    <a:lnR>
                      <a:noFill/>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3379039"/>
                  </a:ext>
                </a:extLst>
              </a:tr>
              <a:tr h="590378">
                <a:tc>
                  <a:txBody>
                    <a:bodyPr/>
                    <a:lstStyle/>
                    <a:p>
                      <a:endParaRPr lang="en-US" sz="1000"/>
                    </a:p>
                  </a:txBody>
                  <a:tcPr>
                    <a:lnL>
                      <a:noFill/>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a:latin typeface="+mj-lt"/>
                        </a:rPr>
                        <a:t>Average resolution 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225"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111111"/>
                          </a:solidFill>
                          <a:effectLst/>
                          <a:uLnTx/>
                          <a:uFillTx/>
                          <a:latin typeface="Segoe UI"/>
                          <a:ea typeface="+mn-ea"/>
                          <a:cs typeface="Segoe UI" panose="020B0502040204020203" pitchFamily="34" charset="0"/>
                        </a:rPr>
                        <a:t>Microsoft Copilot can help with lowering resolution times which in turn leads to increased agent productivity and higher customer satisfaction rates.</a:t>
                      </a:r>
                      <a:endParaRPr kumimoji="0" lang="en-US" sz="10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a:txBody>
                  <a:tcPr marL="45720" marR="45720">
                    <a:lnL w="12700" cap="flat" cmpd="sng" algn="ctr">
                      <a:noFill/>
                      <a:prstDash val="solid"/>
                      <a:round/>
                      <a:headEnd type="none" w="med" len="med"/>
                      <a:tailEnd type="none" w="med" len="med"/>
                    </a:lnL>
                    <a:lnR>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34878029"/>
                  </a:ext>
                </a:extLst>
              </a:tr>
              <a:tr h="462123">
                <a:tc>
                  <a:txBody>
                    <a:bodyPr/>
                    <a:lstStyle/>
                    <a:p>
                      <a:endParaRPr lang="en-US" sz="1000"/>
                    </a:p>
                  </a:txBody>
                  <a:tcPr>
                    <a:lnL>
                      <a:noFill/>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a:latin typeface="+mj-lt"/>
                        </a:rPr>
                        <a:t>Service quality scores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Segoe UI" panose="020B0502040204020203" pitchFamily="34" charset="0"/>
                        </a:rPr>
                        <a:t>AI is elevating service quality in the professional services industry by enabling smarter, more efficient, and customer-centric operations.</a:t>
                      </a:r>
                    </a:p>
                  </a:txBody>
                  <a:tcPr marL="45720" marR="45720">
                    <a:lnL w="12700" cap="flat" cmpd="sng" algn="ctr">
                      <a:noFill/>
                      <a:prstDash val="solid"/>
                      <a:round/>
                      <a:headEnd type="none" w="med" len="med"/>
                      <a:tailEnd type="none" w="med" len="med"/>
                    </a:lnL>
                    <a:lnR>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97277821"/>
                  </a:ext>
                </a:extLst>
              </a:tr>
              <a:tr h="712091">
                <a:tc>
                  <a:txBody>
                    <a:bodyPr/>
                    <a:lstStyle/>
                    <a:p>
                      <a:endParaRPr lang="en-US" sz="1000"/>
                    </a:p>
                  </a:txBody>
                  <a:tcPr>
                    <a:lnL>
                      <a:noFill/>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r>
                        <a:rPr lang="en-US" sz="1000">
                          <a:latin typeface="+mj-lt"/>
                        </a:rPr>
                        <a:t>Customer satisfaction scores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Segoe UI" panose="020B0502040204020203" pitchFamily="34" charset="0"/>
                        </a:rPr>
                        <a:t>Microsoft Copilot can improve customer satisfaction by providing real-time AI assistance for faster issue resolution, generating personalized email responses, analyzing customer feedback, and allowing agents to focus on delivering high-quality service.</a:t>
                      </a:r>
                    </a:p>
                  </a:txBody>
                  <a:tcPr marL="45720" marR="45720">
                    <a:lnL w="12700" cap="flat" cmpd="sng" algn="ctr">
                      <a:noFill/>
                      <a:prstDash val="solid"/>
                      <a:round/>
                      <a:headEnd type="none" w="med" len="med"/>
                      <a:tailEnd type="none" w="med" len="med"/>
                    </a:lnL>
                    <a:lnR>
                      <a:noFill/>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2953155573"/>
                  </a:ext>
                </a:extLst>
              </a:tr>
            </a:tbl>
          </a:graphicData>
        </a:graphic>
      </p:graphicFrame>
      <p:sp>
        <p:nvSpPr>
          <p:cNvPr id="49" name="Graphic 47" descr="Icon of a piggy bank ">
            <a:extLst>
              <a:ext uri="{FF2B5EF4-FFF2-40B4-BE49-F238E27FC236}">
                <a16:creationId xmlns:a16="http://schemas.microsoft.com/office/drawing/2014/main" id="{8A8337EE-15D3-0F46-9BBE-52B2A4108A9F}"/>
              </a:ext>
            </a:extLst>
          </p:cNvPr>
          <p:cNvSpPr>
            <a:spLocks noChangeAspect="1"/>
          </p:cNvSpPr>
          <p:nvPr/>
        </p:nvSpPr>
        <p:spPr>
          <a:xfrm>
            <a:off x="5963194" y="4042903"/>
            <a:ext cx="200060" cy="193432"/>
          </a:xfrm>
          <a:custGeom>
            <a:avLst/>
            <a:gdLst>
              <a:gd name="connsiteX0" fmla="*/ 150403 w 372234"/>
              <a:gd name="connsiteY0" fmla="*/ 26554 h 359903"/>
              <a:gd name="connsiteX1" fmla="*/ 177466 w 372234"/>
              <a:gd name="connsiteY1" fmla="*/ 38837 h 359903"/>
              <a:gd name="connsiteX2" fmla="*/ 168732 w 372234"/>
              <a:gd name="connsiteY2" fmla="*/ 65624 h 359903"/>
              <a:gd name="connsiteX3" fmla="*/ 134547 w 372234"/>
              <a:gd name="connsiteY3" fmla="*/ 49532 h 359903"/>
              <a:gd name="connsiteX4" fmla="*/ 120976 w 372234"/>
              <a:gd name="connsiteY4" fmla="*/ 39162 h 359903"/>
              <a:gd name="connsiteX5" fmla="*/ 120976 w 372234"/>
              <a:gd name="connsiteY5" fmla="*/ 80727 h 359903"/>
              <a:gd name="connsiteX6" fmla="*/ 112224 w 372234"/>
              <a:gd name="connsiteY6" fmla="*/ 93679 h 359903"/>
              <a:gd name="connsiteX7" fmla="*/ 112108 w 372234"/>
              <a:gd name="connsiteY7" fmla="*/ 93727 h 359903"/>
              <a:gd name="connsiteX8" fmla="*/ 111522 w 372234"/>
              <a:gd name="connsiteY8" fmla="*/ 93976 h 359903"/>
              <a:gd name="connsiteX9" fmla="*/ 109035 w 372234"/>
              <a:gd name="connsiteY9" fmla="*/ 95103 h 359903"/>
              <a:gd name="connsiteX10" fmla="*/ 99984 w 372234"/>
              <a:gd name="connsiteY10" fmla="*/ 99827 h 359903"/>
              <a:gd name="connsiteX11" fmla="*/ 75011 w 372234"/>
              <a:gd name="connsiteY11" fmla="*/ 118515 h 359903"/>
              <a:gd name="connsiteX12" fmla="*/ 58428 w 372234"/>
              <a:gd name="connsiteY12" fmla="*/ 147096 h 359903"/>
              <a:gd name="connsiteX13" fmla="*/ 31400 w 372234"/>
              <a:gd name="connsiteY13" fmla="*/ 171071 h 359903"/>
              <a:gd name="connsiteX14" fmla="*/ 27918 w 372234"/>
              <a:gd name="connsiteY14" fmla="*/ 175183 h 359903"/>
              <a:gd name="connsiteX15" fmla="*/ 27918 w 372234"/>
              <a:gd name="connsiteY15" fmla="*/ 207807 h 359903"/>
              <a:gd name="connsiteX16" fmla="*/ 33181 w 372234"/>
              <a:gd name="connsiteY16" fmla="*/ 214021 h 359903"/>
              <a:gd name="connsiteX17" fmla="*/ 59085 w 372234"/>
              <a:gd name="connsiteY17" fmla="*/ 232745 h 359903"/>
              <a:gd name="connsiteX18" fmla="*/ 84317 w 372234"/>
              <a:gd name="connsiteY18" fmla="*/ 266279 h 359903"/>
              <a:gd name="connsiteX19" fmla="*/ 113807 w 372234"/>
              <a:gd name="connsiteY19" fmla="*/ 285613 h 359903"/>
              <a:gd name="connsiteX20" fmla="*/ 124606 w 372234"/>
              <a:gd name="connsiteY20" fmla="*/ 289427 h 359903"/>
              <a:gd name="connsiteX21" fmla="*/ 127546 w 372234"/>
              <a:gd name="connsiteY21" fmla="*/ 290197 h 359903"/>
              <a:gd name="connsiteX22" fmla="*/ 128214 w 372234"/>
              <a:gd name="connsiteY22" fmla="*/ 290348 h 359903"/>
              <a:gd name="connsiteX23" fmla="*/ 128304 w 372234"/>
              <a:gd name="connsiteY23" fmla="*/ 290369 h 359903"/>
              <a:gd name="connsiteX24" fmla="*/ 128324 w 372234"/>
              <a:gd name="connsiteY24" fmla="*/ 290372 h 359903"/>
              <a:gd name="connsiteX25" fmla="*/ 139588 w 372234"/>
              <a:gd name="connsiteY25" fmla="*/ 304069 h 359903"/>
              <a:gd name="connsiteX26" fmla="*/ 139588 w 372234"/>
              <a:gd name="connsiteY26" fmla="*/ 327333 h 359903"/>
              <a:gd name="connsiteX27" fmla="*/ 144241 w 372234"/>
              <a:gd name="connsiteY27" fmla="*/ 331986 h 359903"/>
              <a:gd name="connsiteX28" fmla="*/ 167505 w 372234"/>
              <a:gd name="connsiteY28" fmla="*/ 331986 h 359903"/>
              <a:gd name="connsiteX29" fmla="*/ 195423 w 372234"/>
              <a:gd name="connsiteY29" fmla="*/ 304069 h 359903"/>
              <a:gd name="connsiteX30" fmla="*/ 232646 w 372234"/>
              <a:gd name="connsiteY30" fmla="*/ 304069 h 359903"/>
              <a:gd name="connsiteX31" fmla="*/ 260564 w 372234"/>
              <a:gd name="connsiteY31" fmla="*/ 331986 h 359903"/>
              <a:gd name="connsiteX32" fmla="*/ 283829 w 372234"/>
              <a:gd name="connsiteY32" fmla="*/ 331986 h 359903"/>
              <a:gd name="connsiteX33" fmla="*/ 288481 w 372234"/>
              <a:gd name="connsiteY33" fmla="*/ 327333 h 359903"/>
              <a:gd name="connsiteX34" fmla="*/ 288481 w 372234"/>
              <a:gd name="connsiteY34" fmla="*/ 285457 h 359903"/>
              <a:gd name="connsiteX35" fmla="*/ 296146 w 372234"/>
              <a:gd name="connsiteY35" fmla="*/ 272996 h 359903"/>
              <a:gd name="connsiteX36" fmla="*/ 296393 w 372234"/>
              <a:gd name="connsiteY36" fmla="*/ 272864 h 359903"/>
              <a:gd name="connsiteX37" fmla="*/ 297700 w 372234"/>
              <a:gd name="connsiteY37" fmla="*/ 272116 h 359903"/>
              <a:gd name="connsiteX38" fmla="*/ 302991 w 372234"/>
              <a:gd name="connsiteY38" fmla="*/ 268615 h 359903"/>
              <a:gd name="connsiteX39" fmla="*/ 319760 w 372234"/>
              <a:gd name="connsiteY39" fmla="*/ 253108 h 359903"/>
              <a:gd name="connsiteX40" fmla="*/ 344317 w 372234"/>
              <a:gd name="connsiteY40" fmla="*/ 183093 h 359903"/>
              <a:gd name="connsiteX41" fmla="*/ 334849 w 372234"/>
              <a:gd name="connsiteY41" fmla="*/ 136794 h 359903"/>
              <a:gd name="connsiteX42" fmla="*/ 349703 w 372234"/>
              <a:gd name="connsiteY42" fmla="*/ 107463 h 359903"/>
              <a:gd name="connsiteX43" fmla="*/ 354949 w 372234"/>
              <a:gd name="connsiteY43" fmla="*/ 115343 h 359903"/>
              <a:gd name="connsiteX44" fmla="*/ 372234 w 372234"/>
              <a:gd name="connsiteY44" fmla="*/ 183093 h 359903"/>
              <a:gd name="connsiteX45" fmla="*/ 340955 w 372234"/>
              <a:gd name="connsiteY45" fmla="*/ 271277 h 359903"/>
              <a:gd name="connsiteX46" fmla="*/ 319338 w 372234"/>
              <a:gd name="connsiteY46" fmla="*/ 291247 h 359903"/>
              <a:gd name="connsiteX47" fmla="*/ 316399 w 372234"/>
              <a:gd name="connsiteY47" fmla="*/ 293298 h 359903"/>
              <a:gd name="connsiteX48" fmla="*/ 316399 w 372234"/>
              <a:gd name="connsiteY48" fmla="*/ 327333 h 359903"/>
              <a:gd name="connsiteX49" fmla="*/ 283829 w 372234"/>
              <a:gd name="connsiteY49" fmla="*/ 359904 h 359903"/>
              <a:gd name="connsiteX50" fmla="*/ 260564 w 372234"/>
              <a:gd name="connsiteY50" fmla="*/ 359904 h 359903"/>
              <a:gd name="connsiteX51" fmla="*/ 232646 w 372234"/>
              <a:gd name="connsiteY51" fmla="*/ 331986 h 359903"/>
              <a:gd name="connsiteX52" fmla="*/ 195423 w 372234"/>
              <a:gd name="connsiteY52" fmla="*/ 331986 h 359903"/>
              <a:gd name="connsiteX53" fmla="*/ 167505 w 372234"/>
              <a:gd name="connsiteY53" fmla="*/ 359904 h 359903"/>
              <a:gd name="connsiteX54" fmla="*/ 144241 w 372234"/>
              <a:gd name="connsiteY54" fmla="*/ 359904 h 359903"/>
              <a:gd name="connsiteX55" fmla="*/ 111670 w 372234"/>
              <a:gd name="connsiteY55" fmla="*/ 327333 h 359903"/>
              <a:gd name="connsiteX56" fmla="*/ 111670 w 372234"/>
              <a:gd name="connsiteY56" fmla="*/ 314629 h 359903"/>
              <a:gd name="connsiteX57" fmla="*/ 103029 w 372234"/>
              <a:gd name="connsiteY57" fmla="*/ 311366 h 359903"/>
              <a:gd name="connsiteX58" fmla="*/ 64576 w 372234"/>
              <a:gd name="connsiteY58" fmla="*/ 286021 h 359903"/>
              <a:gd name="connsiteX59" fmla="*/ 34713 w 372234"/>
              <a:gd name="connsiteY59" fmla="*/ 246359 h 359903"/>
              <a:gd name="connsiteX60" fmla="*/ 28591 w 372234"/>
              <a:gd name="connsiteY60" fmla="*/ 241557 h 359903"/>
              <a:gd name="connsiteX61" fmla="*/ 0 w 372234"/>
              <a:gd name="connsiteY61" fmla="*/ 207807 h 359903"/>
              <a:gd name="connsiteX62" fmla="*/ 0 w 372234"/>
              <a:gd name="connsiteY62" fmla="*/ 175183 h 359903"/>
              <a:gd name="connsiteX63" fmla="*/ 26810 w 372234"/>
              <a:gd name="connsiteY63" fmla="*/ 143533 h 359903"/>
              <a:gd name="connsiteX64" fmla="*/ 31947 w 372234"/>
              <a:gd name="connsiteY64" fmla="*/ 138257 h 359903"/>
              <a:gd name="connsiteX65" fmla="*/ 55271 w 372234"/>
              <a:gd name="connsiteY65" fmla="*/ 98775 h 359903"/>
              <a:gd name="connsiteX66" fmla="*/ 86133 w 372234"/>
              <a:gd name="connsiteY66" fmla="*/ 75587 h 359903"/>
              <a:gd name="connsiteX67" fmla="*/ 93059 w 372234"/>
              <a:gd name="connsiteY67" fmla="*/ 71846 h 359903"/>
              <a:gd name="connsiteX68" fmla="*/ 93059 w 372234"/>
              <a:gd name="connsiteY68" fmla="*/ 18772 h 359903"/>
              <a:gd name="connsiteX69" fmla="*/ 125440 w 372234"/>
              <a:gd name="connsiteY69" fmla="*/ 5442 h 359903"/>
              <a:gd name="connsiteX70" fmla="*/ 150403 w 372234"/>
              <a:gd name="connsiteY70" fmla="*/ 26554 h 359903"/>
              <a:gd name="connsiteX71" fmla="*/ 206032 w 372234"/>
              <a:gd name="connsiteY71" fmla="*/ 115122 h 359903"/>
              <a:gd name="connsiteX72" fmla="*/ 187381 w 372234"/>
              <a:gd name="connsiteY72" fmla="*/ 94473 h 359903"/>
              <a:gd name="connsiteX73" fmla="*/ 232068 w 372234"/>
              <a:gd name="connsiteY73" fmla="*/ 11950 h 359903"/>
              <a:gd name="connsiteX74" fmla="*/ 329342 w 372234"/>
              <a:gd name="connsiteY74" fmla="*/ 52232 h 359903"/>
              <a:gd name="connsiteX75" fmla="*/ 302602 w 372234"/>
              <a:gd name="connsiteY75" fmla="*/ 142188 h 359903"/>
              <a:gd name="connsiteX76" fmla="*/ 274813 w 372234"/>
              <a:gd name="connsiteY76" fmla="*/ 143606 h 359903"/>
              <a:gd name="connsiteX77" fmla="*/ 206032 w 372234"/>
              <a:gd name="connsiteY77" fmla="*/ 115122 h 359903"/>
              <a:gd name="connsiteX78" fmla="*/ 287813 w 372234"/>
              <a:gd name="connsiteY78" fmla="*/ 118463 h 359903"/>
              <a:gd name="connsiteX79" fmla="*/ 303550 w 372234"/>
              <a:gd name="connsiteY79" fmla="*/ 62918 h 359903"/>
              <a:gd name="connsiteX80" fmla="*/ 242754 w 372234"/>
              <a:gd name="connsiteY80" fmla="*/ 37742 h 359903"/>
              <a:gd name="connsiteX81" fmla="*/ 214613 w 372234"/>
              <a:gd name="connsiteY81" fmla="*/ 88150 h 359903"/>
              <a:gd name="connsiteX82" fmla="*/ 215012 w 372234"/>
              <a:gd name="connsiteY82" fmla="*/ 88437 h 359903"/>
              <a:gd name="connsiteX83" fmla="*/ 216713 w 372234"/>
              <a:gd name="connsiteY83" fmla="*/ 89329 h 359903"/>
              <a:gd name="connsiteX84" fmla="*/ 285494 w 372234"/>
              <a:gd name="connsiteY84" fmla="*/ 117813 h 359903"/>
              <a:gd name="connsiteX85" fmla="*/ 287329 w 372234"/>
              <a:gd name="connsiteY85" fmla="*/ 118385 h 359903"/>
              <a:gd name="connsiteX86" fmla="*/ 287813 w 372234"/>
              <a:gd name="connsiteY86" fmla="*/ 118463 h 359903"/>
              <a:gd name="connsiteX87" fmla="*/ 130282 w 372234"/>
              <a:gd name="connsiteY87" fmla="*/ 136562 h 359903"/>
              <a:gd name="connsiteX88" fmla="*/ 111670 w 372234"/>
              <a:gd name="connsiteY88" fmla="*/ 155173 h 359903"/>
              <a:gd name="connsiteX89" fmla="*/ 93059 w 372234"/>
              <a:gd name="connsiteY89" fmla="*/ 136562 h 359903"/>
              <a:gd name="connsiteX90" fmla="*/ 111670 w 372234"/>
              <a:gd name="connsiteY90" fmla="*/ 117950 h 359903"/>
              <a:gd name="connsiteX91" fmla="*/ 130282 w 372234"/>
              <a:gd name="connsiteY91" fmla="*/ 136562 h 359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372234" h="359903">
                <a:moveTo>
                  <a:pt x="150403" y="26554"/>
                </a:moveTo>
                <a:cubicBezTo>
                  <a:pt x="160267" y="33362"/>
                  <a:pt x="169696" y="37848"/>
                  <a:pt x="177466" y="38837"/>
                </a:cubicBezTo>
                <a:cubicBezTo>
                  <a:pt x="173230" y="47251"/>
                  <a:pt x="170275" y="56288"/>
                  <a:pt x="168732" y="65624"/>
                </a:cubicBezTo>
                <a:cubicBezTo>
                  <a:pt x="156199" y="62874"/>
                  <a:pt x="144307" y="56267"/>
                  <a:pt x="134547" y="49532"/>
                </a:cubicBezTo>
                <a:cubicBezTo>
                  <a:pt x="129722" y="46202"/>
                  <a:pt x="125154" y="42655"/>
                  <a:pt x="120976" y="39162"/>
                </a:cubicBezTo>
                <a:lnTo>
                  <a:pt x="120976" y="80727"/>
                </a:lnTo>
                <a:cubicBezTo>
                  <a:pt x="120976" y="86427"/>
                  <a:pt x="117511" y="91554"/>
                  <a:pt x="112224" y="93679"/>
                </a:cubicBezTo>
                <a:lnTo>
                  <a:pt x="112108" y="93727"/>
                </a:lnTo>
                <a:cubicBezTo>
                  <a:pt x="111993" y="93775"/>
                  <a:pt x="111795" y="93858"/>
                  <a:pt x="111522" y="93976"/>
                </a:cubicBezTo>
                <a:cubicBezTo>
                  <a:pt x="110975" y="94212"/>
                  <a:pt x="110128" y="94588"/>
                  <a:pt x="109035" y="95103"/>
                </a:cubicBezTo>
                <a:cubicBezTo>
                  <a:pt x="106844" y="96133"/>
                  <a:pt x="103688" y="97710"/>
                  <a:pt x="99984" y="99827"/>
                </a:cubicBezTo>
                <a:cubicBezTo>
                  <a:pt x="92502" y="104102"/>
                  <a:pt x="83155" y="110371"/>
                  <a:pt x="75011" y="118515"/>
                </a:cubicBezTo>
                <a:cubicBezTo>
                  <a:pt x="66571" y="126956"/>
                  <a:pt x="61367" y="138292"/>
                  <a:pt x="58428" y="147096"/>
                </a:cubicBezTo>
                <a:cubicBezTo>
                  <a:pt x="54659" y="158387"/>
                  <a:pt x="45062" y="168795"/>
                  <a:pt x="31400" y="171071"/>
                </a:cubicBezTo>
                <a:cubicBezTo>
                  <a:pt x="29390" y="171406"/>
                  <a:pt x="27918" y="173145"/>
                  <a:pt x="27918" y="175183"/>
                </a:cubicBezTo>
                <a:lnTo>
                  <a:pt x="27918" y="207807"/>
                </a:lnTo>
                <a:cubicBezTo>
                  <a:pt x="27918" y="210887"/>
                  <a:pt x="30144" y="213515"/>
                  <a:pt x="33181" y="214021"/>
                </a:cubicBezTo>
                <a:cubicBezTo>
                  <a:pt x="44793" y="215955"/>
                  <a:pt x="53941" y="223536"/>
                  <a:pt x="59085" y="232745"/>
                </a:cubicBezTo>
                <a:cubicBezTo>
                  <a:pt x="63764" y="241120"/>
                  <a:pt x="72081" y="254044"/>
                  <a:pt x="84317" y="266279"/>
                </a:cubicBezTo>
                <a:cubicBezTo>
                  <a:pt x="93825" y="275788"/>
                  <a:pt x="104897" y="281883"/>
                  <a:pt x="113807" y="285613"/>
                </a:cubicBezTo>
                <a:cubicBezTo>
                  <a:pt x="118223" y="287461"/>
                  <a:pt x="121996" y="288680"/>
                  <a:pt x="124606" y="289427"/>
                </a:cubicBezTo>
                <a:cubicBezTo>
                  <a:pt x="125908" y="289797"/>
                  <a:pt x="126910" y="290048"/>
                  <a:pt x="127546" y="290197"/>
                </a:cubicBezTo>
                <a:cubicBezTo>
                  <a:pt x="127864" y="290272"/>
                  <a:pt x="128089" y="290322"/>
                  <a:pt x="128214" y="290348"/>
                </a:cubicBezTo>
                <a:lnTo>
                  <a:pt x="128304" y="290369"/>
                </a:lnTo>
                <a:lnTo>
                  <a:pt x="128324" y="290372"/>
                </a:lnTo>
                <a:cubicBezTo>
                  <a:pt x="134866" y="291658"/>
                  <a:pt x="139588" y="297396"/>
                  <a:pt x="139588" y="304069"/>
                </a:cubicBezTo>
                <a:lnTo>
                  <a:pt x="139588" y="327333"/>
                </a:lnTo>
                <a:cubicBezTo>
                  <a:pt x="139588" y="329902"/>
                  <a:pt x="141671" y="331986"/>
                  <a:pt x="144241" y="331986"/>
                </a:cubicBezTo>
                <a:lnTo>
                  <a:pt x="167505" y="331986"/>
                </a:lnTo>
                <a:cubicBezTo>
                  <a:pt x="167505" y="316566"/>
                  <a:pt x="180005" y="304069"/>
                  <a:pt x="195423" y="304069"/>
                </a:cubicBezTo>
                <a:lnTo>
                  <a:pt x="232646" y="304069"/>
                </a:lnTo>
                <a:cubicBezTo>
                  <a:pt x="248064" y="304069"/>
                  <a:pt x="260564" y="316566"/>
                  <a:pt x="260564" y="331986"/>
                </a:cubicBezTo>
                <a:lnTo>
                  <a:pt x="283829" y="331986"/>
                </a:lnTo>
                <a:cubicBezTo>
                  <a:pt x="286399" y="331986"/>
                  <a:pt x="288481" y="329902"/>
                  <a:pt x="288481" y="327333"/>
                </a:cubicBezTo>
                <a:lnTo>
                  <a:pt x="288481" y="285457"/>
                </a:lnTo>
                <a:cubicBezTo>
                  <a:pt x="288481" y="280194"/>
                  <a:pt x="291454" y="275373"/>
                  <a:pt x="296146" y="272996"/>
                </a:cubicBezTo>
                <a:lnTo>
                  <a:pt x="296393" y="272864"/>
                </a:lnTo>
                <a:cubicBezTo>
                  <a:pt x="296652" y="272723"/>
                  <a:pt x="297097" y="272475"/>
                  <a:pt x="297700" y="272116"/>
                </a:cubicBezTo>
                <a:cubicBezTo>
                  <a:pt x="298908" y="271398"/>
                  <a:pt x="300739" y="270242"/>
                  <a:pt x="302991" y="268615"/>
                </a:cubicBezTo>
                <a:cubicBezTo>
                  <a:pt x="307508" y="265353"/>
                  <a:pt x="313626" y="260264"/>
                  <a:pt x="319760" y="253108"/>
                </a:cubicBezTo>
                <a:cubicBezTo>
                  <a:pt x="331901" y="238944"/>
                  <a:pt x="344317" y="216482"/>
                  <a:pt x="344317" y="183093"/>
                </a:cubicBezTo>
                <a:cubicBezTo>
                  <a:pt x="344317" y="164358"/>
                  <a:pt x="340814" y="149212"/>
                  <a:pt x="334849" y="136794"/>
                </a:cubicBezTo>
                <a:cubicBezTo>
                  <a:pt x="341510" y="127954"/>
                  <a:pt x="346531" y="118006"/>
                  <a:pt x="349703" y="107463"/>
                </a:cubicBezTo>
                <a:cubicBezTo>
                  <a:pt x="351549" y="109992"/>
                  <a:pt x="353300" y="112617"/>
                  <a:pt x="354949" y="115343"/>
                </a:cubicBezTo>
                <a:cubicBezTo>
                  <a:pt x="366195" y="133921"/>
                  <a:pt x="372234" y="156346"/>
                  <a:pt x="372234" y="183093"/>
                </a:cubicBezTo>
                <a:cubicBezTo>
                  <a:pt x="372234" y="224148"/>
                  <a:pt x="356733" y="252870"/>
                  <a:pt x="340955" y="271277"/>
                </a:cubicBezTo>
                <a:cubicBezTo>
                  <a:pt x="333131" y="280406"/>
                  <a:pt x="325290" y="286948"/>
                  <a:pt x="319338" y="291247"/>
                </a:cubicBezTo>
                <a:cubicBezTo>
                  <a:pt x="318299" y="291997"/>
                  <a:pt x="317317" y="292680"/>
                  <a:pt x="316399" y="293298"/>
                </a:cubicBezTo>
                <a:lnTo>
                  <a:pt x="316399" y="327333"/>
                </a:lnTo>
                <a:cubicBezTo>
                  <a:pt x="316399" y="345321"/>
                  <a:pt x="301817" y="359904"/>
                  <a:pt x="283829" y="359904"/>
                </a:cubicBezTo>
                <a:lnTo>
                  <a:pt x="260564" y="359904"/>
                </a:lnTo>
                <a:cubicBezTo>
                  <a:pt x="245146" y="359904"/>
                  <a:pt x="232646" y="347404"/>
                  <a:pt x="232646" y="331986"/>
                </a:cubicBezTo>
                <a:lnTo>
                  <a:pt x="195423" y="331986"/>
                </a:lnTo>
                <a:cubicBezTo>
                  <a:pt x="195423" y="347404"/>
                  <a:pt x="182923" y="359904"/>
                  <a:pt x="167505" y="359904"/>
                </a:cubicBezTo>
                <a:lnTo>
                  <a:pt x="144241" y="359904"/>
                </a:lnTo>
                <a:cubicBezTo>
                  <a:pt x="126253" y="359904"/>
                  <a:pt x="111670" y="345321"/>
                  <a:pt x="111670" y="327333"/>
                </a:cubicBezTo>
                <a:lnTo>
                  <a:pt x="111670" y="314629"/>
                </a:lnTo>
                <a:cubicBezTo>
                  <a:pt x="109101" y="313762"/>
                  <a:pt x="106185" y="312688"/>
                  <a:pt x="103029" y="311366"/>
                </a:cubicBezTo>
                <a:cubicBezTo>
                  <a:pt x="91935" y="306723"/>
                  <a:pt x="77416" y="298861"/>
                  <a:pt x="64576" y="286021"/>
                </a:cubicBezTo>
                <a:cubicBezTo>
                  <a:pt x="49984" y="271429"/>
                  <a:pt x="40211" y="256203"/>
                  <a:pt x="34713" y="246359"/>
                </a:cubicBezTo>
                <a:cubicBezTo>
                  <a:pt x="33090" y="243456"/>
                  <a:pt x="30666" y="241904"/>
                  <a:pt x="28591" y="241557"/>
                </a:cubicBezTo>
                <a:cubicBezTo>
                  <a:pt x="12093" y="238809"/>
                  <a:pt x="0" y="224533"/>
                  <a:pt x="0" y="207807"/>
                </a:cubicBezTo>
                <a:lnTo>
                  <a:pt x="0" y="175183"/>
                </a:lnTo>
                <a:cubicBezTo>
                  <a:pt x="0" y="159498"/>
                  <a:pt x="11339" y="146113"/>
                  <a:pt x="26810" y="143533"/>
                </a:cubicBezTo>
                <a:cubicBezTo>
                  <a:pt x="28428" y="143263"/>
                  <a:pt x="30812" y="141657"/>
                  <a:pt x="31947" y="138257"/>
                </a:cubicBezTo>
                <a:cubicBezTo>
                  <a:pt x="35527" y="127532"/>
                  <a:pt x="42474" y="111572"/>
                  <a:pt x="55271" y="98775"/>
                </a:cubicBezTo>
                <a:cubicBezTo>
                  <a:pt x="65738" y="88307"/>
                  <a:pt x="77329" y="80618"/>
                  <a:pt x="86133" y="75587"/>
                </a:cubicBezTo>
                <a:cubicBezTo>
                  <a:pt x="88671" y="74137"/>
                  <a:pt x="91008" y="72890"/>
                  <a:pt x="93059" y="71846"/>
                </a:cubicBezTo>
                <a:lnTo>
                  <a:pt x="93059" y="18772"/>
                </a:lnTo>
                <a:cubicBezTo>
                  <a:pt x="93059" y="1316"/>
                  <a:pt x="114101" y="-5849"/>
                  <a:pt x="125440" y="5442"/>
                </a:cubicBezTo>
                <a:cubicBezTo>
                  <a:pt x="131591" y="11566"/>
                  <a:pt x="140520" y="19734"/>
                  <a:pt x="150403" y="26554"/>
                </a:cubicBezTo>
                <a:close/>
                <a:moveTo>
                  <a:pt x="206032" y="115122"/>
                </a:moveTo>
                <a:cubicBezTo>
                  <a:pt x="196910" y="111345"/>
                  <a:pt x="189214" y="104174"/>
                  <a:pt x="187381" y="94473"/>
                </a:cubicBezTo>
                <a:cubicBezTo>
                  <a:pt x="180978" y="60572"/>
                  <a:pt x="198933" y="25679"/>
                  <a:pt x="232068" y="11950"/>
                </a:cubicBezTo>
                <a:cubicBezTo>
                  <a:pt x="270052" y="-3787"/>
                  <a:pt x="313604" y="14248"/>
                  <a:pt x="329342" y="52232"/>
                </a:cubicBezTo>
                <a:cubicBezTo>
                  <a:pt x="343070" y="85368"/>
                  <a:pt x="331099" y="122739"/>
                  <a:pt x="302602" y="142188"/>
                </a:cubicBezTo>
                <a:cubicBezTo>
                  <a:pt x="294448" y="147753"/>
                  <a:pt x="283935" y="147384"/>
                  <a:pt x="274813" y="143606"/>
                </a:cubicBezTo>
                <a:lnTo>
                  <a:pt x="206032" y="115122"/>
                </a:lnTo>
                <a:close/>
                <a:moveTo>
                  <a:pt x="287813" y="118463"/>
                </a:moveTo>
                <a:cubicBezTo>
                  <a:pt x="304929" y="106140"/>
                  <a:pt x="311964" y="83226"/>
                  <a:pt x="303550" y="62918"/>
                </a:cubicBezTo>
                <a:cubicBezTo>
                  <a:pt x="293713" y="39178"/>
                  <a:pt x="266494" y="27906"/>
                  <a:pt x="242754" y="37742"/>
                </a:cubicBezTo>
                <a:cubicBezTo>
                  <a:pt x="222447" y="46156"/>
                  <a:pt x="211222" y="67335"/>
                  <a:pt x="214613" y="88150"/>
                </a:cubicBezTo>
                <a:cubicBezTo>
                  <a:pt x="214721" y="88235"/>
                  <a:pt x="214854" y="88332"/>
                  <a:pt x="215012" y="88437"/>
                </a:cubicBezTo>
                <a:cubicBezTo>
                  <a:pt x="215451" y="88730"/>
                  <a:pt x="216022" y="89043"/>
                  <a:pt x="216713" y="89329"/>
                </a:cubicBezTo>
                <a:lnTo>
                  <a:pt x="285494" y="117813"/>
                </a:lnTo>
                <a:cubicBezTo>
                  <a:pt x="286187" y="118099"/>
                  <a:pt x="286812" y="118281"/>
                  <a:pt x="287329" y="118385"/>
                </a:cubicBezTo>
                <a:cubicBezTo>
                  <a:pt x="287516" y="118422"/>
                  <a:pt x="287677" y="118447"/>
                  <a:pt x="287813" y="118463"/>
                </a:cubicBezTo>
                <a:close/>
                <a:moveTo>
                  <a:pt x="130282" y="136562"/>
                </a:moveTo>
                <a:cubicBezTo>
                  <a:pt x="130282" y="146841"/>
                  <a:pt x="121949" y="155173"/>
                  <a:pt x="111670" y="155173"/>
                </a:cubicBezTo>
                <a:cubicBezTo>
                  <a:pt x="101391" y="155173"/>
                  <a:pt x="93059" y="146841"/>
                  <a:pt x="93059" y="136562"/>
                </a:cubicBezTo>
                <a:cubicBezTo>
                  <a:pt x="93059" y="126283"/>
                  <a:pt x="101391" y="117950"/>
                  <a:pt x="111670" y="117950"/>
                </a:cubicBezTo>
                <a:cubicBezTo>
                  <a:pt x="121949" y="117950"/>
                  <a:pt x="130282" y="126283"/>
                  <a:pt x="130282" y="136562"/>
                </a:cubicBez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graphicFrame>
        <p:nvGraphicFramePr>
          <p:cNvPr id="63" name="Table 62">
            <a:extLst>
              <a:ext uri="{FF2B5EF4-FFF2-40B4-BE49-F238E27FC236}">
                <a16:creationId xmlns:a16="http://schemas.microsoft.com/office/drawing/2014/main" id="{300B076F-F2F8-1529-DADA-015BC8DD4088}"/>
              </a:ext>
            </a:extLst>
          </p:cNvPr>
          <p:cNvGraphicFramePr>
            <a:graphicFrameLocks noGrp="1"/>
          </p:cNvGraphicFramePr>
          <p:nvPr/>
        </p:nvGraphicFramePr>
        <p:xfrm>
          <a:off x="5911132" y="1902349"/>
          <a:ext cx="5556780" cy="1239754"/>
        </p:xfrm>
        <a:graphic>
          <a:graphicData uri="http://schemas.openxmlformats.org/drawingml/2006/table">
            <a:tbl>
              <a:tblPr firstRow="1" bandRow="1">
                <a:tableStyleId>{2D5ABB26-0587-4C30-8999-92F81FD0307C}</a:tableStyleId>
              </a:tblPr>
              <a:tblGrid>
                <a:gridCol w="1389195">
                  <a:extLst>
                    <a:ext uri="{9D8B030D-6E8A-4147-A177-3AD203B41FA5}">
                      <a16:colId xmlns:a16="http://schemas.microsoft.com/office/drawing/2014/main" val="763213795"/>
                    </a:ext>
                  </a:extLst>
                </a:gridCol>
                <a:gridCol w="1389195">
                  <a:extLst>
                    <a:ext uri="{9D8B030D-6E8A-4147-A177-3AD203B41FA5}">
                      <a16:colId xmlns:a16="http://schemas.microsoft.com/office/drawing/2014/main" val="2931493578"/>
                    </a:ext>
                  </a:extLst>
                </a:gridCol>
                <a:gridCol w="1389195">
                  <a:extLst>
                    <a:ext uri="{9D8B030D-6E8A-4147-A177-3AD203B41FA5}">
                      <a16:colId xmlns:a16="http://schemas.microsoft.com/office/drawing/2014/main" val="1229633216"/>
                    </a:ext>
                  </a:extLst>
                </a:gridCol>
                <a:gridCol w="1389195">
                  <a:extLst>
                    <a:ext uri="{9D8B030D-6E8A-4147-A177-3AD203B41FA5}">
                      <a16:colId xmlns:a16="http://schemas.microsoft.com/office/drawing/2014/main" val="1709666378"/>
                    </a:ext>
                  </a:extLst>
                </a:gridCol>
              </a:tblGrid>
              <a:tr h="346614">
                <a:tc>
                  <a:txBody>
                    <a:bodyPr/>
                    <a:lstStyle/>
                    <a:p>
                      <a:pPr algn="l"/>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AI &amp;</a:t>
                      </a:r>
                      <a:b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br>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Copilot advisory</a:t>
                      </a:r>
                      <a:endParaRPr lang="en-US" sz="1000">
                        <a:solidFill>
                          <a:srgbClr val="0078D4"/>
                        </a:solidFill>
                        <a:latin typeface="+mj-lt"/>
                      </a:endParaRPr>
                    </a:p>
                  </a:txBody>
                  <a:tcPr anchor="b">
                    <a:lnL>
                      <a:noFill/>
                    </a:lnL>
                    <a:lnR w="9525" cap="flat" cmpd="sng" algn="ctr">
                      <a:solidFill>
                        <a:schemeClr val="bg1"/>
                      </a:solid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Get ready &amp; deploy</a:t>
                      </a:r>
                      <a:endParaRPr lang="en-US" sz="1000">
                        <a:solidFill>
                          <a:srgbClr val="0078D4"/>
                        </a:solidFill>
                        <a:latin typeface="+mj-lt"/>
                      </a:endParaRPr>
                    </a:p>
                  </a:txBody>
                  <a:tcPr anchor="b">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Adoption &amp; change management</a:t>
                      </a:r>
                      <a:endParaRPr lang="en-US" sz="1000">
                        <a:solidFill>
                          <a:srgbClr val="0078D4"/>
                        </a:solidFill>
                        <a:latin typeface="+mj-lt"/>
                      </a:endParaRPr>
                    </a:p>
                  </a:txBody>
                  <a:tcPr anchor="b">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Copilot Agents</a:t>
                      </a:r>
                      <a:endParaRPr lang="en-US" sz="1000">
                        <a:solidFill>
                          <a:srgbClr val="0078D4"/>
                        </a:solidFill>
                        <a:latin typeface="+mj-lt"/>
                      </a:endParaRPr>
                    </a:p>
                  </a:txBody>
                  <a:tcPr anchor="b">
                    <a:lnL w="9525" cap="flat" cmpd="sng" algn="ctr">
                      <a:solidFill>
                        <a:schemeClr val="bg1"/>
                      </a:solidFill>
                      <a:prstDash val="solid"/>
                      <a:round/>
                      <a:headEnd type="none" w="med" len="med"/>
                      <a:tailEnd type="none" w="med" len="med"/>
                    </a:lnL>
                    <a:lnR>
                      <a:noFill/>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20644008"/>
                  </a:ext>
                </a:extLst>
              </a:tr>
              <a:tr h="8435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000000"/>
                          </a:solidFill>
                          <a:latin typeface="+mn-lt"/>
                        </a:rPr>
                        <a:t>[Insert service value prop]</a:t>
                      </a:r>
                    </a:p>
                  </a:txBody>
                  <a:tcPr>
                    <a:lnL>
                      <a:noFill/>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000000"/>
                          </a:solidFill>
                          <a:latin typeface="+mn-lt"/>
                        </a:rPr>
                        <a:t>[Insert service value prop]</a:t>
                      </a:r>
                    </a:p>
                    <a:p>
                      <a:endParaRPr lang="en-US" sz="1000">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000000"/>
                          </a:solidFill>
                          <a:latin typeface="+mn-lt"/>
                        </a:rPr>
                        <a:t>[Insert service value prop]</a:t>
                      </a:r>
                    </a:p>
                    <a:p>
                      <a:endParaRPr lang="en-US" sz="1000">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000000"/>
                          </a:solidFill>
                          <a:latin typeface="+mn-lt"/>
                        </a:rPr>
                        <a:t>[Insert service value prop]</a:t>
                      </a:r>
                    </a:p>
                    <a:p>
                      <a:endParaRPr lang="en-US" sz="1000">
                        <a:latin typeface="+mn-lt"/>
                      </a:endParaRPr>
                    </a:p>
                  </a:txBody>
                  <a:tcPr>
                    <a:lnL w="9525" cap="flat" cmpd="sng" algn="ctr">
                      <a:solidFill>
                        <a:schemeClr val="bg1"/>
                      </a:solidFill>
                      <a:prstDash val="solid"/>
                      <a:round/>
                      <a:headEnd type="none" w="med" len="med"/>
                      <a:tailEnd type="none" w="med" len="med"/>
                    </a:lnL>
                    <a:lnR>
                      <a:noFill/>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008714714"/>
                  </a:ext>
                </a:extLst>
              </a:tr>
            </a:tbl>
          </a:graphicData>
        </a:graphic>
      </p:graphicFrame>
      <p:sp>
        <p:nvSpPr>
          <p:cNvPr id="64" name="Graphic 47" descr="Icon of a piggy bank ">
            <a:extLst>
              <a:ext uri="{FF2B5EF4-FFF2-40B4-BE49-F238E27FC236}">
                <a16:creationId xmlns:a16="http://schemas.microsoft.com/office/drawing/2014/main" id="{0A2DB144-493B-7D9E-EB18-0DC6D5294A43}"/>
              </a:ext>
            </a:extLst>
          </p:cNvPr>
          <p:cNvSpPr>
            <a:spLocks noChangeAspect="1"/>
          </p:cNvSpPr>
          <p:nvPr/>
        </p:nvSpPr>
        <p:spPr>
          <a:xfrm>
            <a:off x="5951548" y="4637181"/>
            <a:ext cx="200060" cy="193432"/>
          </a:xfrm>
          <a:custGeom>
            <a:avLst/>
            <a:gdLst>
              <a:gd name="connsiteX0" fmla="*/ 150403 w 372234"/>
              <a:gd name="connsiteY0" fmla="*/ 26554 h 359903"/>
              <a:gd name="connsiteX1" fmla="*/ 177466 w 372234"/>
              <a:gd name="connsiteY1" fmla="*/ 38837 h 359903"/>
              <a:gd name="connsiteX2" fmla="*/ 168732 w 372234"/>
              <a:gd name="connsiteY2" fmla="*/ 65624 h 359903"/>
              <a:gd name="connsiteX3" fmla="*/ 134547 w 372234"/>
              <a:gd name="connsiteY3" fmla="*/ 49532 h 359903"/>
              <a:gd name="connsiteX4" fmla="*/ 120976 w 372234"/>
              <a:gd name="connsiteY4" fmla="*/ 39162 h 359903"/>
              <a:gd name="connsiteX5" fmla="*/ 120976 w 372234"/>
              <a:gd name="connsiteY5" fmla="*/ 80727 h 359903"/>
              <a:gd name="connsiteX6" fmla="*/ 112224 w 372234"/>
              <a:gd name="connsiteY6" fmla="*/ 93679 h 359903"/>
              <a:gd name="connsiteX7" fmla="*/ 112108 w 372234"/>
              <a:gd name="connsiteY7" fmla="*/ 93727 h 359903"/>
              <a:gd name="connsiteX8" fmla="*/ 111522 w 372234"/>
              <a:gd name="connsiteY8" fmla="*/ 93976 h 359903"/>
              <a:gd name="connsiteX9" fmla="*/ 109035 w 372234"/>
              <a:gd name="connsiteY9" fmla="*/ 95103 h 359903"/>
              <a:gd name="connsiteX10" fmla="*/ 99984 w 372234"/>
              <a:gd name="connsiteY10" fmla="*/ 99827 h 359903"/>
              <a:gd name="connsiteX11" fmla="*/ 75011 w 372234"/>
              <a:gd name="connsiteY11" fmla="*/ 118515 h 359903"/>
              <a:gd name="connsiteX12" fmla="*/ 58428 w 372234"/>
              <a:gd name="connsiteY12" fmla="*/ 147096 h 359903"/>
              <a:gd name="connsiteX13" fmla="*/ 31400 w 372234"/>
              <a:gd name="connsiteY13" fmla="*/ 171071 h 359903"/>
              <a:gd name="connsiteX14" fmla="*/ 27918 w 372234"/>
              <a:gd name="connsiteY14" fmla="*/ 175183 h 359903"/>
              <a:gd name="connsiteX15" fmla="*/ 27918 w 372234"/>
              <a:gd name="connsiteY15" fmla="*/ 207807 h 359903"/>
              <a:gd name="connsiteX16" fmla="*/ 33181 w 372234"/>
              <a:gd name="connsiteY16" fmla="*/ 214021 h 359903"/>
              <a:gd name="connsiteX17" fmla="*/ 59085 w 372234"/>
              <a:gd name="connsiteY17" fmla="*/ 232745 h 359903"/>
              <a:gd name="connsiteX18" fmla="*/ 84317 w 372234"/>
              <a:gd name="connsiteY18" fmla="*/ 266279 h 359903"/>
              <a:gd name="connsiteX19" fmla="*/ 113807 w 372234"/>
              <a:gd name="connsiteY19" fmla="*/ 285613 h 359903"/>
              <a:gd name="connsiteX20" fmla="*/ 124606 w 372234"/>
              <a:gd name="connsiteY20" fmla="*/ 289427 h 359903"/>
              <a:gd name="connsiteX21" fmla="*/ 127546 w 372234"/>
              <a:gd name="connsiteY21" fmla="*/ 290197 h 359903"/>
              <a:gd name="connsiteX22" fmla="*/ 128214 w 372234"/>
              <a:gd name="connsiteY22" fmla="*/ 290348 h 359903"/>
              <a:gd name="connsiteX23" fmla="*/ 128304 w 372234"/>
              <a:gd name="connsiteY23" fmla="*/ 290369 h 359903"/>
              <a:gd name="connsiteX24" fmla="*/ 128324 w 372234"/>
              <a:gd name="connsiteY24" fmla="*/ 290372 h 359903"/>
              <a:gd name="connsiteX25" fmla="*/ 139588 w 372234"/>
              <a:gd name="connsiteY25" fmla="*/ 304069 h 359903"/>
              <a:gd name="connsiteX26" fmla="*/ 139588 w 372234"/>
              <a:gd name="connsiteY26" fmla="*/ 327333 h 359903"/>
              <a:gd name="connsiteX27" fmla="*/ 144241 w 372234"/>
              <a:gd name="connsiteY27" fmla="*/ 331986 h 359903"/>
              <a:gd name="connsiteX28" fmla="*/ 167505 w 372234"/>
              <a:gd name="connsiteY28" fmla="*/ 331986 h 359903"/>
              <a:gd name="connsiteX29" fmla="*/ 195423 w 372234"/>
              <a:gd name="connsiteY29" fmla="*/ 304069 h 359903"/>
              <a:gd name="connsiteX30" fmla="*/ 232646 w 372234"/>
              <a:gd name="connsiteY30" fmla="*/ 304069 h 359903"/>
              <a:gd name="connsiteX31" fmla="*/ 260564 w 372234"/>
              <a:gd name="connsiteY31" fmla="*/ 331986 h 359903"/>
              <a:gd name="connsiteX32" fmla="*/ 283829 w 372234"/>
              <a:gd name="connsiteY32" fmla="*/ 331986 h 359903"/>
              <a:gd name="connsiteX33" fmla="*/ 288481 w 372234"/>
              <a:gd name="connsiteY33" fmla="*/ 327333 h 359903"/>
              <a:gd name="connsiteX34" fmla="*/ 288481 w 372234"/>
              <a:gd name="connsiteY34" fmla="*/ 285457 h 359903"/>
              <a:gd name="connsiteX35" fmla="*/ 296146 w 372234"/>
              <a:gd name="connsiteY35" fmla="*/ 272996 h 359903"/>
              <a:gd name="connsiteX36" fmla="*/ 296393 w 372234"/>
              <a:gd name="connsiteY36" fmla="*/ 272864 h 359903"/>
              <a:gd name="connsiteX37" fmla="*/ 297700 w 372234"/>
              <a:gd name="connsiteY37" fmla="*/ 272116 h 359903"/>
              <a:gd name="connsiteX38" fmla="*/ 302991 w 372234"/>
              <a:gd name="connsiteY38" fmla="*/ 268615 h 359903"/>
              <a:gd name="connsiteX39" fmla="*/ 319760 w 372234"/>
              <a:gd name="connsiteY39" fmla="*/ 253108 h 359903"/>
              <a:gd name="connsiteX40" fmla="*/ 344317 w 372234"/>
              <a:gd name="connsiteY40" fmla="*/ 183093 h 359903"/>
              <a:gd name="connsiteX41" fmla="*/ 334849 w 372234"/>
              <a:gd name="connsiteY41" fmla="*/ 136794 h 359903"/>
              <a:gd name="connsiteX42" fmla="*/ 349703 w 372234"/>
              <a:gd name="connsiteY42" fmla="*/ 107463 h 359903"/>
              <a:gd name="connsiteX43" fmla="*/ 354949 w 372234"/>
              <a:gd name="connsiteY43" fmla="*/ 115343 h 359903"/>
              <a:gd name="connsiteX44" fmla="*/ 372234 w 372234"/>
              <a:gd name="connsiteY44" fmla="*/ 183093 h 359903"/>
              <a:gd name="connsiteX45" fmla="*/ 340955 w 372234"/>
              <a:gd name="connsiteY45" fmla="*/ 271277 h 359903"/>
              <a:gd name="connsiteX46" fmla="*/ 319338 w 372234"/>
              <a:gd name="connsiteY46" fmla="*/ 291247 h 359903"/>
              <a:gd name="connsiteX47" fmla="*/ 316399 w 372234"/>
              <a:gd name="connsiteY47" fmla="*/ 293298 h 359903"/>
              <a:gd name="connsiteX48" fmla="*/ 316399 w 372234"/>
              <a:gd name="connsiteY48" fmla="*/ 327333 h 359903"/>
              <a:gd name="connsiteX49" fmla="*/ 283829 w 372234"/>
              <a:gd name="connsiteY49" fmla="*/ 359904 h 359903"/>
              <a:gd name="connsiteX50" fmla="*/ 260564 w 372234"/>
              <a:gd name="connsiteY50" fmla="*/ 359904 h 359903"/>
              <a:gd name="connsiteX51" fmla="*/ 232646 w 372234"/>
              <a:gd name="connsiteY51" fmla="*/ 331986 h 359903"/>
              <a:gd name="connsiteX52" fmla="*/ 195423 w 372234"/>
              <a:gd name="connsiteY52" fmla="*/ 331986 h 359903"/>
              <a:gd name="connsiteX53" fmla="*/ 167505 w 372234"/>
              <a:gd name="connsiteY53" fmla="*/ 359904 h 359903"/>
              <a:gd name="connsiteX54" fmla="*/ 144241 w 372234"/>
              <a:gd name="connsiteY54" fmla="*/ 359904 h 359903"/>
              <a:gd name="connsiteX55" fmla="*/ 111670 w 372234"/>
              <a:gd name="connsiteY55" fmla="*/ 327333 h 359903"/>
              <a:gd name="connsiteX56" fmla="*/ 111670 w 372234"/>
              <a:gd name="connsiteY56" fmla="*/ 314629 h 359903"/>
              <a:gd name="connsiteX57" fmla="*/ 103029 w 372234"/>
              <a:gd name="connsiteY57" fmla="*/ 311366 h 359903"/>
              <a:gd name="connsiteX58" fmla="*/ 64576 w 372234"/>
              <a:gd name="connsiteY58" fmla="*/ 286021 h 359903"/>
              <a:gd name="connsiteX59" fmla="*/ 34713 w 372234"/>
              <a:gd name="connsiteY59" fmla="*/ 246359 h 359903"/>
              <a:gd name="connsiteX60" fmla="*/ 28591 w 372234"/>
              <a:gd name="connsiteY60" fmla="*/ 241557 h 359903"/>
              <a:gd name="connsiteX61" fmla="*/ 0 w 372234"/>
              <a:gd name="connsiteY61" fmla="*/ 207807 h 359903"/>
              <a:gd name="connsiteX62" fmla="*/ 0 w 372234"/>
              <a:gd name="connsiteY62" fmla="*/ 175183 h 359903"/>
              <a:gd name="connsiteX63" fmla="*/ 26810 w 372234"/>
              <a:gd name="connsiteY63" fmla="*/ 143533 h 359903"/>
              <a:gd name="connsiteX64" fmla="*/ 31947 w 372234"/>
              <a:gd name="connsiteY64" fmla="*/ 138257 h 359903"/>
              <a:gd name="connsiteX65" fmla="*/ 55271 w 372234"/>
              <a:gd name="connsiteY65" fmla="*/ 98775 h 359903"/>
              <a:gd name="connsiteX66" fmla="*/ 86133 w 372234"/>
              <a:gd name="connsiteY66" fmla="*/ 75587 h 359903"/>
              <a:gd name="connsiteX67" fmla="*/ 93059 w 372234"/>
              <a:gd name="connsiteY67" fmla="*/ 71846 h 359903"/>
              <a:gd name="connsiteX68" fmla="*/ 93059 w 372234"/>
              <a:gd name="connsiteY68" fmla="*/ 18772 h 359903"/>
              <a:gd name="connsiteX69" fmla="*/ 125440 w 372234"/>
              <a:gd name="connsiteY69" fmla="*/ 5442 h 359903"/>
              <a:gd name="connsiteX70" fmla="*/ 150403 w 372234"/>
              <a:gd name="connsiteY70" fmla="*/ 26554 h 359903"/>
              <a:gd name="connsiteX71" fmla="*/ 206032 w 372234"/>
              <a:gd name="connsiteY71" fmla="*/ 115122 h 359903"/>
              <a:gd name="connsiteX72" fmla="*/ 187381 w 372234"/>
              <a:gd name="connsiteY72" fmla="*/ 94473 h 359903"/>
              <a:gd name="connsiteX73" fmla="*/ 232068 w 372234"/>
              <a:gd name="connsiteY73" fmla="*/ 11950 h 359903"/>
              <a:gd name="connsiteX74" fmla="*/ 329342 w 372234"/>
              <a:gd name="connsiteY74" fmla="*/ 52232 h 359903"/>
              <a:gd name="connsiteX75" fmla="*/ 302602 w 372234"/>
              <a:gd name="connsiteY75" fmla="*/ 142188 h 359903"/>
              <a:gd name="connsiteX76" fmla="*/ 274813 w 372234"/>
              <a:gd name="connsiteY76" fmla="*/ 143606 h 359903"/>
              <a:gd name="connsiteX77" fmla="*/ 206032 w 372234"/>
              <a:gd name="connsiteY77" fmla="*/ 115122 h 359903"/>
              <a:gd name="connsiteX78" fmla="*/ 287813 w 372234"/>
              <a:gd name="connsiteY78" fmla="*/ 118463 h 359903"/>
              <a:gd name="connsiteX79" fmla="*/ 303550 w 372234"/>
              <a:gd name="connsiteY79" fmla="*/ 62918 h 359903"/>
              <a:gd name="connsiteX80" fmla="*/ 242754 w 372234"/>
              <a:gd name="connsiteY80" fmla="*/ 37742 h 359903"/>
              <a:gd name="connsiteX81" fmla="*/ 214613 w 372234"/>
              <a:gd name="connsiteY81" fmla="*/ 88150 h 359903"/>
              <a:gd name="connsiteX82" fmla="*/ 215012 w 372234"/>
              <a:gd name="connsiteY82" fmla="*/ 88437 h 359903"/>
              <a:gd name="connsiteX83" fmla="*/ 216713 w 372234"/>
              <a:gd name="connsiteY83" fmla="*/ 89329 h 359903"/>
              <a:gd name="connsiteX84" fmla="*/ 285494 w 372234"/>
              <a:gd name="connsiteY84" fmla="*/ 117813 h 359903"/>
              <a:gd name="connsiteX85" fmla="*/ 287329 w 372234"/>
              <a:gd name="connsiteY85" fmla="*/ 118385 h 359903"/>
              <a:gd name="connsiteX86" fmla="*/ 287813 w 372234"/>
              <a:gd name="connsiteY86" fmla="*/ 118463 h 359903"/>
              <a:gd name="connsiteX87" fmla="*/ 130282 w 372234"/>
              <a:gd name="connsiteY87" fmla="*/ 136562 h 359903"/>
              <a:gd name="connsiteX88" fmla="*/ 111670 w 372234"/>
              <a:gd name="connsiteY88" fmla="*/ 155173 h 359903"/>
              <a:gd name="connsiteX89" fmla="*/ 93059 w 372234"/>
              <a:gd name="connsiteY89" fmla="*/ 136562 h 359903"/>
              <a:gd name="connsiteX90" fmla="*/ 111670 w 372234"/>
              <a:gd name="connsiteY90" fmla="*/ 117950 h 359903"/>
              <a:gd name="connsiteX91" fmla="*/ 130282 w 372234"/>
              <a:gd name="connsiteY91" fmla="*/ 136562 h 359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372234" h="359903">
                <a:moveTo>
                  <a:pt x="150403" y="26554"/>
                </a:moveTo>
                <a:cubicBezTo>
                  <a:pt x="160267" y="33362"/>
                  <a:pt x="169696" y="37848"/>
                  <a:pt x="177466" y="38837"/>
                </a:cubicBezTo>
                <a:cubicBezTo>
                  <a:pt x="173230" y="47251"/>
                  <a:pt x="170275" y="56288"/>
                  <a:pt x="168732" y="65624"/>
                </a:cubicBezTo>
                <a:cubicBezTo>
                  <a:pt x="156199" y="62874"/>
                  <a:pt x="144307" y="56267"/>
                  <a:pt x="134547" y="49532"/>
                </a:cubicBezTo>
                <a:cubicBezTo>
                  <a:pt x="129722" y="46202"/>
                  <a:pt x="125154" y="42655"/>
                  <a:pt x="120976" y="39162"/>
                </a:cubicBezTo>
                <a:lnTo>
                  <a:pt x="120976" y="80727"/>
                </a:lnTo>
                <a:cubicBezTo>
                  <a:pt x="120976" y="86427"/>
                  <a:pt x="117511" y="91554"/>
                  <a:pt x="112224" y="93679"/>
                </a:cubicBezTo>
                <a:lnTo>
                  <a:pt x="112108" y="93727"/>
                </a:lnTo>
                <a:cubicBezTo>
                  <a:pt x="111993" y="93775"/>
                  <a:pt x="111795" y="93858"/>
                  <a:pt x="111522" y="93976"/>
                </a:cubicBezTo>
                <a:cubicBezTo>
                  <a:pt x="110975" y="94212"/>
                  <a:pt x="110128" y="94588"/>
                  <a:pt x="109035" y="95103"/>
                </a:cubicBezTo>
                <a:cubicBezTo>
                  <a:pt x="106844" y="96133"/>
                  <a:pt x="103688" y="97710"/>
                  <a:pt x="99984" y="99827"/>
                </a:cubicBezTo>
                <a:cubicBezTo>
                  <a:pt x="92502" y="104102"/>
                  <a:pt x="83155" y="110371"/>
                  <a:pt x="75011" y="118515"/>
                </a:cubicBezTo>
                <a:cubicBezTo>
                  <a:pt x="66571" y="126956"/>
                  <a:pt x="61367" y="138292"/>
                  <a:pt x="58428" y="147096"/>
                </a:cubicBezTo>
                <a:cubicBezTo>
                  <a:pt x="54659" y="158387"/>
                  <a:pt x="45062" y="168795"/>
                  <a:pt x="31400" y="171071"/>
                </a:cubicBezTo>
                <a:cubicBezTo>
                  <a:pt x="29390" y="171406"/>
                  <a:pt x="27918" y="173145"/>
                  <a:pt x="27918" y="175183"/>
                </a:cubicBezTo>
                <a:lnTo>
                  <a:pt x="27918" y="207807"/>
                </a:lnTo>
                <a:cubicBezTo>
                  <a:pt x="27918" y="210887"/>
                  <a:pt x="30144" y="213515"/>
                  <a:pt x="33181" y="214021"/>
                </a:cubicBezTo>
                <a:cubicBezTo>
                  <a:pt x="44793" y="215955"/>
                  <a:pt x="53941" y="223536"/>
                  <a:pt x="59085" y="232745"/>
                </a:cubicBezTo>
                <a:cubicBezTo>
                  <a:pt x="63764" y="241120"/>
                  <a:pt x="72081" y="254044"/>
                  <a:pt x="84317" y="266279"/>
                </a:cubicBezTo>
                <a:cubicBezTo>
                  <a:pt x="93825" y="275788"/>
                  <a:pt x="104897" y="281883"/>
                  <a:pt x="113807" y="285613"/>
                </a:cubicBezTo>
                <a:cubicBezTo>
                  <a:pt x="118223" y="287461"/>
                  <a:pt x="121996" y="288680"/>
                  <a:pt x="124606" y="289427"/>
                </a:cubicBezTo>
                <a:cubicBezTo>
                  <a:pt x="125908" y="289797"/>
                  <a:pt x="126910" y="290048"/>
                  <a:pt x="127546" y="290197"/>
                </a:cubicBezTo>
                <a:cubicBezTo>
                  <a:pt x="127864" y="290272"/>
                  <a:pt x="128089" y="290322"/>
                  <a:pt x="128214" y="290348"/>
                </a:cubicBezTo>
                <a:lnTo>
                  <a:pt x="128304" y="290369"/>
                </a:lnTo>
                <a:lnTo>
                  <a:pt x="128324" y="290372"/>
                </a:lnTo>
                <a:cubicBezTo>
                  <a:pt x="134866" y="291658"/>
                  <a:pt x="139588" y="297396"/>
                  <a:pt x="139588" y="304069"/>
                </a:cubicBezTo>
                <a:lnTo>
                  <a:pt x="139588" y="327333"/>
                </a:lnTo>
                <a:cubicBezTo>
                  <a:pt x="139588" y="329902"/>
                  <a:pt x="141671" y="331986"/>
                  <a:pt x="144241" y="331986"/>
                </a:cubicBezTo>
                <a:lnTo>
                  <a:pt x="167505" y="331986"/>
                </a:lnTo>
                <a:cubicBezTo>
                  <a:pt x="167505" y="316566"/>
                  <a:pt x="180005" y="304069"/>
                  <a:pt x="195423" y="304069"/>
                </a:cubicBezTo>
                <a:lnTo>
                  <a:pt x="232646" y="304069"/>
                </a:lnTo>
                <a:cubicBezTo>
                  <a:pt x="248064" y="304069"/>
                  <a:pt x="260564" y="316566"/>
                  <a:pt x="260564" y="331986"/>
                </a:cubicBezTo>
                <a:lnTo>
                  <a:pt x="283829" y="331986"/>
                </a:lnTo>
                <a:cubicBezTo>
                  <a:pt x="286399" y="331986"/>
                  <a:pt x="288481" y="329902"/>
                  <a:pt x="288481" y="327333"/>
                </a:cubicBezTo>
                <a:lnTo>
                  <a:pt x="288481" y="285457"/>
                </a:lnTo>
                <a:cubicBezTo>
                  <a:pt x="288481" y="280194"/>
                  <a:pt x="291454" y="275373"/>
                  <a:pt x="296146" y="272996"/>
                </a:cubicBezTo>
                <a:lnTo>
                  <a:pt x="296393" y="272864"/>
                </a:lnTo>
                <a:cubicBezTo>
                  <a:pt x="296652" y="272723"/>
                  <a:pt x="297097" y="272475"/>
                  <a:pt x="297700" y="272116"/>
                </a:cubicBezTo>
                <a:cubicBezTo>
                  <a:pt x="298908" y="271398"/>
                  <a:pt x="300739" y="270242"/>
                  <a:pt x="302991" y="268615"/>
                </a:cubicBezTo>
                <a:cubicBezTo>
                  <a:pt x="307508" y="265353"/>
                  <a:pt x="313626" y="260264"/>
                  <a:pt x="319760" y="253108"/>
                </a:cubicBezTo>
                <a:cubicBezTo>
                  <a:pt x="331901" y="238944"/>
                  <a:pt x="344317" y="216482"/>
                  <a:pt x="344317" y="183093"/>
                </a:cubicBezTo>
                <a:cubicBezTo>
                  <a:pt x="344317" y="164358"/>
                  <a:pt x="340814" y="149212"/>
                  <a:pt x="334849" y="136794"/>
                </a:cubicBezTo>
                <a:cubicBezTo>
                  <a:pt x="341510" y="127954"/>
                  <a:pt x="346531" y="118006"/>
                  <a:pt x="349703" y="107463"/>
                </a:cubicBezTo>
                <a:cubicBezTo>
                  <a:pt x="351549" y="109992"/>
                  <a:pt x="353300" y="112617"/>
                  <a:pt x="354949" y="115343"/>
                </a:cubicBezTo>
                <a:cubicBezTo>
                  <a:pt x="366195" y="133921"/>
                  <a:pt x="372234" y="156346"/>
                  <a:pt x="372234" y="183093"/>
                </a:cubicBezTo>
                <a:cubicBezTo>
                  <a:pt x="372234" y="224148"/>
                  <a:pt x="356733" y="252870"/>
                  <a:pt x="340955" y="271277"/>
                </a:cubicBezTo>
                <a:cubicBezTo>
                  <a:pt x="333131" y="280406"/>
                  <a:pt x="325290" y="286948"/>
                  <a:pt x="319338" y="291247"/>
                </a:cubicBezTo>
                <a:cubicBezTo>
                  <a:pt x="318299" y="291997"/>
                  <a:pt x="317317" y="292680"/>
                  <a:pt x="316399" y="293298"/>
                </a:cubicBezTo>
                <a:lnTo>
                  <a:pt x="316399" y="327333"/>
                </a:lnTo>
                <a:cubicBezTo>
                  <a:pt x="316399" y="345321"/>
                  <a:pt x="301817" y="359904"/>
                  <a:pt x="283829" y="359904"/>
                </a:cubicBezTo>
                <a:lnTo>
                  <a:pt x="260564" y="359904"/>
                </a:lnTo>
                <a:cubicBezTo>
                  <a:pt x="245146" y="359904"/>
                  <a:pt x="232646" y="347404"/>
                  <a:pt x="232646" y="331986"/>
                </a:cubicBezTo>
                <a:lnTo>
                  <a:pt x="195423" y="331986"/>
                </a:lnTo>
                <a:cubicBezTo>
                  <a:pt x="195423" y="347404"/>
                  <a:pt x="182923" y="359904"/>
                  <a:pt x="167505" y="359904"/>
                </a:cubicBezTo>
                <a:lnTo>
                  <a:pt x="144241" y="359904"/>
                </a:lnTo>
                <a:cubicBezTo>
                  <a:pt x="126253" y="359904"/>
                  <a:pt x="111670" y="345321"/>
                  <a:pt x="111670" y="327333"/>
                </a:cubicBezTo>
                <a:lnTo>
                  <a:pt x="111670" y="314629"/>
                </a:lnTo>
                <a:cubicBezTo>
                  <a:pt x="109101" y="313762"/>
                  <a:pt x="106185" y="312688"/>
                  <a:pt x="103029" y="311366"/>
                </a:cubicBezTo>
                <a:cubicBezTo>
                  <a:pt x="91935" y="306723"/>
                  <a:pt x="77416" y="298861"/>
                  <a:pt x="64576" y="286021"/>
                </a:cubicBezTo>
                <a:cubicBezTo>
                  <a:pt x="49984" y="271429"/>
                  <a:pt x="40211" y="256203"/>
                  <a:pt x="34713" y="246359"/>
                </a:cubicBezTo>
                <a:cubicBezTo>
                  <a:pt x="33090" y="243456"/>
                  <a:pt x="30666" y="241904"/>
                  <a:pt x="28591" y="241557"/>
                </a:cubicBezTo>
                <a:cubicBezTo>
                  <a:pt x="12093" y="238809"/>
                  <a:pt x="0" y="224533"/>
                  <a:pt x="0" y="207807"/>
                </a:cubicBezTo>
                <a:lnTo>
                  <a:pt x="0" y="175183"/>
                </a:lnTo>
                <a:cubicBezTo>
                  <a:pt x="0" y="159498"/>
                  <a:pt x="11339" y="146113"/>
                  <a:pt x="26810" y="143533"/>
                </a:cubicBezTo>
                <a:cubicBezTo>
                  <a:pt x="28428" y="143263"/>
                  <a:pt x="30812" y="141657"/>
                  <a:pt x="31947" y="138257"/>
                </a:cubicBezTo>
                <a:cubicBezTo>
                  <a:pt x="35527" y="127532"/>
                  <a:pt x="42474" y="111572"/>
                  <a:pt x="55271" y="98775"/>
                </a:cubicBezTo>
                <a:cubicBezTo>
                  <a:pt x="65738" y="88307"/>
                  <a:pt x="77329" y="80618"/>
                  <a:pt x="86133" y="75587"/>
                </a:cubicBezTo>
                <a:cubicBezTo>
                  <a:pt x="88671" y="74137"/>
                  <a:pt x="91008" y="72890"/>
                  <a:pt x="93059" y="71846"/>
                </a:cubicBezTo>
                <a:lnTo>
                  <a:pt x="93059" y="18772"/>
                </a:lnTo>
                <a:cubicBezTo>
                  <a:pt x="93059" y="1316"/>
                  <a:pt x="114101" y="-5849"/>
                  <a:pt x="125440" y="5442"/>
                </a:cubicBezTo>
                <a:cubicBezTo>
                  <a:pt x="131591" y="11566"/>
                  <a:pt x="140520" y="19734"/>
                  <a:pt x="150403" y="26554"/>
                </a:cubicBezTo>
                <a:close/>
                <a:moveTo>
                  <a:pt x="206032" y="115122"/>
                </a:moveTo>
                <a:cubicBezTo>
                  <a:pt x="196910" y="111345"/>
                  <a:pt x="189214" y="104174"/>
                  <a:pt x="187381" y="94473"/>
                </a:cubicBezTo>
                <a:cubicBezTo>
                  <a:pt x="180978" y="60572"/>
                  <a:pt x="198933" y="25679"/>
                  <a:pt x="232068" y="11950"/>
                </a:cubicBezTo>
                <a:cubicBezTo>
                  <a:pt x="270052" y="-3787"/>
                  <a:pt x="313604" y="14248"/>
                  <a:pt x="329342" y="52232"/>
                </a:cubicBezTo>
                <a:cubicBezTo>
                  <a:pt x="343070" y="85368"/>
                  <a:pt x="331099" y="122739"/>
                  <a:pt x="302602" y="142188"/>
                </a:cubicBezTo>
                <a:cubicBezTo>
                  <a:pt x="294448" y="147753"/>
                  <a:pt x="283935" y="147384"/>
                  <a:pt x="274813" y="143606"/>
                </a:cubicBezTo>
                <a:lnTo>
                  <a:pt x="206032" y="115122"/>
                </a:lnTo>
                <a:close/>
                <a:moveTo>
                  <a:pt x="287813" y="118463"/>
                </a:moveTo>
                <a:cubicBezTo>
                  <a:pt x="304929" y="106140"/>
                  <a:pt x="311964" y="83226"/>
                  <a:pt x="303550" y="62918"/>
                </a:cubicBezTo>
                <a:cubicBezTo>
                  <a:pt x="293713" y="39178"/>
                  <a:pt x="266494" y="27906"/>
                  <a:pt x="242754" y="37742"/>
                </a:cubicBezTo>
                <a:cubicBezTo>
                  <a:pt x="222447" y="46156"/>
                  <a:pt x="211222" y="67335"/>
                  <a:pt x="214613" y="88150"/>
                </a:cubicBezTo>
                <a:cubicBezTo>
                  <a:pt x="214721" y="88235"/>
                  <a:pt x="214854" y="88332"/>
                  <a:pt x="215012" y="88437"/>
                </a:cubicBezTo>
                <a:cubicBezTo>
                  <a:pt x="215451" y="88730"/>
                  <a:pt x="216022" y="89043"/>
                  <a:pt x="216713" y="89329"/>
                </a:cubicBezTo>
                <a:lnTo>
                  <a:pt x="285494" y="117813"/>
                </a:lnTo>
                <a:cubicBezTo>
                  <a:pt x="286187" y="118099"/>
                  <a:pt x="286812" y="118281"/>
                  <a:pt x="287329" y="118385"/>
                </a:cubicBezTo>
                <a:cubicBezTo>
                  <a:pt x="287516" y="118422"/>
                  <a:pt x="287677" y="118447"/>
                  <a:pt x="287813" y="118463"/>
                </a:cubicBezTo>
                <a:close/>
                <a:moveTo>
                  <a:pt x="130282" y="136562"/>
                </a:moveTo>
                <a:cubicBezTo>
                  <a:pt x="130282" y="146841"/>
                  <a:pt x="121949" y="155173"/>
                  <a:pt x="111670" y="155173"/>
                </a:cubicBezTo>
                <a:cubicBezTo>
                  <a:pt x="101391" y="155173"/>
                  <a:pt x="93059" y="146841"/>
                  <a:pt x="93059" y="136562"/>
                </a:cubicBezTo>
                <a:cubicBezTo>
                  <a:pt x="93059" y="126283"/>
                  <a:pt x="101391" y="117950"/>
                  <a:pt x="111670" y="117950"/>
                </a:cubicBezTo>
                <a:cubicBezTo>
                  <a:pt x="121949" y="117950"/>
                  <a:pt x="130282" y="126283"/>
                  <a:pt x="130282" y="136562"/>
                </a:cubicBez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87" name="CuadroTexto 5">
            <a:extLst>
              <a:ext uri="{FF2B5EF4-FFF2-40B4-BE49-F238E27FC236}">
                <a16:creationId xmlns:a16="http://schemas.microsoft.com/office/drawing/2014/main" id="{65164EFC-E169-9C8A-76D9-87A4F2982FBD}"/>
              </a:ext>
            </a:extLst>
          </p:cNvPr>
          <p:cNvSpPr txBox="1"/>
          <p:nvPr/>
        </p:nvSpPr>
        <p:spPr>
          <a:xfrm>
            <a:off x="2966484" y="6531053"/>
            <a:ext cx="7805774" cy="153888"/>
          </a:xfrm>
          <a:prstGeom prst="rect">
            <a:avLst/>
          </a:prstGeom>
          <a:noFill/>
        </p:spPr>
        <p:txBody>
          <a:bodyPr wrap="squar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30000" noProof="0" dirty="0">
                <a:ln>
                  <a:noFill/>
                </a:ln>
                <a:effectLst/>
                <a:uLnTx/>
                <a:uFillTx/>
                <a:ea typeface="+mn-ea"/>
                <a:cs typeface="+mn-cs"/>
              </a:rPr>
              <a:t>1</a:t>
            </a:r>
            <a:r>
              <a:rPr kumimoji="0" lang="en-US" sz="1000" b="0" i="0" u="none" strike="noStrike" kern="1200" cap="none" spc="0" normalizeH="0" baseline="0" noProof="0" dirty="0">
                <a:ln>
                  <a:noFill/>
                </a:ln>
                <a:effectLst/>
                <a:uLnTx/>
                <a:uFillTx/>
                <a:ea typeface="+mn-ea"/>
                <a:cs typeface="+mn-cs"/>
              </a:rPr>
              <a:t>Gartner. </a:t>
            </a:r>
            <a:r>
              <a:rPr kumimoji="0" lang="en-US" sz="1000" b="0" i="0" u="none" strike="noStrike" kern="1200" cap="none" spc="0" normalizeH="0" baseline="0" noProof="0" dirty="0">
                <a:ln>
                  <a:noFill/>
                </a:ln>
                <a:effectLst/>
                <a:uLnTx/>
                <a:uFillTx/>
                <a:ea typeface="+mn-ea"/>
                <a:cs typeface="+mn-cs"/>
                <a:hlinkClick r:id="rId4">
                  <a:extLst>
                    <a:ext uri="{A12FA001-AC4F-418D-AE19-62706E023703}">
                      <ahyp:hlinkClr xmlns:ahyp="http://schemas.microsoft.com/office/drawing/2018/hyperlinkcolor" val="tx"/>
                    </a:ext>
                  </a:extLst>
                </a:hlinkClick>
              </a:rPr>
              <a:t>Gartner for Customer Service - The Connected Rep: Deliver better customer service by enabling reps with technology. 2023</a:t>
            </a:r>
            <a:endParaRPr kumimoji="0" lang="en-US" sz="1000" b="0" i="0" u="none" strike="noStrike" kern="1200" cap="none" spc="0" normalizeH="0" baseline="0" noProof="0" dirty="0">
              <a:ln>
                <a:noFill/>
              </a:ln>
              <a:effectLst/>
              <a:uLnTx/>
              <a:uFillTx/>
              <a:ea typeface="+mn-ea"/>
              <a:cs typeface="+mn-cs"/>
            </a:endParaRPr>
          </a:p>
        </p:txBody>
      </p:sp>
      <p:sp>
        <p:nvSpPr>
          <p:cNvPr id="109" name="Freeform: Shape 124" descr="Employee retention icon">
            <a:extLst>
              <a:ext uri="{FF2B5EF4-FFF2-40B4-BE49-F238E27FC236}">
                <a16:creationId xmlns:a16="http://schemas.microsoft.com/office/drawing/2014/main" id="{6CEB04A2-6422-9184-0941-CDBB4F16F605}"/>
              </a:ext>
            </a:extLst>
          </p:cNvPr>
          <p:cNvSpPr/>
          <p:nvPr/>
        </p:nvSpPr>
        <p:spPr>
          <a:xfrm>
            <a:off x="5968728" y="5747688"/>
            <a:ext cx="182880" cy="180812"/>
          </a:xfrm>
          <a:custGeom>
            <a:avLst/>
            <a:gdLst>
              <a:gd name="connsiteX0" fmla="*/ 53644 w 190500"/>
              <a:gd name="connsiteY0" fmla="*/ 109537 h 190500"/>
              <a:gd name="connsiteX1" fmla="*/ 95249 w 190500"/>
              <a:gd name="connsiteY1" fmla="*/ 142875 h 190500"/>
              <a:gd name="connsiteX2" fmla="*/ 136855 w 190500"/>
              <a:gd name="connsiteY2" fmla="*/ 109537 h 190500"/>
              <a:gd name="connsiteX3" fmla="*/ 45243 w 190500"/>
              <a:gd name="connsiteY3" fmla="*/ 95250 h 190500"/>
              <a:gd name="connsiteX4" fmla="*/ 145256 w 190500"/>
              <a:gd name="connsiteY4" fmla="*/ 95250 h 190500"/>
              <a:gd name="connsiteX5" fmla="*/ 145914 w 190500"/>
              <a:gd name="connsiteY5" fmla="*/ 95279 h 190500"/>
              <a:gd name="connsiteX6" fmla="*/ 152380 w 190500"/>
              <a:gd name="connsiteY6" fmla="*/ 103041 h 190500"/>
              <a:gd name="connsiteX7" fmla="*/ 95249 w 190500"/>
              <a:gd name="connsiteY7" fmla="*/ 157162 h 190500"/>
              <a:gd name="connsiteX8" fmla="*/ 38118 w 190500"/>
              <a:gd name="connsiteY8" fmla="*/ 103041 h 190500"/>
              <a:gd name="connsiteX9" fmla="*/ 38089 w 190500"/>
              <a:gd name="connsiteY9" fmla="*/ 102383 h 190500"/>
              <a:gd name="connsiteX10" fmla="*/ 45243 w 190500"/>
              <a:gd name="connsiteY10" fmla="*/ 95250 h 190500"/>
              <a:gd name="connsiteX11" fmla="*/ 126206 w 190500"/>
              <a:gd name="connsiteY11" fmla="*/ 50006 h 190500"/>
              <a:gd name="connsiteX12" fmla="*/ 147561 w 190500"/>
              <a:gd name="connsiteY12" fmla="*/ 68008 h 190500"/>
              <a:gd name="connsiteX13" fmla="*/ 141541 w 190500"/>
              <a:gd name="connsiteY13" fmla="*/ 76124 h 190500"/>
              <a:gd name="connsiteX14" fmla="*/ 133426 w 190500"/>
              <a:gd name="connsiteY14" fmla="*/ 70104 h 190500"/>
              <a:gd name="connsiteX15" fmla="*/ 126206 w 190500"/>
              <a:gd name="connsiteY15" fmla="*/ 64294 h 190500"/>
              <a:gd name="connsiteX16" fmla="*/ 118986 w 190500"/>
              <a:gd name="connsiteY16" fmla="*/ 70104 h 190500"/>
              <a:gd name="connsiteX17" fmla="*/ 110870 w 190500"/>
              <a:gd name="connsiteY17" fmla="*/ 76124 h 190500"/>
              <a:gd name="connsiteX18" fmla="*/ 104851 w 190500"/>
              <a:gd name="connsiteY18" fmla="*/ 68008 h 190500"/>
              <a:gd name="connsiteX19" fmla="*/ 126206 w 190500"/>
              <a:gd name="connsiteY19" fmla="*/ 50006 h 190500"/>
              <a:gd name="connsiteX20" fmla="*/ 64293 w 190500"/>
              <a:gd name="connsiteY20" fmla="*/ 50006 h 190500"/>
              <a:gd name="connsiteX21" fmla="*/ 85648 w 190500"/>
              <a:gd name="connsiteY21" fmla="*/ 68008 h 190500"/>
              <a:gd name="connsiteX22" fmla="*/ 79628 w 190500"/>
              <a:gd name="connsiteY22" fmla="*/ 76124 h 190500"/>
              <a:gd name="connsiteX23" fmla="*/ 71513 w 190500"/>
              <a:gd name="connsiteY23" fmla="*/ 70104 h 190500"/>
              <a:gd name="connsiteX24" fmla="*/ 64293 w 190500"/>
              <a:gd name="connsiteY24" fmla="*/ 64294 h 190500"/>
              <a:gd name="connsiteX25" fmla="*/ 57073 w 190500"/>
              <a:gd name="connsiteY25" fmla="*/ 70104 h 190500"/>
              <a:gd name="connsiteX26" fmla="*/ 48958 w 190500"/>
              <a:gd name="connsiteY26" fmla="*/ 76124 h 190500"/>
              <a:gd name="connsiteX27" fmla="*/ 42938 w 190500"/>
              <a:gd name="connsiteY27" fmla="*/ 68008 h 190500"/>
              <a:gd name="connsiteX28" fmla="*/ 64293 w 190500"/>
              <a:gd name="connsiteY28" fmla="*/ 50006 h 190500"/>
              <a:gd name="connsiteX29" fmla="*/ 95250 w 190500"/>
              <a:gd name="connsiteY29" fmla="*/ 14288 h 190500"/>
              <a:gd name="connsiteX30" fmla="*/ 14288 w 190500"/>
              <a:gd name="connsiteY30" fmla="*/ 95250 h 190500"/>
              <a:gd name="connsiteX31" fmla="*/ 95250 w 190500"/>
              <a:gd name="connsiteY31" fmla="*/ 176213 h 190500"/>
              <a:gd name="connsiteX32" fmla="*/ 176213 w 190500"/>
              <a:gd name="connsiteY32" fmla="*/ 95250 h 190500"/>
              <a:gd name="connsiteX33" fmla="*/ 95250 w 190500"/>
              <a:gd name="connsiteY33" fmla="*/ 14288 h 190500"/>
              <a:gd name="connsiteX34" fmla="*/ 95250 w 190500"/>
              <a:gd name="connsiteY34" fmla="*/ 0 h 190500"/>
              <a:gd name="connsiteX35" fmla="*/ 190500 w 190500"/>
              <a:gd name="connsiteY35" fmla="*/ 95250 h 190500"/>
              <a:gd name="connsiteX36" fmla="*/ 95250 w 190500"/>
              <a:gd name="connsiteY36" fmla="*/ 190500 h 190500"/>
              <a:gd name="connsiteX37" fmla="*/ 0 w 190500"/>
              <a:gd name="connsiteY37" fmla="*/ 95250 h 190500"/>
              <a:gd name="connsiteX38" fmla="*/ 95250 w 190500"/>
              <a:gd name="connsiteY38"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90500" h="190500">
                <a:moveTo>
                  <a:pt x="53644" y="109537"/>
                </a:moveTo>
                <a:cubicBezTo>
                  <a:pt x="58378" y="128778"/>
                  <a:pt x="73751" y="142875"/>
                  <a:pt x="95249" y="142875"/>
                </a:cubicBezTo>
                <a:cubicBezTo>
                  <a:pt x="116757" y="142875"/>
                  <a:pt x="132130" y="128778"/>
                  <a:pt x="136855" y="109537"/>
                </a:cubicBezTo>
                <a:close/>
                <a:moveTo>
                  <a:pt x="45243" y="95250"/>
                </a:moveTo>
                <a:lnTo>
                  <a:pt x="145256" y="95250"/>
                </a:lnTo>
                <a:cubicBezTo>
                  <a:pt x="145476" y="95250"/>
                  <a:pt x="145695" y="95259"/>
                  <a:pt x="145914" y="95279"/>
                </a:cubicBezTo>
                <a:cubicBezTo>
                  <a:pt x="149843" y="95636"/>
                  <a:pt x="152738" y="99112"/>
                  <a:pt x="152380" y="103041"/>
                </a:cubicBezTo>
                <a:cubicBezTo>
                  <a:pt x="149704" y="132321"/>
                  <a:pt x="128092" y="157162"/>
                  <a:pt x="95249" y="157162"/>
                </a:cubicBezTo>
                <a:cubicBezTo>
                  <a:pt x="62407" y="157162"/>
                  <a:pt x="40785" y="132321"/>
                  <a:pt x="38118" y="103041"/>
                </a:cubicBezTo>
                <a:cubicBezTo>
                  <a:pt x="38099" y="102822"/>
                  <a:pt x="38089" y="102603"/>
                  <a:pt x="38089" y="102383"/>
                </a:cubicBezTo>
                <a:cubicBezTo>
                  <a:pt x="38095" y="98438"/>
                  <a:pt x="41298" y="95244"/>
                  <a:pt x="45243" y="95250"/>
                </a:cubicBezTo>
                <a:close/>
                <a:moveTo>
                  <a:pt x="126206" y="50006"/>
                </a:moveTo>
                <a:cubicBezTo>
                  <a:pt x="136864" y="50006"/>
                  <a:pt x="146018" y="57626"/>
                  <a:pt x="147561" y="68008"/>
                </a:cubicBezTo>
                <a:cubicBezTo>
                  <a:pt x="148140" y="71912"/>
                  <a:pt x="145444" y="75545"/>
                  <a:pt x="141541" y="76124"/>
                </a:cubicBezTo>
                <a:cubicBezTo>
                  <a:pt x="137638" y="76703"/>
                  <a:pt x="134005" y="74007"/>
                  <a:pt x="133426" y="70104"/>
                </a:cubicBezTo>
                <a:cubicBezTo>
                  <a:pt x="132968" y="67027"/>
                  <a:pt x="130092" y="64294"/>
                  <a:pt x="126206" y="64294"/>
                </a:cubicBezTo>
                <a:cubicBezTo>
                  <a:pt x="122319" y="64294"/>
                  <a:pt x="119443" y="67027"/>
                  <a:pt x="118986" y="70104"/>
                </a:cubicBezTo>
                <a:cubicBezTo>
                  <a:pt x="118407" y="74007"/>
                  <a:pt x="114774" y="76703"/>
                  <a:pt x="110870" y="76124"/>
                </a:cubicBezTo>
                <a:cubicBezTo>
                  <a:pt x="106967" y="75545"/>
                  <a:pt x="104271" y="71912"/>
                  <a:pt x="104851" y="68008"/>
                </a:cubicBezTo>
                <a:cubicBezTo>
                  <a:pt x="106394" y="57626"/>
                  <a:pt x="115547" y="50006"/>
                  <a:pt x="126206" y="50006"/>
                </a:cubicBezTo>
                <a:close/>
                <a:moveTo>
                  <a:pt x="64293" y="50006"/>
                </a:moveTo>
                <a:cubicBezTo>
                  <a:pt x="74952" y="50006"/>
                  <a:pt x="84115" y="57626"/>
                  <a:pt x="85648" y="68008"/>
                </a:cubicBezTo>
                <a:cubicBezTo>
                  <a:pt x="86227" y="71912"/>
                  <a:pt x="83532" y="75545"/>
                  <a:pt x="79628" y="76124"/>
                </a:cubicBezTo>
                <a:cubicBezTo>
                  <a:pt x="75725" y="76703"/>
                  <a:pt x="72092" y="74007"/>
                  <a:pt x="71513" y="70104"/>
                </a:cubicBezTo>
                <a:cubicBezTo>
                  <a:pt x="71056" y="67027"/>
                  <a:pt x="68189" y="64294"/>
                  <a:pt x="64293" y="64294"/>
                </a:cubicBezTo>
                <a:cubicBezTo>
                  <a:pt x="60407" y="64294"/>
                  <a:pt x="57530" y="67027"/>
                  <a:pt x="57073" y="70104"/>
                </a:cubicBezTo>
                <a:cubicBezTo>
                  <a:pt x="56495" y="74007"/>
                  <a:pt x="52861" y="76703"/>
                  <a:pt x="48958" y="76124"/>
                </a:cubicBezTo>
                <a:cubicBezTo>
                  <a:pt x="45055" y="75545"/>
                  <a:pt x="42359" y="71912"/>
                  <a:pt x="42938" y="68008"/>
                </a:cubicBezTo>
                <a:cubicBezTo>
                  <a:pt x="44481" y="57626"/>
                  <a:pt x="53635" y="50006"/>
                  <a:pt x="64293" y="50006"/>
                </a:cubicBezTo>
                <a:close/>
                <a:moveTo>
                  <a:pt x="95250" y="14288"/>
                </a:moveTo>
                <a:cubicBezTo>
                  <a:pt x="50536" y="14288"/>
                  <a:pt x="14288" y="50536"/>
                  <a:pt x="14288" y="95250"/>
                </a:cubicBezTo>
                <a:cubicBezTo>
                  <a:pt x="14288" y="139964"/>
                  <a:pt x="50536" y="176213"/>
                  <a:pt x="95250" y="176213"/>
                </a:cubicBezTo>
                <a:cubicBezTo>
                  <a:pt x="139964" y="176213"/>
                  <a:pt x="176213" y="139964"/>
                  <a:pt x="176213" y="95250"/>
                </a:cubicBezTo>
                <a:cubicBezTo>
                  <a:pt x="176213" y="50536"/>
                  <a:pt x="139964" y="14288"/>
                  <a:pt x="95250" y="14288"/>
                </a:cubicBezTo>
                <a:close/>
                <a:moveTo>
                  <a:pt x="95250" y="0"/>
                </a:moveTo>
                <a:cubicBezTo>
                  <a:pt x="147857" y="0"/>
                  <a:pt x="190500" y="42643"/>
                  <a:pt x="190500" y="95250"/>
                </a:cubicBezTo>
                <a:cubicBezTo>
                  <a:pt x="190500" y="147857"/>
                  <a:pt x="147857" y="190500"/>
                  <a:pt x="95250" y="190500"/>
                </a:cubicBezTo>
                <a:cubicBezTo>
                  <a:pt x="42643" y="190500"/>
                  <a:pt x="0" y="147857"/>
                  <a:pt x="0" y="95250"/>
                </a:cubicBezTo>
                <a:cubicBezTo>
                  <a:pt x="0" y="42643"/>
                  <a:pt x="42643" y="0"/>
                  <a:pt x="95250" y="0"/>
                </a:cubicBez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Freeform: Shape 124" descr="Employee retention icon">
            <a:extLst>
              <a:ext uri="{FF2B5EF4-FFF2-40B4-BE49-F238E27FC236}">
                <a16:creationId xmlns:a16="http://schemas.microsoft.com/office/drawing/2014/main" id="{36326D31-F560-EDEF-3E0E-5C0073253330}"/>
              </a:ext>
            </a:extLst>
          </p:cNvPr>
          <p:cNvSpPr/>
          <p:nvPr/>
        </p:nvSpPr>
        <p:spPr>
          <a:xfrm>
            <a:off x="5963194" y="5152034"/>
            <a:ext cx="182880" cy="180812"/>
          </a:xfrm>
          <a:custGeom>
            <a:avLst/>
            <a:gdLst>
              <a:gd name="connsiteX0" fmla="*/ 53644 w 190500"/>
              <a:gd name="connsiteY0" fmla="*/ 109537 h 190500"/>
              <a:gd name="connsiteX1" fmla="*/ 95249 w 190500"/>
              <a:gd name="connsiteY1" fmla="*/ 142875 h 190500"/>
              <a:gd name="connsiteX2" fmla="*/ 136855 w 190500"/>
              <a:gd name="connsiteY2" fmla="*/ 109537 h 190500"/>
              <a:gd name="connsiteX3" fmla="*/ 45243 w 190500"/>
              <a:gd name="connsiteY3" fmla="*/ 95250 h 190500"/>
              <a:gd name="connsiteX4" fmla="*/ 145256 w 190500"/>
              <a:gd name="connsiteY4" fmla="*/ 95250 h 190500"/>
              <a:gd name="connsiteX5" fmla="*/ 145914 w 190500"/>
              <a:gd name="connsiteY5" fmla="*/ 95279 h 190500"/>
              <a:gd name="connsiteX6" fmla="*/ 152380 w 190500"/>
              <a:gd name="connsiteY6" fmla="*/ 103041 h 190500"/>
              <a:gd name="connsiteX7" fmla="*/ 95249 w 190500"/>
              <a:gd name="connsiteY7" fmla="*/ 157162 h 190500"/>
              <a:gd name="connsiteX8" fmla="*/ 38118 w 190500"/>
              <a:gd name="connsiteY8" fmla="*/ 103041 h 190500"/>
              <a:gd name="connsiteX9" fmla="*/ 38089 w 190500"/>
              <a:gd name="connsiteY9" fmla="*/ 102383 h 190500"/>
              <a:gd name="connsiteX10" fmla="*/ 45243 w 190500"/>
              <a:gd name="connsiteY10" fmla="*/ 95250 h 190500"/>
              <a:gd name="connsiteX11" fmla="*/ 126206 w 190500"/>
              <a:gd name="connsiteY11" fmla="*/ 50006 h 190500"/>
              <a:gd name="connsiteX12" fmla="*/ 147561 w 190500"/>
              <a:gd name="connsiteY12" fmla="*/ 68008 h 190500"/>
              <a:gd name="connsiteX13" fmla="*/ 141541 w 190500"/>
              <a:gd name="connsiteY13" fmla="*/ 76124 h 190500"/>
              <a:gd name="connsiteX14" fmla="*/ 133426 w 190500"/>
              <a:gd name="connsiteY14" fmla="*/ 70104 h 190500"/>
              <a:gd name="connsiteX15" fmla="*/ 126206 w 190500"/>
              <a:gd name="connsiteY15" fmla="*/ 64294 h 190500"/>
              <a:gd name="connsiteX16" fmla="*/ 118986 w 190500"/>
              <a:gd name="connsiteY16" fmla="*/ 70104 h 190500"/>
              <a:gd name="connsiteX17" fmla="*/ 110870 w 190500"/>
              <a:gd name="connsiteY17" fmla="*/ 76124 h 190500"/>
              <a:gd name="connsiteX18" fmla="*/ 104851 w 190500"/>
              <a:gd name="connsiteY18" fmla="*/ 68008 h 190500"/>
              <a:gd name="connsiteX19" fmla="*/ 126206 w 190500"/>
              <a:gd name="connsiteY19" fmla="*/ 50006 h 190500"/>
              <a:gd name="connsiteX20" fmla="*/ 64293 w 190500"/>
              <a:gd name="connsiteY20" fmla="*/ 50006 h 190500"/>
              <a:gd name="connsiteX21" fmla="*/ 85648 w 190500"/>
              <a:gd name="connsiteY21" fmla="*/ 68008 h 190500"/>
              <a:gd name="connsiteX22" fmla="*/ 79628 w 190500"/>
              <a:gd name="connsiteY22" fmla="*/ 76124 h 190500"/>
              <a:gd name="connsiteX23" fmla="*/ 71513 w 190500"/>
              <a:gd name="connsiteY23" fmla="*/ 70104 h 190500"/>
              <a:gd name="connsiteX24" fmla="*/ 64293 w 190500"/>
              <a:gd name="connsiteY24" fmla="*/ 64294 h 190500"/>
              <a:gd name="connsiteX25" fmla="*/ 57073 w 190500"/>
              <a:gd name="connsiteY25" fmla="*/ 70104 h 190500"/>
              <a:gd name="connsiteX26" fmla="*/ 48958 w 190500"/>
              <a:gd name="connsiteY26" fmla="*/ 76124 h 190500"/>
              <a:gd name="connsiteX27" fmla="*/ 42938 w 190500"/>
              <a:gd name="connsiteY27" fmla="*/ 68008 h 190500"/>
              <a:gd name="connsiteX28" fmla="*/ 64293 w 190500"/>
              <a:gd name="connsiteY28" fmla="*/ 50006 h 190500"/>
              <a:gd name="connsiteX29" fmla="*/ 95250 w 190500"/>
              <a:gd name="connsiteY29" fmla="*/ 14288 h 190500"/>
              <a:gd name="connsiteX30" fmla="*/ 14288 w 190500"/>
              <a:gd name="connsiteY30" fmla="*/ 95250 h 190500"/>
              <a:gd name="connsiteX31" fmla="*/ 95250 w 190500"/>
              <a:gd name="connsiteY31" fmla="*/ 176213 h 190500"/>
              <a:gd name="connsiteX32" fmla="*/ 176213 w 190500"/>
              <a:gd name="connsiteY32" fmla="*/ 95250 h 190500"/>
              <a:gd name="connsiteX33" fmla="*/ 95250 w 190500"/>
              <a:gd name="connsiteY33" fmla="*/ 14288 h 190500"/>
              <a:gd name="connsiteX34" fmla="*/ 95250 w 190500"/>
              <a:gd name="connsiteY34" fmla="*/ 0 h 190500"/>
              <a:gd name="connsiteX35" fmla="*/ 190500 w 190500"/>
              <a:gd name="connsiteY35" fmla="*/ 95250 h 190500"/>
              <a:gd name="connsiteX36" fmla="*/ 95250 w 190500"/>
              <a:gd name="connsiteY36" fmla="*/ 190500 h 190500"/>
              <a:gd name="connsiteX37" fmla="*/ 0 w 190500"/>
              <a:gd name="connsiteY37" fmla="*/ 95250 h 190500"/>
              <a:gd name="connsiteX38" fmla="*/ 95250 w 190500"/>
              <a:gd name="connsiteY38"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90500" h="190500">
                <a:moveTo>
                  <a:pt x="53644" y="109537"/>
                </a:moveTo>
                <a:cubicBezTo>
                  <a:pt x="58378" y="128778"/>
                  <a:pt x="73751" y="142875"/>
                  <a:pt x="95249" y="142875"/>
                </a:cubicBezTo>
                <a:cubicBezTo>
                  <a:pt x="116757" y="142875"/>
                  <a:pt x="132130" y="128778"/>
                  <a:pt x="136855" y="109537"/>
                </a:cubicBezTo>
                <a:close/>
                <a:moveTo>
                  <a:pt x="45243" y="95250"/>
                </a:moveTo>
                <a:lnTo>
                  <a:pt x="145256" y="95250"/>
                </a:lnTo>
                <a:cubicBezTo>
                  <a:pt x="145476" y="95250"/>
                  <a:pt x="145695" y="95259"/>
                  <a:pt x="145914" y="95279"/>
                </a:cubicBezTo>
                <a:cubicBezTo>
                  <a:pt x="149843" y="95636"/>
                  <a:pt x="152738" y="99112"/>
                  <a:pt x="152380" y="103041"/>
                </a:cubicBezTo>
                <a:cubicBezTo>
                  <a:pt x="149704" y="132321"/>
                  <a:pt x="128092" y="157162"/>
                  <a:pt x="95249" y="157162"/>
                </a:cubicBezTo>
                <a:cubicBezTo>
                  <a:pt x="62407" y="157162"/>
                  <a:pt x="40785" y="132321"/>
                  <a:pt x="38118" y="103041"/>
                </a:cubicBezTo>
                <a:cubicBezTo>
                  <a:pt x="38099" y="102822"/>
                  <a:pt x="38089" y="102603"/>
                  <a:pt x="38089" y="102383"/>
                </a:cubicBezTo>
                <a:cubicBezTo>
                  <a:pt x="38095" y="98438"/>
                  <a:pt x="41298" y="95244"/>
                  <a:pt x="45243" y="95250"/>
                </a:cubicBezTo>
                <a:close/>
                <a:moveTo>
                  <a:pt x="126206" y="50006"/>
                </a:moveTo>
                <a:cubicBezTo>
                  <a:pt x="136864" y="50006"/>
                  <a:pt x="146018" y="57626"/>
                  <a:pt x="147561" y="68008"/>
                </a:cubicBezTo>
                <a:cubicBezTo>
                  <a:pt x="148140" y="71912"/>
                  <a:pt x="145444" y="75545"/>
                  <a:pt x="141541" y="76124"/>
                </a:cubicBezTo>
                <a:cubicBezTo>
                  <a:pt x="137638" y="76703"/>
                  <a:pt x="134005" y="74007"/>
                  <a:pt x="133426" y="70104"/>
                </a:cubicBezTo>
                <a:cubicBezTo>
                  <a:pt x="132968" y="67027"/>
                  <a:pt x="130092" y="64294"/>
                  <a:pt x="126206" y="64294"/>
                </a:cubicBezTo>
                <a:cubicBezTo>
                  <a:pt x="122319" y="64294"/>
                  <a:pt x="119443" y="67027"/>
                  <a:pt x="118986" y="70104"/>
                </a:cubicBezTo>
                <a:cubicBezTo>
                  <a:pt x="118407" y="74007"/>
                  <a:pt x="114774" y="76703"/>
                  <a:pt x="110870" y="76124"/>
                </a:cubicBezTo>
                <a:cubicBezTo>
                  <a:pt x="106967" y="75545"/>
                  <a:pt x="104271" y="71912"/>
                  <a:pt x="104851" y="68008"/>
                </a:cubicBezTo>
                <a:cubicBezTo>
                  <a:pt x="106394" y="57626"/>
                  <a:pt x="115547" y="50006"/>
                  <a:pt x="126206" y="50006"/>
                </a:cubicBezTo>
                <a:close/>
                <a:moveTo>
                  <a:pt x="64293" y="50006"/>
                </a:moveTo>
                <a:cubicBezTo>
                  <a:pt x="74952" y="50006"/>
                  <a:pt x="84115" y="57626"/>
                  <a:pt x="85648" y="68008"/>
                </a:cubicBezTo>
                <a:cubicBezTo>
                  <a:pt x="86227" y="71912"/>
                  <a:pt x="83532" y="75545"/>
                  <a:pt x="79628" y="76124"/>
                </a:cubicBezTo>
                <a:cubicBezTo>
                  <a:pt x="75725" y="76703"/>
                  <a:pt x="72092" y="74007"/>
                  <a:pt x="71513" y="70104"/>
                </a:cubicBezTo>
                <a:cubicBezTo>
                  <a:pt x="71056" y="67027"/>
                  <a:pt x="68189" y="64294"/>
                  <a:pt x="64293" y="64294"/>
                </a:cubicBezTo>
                <a:cubicBezTo>
                  <a:pt x="60407" y="64294"/>
                  <a:pt x="57530" y="67027"/>
                  <a:pt x="57073" y="70104"/>
                </a:cubicBezTo>
                <a:cubicBezTo>
                  <a:pt x="56495" y="74007"/>
                  <a:pt x="52861" y="76703"/>
                  <a:pt x="48958" y="76124"/>
                </a:cubicBezTo>
                <a:cubicBezTo>
                  <a:pt x="45055" y="75545"/>
                  <a:pt x="42359" y="71912"/>
                  <a:pt x="42938" y="68008"/>
                </a:cubicBezTo>
                <a:cubicBezTo>
                  <a:pt x="44481" y="57626"/>
                  <a:pt x="53635" y="50006"/>
                  <a:pt x="64293" y="50006"/>
                </a:cubicBezTo>
                <a:close/>
                <a:moveTo>
                  <a:pt x="95250" y="14288"/>
                </a:moveTo>
                <a:cubicBezTo>
                  <a:pt x="50536" y="14288"/>
                  <a:pt x="14288" y="50536"/>
                  <a:pt x="14288" y="95250"/>
                </a:cubicBezTo>
                <a:cubicBezTo>
                  <a:pt x="14288" y="139964"/>
                  <a:pt x="50536" y="176213"/>
                  <a:pt x="95250" y="176213"/>
                </a:cubicBezTo>
                <a:cubicBezTo>
                  <a:pt x="139964" y="176213"/>
                  <a:pt x="176213" y="139964"/>
                  <a:pt x="176213" y="95250"/>
                </a:cubicBezTo>
                <a:cubicBezTo>
                  <a:pt x="176213" y="50536"/>
                  <a:pt x="139964" y="14288"/>
                  <a:pt x="95250" y="14288"/>
                </a:cubicBezTo>
                <a:close/>
                <a:moveTo>
                  <a:pt x="95250" y="0"/>
                </a:moveTo>
                <a:cubicBezTo>
                  <a:pt x="147857" y="0"/>
                  <a:pt x="190500" y="42643"/>
                  <a:pt x="190500" y="95250"/>
                </a:cubicBezTo>
                <a:cubicBezTo>
                  <a:pt x="190500" y="147857"/>
                  <a:pt x="147857" y="190500"/>
                  <a:pt x="95250" y="190500"/>
                </a:cubicBezTo>
                <a:cubicBezTo>
                  <a:pt x="42643" y="190500"/>
                  <a:pt x="0" y="147857"/>
                  <a:pt x="0" y="95250"/>
                </a:cubicBezTo>
                <a:cubicBezTo>
                  <a:pt x="0" y="42643"/>
                  <a:pt x="42643" y="0"/>
                  <a:pt x="95250" y="0"/>
                </a:cubicBez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C4E7A468-7E45-29CB-77C9-D9964C06AE89}"/>
              </a:ext>
            </a:extLst>
          </p:cNvPr>
          <p:cNvGrpSpPr/>
          <p:nvPr/>
        </p:nvGrpSpPr>
        <p:grpSpPr>
          <a:xfrm>
            <a:off x="588411" y="4864910"/>
            <a:ext cx="457200" cy="457200"/>
            <a:chOff x="593727" y="4695565"/>
            <a:chExt cx="457200" cy="457200"/>
          </a:xfrm>
        </p:grpSpPr>
        <p:sp>
          <p:nvSpPr>
            <p:cNvPr id="10" name="Text Placeholder 2">
              <a:extLst>
                <a:ext uri="{FF2B5EF4-FFF2-40B4-BE49-F238E27FC236}">
                  <a16:creationId xmlns:a16="http://schemas.microsoft.com/office/drawing/2014/main" id="{C73DFF17-87D9-F2D7-1878-F0F4111F3666}"/>
                </a:ext>
                <a:ext uri="{C183D7F6-B498-43B3-948B-1728B52AA6E4}">
                  <adec:decorative xmlns:adec="http://schemas.microsoft.com/office/drawing/2017/decorative" val="1"/>
                </a:ext>
              </a:extLst>
            </p:cNvPr>
            <p:cNvSpPr txBox="1">
              <a:spLocks/>
            </p:cNvSpPr>
            <p:nvPr/>
          </p:nvSpPr>
          <p:spPr>
            <a:xfrm>
              <a:off x="593727" y="4695565"/>
              <a:ext cx="457200" cy="457200"/>
            </a:xfrm>
            <a:prstGeom prst="ellipse">
              <a:avLst/>
            </a:prstGeom>
            <a:solidFill>
              <a:schemeClr val="bg1">
                <a:alpha val="74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640080" tIns="137160" rIns="137160" bIns="137160" numCol="1" spcCol="0" rtlCol="0" fromWordArt="0" anchor="t" anchorCtr="0" forceAA="0" compatLnSpc="1">
              <a:prstTxWarp prst="textNoShape">
                <a:avLst/>
              </a:prstTxWarp>
              <a:spAutoFit/>
            </a:bodyPr>
            <a:lstStyle>
              <a:lvl1pPr indent="0">
                <a:lnSpc>
                  <a:spcPct val="100000"/>
                </a:lnSpc>
                <a:spcBef>
                  <a:spcPts val="1000"/>
                </a:spcBef>
                <a:spcAft>
                  <a:spcPts val="600"/>
                </a:spcAft>
                <a:buFont typeface="Arial" panose="020B0604020202020204" pitchFamily="34" charset="0"/>
                <a:buNone/>
                <a:defRPr kumimoji="0" lang="en-US" sz="1400" b="0" i="0" u="none" strike="noStrike" kern="0" cap="none" spc="0" normalizeH="0" baseline="0" smtClean="0">
                  <a:ln w="3175">
                    <a:noFill/>
                  </a:ln>
                  <a:effectLst/>
                  <a:uLnTx/>
                  <a:uFillTx/>
                  <a:latin typeface="+mj-lt"/>
                  <a:ea typeface="Segoe UI Regular" pitchFamily="34" charset="-122"/>
                  <a:cs typeface="Segoe UI" panose="020B0502040204020203" pitchFamily="34" charset="0"/>
                </a:defRPr>
              </a:lvl1pPr>
              <a:lvl2pPr marL="0" lvl="1" indent="0">
                <a:lnSpc>
                  <a:spcPct val="100000"/>
                </a:lnSpc>
                <a:spcBef>
                  <a:spcPts val="0"/>
                </a:spcBef>
                <a:buFont typeface="Arial" panose="020B0604020202020204" pitchFamily="34" charset="0"/>
                <a:buNone/>
                <a:defRPr lang="en-US" sz="1100" dirty="0" smtClean="0">
                  <a:solidFill>
                    <a:schemeClr val="tx2"/>
                  </a:solidFill>
                </a:defRPr>
              </a:lvl2pPr>
              <a:lvl3pPr marL="1200150" indent="-285750">
                <a:lnSpc>
                  <a:spcPct val="100000"/>
                </a:lnSpc>
                <a:spcBef>
                  <a:spcPts val="500"/>
                </a:spcBef>
                <a:buFont typeface="Arial" panose="020B0604020202020204" pitchFamily="34" charset="0"/>
                <a:buChar char="•"/>
                <a:defRPr lang="en-US" sz="1100" smtClean="0">
                  <a:solidFill>
                    <a:schemeClr val="tx2"/>
                  </a:solidFill>
                </a:defRPr>
              </a:lvl3pPr>
              <a:lvl4pPr marL="1657350" indent="-285750">
                <a:lnSpc>
                  <a:spcPct val="100000"/>
                </a:lnSpc>
                <a:spcBef>
                  <a:spcPts val="500"/>
                </a:spcBef>
                <a:buFont typeface="Arial" panose="020B0604020202020204" pitchFamily="34" charset="0"/>
                <a:buChar char="•"/>
                <a:defRPr lang="en-US" sz="1100" smtClean="0">
                  <a:solidFill>
                    <a:schemeClr val="tx2"/>
                  </a:solidFill>
                </a:defRPr>
              </a:lvl4pPr>
              <a:lvl5pPr marL="2114550" indent="-285750">
                <a:lnSpc>
                  <a:spcPct val="100000"/>
                </a:lnSpc>
                <a:spcBef>
                  <a:spcPts val="500"/>
                </a:spcBef>
                <a:buFont typeface="Arial" panose="020B0604020202020204" pitchFamily="34" charset="0"/>
                <a:buChar char="•"/>
                <a:defRPr lang="en-US">
                  <a:solidFill>
                    <a:schemeClr val="tx2"/>
                  </a:solidFill>
                </a:defRPr>
              </a:lvl5pPr>
              <a:lvl6pPr marL="2514600" indent="-228600">
                <a:lnSpc>
                  <a:spcPct val="90000"/>
                </a:lnSpc>
                <a:spcBef>
                  <a:spcPts val="500"/>
                </a:spcBef>
                <a:buFont typeface="Arial" panose="020B0604020202020204" pitchFamily="34" charset="0"/>
                <a:buChar char="•"/>
                <a:defRPr>
                  <a:solidFill>
                    <a:schemeClr val="lt1"/>
                  </a:solidFill>
                </a:defRPr>
              </a:lvl6pPr>
              <a:lvl7pPr marL="2971800" indent="-228600">
                <a:lnSpc>
                  <a:spcPct val="90000"/>
                </a:lnSpc>
                <a:spcBef>
                  <a:spcPts val="500"/>
                </a:spcBef>
                <a:buFont typeface="Arial" panose="020B0604020202020204" pitchFamily="34" charset="0"/>
                <a:buChar char="•"/>
                <a:defRPr>
                  <a:solidFill>
                    <a:schemeClr val="lt1"/>
                  </a:solidFill>
                </a:defRPr>
              </a:lvl7pPr>
              <a:lvl8pPr marL="3429000" indent="-228600">
                <a:lnSpc>
                  <a:spcPct val="90000"/>
                </a:lnSpc>
                <a:spcBef>
                  <a:spcPts val="500"/>
                </a:spcBef>
                <a:buFont typeface="Arial" panose="020B0604020202020204" pitchFamily="34" charset="0"/>
                <a:buChar char="•"/>
                <a:defRPr>
                  <a:solidFill>
                    <a:schemeClr val="lt1"/>
                  </a:solidFill>
                </a:defRPr>
              </a:lvl8pPr>
              <a:lvl9pPr marL="3886200" indent="-228600">
                <a:lnSpc>
                  <a:spcPct val="90000"/>
                </a:lnSpc>
                <a:spcBef>
                  <a:spcPts val="500"/>
                </a:spcBef>
                <a:buFont typeface="Arial" panose="020B0604020202020204" pitchFamily="34" charset="0"/>
                <a:buChar char="•"/>
                <a:defRPr>
                  <a:solidFill>
                    <a:schemeClr val="lt1"/>
                  </a:solidFill>
                </a:defRPr>
              </a:lvl9pPr>
            </a:lstStyle>
            <a:p>
              <a:endParaRPr lang="en-US"/>
            </a:p>
          </p:txBody>
        </p:sp>
        <p:sp>
          <p:nvSpPr>
            <p:cNvPr id="11" name="arrow_16">
              <a:extLst>
                <a:ext uri="{FF2B5EF4-FFF2-40B4-BE49-F238E27FC236}">
                  <a16:creationId xmlns:a16="http://schemas.microsoft.com/office/drawing/2014/main" id="{7BE8A81A-8E15-9615-1D56-1304DD99F2AA}"/>
                </a:ext>
                <a:ext uri="{C183D7F6-B498-43B3-948B-1728B52AA6E4}">
                  <adec:decorative xmlns:adec="http://schemas.microsoft.com/office/drawing/2017/decorative" val="1"/>
                </a:ext>
              </a:extLst>
            </p:cNvPr>
            <p:cNvSpPr>
              <a:spLocks noChangeAspect="1" noEditPoints="1"/>
            </p:cNvSpPr>
            <p:nvPr/>
          </p:nvSpPr>
          <p:spPr bwMode="auto">
            <a:xfrm>
              <a:off x="708023" y="4839920"/>
              <a:ext cx="228600" cy="168490"/>
            </a:xfrm>
            <a:custGeom>
              <a:avLst/>
              <a:gdLst>
                <a:gd name="T0" fmla="*/ 347 w 347"/>
                <a:gd name="T1" fmla="*/ 206 h 254"/>
                <a:gd name="T2" fmla="*/ 182 w 347"/>
                <a:gd name="T3" fmla="*/ 151 h 254"/>
                <a:gd name="T4" fmla="*/ 135 w 347"/>
                <a:gd name="T5" fmla="*/ 101 h 254"/>
                <a:gd name="T6" fmla="*/ 0 w 347"/>
                <a:gd name="T7" fmla="*/ 47 h 254"/>
                <a:gd name="T8" fmla="*/ 347 w 347"/>
                <a:gd name="T9" fmla="*/ 48 h 254"/>
                <a:gd name="T10" fmla="*/ 158 w 347"/>
                <a:gd name="T11" fmla="*/ 130 h 254"/>
                <a:gd name="T12" fmla="*/ 0 w 347"/>
                <a:gd name="T13" fmla="*/ 207 h 254"/>
                <a:gd name="T14" fmla="*/ 299 w 347"/>
                <a:gd name="T15" fmla="*/ 95 h 254"/>
                <a:gd name="T16" fmla="*/ 347 w 347"/>
                <a:gd name="T17" fmla="*/ 48 h 254"/>
                <a:gd name="T18" fmla="*/ 299 w 347"/>
                <a:gd name="T19" fmla="*/ 0 h 254"/>
                <a:gd name="T20" fmla="*/ 299 w 347"/>
                <a:gd name="T21" fmla="*/ 254 h 254"/>
                <a:gd name="T22" fmla="*/ 347 w 347"/>
                <a:gd name="T23" fmla="*/ 206 h 254"/>
                <a:gd name="T24" fmla="*/ 299 w 347"/>
                <a:gd name="T25" fmla="*/ 158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7" h="254">
                  <a:moveTo>
                    <a:pt x="347" y="206"/>
                  </a:moveTo>
                  <a:cubicBezTo>
                    <a:pt x="258" y="212"/>
                    <a:pt x="213" y="183"/>
                    <a:pt x="182" y="151"/>
                  </a:cubicBezTo>
                  <a:moveTo>
                    <a:pt x="135" y="101"/>
                  </a:moveTo>
                  <a:cubicBezTo>
                    <a:pt x="74" y="47"/>
                    <a:pt x="0" y="47"/>
                    <a:pt x="0" y="47"/>
                  </a:cubicBezTo>
                  <a:moveTo>
                    <a:pt x="347" y="48"/>
                  </a:moveTo>
                  <a:cubicBezTo>
                    <a:pt x="232" y="41"/>
                    <a:pt x="190" y="91"/>
                    <a:pt x="158" y="130"/>
                  </a:cubicBezTo>
                  <a:cubicBezTo>
                    <a:pt x="94" y="207"/>
                    <a:pt x="0" y="207"/>
                    <a:pt x="0" y="207"/>
                  </a:cubicBezTo>
                  <a:moveTo>
                    <a:pt x="299" y="95"/>
                  </a:moveTo>
                  <a:cubicBezTo>
                    <a:pt x="347" y="48"/>
                    <a:pt x="347" y="48"/>
                    <a:pt x="347" y="48"/>
                  </a:cubicBezTo>
                  <a:cubicBezTo>
                    <a:pt x="299" y="0"/>
                    <a:pt x="299" y="0"/>
                    <a:pt x="299" y="0"/>
                  </a:cubicBezTo>
                  <a:moveTo>
                    <a:pt x="299" y="254"/>
                  </a:moveTo>
                  <a:cubicBezTo>
                    <a:pt x="347" y="206"/>
                    <a:pt x="347" y="206"/>
                    <a:pt x="347" y="206"/>
                  </a:cubicBezTo>
                  <a:cubicBezTo>
                    <a:pt x="299" y="158"/>
                    <a:pt x="299" y="158"/>
                    <a:pt x="299" y="158"/>
                  </a:cubicBezTo>
                </a:path>
              </a:pathLst>
            </a:custGeom>
            <a:noFill/>
            <a:ln w="15875" cap="rnd">
              <a:gradFill>
                <a:gsLst>
                  <a:gs pos="3000">
                    <a:srgbClr val="0078D4"/>
                  </a:gs>
                  <a:gs pos="52000">
                    <a:srgbClr val="818EFF"/>
                  </a:gs>
                  <a:gs pos="35000">
                    <a:srgbClr val="2DB4FF"/>
                  </a:gs>
                  <a:gs pos="30000">
                    <a:srgbClr val="2DB4FF"/>
                  </a:gs>
                  <a:gs pos="70000">
                    <a:srgbClr val="D660FF"/>
                  </a:gs>
                  <a:gs pos="97000">
                    <a:srgbClr val="FEA87A"/>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spTree>
    <p:extLst>
      <p:ext uri="{BB962C8B-B14F-4D97-AF65-F5344CB8AC3E}">
        <p14:creationId xmlns:p14="http://schemas.microsoft.com/office/powerpoint/2010/main" val="4123755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87"/>
                                        </p:tgtEl>
                                        <p:attrNameLst>
                                          <p:attrName>style.visibility</p:attrName>
                                        </p:attrNameLst>
                                      </p:cBhvr>
                                      <p:to>
                                        <p:strVal val="visible"/>
                                      </p:to>
                                    </p:set>
                                    <p:animEffect transition="in" filter="fade">
                                      <p:cBhvr>
                                        <p:cTn id="7" dur="5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a:stretch>
        </a:blipFill>
        <a:effectLst/>
      </p:bgPr>
    </p:bg>
    <p:spTree>
      <p:nvGrpSpPr>
        <p:cNvPr id="1" name="">
          <a:extLst>
            <a:ext uri="{FF2B5EF4-FFF2-40B4-BE49-F238E27FC236}">
              <a16:creationId xmlns:a16="http://schemas.microsoft.com/office/drawing/2014/main" id="{92614FF3-1B64-33BC-CC4E-E5484ACCBAE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4C9F444-229A-5978-E3FA-D7862811D112}"/>
              </a:ext>
            </a:extLst>
          </p:cNvPr>
          <p:cNvSpPr>
            <a:spLocks noGrp="1"/>
          </p:cNvSpPr>
          <p:nvPr>
            <p:ph type="title"/>
          </p:nvPr>
        </p:nvSpPr>
        <p:spPr/>
        <p:txBody>
          <a:bodyPr/>
          <a:lstStyle/>
          <a:p>
            <a:r>
              <a:rPr lang="en-US" dirty="0"/>
              <a:t>Example offer for </a:t>
            </a:r>
            <a:r>
              <a:rPr lang="en-US" dirty="0">
                <a:ln w="3175">
                  <a:noFill/>
                </a:ln>
                <a:solidFill>
                  <a:schemeClr val="accent4"/>
                </a:solidFill>
                <a:latin typeface="Segoe UI Semibold"/>
                <a:ea typeface="+mn-ea"/>
                <a:cs typeface="Segoe UI" panose="020B0502040204020203" pitchFamily="34" charset="0"/>
              </a:rPr>
              <a:t>Finance</a:t>
            </a:r>
          </a:p>
        </p:txBody>
      </p:sp>
      <p:sp>
        <p:nvSpPr>
          <p:cNvPr id="2" name="Footer Placeholder 1">
            <a:extLst>
              <a:ext uri="{FF2B5EF4-FFF2-40B4-BE49-F238E27FC236}">
                <a16:creationId xmlns:a16="http://schemas.microsoft.com/office/drawing/2014/main" id="{A21AA22E-026F-2913-FD72-0B1132152851}"/>
              </a:ext>
            </a:extLst>
          </p:cNvPr>
          <p:cNvSpPr>
            <a:spLocks noGrp="1"/>
          </p:cNvSpPr>
          <p:nvPr>
            <p:ph type="ftr" sz="quarter" idx="10"/>
          </p:nvPr>
        </p:nvSpPr>
        <p:spPr/>
        <p:txBody>
          <a:bodyPr/>
          <a:lstStyle/>
          <a:p>
            <a:pPr defTabSz="914367">
              <a:defRPr/>
            </a:pPr>
            <a:r>
              <a:rPr lang="en-US"/>
              <a:t>Building Customer-Centric Services offers</a:t>
            </a:r>
          </a:p>
        </p:txBody>
      </p:sp>
      <p:sp>
        <p:nvSpPr>
          <p:cNvPr id="124" name="Slide Number Placeholder 123">
            <a:extLst>
              <a:ext uri="{FF2B5EF4-FFF2-40B4-BE49-F238E27FC236}">
                <a16:creationId xmlns:a16="http://schemas.microsoft.com/office/drawing/2014/main" id="{2260037A-4F1A-A63F-9CD2-DED1FCD16E9A}"/>
              </a:ext>
            </a:extLst>
          </p:cNvPr>
          <p:cNvSpPr>
            <a:spLocks noGrp="1"/>
          </p:cNvSpPr>
          <p:nvPr>
            <p:ph type="sldNum" sz="quarter" idx="11"/>
          </p:nvPr>
        </p:nvSpPr>
        <p:spPr/>
        <p:txBody>
          <a:bodyPr/>
          <a:lstStyle/>
          <a:p>
            <a:pPr defTabSz="914367">
              <a:defRPr/>
            </a:pPr>
            <a:fld id="{2A20A09D-1A50-4CA5-89CD-EDD3F91B2117}" type="slidenum">
              <a:rPr lang="en-US" smtClean="0"/>
              <a:pPr defTabSz="914367">
                <a:defRPr/>
              </a:pPr>
              <a:t>23</a:t>
            </a:fld>
            <a:endParaRPr lang="en-US"/>
          </a:p>
        </p:txBody>
      </p:sp>
      <p:sp>
        <p:nvSpPr>
          <p:cNvPr id="4" name="Text Placeholder 3">
            <a:extLst>
              <a:ext uri="{FF2B5EF4-FFF2-40B4-BE49-F238E27FC236}">
                <a16:creationId xmlns:a16="http://schemas.microsoft.com/office/drawing/2014/main" id="{D14B03AA-ADCF-F81A-4BDC-1882AAED92C0}"/>
              </a:ext>
            </a:extLst>
          </p:cNvPr>
          <p:cNvSpPr>
            <a:spLocks noGrp="1"/>
          </p:cNvSpPr>
          <p:nvPr>
            <p:ph type="body" sz="quarter" idx="12"/>
          </p:nvPr>
        </p:nvSpPr>
        <p:spPr>
          <a:xfrm>
            <a:off x="812800" y="1267932"/>
            <a:ext cx="4711700" cy="1377672"/>
          </a:xfrm>
        </p:spPr>
        <p:txBody>
          <a:bodyPr wrap="square" lIns="457200">
            <a:spAutoFit/>
          </a:bodyPr>
          <a:lstStyle/>
          <a:p>
            <a:r>
              <a:rPr lang="en-US" kern="1200" dirty="0">
                <a:ea typeface="+mn-ea"/>
              </a:rPr>
              <a:t>Goals and challenges</a:t>
            </a:r>
          </a:p>
          <a:p>
            <a:pPr lvl="1"/>
            <a:r>
              <a:rPr lang="en-US" sz="1000" dirty="0"/>
              <a:t>AI is transforming crucial tasks in Finance, such as budgeting, forecasting, financial analysis, and corporate performance management. AI-guided experiences can provide the ability to analyze vast amounts of data, utilize process-based data models to uncover valuable insights, and enhance the accuracy of financial projections.</a:t>
            </a:r>
          </a:p>
        </p:txBody>
      </p:sp>
      <p:sp>
        <p:nvSpPr>
          <p:cNvPr id="5" name="Text Placeholder 4">
            <a:extLst>
              <a:ext uri="{FF2B5EF4-FFF2-40B4-BE49-F238E27FC236}">
                <a16:creationId xmlns:a16="http://schemas.microsoft.com/office/drawing/2014/main" id="{B0463BEA-58F1-3170-D6FA-7C956CB4EC21}"/>
              </a:ext>
            </a:extLst>
          </p:cNvPr>
          <p:cNvSpPr>
            <a:spLocks noGrp="1"/>
          </p:cNvSpPr>
          <p:nvPr>
            <p:ph type="body" sz="quarter" idx="13"/>
          </p:nvPr>
        </p:nvSpPr>
        <p:spPr>
          <a:prstGeom prst="roundRect">
            <a:avLst>
              <a:gd name="adj" fmla="val 7581"/>
            </a:avLst>
          </a:prstGeom>
          <a:solidFill>
            <a:schemeClr val="bg1">
              <a:alpha val="31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457200" tIns="137160" rIns="137160" bIns="137160" numCol="1" spcCol="0" rtlCol="0" fromWordArt="0" anchor="t" anchorCtr="0" forceAA="0" compatLnSpc="1">
            <a:prstTxWarp prst="textNoShape">
              <a:avLst/>
            </a:prstTxWarp>
            <a:noAutofit/>
          </a:bodyPr>
          <a:lstStyle/>
          <a:p>
            <a:pPr marL="0" indent="0">
              <a:spcAft>
                <a:spcPts val="600"/>
              </a:spcAft>
              <a:buNone/>
            </a:pPr>
            <a:r>
              <a:rPr lang="en-US" kern="1200">
                <a:ea typeface="+mn-ea"/>
              </a:rPr>
              <a:t>Transform Finance processes with Copilot and [Insert Partner Offer]</a:t>
            </a:r>
          </a:p>
          <a:p>
            <a:pPr marL="0" lvl="1" indent="0">
              <a:spcBef>
                <a:spcPts val="0"/>
              </a:spcBef>
              <a:buNone/>
            </a:pPr>
            <a:r>
              <a:rPr lang="en-US" sz="1000"/>
              <a:t>[Insert partner offer summary] </a:t>
            </a:r>
          </a:p>
        </p:txBody>
      </p:sp>
      <p:sp>
        <p:nvSpPr>
          <p:cNvPr id="6" name="Text Placeholder 5">
            <a:extLst>
              <a:ext uri="{FF2B5EF4-FFF2-40B4-BE49-F238E27FC236}">
                <a16:creationId xmlns:a16="http://schemas.microsoft.com/office/drawing/2014/main" id="{AF3D5C64-C638-D1EA-08CC-0DC7F39A23EE}"/>
              </a:ext>
            </a:extLst>
          </p:cNvPr>
          <p:cNvSpPr>
            <a:spLocks noGrp="1"/>
          </p:cNvSpPr>
          <p:nvPr>
            <p:ph type="body" sz="quarter" idx="14"/>
          </p:nvPr>
        </p:nvSpPr>
        <p:spPr>
          <a:xfrm>
            <a:off x="812800" y="2998349"/>
            <a:ext cx="4711700" cy="1480932"/>
          </a:xfrm>
          <a:solidFill>
            <a:schemeClr val="bg1">
              <a:alpha val="31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457200" tIns="137160" rIns="137160" bIns="137160" numCol="1" spcCol="0" rtlCol="0" fromWordArt="0" anchor="t" anchorCtr="0" forceAA="0" compatLnSpc="1">
            <a:prstTxWarp prst="textNoShape">
              <a:avLst/>
            </a:prstTxWarp>
            <a:spAutoFit/>
          </a:bodyPr>
          <a:lstStyle/>
          <a:p>
            <a:pPr marL="0" indent="0">
              <a:spcAft>
                <a:spcPts val="600"/>
              </a:spcAft>
              <a:buNone/>
            </a:pPr>
            <a:r>
              <a:rPr lang="en-US" kern="1200" dirty="0">
                <a:ea typeface="+mn-ea"/>
              </a:rPr>
              <a:t>Copilot can assist with…</a:t>
            </a:r>
          </a:p>
          <a:p>
            <a:pPr marL="0" marR="0" lvl="0" indent="0" algn="l" defTabSz="582780" rtl="0" eaLnBrk="1" fontAlgn="auto" latinLnBrk="0" hangingPunct="1">
              <a:lnSpc>
                <a:spcPct val="110000"/>
              </a:lnSpc>
              <a:spcBef>
                <a:spcPct val="0"/>
              </a:spcBef>
              <a:spcAft>
                <a:spcPts val="300"/>
              </a:spcAft>
              <a:buClrTx/>
              <a:buSzTx/>
              <a:buFont typeface="Wingdings" panose="05000000000000000000" pitchFamily="2" charset="2"/>
              <a:buNone/>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Semilight" panose="020B0402040204020203" pitchFamily="34" charset="0"/>
              </a:rPr>
              <a:t>Copilot helps you improve Finance processes and access to information. </a:t>
            </a:r>
            <a:endParaRPr lang="en-US" sz="1000" dirty="0">
              <a:solidFill>
                <a:srgbClr val="2585D6"/>
              </a:solidFill>
              <a:latin typeface="Segoe UI Semibold" panose="020B0702040204020203" pitchFamily="34" charset="0"/>
              <a:cs typeface="Segoe UI Semibold" panose="020B0702040204020203" pitchFamily="34" charset="0"/>
            </a:endParaRPr>
          </a:p>
          <a:p>
            <a:pPr marL="114300" indent="-114300" defTabSz="582780">
              <a:lnSpc>
                <a:spcPct val="110000"/>
              </a:lnSpc>
              <a:spcBef>
                <a:spcPct val="0"/>
              </a:spcBef>
              <a:buClr>
                <a:schemeClr val="tx1"/>
              </a:buClr>
              <a:buSzTx/>
              <a:buFont typeface="Arial" panose="020B0604020202020204" pitchFamily="34" charset="0"/>
              <a:buChar char="•"/>
              <a:defRPr/>
            </a:pPr>
            <a:r>
              <a:rPr kumimoji="0" lang="en-US" sz="1000" b="0" i="0" u="none" strike="noStrike" kern="1200" cap="none" spc="0" normalizeH="0" baseline="0" noProof="0" dirty="0">
                <a:ln>
                  <a:noFill/>
                </a:ln>
                <a:effectLst/>
                <a:uLnTx/>
                <a:uFillTx/>
                <a:latin typeface="+mn-lt"/>
                <a:cs typeface="Segoe UI Semibold" panose="020B0702040204020203" pitchFamily="34" charset="0"/>
              </a:rPr>
              <a:t>Optimize your financial</a:t>
            </a:r>
            <a:br>
              <a:rPr kumimoji="0" lang="en-US" sz="1000" b="0" i="0" u="none" strike="noStrike" kern="1200" cap="none" spc="0" normalizeH="0" baseline="0" noProof="0" dirty="0">
                <a:ln>
                  <a:noFill/>
                </a:ln>
                <a:effectLst/>
                <a:uLnTx/>
                <a:uFillTx/>
                <a:latin typeface="+mn-lt"/>
                <a:cs typeface="Segoe UI Semibold" panose="020B0702040204020203" pitchFamily="34" charset="0"/>
              </a:rPr>
            </a:br>
            <a:r>
              <a:rPr kumimoji="0" lang="en-US" sz="1000" b="0" i="0" u="none" strike="noStrike" kern="1200" cap="none" spc="0" normalizeH="0" baseline="0" noProof="0" dirty="0">
                <a:ln>
                  <a:noFill/>
                </a:ln>
                <a:effectLst/>
                <a:uLnTx/>
                <a:uFillTx/>
                <a:latin typeface="+mn-lt"/>
                <a:cs typeface="Segoe UI Semibold" panose="020B0702040204020203" pitchFamily="34" charset="0"/>
              </a:rPr>
              <a:t>operations</a:t>
            </a:r>
            <a:endParaRPr kumimoji="0" lang="en-US" sz="1000" b="0" i="0" u="none" strike="noStrike" kern="1200" cap="none" spc="0" normalizeH="0" baseline="0" noProof="0" dirty="0">
              <a:ln>
                <a:noFill/>
              </a:ln>
              <a:effectLst/>
              <a:uLnTx/>
              <a:uFillTx/>
              <a:latin typeface="+mn-lt"/>
              <a:ea typeface="+mn-ea"/>
              <a:cs typeface="Segoe UI Semibold" panose="020B0702040204020203" pitchFamily="34" charset="0"/>
            </a:endParaRPr>
          </a:p>
          <a:p>
            <a:pPr marL="114300" indent="-114300" defTabSz="582780">
              <a:lnSpc>
                <a:spcPct val="110000"/>
              </a:lnSpc>
              <a:spcBef>
                <a:spcPct val="0"/>
              </a:spcBef>
              <a:buClr>
                <a:schemeClr val="tx1"/>
              </a:buClr>
              <a:buSzTx/>
              <a:buFont typeface="Arial" panose="020B0604020202020204" pitchFamily="34" charset="0"/>
              <a:buChar char="•"/>
              <a:defRPr/>
            </a:pPr>
            <a:r>
              <a:rPr kumimoji="0" lang="en-US" sz="1000" b="0" i="0" u="none" strike="noStrike" kern="1200" cap="none" spc="0" normalizeH="0" baseline="0" noProof="0" dirty="0">
                <a:ln>
                  <a:noFill/>
                </a:ln>
                <a:effectLst/>
                <a:uLnTx/>
                <a:uFillTx/>
                <a:latin typeface="+mn-lt"/>
                <a:ea typeface="+mn-ea"/>
                <a:cs typeface="Segoe UI Semibold" panose="020B0702040204020203" pitchFamily="34" charset="0"/>
              </a:rPr>
              <a:t>Contract review </a:t>
            </a:r>
          </a:p>
          <a:p>
            <a:pPr marL="114300" marR="0" lvl="0" indent="-114300" algn="l" defTabSz="582780" rtl="0" eaLnBrk="1" fontAlgn="auto" latinLnBrk="0" hangingPunct="1">
              <a:lnSpc>
                <a:spcPct val="110000"/>
              </a:lnSpc>
              <a:spcBef>
                <a:spcPct val="0"/>
              </a:spcBef>
              <a:buClr>
                <a:schemeClr val="tx1"/>
              </a:buClr>
              <a:buSzTx/>
              <a:buFont typeface="Arial" panose="020B0604020202020204" pitchFamily="34" charset="0"/>
              <a:buChar char="•"/>
              <a:tabLst/>
              <a:defRPr/>
            </a:pPr>
            <a:r>
              <a:rPr kumimoji="0" lang="en-US" sz="1000" b="0" i="0" u="none" strike="noStrike" kern="1200" cap="none" spc="0" normalizeH="0" baseline="0" noProof="0" dirty="0">
                <a:ln>
                  <a:noFill/>
                </a:ln>
                <a:effectLst/>
                <a:uLnTx/>
                <a:uFillTx/>
                <a:latin typeface="+mn-lt"/>
                <a:ea typeface="+mn-ea"/>
                <a:cs typeface="Segoe UI Semibold" panose="020B0702040204020203" pitchFamily="34" charset="0"/>
              </a:rPr>
              <a:t>Collections coordination</a:t>
            </a:r>
          </a:p>
        </p:txBody>
      </p:sp>
      <p:sp>
        <p:nvSpPr>
          <p:cNvPr id="7" name="Text Placeholder 6">
            <a:extLst>
              <a:ext uri="{FF2B5EF4-FFF2-40B4-BE49-F238E27FC236}">
                <a16:creationId xmlns:a16="http://schemas.microsoft.com/office/drawing/2014/main" id="{C670294B-5D97-7BFB-7661-1AEDCE6CEFA6}"/>
              </a:ext>
            </a:extLst>
          </p:cNvPr>
          <p:cNvSpPr>
            <a:spLocks noGrp="1"/>
          </p:cNvSpPr>
          <p:nvPr>
            <p:ph type="body" sz="quarter" idx="15"/>
          </p:nvPr>
        </p:nvSpPr>
        <p:spPr>
          <a:prstGeom prst="roundRect">
            <a:avLst>
              <a:gd name="adj" fmla="val 3842"/>
            </a:avLst>
          </a:prstGeom>
          <a:gradFill>
            <a:gsLst>
              <a:gs pos="0">
                <a:schemeClr val="bg1">
                  <a:alpha val="30000"/>
                </a:schemeClr>
              </a:gs>
              <a:gs pos="100000">
                <a:schemeClr val="bg1">
                  <a:alpha val="50000"/>
                </a:schemeClr>
              </a:gs>
            </a:gsLst>
            <a:lin ang="0" scaled="0"/>
          </a:gradFill>
        </p:spPr>
        <p:txBody>
          <a:bodyPr/>
          <a:lstStyle/>
          <a:p>
            <a:pPr marL="0" indent="0">
              <a:spcAft>
                <a:spcPts val="600"/>
              </a:spcAft>
              <a:buNone/>
            </a:pPr>
            <a:r>
              <a:rPr lang="en-US" kern="1200">
                <a:ea typeface="+mn-ea"/>
              </a:rPr>
              <a:t>How Copilot and [Insert Partner Name] can help you achieve your goals...</a:t>
            </a:r>
          </a:p>
        </p:txBody>
      </p:sp>
      <p:sp>
        <p:nvSpPr>
          <p:cNvPr id="8" name="Text Placeholder 7">
            <a:extLst>
              <a:ext uri="{FF2B5EF4-FFF2-40B4-BE49-F238E27FC236}">
                <a16:creationId xmlns:a16="http://schemas.microsoft.com/office/drawing/2014/main" id="{AF58D5E9-6332-4AE7-9C0A-F9D1B2FFD15D}"/>
              </a:ext>
            </a:extLst>
          </p:cNvPr>
          <p:cNvSpPr>
            <a:spLocks noGrp="1"/>
          </p:cNvSpPr>
          <p:nvPr>
            <p:ph type="body" sz="quarter" idx="16"/>
          </p:nvPr>
        </p:nvSpPr>
        <p:spPr>
          <a:prstGeom prst="roundRect">
            <a:avLst>
              <a:gd name="adj" fmla="val 4108"/>
            </a:avLst>
          </a:prstGeom>
          <a:gradFill>
            <a:gsLst>
              <a:gs pos="0">
                <a:schemeClr val="bg1">
                  <a:alpha val="30000"/>
                </a:schemeClr>
              </a:gs>
              <a:gs pos="100000">
                <a:schemeClr val="bg1">
                  <a:alpha val="50000"/>
                </a:schemeClr>
              </a:gs>
            </a:gsLst>
            <a:lin ang="0" scaled="0"/>
          </a:gradFill>
        </p:spPr>
        <p:txBody>
          <a:bodyPr/>
          <a:lstStyle/>
          <a:p>
            <a:pPr marL="0" indent="0">
              <a:spcAft>
                <a:spcPts val="600"/>
              </a:spcAft>
              <a:buNone/>
            </a:pPr>
            <a:r>
              <a:rPr lang="en-US" kern="1200">
                <a:ea typeface="+mn-ea"/>
              </a:rPr>
              <a:t>Improve key functional KPIs</a:t>
            </a:r>
          </a:p>
        </p:txBody>
      </p:sp>
      <p:sp>
        <p:nvSpPr>
          <p:cNvPr id="14" name="Text Placeholder 2">
            <a:extLst>
              <a:ext uri="{FF2B5EF4-FFF2-40B4-BE49-F238E27FC236}">
                <a16:creationId xmlns:a16="http://schemas.microsoft.com/office/drawing/2014/main" id="{219A94C8-E01A-E495-8CA0-D7F06F0C71B9}"/>
              </a:ext>
              <a:ext uri="{C183D7F6-B498-43B3-948B-1728B52AA6E4}">
                <adec:decorative xmlns:adec="http://schemas.microsoft.com/office/drawing/2017/decorative" val="1"/>
              </a:ext>
            </a:extLst>
          </p:cNvPr>
          <p:cNvSpPr txBox="1">
            <a:spLocks/>
          </p:cNvSpPr>
          <p:nvPr/>
        </p:nvSpPr>
        <p:spPr>
          <a:xfrm>
            <a:off x="593723" y="1376685"/>
            <a:ext cx="457200" cy="457200"/>
          </a:xfrm>
          <a:prstGeom prst="ellipse">
            <a:avLst/>
          </a:prstGeom>
          <a:solidFill>
            <a:schemeClr val="bg1">
              <a:alpha val="74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640080" tIns="137160" rIns="137160" bIns="137160" numCol="1" spcCol="0" rtlCol="0" fromWordArt="0" anchor="t" anchorCtr="0" forceAA="0" compatLnSpc="1">
            <a:prstTxWarp prst="textNoShape">
              <a:avLst/>
            </a:prstTxWarp>
            <a:spAutoFit/>
          </a:bodyPr>
          <a:lstStyle>
            <a:lvl1pPr indent="0">
              <a:lnSpc>
                <a:spcPct val="100000"/>
              </a:lnSpc>
              <a:spcBef>
                <a:spcPts val="1000"/>
              </a:spcBef>
              <a:spcAft>
                <a:spcPts val="600"/>
              </a:spcAft>
              <a:buFont typeface="Arial" panose="020B0604020202020204" pitchFamily="34" charset="0"/>
              <a:buNone/>
              <a:defRPr kumimoji="0" lang="en-US" sz="1400" b="0" i="0" u="none" strike="noStrike" kern="0" cap="none" spc="0" normalizeH="0" baseline="0" smtClean="0">
                <a:ln w="3175">
                  <a:noFill/>
                </a:ln>
                <a:effectLst/>
                <a:uLnTx/>
                <a:uFillTx/>
                <a:latin typeface="+mj-lt"/>
                <a:ea typeface="Segoe UI Regular" pitchFamily="34" charset="-122"/>
                <a:cs typeface="Segoe UI" panose="020B0502040204020203" pitchFamily="34" charset="0"/>
              </a:defRPr>
            </a:lvl1pPr>
            <a:lvl2pPr marL="0" lvl="1" indent="0">
              <a:lnSpc>
                <a:spcPct val="100000"/>
              </a:lnSpc>
              <a:spcBef>
                <a:spcPts val="0"/>
              </a:spcBef>
              <a:buFont typeface="Arial" panose="020B0604020202020204" pitchFamily="34" charset="0"/>
              <a:buNone/>
              <a:defRPr lang="en-US" sz="1100" dirty="0" smtClean="0">
                <a:solidFill>
                  <a:schemeClr val="tx2"/>
                </a:solidFill>
              </a:defRPr>
            </a:lvl2pPr>
            <a:lvl3pPr marL="1200150" indent="-285750">
              <a:lnSpc>
                <a:spcPct val="100000"/>
              </a:lnSpc>
              <a:spcBef>
                <a:spcPts val="500"/>
              </a:spcBef>
              <a:buFont typeface="Arial" panose="020B0604020202020204" pitchFamily="34" charset="0"/>
              <a:buChar char="•"/>
              <a:defRPr lang="en-US" sz="1100" smtClean="0">
                <a:solidFill>
                  <a:schemeClr val="tx2"/>
                </a:solidFill>
              </a:defRPr>
            </a:lvl3pPr>
            <a:lvl4pPr marL="1657350" indent="-285750">
              <a:lnSpc>
                <a:spcPct val="100000"/>
              </a:lnSpc>
              <a:spcBef>
                <a:spcPts val="500"/>
              </a:spcBef>
              <a:buFont typeface="Arial" panose="020B0604020202020204" pitchFamily="34" charset="0"/>
              <a:buChar char="•"/>
              <a:defRPr lang="en-US" sz="1100" smtClean="0">
                <a:solidFill>
                  <a:schemeClr val="tx2"/>
                </a:solidFill>
              </a:defRPr>
            </a:lvl4pPr>
            <a:lvl5pPr marL="2114550" indent="-285750">
              <a:lnSpc>
                <a:spcPct val="100000"/>
              </a:lnSpc>
              <a:spcBef>
                <a:spcPts val="500"/>
              </a:spcBef>
              <a:buFont typeface="Arial" panose="020B0604020202020204" pitchFamily="34" charset="0"/>
              <a:buChar char="•"/>
              <a:defRPr lang="en-US">
                <a:solidFill>
                  <a:schemeClr val="tx2"/>
                </a:solidFill>
              </a:defRPr>
            </a:lvl5pPr>
            <a:lvl6pPr marL="2514600" indent="-228600">
              <a:lnSpc>
                <a:spcPct val="90000"/>
              </a:lnSpc>
              <a:spcBef>
                <a:spcPts val="500"/>
              </a:spcBef>
              <a:buFont typeface="Arial" panose="020B0604020202020204" pitchFamily="34" charset="0"/>
              <a:buChar char="•"/>
              <a:defRPr>
                <a:solidFill>
                  <a:schemeClr val="lt1"/>
                </a:solidFill>
              </a:defRPr>
            </a:lvl6pPr>
            <a:lvl7pPr marL="2971800" indent="-228600">
              <a:lnSpc>
                <a:spcPct val="90000"/>
              </a:lnSpc>
              <a:spcBef>
                <a:spcPts val="500"/>
              </a:spcBef>
              <a:buFont typeface="Arial" panose="020B0604020202020204" pitchFamily="34" charset="0"/>
              <a:buChar char="•"/>
              <a:defRPr>
                <a:solidFill>
                  <a:schemeClr val="lt1"/>
                </a:solidFill>
              </a:defRPr>
            </a:lvl7pPr>
            <a:lvl8pPr marL="3429000" indent="-228600">
              <a:lnSpc>
                <a:spcPct val="90000"/>
              </a:lnSpc>
              <a:spcBef>
                <a:spcPts val="500"/>
              </a:spcBef>
              <a:buFont typeface="Arial" panose="020B0604020202020204" pitchFamily="34" charset="0"/>
              <a:buChar char="•"/>
              <a:defRPr>
                <a:solidFill>
                  <a:schemeClr val="lt1"/>
                </a:solidFill>
              </a:defRPr>
            </a:lvl8pPr>
            <a:lvl9pPr marL="3886200" indent="-228600">
              <a:lnSpc>
                <a:spcPct val="90000"/>
              </a:lnSpc>
              <a:spcBef>
                <a:spcPts val="500"/>
              </a:spcBef>
              <a:buFont typeface="Arial" panose="020B0604020202020204" pitchFamily="34" charset="0"/>
              <a:buChar char="•"/>
              <a:defRPr>
                <a:solidFill>
                  <a:schemeClr val="lt1"/>
                </a:solidFill>
              </a:defRPr>
            </a:lvl9pPr>
          </a:lstStyle>
          <a:p>
            <a:endParaRPr lang="en-US"/>
          </a:p>
        </p:txBody>
      </p:sp>
      <p:sp>
        <p:nvSpPr>
          <p:cNvPr id="15" name="Graphic 120">
            <a:extLst>
              <a:ext uri="{FF2B5EF4-FFF2-40B4-BE49-F238E27FC236}">
                <a16:creationId xmlns:a16="http://schemas.microsoft.com/office/drawing/2014/main" id="{21AC77C9-CF15-65F0-E630-75A3AEE77F21}"/>
              </a:ext>
              <a:ext uri="{C183D7F6-B498-43B3-948B-1728B52AA6E4}">
                <adec:decorative xmlns:adec="http://schemas.microsoft.com/office/drawing/2017/decorative" val="1"/>
              </a:ext>
            </a:extLst>
          </p:cNvPr>
          <p:cNvSpPr>
            <a:spLocks noChangeAspect="1"/>
          </p:cNvSpPr>
          <p:nvPr/>
        </p:nvSpPr>
        <p:spPr>
          <a:xfrm>
            <a:off x="708023" y="1490985"/>
            <a:ext cx="228600" cy="228600"/>
          </a:xfrm>
          <a:custGeom>
            <a:avLst/>
            <a:gdLst>
              <a:gd name="connsiteX0" fmla="*/ 95269 w 190538"/>
              <a:gd name="connsiteY0" fmla="*/ 0 h 190538"/>
              <a:gd name="connsiteX1" fmla="*/ 127911 w 190538"/>
              <a:gd name="connsiteY1" fmla="*/ 5734 h 190538"/>
              <a:gd name="connsiteX2" fmla="*/ 116529 w 190538"/>
              <a:gd name="connsiteY2" fmla="*/ 17107 h 190538"/>
              <a:gd name="connsiteX3" fmla="*/ 17136 w 190538"/>
              <a:gd name="connsiteY3" fmla="*/ 74002 h 190538"/>
              <a:gd name="connsiteX4" fmla="*/ 74031 w 190538"/>
              <a:gd name="connsiteY4" fmla="*/ 173395 h 190538"/>
              <a:gd name="connsiteX5" fmla="*/ 173425 w 190538"/>
              <a:gd name="connsiteY5" fmla="*/ 116500 h 190538"/>
              <a:gd name="connsiteX6" fmla="*/ 173431 w 190538"/>
              <a:gd name="connsiteY6" fmla="*/ 74028 h 190538"/>
              <a:gd name="connsiteX7" fmla="*/ 184804 w 190538"/>
              <a:gd name="connsiteY7" fmla="*/ 62655 h 190538"/>
              <a:gd name="connsiteX8" fmla="*/ 190538 w 190538"/>
              <a:gd name="connsiteY8" fmla="*/ 95269 h 190538"/>
              <a:gd name="connsiteX9" fmla="*/ 95269 w 190538"/>
              <a:gd name="connsiteY9" fmla="*/ 190538 h 190538"/>
              <a:gd name="connsiteX10" fmla="*/ 0 w 190538"/>
              <a:gd name="connsiteY10" fmla="*/ 95269 h 190538"/>
              <a:gd name="connsiteX11" fmla="*/ 95269 w 190538"/>
              <a:gd name="connsiteY11" fmla="*/ 0 h 190538"/>
              <a:gd name="connsiteX12" fmla="*/ 95269 w 190538"/>
              <a:gd name="connsiteY12" fmla="*/ 38119 h 190538"/>
              <a:gd name="connsiteX13" fmla="*/ 109576 w 190538"/>
              <a:gd name="connsiteY13" fmla="*/ 39929 h 190538"/>
              <a:gd name="connsiteX14" fmla="*/ 109576 w 190538"/>
              <a:gd name="connsiteY14" fmla="*/ 54854 h 190538"/>
              <a:gd name="connsiteX15" fmla="*/ 54872 w 190538"/>
              <a:gd name="connsiteY15" fmla="*/ 80967 h 190538"/>
              <a:gd name="connsiteX16" fmla="*/ 80983 w 190538"/>
              <a:gd name="connsiteY16" fmla="*/ 135671 h 190538"/>
              <a:gd name="connsiteX17" fmla="*/ 135688 w 190538"/>
              <a:gd name="connsiteY17" fmla="*/ 109558 h 190538"/>
              <a:gd name="connsiteX18" fmla="*/ 135693 w 190538"/>
              <a:gd name="connsiteY18" fmla="*/ 80982 h 190538"/>
              <a:gd name="connsiteX19" fmla="*/ 150619 w 190538"/>
              <a:gd name="connsiteY19" fmla="*/ 80982 h 190538"/>
              <a:gd name="connsiteX20" fmla="*/ 109571 w 190538"/>
              <a:gd name="connsiteY20" fmla="*/ 150605 h 190538"/>
              <a:gd name="connsiteX21" fmla="*/ 39948 w 190538"/>
              <a:gd name="connsiteY21" fmla="*/ 109557 h 190538"/>
              <a:gd name="connsiteX22" fmla="*/ 80996 w 190538"/>
              <a:gd name="connsiteY22" fmla="*/ 39934 h 190538"/>
              <a:gd name="connsiteX23" fmla="*/ 95288 w 190538"/>
              <a:gd name="connsiteY23" fmla="*/ 38119 h 190538"/>
              <a:gd name="connsiteX24" fmla="*/ 114319 w 190538"/>
              <a:gd name="connsiteY24" fmla="*/ 95269 h 190538"/>
              <a:gd name="connsiteX25" fmla="*/ 95263 w 190538"/>
              <a:gd name="connsiteY25" fmla="*/ 114313 h 190538"/>
              <a:gd name="connsiteX26" fmla="*/ 76219 w 190538"/>
              <a:gd name="connsiteY26" fmla="*/ 95257 h 190538"/>
              <a:gd name="connsiteX27" fmla="*/ 95275 w 190538"/>
              <a:gd name="connsiteY27" fmla="*/ 76213 h 190538"/>
              <a:gd name="connsiteX28" fmla="*/ 102727 w 190538"/>
              <a:gd name="connsiteY28" fmla="*/ 77734 h 190538"/>
              <a:gd name="connsiteX29" fmla="*/ 119110 w 190538"/>
              <a:gd name="connsiteY29" fmla="*/ 61351 h 190538"/>
              <a:gd name="connsiteX30" fmla="*/ 119101 w 190538"/>
              <a:gd name="connsiteY30" fmla="*/ 30975 h 190538"/>
              <a:gd name="connsiteX31" fmla="*/ 121196 w 190538"/>
              <a:gd name="connsiteY31" fmla="*/ 25927 h 190538"/>
              <a:gd name="connsiteX32" fmla="*/ 145009 w 190538"/>
              <a:gd name="connsiteY32" fmla="*/ 2115 h 190538"/>
              <a:gd name="connsiteX33" fmla="*/ 155112 w 190538"/>
              <a:gd name="connsiteY33" fmla="*/ 2121 h 190538"/>
              <a:gd name="connsiteX34" fmla="*/ 157201 w 190538"/>
              <a:gd name="connsiteY34" fmla="*/ 7163 h 190538"/>
              <a:gd name="connsiteX35" fmla="*/ 157201 w 190538"/>
              <a:gd name="connsiteY35" fmla="*/ 33357 h 190538"/>
              <a:gd name="connsiteX36" fmla="*/ 183394 w 190538"/>
              <a:gd name="connsiteY36" fmla="*/ 33357 h 190538"/>
              <a:gd name="connsiteX37" fmla="*/ 190531 w 190538"/>
              <a:gd name="connsiteY37" fmla="*/ 40507 h 190538"/>
              <a:gd name="connsiteX38" fmla="*/ 188443 w 190538"/>
              <a:gd name="connsiteY38" fmla="*/ 45549 h 190538"/>
              <a:gd name="connsiteX39" fmla="*/ 164630 w 190538"/>
              <a:gd name="connsiteY39" fmla="*/ 69361 h 190538"/>
              <a:gd name="connsiteX40" fmla="*/ 159582 w 190538"/>
              <a:gd name="connsiteY40" fmla="*/ 71457 h 190538"/>
              <a:gd name="connsiteX41" fmla="*/ 129197 w 190538"/>
              <a:gd name="connsiteY41" fmla="*/ 71457 h 190538"/>
              <a:gd name="connsiteX42" fmla="*/ 112814 w 190538"/>
              <a:gd name="connsiteY42" fmla="*/ 87840 h 190538"/>
              <a:gd name="connsiteX43" fmla="*/ 114319 w 190538"/>
              <a:gd name="connsiteY43" fmla="*/ 95269 h 190538"/>
              <a:gd name="connsiteX44" fmla="*/ 156620 w 190538"/>
              <a:gd name="connsiteY44" fmla="*/ 57169 h 190538"/>
              <a:gd name="connsiteX45" fmla="*/ 166145 w 190538"/>
              <a:gd name="connsiteY45" fmla="*/ 47644 h 190538"/>
              <a:gd name="connsiteX46" fmla="*/ 150047 w 190538"/>
              <a:gd name="connsiteY46" fmla="*/ 47644 h 190538"/>
              <a:gd name="connsiteX47" fmla="*/ 142904 w 190538"/>
              <a:gd name="connsiteY47" fmla="*/ 40500 h 190538"/>
              <a:gd name="connsiteX48" fmla="*/ 142904 w 190538"/>
              <a:gd name="connsiteY48" fmla="*/ 24403 h 190538"/>
              <a:gd name="connsiteX49" fmla="*/ 133388 w 190538"/>
              <a:gd name="connsiteY49" fmla="*/ 33928 h 190538"/>
              <a:gd name="connsiteX50" fmla="*/ 133388 w 190538"/>
              <a:gd name="connsiteY50" fmla="*/ 56607 h 190538"/>
              <a:gd name="connsiteX51" fmla="*/ 133960 w 190538"/>
              <a:gd name="connsiteY51" fmla="*/ 57169 h 190538"/>
              <a:gd name="connsiteX52" fmla="*/ 156629 w 190538"/>
              <a:gd name="connsiteY52" fmla="*/ 57169 h 1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90538" h="190538">
                <a:moveTo>
                  <a:pt x="95269" y="0"/>
                </a:moveTo>
                <a:cubicBezTo>
                  <a:pt x="106737" y="0"/>
                  <a:pt x="117729" y="2029"/>
                  <a:pt x="127911" y="5734"/>
                </a:cubicBezTo>
                <a:lnTo>
                  <a:pt x="116529" y="17107"/>
                </a:lnTo>
                <a:cubicBezTo>
                  <a:pt x="73371" y="5372"/>
                  <a:pt x="28871" y="30844"/>
                  <a:pt x="17136" y="74002"/>
                </a:cubicBezTo>
                <a:cubicBezTo>
                  <a:pt x="5400" y="117160"/>
                  <a:pt x="30873" y="161659"/>
                  <a:pt x="74031" y="173395"/>
                </a:cubicBezTo>
                <a:cubicBezTo>
                  <a:pt x="117189" y="185131"/>
                  <a:pt x="161689" y="159658"/>
                  <a:pt x="173425" y="116500"/>
                </a:cubicBezTo>
                <a:cubicBezTo>
                  <a:pt x="177205" y="102596"/>
                  <a:pt x="177208" y="87934"/>
                  <a:pt x="173431" y="74028"/>
                </a:cubicBezTo>
                <a:lnTo>
                  <a:pt x="184804" y="62655"/>
                </a:lnTo>
                <a:cubicBezTo>
                  <a:pt x="188608" y="73108"/>
                  <a:pt x="190549" y="84146"/>
                  <a:pt x="190538" y="95269"/>
                </a:cubicBezTo>
                <a:cubicBezTo>
                  <a:pt x="190538" y="147885"/>
                  <a:pt x="147885" y="190538"/>
                  <a:pt x="95269" y="190538"/>
                </a:cubicBezTo>
                <a:cubicBezTo>
                  <a:pt x="42653" y="190538"/>
                  <a:pt x="0" y="147885"/>
                  <a:pt x="0" y="95269"/>
                </a:cubicBezTo>
                <a:cubicBezTo>
                  <a:pt x="0" y="42653"/>
                  <a:pt x="42653" y="0"/>
                  <a:pt x="95269" y="0"/>
                </a:cubicBezTo>
                <a:close/>
                <a:moveTo>
                  <a:pt x="95269" y="38119"/>
                </a:moveTo>
                <a:cubicBezTo>
                  <a:pt x="100095" y="38117"/>
                  <a:pt x="104902" y="38725"/>
                  <a:pt x="109576" y="39929"/>
                </a:cubicBezTo>
                <a:lnTo>
                  <a:pt x="109576" y="54854"/>
                </a:lnTo>
                <a:cubicBezTo>
                  <a:pt x="87259" y="46959"/>
                  <a:pt x="62767" y="58650"/>
                  <a:pt x="54872" y="80967"/>
                </a:cubicBezTo>
                <a:cubicBezTo>
                  <a:pt x="46976" y="103283"/>
                  <a:pt x="58667" y="127775"/>
                  <a:pt x="80983" y="135671"/>
                </a:cubicBezTo>
                <a:cubicBezTo>
                  <a:pt x="103301" y="143567"/>
                  <a:pt x="127792" y="131876"/>
                  <a:pt x="135688" y="109558"/>
                </a:cubicBezTo>
                <a:cubicBezTo>
                  <a:pt x="138958" y="100313"/>
                  <a:pt x="138960" y="90227"/>
                  <a:pt x="135693" y="80982"/>
                </a:cubicBezTo>
                <a:lnTo>
                  <a:pt x="150619" y="80982"/>
                </a:lnTo>
                <a:cubicBezTo>
                  <a:pt x="158509" y="111543"/>
                  <a:pt x="140132" y="142713"/>
                  <a:pt x="109571" y="150605"/>
                </a:cubicBezTo>
                <a:cubicBezTo>
                  <a:pt x="79010" y="158495"/>
                  <a:pt x="47839" y="140118"/>
                  <a:pt x="39948" y="109557"/>
                </a:cubicBezTo>
                <a:cubicBezTo>
                  <a:pt x="32058" y="78996"/>
                  <a:pt x="50435" y="47825"/>
                  <a:pt x="80996" y="39934"/>
                </a:cubicBezTo>
                <a:cubicBezTo>
                  <a:pt x="85664" y="38728"/>
                  <a:pt x="90467" y="38119"/>
                  <a:pt x="95288" y="38119"/>
                </a:cubicBezTo>
                <a:close/>
                <a:moveTo>
                  <a:pt x="114319" y="95269"/>
                </a:moveTo>
                <a:cubicBezTo>
                  <a:pt x="114315" y="105790"/>
                  <a:pt x="105784" y="114316"/>
                  <a:pt x="95263" y="114313"/>
                </a:cubicBezTo>
                <a:cubicBezTo>
                  <a:pt x="84742" y="114310"/>
                  <a:pt x="76216" y="105778"/>
                  <a:pt x="76219" y="95257"/>
                </a:cubicBezTo>
                <a:cubicBezTo>
                  <a:pt x="76222" y="84735"/>
                  <a:pt x="84754" y="76210"/>
                  <a:pt x="95275" y="76213"/>
                </a:cubicBezTo>
                <a:cubicBezTo>
                  <a:pt x="97836" y="76214"/>
                  <a:pt x="100371" y="76731"/>
                  <a:pt x="102727" y="77734"/>
                </a:cubicBezTo>
                <a:lnTo>
                  <a:pt x="119110" y="61351"/>
                </a:lnTo>
                <a:lnTo>
                  <a:pt x="119101" y="30975"/>
                </a:lnTo>
                <a:cubicBezTo>
                  <a:pt x="119103" y="29081"/>
                  <a:pt x="119856" y="27266"/>
                  <a:pt x="121196" y="25927"/>
                </a:cubicBezTo>
                <a:lnTo>
                  <a:pt x="145009" y="2115"/>
                </a:lnTo>
                <a:cubicBezTo>
                  <a:pt x="147800" y="-674"/>
                  <a:pt x="152323" y="-671"/>
                  <a:pt x="155112" y="2121"/>
                </a:cubicBezTo>
                <a:cubicBezTo>
                  <a:pt x="156447" y="3459"/>
                  <a:pt x="157199" y="5272"/>
                  <a:pt x="157201" y="7163"/>
                </a:cubicBezTo>
                <a:lnTo>
                  <a:pt x="157201" y="33357"/>
                </a:lnTo>
                <a:lnTo>
                  <a:pt x="183394" y="33357"/>
                </a:lnTo>
                <a:cubicBezTo>
                  <a:pt x="187340" y="33360"/>
                  <a:pt x="190535" y="36561"/>
                  <a:pt x="190531" y="40507"/>
                </a:cubicBezTo>
                <a:cubicBezTo>
                  <a:pt x="190530" y="42397"/>
                  <a:pt x="189779" y="44211"/>
                  <a:pt x="188443" y="45549"/>
                </a:cubicBezTo>
                <a:lnTo>
                  <a:pt x="164630" y="69361"/>
                </a:lnTo>
                <a:cubicBezTo>
                  <a:pt x="163292" y="70701"/>
                  <a:pt x="161475" y="71455"/>
                  <a:pt x="159582" y="71457"/>
                </a:cubicBezTo>
                <a:lnTo>
                  <a:pt x="129197" y="71457"/>
                </a:lnTo>
                <a:lnTo>
                  <a:pt x="112814" y="87840"/>
                </a:lnTo>
                <a:cubicBezTo>
                  <a:pt x="113786" y="90126"/>
                  <a:pt x="114319" y="92631"/>
                  <a:pt x="114319" y="95269"/>
                </a:cubicBezTo>
                <a:close/>
                <a:moveTo>
                  <a:pt x="156620" y="57169"/>
                </a:moveTo>
                <a:lnTo>
                  <a:pt x="166145" y="47644"/>
                </a:lnTo>
                <a:lnTo>
                  <a:pt x="150047" y="47644"/>
                </a:lnTo>
                <a:cubicBezTo>
                  <a:pt x="146102" y="47644"/>
                  <a:pt x="142904" y="44446"/>
                  <a:pt x="142904" y="40500"/>
                </a:cubicBezTo>
                <a:lnTo>
                  <a:pt x="142904" y="24403"/>
                </a:lnTo>
                <a:lnTo>
                  <a:pt x="133388" y="33928"/>
                </a:lnTo>
                <a:lnTo>
                  <a:pt x="133388" y="56607"/>
                </a:lnTo>
                <a:cubicBezTo>
                  <a:pt x="133590" y="56783"/>
                  <a:pt x="133781" y="56970"/>
                  <a:pt x="133960" y="57169"/>
                </a:cubicBezTo>
                <a:lnTo>
                  <a:pt x="156629" y="57169"/>
                </a:ln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Placeholder 5">
            <a:extLst>
              <a:ext uri="{FF2B5EF4-FFF2-40B4-BE49-F238E27FC236}">
                <a16:creationId xmlns:a16="http://schemas.microsoft.com/office/drawing/2014/main" id="{4FF06C5F-EA41-0535-970C-059C2D2B496B}"/>
              </a:ext>
            </a:extLst>
          </p:cNvPr>
          <p:cNvSpPr txBox="1">
            <a:spLocks/>
          </p:cNvSpPr>
          <p:nvPr/>
        </p:nvSpPr>
        <p:spPr>
          <a:xfrm>
            <a:off x="3013772" y="3654334"/>
            <a:ext cx="2472536" cy="492764"/>
          </a:xfrm>
          <a:prstGeom prst="rect">
            <a:avLst/>
          </a:prstGeom>
          <a:noFill/>
          <a:ln w="12700" cap="flat" cmpd="sng" algn="ctr">
            <a:noFill/>
            <a:prstDash val="solid"/>
            <a:miter lim="800000"/>
          </a:ln>
          <a:effectLst>
            <a:outerShdw blurRad="406400" dist="38100" dir="2700000" algn="tl" rotWithShape="0">
              <a:prstClr val="black">
                <a:alpha val="12000"/>
              </a:prstClr>
            </a:outerShdw>
          </a:effectLst>
        </p:spPr>
        <p:txBody>
          <a:bodyPr rot="0" spcFirstLastPara="0" vertOverflow="overflow" horzOverflow="overflow" vert="horz" wrap="square" lIns="292608" tIns="0" rIns="137160" bIns="0" numCol="1" spcCol="0" rtlCol="0" fromWordArt="0" anchor="t" anchorCtr="0" forceAA="0" compatLnSpc="1">
            <a:prstTxWarp prst="textNoShape">
              <a:avLst/>
            </a:prstTxWarp>
            <a:sp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0" lang="en-US" sz="1400" b="0" i="0" u="none" strike="noStrike" kern="0" cap="none" spc="0" normalizeH="0" baseline="0" dirty="0" smtClean="0">
                <a:ln w="3175">
                  <a:noFill/>
                </a:ln>
                <a:solidFill>
                  <a:schemeClr val="tx1"/>
                </a:solidFill>
                <a:effectLst/>
                <a:uLnTx/>
                <a:uFillTx/>
                <a:latin typeface="+mj-lt"/>
                <a:ea typeface="Segoe UI Regular" pitchFamily="34" charset="-122"/>
                <a:cs typeface="Segoe UI" panose="020B0502040204020203"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lang="en-US" sz="1100" kern="1200" dirty="0" smtClean="0">
                <a:solidFill>
                  <a:schemeClr val="tx2"/>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lang="en-US" sz="1100" kern="1200" dirty="0" smtClean="0">
                <a:solidFill>
                  <a:schemeClr val="tx2"/>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lang="en-US" sz="1100" kern="1200" dirty="0">
                <a:solidFill>
                  <a:schemeClr val="tx2"/>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0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114300" lvl="0" indent="-114300" defTabSz="582780">
              <a:lnSpc>
                <a:spcPct val="110000"/>
              </a:lnSpc>
              <a:spcBef>
                <a:spcPct val="0"/>
              </a:spcBef>
              <a:buClr>
                <a:schemeClr val="tx1"/>
              </a:buClr>
              <a:defRPr/>
            </a:pPr>
            <a:r>
              <a:rPr lang="en-US" sz="1000" kern="1200" dirty="0">
                <a:ln>
                  <a:noFill/>
                </a:ln>
                <a:latin typeface="+mn-lt"/>
                <a:cs typeface="Segoe UI Semibold" panose="020B0702040204020203" pitchFamily="34" charset="0"/>
              </a:rPr>
              <a:t>Accounting document evaluation </a:t>
            </a:r>
          </a:p>
          <a:p>
            <a:pPr marL="114300" lvl="0" indent="-114300" defTabSz="582780">
              <a:lnSpc>
                <a:spcPct val="110000"/>
              </a:lnSpc>
              <a:spcBef>
                <a:spcPct val="0"/>
              </a:spcBef>
              <a:buClr>
                <a:schemeClr val="tx1"/>
              </a:buClr>
              <a:defRPr/>
            </a:pPr>
            <a:r>
              <a:rPr lang="en-US" sz="1000" kern="1200" dirty="0">
                <a:ln>
                  <a:noFill/>
                </a:ln>
                <a:latin typeface="+mn-lt"/>
                <a:cs typeface="Segoe UI Semibold" panose="020B0702040204020203" pitchFamily="34" charset="0"/>
              </a:rPr>
              <a:t>Contract accounting guidance </a:t>
            </a:r>
          </a:p>
          <a:p>
            <a:pPr marL="114300" indent="-114300" defTabSz="582780">
              <a:lnSpc>
                <a:spcPct val="110000"/>
              </a:lnSpc>
              <a:spcBef>
                <a:spcPct val="0"/>
              </a:spcBef>
              <a:buClr>
                <a:schemeClr val="tx1"/>
              </a:buClr>
              <a:defRPr/>
            </a:pPr>
            <a:r>
              <a:rPr lang="en-US" sz="1000" kern="1200" dirty="0">
                <a:ln>
                  <a:noFill/>
                </a:ln>
                <a:latin typeface="+mn-lt"/>
                <a:cs typeface="Segoe UI Semibold" panose="020B0702040204020203" pitchFamily="34" charset="0"/>
              </a:rPr>
              <a:t>Build a business case</a:t>
            </a:r>
          </a:p>
        </p:txBody>
      </p:sp>
      <p:grpSp>
        <p:nvGrpSpPr>
          <p:cNvPr id="132" name="Group 131">
            <a:extLst>
              <a:ext uri="{FF2B5EF4-FFF2-40B4-BE49-F238E27FC236}">
                <a16:creationId xmlns:a16="http://schemas.microsoft.com/office/drawing/2014/main" id="{79F5A30B-D162-22E9-25D5-F0BACDE31FD2}"/>
              </a:ext>
              <a:ext uri="{C183D7F6-B498-43B3-948B-1728B52AA6E4}">
                <adec:decorative xmlns:adec="http://schemas.microsoft.com/office/drawing/2017/decorative" val="1"/>
              </a:ext>
            </a:extLst>
          </p:cNvPr>
          <p:cNvGrpSpPr/>
          <p:nvPr/>
        </p:nvGrpSpPr>
        <p:grpSpPr>
          <a:xfrm>
            <a:off x="593725" y="3103002"/>
            <a:ext cx="457200" cy="457200"/>
            <a:chOff x="593725" y="2979773"/>
            <a:chExt cx="457200" cy="457200"/>
          </a:xfrm>
        </p:grpSpPr>
        <p:sp>
          <p:nvSpPr>
            <p:cNvPr id="18" name="Text Placeholder 2">
              <a:extLst>
                <a:ext uri="{FF2B5EF4-FFF2-40B4-BE49-F238E27FC236}">
                  <a16:creationId xmlns:a16="http://schemas.microsoft.com/office/drawing/2014/main" id="{5B9947C7-EE96-7ABB-53AE-15611049A3AB}"/>
                </a:ext>
              </a:extLst>
            </p:cNvPr>
            <p:cNvSpPr txBox="1">
              <a:spLocks/>
            </p:cNvSpPr>
            <p:nvPr/>
          </p:nvSpPr>
          <p:spPr>
            <a:xfrm>
              <a:off x="593725" y="2979773"/>
              <a:ext cx="457200" cy="457200"/>
            </a:xfrm>
            <a:prstGeom prst="ellipse">
              <a:avLst/>
            </a:prstGeom>
            <a:solidFill>
              <a:schemeClr val="bg1">
                <a:alpha val="74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640080" tIns="137160" rIns="137160" bIns="137160" numCol="1" spcCol="0" rtlCol="0" fromWordArt="0" anchor="t" anchorCtr="0" forceAA="0" compatLnSpc="1">
              <a:prstTxWarp prst="textNoShape">
                <a:avLst/>
              </a:prstTxWarp>
              <a:spAutoFit/>
            </a:bodyPr>
            <a:lstStyle>
              <a:lvl1pPr indent="0">
                <a:lnSpc>
                  <a:spcPct val="100000"/>
                </a:lnSpc>
                <a:spcBef>
                  <a:spcPts val="1000"/>
                </a:spcBef>
                <a:spcAft>
                  <a:spcPts val="600"/>
                </a:spcAft>
                <a:buFont typeface="Arial" panose="020B0604020202020204" pitchFamily="34" charset="0"/>
                <a:buNone/>
                <a:defRPr kumimoji="0" lang="en-US" sz="1400" b="0" i="0" u="none" strike="noStrike" kern="0" cap="none" spc="0" normalizeH="0" baseline="0" smtClean="0">
                  <a:ln w="3175">
                    <a:noFill/>
                  </a:ln>
                  <a:effectLst/>
                  <a:uLnTx/>
                  <a:uFillTx/>
                  <a:latin typeface="+mj-lt"/>
                  <a:ea typeface="Segoe UI Regular" pitchFamily="34" charset="-122"/>
                  <a:cs typeface="Segoe UI" panose="020B0502040204020203" pitchFamily="34" charset="0"/>
                </a:defRPr>
              </a:lvl1pPr>
              <a:lvl2pPr marL="0" lvl="1" indent="0">
                <a:lnSpc>
                  <a:spcPct val="100000"/>
                </a:lnSpc>
                <a:spcBef>
                  <a:spcPts val="0"/>
                </a:spcBef>
                <a:buFont typeface="Arial" panose="020B0604020202020204" pitchFamily="34" charset="0"/>
                <a:buNone/>
                <a:defRPr lang="en-US" sz="1100" dirty="0" smtClean="0">
                  <a:solidFill>
                    <a:schemeClr val="tx2"/>
                  </a:solidFill>
                </a:defRPr>
              </a:lvl2pPr>
              <a:lvl3pPr marL="1200150" indent="-285750">
                <a:lnSpc>
                  <a:spcPct val="100000"/>
                </a:lnSpc>
                <a:spcBef>
                  <a:spcPts val="500"/>
                </a:spcBef>
                <a:buFont typeface="Arial" panose="020B0604020202020204" pitchFamily="34" charset="0"/>
                <a:buChar char="•"/>
                <a:defRPr lang="en-US" sz="1100" smtClean="0">
                  <a:solidFill>
                    <a:schemeClr val="tx2"/>
                  </a:solidFill>
                </a:defRPr>
              </a:lvl3pPr>
              <a:lvl4pPr marL="1657350" indent="-285750">
                <a:lnSpc>
                  <a:spcPct val="100000"/>
                </a:lnSpc>
                <a:spcBef>
                  <a:spcPts val="500"/>
                </a:spcBef>
                <a:buFont typeface="Arial" panose="020B0604020202020204" pitchFamily="34" charset="0"/>
                <a:buChar char="•"/>
                <a:defRPr lang="en-US" sz="1100" smtClean="0">
                  <a:solidFill>
                    <a:schemeClr val="tx2"/>
                  </a:solidFill>
                </a:defRPr>
              </a:lvl4pPr>
              <a:lvl5pPr marL="2114550" indent="-285750">
                <a:lnSpc>
                  <a:spcPct val="100000"/>
                </a:lnSpc>
                <a:spcBef>
                  <a:spcPts val="500"/>
                </a:spcBef>
                <a:buFont typeface="Arial" panose="020B0604020202020204" pitchFamily="34" charset="0"/>
                <a:buChar char="•"/>
                <a:defRPr lang="en-US">
                  <a:solidFill>
                    <a:schemeClr val="tx2"/>
                  </a:solidFill>
                </a:defRPr>
              </a:lvl5pPr>
              <a:lvl6pPr marL="2514600" indent="-228600">
                <a:lnSpc>
                  <a:spcPct val="90000"/>
                </a:lnSpc>
                <a:spcBef>
                  <a:spcPts val="500"/>
                </a:spcBef>
                <a:buFont typeface="Arial" panose="020B0604020202020204" pitchFamily="34" charset="0"/>
                <a:buChar char="•"/>
                <a:defRPr>
                  <a:solidFill>
                    <a:schemeClr val="lt1"/>
                  </a:solidFill>
                </a:defRPr>
              </a:lvl6pPr>
              <a:lvl7pPr marL="2971800" indent="-228600">
                <a:lnSpc>
                  <a:spcPct val="90000"/>
                </a:lnSpc>
                <a:spcBef>
                  <a:spcPts val="500"/>
                </a:spcBef>
                <a:buFont typeface="Arial" panose="020B0604020202020204" pitchFamily="34" charset="0"/>
                <a:buChar char="•"/>
                <a:defRPr>
                  <a:solidFill>
                    <a:schemeClr val="lt1"/>
                  </a:solidFill>
                </a:defRPr>
              </a:lvl7pPr>
              <a:lvl8pPr marL="3429000" indent="-228600">
                <a:lnSpc>
                  <a:spcPct val="90000"/>
                </a:lnSpc>
                <a:spcBef>
                  <a:spcPts val="500"/>
                </a:spcBef>
                <a:buFont typeface="Arial" panose="020B0604020202020204" pitchFamily="34" charset="0"/>
                <a:buChar char="•"/>
                <a:defRPr>
                  <a:solidFill>
                    <a:schemeClr val="lt1"/>
                  </a:solidFill>
                </a:defRPr>
              </a:lvl8pPr>
              <a:lvl9pPr marL="3886200" indent="-228600">
                <a:lnSpc>
                  <a:spcPct val="90000"/>
                </a:lnSpc>
                <a:spcBef>
                  <a:spcPts val="500"/>
                </a:spcBef>
                <a:buFont typeface="Arial" panose="020B0604020202020204" pitchFamily="34" charset="0"/>
                <a:buChar char="•"/>
                <a:defRPr>
                  <a:solidFill>
                    <a:schemeClr val="lt1"/>
                  </a:solidFill>
                </a:defRPr>
              </a:lvl9pPr>
            </a:lstStyle>
            <a:p>
              <a:endParaRPr lang="en-US"/>
            </a:p>
          </p:txBody>
        </p:sp>
        <p:sp>
          <p:nvSpPr>
            <p:cNvPr id="22" name="Graphic 60">
              <a:extLst>
                <a:ext uri="{FF2B5EF4-FFF2-40B4-BE49-F238E27FC236}">
                  <a16:creationId xmlns:a16="http://schemas.microsoft.com/office/drawing/2014/main" id="{258A5ADD-B6AF-5B79-9BAE-6231780EEBC8}"/>
                </a:ext>
                <a:ext uri="{C183D7F6-B498-43B3-948B-1728B52AA6E4}">
                  <adec:decorative xmlns:adec="http://schemas.microsoft.com/office/drawing/2017/decorative" val="1"/>
                </a:ext>
              </a:extLst>
            </p:cNvPr>
            <p:cNvSpPr>
              <a:spLocks/>
            </p:cNvSpPr>
            <p:nvPr/>
          </p:nvSpPr>
          <p:spPr>
            <a:xfrm>
              <a:off x="708023" y="3092477"/>
              <a:ext cx="228600" cy="228600"/>
            </a:xfrm>
            <a:custGeom>
              <a:avLst/>
              <a:gdLst>
                <a:gd name="connsiteX0" fmla="*/ 152400 w 304800"/>
                <a:gd name="connsiteY0" fmla="*/ 0 h 304800"/>
                <a:gd name="connsiteX1" fmla="*/ 304800 w 304800"/>
                <a:gd name="connsiteY1" fmla="*/ 152400 h 304800"/>
                <a:gd name="connsiteX2" fmla="*/ 152400 w 304800"/>
                <a:gd name="connsiteY2" fmla="*/ 304800 h 304800"/>
                <a:gd name="connsiteX3" fmla="*/ 0 w 304800"/>
                <a:gd name="connsiteY3" fmla="*/ 152400 h 304800"/>
                <a:gd name="connsiteX4" fmla="*/ 152400 w 304800"/>
                <a:gd name="connsiteY4" fmla="*/ 0 h 304800"/>
                <a:gd name="connsiteX5" fmla="*/ 152400 w 304800"/>
                <a:gd name="connsiteY5" fmla="*/ 25405 h 304800"/>
                <a:gd name="connsiteX6" fmla="*/ 25405 w 304800"/>
                <a:gd name="connsiteY6" fmla="*/ 152400 h 304800"/>
                <a:gd name="connsiteX7" fmla="*/ 152400 w 304800"/>
                <a:gd name="connsiteY7" fmla="*/ 279395 h 304800"/>
                <a:gd name="connsiteX8" fmla="*/ 279395 w 304800"/>
                <a:gd name="connsiteY8" fmla="*/ 152400 h 304800"/>
                <a:gd name="connsiteX9" fmla="*/ 152400 w 304800"/>
                <a:gd name="connsiteY9" fmla="*/ 25405 h 304800"/>
                <a:gd name="connsiteX10" fmla="*/ 152400 w 304800"/>
                <a:gd name="connsiteY10" fmla="*/ 205740 h 304800"/>
                <a:gd name="connsiteX11" fmla="*/ 167640 w 304800"/>
                <a:gd name="connsiteY11" fmla="*/ 220980 h 304800"/>
                <a:gd name="connsiteX12" fmla="*/ 152400 w 304800"/>
                <a:gd name="connsiteY12" fmla="*/ 236220 h 304800"/>
                <a:gd name="connsiteX13" fmla="*/ 137160 w 304800"/>
                <a:gd name="connsiteY13" fmla="*/ 220980 h 304800"/>
                <a:gd name="connsiteX14" fmla="*/ 152400 w 304800"/>
                <a:gd name="connsiteY14" fmla="*/ 205740 h 304800"/>
                <a:gd name="connsiteX15" fmla="*/ 152400 w 304800"/>
                <a:gd name="connsiteY15" fmla="*/ 72390 h 304800"/>
                <a:gd name="connsiteX16" fmla="*/ 194310 w 304800"/>
                <a:gd name="connsiteY16" fmla="*/ 114300 h 304800"/>
                <a:gd name="connsiteX17" fmla="*/ 178293 w 304800"/>
                <a:gd name="connsiteY17" fmla="*/ 150251 h 304800"/>
                <a:gd name="connsiteX18" fmla="*/ 175717 w 304800"/>
                <a:gd name="connsiteY18" fmla="*/ 152857 h 304800"/>
                <a:gd name="connsiteX19" fmla="*/ 163830 w 304800"/>
                <a:gd name="connsiteY19" fmla="*/ 175260 h 304800"/>
                <a:gd name="connsiteX20" fmla="*/ 152400 w 304800"/>
                <a:gd name="connsiteY20" fmla="*/ 186690 h 304800"/>
                <a:gd name="connsiteX21" fmla="*/ 140970 w 304800"/>
                <a:gd name="connsiteY21" fmla="*/ 175260 h 304800"/>
                <a:gd name="connsiteX22" fmla="*/ 156987 w 304800"/>
                <a:gd name="connsiteY22" fmla="*/ 139309 h 304800"/>
                <a:gd name="connsiteX23" fmla="*/ 159563 w 304800"/>
                <a:gd name="connsiteY23" fmla="*/ 136703 h 304800"/>
                <a:gd name="connsiteX24" fmla="*/ 171450 w 304800"/>
                <a:gd name="connsiteY24" fmla="*/ 114300 h 304800"/>
                <a:gd name="connsiteX25" fmla="*/ 152339 w 304800"/>
                <a:gd name="connsiteY25" fmla="*/ 95312 h 304800"/>
                <a:gd name="connsiteX26" fmla="*/ 133457 w 304800"/>
                <a:gd name="connsiteY26" fmla="*/ 112349 h 304800"/>
                <a:gd name="connsiteX27" fmla="*/ 133350 w 304800"/>
                <a:gd name="connsiteY27" fmla="*/ 114300 h 304800"/>
                <a:gd name="connsiteX28" fmla="*/ 121920 w 304800"/>
                <a:gd name="connsiteY28" fmla="*/ 125730 h 304800"/>
                <a:gd name="connsiteX29" fmla="*/ 110490 w 304800"/>
                <a:gd name="connsiteY29" fmla="*/ 114300 h 304800"/>
                <a:gd name="connsiteX30" fmla="*/ 152400 w 304800"/>
                <a:gd name="connsiteY30" fmla="*/ 7239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4800" h="304800">
                  <a:moveTo>
                    <a:pt x="152400" y="0"/>
                  </a:moveTo>
                  <a:cubicBezTo>
                    <a:pt x="236571" y="0"/>
                    <a:pt x="304800" y="68245"/>
                    <a:pt x="304800" y="152400"/>
                  </a:cubicBezTo>
                  <a:cubicBezTo>
                    <a:pt x="304800" y="236555"/>
                    <a:pt x="236571" y="304800"/>
                    <a:pt x="152400" y="304800"/>
                  </a:cubicBezTo>
                  <a:cubicBezTo>
                    <a:pt x="68229" y="304800"/>
                    <a:pt x="0" y="236555"/>
                    <a:pt x="0" y="152400"/>
                  </a:cubicBezTo>
                  <a:cubicBezTo>
                    <a:pt x="0" y="68245"/>
                    <a:pt x="68229" y="0"/>
                    <a:pt x="152400" y="0"/>
                  </a:cubicBezTo>
                  <a:close/>
                  <a:moveTo>
                    <a:pt x="152400" y="25405"/>
                  </a:moveTo>
                  <a:cubicBezTo>
                    <a:pt x="82372" y="25405"/>
                    <a:pt x="25405" y="82372"/>
                    <a:pt x="25405" y="152400"/>
                  </a:cubicBezTo>
                  <a:cubicBezTo>
                    <a:pt x="25405" y="222428"/>
                    <a:pt x="82372" y="279395"/>
                    <a:pt x="152400" y="279395"/>
                  </a:cubicBezTo>
                  <a:cubicBezTo>
                    <a:pt x="222428" y="279395"/>
                    <a:pt x="279395" y="222428"/>
                    <a:pt x="279395" y="152400"/>
                  </a:cubicBezTo>
                  <a:cubicBezTo>
                    <a:pt x="279395" y="82372"/>
                    <a:pt x="222428" y="25405"/>
                    <a:pt x="152400" y="25405"/>
                  </a:cubicBezTo>
                  <a:close/>
                  <a:moveTo>
                    <a:pt x="152400" y="205740"/>
                  </a:moveTo>
                  <a:cubicBezTo>
                    <a:pt x="160817" y="205740"/>
                    <a:pt x="167640" y="212563"/>
                    <a:pt x="167640" y="220980"/>
                  </a:cubicBezTo>
                  <a:cubicBezTo>
                    <a:pt x="167640" y="229397"/>
                    <a:pt x="160817" y="236220"/>
                    <a:pt x="152400" y="236220"/>
                  </a:cubicBezTo>
                  <a:cubicBezTo>
                    <a:pt x="143983" y="236220"/>
                    <a:pt x="137160" y="229397"/>
                    <a:pt x="137160" y="220980"/>
                  </a:cubicBezTo>
                  <a:cubicBezTo>
                    <a:pt x="137160" y="212563"/>
                    <a:pt x="143983" y="205740"/>
                    <a:pt x="152400" y="205740"/>
                  </a:cubicBezTo>
                  <a:close/>
                  <a:moveTo>
                    <a:pt x="152400" y="72390"/>
                  </a:moveTo>
                  <a:cubicBezTo>
                    <a:pt x="175547" y="72390"/>
                    <a:pt x="194310" y="91154"/>
                    <a:pt x="194310" y="114300"/>
                  </a:cubicBezTo>
                  <a:cubicBezTo>
                    <a:pt x="194310" y="129692"/>
                    <a:pt x="189784" y="138288"/>
                    <a:pt x="178293" y="150251"/>
                  </a:cubicBezTo>
                  <a:lnTo>
                    <a:pt x="175717" y="152857"/>
                  </a:lnTo>
                  <a:cubicBezTo>
                    <a:pt x="166238" y="162336"/>
                    <a:pt x="163830" y="166360"/>
                    <a:pt x="163830" y="175260"/>
                  </a:cubicBezTo>
                  <a:cubicBezTo>
                    <a:pt x="163830" y="181572"/>
                    <a:pt x="158712" y="186690"/>
                    <a:pt x="152400" y="186690"/>
                  </a:cubicBezTo>
                  <a:cubicBezTo>
                    <a:pt x="146088" y="186690"/>
                    <a:pt x="140970" y="181572"/>
                    <a:pt x="140970" y="175260"/>
                  </a:cubicBezTo>
                  <a:cubicBezTo>
                    <a:pt x="140970" y="159868"/>
                    <a:pt x="145496" y="151272"/>
                    <a:pt x="156987" y="139309"/>
                  </a:cubicBezTo>
                  <a:lnTo>
                    <a:pt x="159563" y="136703"/>
                  </a:lnTo>
                  <a:cubicBezTo>
                    <a:pt x="169042" y="127224"/>
                    <a:pt x="171450" y="123200"/>
                    <a:pt x="171450" y="114300"/>
                  </a:cubicBezTo>
                  <a:cubicBezTo>
                    <a:pt x="171416" y="103779"/>
                    <a:pt x="162859" y="95278"/>
                    <a:pt x="152339" y="95312"/>
                  </a:cubicBezTo>
                  <a:cubicBezTo>
                    <a:pt x="142621" y="95343"/>
                    <a:pt x="134484" y="102685"/>
                    <a:pt x="133457" y="112349"/>
                  </a:cubicBezTo>
                  <a:lnTo>
                    <a:pt x="133350" y="114300"/>
                  </a:lnTo>
                  <a:cubicBezTo>
                    <a:pt x="133350" y="120613"/>
                    <a:pt x="128232" y="125730"/>
                    <a:pt x="121920" y="125730"/>
                  </a:cubicBezTo>
                  <a:cubicBezTo>
                    <a:pt x="115607" y="125730"/>
                    <a:pt x="110490" y="120613"/>
                    <a:pt x="110490" y="114300"/>
                  </a:cubicBezTo>
                  <a:cubicBezTo>
                    <a:pt x="110490" y="91154"/>
                    <a:pt x="129253" y="72390"/>
                    <a:pt x="152400" y="72390"/>
                  </a:cubicBez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aphicFrame>
        <p:nvGraphicFramePr>
          <p:cNvPr id="24" name="Table 23">
            <a:extLst>
              <a:ext uri="{FF2B5EF4-FFF2-40B4-BE49-F238E27FC236}">
                <a16:creationId xmlns:a16="http://schemas.microsoft.com/office/drawing/2014/main" id="{2DEE824D-78F1-97BA-81AE-5249184BAD61}"/>
              </a:ext>
            </a:extLst>
          </p:cNvPr>
          <p:cNvGraphicFramePr>
            <a:graphicFrameLocks noGrp="1"/>
          </p:cNvGraphicFramePr>
          <p:nvPr>
            <p:extLst>
              <p:ext uri="{D42A27DB-BD31-4B8C-83A1-F6EECF244321}">
                <p14:modId xmlns:p14="http://schemas.microsoft.com/office/powerpoint/2010/main" val="270254031"/>
              </p:ext>
            </p:extLst>
          </p:nvPr>
        </p:nvGraphicFramePr>
        <p:xfrm>
          <a:off x="5951548" y="3860039"/>
          <a:ext cx="5516364" cy="2280101"/>
        </p:xfrm>
        <a:graphic>
          <a:graphicData uri="http://schemas.openxmlformats.org/drawingml/2006/table">
            <a:tbl>
              <a:tblPr firstRow="1" bandRow="1">
                <a:tableStyleId>{2D5ABB26-0587-4C30-8999-92F81FD0307C}</a:tableStyleId>
              </a:tblPr>
              <a:tblGrid>
                <a:gridCol w="217758">
                  <a:extLst>
                    <a:ext uri="{9D8B030D-6E8A-4147-A177-3AD203B41FA5}">
                      <a16:colId xmlns:a16="http://schemas.microsoft.com/office/drawing/2014/main" val="1905125584"/>
                    </a:ext>
                  </a:extLst>
                </a:gridCol>
                <a:gridCol w="987144">
                  <a:extLst>
                    <a:ext uri="{9D8B030D-6E8A-4147-A177-3AD203B41FA5}">
                      <a16:colId xmlns:a16="http://schemas.microsoft.com/office/drawing/2014/main" val="3580399742"/>
                    </a:ext>
                  </a:extLst>
                </a:gridCol>
                <a:gridCol w="4311462">
                  <a:extLst>
                    <a:ext uri="{9D8B030D-6E8A-4147-A177-3AD203B41FA5}">
                      <a16:colId xmlns:a16="http://schemas.microsoft.com/office/drawing/2014/main" val="1904428677"/>
                    </a:ext>
                  </a:extLst>
                </a:gridCol>
              </a:tblGrid>
              <a:tr h="594594">
                <a:tc>
                  <a:txBody>
                    <a:bodyPr/>
                    <a:lstStyle/>
                    <a:p>
                      <a:endParaRPr lang="en-US" sz="1000"/>
                    </a:p>
                  </a:txBody>
                  <a:tcPr>
                    <a:lnL>
                      <a:noFill/>
                    </a:lnL>
                    <a:lnR w="12700" cap="flat" cmpd="sng" algn="ctr">
                      <a:no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a:latin typeface="+mj-lt"/>
                        </a:rPr>
                        <a:t>Outsourcing spend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225"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By assisting with everyday tasks, Microsoft Copilot can help increase time for additional analysis, proactive audits, collections processes, and financial reporting.</a:t>
                      </a:r>
                    </a:p>
                  </a:txBody>
                  <a:tcPr marL="45720" marR="45720" anchor="ctr">
                    <a:lnL w="12700" cap="flat" cmpd="sng" algn="ctr">
                      <a:noFill/>
                      <a:prstDash val="solid"/>
                      <a:round/>
                      <a:headEnd type="none" w="med" len="med"/>
                      <a:tailEnd type="none" w="med" len="med"/>
                    </a:lnL>
                    <a:lnR>
                      <a:noFill/>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3379039"/>
                  </a:ext>
                </a:extLst>
              </a:tr>
              <a:tr h="594594">
                <a:tc>
                  <a:txBody>
                    <a:bodyPr/>
                    <a:lstStyle/>
                    <a:p>
                      <a:endParaRPr lang="en-US" sz="1000"/>
                    </a:p>
                  </a:txBody>
                  <a:tcPr>
                    <a:lnL>
                      <a:noFill/>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a:latin typeface="+mj-lt"/>
                        </a:rPr>
                        <a:t>Cost per analysis request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225"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111111"/>
                          </a:solidFill>
                          <a:effectLst/>
                          <a:uLnTx/>
                          <a:uFillTx/>
                          <a:latin typeface="Segoe UI"/>
                          <a:ea typeface="+mn-ea"/>
                          <a:cs typeface="Segoe UI" panose="020B0502040204020203" pitchFamily="34" charset="0"/>
                        </a:rPr>
                        <a:t>Microsoft Copilot can help with lowering resolution times, which in turn leads to increased analyst productivity and higher customer satisfaction rates.</a:t>
                      </a:r>
                    </a:p>
                  </a:txBody>
                  <a:tcPr marL="45720" marR="45720" anchor="ctr">
                    <a:lnL w="12700" cap="flat" cmpd="sng" algn="ctr">
                      <a:noFill/>
                      <a:prstDash val="solid"/>
                      <a:round/>
                      <a:headEnd type="none" w="med" len="med"/>
                      <a:tailEnd type="none" w="med" len="med"/>
                    </a:lnL>
                    <a:lnR>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34878029"/>
                  </a:ext>
                </a:extLst>
              </a:tr>
              <a:tr h="465422">
                <a:tc>
                  <a:txBody>
                    <a:bodyPr/>
                    <a:lstStyle/>
                    <a:p>
                      <a:endParaRPr lang="en-US" sz="1000"/>
                    </a:p>
                  </a:txBody>
                  <a:tcPr>
                    <a:lnL>
                      <a:noFill/>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a:latin typeface="+mj-lt"/>
                        </a:rPr>
                        <a:t>Days sales outstanding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Segoe UI" panose="020B0502040204020203" pitchFamily="34" charset="0"/>
                        </a:rPr>
                        <a:t>Improve billing and collections processes by enhancing communications with customers and vendors.</a:t>
                      </a:r>
                    </a:p>
                  </a:txBody>
                  <a:tcPr marL="45720" marR="45720" anchor="ctr">
                    <a:lnL w="12700" cap="flat" cmpd="sng" algn="ctr">
                      <a:noFill/>
                      <a:prstDash val="solid"/>
                      <a:round/>
                      <a:headEnd type="none" w="med" len="med"/>
                      <a:tailEnd type="none" w="med" len="med"/>
                    </a:lnL>
                    <a:lnR>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97277821"/>
                  </a:ext>
                </a:extLst>
              </a:tr>
              <a:tr h="625491">
                <a:tc>
                  <a:txBody>
                    <a:bodyPr/>
                    <a:lstStyle/>
                    <a:p>
                      <a:endParaRPr lang="en-US" sz="1000"/>
                    </a:p>
                  </a:txBody>
                  <a:tcPr>
                    <a:lnL>
                      <a:noFill/>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r>
                        <a:rPr lang="en-US" sz="1000">
                          <a:latin typeface="+mj-lt"/>
                        </a:rPr>
                        <a:t>Risk management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Segoe UI" panose="020B0502040204020203" pitchFamily="34" charset="0"/>
                        </a:rPr>
                        <a:t>Microsoft Copilot frees up time for critical decisions, streamlining audits, simplifying collections, and accelerating financial reporting.</a:t>
                      </a:r>
                    </a:p>
                  </a:txBody>
                  <a:tcPr marL="45720" marR="45720" anchor="ctr">
                    <a:lnL w="12700" cap="flat" cmpd="sng" algn="ctr">
                      <a:noFill/>
                      <a:prstDash val="solid"/>
                      <a:round/>
                      <a:headEnd type="none" w="med" len="med"/>
                      <a:tailEnd type="none" w="med" len="med"/>
                    </a:lnL>
                    <a:lnR>
                      <a:noFill/>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2953155573"/>
                  </a:ext>
                </a:extLst>
              </a:tr>
            </a:tbl>
          </a:graphicData>
        </a:graphic>
      </p:graphicFrame>
      <p:sp>
        <p:nvSpPr>
          <p:cNvPr id="49" name="Graphic 47" descr="Icon of a piggy bank ">
            <a:extLst>
              <a:ext uri="{FF2B5EF4-FFF2-40B4-BE49-F238E27FC236}">
                <a16:creationId xmlns:a16="http://schemas.microsoft.com/office/drawing/2014/main" id="{9F18437D-02EB-7342-476A-2C1686564BEA}"/>
              </a:ext>
            </a:extLst>
          </p:cNvPr>
          <p:cNvSpPr>
            <a:spLocks noChangeAspect="1"/>
          </p:cNvSpPr>
          <p:nvPr/>
        </p:nvSpPr>
        <p:spPr>
          <a:xfrm>
            <a:off x="5963194" y="4066330"/>
            <a:ext cx="200060" cy="193432"/>
          </a:xfrm>
          <a:custGeom>
            <a:avLst/>
            <a:gdLst>
              <a:gd name="connsiteX0" fmla="*/ 150403 w 372234"/>
              <a:gd name="connsiteY0" fmla="*/ 26554 h 359903"/>
              <a:gd name="connsiteX1" fmla="*/ 177466 w 372234"/>
              <a:gd name="connsiteY1" fmla="*/ 38837 h 359903"/>
              <a:gd name="connsiteX2" fmla="*/ 168732 w 372234"/>
              <a:gd name="connsiteY2" fmla="*/ 65624 h 359903"/>
              <a:gd name="connsiteX3" fmla="*/ 134547 w 372234"/>
              <a:gd name="connsiteY3" fmla="*/ 49532 h 359903"/>
              <a:gd name="connsiteX4" fmla="*/ 120976 w 372234"/>
              <a:gd name="connsiteY4" fmla="*/ 39162 h 359903"/>
              <a:gd name="connsiteX5" fmla="*/ 120976 w 372234"/>
              <a:gd name="connsiteY5" fmla="*/ 80727 h 359903"/>
              <a:gd name="connsiteX6" fmla="*/ 112224 w 372234"/>
              <a:gd name="connsiteY6" fmla="*/ 93679 h 359903"/>
              <a:gd name="connsiteX7" fmla="*/ 112108 w 372234"/>
              <a:gd name="connsiteY7" fmla="*/ 93727 h 359903"/>
              <a:gd name="connsiteX8" fmla="*/ 111522 w 372234"/>
              <a:gd name="connsiteY8" fmla="*/ 93976 h 359903"/>
              <a:gd name="connsiteX9" fmla="*/ 109035 w 372234"/>
              <a:gd name="connsiteY9" fmla="*/ 95103 h 359903"/>
              <a:gd name="connsiteX10" fmla="*/ 99984 w 372234"/>
              <a:gd name="connsiteY10" fmla="*/ 99827 h 359903"/>
              <a:gd name="connsiteX11" fmla="*/ 75011 w 372234"/>
              <a:gd name="connsiteY11" fmla="*/ 118515 h 359903"/>
              <a:gd name="connsiteX12" fmla="*/ 58428 w 372234"/>
              <a:gd name="connsiteY12" fmla="*/ 147096 h 359903"/>
              <a:gd name="connsiteX13" fmla="*/ 31400 w 372234"/>
              <a:gd name="connsiteY13" fmla="*/ 171071 h 359903"/>
              <a:gd name="connsiteX14" fmla="*/ 27918 w 372234"/>
              <a:gd name="connsiteY14" fmla="*/ 175183 h 359903"/>
              <a:gd name="connsiteX15" fmla="*/ 27918 w 372234"/>
              <a:gd name="connsiteY15" fmla="*/ 207807 h 359903"/>
              <a:gd name="connsiteX16" fmla="*/ 33181 w 372234"/>
              <a:gd name="connsiteY16" fmla="*/ 214021 h 359903"/>
              <a:gd name="connsiteX17" fmla="*/ 59085 w 372234"/>
              <a:gd name="connsiteY17" fmla="*/ 232745 h 359903"/>
              <a:gd name="connsiteX18" fmla="*/ 84317 w 372234"/>
              <a:gd name="connsiteY18" fmla="*/ 266279 h 359903"/>
              <a:gd name="connsiteX19" fmla="*/ 113807 w 372234"/>
              <a:gd name="connsiteY19" fmla="*/ 285613 h 359903"/>
              <a:gd name="connsiteX20" fmla="*/ 124606 w 372234"/>
              <a:gd name="connsiteY20" fmla="*/ 289427 h 359903"/>
              <a:gd name="connsiteX21" fmla="*/ 127546 w 372234"/>
              <a:gd name="connsiteY21" fmla="*/ 290197 h 359903"/>
              <a:gd name="connsiteX22" fmla="*/ 128214 w 372234"/>
              <a:gd name="connsiteY22" fmla="*/ 290348 h 359903"/>
              <a:gd name="connsiteX23" fmla="*/ 128304 w 372234"/>
              <a:gd name="connsiteY23" fmla="*/ 290369 h 359903"/>
              <a:gd name="connsiteX24" fmla="*/ 128324 w 372234"/>
              <a:gd name="connsiteY24" fmla="*/ 290372 h 359903"/>
              <a:gd name="connsiteX25" fmla="*/ 139588 w 372234"/>
              <a:gd name="connsiteY25" fmla="*/ 304069 h 359903"/>
              <a:gd name="connsiteX26" fmla="*/ 139588 w 372234"/>
              <a:gd name="connsiteY26" fmla="*/ 327333 h 359903"/>
              <a:gd name="connsiteX27" fmla="*/ 144241 w 372234"/>
              <a:gd name="connsiteY27" fmla="*/ 331986 h 359903"/>
              <a:gd name="connsiteX28" fmla="*/ 167505 w 372234"/>
              <a:gd name="connsiteY28" fmla="*/ 331986 h 359903"/>
              <a:gd name="connsiteX29" fmla="*/ 195423 w 372234"/>
              <a:gd name="connsiteY29" fmla="*/ 304069 h 359903"/>
              <a:gd name="connsiteX30" fmla="*/ 232646 w 372234"/>
              <a:gd name="connsiteY30" fmla="*/ 304069 h 359903"/>
              <a:gd name="connsiteX31" fmla="*/ 260564 w 372234"/>
              <a:gd name="connsiteY31" fmla="*/ 331986 h 359903"/>
              <a:gd name="connsiteX32" fmla="*/ 283829 w 372234"/>
              <a:gd name="connsiteY32" fmla="*/ 331986 h 359903"/>
              <a:gd name="connsiteX33" fmla="*/ 288481 w 372234"/>
              <a:gd name="connsiteY33" fmla="*/ 327333 h 359903"/>
              <a:gd name="connsiteX34" fmla="*/ 288481 w 372234"/>
              <a:gd name="connsiteY34" fmla="*/ 285457 h 359903"/>
              <a:gd name="connsiteX35" fmla="*/ 296146 w 372234"/>
              <a:gd name="connsiteY35" fmla="*/ 272996 h 359903"/>
              <a:gd name="connsiteX36" fmla="*/ 296393 w 372234"/>
              <a:gd name="connsiteY36" fmla="*/ 272864 h 359903"/>
              <a:gd name="connsiteX37" fmla="*/ 297700 w 372234"/>
              <a:gd name="connsiteY37" fmla="*/ 272116 h 359903"/>
              <a:gd name="connsiteX38" fmla="*/ 302991 w 372234"/>
              <a:gd name="connsiteY38" fmla="*/ 268615 h 359903"/>
              <a:gd name="connsiteX39" fmla="*/ 319760 w 372234"/>
              <a:gd name="connsiteY39" fmla="*/ 253108 h 359903"/>
              <a:gd name="connsiteX40" fmla="*/ 344317 w 372234"/>
              <a:gd name="connsiteY40" fmla="*/ 183093 h 359903"/>
              <a:gd name="connsiteX41" fmla="*/ 334849 w 372234"/>
              <a:gd name="connsiteY41" fmla="*/ 136794 h 359903"/>
              <a:gd name="connsiteX42" fmla="*/ 349703 w 372234"/>
              <a:gd name="connsiteY42" fmla="*/ 107463 h 359903"/>
              <a:gd name="connsiteX43" fmla="*/ 354949 w 372234"/>
              <a:gd name="connsiteY43" fmla="*/ 115343 h 359903"/>
              <a:gd name="connsiteX44" fmla="*/ 372234 w 372234"/>
              <a:gd name="connsiteY44" fmla="*/ 183093 h 359903"/>
              <a:gd name="connsiteX45" fmla="*/ 340955 w 372234"/>
              <a:gd name="connsiteY45" fmla="*/ 271277 h 359903"/>
              <a:gd name="connsiteX46" fmla="*/ 319338 w 372234"/>
              <a:gd name="connsiteY46" fmla="*/ 291247 h 359903"/>
              <a:gd name="connsiteX47" fmla="*/ 316399 w 372234"/>
              <a:gd name="connsiteY47" fmla="*/ 293298 h 359903"/>
              <a:gd name="connsiteX48" fmla="*/ 316399 w 372234"/>
              <a:gd name="connsiteY48" fmla="*/ 327333 h 359903"/>
              <a:gd name="connsiteX49" fmla="*/ 283829 w 372234"/>
              <a:gd name="connsiteY49" fmla="*/ 359904 h 359903"/>
              <a:gd name="connsiteX50" fmla="*/ 260564 w 372234"/>
              <a:gd name="connsiteY50" fmla="*/ 359904 h 359903"/>
              <a:gd name="connsiteX51" fmla="*/ 232646 w 372234"/>
              <a:gd name="connsiteY51" fmla="*/ 331986 h 359903"/>
              <a:gd name="connsiteX52" fmla="*/ 195423 w 372234"/>
              <a:gd name="connsiteY52" fmla="*/ 331986 h 359903"/>
              <a:gd name="connsiteX53" fmla="*/ 167505 w 372234"/>
              <a:gd name="connsiteY53" fmla="*/ 359904 h 359903"/>
              <a:gd name="connsiteX54" fmla="*/ 144241 w 372234"/>
              <a:gd name="connsiteY54" fmla="*/ 359904 h 359903"/>
              <a:gd name="connsiteX55" fmla="*/ 111670 w 372234"/>
              <a:gd name="connsiteY55" fmla="*/ 327333 h 359903"/>
              <a:gd name="connsiteX56" fmla="*/ 111670 w 372234"/>
              <a:gd name="connsiteY56" fmla="*/ 314629 h 359903"/>
              <a:gd name="connsiteX57" fmla="*/ 103029 w 372234"/>
              <a:gd name="connsiteY57" fmla="*/ 311366 h 359903"/>
              <a:gd name="connsiteX58" fmla="*/ 64576 w 372234"/>
              <a:gd name="connsiteY58" fmla="*/ 286021 h 359903"/>
              <a:gd name="connsiteX59" fmla="*/ 34713 w 372234"/>
              <a:gd name="connsiteY59" fmla="*/ 246359 h 359903"/>
              <a:gd name="connsiteX60" fmla="*/ 28591 w 372234"/>
              <a:gd name="connsiteY60" fmla="*/ 241557 h 359903"/>
              <a:gd name="connsiteX61" fmla="*/ 0 w 372234"/>
              <a:gd name="connsiteY61" fmla="*/ 207807 h 359903"/>
              <a:gd name="connsiteX62" fmla="*/ 0 w 372234"/>
              <a:gd name="connsiteY62" fmla="*/ 175183 h 359903"/>
              <a:gd name="connsiteX63" fmla="*/ 26810 w 372234"/>
              <a:gd name="connsiteY63" fmla="*/ 143533 h 359903"/>
              <a:gd name="connsiteX64" fmla="*/ 31947 w 372234"/>
              <a:gd name="connsiteY64" fmla="*/ 138257 h 359903"/>
              <a:gd name="connsiteX65" fmla="*/ 55271 w 372234"/>
              <a:gd name="connsiteY65" fmla="*/ 98775 h 359903"/>
              <a:gd name="connsiteX66" fmla="*/ 86133 w 372234"/>
              <a:gd name="connsiteY66" fmla="*/ 75587 h 359903"/>
              <a:gd name="connsiteX67" fmla="*/ 93059 w 372234"/>
              <a:gd name="connsiteY67" fmla="*/ 71846 h 359903"/>
              <a:gd name="connsiteX68" fmla="*/ 93059 w 372234"/>
              <a:gd name="connsiteY68" fmla="*/ 18772 h 359903"/>
              <a:gd name="connsiteX69" fmla="*/ 125440 w 372234"/>
              <a:gd name="connsiteY69" fmla="*/ 5442 h 359903"/>
              <a:gd name="connsiteX70" fmla="*/ 150403 w 372234"/>
              <a:gd name="connsiteY70" fmla="*/ 26554 h 359903"/>
              <a:gd name="connsiteX71" fmla="*/ 206032 w 372234"/>
              <a:gd name="connsiteY71" fmla="*/ 115122 h 359903"/>
              <a:gd name="connsiteX72" fmla="*/ 187381 w 372234"/>
              <a:gd name="connsiteY72" fmla="*/ 94473 h 359903"/>
              <a:gd name="connsiteX73" fmla="*/ 232068 w 372234"/>
              <a:gd name="connsiteY73" fmla="*/ 11950 h 359903"/>
              <a:gd name="connsiteX74" fmla="*/ 329342 w 372234"/>
              <a:gd name="connsiteY74" fmla="*/ 52232 h 359903"/>
              <a:gd name="connsiteX75" fmla="*/ 302602 w 372234"/>
              <a:gd name="connsiteY75" fmla="*/ 142188 h 359903"/>
              <a:gd name="connsiteX76" fmla="*/ 274813 w 372234"/>
              <a:gd name="connsiteY76" fmla="*/ 143606 h 359903"/>
              <a:gd name="connsiteX77" fmla="*/ 206032 w 372234"/>
              <a:gd name="connsiteY77" fmla="*/ 115122 h 359903"/>
              <a:gd name="connsiteX78" fmla="*/ 287813 w 372234"/>
              <a:gd name="connsiteY78" fmla="*/ 118463 h 359903"/>
              <a:gd name="connsiteX79" fmla="*/ 303550 w 372234"/>
              <a:gd name="connsiteY79" fmla="*/ 62918 h 359903"/>
              <a:gd name="connsiteX80" fmla="*/ 242754 w 372234"/>
              <a:gd name="connsiteY80" fmla="*/ 37742 h 359903"/>
              <a:gd name="connsiteX81" fmla="*/ 214613 w 372234"/>
              <a:gd name="connsiteY81" fmla="*/ 88150 h 359903"/>
              <a:gd name="connsiteX82" fmla="*/ 215012 w 372234"/>
              <a:gd name="connsiteY82" fmla="*/ 88437 h 359903"/>
              <a:gd name="connsiteX83" fmla="*/ 216713 w 372234"/>
              <a:gd name="connsiteY83" fmla="*/ 89329 h 359903"/>
              <a:gd name="connsiteX84" fmla="*/ 285494 w 372234"/>
              <a:gd name="connsiteY84" fmla="*/ 117813 h 359903"/>
              <a:gd name="connsiteX85" fmla="*/ 287329 w 372234"/>
              <a:gd name="connsiteY85" fmla="*/ 118385 h 359903"/>
              <a:gd name="connsiteX86" fmla="*/ 287813 w 372234"/>
              <a:gd name="connsiteY86" fmla="*/ 118463 h 359903"/>
              <a:gd name="connsiteX87" fmla="*/ 130282 w 372234"/>
              <a:gd name="connsiteY87" fmla="*/ 136562 h 359903"/>
              <a:gd name="connsiteX88" fmla="*/ 111670 w 372234"/>
              <a:gd name="connsiteY88" fmla="*/ 155173 h 359903"/>
              <a:gd name="connsiteX89" fmla="*/ 93059 w 372234"/>
              <a:gd name="connsiteY89" fmla="*/ 136562 h 359903"/>
              <a:gd name="connsiteX90" fmla="*/ 111670 w 372234"/>
              <a:gd name="connsiteY90" fmla="*/ 117950 h 359903"/>
              <a:gd name="connsiteX91" fmla="*/ 130282 w 372234"/>
              <a:gd name="connsiteY91" fmla="*/ 136562 h 359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372234" h="359903">
                <a:moveTo>
                  <a:pt x="150403" y="26554"/>
                </a:moveTo>
                <a:cubicBezTo>
                  <a:pt x="160267" y="33362"/>
                  <a:pt x="169696" y="37848"/>
                  <a:pt x="177466" y="38837"/>
                </a:cubicBezTo>
                <a:cubicBezTo>
                  <a:pt x="173230" y="47251"/>
                  <a:pt x="170275" y="56288"/>
                  <a:pt x="168732" y="65624"/>
                </a:cubicBezTo>
                <a:cubicBezTo>
                  <a:pt x="156199" y="62874"/>
                  <a:pt x="144307" y="56267"/>
                  <a:pt x="134547" y="49532"/>
                </a:cubicBezTo>
                <a:cubicBezTo>
                  <a:pt x="129722" y="46202"/>
                  <a:pt x="125154" y="42655"/>
                  <a:pt x="120976" y="39162"/>
                </a:cubicBezTo>
                <a:lnTo>
                  <a:pt x="120976" y="80727"/>
                </a:lnTo>
                <a:cubicBezTo>
                  <a:pt x="120976" y="86427"/>
                  <a:pt x="117511" y="91554"/>
                  <a:pt x="112224" y="93679"/>
                </a:cubicBezTo>
                <a:lnTo>
                  <a:pt x="112108" y="93727"/>
                </a:lnTo>
                <a:cubicBezTo>
                  <a:pt x="111993" y="93775"/>
                  <a:pt x="111795" y="93858"/>
                  <a:pt x="111522" y="93976"/>
                </a:cubicBezTo>
                <a:cubicBezTo>
                  <a:pt x="110975" y="94212"/>
                  <a:pt x="110128" y="94588"/>
                  <a:pt x="109035" y="95103"/>
                </a:cubicBezTo>
                <a:cubicBezTo>
                  <a:pt x="106844" y="96133"/>
                  <a:pt x="103688" y="97710"/>
                  <a:pt x="99984" y="99827"/>
                </a:cubicBezTo>
                <a:cubicBezTo>
                  <a:pt x="92502" y="104102"/>
                  <a:pt x="83155" y="110371"/>
                  <a:pt x="75011" y="118515"/>
                </a:cubicBezTo>
                <a:cubicBezTo>
                  <a:pt x="66571" y="126956"/>
                  <a:pt x="61367" y="138292"/>
                  <a:pt x="58428" y="147096"/>
                </a:cubicBezTo>
                <a:cubicBezTo>
                  <a:pt x="54659" y="158387"/>
                  <a:pt x="45062" y="168795"/>
                  <a:pt x="31400" y="171071"/>
                </a:cubicBezTo>
                <a:cubicBezTo>
                  <a:pt x="29390" y="171406"/>
                  <a:pt x="27918" y="173145"/>
                  <a:pt x="27918" y="175183"/>
                </a:cubicBezTo>
                <a:lnTo>
                  <a:pt x="27918" y="207807"/>
                </a:lnTo>
                <a:cubicBezTo>
                  <a:pt x="27918" y="210887"/>
                  <a:pt x="30144" y="213515"/>
                  <a:pt x="33181" y="214021"/>
                </a:cubicBezTo>
                <a:cubicBezTo>
                  <a:pt x="44793" y="215955"/>
                  <a:pt x="53941" y="223536"/>
                  <a:pt x="59085" y="232745"/>
                </a:cubicBezTo>
                <a:cubicBezTo>
                  <a:pt x="63764" y="241120"/>
                  <a:pt x="72081" y="254044"/>
                  <a:pt x="84317" y="266279"/>
                </a:cubicBezTo>
                <a:cubicBezTo>
                  <a:pt x="93825" y="275788"/>
                  <a:pt x="104897" y="281883"/>
                  <a:pt x="113807" y="285613"/>
                </a:cubicBezTo>
                <a:cubicBezTo>
                  <a:pt x="118223" y="287461"/>
                  <a:pt x="121996" y="288680"/>
                  <a:pt x="124606" y="289427"/>
                </a:cubicBezTo>
                <a:cubicBezTo>
                  <a:pt x="125908" y="289797"/>
                  <a:pt x="126910" y="290048"/>
                  <a:pt x="127546" y="290197"/>
                </a:cubicBezTo>
                <a:cubicBezTo>
                  <a:pt x="127864" y="290272"/>
                  <a:pt x="128089" y="290322"/>
                  <a:pt x="128214" y="290348"/>
                </a:cubicBezTo>
                <a:lnTo>
                  <a:pt x="128304" y="290369"/>
                </a:lnTo>
                <a:lnTo>
                  <a:pt x="128324" y="290372"/>
                </a:lnTo>
                <a:cubicBezTo>
                  <a:pt x="134866" y="291658"/>
                  <a:pt x="139588" y="297396"/>
                  <a:pt x="139588" y="304069"/>
                </a:cubicBezTo>
                <a:lnTo>
                  <a:pt x="139588" y="327333"/>
                </a:lnTo>
                <a:cubicBezTo>
                  <a:pt x="139588" y="329902"/>
                  <a:pt x="141671" y="331986"/>
                  <a:pt x="144241" y="331986"/>
                </a:cubicBezTo>
                <a:lnTo>
                  <a:pt x="167505" y="331986"/>
                </a:lnTo>
                <a:cubicBezTo>
                  <a:pt x="167505" y="316566"/>
                  <a:pt x="180005" y="304069"/>
                  <a:pt x="195423" y="304069"/>
                </a:cubicBezTo>
                <a:lnTo>
                  <a:pt x="232646" y="304069"/>
                </a:lnTo>
                <a:cubicBezTo>
                  <a:pt x="248064" y="304069"/>
                  <a:pt x="260564" y="316566"/>
                  <a:pt x="260564" y="331986"/>
                </a:cubicBezTo>
                <a:lnTo>
                  <a:pt x="283829" y="331986"/>
                </a:lnTo>
                <a:cubicBezTo>
                  <a:pt x="286399" y="331986"/>
                  <a:pt x="288481" y="329902"/>
                  <a:pt x="288481" y="327333"/>
                </a:cubicBezTo>
                <a:lnTo>
                  <a:pt x="288481" y="285457"/>
                </a:lnTo>
                <a:cubicBezTo>
                  <a:pt x="288481" y="280194"/>
                  <a:pt x="291454" y="275373"/>
                  <a:pt x="296146" y="272996"/>
                </a:cubicBezTo>
                <a:lnTo>
                  <a:pt x="296393" y="272864"/>
                </a:lnTo>
                <a:cubicBezTo>
                  <a:pt x="296652" y="272723"/>
                  <a:pt x="297097" y="272475"/>
                  <a:pt x="297700" y="272116"/>
                </a:cubicBezTo>
                <a:cubicBezTo>
                  <a:pt x="298908" y="271398"/>
                  <a:pt x="300739" y="270242"/>
                  <a:pt x="302991" y="268615"/>
                </a:cubicBezTo>
                <a:cubicBezTo>
                  <a:pt x="307508" y="265353"/>
                  <a:pt x="313626" y="260264"/>
                  <a:pt x="319760" y="253108"/>
                </a:cubicBezTo>
                <a:cubicBezTo>
                  <a:pt x="331901" y="238944"/>
                  <a:pt x="344317" y="216482"/>
                  <a:pt x="344317" y="183093"/>
                </a:cubicBezTo>
                <a:cubicBezTo>
                  <a:pt x="344317" y="164358"/>
                  <a:pt x="340814" y="149212"/>
                  <a:pt x="334849" y="136794"/>
                </a:cubicBezTo>
                <a:cubicBezTo>
                  <a:pt x="341510" y="127954"/>
                  <a:pt x="346531" y="118006"/>
                  <a:pt x="349703" y="107463"/>
                </a:cubicBezTo>
                <a:cubicBezTo>
                  <a:pt x="351549" y="109992"/>
                  <a:pt x="353300" y="112617"/>
                  <a:pt x="354949" y="115343"/>
                </a:cubicBezTo>
                <a:cubicBezTo>
                  <a:pt x="366195" y="133921"/>
                  <a:pt x="372234" y="156346"/>
                  <a:pt x="372234" y="183093"/>
                </a:cubicBezTo>
                <a:cubicBezTo>
                  <a:pt x="372234" y="224148"/>
                  <a:pt x="356733" y="252870"/>
                  <a:pt x="340955" y="271277"/>
                </a:cubicBezTo>
                <a:cubicBezTo>
                  <a:pt x="333131" y="280406"/>
                  <a:pt x="325290" y="286948"/>
                  <a:pt x="319338" y="291247"/>
                </a:cubicBezTo>
                <a:cubicBezTo>
                  <a:pt x="318299" y="291997"/>
                  <a:pt x="317317" y="292680"/>
                  <a:pt x="316399" y="293298"/>
                </a:cubicBezTo>
                <a:lnTo>
                  <a:pt x="316399" y="327333"/>
                </a:lnTo>
                <a:cubicBezTo>
                  <a:pt x="316399" y="345321"/>
                  <a:pt x="301817" y="359904"/>
                  <a:pt x="283829" y="359904"/>
                </a:cubicBezTo>
                <a:lnTo>
                  <a:pt x="260564" y="359904"/>
                </a:lnTo>
                <a:cubicBezTo>
                  <a:pt x="245146" y="359904"/>
                  <a:pt x="232646" y="347404"/>
                  <a:pt x="232646" y="331986"/>
                </a:cubicBezTo>
                <a:lnTo>
                  <a:pt x="195423" y="331986"/>
                </a:lnTo>
                <a:cubicBezTo>
                  <a:pt x="195423" y="347404"/>
                  <a:pt x="182923" y="359904"/>
                  <a:pt x="167505" y="359904"/>
                </a:cubicBezTo>
                <a:lnTo>
                  <a:pt x="144241" y="359904"/>
                </a:lnTo>
                <a:cubicBezTo>
                  <a:pt x="126253" y="359904"/>
                  <a:pt x="111670" y="345321"/>
                  <a:pt x="111670" y="327333"/>
                </a:cubicBezTo>
                <a:lnTo>
                  <a:pt x="111670" y="314629"/>
                </a:lnTo>
                <a:cubicBezTo>
                  <a:pt x="109101" y="313762"/>
                  <a:pt x="106185" y="312688"/>
                  <a:pt x="103029" y="311366"/>
                </a:cubicBezTo>
                <a:cubicBezTo>
                  <a:pt x="91935" y="306723"/>
                  <a:pt x="77416" y="298861"/>
                  <a:pt x="64576" y="286021"/>
                </a:cubicBezTo>
                <a:cubicBezTo>
                  <a:pt x="49984" y="271429"/>
                  <a:pt x="40211" y="256203"/>
                  <a:pt x="34713" y="246359"/>
                </a:cubicBezTo>
                <a:cubicBezTo>
                  <a:pt x="33090" y="243456"/>
                  <a:pt x="30666" y="241904"/>
                  <a:pt x="28591" y="241557"/>
                </a:cubicBezTo>
                <a:cubicBezTo>
                  <a:pt x="12093" y="238809"/>
                  <a:pt x="0" y="224533"/>
                  <a:pt x="0" y="207807"/>
                </a:cubicBezTo>
                <a:lnTo>
                  <a:pt x="0" y="175183"/>
                </a:lnTo>
                <a:cubicBezTo>
                  <a:pt x="0" y="159498"/>
                  <a:pt x="11339" y="146113"/>
                  <a:pt x="26810" y="143533"/>
                </a:cubicBezTo>
                <a:cubicBezTo>
                  <a:pt x="28428" y="143263"/>
                  <a:pt x="30812" y="141657"/>
                  <a:pt x="31947" y="138257"/>
                </a:cubicBezTo>
                <a:cubicBezTo>
                  <a:pt x="35527" y="127532"/>
                  <a:pt x="42474" y="111572"/>
                  <a:pt x="55271" y="98775"/>
                </a:cubicBezTo>
                <a:cubicBezTo>
                  <a:pt x="65738" y="88307"/>
                  <a:pt x="77329" y="80618"/>
                  <a:pt x="86133" y="75587"/>
                </a:cubicBezTo>
                <a:cubicBezTo>
                  <a:pt x="88671" y="74137"/>
                  <a:pt x="91008" y="72890"/>
                  <a:pt x="93059" y="71846"/>
                </a:cubicBezTo>
                <a:lnTo>
                  <a:pt x="93059" y="18772"/>
                </a:lnTo>
                <a:cubicBezTo>
                  <a:pt x="93059" y="1316"/>
                  <a:pt x="114101" y="-5849"/>
                  <a:pt x="125440" y="5442"/>
                </a:cubicBezTo>
                <a:cubicBezTo>
                  <a:pt x="131591" y="11566"/>
                  <a:pt x="140520" y="19734"/>
                  <a:pt x="150403" y="26554"/>
                </a:cubicBezTo>
                <a:close/>
                <a:moveTo>
                  <a:pt x="206032" y="115122"/>
                </a:moveTo>
                <a:cubicBezTo>
                  <a:pt x="196910" y="111345"/>
                  <a:pt x="189214" y="104174"/>
                  <a:pt x="187381" y="94473"/>
                </a:cubicBezTo>
                <a:cubicBezTo>
                  <a:pt x="180978" y="60572"/>
                  <a:pt x="198933" y="25679"/>
                  <a:pt x="232068" y="11950"/>
                </a:cubicBezTo>
                <a:cubicBezTo>
                  <a:pt x="270052" y="-3787"/>
                  <a:pt x="313604" y="14248"/>
                  <a:pt x="329342" y="52232"/>
                </a:cubicBezTo>
                <a:cubicBezTo>
                  <a:pt x="343070" y="85368"/>
                  <a:pt x="331099" y="122739"/>
                  <a:pt x="302602" y="142188"/>
                </a:cubicBezTo>
                <a:cubicBezTo>
                  <a:pt x="294448" y="147753"/>
                  <a:pt x="283935" y="147384"/>
                  <a:pt x="274813" y="143606"/>
                </a:cubicBezTo>
                <a:lnTo>
                  <a:pt x="206032" y="115122"/>
                </a:lnTo>
                <a:close/>
                <a:moveTo>
                  <a:pt x="287813" y="118463"/>
                </a:moveTo>
                <a:cubicBezTo>
                  <a:pt x="304929" y="106140"/>
                  <a:pt x="311964" y="83226"/>
                  <a:pt x="303550" y="62918"/>
                </a:cubicBezTo>
                <a:cubicBezTo>
                  <a:pt x="293713" y="39178"/>
                  <a:pt x="266494" y="27906"/>
                  <a:pt x="242754" y="37742"/>
                </a:cubicBezTo>
                <a:cubicBezTo>
                  <a:pt x="222447" y="46156"/>
                  <a:pt x="211222" y="67335"/>
                  <a:pt x="214613" y="88150"/>
                </a:cubicBezTo>
                <a:cubicBezTo>
                  <a:pt x="214721" y="88235"/>
                  <a:pt x="214854" y="88332"/>
                  <a:pt x="215012" y="88437"/>
                </a:cubicBezTo>
                <a:cubicBezTo>
                  <a:pt x="215451" y="88730"/>
                  <a:pt x="216022" y="89043"/>
                  <a:pt x="216713" y="89329"/>
                </a:cubicBezTo>
                <a:lnTo>
                  <a:pt x="285494" y="117813"/>
                </a:lnTo>
                <a:cubicBezTo>
                  <a:pt x="286187" y="118099"/>
                  <a:pt x="286812" y="118281"/>
                  <a:pt x="287329" y="118385"/>
                </a:cubicBezTo>
                <a:cubicBezTo>
                  <a:pt x="287516" y="118422"/>
                  <a:pt x="287677" y="118447"/>
                  <a:pt x="287813" y="118463"/>
                </a:cubicBezTo>
                <a:close/>
                <a:moveTo>
                  <a:pt x="130282" y="136562"/>
                </a:moveTo>
                <a:cubicBezTo>
                  <a:pt x="130282" y="146841"/>
                  <a:pt x="121949" y="155173"/>
                  <a:pt x="111670" y="155173"/>
                </a:cubicBezTo>
                <a:cubicBezTo>
                  <a:pt x="101391" y="155173"/>
                  <a:pt x="93059" y="146841"/>
                  <a:pt x="93059" y="136562"/>
                </a:cubicBezTo>
                <a:cubicBezTo>
                  <a:pt x="93059" y="126283"/>
                  <a:pt x="101391" y="117950"/>
                  <a:pt x="111670" y="117950"/>
                </a:cubicBezTo>
                <a:cubicBezTo>
                  <a:pt x="121949" y="117950"/>
                  <a:pt x="130282" y="126283"/>
                  <a:pt x="130282" y="136562"/>
                </a:cubicBez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graphicFrame>
        <p:nvGraphicFramePr>
          <p:cNvPr id="63" name="Table 62">
            <a:extLst>
              <a:ext uri="{FF2B5EF4-FFF2-40B4-BE49-F238E27FC236}">
                <a16:creationId xmlns:a16="http://schemas.microsoft.com/office/drawing/2014/main" id="{EC3C8283-CDA2-2A97-4C8B-9EA78FDFCD9C}"/>
              </a:ext>
            </a:extLst>
          </p:cNvPr>
          <p:cNvGraphicFramePr>
            <a:graphicFrameLocks noGrp="1"/>
          </p:cNvGraphicFramePr>
          <p:nvPr/>
        </p:nvGraphicFramePr>
        <p:xfrm>
          <a:off x="5911132" y="1902349"/>
          <a:ext cx="5556780" cy="1239754"/>
        </p:xfrm>
        <a:graphic>
          <a:graphicData uri="http://schemas.openxmlformats.org/drawingml/2006/table">
            <a:tbl>
              <a:tblPr firstRow="1" bandRow="1">
                <a:tableStyleId>{2D5ABB26-0587-4C30-8999-92F81FD0307C}</a:tableStyleId>
              </a:tblPr>
              <a:tblGrid>
                <a:gridCol w="1389195">
                  <a:extLst>
                    <a:ext uri="{9D8B030D-6E8A-4147-A177-3AD203B41FA5}">
                      <a16:colId xmlns:a16="http://schemas.microsoft.com/office/drawing/2014/main" val="763213795"/>
                    </a:ext>
                  </a:extLst>
                </a:gridCol>
                <a:gridCol w="1389195">
                  <a:extLst>
                    <a:ext uri="{9D8B030D-6E8A-4147-A177-3AD203B41FA5}">
                      <a16:colId xmlns:a16="http://schemas.microsoft.com/office/drawing/2014/main" val="2931493578"/>
                    </a:ext>
                  </a:extLst>
                </a:gridCol>
                <a:gridCol w="1389195">
                  <a:extLst>
                    <a:ext uri="{9D8B030D-6E8A-4147-A177-3AD203B41FA5}">
                      <a16:colId xmlns:a16="http://schemas.microsoft.com/office/drawing/2014/main" val="1229633216"/>
                    </a:ext>
                  </a:extLst>
                </a:gridCol>
                <a:gridCol w="1389195">
                  <a:extLst>
                    <a:ext uri="{9D8B030D-6E8A-4147-A177-3AD203B41FA5}">
                      <a16:colId xmlns:a16="http://schemas.microsoft.com/office/drawing/2014/main" val="1709666378"/>
                    </a:ext>
                  </a:extLst>
                </a:gridCol>
              </a:tblGrid>
              <a:tr h="346614">
                <a:tc>
                  <a:txBody>
                    <a:bodyPr/>
                    <a:lstStyle/>
                    <a:p>
                      <a:pPr algn="l"/>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AI &amp;</a:t>
                      </a:r>
                      <a:b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br>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Copilot advisory</a:t>
                      </a:r>
                      <a:endParaRPr lang="en-US" sz="1000">
                        <a:solidFill>
                          <a:srgbClr val="0078D4"/>
                        </a:solidFill>
                        <a:latin typeface="+mj-lt"/>
                      </a:endParaRPr>
                    </a:p>
                  </a:txBody>
                  <a:tcPr anchor="b">
                    <a:lnL>
                      <a:noFill/>
                    </a:lnL>
                    <a:lnR w="9525" cap="flat" cmpd="sng" algn="ctr">
                      <a:solidFill>
                        <a:schemeClr val="bg1"/>
                      </a:solid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Get ready &amp; deploy</a:t>
                      </a:r>
                      <a:endParaRPr lang="en-US" sz="1000">
                        <a:solidFill>
                          <a:srgbClr val="0078D4"/>
                        </a:solidFill>
                        <a:latin typeface="+mj-lt"/>
                      </a:endParaRPr>
                    </a:p>
                  </a:txBody>
                  <a:tcPr anchor="b">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Adoption &amp; change management</a:t>
                      </a:r>
                      <a:endParaRPr lang="en-US" sz="1000">
                        <a:solidFill>
                          <a:srgbClr val="0078D4"/>
                        </a:solidFill>
                        <a:latin typeface="+mj-lt"/>
                      </a:endParaRPr>
                    </a:p>
                  </a:txBody>
                  <a:tcPr anchor="b">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Copilot Agents</a:t>
                      </a:r>
                      <a:endParaRPr lang="en-US" sz="1000">
                        <a:solidFill>
                          <a:srgbClr val="0078D4"/>
                        </a:solidFill>
                        <a:latin typeface="+mj-lt"/>
                      </a:endParaRPr>
                    </a:p>
                  </a:txBody>
                  <a:tcPr anchor="b">
                    <a:lnL w="9525" cap="flat" cmpd="sng" algn="ctr">
                      <a:solidFill>
                        <a:schemeClr val="bg1"/>
                      </a:solidFill>
                      <a:prstDash val="solid"/>
                      <a:round/>
                      <a:headEnd type="none" w="med" len="med"/>
                      <a:tailEnd type="none" w="med" len="med"/>
                    </a:lnL>
                    <a:lnR>
                      <a:noFill/>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20644008"/>
                  </a:ext>
                </a:extLst>
              </a:tr>
              <a:tr h="8435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000000"/>
                          </a:solidFill>
                          <a:latin typeface="+mn-lt"/>
                        </a:rPr>
                        <a:t>[Insert service value prop]</a:t>
                      </a:r>
                    </a:p>
                  </a:txBody>
                  <a:tcPr>
                    <a:lnL>
                      <a:noFill/>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000000"/>
                          </a:solidFill>
                          <a:latin typeface="+mn-lt"/>
                        </a:rPr>
                        <a:t>[Insert service value prop]</a:t>
                      </a:r>
                    </a:p>
                    <a:p>
                      <a:endParaRPr lang="en-US" sz="1000">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000000"/>
                          </a:solidFill>
                          <a:latin typeface="+mn-lt"/>
                        </a:rPr>
                        <a:t>[Insert service value prop]</a:t>
                      </a:r>
                    </a:p>
                    <a:p>
                      <a:endParaRPr lang="en-US" sz="1000">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000000"/>
                          </a:solidFill>
                          <a:latin typeface="+mn-lt"/>
                        </a:rPr>
                        <a:t>[Insert service value prop]</a:t>
                      </a:r>
                    </a:p>
                    <a:p>
                      <a:endParaRPr lang="en-US" sz="1000">
                        <a:latin typeface="+mn-lt"/>
                      </a:endParaRPr>
                    </a:p>
                  </a:txBody>
                  <a:tcPr>
                    <a:lnL w="9525" cap="flat" cmpd="sng" algn="ctr">
                      <a:solidFill>
                        <a:schemeClr val="bg1"/>
                      </a:solidFill>
                      <a:prstDash val="solid"/>
                      <a:round/>
                      <a:headEnd type="none" w="med" len="med"/>
                      <a:tailEnd type="none" w="med" len="med"/>
                    </a:lnL>
                    <a:lnR>
                      <a:noFill/>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008714714"/>
                  </a:ext>
                </a:extLst>
              </a:tr>
            </a:tbl>
          </a:graphicData>
        </a:graphic>
      </p:graphicFrame>
      <p:sp>
        <p:nvSpPr>
          <p:cNvPr id="64" name="Graphic 47" descr="Icon of a piggy bank ">
            <a:extLst>
              <a:ext uri="{FF2B5EF4-FFF2-40B4-BE49-F238E27FC236}">
                <a16:creationId xmlns:a16="http://schemas.microsoft.com/office/drawing/2014/main" id="{22B1687A-5616-27A0-C3BF-E00306DF29B4}"/>
              </a:ext>
            </a:extLst>
          </p:cNvPr>
          <p:cNvSpPr>
            <a:spLocks noChangeAspect="1"/>
          </p:cNvSpPr>
          <p:nvPr/>
        </p:nvSpPr>
        <p:spPr>
          <a:xfrm>
            <a:off x="5951548" y="4644082"/>
            <a:ext cx="200060" cy="193432"/>
          </a:xfrm>
          <a:custGeom>
            <a:avLst/>
            <a:gdLst>
              <a:gd name="connsiteX0" fmla="*/ 150403 w 372234"/>
              <a:gd name="connsiteY0" fmla="*/ 26554 h 359903"/>
              <a:gd name="connsiteX1" fmla="*/ 177466 w 372234"/>
              <a:gd name="connsiteY1" fmla="*/ 38837 h 359903"/>
              <a:gd name="connsiteX2" fmla="*/ 168732 w 372234"/>
              <a:gd name="connsiteY2" fmla="*/ 65624 h 359903"/>
              <a:gd name="connsiteX3" fmla="*/ 134547 w 372234"/>
              <a:gd name="connsiteY3" fmla="*/ 49532 h 359903"/>
              <a:gd name="connsiteX4" fmla="*/ 120976 w 372234"/>
              <a:gd name="connsiteY4" fmla="*/ 39162 h 359903"/>
              <a:gd name="connsiteX5" fmla="*/ 120976 w 372234"/>
              <a:gd name="connsiteY5" fmla="*/ 80727 h 359903"/>
              <a:gd name="connsiteX6" fmla="*/ 112224 w 372234"/>
              <a:gd name="connsiteY6" fmla="*/ 93679 h 359903"/>
              <a:gd name="connsiteX7" fmla="*/ 112108 w 372234"/>
              <a:gd name="connsiteY7" fmla="*/ 93727 h 359903"/>
              <a:gd name="connsiteX8" fmla="*/ 111522 w 372234"/>
              <a:gd name="connsiteY8" fmla="*/ 93976 h 359903"/>
              <a:gd name="connsiteX9" fmla="*/ 109035 w 372234"/>
              <a:gd name="connsiteY9" fmla="*/ 95103 h 359903"/>
              <a:gd name="connsiteX10" fmla="*/ 99984 w 372234"/>
              <a:gd name="connsiteY10" fmla="*/ 99827 h 359903"/>
              <a:gd name="connsiteX11" fmla="*/ 75011 w 372234"/>
              <a:gd name="connsiteY11" fmla="*/ 118515 h 359903"/>
              <a:gd name="connsiteX12" fmla="*/ 58428 w 372234"/>
              <a:gd name="connsiteY12" fmla="*/ 147096 h 359903"/>
              <a:gd name="connsiteX13" fmla="*/ 31400 w 372234"/>
              <a:gd name="connsiteY13" fmla="*/ 171071 h 359903"/>
              <a:gd name="connsiteX14" fmla="*/ 27918 w 372234"/>
              <a:gd name="connsiteY14" fmla="*/ 175183 h 359903"/>
              <a:gd name="connsiteX15" fmla="*/ 27918 w 372234"/>
              <a:gd name="connsiteY15" fmla="*/ 207807 h 359903"/>
              <a:gd name="connsiteX16" fmla="*/ 33181 w 372234"/>
              <a:gd name="connsiteY16" fmla="*/ 214021 h 359903"/>
              <a:gd name="connsiteX17" fmla="*/ 59085 w 372234"/>
              <a:gd name="connsiteY17" fmla="*/ 232745 h 359903"/>
              <a:gd name="connsiteX18" fmla="*/ 84317 w 372234"/>
              <a:gd name="connsiteY18" fmla="*/ 266279 h 359903"/>
              <a:gd name="connsiteX19" fmla="*/ 113807 w 372234"/>
              <a:gd name="connsiteY19" fmla="*/ 285613 h 359903"/>
              <a:gd name="connsiteX20" fmla="*/ 124606 w 372234"/>
              <a:gd name="connsiteY20" fmla="*/ 289427 h 359903"/>
              <a:gd name="connsiteX21" fmla="*/ 127546 w 372234"/>
              <a:gd name="connsiteY21" fmla="*/ 290197 h 359903"/>
              <a:gd name="connsiteX22" fmla="*/ 128214 w 372234"/>
              <a:gd name="connsiteY22" fmla="*/ 290348 h 359903"/>
              <a:gd name="connsiteX23" fmla="*/ 128304 w 372234"/>
              <a:gd name="connsiteY23" fmla="*/ 290369 h 359903"/>
              <a:gd name="connsiteX24" fmla="*/ 128324 w 372234"/>
              <a:gd name="connsiteY24" fmla="*/ 290372 h 359903"/>
              <a:gd name="connsiteX25" fmla="*/ 139588 w 372234"/>
              <a:gd name="connsiteY25" fmla="*/ 304069 h 359903"/>
              <a:gd name="connsiteX26" fmla="*/ 139588 w 372234"/>
              <a:gd name="connsiteY26" fmla="*/ 327333 h 359903"/>
              <a:gd name="connsiteX27" fmla="*/ 144241 w 372234"/>
              <a:gd name="connsiteY27" fmla="*/ 331986 h 359903"/>
              <a:gd name="connsiteX28" fmla="*/ 167505 w 372234"/>
              <a:gd name="connsiteY28" fmla="*/ 331986 h 359903"/>
              <a:gd name="connsiteX29" fmla="*/ 195423 w 372234"/>
              <a:gd name="connsiteY29" fmla="*/ 304069 h 359903"/>
              <a:gd name="connsiteX30" fmla="*/ 232646 w 372234"/>
              <a:gd name="connsiteY30" fmla="*/ 304069 h 359903"/>
              <a:gd name="connsiteX31" fmla="*/ 260564 w 372234"/>
              <a:gd name="connsiteY31" fmla="*/ 331986 h 359903"/>
              <a:gd name="connsiteX32" fmla="*/ 283829 w 372234"/>
              <a:gd name="connsiteY32" fmla="*/ 331986 h 359903"/>
              <a:gd name="connsiteX33" fmla="*/ 288481 w 372234"/>
              <a:gd name="connsiteY33" fmla="*/ 327333 h 359903"/>
              <a:gd name="connsiteX34" fmla="*/ 288481 w 372234"/>
              <a:gd name="connsiteY34" fmla="*/ 285457 h 359903"/>
              <a:gd name="connsiteX35" fmla="*/ 296146 w 372234"/>
              <a:gd name="connsiteY35" fmla="*/ 272996 h 359903"/>
              <a:gd name="connsiteX36" fmla="*/ 296393 w 372234"/>
              <a:gd name="connsiteY36" fmla="*/ 272864 h 359903"/>
              <a:gd name="connsiteX37" fmla="*/ 297700 w 372234"/>
              <a:gd name="connsiteY37" fmla="*/ 272116 h 359903"/>
              <a:gd name="connsiteX38" fmla="*/ 302991 w 372234"/>
              <a:gd name="connsiteY38" fmla="*/ 268615 h 359903"/>
              <a:gd name="connsiteX39" fmla="*/ 319760 w 372234"/>
              <a:gd name="connsiteY39" fmla="*/ 253108 h 359903"/>
              <a:gd name="connsiteX40" fmla="*/ 344317 w 372234"/>
              <a:gd name="connsiteY40" fmla="*/ 183093 h 359903"/>
              <a:gd name="connsiteX41" fmla="*/ 334849 w 372234"/>
              <a:gd name="connsiteY41" fmla="*/ 136794 h 359903"/>
              <a:gd name="connsiteX42" fmla="*/ 349703 w 372234"/>
              <a:gd name="connsiteY42" fmla="*/ 107463 h 359903"/>
              <a:gd name="connsiteX43" fmla="*/ 354949 w 372234"/>
              <a:gd name="connsiteY43" fmla="*/ 115343 h 359903"/>
              <a:gd name="connsiteX44" fmla="*/ 372234 w 372234"/>
              <a:gd name="connsiteY44" fmla="*/ 183093 h 359903"/>
              <a:gd name="connsiteX45" fmla="*/ 340955 w 372234"/>
              <a:gd name="connsiteY45" fmla="*/ 271277 h 359903"/>
              <a:gd name="connsiteX46" fmla="*/ 319338 w 372234"/>
              <a:gd name="connsiteY46" fmla="*/ 291247 h 359903"/>
              <a:gd name="connsiteX47" fmla="*/ 316399 w 372234"/>
              <a:gd name="connsiteY47" fmla="*/ 293298 h 359903"/>
              <a:gd name="connsiteX48" fmla="*/ 316399 w 372234"/>
              <a:gd name="connsiteY48" fmla="*/ 327333 h 359903"/>
              <a:gd name="connsiteX49" fmla="*/ 283829 w 372234"/>
              <a:gd name="connsiteY49" fmla="*/ 359904 h 359903"/>
              <a:gd name="connsiteX50" fmla="*/ 260564 w 372234"/>
              <a:gd name="connsiteY50" fmla="*/ 359904 h 359903"/>
              <a:gd name="connsiteX51" fmla="*/ 232646 w 372234"/>
              <a:gd name="connsiteY51" fmla="*/ 331986 h 359903"/>
              <a:gd name="connsiteX52" fmla="*/ 195423 w 372234"/>
              <a:gd name="connsiteY52" fmla="*/ 331986 h 359903"/>
              <a:gd name="connsiteX53" fmla="*/ 167505 w 372234"/>
              <a:gd name="connsiteY53" fmla="*/ 359904 h 359903"/>
              <a:gd name="connsiteX54" fmla="*/ 144241 w 372234"/>
              <a:gd name="connsiteY54" fmla="*/ 359904 h 359903"/>
              <a:gd name="connsiteX55" fmla="*/ 111670 w 372234"/>
              <a:gd name="connsiteY55" fmla="*/ 327333 h 359903"/>
              <a:gd name="connsiteX56" fmla="*/ 111670 w 372234"/>
              <a:gd name="connsiteY56" fmla="*/ 314629 h 359903"/>
              <a:gd name="connsiteX57" fmla="*/ 103029 w 372234"/>
              <a:gd name="connsiteY57" fmla="*/ 311366 h 359903"/>
              <a:gd name="connsiteX58" fmla="*/ 64576 w 372234"/>
              <a:gd name="connsiteY58" fmla="*/ 286021 h 359903"/>
              <a:gd name="connsiteX59" fmla="*/ 34713 w 372234"/>
              <a:gd name="connsiteY59" fmla="*/ 246359 h 359903"/>
              <a:gd name="connsiteX60" fmla="*/ 28591 w 372234"/>
              <a:gd name="connsiteY60" fmla="*/ 241557 h 359903"/>
              <a:gd name="connsiteX61" fmla="*/ 0 w 372234"/>
              <a:gd name="connsiteY61" fmla="*/ 207807 h 359903"/>
              <a:gd name="connsiteX62" fmla="*/ 0 w 372234"/>
              <a:gd name="connsiteY62" fmla="*/ 175183 h 359903"/>
              <a:gd name="connsiteX63" fmla="*/ 26810 w 372234"/>
              <a:gd name="connsiteY63" fmla="*/ 143533 h 359903"/>
              <a:gd name="connsiteX64" fmla="*/ 31947 w 372234"/>
              <a:gd name="connsiteY64" fmla="*/ 138257 h 359903"/>
              <a:gd name="connsiteX65" fmla="*/ 55271 w 372234"/>
              <a:gd name="connsiteY65" fmla="*/ 98775 h 359903"/>
              <a:gd name="connsiteX66" fmla="*/ 86133 w 372234"/>
              <a:gd name="connsiteY66" fmla="*/ 75587 h 359903"/>
              <a:gd name="connsiteX67" fmla="*/ 93059 w 372234"/>
              <a:gd name="connsiteY67" fmla="*/ 71846 h 359903"/>
              <a:gd name="connsiteX68" fmla="*/ 93059 w 372234"/>
              <a:gd name="connsiteY68" fmla="*/ 18772 h 359903"/>
              <a:gd name="connsiteX69" fmla="*/ 125440 w 372234"/>
              <a:gd name="connsiteY69" fmla="*/ 5442 h 359903"/>
              <a:gd name="connsiteX70" fmla="*/ 150403 w 372234"/>
              <a:gd name="connsiteY70" fmla="*/ 26554 h 359903"/>
              <a:gd name="connsiteX71" fmla="*/ 206032 w 372234"/>
              <a:gd name="connsiteY71" fmla="*/ 115122 h 359903"/>
              <a:gd name="connsiteX72" fmla="*/ 187381 w 372234"/>
              <a:gd name="connsiteY72" fmla="*/ 94473 h 359903"/>
              <a:gd name="connsiteX73" fmla="*/ 232068 w 372234"/>
              <a:gd name="connsiteY73" fmla="*/ 11950 h 359903"/>
              <a:gd name="connsiteX74" fmla="*/ 329342 w 372234"/>
              <a:gd name="connsiteY74" fmla="*/ 52232 h 359903"/>
              <a:gd name="connsiteX75" fmla="*/ 302602 w 372234"/>
              <a:gd name="connsiteY75" fmla="*/ 142188 h 359903"/>
              <a:gd name="connsiteX76" fmla="*/ 274813 w 372234"/>
              <a:gd name="connsiteY76" fmla="*/ 143606 h 359903"/>
              <a:gd name="connsiteX77" fmla="*/ 206032 w 372234"/>
              <a:gd name="connsiteY77" fmla="*/ 115122 h 359903"/>
              <a:gd name="connsiteX78" fmla="*/ 287813 w 372234"/>
              <a:gd name="connsiteY78" fmla="*/ 118463 h 359903"/>
              <a:gd name="connsiteX79" fmla="*/ 303550 w 372234"/>
              <a:gd name="connsiteY79" fmla="*/ 62918 h 359903"/>
              <a:gd name="connsiteX80" fmla="*/ 242754 w 372234"/>
              <a:gd name="connsiteY80" fmla="*/ 37742 h 359903"/>
              <a:gd name="connsiteX81" fmla="*/ 214613 w 372234"/>
              <a:gd name="connsiteY81" fmla="*/ 88150 h 359903"/>
              <a:gd name="connsiteX82" fmla="*/ 215012 w 372234"/>
              <a:gd name="connsiteY82" fmla="*/ 88437 h 359903"/>
              <a:gd name="connsiteX83" fmla="*/ 216713 w 372234"/>
              <a:gd name="connsiteY83" fmla="*/ 89329 h 359903"/>
              <a:gd name="connsiteX84" fmla="*/ 285494 w 372234"/>
              <a:gd name="connsiteY84" fmla="*/ 117813 h 359903"/>
              <a:gd name="connsiteX85" fmla="*/ 287329 w 372234"/>
              <a:gd name="connsiteY85" fmla="*/ 118385 h 359903"/>
              <a:gd name="connsiteX86" fmla="*/ 287813 w 372234"/>
              <a:gd name="connsiteY86" fmla="*/ 118463 h 359903"/>
              <a:gd name="connsiteX87" fmla="*/ 130282 w 372234"/>
              <a:gd name="connsiteY87" fmla="*/ 136562 h 359903"/>
              <a:gd name="connsiteX88" fmla="*/ 111670 w 372234"/>
              <a:gd name="connsiteY88" fmla="*/ 155173 h 359903"/>
              <a:gd name="connsiteX89" fmla="*/ 93059 w 372234"/>
              <a:gd name="connsiteY89" fmla="*/ 136562 h 359903"/>
              <a:gd name="connsiteX90" fmla="*/ 111670 w 372234"/>
              <a:gd name="connsiteY90" fmla="*/ 117950 h 359903"/>
              <a:gd name="connsiteX91" fmla="*/ 130282 w 372234"/>
              <a:gd name="connsiteY91" fmla="*/ 136562 h 359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372234" h="359903">
                <a:moveTo>
                  <a:pt x="150403" y="26554"/>
                </a:moveTo>
                <a:cubicBezTo>
                  <a:pt x="160267" y="33362"/>
                  <a:pt x="169696" y="37848"/>
                  <a:pt x="177466" y="38837"/>
                </a:cubicBezTo>
                <a:cubicBezTo>
                  <a:pt x="173230" y="47251"/>
                  <a:pt x="170275" y="56288"/>
                  <a:pt x="168732" y="65624"/>
                </a:cubicBezTo>
                <a:cubicBezTo>
                  <a:pt x="156199" y="62874"/>
                  <a:pt x="144307" y="56267"/>
                  <a:pt x="134547" y="49532"/>
                </a:cubicBezTo>
                <a:cubicBezTo>
                  <a:pt x="129722" y="46202"/>
                  <a:pt x="125154" y="42655"/>
                  <a:pt x="120976" y="39162"/>
                </a:cubicBezTo>
                <a:lnTo>
                  <a:pt x="120976" y="80727"/>
                </a:lnTo>
                <a:cubicBezTo>
                  <a:pt x="120976" y="86427"/>
                  <a:pt x="117511" y="91554"/>
                  <a:pt x="112224" y="93679"/>
                </a:cubicBezTo>
                <a:lnTo>
                  <a:pt x="112108" y="93727"/>
                </a:lnTo>
                <a:cubicBezTo>
                  <a:pt x="111993" y="93775"/>
                  <a:pt x="111795" y="93858"/>
                  <a:pt x="111522" y="93976"/>
                </a:cubicBezTo>
                <a:cubicBezTo>
                  <a:pt x="110975" y="94212"/>
                  <a:pt x="110128" y="94588"/>
                  <a:pt x="109035" y="95103"/>
                </a:cubicBezTo>
                <a:cubicBezTo>
                  <a:pt x="106844" y="96133"/>
                  <a:pt x="103688" y="97710"/>
                  <a:pt x="99984" y="99827"/>
                </a:cubicBezTo>
                <a:cubicBezTo>
                  <a:pt x="92502" y="104102"/>
                  <a:pt x="83155" y="110371"/>
                  <a:pt x="75011" y="118515"/>
                </a:cubicBezTo>
                <a:cubicBezTo>
                  <a:pt x="66571" y="126956"/>
                  <a:pt x="61367" y="138292"/>
                  <a:pt x="58428" y="147096"/>
                </a:cubicBezTo>
                <a:cubicBezTo>
                  <a:pt x="54659" y="158387"/>
                  <a:pt x="45062" y="168795"/>
                  <a:pt x="31400" y="171071"/>
                </a:cubicBezTo>
                <a:cubicBezTo>
                  <a:pt x="29390" y="171406"/>
                  <a:pt x="27918" y="173145"/>
                  <a:pt x="27918" y="175183"/>
                </a:cubicBezTo>
                <a:lnTo>
                  <a:pt x="27918" y="207807"/>
                </a:lnTo>
                <a:cubicBezTo>
                  <a:pt x="27918" y="210887"/>
                  <a:pt x="30144" y="213515"/>
                  <a:pt x="33181" y="214021"/>
                </a:cubicBezTo>
                <a:cubicBezTo>
                  <a:pt x="44793" y="215955"/>
                  <a:pt x="53941" y="223536"/>
                  <a:pt x="59085" y="232745"/>
                </a:cubicBezTo>
                <a:cubicBezTo>
                  <a:pt x="63764" y="241120"/>
                  <a:pt x="72081" y="254044"/>
                  <a:pt x="84317" y="266279"/>
                </a:cubicBezTo>
                <a:cubicBezTo>
                  <a:pt x="93825" y="275788"/>
                  <a:pt x="104897" y="281883"/>
                  <a:pt x="113807" y="285613"/>
                </a:cubicBezTo>
                <a:cubicBezTo>
                  <a:pt x="118223" y="287461"/>
                  <a:pt x="121996" y="288680"/>
                  <a:pt x="124606" y="289427"/>
                </a:cubicBezTo>
                <a:cubicBezTo>
                  <a:pt x="125908" y="289797"/>
                  <a:pt x="126910" y="290048"/>
                  <a:pt x="127546" y="290197"/>
                </a:cubicBezTo>
                <a:cubicBezTo>
                  <a:pt x="127864" y="290272"/>
                  <a:pt x="128089" y="290322"/>
                  <a:pt x="128214" y="290348"/>
                </a:cubicBezTo>
                <a:lnTo>
                  <a:pt x="128304" y="290369"/>
                </a:lnTo>
                <a:lnTo>
                  <a:pt x="128324" y="290372"/>
                </a:lnTo>
                <a:cubicBezTo>
                  <a:pt x="134866" y="291658"/>
                  <a:pt x="139588" y="297396"/>
                  <a:pt x="139588" y="304069"/>
                </a:cubicBezTo>
                <a:lnTo>
                  <a:pt x="139588" y="327333"/>
                </a:lnTo>
                <a:cubicBezTo>
                  <a:pt x="139588" y="329902"/>
                  <a:pt x="141671" y="331986"/>
                  <a:pt x="144241" y="331986"/>
                </a:cubicBezTo>
                <a:lnTo>
                  <a:pt x="167505" y="331986"/>
                </a:lnTo>
                <a:cubicBezTo>
                  <a:pt x="167505" y="316566"/>
                  <a:pt x="180005" y="304069"/>
                  <a:pt x="195423" y="304069"/>
                </a:cubicBezTo>
                <a:lnTo>
                  <a:pt x="232646" y="304069"/>
                </a:lnTo>
                <a:cubicBezTo>
                  <a:pt x="248064" y="304069"/>
                  <a:pt x="260564" y="316566"/>
                  <a:pt x="260564" y="331986"/>
                </a:cubicBezTo>
                <a:lnTo>
                  <a:pt x="283829" y="331986"/>
                </a:lnTo>
                <a:cubicBezTo>
                  <a:pt x="286399" y="331986"/>
                  <a:pt x="288481" y="329902"/>
                  <a:pt x="288481" y="327333"/>
                </a:cubicBezTo>
                <a:lnTo>
                  <a:pt x="288481" y="285457"/>
                </a:lnTo>
                <a:cubicBezTo>
                  <a:pt x="288481" y="280194"/>
                  <a:pt x="291454" y="275373"/>
                  <a:pt x="296146" y="272996"/>
                </a:cubicBezTo>
                <a:lnTo>
                  <a:pt x="296393" y="272864"/>
                </a:lnTo>
                <a:cubicBezTo>
                  <a:pt x="296652" y="272723"/>
                  <a:pt x="297097" y="272475"/>
                  <a:pt x="297700" y="272116"/>
                </a:cubicBezTo>
                <a:cubicBezTo>
                  <a:pt x="298908" y="271398"/>
                  <a:pt x="300739" y="270242"/>
                  <a:pt x="302991" y="268615"/>
                </a:cubicBezTo>
                <a:cubicBezTo>
                  <a:pt x="307508" y="265353"/>
                  <a:pt x="313626" y="260264"/>
                  <a:pt x="319760" y="253108"/>
                </a:cubicBezTo>
                <a:cubicBezTo>
                  <a:pt x="331901" y="238944"/>
                  <a:pt x="344317" y="216482"/>
                  <a:pt x="344317" y="183093"/>
                </a:cubicBezTo>
                <a:cubicBezTo>
                  <a:pt x="344317" y="164358"/>
                  <a:pt x="340814" y="149212"/>
                  <a:pt x="334849" y="136794"/>
                </a:cubicBezTo>
                <a:cubicBezTo>
                  <a:pt x="341510" y="127954"/>
                  <a:pt x="346531" y="118006"/>
                  <a:pt x="349703" y="107463"/>
                </a:cubicBezTo>
                <a:cubicBezTo>
                  <a:pt x="351549" y="109992"/>
                  <a:pt x="353300" y="112617"/>
                  <a:pt x="354949" y="115343"/>
                </a:cubicBezTo>
                <a:cubicBezTo>
                  <a:pt x="366195" y="133921"/>
                  <a:pt x="372234" y="156346"/>
                  <a:pt x="372234" y="183093"/>
                </a:cubicBezTo>
                <a:cubicBezTo>
                  <a:pt x="372234" y="224148"/>
                  <a:pt x="356733" y="252870"/>
                  <a:pt x="340955" y="271277"/>
                </a:cubicBezTo>
                <a:cubicBezTo>
                  <a:pt x="333131" y="280406"/>
                  <a:pt x="325290" y="286948"/>
                  <a:pt x="319338" y="291247"/>
                </a:cubicBezTo>
                <a:cubicBezTo>
                  <a:pt x="318299" y="291997"/>
                  <a:pt x="317317" y="292680"/>
                  <a:pt x="316399" y="293298"/>
                </a:cubicBezTo>
                <a:lnTo>
                  <a:pt x="316399" y="327333"/>
                </a:lnTo>
                <a:cubicBezTo>
                  <a:pt x="316399" y="345321"/>
                  <a:pt x="301817" y="359904"/>
                  <a:pt x="283829" y="359904"/>
                </a:cubicBezTo>
                <a:lnTo>
                  <a:pt x="260564" y="359904"/>
                </a:lnTo>
                <a:cubicBezTo>
                  <a:pt x="245146" y="359904"/>
                  <a:pt x="232646" y="347404"/>
                  <a:pt x="232646" y="331986"/>
                </a:cubicBezTo>
                <a:lnTo>
                  <a:pt x="195423" y="331986"/>
                </a:lnTo>
                <a:cubicBezTo>
                  <a:pt x="195423" y="347404"/>
                  <a:pt x="182923" y="359904"/>
                  <a:pt x="167505" y="359904"/>
                </a:cubicBezTo>
                <a:lnTo>
                  <a:pt x="144241" y="359904"/>
                </a:lnTo>
                <a:cubicBezTo>
                  <a:pt x="126253" y="359904"/>
                  <a:pt x="111670" y="345321"/>
                  <a:pt x="111670" y="327333"/>
                </a:cubicBezTo>
                <a:lnTo>
                  <a:pt x="111670" y="314629"/>
                </a:lnTo>
                <a:cubicBezTo>
                  <a:pt x="109101" y="313762"/>
                  <a:pt x="106185" y="312688"/>
                  <a:pt x="103029" y="311366"/>
                </a:cubicBezTo>
                <a:cubicBezTo>
                  <a:pt x="91935" y="306723"/>
                  <a:pt x="77416" y="298861"/>
                  <a:pt x="64576" y="286021"/>
                </a:cubicBezTo>
                <a:cubicBezTo>
                  <a:pt x="49984" y="271429"/>
                  <a:pt x="40211" y="256203"/>
                  <a:pt x="34713" y="246359"/>
                </a:cubicBezTo>
                <a:cubicBezTo>
                  <a:pt x="33090" y="243456"/>
                  <a:pt x="30666" y="241904"/>
                  <a:pt x="28591" y="241557"/>
                </a:cubicBezTo>
                <a:cubicBezTo>
                  <a:pt x="12093" y="238809"/>
                  <a:pt x="0" y="224533"/>
                  <a:pt x="0" y="207807"/>
                </a:cubicBezTo>
                <a:lnTo>
                  <a:pt x="0" y="175183"/>
                </a:lnTo>
                <a:cubicBezTo>
                  <a:pt x="0" y="159498"/>
                  <a:pt x="11339" y="146113"/>
                  <a:pt x="26810" y="143533"/>
                </a:cubicBezTo>
                <a:cubicBezTo>
                  <a:pt x="28428" y="143263"/>
                  <a:pt x="30812" y="141657"/>
                  <a:pt x="31947" y="138257"/>
                </a:cubicBezTo>
                <a:cubicBezTo>
                  <a:pt x="35527" y="127532"/>
                  <a:pt x="42474" y="111572"/>
                  <a:pt x="55271" y="98775"/>
                </a:cubicBezTo>
                <a:cubicBezTo>
                  <a:pt x="65738" y="88307"/>
                  <a:pt x="77329" y="80618"/>
                  <a:pt x="86133" y="75587"/>
                </a:cubicBezTo>
                <a:cubicBezTo>
                  <a:pt x="88671" y="74137"/>
                  <a:pt x="91008" y="72890"/>
                  <a:pt x="93059" y="71846"/>
                </a:cubicBezTo>
                <a:lnTo>
                  <a:pt x="93059" y="18772"/>
                </a:lnTo>
                <a:cubicBezTo>
                  <a:pt x="93059" y="1316"/>
                  <a:pt x="114101" y="-5849"/>
                  <a:pt x="125440" y="5442"/>
                </a:cubicBezTo>
                <a:cubicBezTo>
                  <a:pt x="131591" y="11566"/>
                  <a:pt x="140520" y="19734"/>
                  <a:pt x="150403" y="26554"/>
                </a:cubicBezTo>
                <a:close/>
                <a:moveTo>
                  <a:pt x="206032" y="115122"/>
                </a:moveTo>
                <a:cubicBezTo>
                  <a:pt x="196910" y="111345"/>
                  <a:pt x="189214" y="104174"/>
                  <a:pt x="187381" y="94473"/>
                </a:cubicBezTo>
                <a:cubicBezTo>
                  <a:pt x="180978" y="60572"/>
                  <a:pt x="198933" y="25679"/>
                  <a:pt x="232068" y="11950"/>
                </a:cubicBezTo>
                <a:cubicBezTo>
                  <a:pt x="270052" y="-3787"/>
                  <a:pt x="313604" y="14248"/>
                  <a:pt x="329342" y="52232"/>
                </a:cubicBezTo>
                <a:cubicBezTo>
                  <a:pt x="343070" y="85368"/>
                  <a:pt x="331099" y="122739"/>
                  <a:pt x="302602" y="142188"/>
                </a:cubicBezTo>
                <a:cubicBezTo>
                  <a:pt x="294448" y="147753"/>
                  <a:pt x="283935" y="147384"/>
                  <a:pt x="274813" y="143606"/>
                </a:cubicBezTo>
                <a:lnTo>
                  <a:pt x="206032" y="115122"/>
                </a:lnTo>
                <a:close/>
                <a:moveTo>
                  <a:pt x="287813" y="118463"/>
                </a:moveTo>
                <a:cubicBezTo>
                  <a:pt x="304929" y="106140"/>
                  <a:pt x="311964" y="83226"/>
                  <a:pt x="303550" y="62918"/>
                </a:cubicBezTo>
                <a:cubicBezTo>
                  <a:pt x="293713" y="39178"/>
                  <a:pt x="266494" y="27906"/>
                  <a:pt x="242754" y="37742"/>
                </a:cubicBezTo>
                <a:cubicBezTo>
                  <a:pt x="222447" y="46156"/>
                  <a:pt x="211222" y="67335"/>
                  <a:pt x="214613" y="88150"/>
                </a:cubicBezTo>
                <a:cubicBezTo>
                  <a:pt x="214721" y="88235"/>
                  <a:pt x="214854" y="88332"/>
                  <a:pt x="215012" y="88437"/>
                </a:cubicBezTo>
                <a:cubicBezTo>
                  <a:pt x="215451" y="88730"/>
                  <a:pt x="216022" y="89043"/>
                  <a:pt x="216713" y="89329"/>
                </a:cubicBezTo>
                <a:lnTo>
                  <a:pt x="285494" y="117813"/>
                </a:lnTo>
                <a:cubicBezTo>
                  <a:pt x="286187" y="118099"/>
                  <a:pt x="286812" y="118281"/>
                  <a:pt x="287329" y="118385"/>
                </a:cubicBezTo>
                <a:cubicBezTo>
                  <a:pt x="287516" y="118422"/>
                  <a:pt x="287677" y="118447"/>
                  <a:pt x="287813" y="118463"/>
                </a:cubicBezTo>
                <a:close/>
                <a:moveTo>
                  <a:pt x="130282" y="136562"/>
                </a:moveTo>
                <a:cubicBezTo>
                  <a:pt x="130282" y="146841"/>
                  <a:pt x="121949" y="155173"/>
                  <a:pt x="111670" y="155173"/>
                </a:cubicBezTo>
                <a:cubicBezTo>
                  <a:pt x="101391" y="155173"/>
                  <a:pt x="93059" y="146841"/>
                  <a:pt x="93059" y="136562"/>
                </a:cubicBezTo>
                <a:cubicBezTo>
                  <a:pt x="93059" y="126283"/>
                  <a:pt x="101391" y="117950"/>
                  <a:pt x="111670" y="117950"/>
                </a:cubicBezTo>
                <a:cubicBezTo>
                  <a:pt x="121949" y="117950"/>
                  <a:pt x="130282" y="126283"/>
                  <a:pt x="130282" y="136562"/>
                </a:cubicBez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30" name="Graphic 13" descr="Icon of a chart made of vertical lines with a line tracing the top of each, turning into an arrow pointing up">
            <a:extLst>
              <a:ext uri="{FF2B5EF4-FFF2-40B4-BE49-F238E27FC236}">
                <a16:creationId xmlns:a16="http://schemas.microsoft.com/office/drawing/2014/main" id="{24B81556-99BF-AA4D-F930-A7D93AB782AC}"/>
              </a:ext>
            </a:extLst>
          </p:cNvPr>
          <p:cNvSpPr>
            <a:spLocks noChangeAspect="1"/>
          </p:cNvSpPr>
          <p:nvPr/>
        </p:nvSpPr>
        <p:spPr>
          <a:xfrm>
            <a:off x="5951548" y="5166146"/>
            <a:ext cx="183641" cy="193302"/>
          </a:xfrm>
          <a:custGeom>
            <a:avLst/>
            <a:gdLst>
              <a:gd name="connsiteX0" fmla="*/ 195609 w 270323"/>
              <a:gd name="connsiteY0" fmla="*/ 0 h 284545"/>
              <a:gd name="connsiteX1" fmla="*/ 260397 w 270323"/>
              <a:gd name="connsiteY1" fmla="*/ 7 h 284545"/>
              <a:gd name="connsiteX2" fmla="*/ 261824 w 270323"/>
              <a:gd name="connsiteY2" fmla="*/ 205 h 284545"/>
              <a:gd name="connsiteX3" fmla="*/ 263230 w 270323"/>
              <a:gd name="connsiteY3" fmla="*/ 598 h 284545"/>
              <a:gd name="connsiteX4" fmla="*/ 264088 w 270323"/>
              <a:gd name="connsiteY4" fmla="*/ 962 h 284545"/>
              <a:gd name="connsiteX5" fmla="*/ 267199 w 270323"/>
              <a:gd name="connsiteY5" fmla="*/ 3107 h 284545"/>
              <a:gd name="connsiteX6" fmla="*/ 267778 w 270323"/>
              <a:gd name="connsiteY6" fmla="*/ 3733 h 284545"/>
              <a:gd name="connsiteX7" fmla="*/ 268397 w 270323"/>
              <a:gd name="connsiteY7" fmla="*/ 4535 h 284545"/>
              <a:gd name="connsiteX8" fmla="*/ 269168 w 270323"/>
              <a:gd name="connsiteY8" fmla="*/ 5818 h 284545"/>
              <a:gd name="connsiteX9" fmla="*/ 269719 w 270323"/>
              <a:gd name="connsiteY9" fmla="*/ 7103 h 284545"/>
              <a:gd name="connsiteX10" fmla="*/ 269991 w 270323"/>
              <a:gd name="connsiteY10" fmla="*/ 8014 h 284545"/>
              <a:gd name="connsiteX11" fmla="*/ 270184 w 270323"/>
              <a:gd name="connsiteY11" fmla="*/ 8925 h 284545"/>
              <a:gd name="connsiteX12" fmla="*/ 270318 w 270323"/>
              <a:gd name="connsiteY12" fmla="*/ 10265 h 284545"/>
              <a:gd name="connsiteX13" fmla="*/ 270323 w 270323"/>
              <a:gd name="connsiteY13" fmla="*/ 74748 h 284545"/>
              <a:gd name="connsiteX14" fmla="*/ 259653 w 270323"/>
              <a:gd name="connsiteY14" fmla="*/ 85419 h 284545"/>
              <a:gd name="connsiteX15" fmla="*/ 249081 w 270323"/>
              <a:gd name="connsiteY15" fmla="*/ 76196 h 284545"/>
              <a:gd name="connsiteX16" fmla="*/ 248983 w 270323"/>
              <a:gd name="connsiteY16" fmla="*/ 74748 h 284545"/>
              <a:gd name="connsiteX17" fmla="*/ 248977 w 270323"/>
              <a:gd name="connsiteY17" fmla="*/ 36408 h 284545"/>
              <a:gd name="connsiteX18" fmla="*/ 157363 w 270323"/>
              <a:gd name="connsiteY18" fmla="*/ 128041 h 284545"/>
              <a:gd name="connsiteX19" fmla="*/ 143469 w 270323"/>
              <a:gd name="connsiteY19" fmla="*/ 129075 h 284545"/>
              <a:gd name="connsiteX20" fmla="*/ 142273 w 270323"/>
              <a:gd name="connsiteY20" fmla="*/ 128042 h 284545"/>
              <a:gd name="connsiteX21" fmla="*/ 99160 w 270323"/>
              <a:gd name="connsiteY21" fmla="*/ 86633 h 284545"/>
              <a:gd name="connsiteX22" fmla="*/ 18216 w 270323"/>
              <a:gd name="connsiteY22" fmla="*/ 167577 h 284545"/>
              <a:gd name="connsiteX23" fmla="*/ 3125 w 270323"/>
              <a:gd name="connsiteY23" fmla="*/ 167577 h 284545"/>
              <a:gd name="connsiteX24" fmla="*/ 2092 w 270323"/>
              <a:gd name="connsiteY24" fmla="*/ 153684 h 284545"/>
              <a:gd name="connsiteX25" fmla="*/ 3125 w 270323"/>
              <a:gd name="connsiteY25" fmla="*/ 152486 h 284545"/>
              <a:gd name="connsiteX26" fmla="*/ 91614 w 270323"/>
              <a:gd name="connsiteY26" fmla="*/ 63998 h 284545"/>
              <a:gd name="connsiteX27" fmla="*/ 105508 w 270323"/>
              <a:gd name="connsiteY27" fmla="*/ 62965 h 284545"/>
              <a:gd name="connsiteX28" fmla="*/ 106704 w 270323"/>
              <a:gd name="connsiteY28" fmla="*/ 63998 h 284545"/>
              <a:gd name="connsiteX29" fmla="*/ 149817 w 270323"/>
              <a:gd name="connsiteY29" fmla="*/ 105406 h 284545"/>
              <a:gd name="connsiteX30" fmla="*/ 233868 w 270323"/>
              <a:gd name="connsiteY30" fmla="*/ 21341 h 284545"/>
              <a:gd name="connsiteX31" fmla="*/ 195609 w 270323"/>
              <a:gd name="connsiteY31" fmla="*/ 21341 h 284545"/>
              <a:gd name="connsiteX32" fmla="*/ 185037 w 270323"/>
              <a:gd name="connsiteY32" fmla="*/ 12118 h 284545"/>
              <a:gd name="connsiteX33" fmla="*/ 184939 w 270323"/>
              <a:gd name="connsiteY33" fmla="*/ 10670 h 284545"/>
              <a:gd name="connsiteX34" fmla="*/ 194162 w 270323"/>
              <a:gd name="connsiteY34" fmla="*/ 97 h 284545"/>
              <a:gd name="connsiteX35" fmla="*/ 195609 w 270323"/>
              <a:gd name="connsiteY35" fmla="*/ 0 h 284545"/>
              <a:gd name="connsiteX36" fmla="*/ 10670 w 270323"/>
              <a:gd name="connsiteY36" fmla="*/ 213409 h 284545"/>
              <a:gd name="connsiteX37" fmla="*/ 21341 w 270323"/>
              <a:gd name="connsiteY37" fmla="*/ 224079 h 284545"/>
              <a:gd name="connsiteX38" fmla="*/ 21341 w 270323"/>
              <a:gd name="connsiteY38" fmla="*/ 273875 h 284545"/>
              <a:gd name="connsiteX39" fmla="*/ 10670 w 270323"/>
              <a:gd name="connsiteY39" fmla="*/ 284545 h 284545"/>
              <a:gd name="connsiteX40" fmla="*/ 0 w 270323"/>
              <a:gd name="connsiteY40" fmla="*/ 273875 h 284545"/>
              <a:gd name="connsiteX41" fmla="*/ 0 w 270323"/>
              <a:gd name="connsiteY41" fmla="*/ 224079 h 284545"/>
              <a:gd name="connsiteX42" fmla="*/ 10670 w 270323"/>
              <a:gd name="connsiteY42" fmla="*/ 213409 h 284545"/>
              <a:gd name="connsiteX43" fmla="*/ 92477 w 270323"/>
              <a:gd name="connsiteY43" fmla="*/ 167170 h 284545"/>
              <a:gd name="connsiteX44" fmla="*/ 81807 w 270323"/>
              <a:gd name="connsiteY44" fmla="*/ 156500 h 284545"/>
              <a:gd name="connsiteX45" fmla="*/ 71136 w 270323"/>
              <a:gd name="connsiteY45" fmla="*/ 167170 h 284545"/>
              <a:gd name="connsiteX46" fmla="*/ 71136 w 270323"/>
              <a:gd name="connsiteY46" fmla="*/ 273875 h 284545"/>
              <a:gd name="connsiteX47" fmla="*/ 81807 w 270323"/>
              <a:gd name="connsiteY47" fmla="*/ 284545 h 284545"/>
              <a:gd name="connsiteX48" fmla="*/ 92477 w 270323"/>
              <a:gd name="connsiteY48" fmla="*/ 273875 h 284545"/>
              <a:gd name="connsiteX49" fmla="*/ 92477 w 270323"/>
              <a:gd name="connsiteY49" fmla="*/ 167170 h 284545"/>
              <a:gd name="connsiteX50" fmla="*/ 152943 w 270323"/>
              <a:gd name="connsiteY50" fmla="*/ 184954 h 284545"/>
              <a:gd name="connsiteX51" fmla="*/ 163613 w 270323"/>
              <a:gd name="connsiteY51" fmla="*/ 195625 h 284545"/>
              <a:gd name="connsiteX52" fmla="*/ 163613 w 270323"/>
              <a:gd name="connsiteY52" fmla="*/ 273875 h 284545"/>
              <a:gd name="connsiteX53" fmla="*/ 152943 w 270323"/>
              <a:gd name="connsiteY53" fmla="*/ 284545 h 284545"/>
              <a:gd name="connsiteX54" fmla="*/ 142273 w 270323"/>
              <a:gd name="connsiteY54" fmla="*/ 273875 h 284545"/>
              <a:gd name="connsiteX55" fmla="*/ 142273 w 270323"/>
              <a:gd name="connsiteY55" fmla="*/ 195625 h 284545"/>
              <a:gd name="connsiteX56" fmla="*/ 152943 w 270323"/>
              <a:gd name="connsiteY56" fmla="*/ 184954 h 284545"/>
              <a:gd name="connsiteX57" fmla="*/ 234750 w 270323"/>
              <a:gd name="connsiteY57" fmla="*/ 124488 h 284545"/>
              <a:gd name="connsiteX58" fmla="*/ 224079 w 270323"/>
              <a:gd name="connsiteY58" fmla="*/ 113818 h 284545"/>
              <a:gd name="connsiteX59" fmla="*/ 213409 w 270323"/>
              <a:gd name="connsiteY59" fmla="*/ 124488 h 284545"/>
              <a:gd name="connsiteX60" fmla="*/ 213409 w 270323"/>
              <a:gd name="connsiteY60" fmla="*/ 273875 h 284545"/>
              <a:gd name="connsiteX61" fmla="*/ 224079 w 270323"/>
              <a:gd name="connsiteY61" fmla="*/ 284545 h 284545"/>
              <a:gd name="connsiteX62" fmla="*/ 234750 w 270323"/>
              <a:gd name="connsiteY62" fmla="*/ 273875 h 284545"/>
              <a:gd name="connsiteX63" fmla="*/ 234750 w 270323"/>
              <a:gd name="connsiteY63" fmla="*/ 124488 h 284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70323" h="284545">
                <a:moveTo>
                  <a:pt x="195609" y="0"/>
                </a:moveTo>
                <a:lnTo>
                  <a:pt x="260397" y="7"/>
                </a:lnTo>
                <a:lnTo>
                  <a:pt x="261824" y="205"/>
                </a:lnTo>
                <a:lnTo>
                  <a:pt x="263230" y="598"/>
                </a:lnTo>
                <a:lnTo>
                  <a:pt x="264088" y="962"/>
                </a:lnTo>
                <a:cubicBezTo>
                  <a:pt x="265214" y="1458"/>
                  <a:pt x="266270" y="2179"/>
                  <a:pt x="267199" y="3107"/>
                </a:cubicBezTo>
                <a:lnTo>
                  <a:pt x="267778" y="3733"/>
                </a:lnTo>
                <a:lnTo>
                  <a:pt x="268397" y="4535"/>
                </a:lnTo>
                <a:lnTo>
                  <a:pt x="269168" y="5818"/>
                </a:lnTo>
                <a:lnTo>
                  <a:pt x="269719" y="7103"/>
                </a:lnTo>
                <a:lnTo>
                  <a:pt x="269991" y="8014"/>
                </a:lnTo>
                <a:lnTo>
                  <a:pt x="270184" y="8925"/>
                </a:lnTo>
                <a:lnTo>
                  <a:pt x="270318" y="10265"/>
                </a:lnTo>
                <a:lnTo>
                  <a:pt x="270323" y="74748"/>
                </a:lnTo>
                <a:cubicBezTo>
                  <a:pt x="270323" y="80641"/>
                  <a:pt x="265547" y="85419"/>
                  <a:pt x="259653" y="85419"/>
                </a:cubicBezTo>
                <a:cubicBezTo>
                  <a:pt x="254252" y="85419"/>
                  <a:pt x="249788" y="81405"/>
                  <a:pt x="249081" y="76196"/>
                </a:cubicBezTo>
                <a:lnTo>
                  <a:pt x="248983" y="74748"/>
                </a:lnTo>
                <a:lnTo>
                  <a:pt x="248977" y="36408"/>
                </a:lnTo>
                <a:lnTo>
                  <a:pt x="157363" y="128041"/>
                </a:lnTo>
                <a:cubicBezTo>
                  <a:pt x="153575" y="131830"/>
                  <a:pt x="147646" y="132174"/>
                  <a:pt x="143469" y="129075"/>
                </a:cubicBezTo>
                <a:lnTo>
                  <a:pt x="142273" y="128042"/>
                </a:lnTo>
                <a:lnTo>
                  <a:pt x="99160" y="86633"/>
                </a:lnTo>
                <a:lnTo>
                  <a:pt x="18216" y="167577"/>
                </a:lnTo>
                <a:cubicBezTo>
                  <a:pt x="14049" y="171744"/>
                  <a:pt x="7292" y="171744"/>
                  <a:pt x="3125" y="167577"/>
                </a:cubicBezTo>
                <a:cubicBezTo>
                  <a:pt x="-663" y="163788"/>
                  <a:pt x="-1007" y="157861"/>
                  <a:pt x="2092" y="153684"/>
                </a:cubicBezTo>
                <a:lnTo>
                  <a:pt x="3125" y="152486"/>
                </a:lnTo>
                <a:lnTo>
                  <a:pt x="91614" y="63998"/>
                </a:lnTo>
                <a:cubicBezTo>
                  <a:pt x="95402" y="60210"/>
                  <a:pt x="101331" y="59865"/>
                  <a:pt x="105508" y="62965"/>
                </a:cubicBezTo>
                <a:lnTo>
                  <a:pt x="106704" y="63998"/>
                </a:lnTo>
                <a:lnTo>
                  <a:pt x="149817" y="105406"/>
                </a:lnTo>
                <a:lnTo>
                  <a:pt x="233868" y="21341"/>
                </a:lnTo>
                <a:lnTo>
                  <a:pt x="195609" y="21341"/>
                </a:lnTo>
                <a:cubicBezTo>
                  <a:pt x="190207" y="21341"/>
                  <a:pt x="185742" y="17327"/>
                  <a:pt x="185037" y="12118"/>
                </a:cubicBezTo>
                <a:lnTo>
                  <a:pt x="184939" y="10670"/>
                </a:lnTo>
                <a:cubicBezTo>
                  <a:pt x="184939" y="5268"/>
                  <a:pt x="188954" y="804"/>
                  <a:pt x="194162" y="97"/>
                </a:cubicBezTo>
                <a:lnTo>
                  <a:pt x="195609" y="0"/>
                </a:lnTo>
                <a:close/>
                <a:moveTo>
                  <a:pt x="10670" y="213409"/>
                </a:moveTo>
                <a:cubicBezTo>
                  <a:pt x="16564" y="213409"/>
                  <a:pt x="21341" y="218186"/>
                  <a:pt x="21341" y="224079"/>
                </a:cubicBezTo>
                <a:lnTo>
                  <a:pt x="21341" y="273875"/>
                </a:lnTo>
                <a:cubicBezTo>
                  <a:pt x="21341" y="279768"/>
                  <a:pt x="16564" y="284545"/>
                  <a:pt x="10670" y="284545"/>
                </a:cubicBezTo>
                <a:cubicBezTo>
                  <a:pt x="4777" y="284545"/>
                  <a:pt x="0" y="279768"/>
                  <a:pt x="0" y="273875"/>
                </a:cubicBezTo>
                <a:lnTo>
                  <a:pt x="0" y="224079"/>
                </a:lnTo>
                <a:cubicBezTo>
                  <a:pt x="0" y="218186"/>
                  <a:pt x="4777" y="213409"/>
                  <a:pt x="10670" y="213409"/>
                </a:cubicBezTo>
                <a:close/>
                <a:moveTo>
                  <a:pt x="92477" y="167170"/>
                </a:moveTo>
                <a:cubicBezTo>
                  <a:pt x="92477" y="161277"/>
                  <a:pt x="87700" y="156500"/>
                  <a:pt x="81807" y="156500"/>
                </a:cubicBezTo>
                <a:cubicBezTo>
                  <a:pt x="75914" y="156500"/>
                  <a:pt x="71136" y="161277"/>
                  <a:pt x="71136" y="167170"/>
                </a:cubicBezTo>
                <a:lnTo>
                  <a:pt x="71136" y="273875"/>
                </a:lnTo>
                <a:cubicBezTo>
                  <a:pt x="71136" y="279768"/>
                  <a:pt x="75914" y="284545"/>
                  <a:pt x="81807" y="284545"/>
                </a:cubicBezTo>
                <a:cubicBezTo>
                  <a:pt x="87700" y="284545"/>
                  <a:pt x="92477" y="279768"/>
                  <a:pt x="92477" y="273875"/>
                </a:cubicBezTo>
                <a:lnTo>
                  <a:pt x="92477" y="167170"/>
                </a:lnTo>
                <a:close/>
                <a:moveTo>
                  <a:pt x="152943" y="184954"/>
                </a:moveTo>
                <a:cubicBezTo>
                  <a:pt x="158836" y="184954"/>
                  <a:pt x="163613" y="189732"/>
                  <a:pt x="163613" y="195625"/>
                </a:cubicBezTo>
                <a:lnTo>
                  <a:pt x="163613" y="273875"/>
                </a:lnTo>
                <a:cubicBezTo>
                  <a:pt x="163613" y="279768"/>
                  <a:pt x="158836" y="284545"/>
                  <a:pt x="152943" y="284545"/>
                </a:cubicBezTo>
                <a:cubicBezTo>
                  <a:pt x="147050" y="284545"/>
                  <a:pt x="142273" y="279768"/>
                  <a:pt x="142273" y="273875"/>
                </a:cubicBezTo>
                <a:lnTo>
                  <a:pt x="142273" y="195625"/>
                </a:lnTo>
                <a:cubicBezTo>
                  <a:pt x="142273" y="189732"/>
                  <a:pt x="147050" y="184954"/>
                  <a:pt x="152943" y="184954"/>
                </a:cubicBezTo>
                <a:close/>
                <a:moveTo>
                  <a:pt x="234750" y="124488"/>
                </a:moveTo>
                <a:cubicBezTo>
                  <a:pt x="234750" y="118596"/>
                  <a:pt x="229972" y="113818"/>
                  <a:pt x="224079" y="113818"/>
                </a:cubicBezTo>
                <a:cubicBezTo>
                  <a:pt x="218186" y="113818"/>
                  <a:pt x="213409" y="118596"/>
                  <a:pt x="213409" y="124488"/>
                </a:cubicBezTo>
                <a:lnTo>
                  <a:pt x="213409" y="273875"/>
                </a:lnTo>
                <a:cubicBezTo>
                  <a:pt x="213409" y="279768"/>
                  <a:pt x="218186" y="284545"/>
                  <a:pt x="224079" y="284545"/>
                </a:cubicBezTo>
                <a:cubicBezTo>
                  <a:pt x="229972" y="284545"/>
                  <a:pt x="234750" y="279768"/>
                  <a:pt x="234750" y="273875"/>
                </a:cubicBezTo>
                <a:lnTo>
                  <a:pt x="234750" y="124488"/>
                </a:ln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Graphic 47" descr="Icon of a piggy bank ">
            <a:extLst>
              <a:ext uri="{FF2B5EF4-FFF2-40B4-BE49-F238E27FC236}">
                <a16:creationId xmlns:a16="http://schemas.microsoft.com/office/drawing/2014/main" id="{8C663547-5908-4E0D-28E1-0D3806FEA41E}"/>
              </a:ext>
            </a:extLst>
          </p:cNvPr>
          <p:cNvSpPr>
            <a:spLocks noChangeAspect="1"/>
          </p:cNvSpPr>
          <p:nvPr/>
        </p:nvSpPr>
        <p:spPr>
          <a:xfrm>
            <a:off x="5953436" y="5748035"/>
            <a:ext cx="200060" cy="193432"/>
          </a:xfrm>
          <a:custGeom>
            <a:avLst/>
            <a:gdLst>
              <a:gd name="connsiteX0" fmla="*/ 150403 w 372234"/>
              <a:gd name="connsiteY0" fmla="*/ 26554 h 359903"/>
              <a:gd name="connsiteX1" fmla="*/ 177466 w 372234"/>
              <a:gd name="connsiteY1" fmla="*/ 38837 h 359903"/>
              <a:gd name="connsiteX2" fmla="*/ 168732 w 372234"/>
              <a:gd name="connsiteY2" fmla="*/ 65624 h 359903"/>
              <a:gd name="connsiteX3" fmla="*/ 134547 w 372234"/>
              <a:gd name="connsiteY3" fmla="*/ 49532 h 359903"/>
              <a:gd name="connsiteX4" fmla="*/ 120976 w 372234"/>
              <a:gd name="connsiteY4" fmla="*/ 39162 h 359903"/>
              <a:gd name="connsiteX5" fmla="*/ 120976 w 372234"/>
              <a:gd name="connsiteY5" fmla="*/ 80727 h 359903"/>
              <a:gd name="connsiteX6" fmla="*/ 112224 w 372234"/>
              <a:gd name="connsiteY6" fmla="*/ 93679 h 359903"/>
              <a:gd name="connsiteX7" fmla="*/ 112108 w 372234"/>
              <a:gd name="connsiteY7" fmla="*/ 93727 h 359903"/>
              <a:gd name="connsiteX8" fmla="*/ 111522 w 372234"/>
              <a:gd name="connsiteY8" fmla="*/ 93976 h 359903"/>
              <a:gd name="connsiteX9" fmla="*/ 109035 w 372234"/>
              <a:gd name="connsiteY9" fmla="*/ 95103 h 359903"/>
              <a:gd name="connsiteX10" fmla="*/ 99984 w 372234"/>
              <a:gd name="connsiteY10" fmla="*/ 99827 h 359903"/>
              <a:gd name="connsiteX11" fmla="*/ 75011 w 372234"/>
              <a:gd name="connsiteY11" fmla="*/ 118515 h 359903"/>
              <a:gd name="connsiteX12" fmla="*/ 58428 w 372234"/>
              <a:gd name="connsiteY12" fmla="*/ 147096 h 359903"/>
              <a:gd name="connsiteX13" fmla="*/ 31400 w 372234"/>
              <a:gd name="connsiteY13" fmla="*/ 171071 h 359903"/>
              <a:gd name="connsiteX14" fmla="*/ 27918 w 372234"/>
              <a:gd name="connsiteY14" fmla="*/ 175183 h 359903"/>
              <a:gd name="connsiteX15" fmla="*/ 27918 w 372234"/>
              <a:gd name="connsiteY15" fmla="*/ 207807 h 359903"/>
              <a:gd name="connsiteX16" fmla="*/ 33181 w 372234"/>
              <a:gd name="connsiteY16" fmla="*/ 214021 h 359903"/>
              <a:gd name="connsiteX17" fmla="*/ 59085 w 372234"/>
              <a:gd name="connsiteY17" fmla="*/ 232745 h 359903"/>
              <a:gd name="connsiteX18" fmla="*/ 84317 w 372234"/>
              <a:gd name="connsiteY18" fmla="*/ 266279 h 359903"/>
              <a:gd name="connsiteX19" fmla="*/ 113807 w 372234"/>
              <a:gd name="connsiteY19" fmla="*/ 285613 h 359903"/>
              <a:gd name="connsiteX20" fmla="*/ 124606 w 372234"/>
              <a:gd name="connsiteY20" fmla="*/ 289427 h 359903"/>
              <a:gd name="connsiteX21" fmla="*/ 127546 w 372234"/>
              <a:gd name="connsiteY21" fmla="*/ 290197 h 359903"/>
              <a:gd name="connsiteX22" fmla="*/ 128214 w 372234"/>
              <a:gd name="connsiteY22" fmla="*/ 290348 h 359903"/>
              <a:gd name="connsiteX23" fmla="*/ 128304 w 372234"/>
              <a:gd name="connsiteY23" fmla="*/ 290369 h 359903"/>
              <a:gd name="connsiteX24" fmla="*/ 128324 w 372234"/>
              <a:gd name="connsiteY24" fmla="*/ 290372 h 359903"/>
              <a:gd name="connsiteX25" fmla="*/ 139588 w 372234"/>
              <a:gd name="connsiteY25" fmla="*/ 304069 h 359903"/>
              <a:gd name="connsiteX26" fmla="*/ 139588 w 372234"/>
              <a:gd name="connsiteY26" fmla="*/ 327333 h 359903"/>
              <a:gd name="connsiteX27" fmla="*/ 144241 w 372234"/>
              <a:gd name="connsiteY27" fmla="*/ 331986 h 359903"/>
              <a:gd name="connsiteX28" fmla="*/ 167505 w 372234"/>
              <a:gd name="connsiteY28" fmla="*/ 331986 h 359903"/>
              <a:gd name="connsiteX29" fmla="*/ 195423 w 372234"/>
              <a:gd name="connsiteY29" fmla="*/ 304069 h 359903"/>
              <a:gd name="connsiteX30" fmla="*/ 232646 w 372234"/>
              <a:gd name="connsiteY30" fmla="*/ 304069 h 359903"/>
              <a:gd name="connsiteX31" fmla="*/ 260564 w 372234"/>
              <a:gd name="connsiteY31" fmla="*/ 331986 h 359903"/>
              <a:gd name="connsiteX32" fmla="*/ 283829 w 372234"/>
              <a:gd name="connsiteY32" fmla="*/ 331986 h 359903"/>
              <a:gd name="connsiteX33" fmla="*/ 288481 w 372234"/>
              <a:gd name="connsiteY33" fmla="*/ 327333 h 359903"/>
              <a:gd name="connsiteX34" fmla="*/ 288481 w 372234"/>
              <a:gd name="connsiteY34" fmla="*/ 285457 h 359903"/>
              <a:gd name="connsiteX35" fmla="*/ 296146 w 372234"/>
              <a:gd name="connsiteY35" fmla="*/ 272996 h 359903"/>
              <a:gd name="connsiteX36" fmla="*/ 296393 w 372234"/>
              <a:gd name="connsiteY36" fmla="*/ 272864 h 359903"/>
              <a:gd name="connsiteX37" fmla="*/ 297700 w 372234"/>
              <a:gd name="connsiteY37" fmla="*/ 272116 h 359903"/>
              <a:gd name="connsiteX38" fmla="*/ 302991 w 372234"/>
              <a:gd name="connsiteY38" fmla="*/ 268615 h 359903"/>
              <a:gd name="connsiteX39" fmla="*/ 319760 w 372234"/>
              <a:gd name="connsiteY39" fmla="*/ 253108 h 359903"/>
              <a:gd name="connsiteX40" fmla="*/ 344317 w 372234"/>
              <a:gd name="connsiteY40" fmla="*/ 183093 h 359903"/>
              <a:gd name="connsiteX41" fmla="*/ 334849 w 372234"/>
              <a:gd name="connsiteY41" fmla="*/ 136794 h 359903"/>
              <a:gd name="connsiteX42" fmla="*/ 349703 w 372234"/>
              <a:gd name="connsiteY42" fmla="*/ 107463 h 359903"/>
              <a:gd name="connsiteX43" fmla="*/ 354949 w 372234"/>
              <a:gd name="connsiteY43" fmla="*/ 115343 h 359903"/>
              <a:gd name="connsiteX44" fmla="*/ 372234 w 372234"/>
              <a:gd name="connsiteY44" fmla="*/ 183093 h 359903"/>
              <a:gd name="connsiteX45" fmla="*/ 340955 w 372234"/>
              <a:gd name="connsiteY45" fmla="*/ 271277 h 359903"/>
              <a:gd name="connsiteX46" fmla="*/ 319338 w 372234"/>
              <a:gd name="connsiteY46" fmla="*/ 291247 h 359903"/>
              <a:gd name="connsiteX47" fmla="*/ 316399 w 372234"/>
              <a:gd name="connsiteY47" fmla="*/ 293298 h 359903"/>
              <a:gd name="connsiteX48" fmla="*/ 316399 w 372234"/>
              <a:gd name="connsiteY48" fmla="*/ 327333 h 359903"/>
              <a:gd name="connsiteX49" fmla="*/ 283829 w 372234"/>
              <a:gd name="connsiteY49" fmla="*/ 359904 h 359903"/>
              <a:gd name="connsiteX50" fmla="*/ 260564 w 372234"/>
              <a:gd name="connsiteY50" fmla="*/ 359904 h 359903"/>
              <a:gd name="connsiteX51" fmla="*/ 232646 w 372234"/>
              <a:gd name="connsiteY51" fmla="*/ 331986 h 359903"/>
              <a:gd name="connsiteX52" fmla="*/ 195423 w 372234"/>
              <a:gd name="connsiteY52" fmla="*/ 331986 h 359903"/>
              <a:gd name="connsiteX53" fmla="*/ 167505 w 372234"/>
              <a:gd name="connsiteY53" fmla="*/ 359904 h 359903"/>
              <a:gd name="connsiteX54" fmla="*/ 144241 w 372234"/>
              <a:gd name="connsiteY54" fmla="*/ 359904 h 359903"/>
              <a:gd name="connsiteX55" fmla="*/ 111670 w 372234"/>
              <a:gd name="connsiteY55" fmla="*/ 327333 h 359903"/>
              <a:gd name="connsiteX56" fmla="*/ 111670 w 372234"/>
              <a:gd name="connsiteY56" fmla="*/ 314629 h 359903"/>
              <a:gd name="connsiteX57" fmla="*/ 103029 w 372234"/>
              <a:gd name="connsiteY57" fmla="*/ 311366 h 359903"/>
              <a:gd name="connsiteX58" fmla="*/ 64576 w 372234"/>
              <a:gd name="connsiteY58" fmla="*/ 286021 h 359903"/>
              <a:gd name="connsiteX59" fmla="*/ 34713 w 372234"/>
              <a:gd name="connsiteY59" fmla="*/ 246359 h 359903"/>
              <a:gd name="connsiteX60" fmla="*/ 28591 w 372234"/>
              <a:gd name="connsiteY60" fmla="*/ 241557 h 359903"/>
              <a:gd name="connsiteX61" fmla="*/ 0 w 372234"/>
              <a:gd name="connsiteY61" fmla="*/ 207807 h 359903"/>
              <a:gd name="connsiteX62" fmla="*/ 0 w 372234"/>
              <a:gd name="connsiteY62" fmla="*/ 175183 h 359903"/>
              <a:gd name="connsiteX63" fmla="*/ 26810 w 372234"/>
              <a:gd name="connsiteY63" fmla="*/ 143533 h 359903"/>
              <a:gd name="connsiteX64" fmla="*/ 31947 w 372234"/>
              <a:gd name="connsiteY64" fmla="*/ 138257 h 359903"/>
              <a:gd name="connsiteX65" fmla="*/ 55271 w 372234"/>
              <a:gd name="connsiteY65" fmla="*/ 98775 h 359903"/>
              <a:gd name="connsiteX66" fmla="*/ 86133 w 372234"/>
              <a:gd name="connsiteY66" fmla="*/ 75587 h 359903"/>
              <a:gd name="connsiteX67" fmla="*/ 93059 w 372234"/>
              <a:gd name="connsiteY67" fmla="*/ 71846 h 359903"/>
              <a:gd name="connsiteX68" fmla="*/ 93059 w 372234"/>
              <a:gd name="connsiteY68" fmla="*/ 18772 h 359903"/>
              <a:gd name="connsiteX69" fmla="*/ 125440 w 372234"/>
              <a:gd name="connsiteY69" fmla="*/ 5442 h 359903"/>
              <a:gd name="connsiteX70" fmla="*/ 150403 w 372234"/>
              <a:gd name="connsiteY70" fmla="*/ 26554 h 359903"/>
              <a:gd name="connsiteX71" fmla="*/ 206032 w 372234"/>
              <a:gd name="connsiteY71" fmla="*/ 115122 h 359903"/>
              <a:gd name="connsiteX72" fmla="*/ 187381 w 372234"/>
              <a:gd name="connsiteY72" fmla="*/ 94473 h 359903"/>
              <a:gd name="connsiteX73" fmla="*/ 232068 w 372234"/>
              <a:gd name="connsiteY73" fmla="*/ 11950 h 359903"/>
              <a:gd name="connsiteX74" fmla="*/ 329342 w 372234"/>
              <a:gd name="connsiteY74" fmla="*/ 52232 h 359903"/>
              <a:gd name="connsiteX75" fmla="*/ 302602 w 372234"/>
              <a:gd name="connsiteY75" fmla="*/ 142188 h 359903"/>
              <a:gd name="connsiteX76" fmla="*/ 274813 w 372234"/>
              <a:gd name="connsiteY76" fmla="*/ 143606 h 359903"/>
              <a:gd name="connsiteX77" fmla="*/ 206032 w 372234"/>
              <a:gd name="connsiteY77" fmla="*/ 115122 h 359903"/>
              <a:gd name="connsiteX78" fmla="*/ 287813 w 372234"/>
              <a:gd name="connsiteY78" fmla="*/ 118463 h 359903"/>
              <a:gd name="connsiteX79" fmla="*/ 303550 w 372234"/>
              <a:gd name="connsiteY79" fmla="*/ 62918 h 359903"/>
              <a:gd name="connsiteX80" fmla="*/ 242754 w 372234"/>
              <a:gd name="connsiteY80" fmla="*/ 37742 h 359903"/>
              <a:gd name="connsiteX81" fmla="*/ 214613 w 372234"/>
              <a:gd name="connsiteY81" fmla="*/ 88150 h 359903"/>
              <a:gd name="connsiteX82" fmla="*/ 215012 w 372234"/>
              <a:gd name="connsiteY82" fmla="*/ 88437 h 359903"/>
              <a:gd name="connsiteX83" fmla="*/ 216713 w 372234"/>
              <a:gd name="connsiteY83" fmla="*/ 89329 h 359903"/>
              <a:gd name="connsiteX84" fmla="*/ 285494 w 372234"/>
              <a:gd name="connsiteY84" fmla="*/ 117813 h 359903"/>
              <a:gd name="connsiteX85" fmla="*/ 287329 w 372234"/>
              <a:gd name="connsiteY85" fmla="*/ 118385 h 359903"/>
              <a:gd name="connsiteX86" fmla="*/ 287813 w 372234"/>
              <a:gd name="connsiteY86" fmla="*/ 118463 h 359903"/>
              <a:gd name="connsiteX87" fmla="*/ 130282 w 372234"/>
              <a:gd name="connsiteY87" fmla="*/ 136562 h 359903"/>
              <a:gd name="connsiteX88" fmla="*/ 111670 w 372234"/>
              <a:gd name="connsiteY88" fmla="*/ 155173 h 359903"/>
              <a:gd name="connsiteX89" fmla="*/ 93059 w 372234"/>
              <a:gd name="connsiteY89" fmla="*/ 136562 h 359903"/>
              <a:gd name="connsiteX90" fmla="*/ 111670 w 372234"/>
              <a:gd name="connsiteY90" fmla="*/ 117950 h 359903"/>
              <a:gd name="connsiteX91" fmla="*/ 130282 w 372234"/>
              <a:gd name="connsiteY91" fmla="*/ 136562 h 359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372234" h="359903">
                <a:moveTo>
                  <a:pt x="150403" y="26554"/>
                </a:moveTo>
                <a:cubicBezTo>
                  <a:pt x="160267" y="33362"/>
                  <a:pt x="169696" y="37848"/>
                  <a:pt x="177466" y="38837"/>
                </a:cubicBezTo>
                <a:cubicBezTo>
                  <a:pt x="173230" y="47251"/>
                  <a:pt x="170275" y="56288"/>
                  <a:pt x="168732" y="65624"/>
                </a:cubicBezTo>
                <a:cubicBezTo>
                  <a:pt x="156199" y="62874"/>
                  <a:pt x="144307" y="56267"/>
                  <a:pt x="134547" y="49532"/>
                </a:cubicBezTo>
                <a:cubicBezTo>
                  <a:pt x="129722" y="46202"/>
                  <a:pt x="125154" y="42655"/>
                  <a:pt x="120976" y="39162"/>
                </a:cubicBezTo>
                <a:lnTo>
                  <a:pt x="120976" y="80727"/>
                </a:lnTo>
                <a:cubicBezTo>
                  <a:pt x="120976" y="86427"/>
                  <a:pt x="117511" y="91554"/>
                  <a:pt x="112224" y="93679"/>
                </a:cubicBezTo>
                <a:lnTo>
                  <a:pt x="112108" y="93727"/>
                </a:lnTo>
                <a:cubicBezTo>
                  <a:pt x="111993" y="93775"/>
                  <a:pt x="111795" y="93858"/>
                  <a:pt x="111522" y="93976"/>
                </a:cubicBezTo>
                <a:cubicBezTo>
                  <a:pt x="110975" y="94212"/>
                  <a:pt x="110128" y="94588"/>
                  <a:pt x="109035" y="95103"/>
                </a:cubicBezTo>
                <a:cubicBezTo>
                  <a:pt x="106844" y="96133"/>
                  <a:pt x="103688" y="97710"/>
                  <a:pt x="99984" y="99827"/>
                </a:cubicBezTo>
                <a:cubicBezTo>
                  <a:pt x="92502" y="104102"/>
                  <a:pt x="83155" y="110371"/>
                  <a:pt x="75011" y="118515"/>
                </a:cubicBezTo>
                <a:cubicBezTo>
                  <a:pt x="66571" y="126956"/>
                  <a:pt x="61367" y="138292"/>
                  <a:pt x="58428" y="147096"/>
                </a:cubicBezTo>
                <a:cubicBezTo>
                  <a:pt x="54659" y="158387"/>
                  <a:pt x="45062" y="168795"/>
                  <a:pt x="31400" y="171071"/>
                </a:cubicBezTo>
                <a:cubicBezTo>
                  <a:pt x="29390" y="171406"/>
                  <a:pt x="27918" y="173145"/>
                  <a:pt x="27918" y="175183"/>
                </a:cubicBezTo>
                <a:lnTo>
                  <a:pt x="27918" y="207807"/>
                </a:lnTo>
                <a:cubicBezTo>
                  <a:pt x="27918" y="210887"/>
                  <a:pt x="30144" y="213515"/>
                  <a:pt x="33181" y="214021"/>
                </a:cubicBezTo>
                <a:cubicBezTo>
                  <a:pt x="44793" y="215955"/>
                  <a:pt x="53941" y="223536"/>
                  <a:pt x="59085" y="232745"/>
                </a:cubicBezTo>
                <a:cubicBezTo>
                  <a:pt x="63764" y="241120"/>
                  <a:pt x="72081" y="254044"/>
                  <a:pt x="84317" y="266279"/>
                </a:cubicBezTo>
                <a:cubicBezTo>
                  <a:pt x="93825" y="275788"/>
                  <a:pt x="104897" y="281883"/>
                  <a:pt x="113807" y="285613"/>
                </a:cubicBezTo>
                <a:cubicBezTo>
                  <a:pt x="118223" y="287461"/>
                  <a:pt x="121996" y="288680"/>
                  <a:pt x="124606" y="289427"/>
                </a:cubicBezTo>
                <a:cubicBezTo>
                  <a:pt x="125908" y="289797"/>
                  <a:pt x="126910" y="290048"/>
                  <a:pt x="127546" y="290197"/>
                </a:cubicBezTo>
                <a:cubicBezTo>
                  <a:pt x="127864" y="290272"/>
                  <a:pt x="128089" y="290322"/>
                  <a:pt x="128214" y="290348"/>
                </a:cubicBezTo>
                <a:lnTo>
                  <a:pt x="128304" y="290369"/>
                </a:lnTo>
                <a:lnTo>
                  <a:pt x="128324" y="290372"/>
                </a:lnTo>
                <a:cubicBezTo>
                  <a:pt x="134866" y="291658"/>
                  <a:pt x="139588" y="297396"/>
                  <a:pt x="139588" y="304069"/>
                </a:cubicBezTo>
                <a:lnTo>
                  <a:pt x="139588" y="327333"/>
                </a:lnTo>
                <a:cubicBezTo>
                  <a:pt x="139588" y="329902"/>
                  <a:pt x="141671" y="331986"/>
                  <a:pt x="144241" y="331986"/>
                </a:cubicBezTo>
                <a:lnTo>
                  <a:pt x="167505" y="331986"/>
                </a:lnTo>
                <a:cubicBezTo>
                  <a:pt x="167505" y="316566"/>
                  <a:pt x="180005" y="304069"/>
                  <a:pt x="195423" y="304069"/>
                </a:cubicBezTo>
                <a:lnTo>
                  <a:pt x="232646" y="304069"/>
                </a:lnTo>
                <a:cubicBezTo>
                  <a:pt x="248064" y="304069"/>
                  <a:pt x="260564" y="316566"/>
                  <a:pt x="260564" y="331986"/>
                </a:cubicBezTo>
                <a:lnTo>
                  <a:pt x="283829" y="331986"/>
                </a:lnTo>
                <a:cubicBezTo>
                  <a:pt x="286399" y="331986"/>
                  <a:pt x="288481" y="329902"/>
                  <a:pt x="288481" y="327333"/>
                </a:cubicBezTo>
                <a:lnTo>
                  <a:pt x="288481" y="285457"/>
                </a:lnTo>
                <a:cubicBezTo>
                  <a:pt x="288481" y="280194"/>
                  <a:pt x="291454" y="275373"/>
                  <a:pt x="296146" y="272996"/>
                </a:cubicBezTo>
                <a:lnTo>
                  <a:pt x="296393" y="272864"/>
                </a:lnTo>
                <a:cubicBezTo>
                  <a:pt x="296652" y="272723"/>
                  <a:pt x="297097" y="272475"/>
                  <a:pt x="297700" y="272116"/>
                </a:cubicBezTo>
                <a:cubicBezTo>
                  <a:pt x="298908" y="271398"/>
                  <a:pt x="300739" y="270242"/>
                  <a:pt x="302991" y="268615"/>
                </a:cubicBezTo>
                <a:cubicBezTo>
                  <a:pt x="307508" y="265353"/>
                  <a:pt x="313626" y="260264"/>
                  <a:pt x="319760" y="253108"/>
                </a:cubicBezTo>
                <a:cubicBezTo>
                  <a:pt x="331901" y="238944"/>
                  <a:pt x="344317" y="216482"/>
                  <a:pt x="344317" y="183093"/>
                </a:cubicBezTo>
                <a:cubicBezTo>
                  <a:pt x="344317" y="164358"/>
                  <a:pt x="340814" y="149212"/>
                  <a:pt x="334849" y="136794"/>
                </a:cubicBezTo>
                <a:cubicBezTo>
                  <a:pt x="341510" y="127954"/>
                  <a:pt x="346531" y="118006"/>
                  <a:pt x="349703" y="107463"/>
                </a:cubicBezTo>
                <a:cubicBezTo>
                  <a:pt x="351549" y="109992"/>
                  <a:pt x="353300" y="112617"/>
                  <a:pt x="354949" y="115343"/>
                </a:cubicBezTo>
                <a:cubicBezTo>
                  <a:pt x="366195" y="133921"/>
                  <a:pt x="372234" y="156346"/>
                  <a:pt x="372234" y="183093"/>
                </a:cubicBezTo>
                <a:cubicBezTo>
                  <a:pt x="372234" y="224148"/>
                  <a:pt x="356733" y="252870"/>
                  <a:pt x="340955" y="271277"/>
                </a:cubicBezTo>
                <a:cubicBezTo>
                  <a:pt x="333131" y="280406"/>
                  <a:pt x="325290" y="286948"/>
                  <a:pt x="319338" y="291247"/>
                </a:cubicBezTo>
                <a:cubicBezTo>
                  <a:pt x="318299" y="291997"/>
                  <a:pt x="317317" y="292680"/>
                  <a:pt x="316399" y="293298"/>
                </a:cubicBezTo>
                <a:lnTo>
                  <a:pt x="316399" y="327333"/>
                </a:lnTo>
                <a:cubicBezTo>
                  <a:pt x="316399" y="345321"/>
                  <a:pt x="301817" y="359904"/>
                  <a:pt x="283829" y="359904"/>
                </a:cubicBezTo>
                <a:lnTo>
                  <a:pt x="260564" y="359904"/>
                </a:lnTo>
                <a:cubicBezTo>
                  <a:pt x="245146" y="359904"/>
                  <a:pt x="232646" y="347404"/>
                  <a:pt x="232646" y="331986"/>
                </a:cubicBezTo>
                <a:lnTo>
                  <a:pt x="195423" y="331986"/>
                </a:lnTo>
                <a:cubicBezTo>
                  <a:pt x="195423" y="347404"/>
                  <a:pt x="182923" y="359904"/>
                  <a:pt x="167505" y="359904"/>
                </a:cubicBezTo>
                <a:lnTo>
                  <a:pt x="144241" y="359904"/>
                </a:lnTo>
                <a:cubicBezTo>
                  <a:pt x="126253" y="359904"/>
                  <a:pt x="111670" y="345321"/>
                  <a:pt x="111670" y="327333"/>
                </a:cubicBezTo>
                <a:lnTo>
                  <a:pt x="111670" y="314629"/>
                </a:lnTo>
                <a:cubicBezTo>
                  <a:pt x="109101" y="313762"/>
                  <a:pt x="106185" y="312688"/>
                  <a:pt x="103029" y="311366"/>
                </a:cubicBezTo>
                <a:cubicBezTo>
                  <a:pt x="91935" y="306723"/>
                  <a:pt x="77416" y="298861"/>
                  <a:pt x="64576" y="286021"/>
                </a:cubicBezTo>
                <a:cubicBezTo>
                  <a:pt x="49984" y="271429"/>
                  <a:pt x="40211" y="256203"/>
                  <a:pt x="34713" y="246359"/>
                </a:cubicBezTo>
                <a:cubicBezTo>
                  <a:pt x="33090" y="243456"/>
                  <a:pt x="30666" y="241904"/>
                  <a:pt x="28591" y="241557"/>
                </a:cubicBezTo>
                <a:cubicBezTo>
                  <a:pt x="12093" y="238809"/>
                  <a:pt x="0" y="224533"/>
                  <a:pt x="0" y="207807"/>
                </a:cubicBezTo>
                <a:lnTo>
                  <a:pt x="0" y="175183"/>
                </a:lnTo>
                <a:cubicBezTo>
                  <a:pt x="0" y="159498"/>
                  <a:pt x="11339" y="146113"/>
                  <a:pt x="26810" y="143533"/>
                </a:cubicBezTo>
                <a:cubicBezTo>
                  <a:pt x="28428" y="143263"/>
                  <a:pt x="30812" y="141657"/>
                  <a:pt x="31947" y="138257"/>
                </a:cubicBezTo>
                <a:cubicBezTo>
                  <a:pt x="35527" y="127532"/>
                  <a:pt x="42474" y="111572"/>
                  <a:pt x="55271" y="98775"/>
                </a:cubicBezTo>
                <a:cubicBezTo>
                  <a:pt x="65738" y="88307"/>
                  <a:pt x="77329" y="80618"/>
                  <a:pt x="86133" y="75587"/>
                </a:cubicBezTo>
                <a:cubicBezTo>
                  <a:pt x="88671" y="74137"/>
                  <a:pt x="91008" y="72890"/>
                  <a:pt x="93059" y="71846"/>
                </a:cubicBezTo>
                <a:lnTo>
                  <a:pt x="93059" y="18772"/>
                </a:lnTo>
                <a:cubicBezTo>
                  <a:pt x="93059" y="1316"/>
                  <a:pt x="114101" y="-5849"/>
                  <a:pt x="125440" y="5442"/>
                </a:cubicBezTo>
                <a:cubicBezTo>
                  <a:pt x="131591" y="11566"/>
                  <a:pt x="140520" y="19734"/>
                  <a:pt x="150403" y="26554"/>
                </a:cubicBezTo>
                <a:close/>
                <a:moveTo>
                  <a:pt x="206032" y="115122"/>
                </a:moveTo>
                <a:cubicBezTo>
                  <a:pt x="196910" y="111345"/>
                  <a:pt x="189214" y="104174"/>
                  <a:pt x="187381" y="94473"/>
                </a:cubicBezTo>
                <a:cubicBezTo>
                  <a:pt x="180978" y="60572"/>
                  <a:pt x="198933" y="25679"/>
                  <a:pt x="232068" y="11950"/>
                </a:cubicBezTo>
                <a:cubicBezTo>
                  <a:pt x="270052" y="-3787"/>
                  <a:pt x="313604" y="14248"/>
                  <a:pt x="329342" y="52232"/>
                </a:cubicBezTo>
                <a:cubicBezTo>
                  <a:pt x="343070" y="85368"/>
                  <a:pt x="331099" y="122739"/>
                  <a:pt x="302602" y="142188"/>
                </a:cubicBezTo>
                <a:cubicBezTo>
                  <a:pt x="294448" y="147753"/>
                  <a:pt x="283935" y="147384"/>
                  <a:pt x="274813" y="143606"/>
                </a:cubicBezTo>
                <a:lnTo>
                  <a:pt x="206032" y="115122"/>
                </a:lnTo>
                <a:close/>
                <a:moveTo>
                  <a:pt x="287813" y="118463"/>
                </a:moveTo>
                <a:cubicBezTo>
                  <a:pt x="304929" y="106140"/>
                  <a:pt x="311964" y="83226"/>
                  <a:pt x="303550" y="62918"/>
                </a:cubicBezTo>
                <a:cubicBezTo>
                  <a:pt x="293713" y="39178"/>
                  <a:pt x="266494" y="27906"/>
                  <a:pt x="242754" y="37742"/>
                </a:cubicBezTo>
                <a:cubicBezTo>
                  <a:pt x="222447" y="46156"/>
                  <a:pt x="211222" y="67335"/>
                  <a:pt x="214613" y="88150"/>
                </a:cubicBezTo>
                <a:cubicBezTo>
                  <a:pt x="214721" y="88235"/>
                  <a:pt x="214854" y="88332"/>
                  <a:pt x="215012" y="88437"/>
                </a:cubicBezTo>
                <a:cubicBezTo>
                  <a:pt x="215451" y="88730"/>
                  <a:pt x="216022" y="89043"/>
                  <a:pt x="216713" y="89329"/>
                </a:cubicBezTo>
                <a:lnTo>
                  <a:pt x="285494" y="117813"/>
                </a:lnTo>
                <a:cubicBezTo>
                  <a:pt x="286187" y="118099"/>
                  <a:pt x="286812" y="118281"/>
                  <a:pt x="287329" y="118385"/>
                </a:cubicBezTo>
                <a:cubicBezTo>
                  <a:pt x="287516" y="118422"/>
                  <a:pt x="287677" y="118447"/>
                  <a:pt x="287813" y="118463"/>
                </a:cubicBezTo>
                <a:close/>
                <a:moveTo>
                  <a:pt x="130282" y="136562"/>
                </a:moveTo>
                <a:cubicBezTo>
                  <a:pt x="130282" y="146841"/>
                  <a:pt x="121949" y="155173"/>
                  <a:pt x="111670" y="155173"/>
                </a:cubicBezTo>
                <a:cubicBezTo>
                  <a:pt x="101391" y="155173"/>
                  <a:pt x="93059" y="146841"/>
                  <a:pt x="93059" y="136562"/>
                </a:cubicBezTo>
                <a:cubicBezTo>
                  <a:pt x="93059" y="126283"/>
                  <a:pt x="101391" y="117950"/>
                  <a:pt x="111670" y="117950"/>
                </a:cubicBezTo>
                <a:cubicBezTo>
                  <a:pt x="121949" y="117950"/>
                  <a:pt x="130282" y="126283"/>
                  <a:pt x="130282" y="136562"/>
                </a:cubicBez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grpSp>
        <p:nvGrpSpPr>
          <p:cNvPr id="9" name="Group 8">
            <a:extLst>
              <a:ext uri="{FF2B5EF4-FFF2-40B4-BE49-F238E27FC236}">
                <a16:creationId xmlns:a16="http://schemas.microsoft.com/office/drawing/2014/main" id="{B996E10A-B85B-C1AF-9060-1AB09C333924}"/>
              </a:ext>
            </a:extLst>
          </p:cNvPr>
          <p:cNvGrpSpPr/>
          <p:nvPr/>
        </p:nvGrpSpPr>
        <p:grpSpPr>
          <a:xfrm>
            <a:off x="588411" y="4864910"/>
            <a:ext cx="457200" cy="457200"/>
            <a:chOff x="593727" y="4695565"/>
            <a:chExt cx="457200" cy="457200"/>
          </a:xfrm>
        </p:grpSpPr>
        <p:sp>
          <p:nvSpPr>
            <p:cNvPr id="10" name="Text Placeholder 2">
              <a:extLst>
                <a:ext uri="{FF2B5EF4-FFF2-40B4-BE49-F238E27FC236}">
                  <a16:creationId xmlns:a16="http://schemas.microsoft.com/office/drawing/2014/main" id="{27D05054-AF32-33FE-71BB-7C74E3CBE358}"/>
                </a:ext>
                <a:ext uri="{C183D7F6-B498-43B3-948B-1728B52AA6E4}">
                  <adec:decorative xmlns:adec="http://schemas.microsoft.com/office/drawing/2017/decorative" val="1"/>
                </a:ext>
              </a:extLst>
            </p:cNvPr>
            <p:cNvSpPr txBox="1">
              <a:spLocks/>
            </p:cNvSpPr>
            <p:nvPr/>
          </p:nvSpPr>
          <p:spPr>
            <a:xfrm>
              <a:off x="593727" y="4695565"/>
              <a:ext cx="457200" cy="457200"/>
            </a:xfrm>
            <a:prstGeom prst="ellipse">
              <a:avLst/>
            </a:prstGeom>
            <a:solidFill>
              <a:schemeClr val="bg1">
                <a:alpha val="74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640080" tIns="137160" rIns="137160" bIns="137160" numCol="1" spcCol="0" rtlCol="0" fromWordArt="0" anchor="t" anchorCtr="0" forceAA="0" compatLnSpc="1">
              <a:prstTxWarp prst="textNoShape">
                <a:avLst/>
              </a:prstTxWarp>
              <a:spAutoFit/>
            </a:bodyPr>
            <a:lstStyle>
              <a:lvl1pPr indent="0">
                <a:lnSpc>
                  <a:spcPct val="100000"/>
                </a:lnSpc>
                <a:spcBef>
                  <a:spcPts val="1000"/>
                </a:spcBef>
                <a:spcAft>
                  <a:spcPts val="600"/>
                </a:spcAft>
                <a:buFont typeface="Arial" panose="020B0604020202020204" pitchFamily="34" charset="0"/>
                <a:buNone/>
                <a:defRPr kumimoji="0" lang="en-US" sz="1400" b="0" i="0" u="none" strike="noStrike" kern="0" cap="none" spc="0" normalizeH="0" baseline="0" smtClean="0">
                  <a:ln w="3175">
                    <a:noFill/>
                  </a:ln>
                  <a:effectLst/>
                  <a:uLnTx/>
                  <a:uFillTx/>
                  <a:latin typeface="+mj-lt"/>
                  <a:ea typeface="Segoe UI Regular" pitchFamily="34" charset="-122"/>
                  <a:cs typeface="Segoe UI" panose="020B0502040204020203" pitchFamily="34" charset="0"/>
                </a:defRPr>
              </a:lvl1pPr>
              <a:lvl2pPr marL="0" lvl="1" indent="0">
                <a:lnSpc>
                  <a:spcPct val="100000"/>
                </a:lnSpc>
                <a:spcBef>
                  <a:spcPts val="0"/>
                </a:spcBef>
                <a:buFont typeface="Arial" panose="020B0604020202020204" pitchFamily="34" charset="0"/>
                <a:buNone/>
                <a:defRPr lang="en-US" sz="1100" dirty="0" smtClean="0">
                  <a:solidFill>
                    <a:schemeClr val="tx2"/>
                  </a:solidFill>
                </a:defRPr>
              </a:lvl2pPr>
              <a:lvl3pPr marL="1200150" indent="-285750">
                <a:lnSpc>
                  <a:spcPct val="100000"/>
                </a:lnSpc>
                <a:spcBef>
                  <a:spcPts val="500"/>
                </a:spcBef>
                <a:buFont typeface="Arial" panose="020B0604020202020204" pitchFamily="34" charset="0"/>
                <a:buChar char="•"/>
                <a:defRPr lang="en-US" sz="1100" smtClean="0">
                  <a:solidFill>
                    <a:schemeClr val="tx2"/>
                  </a:solidFill>
                </a:defRPr>
              </a:lvl3pPr>
              <a:lvl4pPr marL="1657350" indent="-285750">
                <a:lnSpc>
                  <a:spcPct val="100000"/>
                </a:lnSpc>
                <a:spcBef>
                  <a:spcPts val="500"/>
                </a:spcBef>
                <a:buFont typeface="Arial" panose="020B0604020202020204" pitchFamily="34" charset="0"/>
                <a:buChar char="•"/>
                <a:defRPr lang="en-US" sz="1100" smtClean="0">
                  <a:solidFill>
                    <a:schemeClr val="tx2"/>
                  </a:solidFill>
                </a:defRPr>
              </a:lvl4pPr>
              <a:lvl5pPr marL="2114550" indent="-285750">
                <a:lnSpc>
                  <a:spcPct val="100000"/>
                </a:lnSpc>
                <a:spcBef>
                  <a:spcPts val="500"/>
                </a:spcBef>
                <a:buFont typeface="Arial" panose="020B0604020202020204" pitchFamily="34" charset="0"/>
                <a:buChar char="•"/>
                <a:defRPr lang="en-US">
                  <a:solidFill>
                    <a:schemeClr val="tx2"/>
                  </a:solidFill>
                </a:defRPr>
              </a:lvl5pPr>
              <a:lvl6pPr marL="2514600" indent="-228600">
                <a:lnSpc>
                  <a:spcPct val="90000"/>
                </a:lnSpc>
                <a:spcBef>
                  <a:spcPts val="500"/>
                </a:spcBef>
                <a:buFont typeface="Arial" panose="020B0604020202020204" pitchFamily="34" charset="0"/>
                <a:buChar char="•"/>
                <a:defRPr>
                  <a:solidFill>
                    <a:schemeClr val="lt1"/>
                  </a:solidFill>
                </a:defRPr>
              </a:lvl6pPr>
              <a:lvl7pPr marL="2971800" indent="-228600">
                <a:lnSpc>
                  <a:spcPct val="90000"/>
                </a:lnSpc>
                <a:spcBef>
                  <a:spcPts val="500"/>
                </a:spcBef>
                <a:buFont typeface="Arial" panose="020B0604020202020204" pitchFamily="34" charset="0"/>
                <a:buChar char="•"/>
                <a:defRPr>
                  <a:solidFill>
                    <a:schemeClr val="lt1"/>
                  </a:solidFill>
                </a:defRPr>
              </a:lvl7pPr>
              <a:lvl8pPr marL="3429000" indent="-228600">
                <a:lnSpc>
                  <a:spcPct val="90000"/>
                </a:lnSpc>
                <a:spcBef>
                  <a:spcPts val="500"/>
                </a:spcBef>
                <a:buFont typeface="Arial" panose="020B0604020202020204" pitchFamily="34" charset="0"/>
                <a:buChar char="•"/>
                <a:defRPr>
                  <a:solidFill>
                    <a:schemeClr val="lt1"/>
                  </a:solidFill>
                </a:defRPr>
              </a:lvl8pPr>
              <a:lvl9pPr marL="3886200" indent="-228600">
                <a:lnSpc>
                  <a:spcPct val="90000"/>
                </a:lnSpc>
                <a:spcBef>
                  <a:spcPts val="500"/>
                </a:spcBef>
                <a:buFont typeface="Arial" panose="020B0604020202020204" pitchFamily="34" charset="0"/>
                <a:buChar char="•"/>
                <a:defRPr>
                  <a:solidFill>
                    <a:schemeClr val="lt1"/>
                  </a:solidFill>
                </a:defRPr>
              </a:lvl9pPr>
            </a:lstStyle>
            <a:p>
              <a:endParaRPr lang="en-US"/>
            </a:p>
          </p:txBody>
        </p:sp>
        <p:sp>
          <p:nvSpPr>
            <p:cNvPr id="11" name="arrow_16">
              <a:extLst>
                <a:ext uri="{FF2B5EF4-FFF2-40B4-BE49-F238E27FC236}">
                  <a16:creationId xmlns:a16="http://schemas.microsoft.com/office/drawing/2014/main" id="{16072FBB-E442-4D78-991E-6BD9D3BC9FDA}"/>
                </a:ext>
                <a:ext uri="{C183D7F6-B498-43B3-948B-1728B52AA6E4}">
                  <adec:decorative xmlns:adec="http://schemas.microsoft.com/office/drawing/2017/decorative" val="1"/>
                </a:ext>
              </a:extLst>
            </p:cNvPr>
            <p:cNvSpPr>
              <a:spLocks noChangeAspect="1" noEditPoints="1"/>
            </p:cNvSpPr>
            <p:nvPr/>
          </p:nvSpPr>
          <p:spPr bwMode="auto">
            <a:xfrm>
              <a:off x="708023" y="4839920"/>
              <a:ext cx="228600" cy="168490"/>
            </a:xfrm>
            <a:custGeom>
              <a:avLst/>
              <a:gdLst>
                <a:gd name="T0" fmla="*/ 347 w 347"/>
                <a:gd name="T1" fmla="*/ 206 h 254"/>
                <a:gd name="T2" fmla="*/ 182 w 347"/>
                <a:gd name="T3" fmla="*/ 151 h 254"/>
                <a:gd name="T4" fmla="*/ 135 w 347"/>
                <a:gd name="T5" fmla="*/ 101 h 254"/>
                <a:gd name="T6" fmla="*/ 0 w 347"/>
                <a:gd name="T7" fmla="*/ 47 h 254"/>
                <a:gd name="T8" fmla="*/ 347 w 347"/>
                <a:gd name="T9" fmla="*/ 48 h 254"/>
                <a:gd name="T10" fmla="*/ 158 w 347"/>
                <a:gd name="T11" fmla="*/ 130 h 254"/>
                <a:gd name="T12" fmla="*/ 0 w 347"/>
                <a:gd name="T13" fmla="*/ 207 h 254"/>
                <a:gd name="T14" fmla="*/ 299 w 347"/>
                <a:gd name="T15" fmla="*/ 95 h 254"/>
                <a:gd name="T16" fmla="*/ 347 w 347"/>
                <a:gd name="T17" fmla="*/ 48 h 254"/>
                <a:gd name="T18" fmla="*/ 299 w 347"/>
                <a:gd name="T19" fmla="*/ 0 h 254"/>
                <a:gd name="T20" fmla="*/ 299 w 347"/>
                <a:gd name="T21" fmla="*/ 254 h 254"/>
                <a:gd name="T22" fmla="*/ 347 w 347"/>
                <a:gd name="T23" fmla="*/ 206 h 254"/>
                <a:gd name="T24" fmla="*/ 299 w 347"/>
                <a:gd name="T25" fmla="*/ 158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7" h="254">
                  <a:moveTo>
                    <a:pt x="347" y="206"/>
                  </a:moveTo>
                  <a:cubicBezTo>
                    <a:pt x="258" y="212"/>
                    <a:pt x="213" y="183"/>
                    <a:pt x="182" y="151"/>
                  </a:cubicBezTo>
                  <a:moveTo>
                    <a:pt x="135" y="101"/>
                  </a:moveTo>
                  <a:cubicBezTo>
                    <a:pt x="74" y="47"/>
                    <a:pt x="0" y="47"/>
                    <a:pt x="0" y="47"/>
                  </a:cubicBezTo>
                  <a:moveTo>
                    <a:pt x="347" y="48"/>
                  </a:moveTo>
                  <a:cubicBezTo>
                    <a:pt x="232" y="41"/>
                    <a:pt x="190" y="91"/>
                    <a:pt x="158" y="130"/>
                  </a:cubicBezTo>
                  <a:cubicBezTo>
                    <a:pt x="94" y="207"/>
                    <a:pt x="0" y="207"/>
                    <a:pt x="0" y="207"/>
                  </a:cubicBezTo>
                  <a:moveTo>
                    <a:pt x="299" y="95"/>
                  </a:moveTo>
                  <a:cubicBezTo>
                    <a:pt x="347" y="48"/>
                    <a:pt x="347" y="48"/>
                    <a:pt x="347" y="48"/>
                  </a:cubicBezTo>
                  <a:cubicBezTo>
                    <a:pt x="299" y="0"/>
                    <a:pt x="299" y="0"/>
                    <a:pt x="299" y="0"/>
                  </a:cubicBezTo>
                  <a:moveTo>
                    <a:pt x="299" y="254"/>
                  </a:moveTo>
                  <a:cubicBezTo>
                    <a:pt x="347" y="206"/>
                    <a:pt x="347" y="206"/>
                    <a:pt x="347" y="206"/>
                  </a:cubicBezTo>
                  <a:cubicBezTo>
                    <a:pt x="299" y="158"/>
                    <a:pt x="299" y="158"/>
                    <a:pt x="299" y="158"/>
                  </a:cubicBezTo>
                </a:path>
              </a:pathLst>
            </a:custGeom>
            <a:noFill/>
            <a:ln w="15875" cap="rnd">
              <a:gradFill>
                <a:gsLst>
                  <a:gs pos="3000">
                    <a:srgbClr val="0078D4"/>
                  </a:gs>
                  <a:gs pos="52000">
                    <a:srgbClr val="818EFF"/>
                  </a:gs>
                  <a:gs pos="35000">
                    <a:srgbClr val="2DB4FF"/>
                  </a:gs>
                  <a:gs pos="30000">
                    <a:srgbClr val="2DB4FF"/>
                  </a:gs>
                  <a:gs pos="70000">
                    <a:srgbClr val="D660FF"/>
                  </a:gs>
                  <a:gs pos="97000">
                    <a:srgbClr val="FEA87A"/>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spTree>
    <p:extLst>
      <p:ext uri="{BB962C8B-B14F-4D97-AF65-F5344CB8AC3E}">
        <p14:creationId xmlns:p14="http://schemas.microsoft.com/office/powerpoint/2010/main" val="3220192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a:stretch>
        </a:blipFill>
        <a:effectLst/>
      </p:bgPr>
    </p:bg>
    <p:spTree>
      <p:nvGrpSpPr>
        <p:cNvPr id="1" name="">
          <a:extLst>
            <a:ext uri="{FF2B5EF4-FFF2-40B4-BE49-F238E27FC236}">
              <a16:creationId xmlns:a16="http://schemas.microsoft.com/office/drawing/2014/main" id="{E379BB79-438E-44FE-926C-77052D964B1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BAD4EA-287C-0FDD-9C50-57846F42AED0}"/>
              </a:ext>
            </a:extLst>
          </p:cNvPr>
          <p:cNvSpPr>
            <a:spLocks noGrp="1"/>
          </p:cNvSpPr>
          <p:nvPr>
            <p:ph type="title"/>
          </p:nvPr>
        </p:nvSpPr>
        <p:spPr/>
        <p:txBody>
          <a:bodyPr/>
          <a:lstStyle/>
          <a:p>
            <a:r>
              <a:rPr lang="en-US" dirty="0"/>
              <a:t>Example offer for </a:t>
            </a:r>
            <a:r>
              <a:rPr lang="en-US" dirty="0">
                <a:ln w="3175">
                  <a:noFill/>
                </a:ln>
                <a:solidFill>
                  <a:schemeClr val="accent4"/>
                </a:solidFill>
                <a:latin typeface="Segoe UI Semibold"/>
                <a:ea typeface="+mn-ea"/>
                <a:cs typeface="Segoe UI" panose="020B0502040204020203" pitchFamily="34" charset="0"/>
              </a:rPr>
              <a:t>HR</a:t>
            </a:r>
          </a:p>
        </p:txBody>
      </p:sp>
      <p:sp>
        <p:nvSpPr>
          <p:cNvPr id="2" name="Footer Placeholder 1">
            <a:extLst>
              <a:ext uri="{FF2B5EF4-FFF2-40B4-BE49-F238E27FC236}">
                <a16:creationId xmlns:a16="http://schemas.microsoft.com/office/drawing/2014/main" id="{970634A7-0F2D-0557-A25E-CE49A36AF53E}"/>
              </a:ext>
            </a:extLst>
          </p:cNvPr>
          <p:cNvSpPr>
            <a:spLocks noGrp="1"/>
          </p:cNvSpPr>
          <p:nvPr>
            <p:ph type="ftr" sz="quarter" idx="10"/>
          </p:nvPr>
        </p:nvSpPr>
        <p:spPr/>
        <p:txBody>
          <a:bodyPr/>
          <a:lstStyle/>
          <a:p>
            <a:pPr defTabSz="914367">
              <a:defRPr/>
            </a:pPr>
            <a:r>
              <a:rPr lang="en-US"/>
              <a:t>Building Customer-Centric Services offers</a:t>
            </a:r>
          </a:p>
        </p:txBody>
      </p:sp>
      <p:sp>
        <p:nvSpPr>
          <p:cNvPr id="124" name="Slide Number Placeholder 123">
            <a:extLst>
              <a:ext uri="{FF2B5EF4-FFF2-40B4-BE49-F238E27FC236}">
                <a16:creationId xmlns:a16="http://schemas.microsoft.com/office/drawing/2014/main" id="{DB40DE6D-AAAA-E35F-0925-CBF77208D1A4}"/>
              </a:ext>
            </a:extLst>
          </p:cNvPr>
          <p:cNvSpPr>
            <a:spLocks noGrp="1"/>
          </p:cNvSpPr>
          <p:nvPr>
            <p:ph type="sldNum" sz="quarter" idx="11"/>
          </p:nvPr>
        </p:nvSpPr>
        <p:spPr/>
        <p:txBody>
          <a:bodyPr/>
          <a:lstStyle/>
          <a:p>
            <a:pPr defTabSz="914367">
              <a:defRPr/>
            </a:pPr>
            <a:fld id="{2A20A09D-1A50-4CA5-89CD-EDD3F91B2117}" type="slidenum">
              <a:rPr lang="en-US" smtClean="0"/>
              <a:pPr defTabSz="914367">
                <a:defRPr/>
              </a:pPr>
              <a:t>24</a:t>
            </a:fld>
            <a:endParaRPr lang="en-US"/>
          </a:p>
        </p:txBody>
      </p:sp>
      <p:sp>
        <p:nvSpPr>
          <p:cNvPr id="4" name="Text Placeholder 3">
            <a:extLst>
              <a:ext uri="{FF2B5EF4-FFF2-40B4-BE49-F238E27FC236}">
                <a16:creationId xmlns:a16="http://schemas.microsoft.com/office/drawing/2014/main" id="{C246EC15-0BCD-B4FA-A4EF-CA1AE65C83AC}"/>
              </a:ext>
            </a:extLst>
          </p:cNvPr>
          <p:cNvSpPr>
            <a:spLocks noGrp="1"/>
          </p:cNvSpPr>
          <p:nvPr>
            <p:ph type="body" sz="quarter" idx="12"/>
          </p:nvPr>
        </p:nvSpPr>
        <p:spPr>
          <a:xfrm>
            <a:off x="812800" y="1267932"/>
            <a:ext cx="4711700" cy="1456849"/>
          </a:xfrm>
        </p:spPr>
        <p:txBody>
          <a:bodyPr wrap="square" lIns="457200">
            <a:spAutoFit/>
          </a:bodyPr>
          <a:lstStyle/>
          <a:p>
            <a:r>
              <a:rPr lang="en-US" kern="1200" dirty="0">
                <a:ea typeface="+mn-ea"/>
              </a:rPr>
              <a:t>Goals and challenges</a:t>
            </a:r>
          </a:p>
          <a:p>
            <a:pPr lvl="1"/>
            <a:r>
              <a:rPr lang="en-US" kern="1200" dirty="0">
                <a:ea typeface="+mn-ea"/>
              </a:rPr>
              <a:t>With changing worker expectations, multi-generational workforces, and hybrid workplaces, it’s becoming harder to keep talented people. Copilot can help to simplify access to data, improve quality, and increase creativity, resulting in improvements to essential key performance indicators.</a:t>
            </a:r>
          </a:p>
        </p:txBody>
      </p:sp>
      <p:sp>
        <p:nvSpPr>
          <p:cNvPr id="5" name="Text Placeholder 4">
            <a:extLst>
              <a:ext uri="{FF2B5EF4-FFF2-40B4-BE49-F238E27FC236}">
                <a16:creationId xmlns:a16="http://schemas.microsoft.com/office/drawing/2014/main" id="{EA811A2B-133C-EC87-7A35-E9AFAA2205B1}"/>
              </a:ext>
            </a:extLst>
          </p:cNvPr>
          <p:cNvSpPr>
            <a:spLocks noGrp="1"/>
          </p:cNvSpPr>
          <p:nvPr>
            <p:ph type="body" sz="quarter" idx="13"/>
          </p:nvPr>
        </p:nvSpPr>
        <p:spPr>
          <a:prstGeom prst="roundRect">
            <a:avLst>
              <a:gd name="adj" fmla="val 7581"/>
            </a:avLst>
          </a:prstGeom>
          <a:solidFill>
            <a:schemeClr val="bg1">
              <a:alpha val="31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457200" tIns="137160" rIns="137160" bIns="137160" numCol="1" spcCol="0" rtlCol="0" fromWordArt="0" anchor="t" anchorCtr="0" forceAA="0" compatLnSpc="1">
            <a:prstTxWarp prst="textNoShape">
              <a:avLst/>
            </a:prstTxWarp>
            <a:noAutofit/>
          </a:bodyPr>
          <a:lstStyle/>
          <a:p>
            <a:pPr marL="0" indent="0">
              <a:spcAft>
                <a:spcPts val="600"/>
              </a:spcAft>
              <a:buNone/>
            </a:pPr>
            <a:r>
              <a:rPr lang="en-US" kern="1200">
                <a:ea typeface="+mn-ea"/>
              </a:rPr>
              <a:t>Transform HR processes with Copilot and [Insert Partner Offer]</a:t>
            </a:r>
          </a:p>
          <a:p>
            <a:pPr marL="0" lvl="1" indent="0">
              <a:spcBef>
                <a:spcPts val="0"/>
              </a:spcBef>
              <a:buNone/>
            </a:pPr>
            <a:r>
              <a:rPr lang="en-US" sz="1000"/>
              <a:t>[Insert partner offer summary] </a:t>
            </a:r>
          </a:p>
        </p:txBody>
      </p:sp>
      <p:sp>
        <p:nvSpPr>
          <p:cNvPr id="6" name="Text Placeholder 5">
            <a:extLst>
              <a:ext uri="{FF2B5EF4-FFF2-40B4-BE49-F238E27FC236}">
                <a16:creationId xmlns:a16="http://schemas.microsoft.com/office/drawing/2014/main" id="{4191746F-58C8-ABAC-6FA6-B5AA43BAF3FC}"/>
              </a:ext>
            </a:extLst>
          </p:cNvPr>
          <p:cNvSpPr>
            <a:spLocks noGrp="1"/>
          </p:cNvSpPr>
          <p:nvPr>
            <p:ph type="body" sz="quarter" idx="14"/>
          </p:nvPr>
        </p:nvSpPr>
        <p:spPr>
          <a:xfrm>
            <a:off x="812800" y="3009454"/>
            <a:ext cx="4711700" cy="1480932"/>
          </a:xfrm>
          <a:solidFill>
            <a:schemeClr val="bg1">
              <a:alpha val="31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457200" tIns="137160" rIns="137160" bIns="137160" numCol="1" spcCol="0" rtlCol="0" fromWordArt="0" anchor="t" anchorCtr="0" forceAA="0" compatLnSpc="1">
            <a:prstTxWarp prst="textNoShape">
              <a:avLst/>
            </a:prstTxWarp>
            <a:spAutoFit/>
          </a:bodyPr>
          <a:lstStyle/>
          <a:p>
            <a:pPr marL="0" indent="0">
              <a:spcAft>
                <a:spcPts val="600"/>
              </a:spcAft>
              <a:buNone/>
            </a:pPr>
            <a:r>
              <a:rPr lang="en-US" kern="1200" dirty="0">
                <a:ea typeface="+mn-ea"/>
              </a:rPr>
              <a:t>Copilot can assist with…</a:t>
            </a:r>
          </a:p>
          <a:p>
            <a:pPr marL="0" marR="0" lvl="0" indent="0" algn="l" defTabSz="582780" rtl="0" eaLnBrk="1" fontAlgn="auto" latinLnBrk="0" hangingPunct="1">
              <a:lnSpc>
                <a:spcPct val="110000"/>
              </a:lnSpc>
              <a:spcBef>
                <a:spcPct val="0"/>
              </a:spcBef>
              <a:spcAft>
                <a:spcPts val="300"/>
              </a:spcAft>
              <a:buClrTx/>
              <a:buSzTx/>
              <a:buFont typeface="Wingdings" panose="05000000000000000000" pitchFamily="2" charset="2"/>
              <a:buNone/>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Semilight" panose="020B0402040204020203" pitchFamily="34" charset="0"/>
              </a:rPr>
              <a:t>Copilot helps you improve HR processes and access to information.  </a:t>
            </a:r>
            <a:endParaRPr lang="en-US" sz="1000" dirty="0">
              <a:solidFill>
                <a:srgbClr val="2585D6"/>
              </a:solidFill>
              <a:latin typeface="Segoe UI Semibold" panose="020B0702040204020203" pitchFamily="34" charset="0"/>
              <a:cs typeface="Segoe UI Semibold" panose="020B0702040204020203" pitchFamily="34" charset="0"/>
              <a:hlinkClick r:id="" action="ppaction://noaction">
                <a:extLst>
                  <a:ext uri="{A12FA001-AC4F-418D-AE19-62706E023703}">
                    <ahyp:hlinkClr xmlns:ahyp="http://schemas.microsoft.com/office/drawing/2018/hyperlinkcolor" val="tx"/>
                  </a:ext>
                </a:extLst>
              </a:hlinkClick>
            </a:endParaRPr>
          </a:p>
          <a:p>
            <a:pPr marL="114300" marR="0" lvl="0" indent="-114300" algn="l" defTabSz="582780" rtl="0" eaLnBrk="1" fontAlgn="auto" latinLnBrk="0" hangingPunct="1">
              <a:lnSpc>
                <a:spcPct val="110000"/>
              </a:lnSpc>
              <a:spcBef>
                <a:spcPct val="0"/>
              </a:spcBef>
              <a:buClr>
                <a:schemeClr val="tx1"/>
              </a:buClr>
              <a:buSzTx/>
              <a:buFont typeface="Arial" panose="020B0604020202020204" pitchFamily="34" charset="0"/>
              <a:buChar char="•"/>
              <a:tabLst/>
              <a:defRPr/>
            </a:pPr>
            <a:r>
              <a:rPr kumimoji="0" lang="en-US" sz="1000" b="0" i="0" u="none" strike="noStrike" kern="1200" cap="none" spc="0" normalizeH="0" baseline="0" noProof="0" dirty="0">
                <a:ln>
                  <a:noFill/>
                </a:ln>
                <a:effectLst/>
                <a:uLnTx/>
                <a:uFillTx/>
                <a:latin typeface="+mn-lt"/>
                <a:ea typeface="+mn-ea"/>
                <a:cs typeface="Segoe UI Semibold" panose="020B0702040204020203" pitchFamily="34" charset="0"/>
              </a:rPr>
              <a:t>Streamline your recruiting process</a:t>
            </a:r>
          </a:p>
          <a:p>
            <a:pPr marL="114300" indent="-114300" defTabSz="582780">
              <a:lnSpc>
                <a:spcPct val="110000"/>
              </a:lnSpc>
              <a:spcBef>
                <a:spcPct val="0"/>
              </a:spcBef>
              <a:buClr>
                <a:schemeClr val="tx1"/>
              </a:buClr>
              <a:buSzTx/>
              <a:buFont typeface="Arial" panose="020B0604020202020204" pitchFamily="34" charset="0"/>
              <a:buChar char="•"/>
              <a:defRPr/>
            </a:pPr>
            <a:r>
              <a:rPr lang="en-US" sz="1000" kern="1200" dirty="0">
                <a:ln>
                  <a:noFill/>
                </a:ln>
                <a:latin typeface="+mn-lt"/>
                <a:ea typeface="+mn-ea"/>
                <a:cs typeface="Segoe UI Semibold" panose="020B0702040204020203" pitchFamily="34" charset="0"/>
              </a:rPr>
              <a:t>Manage internal job transitions</a:t>
            </a:r>
          </a:p>
          <a:p>
            <a:pPr marL="114300" indent="-114300" defTabSz="582780">
              <a:lnSpc>
                <a:spcPct val="110000"/>
              </a:lnSpc>
              <a:spcBef>
                <a:spcPct val="0"/>
              </a:spcBef>
              <a:buClr>
                <a:schemeClr val="tx1"/>
              </a:buClr>
              <a:buSzTx/>
              <a:buFont typeface="Arial" panose="020B0604020202020204" pitchFamily="34" charset="0"/>
              <a:buChar char="•"/>
              <a:defRPr/>
            </a:pPr>
            <a:r>
              <a:rPr lang="en-US" sz="1000" kern="1200" dirty="0">
                <a:ln>
                  <a:noFill/>
                </a:ln>
                <a:latin typeface="+mn-lt"/>
                <a:ea typeface="+mn-ea"/>
                <a:cs typeface="Segoe UI Semibold" panose="020B0702040204020203" pitchFamily="34" charset="0"/>
              </a:rPr>
              <a:t>Streamline benefits and compensation</a:t>
            </a:r>
          </a:p>
          <a:p>
            <a:pPr marL="114300" indent="-114300" defTabSz="582780">
              <a:lnSpc>
                <a:spcPct val="110000"/>
              </a:lnSpc>
              <a:spcBef>
                <a:spcPct val="0"/>
              </a:spcBef>
              <a:buClr>
                <a:schemeClr val="tx1"/>
              </a:buClr>
              <a:buSzTx/>
              <a:buFont typeface="Arial" panose="020B0604020202020204" pitchFamily="34" charset="0"/>
              <a:buChar char="•"/>
              <a:defRPr/>
            </a:pPr>
            <a:r>
              <a:rPr lang="en-US" sz="1000" kern="1200" dirty="0">
                <a:ln>
                  <a:noFill/>
                </a:ln>
                <a:latin typeface="+mn-lt"/>
                <a:ea typeface="+mn-ea"/>
                <a:cs typeface="Segoe UI Semibold" panose="020B0702040204020203" pitchFamily="34" charset="0"/>
              </a:rPr>
              <a:t>Improve organizational health metrics  </a:t>
            </a:r>
          </a:p>
        </p:txBody>
      </p:sp>
      <p:sp>
        <p:nvSpPr>
          <p:cNvPr id="7" name="Text Placeholder 6">
            <a:extLst>
              <a:ext uri="{FF2B5EF4-FFF2-40B4-BE49-F238E27FC236}">
                <a16:creationId xmlns:a16="http://schemas.microsoft.com/office/drawing/2014/main" id="{9AAAE63D-0329-4C0C-FA5E-2EE5702E8388}"/>
              </a:ext>
            </a:extLst>
          </p:cNvPr>
          <p:cNvSpPr>
            <a:spLocks noGrp="1"/>
          </p:cNvSpPr>
          <p:nvPr>
            <p:ph type="body" sz="quarter" idx="15"/>
          </p:nvPr>
        </p:nvSpPr>
        <p:spPr>
          <a:prstGeom prst="roundRect">
            <a:avLst>
              <a:gd name="adj" fmla="val 3842"/>
            </a:avLst>
          </a:prstGeom>
          <a:gradFill>
            <a:gsLst>
              <a:gs pos="0">
                <a:schemeClr val="bg1">
                  <a:alpha val="30000"/>
                </a:schemeClr>
              </a:gs>
              <a:gs pos="100000">
                <a:schemeClr val="bg1">
                  <a:alpha val="50000"/>
                </a:schemeClr>
              </a:gs>
            </a:gsLst>
            <a:lin ang="0" scaled="0"/>
          </a:gradFill>
        </p:spPr>
        <p:txBody>
          <a:bodyPr/>
          <a:lstStyle/>
          <a:p>
            <a:pPr marL="0" indent="0">
              <a:spcAft>
                <a:spcPts val="600"/>
              </a:spcAft>
              <a:buNone/>
            </a:pPr>
            <a:r>
              <a:rPr lang="en-US" kern="1200">
                <a:ea typeface="+mn-ea"/>
              </a:rPr>
              <a:t>How Copilot and [Insert Partner Name] can help you achieve your goals...</a:t>
            </a:r>
          </a:p>
        </p:txBody>
      </p:sp>
      <p:sp>
        <p:nvSpPr>
          <p:cNvPr id="8" name="Text Placeholder 7">
            <a:extLst>
              <a:ext uri="{FF2B5EF4-FFF2-40B4-BE49-F238E27FC236}">
                <a16:creationId xmlns:a16="http://schemas.microsoft.com/office/drawing/2014/main" id="{FD4ED743-8A8E-4BD5-3B55-9F0F86B8399E}"/>
              </a:ext>
            </a:extLst>
          </p:cNvPr>
          <p:cNvSpPr>
            <a:spLocks noGrp="1"/>
          </p:cNvSpPr>
          <p:nvPr>
            <p:ph type="body" sz="quarter" idx="16"/>
          </p:nvPr>
        </p:nvSpPr>
        <p:spPr>
          <a:prstGeom prst="roundRect">
            <a:avLst>
              <a:gd name="adj" fmla="val 4108"/>
            </a:avLst>
          </a:prstGeom>
          <a:gradFill>
            <a:gsLst>
              <a:gs pos="0">
                <a:schemeClr val="bg1">
                  <a:alpha val="30000"/>
                </a:schemeClr>
              </a:gs>
              <a:gs pos="100000">
                <a:schemeClr val="bg1">
                  <a:alpha val="50000"/>
                </a:schemeClr>
              </a:gs>
            </a:gsLst>
            <a:lin ang="0" scaled="0"/>
          </a:gradFill>
        </p:spPr>
        <p:txBody>
          <a:bodyPr/>
          <a:lstStyle/>
          <a:p>
            <a:pPr marL="0" indent="0">
              <a:spcAft>
                <a:spcPts val="600"/>
              </a:spcAft>
              <a:buNone/>
            </a:pPr>
            <a:r>
              <a:rPr lang="en-US" kern="1200">
                <a:ea typeface="+mn-ea"/>
              </a:rPr>
              <a:t>Improve key functional KPIs</a:t>
            </a:r>
          </a:p>
        </p:txBody>
      </p:sp>
      <p:sp>
        <p:nvSpPr>
          <p:cNvPr id="14" name="Text Placeholder 2">
            <a:extLst>
              <a:ext uri="{FF2B5EF4-FFF2-40B4-BE49-F238E27FC236}">
                <a16:creationId xmlns:a16="http://schemas.microsoft.com/office/drawing/2014/main" id="{5925D035-C25D-7B63-DD79-20E8C0FF1823}"/>
              </a:ext>
              <a:ext uri="{C183D7F6-B498-43B3-948B-1728B52AA6E4}">
                <adec:decorative xmlns:adec="http://schemas.microsoft.com/office/drawing/2017/decorative" val="1"/>
              </a:ext>
            </a:extLst>
          </p:cNvPr>
          <p:cNvSpPr txBox="1">
            <a:spLocks/>
          </p:cNvSpPr>
          <p:nvPr/>
        </p:nvSpPr>
        <p:spPr>
          <a:xfrm>
            <a:off x="593723" y="1376685"/>
            <a:ext cx="457200" cy="457200"/>
          </a:xfrm>
          <a:prstGeom prst="ellipse">
            <a:avLst/>
          </a:prstGeom>
          <a:solidFill>
            <a:schemeClr val="bg1">
              <a:alpha val="74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640080" tIns="137160" rIns="137160" bIns="137160" numCol="1" spcCol="0" rtlCol="0" fromWordArt="0" anchor="t" anchorCtr="0" forceAA="0" compatLnSpc="1">
            <a:prstTxWarp prst="textNoShape">
              <a:avLst/>
            </a:prstTxWarp>
            <a:spAutoFit/>
          </a:bodyPr>
          <a:lstStyle>
            <a:lvl1pPr indent="0">
              <a:lnSpc>
                <a:spcPct val="100000"/>
              </a:lnSpc>
              <a:spcBef>
                <a:spcPts val="1000"/>
              </a:spcBef>
              <a:spcAft>
                <a:spcPts val="600"/>
              </a:spcAft>
              <a:buFont typeface="Arial" panose="020B0604020202020204" pitchFamily="34" charset="0"/>
              <a:buNone/>
              <a:defRPr kumimoji="0" lang="en-US" sz="1400" b="0" i="0" u="none" strike="noStrike" kern="0" cap="none" spc="0" normalizeH="0" baseline="0" smtClean="0">
                <a:ln w="3175">
                  <a:noFill/>
                </a:ln>
                <a:effectLst/>
                <a:uLnTx/>
                <a:uFillTx/>
                <a:latin typeface="+mj-lt"/>
                <a:ea typeface="Segoe UI Regular" pitchFamily="34" charset="-122"/>
                <a:cs typeface="Segoe UI" panose="020B0502040204020203" pitchFamily="34" charset="0"/>
              </a:defRPr>
            </a:lvl1pPr>
            <a:lvl2pPr marL="0" lvl="1" indent="0">
              <a:lnSpc>
                <a:spcPct val="100000"/>
              </a:lnSpc>
              <a:spcBef>
                <a:spcPts val="0"/>
              </a:spcBef>
              <a:buFont typeface="Arial" panose="020B0604020202020204" pitchFamily="34" charset="0"/>
              <a:buNone/>
              <a:defRPr lang="en-US" sz="1100" dirty="0" smtClean="0">
                <a:solidFill>
                  <a:schemeClr val="tx2"/>
                </a:solidFill>
              </a:defRPr>
            </a:lvl2pPr>
            <a:lvl3pPr marL="1200150" indent="-285750">
              <a:lnSpc>
                <a:spcPct val="100000"/>
              </a:lnSpc>
              <a:spcBef>
                <a:spcPts val="500"/>
              </a:spcBef>
              <a:buFont typeface="Arial" panose="020B0604020202020204" pitchFamily="34" charset="0"/>
              <a:buChar char="•"/>
              <a:defRPr lang="en-US" sz="1100" smtClean="0">
                <a:solidFill>
                  <a:schemeClr val="tx2"/>
                </a:solidFill>
              </a:defRPr>
            </a:lvl3pPr>
            <a:lvl4pPr marL="1657350" indent="-285750">
              <a:lnSpc>
                <a:spcPct val="100000"/>
              </a:lnSpc>
              <a:spcBef>
                <a:spcPts val="500"/>
              </a:spcBef>
              <a:buFont typeface="Arial" panose="020B0604020202020204" pitchFamily="34" charset="0"/>
              <a:buChar char="•"/>
              <a:defRPr lang="en-US" sz="1100" smtClean="0">
                <a:solidFill>
                  <a:schemeClr val="tx2"/>
                </a:solidFill>
              </a:defRPr>
            </a:lvl4pPr>
            <a:lvl5pPr marL="2114550" indent="-285750">
              <a:lnSpc>
                <a:spcPct val="100000"/>
              </a:lnSpc>
              <a:spcBef>
                <a:spcPts val="500"/>
              </a:spcBef>
              <a:buFont typeface="Arial" panose="020B0604020202020204" pitchFamily="34" charset="0"/>
              <a:buChar char="•"/>
              <a:defRPr lang="en-US">
                <a:solidFill>
                  <a:schemeClr val="tx2"/>
                </a:solidFill>
              </a:defRPr>
            </a:lvl5pPr>
            <a:lvl6pPr marL="2514600" indent="-228600">
              <a:lnSpc>
                <a:spcPct val="90000"/>
              </a:lnSpc>
              <a:spcBef>
                <a:spcPts val="500"/>
              </a:spcBef>
              <a:buFont typeface="Arial" panose="020B0604020202020204" pitchFamily="34" charset="0"/>
              <a:buChar char="•"/>
              <a:defRPr>
                <a:solidFill>
                  <a:schemeClr val="lt1"/>
                </a:solidFill>
              </a:defRPr>
            </a:lvl6pPr>
            <a:lvl7pPr marL="2971800" indent="-228600">
              <a:lnSpc>
                <a:spcPct val="90000"/>
              </a:lnSpc>
              <a:spcBef>
                <a:spcPts val="500"/>
              </a:spcBef>
              <a:buFont typeface="Arial" panose="020B0604020202020204" pitchFamily="34" charset="0"/>
              <a:buChar char="•"/>
              <a:defRPr>
                <a:solidFill>
                  <a:schemeClr val="lt1"/>
                </a:solidFill>
              </a:defRPr>
            </a:lvl7pPr>
            <a:lvl8pPr marL="3429000" indent="-228600">
              <a:lnSpc>
                <a:spcPct val="90000"/>
              </a:lnSpc>
              <a:spcBef>
                <a:spcPts val="500"/>
              </a:spcBef>
              <a:buFont typeface="Arial" panose="020B0604020202020204" pitchFamily="34" charset="0"/>
              <a:buChar char="•"/>
              <a:defRPr>
                <a:solidFill>
                  <a:schemeClr val="lt1"/>
                </a:solidFill>
              </a:defRPr>
            </a:lvl8pPr>
            <a:lvl9pPr marL="3886200" indent="-228600">
              <a:lnSpc>
                <a:spcPct val="90000"/>
              </a:lnSpc>
              <a:spcBef>
                <a:spcPts val="500"/>
              </a:spcBef>
              <a:buFont typeface="Arial" panose="020B0604020202020204" pitchFamily="34" charset="0"/>
              <a:buChar char="•"/>
              <a:defRPr>
                <a:solidFill>
                  <a:schemeClr val="lt1"/>
                </a:solidFill>
              </a:defRPr>
            </a:lvl9pPr>
          </a:lstStyle>
          <a:p>
            <a:endParaRPr lang="en-US"/>
          </a:p>
        </p:txBody>
      </p:sp>
      <p:sp>
        <p:nvSpPr>
          <p:cNvPr id="15" name="Graphic 120">
            <a:extLst>
              <a:ext uri="{FF2B5EF4-FFF2-40B4-BE49-F238E27FC236}">
                <a16:creationId xmlns:a16="http://schemas.microsoft.com/office/drawing/2014/main" id="{5F8364F6-ABF1-0A40-9D34-6BBFD975FC58}"/>
              </a:ext>
              <a:ext uri="{C183D7F6-B498-43B3-948B-1728B52AA6E4}">
                <adec:decorative xmlns:adec="http://schemas.microsoft.com/office/drawing/2017/decorative" val="1"/>
              </a:ext>
            </a:extLst>
          </p:cNvPr>
          <p:cNvSpPr>
            <a:spLocks noChangeAspect="1"/>
          </p:cNvSpPr>
          <p:nvPr/>
        </p:nvSpPr>
        <p:spPr>
          <a:xfrm>
            <a:off x="708023" y="1490985"/>
            <a:ext cx="228600" cy="228600"/>
          </a:xfrm>
          <a:custGeom>
            <a:avLst/>
            <a:gdLst>
              <a:gd name="connsiteX0" fmla="*/ 95269 w 190538"/>
              <a:gd name="connsiteY0" fmla="*/ 0 h 190538"/>
              <a:gd name="connsiteX1" fmla="*/ 127911 w 190538"/>
              <a:gd name="connsiteY1" fmla="*/ 5734 h 190538"/>
              <a:gd name="connsiteX2" fmla="*/ 116529 w 190538"/>
              <a:gd name="connsiteY2" fmla="*/ 17107 h 190538"/>
              <a:gd name="connsiteX3" fmla="*/ 17136 w 190538"/>
              <a:gd name="connsiteY3" fmla="*/ 74002 h 190538"/>
              <a:gd name="connsiteX4" fmla="*/ 74031 w 190538"/>
              <a:gd name="connsiteY4" fmla="*/ 173395 h 190538"/>
              <a:gd name="connsiteX5" fmla="*/ 173425 w 190538"/>
              <a:gd name="connsiteY5" fmla="*/ 116500 h 190538"/>
              <a:gd name="connsiteX6" fmla="*/ 173431 w 190538"/>
              <a:gd name="connsiteY6" fmla="*/ 74028 h 190538"/>
              <a:gd name="connsiteX7" fmla="*/ 184804 w 190538"/>
              <a:gd name="connsiteY7" fmla="*/ 62655 h 190538"/>
              <a:gd name="connsiteX8" fmla="*/ 190538 w 190538"/>
              <a:gd name="connsiteY8" fmla="*/ 95269 h 190538"/>
              <a:gd name="connsiteX9" fmla="*/ 95269 w 190538"/>
              <a:gd name="connsiteY9" fmla="*/ 190538 h 190538"/>
              <a:gd name="connsiteX10" fmla="*/ 0 w 190538"/>
              <a:gd name="connsiteY10" fmla="*/ 95269 h 190538"/>
              <a:gd name="connsiteX11" fmla="*/ 95269 w 190538"/>
              <a:gd name="connsiteY11" fmla="*/ 0 h 190538"/>
              <a:gd name="connsiteX12" fmla="*/ 95269 w 190538"/>
              <a:gd name="connsiteY12" fmla="*/ 38119 h 190538"/>
              <a:gd name="connsiteX13" fmla="*/ 109576 w 190538"/>
              <a:gd name="connsiteY13" fmla="*/ 39929 h 190538"/>
              <a:gd name="connsiteX14" fmla="*/ 109576 w 190538"/>
              <a:gd name="connsiteY14" fmla="*/ 54854 h 190538"/>
              <a:gd name="connsiteX15" fmla="*/ 54872 w 190538"/>
              <a:gd name="connsiteY15" fmla="*/ 80967 h 190538"/>
              <a:gd name="connsiteX16" fmla="*/ 80983 w 190538"/>
              <a:gd name="connsiteY16" fmla="*/ 135671 h 190538"/>
              <a:gd name="connsiteX17" fmla="*/ 135688 w 190538"/>
              <a:gd name="connsiteY17" fmla="*/ 109558 h 190538"/>
              <a:gd name="connsiteX18" fmla="*/ 135693 w 190538"/>
              <a:gd name="connsiteY18" fmla="*/ 80982 h 190538"/>
              <a:gd name="connsiteX19" fmla="*/ 150619 w 190538"/>
              <a:gd name="connsiteY19" fmla="*/ 80982 h 190538"/>
              <a:gd name="connsiteX20" fmla="*/ 109571 w 190538"/>
              <a:gd name="connsiteY20" fmla="*/ 150605 h 190538"/>
              <a:gd name="connsiteX21" fmla="*/ 39948 w 190538"/>
              <a:gd name="connsiteY21" fmla="*/ 109557 h 190538"/>
              <a:gd name="connsiteX22" fmla="*/ 80996 w 190538"/>
              <a:gd name="connsiteY22" fmla="*/ 39934 h 190538"/>
              <a:gd name="connsiteX23" fmla="*/ 95288 w 190538"/>
              <a:gd name="connsiteY23" fmla="*/ 38119 h 190538"/>
              <a:gd name="connsiteX24" fmla="*/ 114319 w 190538"/>
              <a:gd name="connsiteY24" fmla="*/ 95269 h 190538"/>
              <a:gd name="connsiteX25" fmla="*/ 95263 w 190538"/>
              <a:gd name="connsiteY25" fmla="*/ 114313 h 190538"/>
              <a:gd name="connsiteX26" fmla="*/ 76219 w 190538"/>
              <a:gd name="connsiteY26" fmla="*/ 95257 h 190538"/>
              <a:gd name="connsiteX27" fmla="*/ 95275 w 190538"/>
              <a:gd name="connsiteY27" fmla="*/ 76213 h 190538"/>
              <a:gd name="connsiteX28" fmla="*/ 102727 w 190538"/>
              <a:gd name="connsiteY28" fmla="*/ 77734 h 190538"/>
              <a:gd name="connsiteX29" fmla="*/ 119110 w 190538"/>
              <a:gd name="connsiteY29" fmla="*/ 61351 h 190538"/>
              <a:gd name="connsiteX30" fmla="*/ 119101 w 190538"/>
              <a:gd name="connsiteY30" fmla="*/ 30975 h 190538"/>
              <a:gd name="connsiteX31" fmla="*/ 121196 w 190538"/>
              <a:gd name="connsiteY31" fmla="*/ 25927 h 190538"/>
              <a:gd name="connsiteX32" fmla="*/ 145009 w 190538"/>
              <a:gd name="connsiteY32" fmla="*/ 2115 h 190538"/>
              <a:gd name="connsiteX33" fmla="*/ 155112 w 190538"/>
              <a:gd name="connsiteY33" fmla="*/ 2121 h 190538"/>
              <a:gd name="connsiteX34" fmla="*/ 157201 w 190538"/>
              <a:gd name="connsiteY34" fmla="*/ 7163 h 190538"/>
              <a:gd name="connsiteX35" fmla="*/ 157201 w 190538"/>
              <a:gd name="connsiteY35" fmla="*/ 33357 h 190538"/>
              <a:gd name="connsiteX36" fmla="*/ 183394 w 190538"/>
              <a:gd name="connsiteY36" fmla="*/ 33357 h 190538"/>
              <a:gd name="connsiteX37" fmla="*/ 190531 w 190538"/>
              <a:gd name="connsiteY37" fmla="*/ 40507 h 190538"/>
              <a:gd name="connsiteX38" fmla="*/ 188443 w 190538"/>
              <a:gd name="connsiteY38" fmla="*/ 45549 h 190538"/>
              <a:gd name="connsiteX39" fmla="*/ 164630 w 190538"/>
              <a:gd name="connsiteY39" fmla="*/ 69361 h 190538"/>
              <a:gd name="connsiteX40" fmla="*/ 159582 w 190538"/>
              <a:gd name="connsiteY40" fmla="*/ 71457 h 190538"/>
              <a:gd name="connsiteX41" fmla="*/ 129197 w 190538"/>
              <a:gd name="connsiteY41" fmla="*/ 71457 h 190538"/>
              <a:gd name="connsiteX42" fmla="*/ 112814 w 190538"/>
              <a:gd name="connsiteY42" fmla="*/ 87840 h 190538"/>
              <a:gd name="connsiteX43" fmla="*/ 114319 w 190538"/>
              <a:gd name="connsiteY43" fmla="*/ 95269 h 190538"/>
              <a:gd name="connsiteX44" fmla="*/ 156620 w 190538"/>
              <a:gd name="connsiteY44" fmla="*/ 57169 h 190538"/>
              <a:gd name="connsiteX45" fmla="*/ 166145 w 190538"/>
              <a:gd name="connsiteY45" fmla="*/ 47644 h 190538"/>
              <a:gd name="connsiteX46" fmla="*/ 150047 w 190538"/>
              <a:gd name="connsiteY46" fmla="*/ 47644 h 190538"/>
              <a:gd name="connsiteX47" fmla="*/ 142904 w 190538"/>
              <a:gd name="connsiteY47" fmla="*/ 40500 h 190538"/>
              <a:gd name="connsiteX48" fmla="*/ 142904 w 190538"/>
              <a:gd name="connsiteY48" fmla="*/ 24403 h 190538"/>
              <a:gd name="connsiteX49" fmla="*/ 133388 w 190538"/>
              <a:gd name="connsiteY49" fmla="*/ 33928 h 190538"/>
              <a:gd name="connsiteX50" fmla="*/ 133388 w 190538"/>
              <a:gd name="connsiteY50" fmla="*/ 56607 h 190538"/>
              <a:gd name="connsiteX51" fmla="*/ 133960 w 190538"/>
              <a:gd name="connsiteY51" fmla="*/ 57169 h 190538"/>
              <a:gd name="connsiteX52" fmla="*/ 156629 w 190538"/>
              <a:gd name="connsiteY52" fmla="*/ 57169 h 1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90538" h="190538">
                <a:moveTo>
                  <a:pt x="95269" y="0"/>
                </a:moveTo>
                <a:cubicBezTo>
                  <a:pt x="106737" y="0"/>
                  <a:pt x="117729" y="2029"/>
                  <a:pt x="127911" y="5734"/>
                </a:cubicBezTo>
                <a:lnTo>
                  <a:pt x="116529" y="17107"/>
                </a:lnTo>
                <a:cubicBezTo>
                  <a:pt x="73371" y="5372"/>
                  <a:pt x="28871" y="30844"/>
                  <a:pt x="17136" y="74002"/>
                </a:cubicBezTo>
                <a:cubicBezTo>
                  <a:pt x="5400" y="117160"/>
                  <a:pt x="30873" y="161659"/>
                  <a:pt x="74031" y="173395"/>
                </a:cubicBezTo>
                <a:cubicBezTo>
                  <a:pt x="117189" y="185131"/>
                  <a:pt x="161689" y="159658"/>
                  <a:pt x="173425" y="116500"/>
                </a:cubicBezTo>
                <a:cubicBezTo>
                  <a:pt x="177205" y="102596"/>
                  <a:pt x="177208" y="87934"/>
                  <a:pt x="173431" y="74028"/>
                </a:cubicBezTo>
                <a:lnTo>
                  <a:pt x="184804" y="62655"/>
                </a:lnTo>
                <a:cubicBezTo>
                  <a:pt x="188608" y="73108"/>
                  <a:pt x="190549" y="84146"/>
                  <a:pt x="190538" y="95269"/>
                </a:cubicBezTo>
                <a:cubicBezTo>
                  <a:pt x="190538" y="147885"/>
                  <a:pt x="147885" y="190538"/>
                  <a:pt x="95269" y="190538"/>
                </a:cubicBezTo>
                <a:cubicBezTo>
                  <a:pt x="42653" y="190538"/>
                  <a:pt x="0" y="147885"/>
                  <a:pt x="0" y="95269"/>
                </a:cubicBezTo>
                <a:cubicBezTo>
                  <a:pt x="0" y="42653"/>
                  <a:pt x="42653" y="0"/>
                  <a:pt x="95269" y="0"/>
                </a:cubicBezTo>
                <a:close/>
                <a:moveTo>
                  <a:pt x="95269" y="38119"/>
                </a:moveTo>
                <a:cubicBezTo>
                  <a:pt x="100095" y="38117"/>
                  <a:pt x="104902" y="38725"/>
                  <a:pt x="109576" y="39929"/>
                </a:cubicBezTo>
                <a:lnTo>
                  <a:pt x="109576" y="54854"/>
                </a:lnTo>
                <a:cubicBezTo>
                  <a:pt x="87259" y="46959"/>
                  <a:pt x="62767" y="58650"/>
                  <a:pt x="54872" y="80967"/>
                </a:cubicBezTo>
                <a:cubicBezTo>
                  <a:pt x="46976" y="103283"/>
                  <a:pt x="58667" y="127775"/>
                  <a:pt x="80983" y="135671"/>
                </a:cubicBezTo>
                <a:cubicBezTo>
                  <a:pt x="103301" y="143567"/>
                  <a:pt x="127792" y="131876"/>
                  <a:pt x="135688" y="109558"/>
                </a:cubicBezTo>
                <a:cubicBezTo>
                  <a:pt x="138958" y="100313"/>
                  <a:pt x="138960" y="90227"/>
                  <a:pt x="135693" y="80982"/>
                </a:cubicBezTo>
                <a:lnTo>
                  <a:pt x="150619" y="80982"/>
                </a:lnTo>
                <a:cubicBezTo>
                  <a:pt x="158509" y="111543"/>
                  <a:pt x="140132" y="142713"/>
                  <a:pt x="109571" y="150605"/>
                </a:cubicBezTo>
                <a:cubicBezTo>
                  <a:pt x="79010" y="158495"/>
                  <a:pt x="47839" y="140118"/>
                  <a:pt x="39948" y="109557"/>
                </a:cubicBezTo>
                <a:cubicBezTo>
                  <a:pt x="32058" y="78996"/>
                  <a:pt x="50435" y="47825"/>
                  <a:pt x="80996" y="39934"/>
                </a:cubicBezTo>
                <a:cubicBezTo>
                  <a:pt x="85664" y="38728"/>
                  <a:pt x="90467" y="38119"/>
                  <a:pt x="95288" y="38119"/>
                </a:cubicBezTo>
                <a:close/>
                <a:moveTo>
                  <a:pt x="114319" y="95269"/>
                </a:moveTo>
                <a:cubicBezTo>
                  <a:pt x="114315" y="105790"/>
                  <a:pt x="105784" y="114316"/>
                  <a:pt x="95263" y="114313"/>
                </a:cubicBezTo>
                <a:cubicBezTo>
                  <a:pt x="84742" y="114310"/>
                  <a:pt x="76216" y="105778"/>
                  <a:pt x="76219" y="95257"/>
                </a:cubicBezTo>
                <a:cubicBezTo>
                  <a:pt x="76222" y="84735"/>
                  <a:pt x="84754" y="76210"/>
                  <a:pt x="95275" y="76213"/>
                </a:cubicBezTo>
                <a:cubicBezTo>
                  <a:pt x="97836" y="76214"/>
                  <a:pt x="100371" y="76731"/>
                  <a:pt x="102727" y="77734"/>
                </a:cubicBezTo>
                <a:lnTo>
                  <a:pt x="119110" y="61351"/>
                </a:lnTo>
                <a:lnTo>
                  <a:pt x="119101" y="30975"/>
                </a:lnTo>
                <a:cubicBezTo>
                  <a:pt x="119103" y="29081"/>
                  <a:pt x="119856" y="27266"/>
                  <a:pt x="121196" y="25927"/>
                </a:cubicBezTo>
                <a:lnTo>
                  <a:pt x="145009" y="2115"/>
                </a:lnTo>
                <a:cubicBezTo>
                  <a:pt x="147800" y="-674"/>
                  <a:pt x="152323" y="-671"/>
                  <a:pt x="155112" y="2121"/>
                </a:cubicBezTo>
                <a:cubicBezTo>
                  <a:pt x="156447" y="3459"/>
                  <a:pt x="157199" y="5272"/>
                  <a:pt x="157201" y="7163"/>
                </a:cubicBezTo>
                <a:lnTo>
                  <a:pt x="157201" y="33357"/>
                </a:lnTo>
                <a:lnTo>
                  <a:pt x="183394" y="33357"/>
                </a:lnTo>
                <a:cubicBezTo>
                  <a:pt x="187340" y="33360"/>
                  <a:pt x="190535" y="36561"/>
                  <a:pt x="190531" y="40507"/>
                </a:cubicBezTo>
                <a:cubicBezTo>
                  <a:pt x="190530" y="42397"/>
                  <a:pt x="189779" y="44211"/>
                  <a:pt x="188443" y="45549"/>
                </a:cubicBezTo>
                <a:lnTo>
                  <a:pt x="164630" y="69361"/>
                </a:lnTo>
                <a:cubicBezTo>
                  <a:pt x="163292" y="70701"/>
                  <a:pt x="161475" y="71455"/>
                  <a:pt x="159582" y="71457"/>
                </a:cubicBezTo>
                <a:lnTo>
                  <a:pt x="129197" y="71457"/>
                </a:lnTo>
                <a:lnTo>
                  <a:pt x="112814" y="87840"/>
                </a:lnTo>
                <a:cubicBezTo>
                  <a:pt x="113786" y="90126"/>
                  <a:pt x="114319" y="92631"/>
                  <a:pt x="114319" y="95269"/>
                </a:cubicBezTo>
                <a:close/>
                <a:moveTo>
                  <a:pt x="156620" y="57169"/>
                </a:moveTo>
                <a:lnTo>
                  <a:pt x="166145" y="47644"/>
                </a:lnTo>
                <a:lnTo>
                  <a:pt x="150047" y="47644"/>
                </a:lnTo>
                <a:cubicBezTo>
                  <a:pt x="146102" y="47644"/>
                  <a:pt x="142904" y="44446"/>
                  <a:pt x="142904" y="40500"/>
                </a:cubicBezTo>
                <a:lnTo>
                  <a:pt x="142904" y="24403"/>
                </a:lnTo>
                <a:lnTo>
                  <a:pt x="133388" y="33928"/>
                </a:lnTo>
                <a:lnTo>
                  <a:pt x="133388" y="56607"/>
                </a:lnTo>
                <a:cubicBezTo>
                  <a:pt x="133590" y="56783"/>
                  <a:pt x="133781" y="56970"/>
                  <a:pt x="133960" y="57169"/>
                </a:cubicBezTo>
                <a:lnTo>
                  <a:pt x="156629" y="57169"/>
                </a:ln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Placeholder 5">
            <a:extLst>
              <a:ext uri="{FF2B5EF4-FFF2-40B4-BE49-F238E27FC236}">
                <a16:creationId xmlns:a16="http://schemas.microsoft.com/office/drawing/2014/main" id="{BFF05A1B-3DA0-E935-6C84-693E3D98527E}"/>
              </a:ext>
            </a:extLst>
          </p:cNvPr>
          <p:cNvSpPr txBox="1">
            <a:spLocks/>
          </p:cNvSpPr>
          <p:nvPr/>
        </p:nvSpPr>
        <p:spPr>
          <a:xfrm>
            <a:off x="3508938" y="3653257"/>
            <a:ext cx="1962205" cy="492764"/>
          </a:xfrm>
          <a:prstGeom prst="rect">
            <a:avLst/>
          </a:prstGeom>
          <a:noFill/>
          <a:ln w="12700" cap="flat" cmpd="sng" algn="ctr">
            <a:noFill/>
            <a:prstDash val="solid"/>
            <a:miter lim="800000"/>
          </a:ln>
          <a:effectLst>
            <a:outerShdw blurRad="406400" dist="38100" dir="2700000" algn="tl" rotWithShape="0">
              <a:prstClr val="black">
                <a:alpha val="12000"/>
              </a:prstClr>
            </a:outerShdw>
          </a:effectLst>
        </p:spPr>
        <p:txBody>
          <a:bodyPr rot="0" spcFirstLastPara="0" vertOverflow="overflow" horzOverflow="overflow" vert="horz" wrap="square" lIns="292608" tIns="0" rIns="137160" bIns="0" numCol="1" spcCol="0" rtlCol="0" fromWordArt="0" anchor="t" anchorCtr="0" forceAA="0" compatLnSpc="1">
            <a:prstTxWarp prst="textNoShape">
              <a:avLst/>
            </a:prstTxWarp>
            <a:sp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0" lang="en-US" sz="1400" b="0" i="0" u="none" strike="noStrike" kern="0" cap="none" spc="0" normalizeH="0" baseline="0" dirty="0" smtClean="0">
                <a:ln w="3175">
                  <a:noFill/>
                </a:ln>
                <a:solidFill>
                  <a:schemeClr val="tx1"/>
                </a:solidFill>
                <a:effectLst/>
                <a:uLnTx/>
                <a:uFillTx/>
                <a:latin typeface="+mj-lt"/>
                <a:ea typeface="Segoe UI Regular" pitchFamily="34" charset="-122"/>
                <a:cs typeface="Segoe UI" panose="020B0502040204020203"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lang="en-US" sz="1100" kern="1200" dirty="0" smtClean="0">
                <a:solidFill>
                  <a:schemeClr val="tx2"/>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lang="en-US" sz="1100" kern="1200" dirty="0" smtClean="0">
                <a:solidFill>
                  <a:schemeClr val="tx2"/>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lang="en-US" sz="1100" kern="1200" dirty="0">
                <a:solidFill>
                  <a:schemeClr val="tx2"/>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0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114300" lvl="0" indent="-114300" defTabSz="582780">
              <a:lnSpc>
                <a:spcPct val="110000"/>
              </a:lnSpc>
              <a:spcBef>
                <a:spcPct val="0"/>
              </a:spcBef>
              <a:buClr>
                <a:schemeClr val="tx1"/>
              </a:buClr>
              <a:defRPr/>
            </a:pPr>
            <a:r>
              <a:rPr lang="en-US" sz="1000" kern="1200" dirty="0">
                <a:ln>
                  <a:noFill/>
                </a:ln>
                <a:latin typeface="+mn-lt"/>
                <a:ea typeface="+mn-ea"/>
                <a:cs typeface="Segoe UI Semibold" panose="020B0702040204020203" pitchFamily="34" charset="0"/>
              </a:rPr>
              <a:t>Improve onboarding and development processes </a:t>
            </a:r>
          </a:p>
          <a:p>
            <a:pPr marL="114300" lvl="0" indent="-114300" defTabSz="582780">
              <a:lnSpc>
                <a:spcPct val="110000"/>
              </a:lnSpc>
              <a:spcBef>
                <a:spcPct val="0"/>
              </a:spcBef>
              <a:buClr>
                <a:schemeClr val="tx1"/>
              </a:buClr>
              <a:defRPr/>
            </a:pPr>
            <a:r>
              <a:rPr lang="en-US" sz="1000" kern="1200" dirty="0">
                <a:ln>
                  <a:noFill/>
                </a:ln>
                <a:latin typeface="+mn-lt"/>
                <a:ea typeface="+mn-ea"/>
                <a:cs typeface="Segoe UI Semibold" panose="020B0702040204020203" pitchFamily="34" charset="0"/>
              </a:rPr>
              <a:t>Update policy document</a:t>
            </a:r>
          </a:p>
        </p:txBody>
      </p:sp>
      <p:grpSp>
        <p:nvGrpSpPr>
          <p:cNvPr id="12" name="Group 11">
            <a:extLst>
              <a:ext uri="{FF2B5EF4-FFF2-40B4-BE49-F238E27FC236}">
                <a16:creationId xmlns:a16="http://schemas.microsoft.com/office/drawing/2014/main" id="{289D0C50-D10A-EA49-9C8F-78AA8E2F4A9F}"/>
              </a:ext>
            </a:extLst>
          </p:cNvPr>
          <p:cNvGrpSpPr/>
          <p:nvPr/>
        </p:nvGrpSpPr>
        <p:grpSpPr>
          <a:xfrm>
            <a:off x="593725" y="3144803"/>
            <a:ext cx="457200" cy="457200"/>
            <a:chOff x="593725" y="2979773"/>
            <a:chExt cx="457200" cy="457200"/>
          </a:xfrm>
        </p:grpSpPr>
        <p:sp>
          <p:nvSpPr>
            <p:cNvPr id="18" name="Text Placeholder 2">
              <a:extLst>
                <a:ext uri="{FF2B5EF4-FFF2-40B4-BE49-F238E27FC236}">
                  <a16:creationId xmlns:a16="http://schemas.microsoft.com/office/drawing/2014/main" id="{E265B432-E30B-596C-95A3-DE66DAC24253}"/>
                </a:ext>
                <a:ext uri="{C183D7F6-B498-43B3-948B-1728B52AA6E4}">
                  <adec:decorative xmlns:adec="http://schemas.microsoft.com/office/drawing/2017/decorative" val="1"/>
                </a:ext>
              </a:extLst>
            </p:cNvPr>
            <p:cNvSpPr txBox="1">
              <a:spLocks/>
            </p:cNvSpPr>
            <p:nvPr/>
          </p:nvSpPr>
          <p:spPr>
            <a:xfrm>
              <a:off x="593725" y="2979773"/>
              <a:ext cx="457200" cy="457200"/>
            </a:xfrm>
            <a:prstGeom prst="ellipse">
              <a:avLst/>
            </a:prstGeom>
            <a:solidFill>
              <a:schemeClr val="bg1">
                <a:alpha val="74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640080" tIns="137160" rIns="137160" bIns="137160" numCol="1" spcCol="0" rtlCol="0" fromWordArt="0" anchor="t" anchorCtr="0" forceAA="0" compatLnSpc="1">
              <a:prstTxWarp prst="textNoShape">
                <a:avLst/>
              </a:prstTxWarp>
              <a:spAutoFit/>
            </a:bodyPr>
            <a:lstStyle>
              <a:lvl1pPr indent="0">
                <a:lnSpc>
                  <a:spcPct val="100000"/>
                </a:lnSpc>
                <a:spcBef>
                  <a:spcPts val="1000"/>
                </a:spcBef>
                <a:spcAft>
                  <a:spcPts val="600"/>
                </a:spcAft>
                <a:buFont typeface="Arial" panose="020B0604020202020204" pitchFamily="34" charset="0"/>
                <a:buNone/>
                <a:defRPr kumimoji="0" lang="en-US" sz="1400" b="0" i="0" u="none" strike="noStrike" kern="0" cap="none" spc="0" normalizeH="0" baseline="0" smtClean="0">
                  <a:ln w="3175">
                    <a:noFill/>
                  </a:ln>
                  <a:effectLst/>
                  <a:uLnTx/>
                  <a:uFillTx/>
                  <a:latin typeface="+mj-lt"/>
                  <a:ea typeface="Segoe UI Regular" pitchFamily="34" charset="-122"/>
                  <a:cs typeface="Segoe UI" panose="020B0502040204020203" pitchFamily="34" charset="0"/>
                </a:defRPr>
              </a:lvl1pPr>
              <a:lvl2pPr marL="0" lvl="1" indent="0">
                <a:lnSpc>
                  <a:spcPct val="100000"/>
                </a:lnSpc>
                <a:spcBef>
                  <a:spcPts val="0"/>
                </a:spcBef>
                <a:buFont typeface="Arial" panose="020B0604020202020204" pitchFamily="34" charset="0"/>
                <a:buNone/>
                <a:defRPr lang="en-US" sz="1100" dirty="0" smtClean="0">
                  <a:solidFill>
                    <a:schemeClr val="tx2"/>
                  </a:solidFill>
                </a:defRPr>
              </a:lvl2pPr>
              <a:lvl3pPr marL="1200150" indent="-285750">
                <a:lnSpc>
                  <a:spcPct val="100000"/>
                </a:lnSpc>
                <a:spcBef>
                  <a:spcPts val="500"/>
                </a:spcBef>
                <a:buFont typeface="Arial" panose="020B0604020202020204" pitchFamily="34" charset="0"/>
                <a:buChar char="•"/>
                <a:defRPr lang="en-US" sz="1100" smtClean="0">
                  <a:solidFill>
                    <a:schemeClr val="tx2"/>
                  </a:solidFill>
                </a:defRPr>
              </a:lvl3pPr>
              <a:lvl4pPr marL="1657350" indent="-285750">
                <a:lnSpc>
                  <a:spcPct val="100000"/>
                </a:lnSpc>
                <a:spcBef>
                  <a:spcPts val="500"/>
                </a:spcBef>
                <a:buFont typeface="Arial" panose="020B0604020202020204" pitchFamily="34" charset="0"/>
                <a:buChar char="•"/>
                <a:defRPr lang="en-US" sz="1100" smtClean="0">
                  <a:solidFill>
                    <a:schemeClr val="tx2"/>
                  </a:solidFill>
                </a:defRPr>
              </a:lvl4pPr>
              <a:lvl5pPr marL="2114550" indent="-285750">
                <a:lnSpc>
                  <a:spcPct val="100000"/>
                </a:lnSpc>
                <a:spcBef>
                  <a:spcPts val="500"/>
                </a:spcBef>
                <a:buFont typeface="Arial" panose="020B0604020202020204" pitchFamily="34" charset="0"/>
                <a:buChar char="•"/>
                <a:defRPr lang="en-US">
                  <a:solidFill>
                    <a:schemeClr val="tx2"/>
                  </a:solidFill>
                </a:defRPr>
              </a:lvl5pPr>
              <a:lvl6pPr marL="2514600" indent="-228600">
                <a:lnSpc>
                  <a:spcPct val="90000"/>
                </a:lnSpc>
                <a:spcBef>
                  <a:spcPts val="500"/>
                </a:spcBef>
                <a:buFont typeface="Arial" panose="020B0604020202020204" pitchFamily="34" charset="0"/>
                <a:buChar char="•"/>
                <a:defRPr>
                  <a:solidFill>
                    <a:schemeClr val="lt1"/>
                  </a:solidFill>
                </a:defRPr>
              </a:lvl6pPr>
              <a:lvl7pPr marL="2971800" indent="-228600">
                <a:lnSpc>
                  <a:spcPct val="90000"/>
                </a:lnSpc>
                <a:spcBef>
                  <a:spcPts val="500"/>
                </a:spcBef>
                <a:buFont typeface="Arial" panose="020B0604020202020204" pitchFamily="34" charset="0"/>
                <a:buChar char="•"/>
                <a:defRPr>
                  <a:solidFill>
                    <a:schemeClr val="lt1"/>
                  </a:solidFill>
                </a:defRPr>
              </a:lvl7pPr>
              <a:lvl8pPr marL="3429000" indent="-228600">
                <a:lnSpc>
                  <a:spcPct val="90000"/>
                </a:lnSpc>
                <a:spcBef>
                  <a:spcPts val="500"/>
                </a:spcBef>
                <a:buFont typeface="Arial" panose="020B0604020202020204" pitchFamily="34" charset="0"/>
                <a:buChar char="•"/>
                <a:defRPr>
                  <a:solidFill>
                    <a:schemeClr val="lt1"/>
                  </a:solidFill>
                </a:defRPr>
              </a:lvl8pPr>
              <a:lvl9pPr marL="3886200" indent="-228600">
                <a:lnSpc>
                  <a:spcPct val="90000"/>
                </a:lnSpc>
                <a:spcBef>
                  <a:spcPts val="500"/>
                </a:spcBef>
                <a:buFont typeface="Arial" panose="020B0604020202020204" pitchFamily="34" charset="0"/>
                <a:buChar char="•"/>
                <a:defRPr>
                  <a:solidFill>
                    <a:schemeClr val="lt1"/>
                  </a:solidFill>
                </a:defRPr>
              </a:lvl9pPr>
            </a:lstStyle>
            <a:p>
              <a:endParaRPr lang="en-US"/>
            </a:p>
          </p:txBody>
        </p:sp>
        <p:sp>
          <p:nvSpPr>
            <p:cNvPr id="22" name="Graphic 60">
              <a:extLst>
                <a:ext uri="{FF2B5EF4-FFF2-40B4-BE49-F238E27FC236}">
                  <a16:creationId xmlns:a16="http://schemas.microsoft.com/office/drawing/2014/main" id="{98254834-7F47-10BA-287E-EE7E76C3E7CB}"/>
                </a:ext>
                <a:ext uri="{C183D7F6-B498-43B3-948B-1728B52AA6E4}">
                  <adec:decorative xmlns:adec="http://schemas.microsoft.com/office/drawing/2017/decorative" val="1"/>
                </a:ext>
              </a:extLst>
            </p:cNvPr>
            <p:cNvSpPr>
              <a:spLocks/>
            </p:cNvSpPr>
            <p:nvPr/>
          </p:nvSpPr>
          <p:spPr>
            <a:xfrm>
              <a:off x="708023" y="3092477"/>
              <a:ext cx="228600" cy="228600"/>
            </a:xfrm>
            <a:custGeom>
              <a:avLst/>
              <a:gdLst>
                <a:gd name="connsiteX0" fmla="*/ 152400 w 304800"/>
                <a:gd name="connsiteY0" fmla="*/ 0 h 304800"/>
                <a:gd name="connsiteX1" fmla="*/ 304800 w 304800"/>
                <a:gd name="connsiteY1" fmla="*/ 152400 h 304800"/>
                <a:gd name="connsiteX2" fmla="*/ 152400 w 304800"/>
                <a:gd name="connsiteY2" fmla="*/ 304800 h 304800"/>
                <a:gd name="connsiteX3" fmla="*/ 0 w 304800"/>
                <a:gd name="connsiteY3" fmla="*/ 152400 h 304800"/>
                <a:gd name="connsiteX4" fmla="*/ 152400 w 304800"/>
                <a:gd name="connsiteY4" fmla="*/ 0 h 304800"/>
                <a:gd name="connsiteX5" fmla="*/ 152400 w 304800"/>
                <a:gd name="connsiteY5" fmla="*/ 25405 h 304800"/>
                <a:gd name="connsiteX6" fmla="*/ 25405 w 304800"/>
                <a:gd name="connsiteY6" fmla="*/ 152400 h 304800"/>
                <a:gd name="connsiteX7" fmla="*/ 152400 w 304800"/>
                <a:gd name="connsiteY7" fmla="*/ 279395 h 304800"/>
                <a:gd name="connsiteX8" fmla="*/ 279395 w 304800"/>
                <a:gd name="connsiteY8" fmla="*/ 152400 h 304800"/>
                <a:gd name="connsiteX9" fmla="*/ 152400 w 304800"/>
                <a:gd name="connsiteY9" fmla="*/ 25405 h 304800"/>
                <a:gd name="connsiteX10" fmla="*/ 152400 w 304800"/>
                <a:gd name="connsiteY10" fmla="*/ 205740 h 304800"/>
                <a:gd name="connsiteX11" fmla="*/ 167640 w 304800"/>
                <a:gd name="connsiteY11" fmla="*/ 220980 h 304800"/>
                <a:gd name="connsiteX12" fmla="*/ 152400 w 304800"/>
                <a:gd name="connsiteY12" fmla="*/ 236220 h 304800"/>
                <a:gd name="connsiteX13" fmla="*/ 137160 w 304800"/>
                <a:gd name="connsiteY13" fmla="*/ 220980 h 304800"/>
                <a:gd name="connsiteX14" fmla="*/ 152400 w 304800"/>
                <a:gd name="connsiteY14" fmla="*/ 205740 h 304800"/>
                <a:gd name="connsiteX15" fmla="*/ 152400 w 304800"/>
                <a:gd name="connsiteY15" fmla="*/ 72390 h 304800"/>
                <a:gd name="connsiteX16" fmla="*/ 194310 w 304800"/>
                <a:gd name="connsiteY16" fmla="*/ 114300 h 304800"/>
                <a:gd name="connsiteX17" fmla="*/ 178293 w 304800"/>
                <a:gd name="connsiteY17" fmla="*/ 150251 h 304800"/>
                <a:gd name="connsiteX18" fmla="*/ 175717 w 304800"/>
                <a:gd name="connsiteY18" fmla="*/ 152857 h 304800"/>
                <a:gd name="connsiteX19" fmla="*/ 163830 w 304800"/>
                <a:gd name="connsiteY19" fmla="*/ 175260 h 304800"/>
                <a:gd name="connsiteX20" fmla="*/ 152400 w 304800"/>
                <a:gd name="connsiteY20" fmla="*/ 186690 h 304800"/>
                <a:gd name="connsiteX21" fmla="*/ 140970 w 304800"/>
                <a:gd name="connsiteY21" fmla="*/ 175260 h 304800"/>
                <a:gd name="connsiteX22" fmla="*/ 156987 w 304800"/>
                <a:gd name="connsiteY22" fmla="*/ 139309 h 304800"/>
                <a:gd name="connsiteX23" fmla="*/ 159563 w 304800"/>
                <a:gd name="connsiteY23" fmla="*/ 136703 h 304800"/>
                <a:gd name="connsiteX24" fmla="*/ 171450 w 304800"/>
                <a:gd name="connsiteY24" fmla="*/ 114300 h 304800"/>
                <a:gd name="connsiteX25" fmla="*/ 152339 w 304800"/>
                <a:gd name="connsiteY25" fmla="*/ 95312 h 304800"/>
                <a:gd name="connsiteX26" fmla="*/ 133457 w 304800"/>
                <a:gd name="connsiteY26" fmla="*/ 112349 h 304800"/>
                <a:gd name="connsiteX27" fmla="*/ 133350 w 304800"/>
                <a:gd name="connsiteY27" fmla="*/ 114300 h 304800"/>
                <a:gd name="connsiteX28" fmla="*/ 121920 w 304800"/>
                <a:gd name="connsiteY28" fmla="*/ 125730 h 304800"/>
                <a:gd name="connsiteX29" fmla="*/ 110490 w 304800"/>
                <a:gd name="connsiteY29" fmla="*/ 114300 h 304800"/>
                <a:gd name="connsiteX30" fmla="*/ 152400 w 304800"/>
                <a:gd name="connsiteY30" fmla="*/ 7239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4800" h="304800">
                  <a:moveTo>
                    <a:pt x="152400" y="0"/>
                  </a:moveTo>
                  <a:cubicBezTo>
                    <a:pt x="236571" y="0"/>
                    <a:pt x="304800" y="68245"/>
                    <a:pt x="304800" y="152400"/>
                  </a:cubicBezTo>
                  <a:cubicBezTo>
                    <a:pt x="304800" y="236555"/>
                    <a:pt x="236571" y="304800"/>
                    <a:pt x="152400" y="304800"/>
                  </a:cubicBezTo>
                  <a:cubicBezTo>
                    <a:pt x="68229" y="304800"/>
                    <a:pt x="0" y="236555"/>
                    <a:pt x="0" y="152400"/>
                  </a:cubicBezTo>
                  <a:cubicBezTo>
                    <a:pt x="0" y="68245"/>
                    <a:pt x="68229" y="0"/>
                    <a:pt x="152400" y="0"/>
                  </a:cubicBezTo>
                  <a:close/>
                  <a:moveTo>
                    <a:pt x="152400" y="25405"/>
                  </a:moveTo>
                  <a:cubicBezTo>
                    <a:pt x="82372" y="25405"/>
                    <a:pt x="25405" y="82372"/>
                    <a:pt x="25405" y="152400"/>
                  </a:cubicBezTo>
                  <a:cubicBezTo>
                    <a:pt x="25405" y="222428"/>
                    <a:pt x="82372" y="279395"/>
                    <a:pt x="152400" y="279395"/>
                  </a:cubicBezTo>
                  <a:cubicBezTo>
                    <a:pt x="222428" y="279395"/>
                    <a:pt x="279395" y="222428"/>
                    <a:pt x="279395" y="152400"/>
                  </a:cubicBezTo>
                  <a:cubicBezTo>
                    <a:pt x="279395" y="82372"/>
                    <a:pt x="222428" y="25405"/>
                    <a:pt x="152400" y="25405"/>
                  </a:cubicBezTo>
                  <a:close/>
                  <a:moveTo>
                    <a:pt x="152400" y="205740"/>
                  </a:moveTo>
                  <a:cubicBezTo>
                    <a:pt x="160817" y="205740"/>
                    <a:pt x="167640" y="212563"/>
                    <a:pt x="167640" y="220980"/>
                  </a:cubicBezTo>
                  <a:cubicBezTo>
                    <a:pt x="167640" y="229397"/>
                    <a:pt x="160817" y="236220"/>
                    <a:pt x="152400" y="236220"/>
                  </a:cubicBezTo>
                  <a:cubicBezTo>
                    <a:pt x="143983" y="236220"/>
                    <a:pt x="137160" y="229397"/>
                    <a:pt x="137160" y="220980"/>
                  </a:cubicBezTo>
                  <a:cubicBezTo>
                    <a:pt x="137160" y="212563"/>
                    <a:pt x="143983" y="205740"/>
                    <a:pt x="152400" y="205740"/>
                  </a:cubicBezTo>
                  <a:close/>
                  <a:moveTo>
                    <a:pt x="152400" y="72390"/>
                  </a:moveTo>
                  <a:cubicBezTo>
                    <a:pt x="175547" y="72390"/>
                    <a:pt x="194310" y="91154"/>
                    <a:pt x="194310" y="114300"/>
                  </a:cubicBezTo>
                  <a:cubicBezTo>
                    <a:pt x="194310" y="129692"/>
                    <a:pt x="189784" y="138288"/>
                    <a:pt x="178293" y="150251"/>
                  </a:cubicBezTo>
                  <a:lnTo>
                    <a:pt x="175717" y="152857"/>
                  </a:lnTo>
                  <a:cubicBezTo>
                    <a:pt x="166238" y="162336"/>
                    <a:pt x="163830" y="166360"/>
                    <a:pt x="163830" y="175260"/>
                  </a:cubicBezTo>
                  <a:cubicBezTo>
                    <a:pt x="163830" y="181572"/>
                    <a:pt x="158712" y="186690"/>
                    <a:pt x="152400" y="186690"/>
                  </a:cubicBezTo>
                  <a:cubicBezTo>
                    <a:pt x="146088" y="186690"/>
                    <a:pt x="140970" y="181572"/>
                    <a:pt x="140970" y="175260"/>
                  </a:cubicBezTo>
                  <a:cubicBezTo>
                    <a:pt x="140970" y="159868"/>
                    <a:pt x="145496" y="151272"/>
                    <a:pt x="156987" y="139309"/>
                  </a:cubicBezTo>
                  <a:lnTo>
                    <a:pt x="159563" y="136703"/>
                  </a:lnTo>
                  <a:cubicBezTo>
                    <a:pt x="169042" y="127224"/>
                    <a:pt x="171450" y="123200"/>
                    <a:pt x="171450" y="114300"/>
                  </a:cubicBezTo>
                  <a:cubicBezTo>
                    <a:pt x="171416" y="103779"/>
                    <a:pt x="162859" y="95278"/>
                    <a:pt x="152339" y="95312"/>
                  </a:cubicBezTo>
                  <a:cubicBezTo>
                    <a:pt x="142621" y="95343"/>
                    <a:pt x="134484" y="102685"/>
                    <a:pt x="133457" y="112349"/>
                  </a:cubicBezTo>
                  <a:lnTo>
                    <a:pt x="133350" y="114300"/>
                  </a:lnTo>
                  <a:cubicBezTo>
                    <a:pt x="133350" y="120613"/>
                    <a:pt x="128232" y="125730"/>
                    <a:pt x="121920" y="125730"/>
                  </a:cubicBezTo>
                  <a:cubicBezTo>
                    <a:pt x="115607" y="125730"/>
                    <a:pt x="110490" y="120613"/>
                    <a:pt x="110490" y="114300"/>
                  </a:cubicBezTo>
                  <a:cubicBezTo>
                    <a:pt x="110490" y="91154"/>
                    <a:pt x="129253" y="72390"/>
                    <a:pt x="152400" y="72390"/>
                  </a:cubicBez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aphicFrame>
        <p:nvGraphicFramePr>
          <p:cNvPr id="24" name="Table 23">
            <a:extLst>
              <a:ext uri="{FF2B5EF4-FFF2-40B4-BE49-F238E27FC236}">
                <a16:creationId xmlns:a16="http://schemas.microsoft.com/office/drawing/2014/main" id="{31FF018B-CA43-ACC0-D71F-4614C8D2874B}"/>
              </a:ext>
            </a:extLst>
          </p:cNvPr>
          <p:cNvGraphicFramePr>
            <a:graphicFrameLocks noGrp="1"/>
          </p:cNvGraphicFramePr>
          <p:nvPr/>
        </p:nvGraphicFramePr>
        <p:xfrm>
          <a:off x="5951548" y="3871732"/>
          <a:ext cx="5516364" cy="2306819"/>
        </p:xfrm>
        <a:graphic>
          <a:graphicData uri="http://schemas.openxmlformats.org/drawingml/2006/table">
            <a:tbl>
              <a:tblPr firstRow="1" bandRow="1">
                <a:tableStyleId>{2D5ABB26-0587-4C30-8999-92F81FD0307C}</a:tableStyleId>
              </a:tblPr>
              <a:tblGrid>
                <a:gridCol w="217758">
                  <a:extLst>
                    <a:ext uri="{9D8B030D-6E8A-4147-A177-3AD203B41FA5}">
                      <a16:colId xmlns:a16="http://schemas.microsoft.com/office/drawing/2014/main" val="1905125584"/>
                    </a:ext>
                  </a:extLst>
                </a:gridCol>
                <a:gridCol w="995423">
                  <a:extLst>
                    <a:ext uri="{9D8B030D-6E8A-4147-A177-3AD203B41FA5}">
                      <a16:colId xmlns:a16="http://schemas.microsoft.com/office/drawing/2014/main" val="3580399742"/>
                    </a:ext>
                  </a:extLst>
                </a:gridCol>
                <a:gridCol w="4303183">
                  <a:extLst>
                    <a:ext uri="{9D8B030D-6E8A-4147-A177-3AD203B41FA5}">
                      <a16:colId xmlns:a16="http://schemas.microsoft.com/office/drawing/2014/main" val="1904428677"/>
                    </a:ext>
                  </a:extLst>
                </a:gridCol>
              </a:tblGrid>
              <a:tr h="828969">
                <a:tc>
                  <a:txBody>
                    <a:bodyPr/>
                    <a:lstStyle/>
                    <a:p>
                      <a:endParaRPr lang="en-US" sz="1000"/>
                    </a:p>
                  </a:txBody>
                  <a:tcPr>
                    <a:lnL>
                      <a:noFill/>
                    </a:lnL>
                    <a:lnR w="12700" cap="flat" cmpd="sng" algn="ctr">
                      <a:no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a:latin typeface="+mj-lt"/>
                        </a:rPr>
                        <a:t>Cost per hire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225"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Organizations can improve the hiring process by using Copilot to help write job descriptions, summarize interviews, avoid bias when identifying top candidates, improve candidate communications, and improve onboarding processes.</a:t>
                      </a:r>
                    </a:p>
                  </a:txBody>
                  <a:tcPr marL="45720" marR="45720" anchor="ctr">
                    <a:lnL w="12700" cap="flat" cmpd="sng" algn="ctr">
                      <a:noFill/>
                      <a:prstDash val="solid"/>
                      <a:round/>
                      <a:headEnd type="none" w="med" len="med"/>
                      <a:tailEnd type="none" w="med" len="med"/>
                    </a:lnL>
                    <a:lnR>
                      <a:noFill/>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3379039"/>
                  </a:ext>
                </a:extLst>
              </a:tr>
              <a:tr h="828969">
                <a:tc>
                  <a:txBody>
                    <a:bodyPr/>
                    <a:lstStyle/>
                    <a:p>
                      <a:endParaRPr lang="en-US" sz="1000"/>
                    </a:p>
                  </a:txBody>
                  <a:tcPr>
                    <a:lnL>
                      <a:noFill/>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a:latin typeface="+mj-lt"/>
                        </a:rPr>
                        <a:t>Employee turnover rate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225"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111111"/>
                          </a:solidFill>
                          <a:effectLst/>
                          <a:uLnTx/>
                          <a:uFillTx/>
                          <a:latin typeface="Segoe UI"/>
                          <a:ea typeface="+mn-ea"/>
                          <a:cs typeface="Segoe UI" panose="020B0502040204020203" pitchFamily="34" charset="0"/>
                        </a:rPr>
                        <a:t>Copilot can help all employees get more satisfaction in their job by assisting with challenging tasks and instead working on higher value activities. It also makes many tasks faster, which can reduce overtime requirements.</a:t>
                      </a:r>
                    </a:p>
                  </a:txBody>
                  <a:tcPr marL="45720" marR="45720" anchor="ctr">
                    <a:lnL w="12700" cap="flat" cmpd="sng" algn="ctr">
                      <a:noFill/>
                      <a:prstDash val="solid"/>
                      <a:round/>
                      <a:headEnd type="none" w="med" len="med"/>
                      <a:tailEnd type="none" w="med" len="med"/>
                    </a:lnL>
                    <a:lnR>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34878029"/>
                  </a:ext>
                </a:extLst>
              </a:tr>
              <a:tr h="648881">
                <a:tc>
                  <a:txBody>
                    <a:bodyPr/>
                    <a:lstStyle/>
                    <a:p>
                      <a:endParaRPr lang="en-US" sz="1000"/>
                    </a:p>
                  </a:txBody>
                  <a:tcPr>
                    <a:lnL>
                      <a:noFill/>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a:latin typeface="+mj-lt"/>
                        </a:rPr>
                        <a:t>Onboarding 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Segoe UI" panose="020B0502040204020203" pitchFamily="34" charset="0"/>
                        </a:rPr>
                        <a:t>Speed time to value of new employees by simplifying access to information and training. </a:t>
                      </a:r>
                    </a:p>
                  </a:txBody>
                  <a:tcPr marL="45720" marR="45720" anchor="ctr">
                    <a:lnL w="12700" cap="flat" cmpd="sng" algn="ctr">
                      <a:noFill/>
                      <a:prstDash val="solid"/>
                      <a:round/>
                      <a:headEnd type="none" w="med" len="med"/>
                      <a:tailEnd type="none" w="med" len="med"/>
                    </a:lnL>
                    <a:lnR>
                      <a:noFill/>
                    </a:lnR>
                    <a:lnT w="9525" cap="flat" cmpd="sng" algn="ctr">
                      <a:solidFill>
                        <a:schemeClr val="bg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97277821"/>
                  </a:ext>
                </a:extLst>
              </a:tr>
            </a:tbl>
          </a:graphicData>
        </a:graphic>
      </p:graphicFrame>
      <p:sp>
        <p:nvSpPr>
          <p:cNvPr id="49" name="Graphic 47" descr="Icon of a piggy bank ">
            <a:extLst>
              <a:ext uri="{FF2B5EF4-FFF2-40B4-BE49-F238E27FC236}">
                <a16:creationId xmlns:a16="http://schemas.microsoft.com/office/drawing/2014/main" id="{D515A733-09FD-0B97-FFAA-6E7D57CE54EB}"/>
              </a:ext>
            </a:extLst>
          </p:cNvPr>
          <p:cNvSpPr>
            <a:spLocks noChangeAspect="1"/>
          </p:cNvSpPr>
          <p:nvPr/>
        </p:nvSpPr>
        <p:spPr>
          <a:xfrm>
            <a:off x="5951576" y="4202831"/>
            <a:ext cx="200060" cy="193432"/>
          </a:xfrm>
          <a:custGeom>
            <a:avLst/>
            <a:gdLst>
              <a:gd name="connsiteX0" fmla="*/ 150403 w 372234"/>
              <a:gd name="connsiteY0" fmla="*/ 26554 h 359903"/>
              <a:gd name="connsiteX1" fmla="*/ 177466 w 372234"/>
              <a:gd name="connsiteY1" fmla="*/ 38837 h 359903"/>
              <a:gd name="connsiteX2" fmla="*/ 168732 w 372234"/>
              <a:gd name="connsiteY2" fmla="*/ 65624 h 359903"/>
              <a:gd name="connsiteX3" fmla="*/ 134547 w 372234"/>
              <a:gd name="connsiteY3" fmla="*/ 49532 h 359903"/>
              <a:gd name="connsiteX4" fmla="*/ 120976 w 372234"/>
              <a:gd name="connsiteY4" fmla="*/ 39162 h 359903"/>
              <a:gd name="connsiteX5" fmla="*/ 120976 w 372234"/>
              <a:gd name="connsiteY5" fmla="*/ 80727 h 359903"/>
              <a:gd name="connsiteX6" fmla="*/ 112224 w 372234"/>
              <a:gd name="connsiteY6" fmla="*/ 93679 h 359903"/>
              <a:gd name="connsiteX7" fmla="*/ 112108 w 372234"/>
              <a:gd name="connsiteY7" fmla="*/ 93727 h 359903"/>
              <a:gd name="connsiteX8" fmla="*/ 111522 w 372234"/>
              <a:gd name="connsiteY8" fmla="*/ 93976 h 359903"/>
              <a:gd name="connsiteX9" fmla="*/ 109035 w 372234"/>
              <a:gd name="connsiteY9" fmla="*/ 95103 h 359903"/>
              <a:gd name="connsiteX10" fmla="*/ 99984 w 372234"/>
              <a:gd name="connsiteY10" fmla="*/ 99827 h 359903"/>
              <a:gd name="connsiteX11" fmla="*/ 75011 w 372234"/>
              <a:gd name="connsiteY11" fmla="*/ 118515 h 359903"/>
              <a:gd name="connsiteX12" fmla="*/ 58428 w 372234"/>
              <a:gd name="connsiteY12" fmla="*/ 147096 h 359903"/>
              <a:gd name="connsiteX13" fmla="*/ 31400 w 372234"/>
              <a:gd name="connsiteY13" fmla="*/ 171071 h 359903"/>
              <a:gd name="connsiteX14" fmla="*/ 27918 w 372234"/>
              <a:gd name="connsiteY14" fmla="*/ 175183 h 359903"/>
              <a:gd name="connsiteX15" fmla="*/ 27918 w 372234"/>
              <a:gd name="connsiteY15" fmla="*/ 207807 h 359903"/>
              <a:gd name="connsiteX16" fmla="*/ 33181 w 372234"/>
              <a:gd name="connsiteY16" fmla="*/ 214021 h 359903"/>
              <a:gd name="connsiteX17" fmla="*/ 59085 w 372234"/>
              <a:gd name="connsiteY17" fmla="*/ 232745 h 359903"/>
              <a:gd name="connsiteX18" fmla="*/ 84317 w 372234"/>
              <a:gd name="connsiteY18" fmla="*/ 266279 h 359903"/>
              <a:gd name="connsiteX19" fmla="*/ 113807 w 372234"/>
              <a:gd name="connsiteY19" fmla="*/ 285613 h 359903"/>
              <a:gd name="connsiteX20" fmla="*/ 124606 w 372234"/>
              <a:gd name="connsiteY20" fmla="*/ 289427 h 359903"/>
              <a:gd name="connsiteX21" fmla="*/ 127546 w 372234"/>
              <a:gd name="connsiteY21" fmla="*/ 290197 h 359903"/>
              <a:gd name="connsiteX22" fmla="*/ 128214 w 372234"/>
              <a:gd name="connsiteY22" fmla="*/ 290348 h 359903"/>
              <a:gd name="connsiteX23" fmla="*/ 128304 w 372234"/>
              <a:gd name="connsiteY23" fmla="*/ 290369 h 359903"/>
              <a:gd name="connsiteX24" fmla="*/ 128324 w 372234"/>
              <a:gd name="connsiteY24" fmla="*/ 290372 h 359903"/>
              <a:gd name="connsiteX25" fmla="*/ 139588 w 372234"/>
              <a:gd name="connsiteY25" fmla="*/ 304069 h 359903"/>
              <a:gd name="connsiteX26" fmla="*/ 139588 w 372234"/>
              <a:gd name="connsiteY26" fmla="*/ 327333 h 359903"/>
              <a:gd name="connsiteX27" fmla="*/ 144241 w 372234"/>
              <a:gd name="connsiteY27" fmla="*/ 331986 h 359903"/>
              <a:gd name="connsiteX28" fmla="*/ 167505 w 372234"/>
              <a:gd name="connsiteY28" fmla="*/ 331986 h 359903"/>
              <a:gd name="connsiteX29" fmla="*/ 195423 w 372234"/>
              <a:gd name="connsiteY29" fmla="*/ 304069 h 359903"/>
              <a:gd name="connsiteX30" fmla="*/ 232646 w 372234"/>
              <a:gd name="connsiteY30" fmla="*/ 304069 h 359903"/>
              <a:gd name="connsiteX31" fmla="*/ 260564 w 372234"/>
              <a:gd name="connsiteY31" fmla="*/ 331986 h 359903"/>
              <a:gd name="connsiteX32" fmla="*/ 283829 w 372234"/>
              <a:gd name="connsiteY32" fmla="*/ 331986 h 359903"/>
              <a:gd name="connsiteX33" fmla="*/ 288481 w 372234"/>
              <a:gd name="connsiteY33" fmla="*/ 327333 h 359903"/>
              <a:gd name="connsiteX34" fmla="*/ 288481 w 372234"/>
              <a:gd name="connsiteY34" fmla="*/ 285457 h 359903"/>
              <a:gd name="connsiteX35" fmla="*/ 296146 w 372234"/>
              <a:gd name="connsiteY35" fmla="*/ 272996 h 359903"/>
              <a:gd name="connsiteX36" fmla="*/ 296393 w 372234"/>
              <a:gd name="connsiteY36" fmla="*/ 272864 h 359903"/>
              <a:gd name="connsiteX37" fmla="*/ 297700 w 372234"/>
              <a:gd name="connsiteY37" fmla="*/ 272116 h 359903"/>
              <a:gd name="connsiteX38" fmla="*/ 302991 w 372234"/>
              <a:gd name="connsiteY38" fmla="*/ 268615 h 359903"/>
              <a:gd name="connsiteX39" fmla="*/ 319760 w 372234"/>
              <a:gd name="connsiteY39" fmla="*/ 253108 h 359903"/>
              <a:gd name="connsiteX40" fmla="*/ 344317 w 372234"/>
              <a:gd name="connsiteY40" fmla="*/ 183093 h 359903"/>
              <a:gd name="connsiteX41" fmla="*/ 334849 w 372234"/>
              <a:gd name="connsiteY41" fmla="*/ 136794 h 359903"/>
              <a:gd name="connsiteX42" fmla="*/ 349703 w 372234"/>
              <a:gd name="connsiteY42" fmla="*/ 107463 h 359903"/>
              <a:gd name="connsiteX43" fmla="*/ 354949 w 372234"/>
              <a:gd name="connsiteY43" fmla="*/ 115343 h 359903"/>
              <a:gd name="connsiteX44" fmla="*/ 372234 w 372234"/>
              <a:gd name="connsiteY44" fmla="*/ 183093 h 359903"/>
              <a:gd name="connsiteX45" fmla="*/ 340955 w 372234"/>
              <a:gd name="connsiteY45" fmla="*/ 271277 h 359903"/>
              <a:gd name="connsiteX46" fmla="*/ 319338 w 372234"/>
              <a:gd name="connsiteY46" fmla="*/ 291247 h 359903"/>
              <a:gd name="connsiteX47" fmla="*/ 316399 w 372234"/>
              <a:gd name="connsiteY47" fmla="*/ 293298 h 359903"/>
              <a:gd name="connsiteX48" fmla="*/ 316399 w 372234"/>
              <a:gd name="connsiteY48" fmla="*/ 327333 h 359903"/>
              <a:gd name="connsiteX49" fmla="*/ 283829 w 372234"/>
              <a:gd name="connsiteY49" fmla="*/ 359904 h 359903"/>
              <a:gd name="connsiteX50" fmla="*/ 260564 w 372234"/>
              <a:gd name="connsiteY50" fmla="*/ 359904 h 359903"/>
              <a:gd name="connsiteX51" fmla="*/ 232646 w 372234"/>
              <a:gd name="connsiteY51" fmla="*/ 331986 h 359903"/>
              <a:gd name="connsiteX52" fmla="*/ 195423 w 372234"/>
              <a:gd name="connsiteY52" fmla="*/ 331986 h 359903"/>
              <a:gd name="connsiteX53" fmla="*/ 167505 w 372234"/>
              <a:gd name="connsiteY53" fmla="*/ 359904 h 359903"/>
              <a:gd name="connsiteX54" fmla="*/ 144241 w 372234"/>
              <a:gd name="connsiteY54" fmla="*/ 359904 h 359903"/>
              <a:gd name="connsiteX55" fmla="*/ 111670 w 372234"/>
              <a:gd name="connsiteY55" fmla="*/ 327333 h 359903"/>
              <a:gd name="connsiteX56" fmla="*/ 111670 w 372234"/>
              <a:gd name="connsiteY56" fmla="*/ 314629 h 359903"/>
              <a:gd name="connsiteX57" fmla="*/ 103029 w 372234"/>
              <a:gd name="connsiteY57" fmla="*/ 311366 h 359903"/>
              <a:gd name="connsiteX58" fmla="*/ 64576 w 372234"/>
              <a:gd name="connsiteY58" fmla="*/ 286021 h 359903"/>
              <a:gd name="connsiteX59" fmla="*/ 34713 w 372234"/>
              <a:gd name="connsiteY59" fmla="*/ 246359 h 359903"/>
              <a:gd name="connsiteX60" fmla="*/ 28591 w 372234"/>
              <a:gd name="connsiteY60" fmla="*/ 241557 h 359903"/>
              <a:gd name="connsiteX61" fmla="*/ 0 w 372234"/>
              <a:gd name="connsiteY61" fmla="*/ 207807 h 359903"/>
              <a:gd name="connsiteX62" fmla="*/ 0 w 372234"/>
              <a:gd name="connsiteY62" fmla="*/ 175183 h 359903"/>
              <a:gd name="connsiteX63" fmla="*/ 26810 w 372234"/>
              <a:gd name="connsiteY63" fmla="*/ 143533 h 359903"/>
              <a:gd name="connsiteX64" fmla="*/ 31947 w 372234"/>
              <a:gd name="connsiteY64" fmla="*/ 138257 h 359903"/>
              <a:gd name="connsiteX65" fmla="*/ 55271 w 372234"/>
              <a:gd name="connsiteY65" fmla="*/ 98775 h 359903"/>
              <a:gd name="connsiteX66" fmla="*/ 86133 w 372234"/>
              <a:gd name="connsiteY66" fmla="*/ 75587 h 359903"/>
              <a:gd name="connsiteX67" fmla="*/ 93059 w 372234"/>
              <a:gd name="connsiteY67" fmla="*/ 71846 h 359903"/>
              <a:gd name="connsiteX68" fmla="*/ 93059 w 372234"/>
              <a:gd name="connsiteY68" fmla="*/ 18772 h 359903"/>
              <a:gd name="connsiteX69" fmla="*/ 125440 w 372234"/>
              <a:gd name="connsiteY69" fmla="*/ 5442 h 359903"/>
              <a:gd name="connsiteX70" fmla="*/ 150403 w 372234"/>
              <a:gd name="connsiteY70" fmla="*/ 26554 h 359903"/>
              <a:gd name="connsiteX71" fmla="*/ 206032 w 372234"/>
              <a:gd name="connsiteY71" fmla="*/ 115122 h 359903"/>
              <a:gd name="connsiteX72" fmla="*/ 187381 w 372234"/>
              <a:gd name="connsiteY72" fmla="*/ 94473 h 359903"/>
              <a:gd name="connsiteX73" fmla="*/ 232068 w 372234"/>
              <a:gd name="connsiteY73" fmla="*/ 11950 h 359903"/>
              <a:gd name="connsiteX74" fmla="*/ 329342 w 372234"/>
              <a:gd name="connsiteY74" fmla="*/ 52232 h 359903"/>
              <a:gd name="connsiteX75" fmla="*/ 302602 w 372234"/>
              <a:gd name="connsiteY75" fmla="*/ 142188 h 359903"/>
              <a:gd name="connsiteX76" fmla="*/ 274813 w 372234"/>
              <a:gd name="connsiteY76" fmla="*/ 143606 h 359903"/>
              <a:gd name="connsiteX77" fmla="*/ 206032 w 372234"/>
              <a:gd name="connsiteY77" fmla="*/ 115122 h 359903"/>
              <a:gd name="connsiteX78" fmla="*/ 287813 w 372234"/>
              <a:gd name="connsiteY78" fmla="*/ 118463 h 359903"/>
              <a:gd name="connsiteX79" fmla="*/ 303550 w 372234"/>
              <a:gd name="connsiteY79" fmla="*/ 62918 h 359903"/>
              <a:gd name="connsiteX80" fmla="*/ 242754 w 372234"/>
              <a:gd name="connsiteY80" fmla="*/ 37742 h 359903"/>
              <a:gd name="connsiteX81" fmla="*/ 214613 w 372234"/>
              <a:gd name="connsiteY81" fmla="*/ 88150 h 359903"/>
              <a:gd name="connsiteX82" fmla="*/ 215012 w 372234"/>
              <a:gd name="connsiteY82" fmla="*/ 88437 h 359903"/>
              <a:gd name="connsiteX83" fmla="*/ 216713 w 372234"/>
              <a:gd name="connsiteY83" fmla="*/ 89329 h 359903"/>
              <a:gd name="connsiteX84" fmla="*/ 285494 w 372234"/>
              <a:gd name="connsiteY84" fmla="*/ 117813 h 359903"/>
              <a:gd name="connsiteX85" fmla="*/ 287329 w 372234"/>
              <a:gd name="connsiteY85" fmla="*/ 118385 h 359903"/>
              <a:gd name="connsiteX86" fmla="*/ 287813 w 372234"/>
              <a:gd name="connsiteY86" fmla="*/ 118463 h 359903"/>
              <a:gd name="connsiteX87" fmla="*/ 130282 w 372234"/>
              <a:gd name="connsiteY87" fmla="*/ 136562 h 359903"/>
              <a:gd name="connsiteX88" fmla="*/ 111670 w 372234"/>
              <a:gd name="connsiteY88" fmla="*/ 155173 h 359903"/>
              <a:gd name="connsiteX89" fmla="*/ 93059 w 372234"/>
              <a:gd name="connsiteY89" fmla="*/ 136562 h 359903"/>
              <a:gd name="connsiteX90" fmla="*/ 111670 w 372234"/>
              <a:gd name="connsiteY90" fmla="*/ 117950 h 359903"/>
              <a:gd name="connsiteX91" fmla="*/ 130282 w 372234"/>
              <a:gd name="connsiteY91" fmla="*/ 136562 h 359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372234" h="359903">
                <a:moveTo>
                  <a:pt x="150403" y="26554"/>
                </a:moveTo>
                <a:cubicBezTo>
                  <a:pt x="160267" y="33362"/>
                  <a:pt x="169696" y="37848"/>
                  <a:pt x="177466" y="38837"/>
                </a:cubicBezTo>
                <a:cubicBezTo>
                  <a:pt x="173230" y="47251"/>
                  <a:pt x="170275" y="56288"/>
                  <a:pt x="168732" y="65624"/>
                </a:cubicBezTo>
                <a:cubicBezTo>
                  <a:pt x="156199" y="62874"/>
                  <a:pt x="144307" y="56267"/>
                  <a:pt x="134547" y="49532"/>
                </a:cubicBezTo>
                <a:cubicBezTo>
                  <a:pt x="129722" y="46202"/>
                  <a:pt x="125154" y="42655"/>
                  <a:pt x="120976" y="39162"/>
                </a:cubicBezTo>
                <a:lnTo>
                  <a:pt x="120976" y="80727"/>
                </a:lnTo>
                <a:cubicBezTo>
                  <a:pt x="120976" y="86427"/>
                  <a:pt x="117511" y="91554"/>
                  <a:pt x="112224" y="93679"/>
                </a:cubicBezTo>
                <a:lnTo>
                  <a:pt x="112108" y="93727"/>
                </a:lnTo>
                <a:cubicBezTo>
                  <a:pt x="111993" y="93775"/>
                  <a:pt x="111795" y="93858"/>
                  <a:pt x="111522" y="93976"/>
                </a:cubicBezTo>
                <a:cubicBezTo>
                  <a:pt x="110975" y="94212"/>
                  <a:pt x="110128" y="94588"/>
                  <a:pt x="109035" y="95103"/>
                </a:cubicBezTo>
                <a:cubicBezTo>
                  <a:pt x="106844" y="96133"/>
                  <a:pt x="103688" y="97710"/>
                  <a:pt x="99984" y="99827"/>
                </a:cubicBezTo>
                <a:cubicBezTo>
                  <a:pt x="92502" y="104102"/>
                  <a:pt x="83155" y="110371"/>
                  <a:pt x="75011" y="118515"/>
                </a:cubicBezTo>
                <a:cubicBezTo>
                  <a:pt x="66571" y="126956"/>
                  <a:pt x="61367" y="138292"/>
                  <a:pt x="58428" y="147096"/>
                </a:cubicBezTo>
                <a:cubicBezTo>
                  <a:pt x="54659" y="158387"/>
                  <a:pt x="45062" y="168795"/>
                  <a:pt x="31400" y="171071"/>
                </a:cubicBezTo>
                <a:cubicBezTo>
                  <a:pt x="29390" y="171406"/>
                  <a:pt x="27918" y="173145"/>
                  <a:pt x="27918" y="175183"/>
                </a:cubicBezTo>
                <a:lnTo>
                  <a:pt x="27918" y="207807"/>
                </a:lnTo>
                <a:cubicBezTo>
                  <a:pt x="27918" y="210887"/>
                  <a:pt x="30144" y="213515"/>
                  <a:pt x="33181" y="214021"/>
                </a:cubicBezTo>
                <a:cubicBezTo>
                  <a:pt x="44793" y="215955"/>
                  <a:pt x="53941" y="223536"/>
                  <a:pt x="59085" y="232745"/>
                </a:cubicBezTo>
                <a:cubicBezTo>
                  <a:pt x="63764" y="241120"/>
                  <a:pt x="72081" y="254044"/>
                  <a:pt x="84317" y="266279"/>
                </a:cubicBezTo>
                <a:cubicBezTo>
                  <a:pt x="93825" y="275788"/>
                  <a:pt x="104897" y="281883"/>
                  <a:pt x="113807" y="285613"/>
                </a:cubicBezTo>
                <a:cubicBezTo>
                  <a:pt x="118223" y="287461"/>
                  <a:pt x="121996" y="288680"/>
                  <a:pt x="124606" y="289427"/>
                </a:cubicBezTo>
                <a:cubicBezTo>
                  <a:pt x="125908" y="289797"/>
                  <a:pt x="126910" y="290048"/>
                  <a:pt x="127546" y="290197"/>
                </a:cubicBezTo>
                <a:cubicBezTo>
                  <a:pt x="127864" y="290272"/>
                  <a:pt x="128089" y="290322"/>
                  <a:pt x="128214" y="290348"/>
                </a:cubicBezTo>
                <a:lnTo>
                  <a:pt x="128304" y="290369"/>
                </a:lnTo>
                <a:lnTo>
                  <a:pt x="128324" y="290372"/>
                </a:lnTo>
                <a:cubicBezTo>
                  <a:pt x="134866" y="291658"/>
                  <a:pt x="139588" y="297396"/>
                  <a:pt x="139588" y="304069"/>
                </a:cubicBezTo>
                <a:lnTo>
                  <a:pt x="139588" y="327333"/>
                </a:lnTo>
                <a:cubicBezTo>
                  <a:pt x="139588" y="329902"/>
                  <a:pt x="141671" y="331986"/>
                  <a:pt x="144241" y="331986"/>
                </a:cubicBezTo>
                <a:lnTo>
                  <a:pt x="167505" y="331986"/>
                </a:lnTo>
                <a:cubicBezTo>
                  <a:pt x="167505" y="316566"/>
                  <a:pt x="180005" y="304069"/>
                  <a:pt x="195423" y="304069"/>
                </a:cubicBezTo>
                <a:lnTo>
                  <a:pt x="232646" y="304069"/>
                </a:lnTo>
                <a:cubicBezTo>
                  <a:pt x="248064" y="304069"/>
                  <a:pt x="260564" y="316566"/>
                  <a:pt x="260564" y="331986"/>
                </a:cubicBezTo>
                <a:lnTo>
                  <a:pt x="283829" y="331986"/>
                </a:lnTo>
                <a:cubicBezTo>
                  <a:pt x="286399" y="331986"/>
                  <a:pt x="288481" y="329902"/>
                  <a:pt x="288481" y="327333"/>
                </a:cubicBezTo>
                <a:lnTo>
                  <a:pt x="288481" y="285457"/>
                </a:lnTo>
                <a:cubicBezTo>
                  <a:pt x="288481" y="280194"/>
                  <a:pt x="291454" y="275373"/>
                  <a:pt x="296146" y="272996"/>
                </a:cubicBezTo>
                <a:lnTo>
                  <a:pt x="296393" y="272864"/>
                </a:lnTo>
                <a:cubicBezTo>
                  <a:pt x="296652" y="272723"/>
                  <a:pt x="297097" y="272475"/>
                  <a:pt x="297700" y="272116"/>
                </a:cubicBezTo>
                <a:cubicBezTo>
                  <a:pt x="298908" y="271398"/>
                  <a:pt x="300739" y="270242"/>
                  <a:pt x="302991" y="268615"/>
                </a:cubicBezTo>
                <a:cubicBezTo>
                  <a:pt x="307508" y="265353"/>
                  <a:pt x="313626" y="260264"/>
                  <a:pt x="319760" y="253108"/>
                </a:cubicBezTo>
                <a:cubicBezTo>
                  <a:pt x="331901" y="238944"/>
                  <a:pt x="344317" y="216482"/>
                  <a:pt x="344317" y="183093"/>
                </a:cubicBezTo>
                <a:cubicBezTo>
                  <a:pt x="344317" y="164358"/>
                  <a:pt x="340814" y="149212"/>
                  <a:pt x="334849" y="136794"/>
                </a:cubicBezTo>
                <a:cubicBezTo>
                  <a:pt x="341510" y="127954"/>
                  <a:pt x="346531" y="118006"/>
                  <a:pt x="349703" y="107463"/>
                </a:cubicBezTo>
                <a:cubicBezTo>
                  <a:pt x="351549" y="109992"/>
                  <a:pt x="353300" y="112617"/>
                  <a:pt x="354949" y="115343"/>
                </a:cubicBezTo>
                <a:cubicBezTo>
                  <a:pt x="366195" y="133921"/>
                  <a:pt x="372234" y="156346"/>
                  <a:pt x="372234" y="183093"/>
                </a:cubicBezTo>
                <a:cubicBezTo>
                  <a:pt x="372234" y="224148"/>
                  <a:pt x="356733" y="252870"/>
                  <a:pt x="340955" y="271277"/>
                </a:cubicBezTo>
                <a:cubicBezTo>
                  <a:pt x="333131" y="280406"/>
                  <a:pt x="325290" y="286948"/>
                  <a:pt x="319338" y="291247"/>
                </a:cubicBezTo>
                <a:cubicBezTo>
                  <a:pt x="318299" y="291997"/>
                  <a:pt x="317317" y="292680"/>
                  <a:pt x="316399" y="293298"/>
                </a:cubicBezTo>
                <a:lnTo>
                  <a:pt x="316399" y="327333"/>
                </a:lnTo>
                <a:cubicBezTo>
                  <a:pt x="316399" y="345321"/>
                  <a:pt x="301817" y="359904"/>
                  <a:pt x="283829" y="359904"/>
                </a:cubicBezTo>
                <a:lnTo>
                  <a:pt x="260564" y="359904"/>
                </a:lnTo>
                <a:cubicBezTo>
                  <a:pt x="245146" y="359904"/>
                  <a:pt x="232646" y="347404"/>
                  <a:pt x="232646" y="331986"/>
                </a:cubicBezTo>
                <a:lnTo>
                  <a:pt x="195423" y="331986"/>
                </a:lnTo>
                <a:cubicBezTo>
                  <a:pt x="195423" y="347404"/>
                  <a:pt x="182923" y="359904"/>
                  <a:pt x="167505" y="359904"/>
                </a:cubicBezTo>
                <a:lnTo>
                  <a:pt x="144241" y="359904"/>
                </a:lnTo>
                <a:cubicBezTo>
                  <a:pt x="126253" y="359904"/>
                  <a:pt x="111670" y="345321"/>
                  <a:pt x="111670" y="327333"/>
                </a:cubicBezTo>
                <a:lnTo>
                  <a:pt x="111670" y="314629"/>
                </a:lnTo>
                <a:cubicBezTo>
                  <a:pt x="109101" y="313762"/>
                  <a:pt x="106185" y="312688"/>
                  <a:pt x="103029" y="311366"/>
                </a:cubicBezTo>
                <a:cubicBezTo>
                  <a:pt x="91935" y="306723"/>
                  <a:pt x="77416" y="298861"/>
                  <a:pt x="64576" y="286021"/>
                </a:cubicBezTo>
                <a:cubicBezTo>
                  <a:pt x="49984" y="271429"/>
                  <a:pt x="40211" y="256203"/>
                  <a:pt x="34713" y="246359"/>
                </a:cubicBezTo>
                <a:cubicBezTo>
                  <a:pt x="33090" y="243456"/>
                  <a:pt x="30666" y="241904"/>
                  <a:pt x="28591" y="241557"/>
                </a:cubicBezTo>
                <a:cubicBezTo>
                  <a:pt x="12093" y="238809"/>
                  <a:pt x="0" y="224533"/>
                  <a:pt x="0" y="207807"/>
                </a:cubicBezTo>
                <a:lnTo>
                  <a:pt x="0" y="175183"/>
                </a:lnTo>
                <a:cubicBezTo>
                  <a:pt x="0" y="159498"/>
                  <a:pt x="11339" y="146113"/>
                  <a:pt x="26810" y="143533"/>
                </a:cubicBezTo>
                <a:cubicBezTo>
                  <a:pt x="28428" y="143263"/>
                  <a:pt x="30812" y="141657"/>
                  <a:pt x="31947" y="138257"/>
                </a:cubicBezTo>
                <a:cubicBezTo>
                  <a:pt x="35527" y="127532"/>
                  <a:pt x="42474" y="111572"/>
                  <a:pt x="55271" y="98775"/>
                </a:cubicBezTo>
                <a:cubicBezTo>
                  <a:pt x="65738" y="88307"/>
                  <a:pt x="77329" y="80618"/>
                  <a:pt x="86133" y="75587"/>
                </a:cubicBezTo>
                <a:cubicBezTo>
                  <a:pt x="88671" y="74137"/>
                  <a:pt x="91008" y="72890"/>
                  <a:pt x="93059" y="71846"/>
                </a:cubicBezTo>
                <a:lnTo>
                  <a:pt x="93059" y="18772"/>
                </a:lnTo>
                <a:cubicBezTo>
                  <a:pt x="93059" y="1316"/>
                  <a:pt x="114101" y="-5849"/>
                  <a:pt x="125440" y="5442"/>
                </a:cubicBezTo>
                <a:cubicBezTo>
                  <a:pt x="131591" y="11566"/>
                  <a:pt x="140520" y="19734"/>
                  <a:pt x="150403" y="26554"/>
                </a:cubicBezTo>
                <a:close/>
                <a:moveTo>
                  <a:pt x="206032" y="115122"/>
                </a:moveTo>
                <a:cubicBezTo>
                  <a:pt x="196910" y="111345"/>
                  <a:pt x="189214" y="104174"/>
                  <a:pt x="187381" y="94473"/>
                </a:cubicBezTo>
                <a:cubicBezTo>
                  <a:pt x="180978" y="60572"/>
                  <a:pt x="198933" y="25679"/>
                  <a:pt x="232068" y="11950"/>
                </a:cubicBezTo>
                <a:cubicBezTo>
                  <a:pt x="270052" y="-3787"/>
                  <a:pt x="313604" y="14248"/>
                  <a:pt x="329342" y="52232"/>
                </a:cubicBezTo>
                <a:cubicBezTo>
                  <a:pt x="343070" y="85368"/>
                  <a:pt x="331099" y="122739"/>
                  <a:pt x="302602" y="142188"/>
                </a:cubicBezTo>
                <a:cubicBezTo>
                  <a:pt x="294448" y="147753"/>
                  <a:pt x="283935" y="147384"/>
                  <a:pt x="274813" y="143606"/>
                </a:cubicBezTo>
                <a:lnTo>
                  <a:pt x="206032" y="115122"/>
                </a:lnTo>
                <a:close/>
                <a:moveTo>
                  <a:pt x="287813" y="118463"/>
                </a:moveTo>
                <a:cubicBezTo>
                  <a:pt x="304929" y="106140"/>
                  <a:pt x="311964" y="83226"/>
                  <a:pt x="303550" y="62918"/>
                </a:cubicBezTo>
                <a:cubicBezTo>
                  <a:pt x="293713" y="39178"/>
                  <a:pt x="266494" y="27906"/>
                  <a:pt x="242754" y="37742"/>
                </a:cubicBezTo>
                <a:cubicBezTo>
                  <a:pt x="222447" y="46156"/>
                  <a:pt x="211222" y="67335"/>
                  <a:pt x="214613" y="88150"/>
                </a:cubicBezTo>
                <a:cubicBezTo>
                  <a:pt x="214721" y="88235"/>
                  <a:pt x="214854" y="88332"/>
                  <a:pt x="215012" y="88437"/>
                </a:cubicBezTo>
                <a:cubicBezTo>
                  <a:pt x="215451" y="88730"/>
                  <a:pt x="216022" y="89043"/>
                  <a:pt x="216713" y="89329"/>
                </a:cubicBezTo>
                <a:lnTo>
                  <a:pt x="285494" y="117813"/>
                </a:lnTo>
                <a:cubicBezTo>
                  <a:pt x="286187" y="118099"/>
                  <a:pt x="286812" y="118281"/>
                  <a:pt x="287329" y="118385"/>
                </a:cubicBezTo>
                <a:cubicBezTo>
                  <a:pt x="287516" y="118422"/>
                  <a:pt x="287677" y="118447"/>
                  <a:pt x="287813" y="118463"/>
                </a:cubicBezTo>
                <a:close/>
                <a:moveTo>
                  <a:pt x="130282" y="136562"/>
                </a:moveTo>
                <a:cubicBezTo>
                  <a:pt x="130282" y="146841"/>
                  <a:pt x="121949" y="155173"/>
                  <a:pt x="111670" y="155173"/>
                </a:cubicBezTo>
                <a:cubicBezTo>
                  <a:pt x="101391" y="155173"/>
                  <a:pt x="93059" y="146841"/>
                  <a:pt x="93059" y="136562"/>
                </a:cubicBezTo>
                <a:cubicBezTo>
                  <a:pt x="93059" y="126283"/>
                  <a:pt x="101391" y="117950"/>
                  <a:pt x="111670" y="117950"/>
                </a:cubicBezTo>
                <a:cubicBezTo>
                  <a:pt x="121949" y="117950"/>
                  <a:pt x="130282" y="126283"/>
                  <a:pt x="130282" y="136562"/>
                </a:cubicBez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graphicFrame>
        <p:nvGraphicFramePr>
          <p:cNvPr id="63" name="Table 62">
            <a:extLst>
              <a:ext uri="{FF2B5EF4-FFF2-40B4-BE49-F238E27FC236}">
                <a16:creationId xmlns:a16="http://schemas.microsoft.com/office/drawing/2014/main" id="{68FF2535-D00B-FC07-7878-F77BCDF45873}"/>
              </a:ext>
            </a:extLst>
          </p:cNvPr>
          <p:cNvGraphicFramePr>
            <a:graphicFrameLocks noGrp="1"/>
          </p:cNvGraphicFramePr>
          <p:nvPr/>
        </p:nvGraphicFramePr>
        <p:xfrm>
          <a:off x="5911132" y="1902349"/>
          <a:ext cx="5556780" cy="1239754"/>
        </p:xfrm>
        <a:graphic>
          <a:graphicData uri="http://schemas.openxmlformats.org/drawingml/2006/table">
            <a:tbl>
              <a:tblPr firstRow="1" bandRow="1">
                <a:tableStyleId>{2D5ABB26-0587-4C30-8999-92F81FD0307C}</a:tableStyleId>
              </a:tblPr>
              <a:tblGrid>
                <a:gridCol w="1389195">
                  <a:extLst>
                    <a:ext uri="{9D8B030D-6E8A-4147-A177-3AD203B41FA5}">
                      <a16:colId xmlns:a16="http://schemas.microsoft.com/office/drawing/2014/main" val="763213795"/>
                    </a:ext>
                  </a:extLst>
                </a:gridCol>
                <a:gridCol w="1389195">
                  <a:extLst>
                    <a:ext uri="{9D8B030D-6E8A-4147-A177-3AD203B41FA5}">
                      <a16:colId xmlns:a16="http://schemas.microsoft.com/office/drawing/2014/main" val="2931493578"/>
                    </a:ext>
                  </a:extLst>
                </a:gridCol>
                <a:gridCol w="1389195">
                  <a:extLst>
                    <a:ext uri="{9D8B030D-6E8A-4147-A177-3AD203B41FA5}">
                      <a16:colId xmlns:a16="http://schemas.microsoft.com/office/drawing/2014/main" val="1229633216"/>
                    </a:ext>
                  </a:extLst>
                </a:gridCol>
                <a:gridCol w="1389195">
                  <a:extLst>
                    <a:ext uri="{9D8B030D-6E8A-4147-A177-3AD203B41FA5}">
                      <a16:colId xmlns:a16="http://schemas.microsoft.com/office/drawing/2014/main" val="1709666378"/>
                    </a:ext>
                  </a:extLst>
                </a:gridCol>
              </a:tblGrid>
              <a:tr h="346614">
                <a:tc>
                  <a:txBody>
                    <a:bodyPr/>
                    <a:lstStyle/>
                    <a:p>
                      <a:pPr algn="l"/>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AI &amp;</a:t>
                      </a:r>
                      <a:b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br>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Copilot advisory</a:t>
                      </a:r>
                      <a:endParaRPr lang="en-US" sz="1000">
                        <a:solidFill>
                          <a:srgbClr val="0078D4"/>
                        </a:solidFill>
                        <a:latin typeface="+mj-lt"/>
                      </a:endParaRPr>
                    </a:p>
                  </a:txBody>
                  <a:tcPr anchor="b">
                    <a:lnL>
                      <a:noFill/>
                    </a:lnL>
                    <a:lnR w="9525" cap="flat" cmpd="sng" algn="ctr">
                      <a:solidFill>
                        <a:schemeClr val="bg1"/>
                      </a:solid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Get ready &amp; deploy</a:t>
                      </a:r>
                      <a:endParaRPr lang="en-US" sz="1000">
                        <a:solidFill>
                          <a:srgbClr val="0078D4"/>
                        </a:solidFill>
                        <a:latin typeface="+mj-lt"/>
                      </a:endParaRPr>
                    </a:p>
                  </a:txBody>
                  <a:tcPr anchor="b">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Adoption &amp; change management</a:t>
                      </a:r>
                      <a:endParaRPr lang="en-US" sz="1000">
                        <a:solidFill>
                          <a:srgbClr val="0078D4"/>
                        </a:solidFill>
                        <a:latin typeface="+mj-lt"/>
                      </a:endParaRPr>
                    </a:p>
                  </a:txBody>
                  <a:tcPr anchor="b">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Copilot Agents</a:t>
                      </a:r>
                      <a:endParaRPr lang="en-US" sz="1000">
                        <a:solidFill>
                          <a:srgbClr val="0078D4"/>
                        </a:solidFill>
                        <a:latin typeface="+mj-lt"/>
                      </a:endParaRPr>
                    </a:p>
                  </a:txBody>
                  <a:tcPr anchor="b">
                    <a:lnL w="9525" cap="flat" cmpd="sng" algn="ctr">
                      <a:solidFill>
                        <a:schemeClr val="bg1"/>
                      </a:solidFill>
                      <a:prstDash val="solid"/>
                      <a:round/>
                      <a:headEnd type="none" w="med" len="med"/>
                      <a:tailEnd type="none" w="med" len="med"/>
                    </a:lnL>
                    <a:lnR>
                      <a:noFill/>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20644008"/>
                  </a:ext>
                </a:extLst>
              </a:tr>
              <a:tr h="8435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000000"/>
                          </a:solidFill>
                          <a:latin typeface="+mn-lt"/>
                        </a:rPr>
                        <a:t>[Insert service value prop]</a:t>
                      </a:r>
                    </a:p>
                  </a:txBody>
                  <a:tcPr>
                    <a:lnL>
                      <a:noFill/>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000000"/>
                          </a:solidFill>
                          <a:latin typeface="+mn-lt"/>
                        </a:rPr>
                        <a:t>[Insert service value prop]</a:t>
                      </a:r>
                    </a:p>
                    <a:p>
                      <a:endParaRPr lang="en-US" sz="1000">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000000"/>
                          </a:solidFill>
                          <a:latin typeface="+mn-lt"/>
                        </a:rPr>
                        <a:t>[Insert service value prop]</a:t>
                      </a:r>
                    </a:p>
                    <a:p>
                      <a:endParaRPr lang="en-US" sz="1000">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000000"/>
                          </a:solidFill>
                          <a:latin typeface="+mn-lt"/>
                        </a:rPr>
                        <a:t>[Insert service value prop]</a:t>
                      </a:r>
                    </a:p>
                    <a:p>
                      <a:endParaRPr lang="en-US" sz="1000">
                        <a:latin typeface="+mn-lt"/>
                      </a:endParaRPr>
                    </a:p>
                  </a:txBody>
                  <a:tcPr>
                    <a:lnL w="9525" cap="flat" cmpd="sng" algn="ctr">
                      <a:solidFill>
                        <a:schemeClr val="bg1"/>
                      </a:solidFill>
                      <a:prstDash val="solid"/>
                      <a:round/>
                      <a:headEnd type="none" w="med" len="med"/>
                      <a:tailEnd type="none" w="med" len="med"/>
                    </a:lnL>
                    <a:lnR>
                      <a:noFill/>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008714714"/>
                  </a:ext>
                </a:extLst>
              </a:tr>
            </a:tbl>
          </a:graphicData>
        </a:graphic>
      </p:graphicFrame>
      <p:sp>
        <p:nvSpPr>
          <p:cNvPr id="64" name="Graphic 47" descr="Icon of a piggy bank ">
            <a:extLst>
              <a:ext uri="{FF2B5EF4-FFF2-40B4-BE49-F238E27FC236}">
                <a16:creationId xmlns:a16="http://schemas.microsoft.com/office/drawing/2014/main" id="{3FD0E4AD-431E-EFAC-D024-E055D22175DD}"/>
              </a:ext>
            </a:extLst>
          </p:cNvPr>
          <p:cNvSpPr>
            <a:spLocks noChangeAspect="1"/>
          </p:cNvSpPr>
          <p:nvPr/>
        </p:nvSpPr>
        <p:spPr>
          <a:xfrm>
            <a:off x="5951548" y="5031472"/>
            <a:ext cx="200060" cy="193432"/>
          </a:xfrm>
          <a:custGeom>
            <a:avLst/>
            <a:gdLst>
              <a:gd name="connsiteX0" fmla="*/ 150403 w 372234"/>
              <a:gd name="connsiteY0" fmla="*/ 26554 h 359903"/>
              <a:gd name="connsiteX1" fmla="*/ 177466 w 372234"/>
              <a:gd name="connsiteY1" fmla="*/ 38837 h 359903"/>
              <a:gd name="connsiteX2" fmla="*/ 168732 w 372234"/>
              <a:gd name="connsiteY2" fmla="*/ 65624 h 359903"/>
              <a:gd name="connsiteX3" fmla="*/ 134547 w 372234"/>
              <a:gd name="connsiteY3" fmla="*/ 49532 h 359903"/>
              <a:gd name="connsiteX4" fmla="*/ 120976 w 372234"/>
              <a:gd name="connsiteY4" fmla="*/ 39162 h 359903"/>
              <a:gd name="connsiteX5" fmla="*/ 120976 w 372234"/>
              <a:gd name="connsiteY5" fmla="*/ 80727 h 359903"/>
              <a:gd name="connsiteX6" fmla="*/ 112224 w 372234"/>
              <a:gd name="connsiteY6" fmla="*/ 93679 h 359903"/>
              <a:gd name="connsiteX7" fmla="*/ 112108 w 372234"/>
              <a:gd name="connsiteY7" fmla="*/ 93727 h 359903"/>
              <a:gd name="connsiteX8" fmla="*/ 111522 w 372234"/>
              <a:gd name="connsiteY8" fmla="*/ 93976 h 359903"/>
              <a:gd name="connsiteX9" fmla="*/ 109035 w 372234"/>
              <a:gd name="connsiteY9" fmla="*/ 95103 h 359903"/>
              <a:gd name="connsiteX10" fmla="*/ 99984 w 372234"/>
              <a:gd name="connsiteY10" fmla="*/ 99827 h 359903"/>
              <a:gd name="connsiteX11" fmla="*/ 75011 w 372234"/>
              <a:gd name="connsiteY11" fmla="*/ 118515 h 359903"/>
              <a:gd name="connsiteX12" fmla="*/ 58428 w 372234"/>
              <a:gd name="connsiteY12" fmla="*/ 147096 h 359903"/>
              <a:gd name="connsiteX13" fmla="*/ 31400 w 372234"/>
              <a:gd name="connsiteY13" fmla="*/ 171071 h 359903"/>
              <a:gd name="connsiteX14" fmla="*/ 27918 w 372234"/>
              <a:gd name="connsiteY14" fmla="*/ 175183 h 359903"/>
              <a:gd name="connsiteX15" fmla="*/ 27918 w 372234"/>
              <a:gd name="connsiteY15" fmla="*/ 207807 h 359903"/>
              <a:gd name="connsiteX16" fmla="*/ 33181 w 372234"/>
              <a:gd name="connsiteY16" fmla="*/ 214021 h 359903"/>
              <a:gd name="connsiteX17" fmla="*/ 59085 w 372234"/>
              <a:gd name="connsiteY17" fmla="*/ 232745 h 359903"/>
              <a:gd name="connsiteX18" fmla="*/ 84317 w 372234"/>
              <a:gd name="connsiteY18" fmla="*/ 266279 h 359903"/>
              <a:gd name="connsiteX19" fmla="*/ 113807 w 372234"/>
              <a:gd name="connsiteY19" fmla="*/ 285613 h 359903"/>
              <a:gd name="connsiteX20" fmla="*/ 124606 w 372234"/>
              <a:gd name="connsiteY20" fmla="*/ 289427 h 359903"/>
              <a:gd name="connsiteX21" fmla="*/ 127546 w 372234"/>
              <a:gd name="connsiteY21" fmla="*/ 290197 h 359903"/>
              <a:gd name="connsiteX22" fmla="*/ 128214 w 372234"/>
              <a:gd name="connsiteY22" fmla="*/ 290348 h 359903"/>
              <a:gd name="connsiteX23" fmla="*/ 128304 w 372234"/>
              <a:gd name="connsiteY23" fmla="*/ 290369 h 359903"/>
              <a:gd name="connsiteX24" fmla="*/ 128324 w 372234"/>
              <a:gd name="connsiteY24" fmla="*/ 290372 h 359903"/>
              <a:gd name="connsiteX25" fmla="*/ 139588 w 372234"/>
              <a:gd name="connsiteY25" fmla="*/ 304069 h 359903"/>
              <a:gd name="connsiteX26" fmla="*/ 139588 w 372234"/>
              <a:gd name="connsiteY26" fmla="*/ 327333 h 359903"/>
              <a:gd name="connsiteX27" fmla="*/ 144241 w 372234"/>
              <a:gd name="connsiteY27" fmla="*/ 331986 h 359903"/>
              <a:gd name="connsiteX28" fmla="*/ 167505 w 372234"/>
              <a:gd name="connsiteY28" fmla="*/ 331986 h 359903"/>
              <a:gd name="connsiteX29" fmla="*/ 195423 w 372234"/>
              <a:gd name="connsiteY29" fmla="*/ 304069 h 359903"/>
              <a:gd name="connsiteX30" fmla="*/ 232646 w 372234"/>
              <a:gd name="connsiteY30" fmla="*/ 304069 h 359903"/>
              <a:gd name="connsiteX31" fmla="*/ 260564 w 372234"/>
              <a:gd name="connsiteY31" fmla="*/ 331986 h 359903"/>
              <a:gd name="connsiteX32" fmla="*/ 283829 w 372234"/>
              <a:gd name="connsiteY32" fmla="*/ 331986 h 359903"/>
              <a:gd name="connsiteX33" fmla="*/ 288481 w 372234"/>
              <a:gd name="connsiteY33" fmla="*/ 327333 h 359903"/>
              <a:gd name="connsiteX34" fmla="*/ 288481 w 372234"/>
              <a:gd name="connsiteY34" fmla="*/ 285457 h 359903"/>
              <a:gd name="connsiteX35" fmla="*/ 296146 w 372234"/>
              <a:gd name="connsiteY35" fmla="*/ 272996 h 359903"/>
              <a:gd name="connsiteX36" fmla="*/ 296393 w 372234"/>
              <a:gd name="connsiteY36" fmla="*/ 272864 h 359903"/>
              <a:gd name="connsiteX37" fmla="*/ 297700 w 372234"/>
              <a:gd name="connsiteY37" fmla="*/ 272116 h 359903"/>
              <a:gd name="connsiteX38" fmla="*/ 302991 w 372234"/>
              <a:gd name="connsiteY38" fmla="*/ 268615 h 359903"/>
              <a:gd name="connsiteX39" fmla="*/ 319760 w 372234"/>
              <a:gd name="connsiteY39" fmla="*/ 253108 h 359903"/>
              <a:gd name="connsiteX40" fmla="*/ 344317 w 372234"/>
              <a:gd name="connsiteY40" fmla="*/ 183093 h 359903"/>
              <a:gd name="connsiteX41" fmla="*/ 334849 w 372234"/>
              <a:gd name="connsiteY41" fmla="*/ 136794 h 359903"/>
              <a:gd name="connsiteX42" fmla="*/ 349703 w 372234"/>
              <a:gd name="connsiteY42" fmla="*/ 107463 h 359903"/>
              <a:gd name="connsiteX43" fmla="*/ 354949 w 372234"/>
              <a:gd name="connsiteY43" fmla="*/ 115343 h 359903"/>
              <a:gd name="connsiteX44" fmla="*/ 372234 w 372234"/>
              <a:gd name="connsiteY44" fmla="*/ 183093 h 359903"/>
              <a:gd name="connsiteX45" fmla="*/ 340955 w 372234"/>
              <a:gd name="connsiteY45" fmla="*/ 271277 h 359903"/>
              <a:gd name="connsiteX46" fmla="*/ 319338 w 372234"/>
              <a:gd name="connsiteY46" fmla="*/ 291247 h 359903"/>
              <a:gd name="connsiteX47" fmla="*/ 316399 w 372234"/>
              <a:gd name="connsiteY47" fmla="*/ 293298 h 359903"/>
              <a:gd name="connsiteX48" fmla="*/ 316399 w 372234"/>
              <a:gd name="connsiteY48" fmla="*/ 327333 h 359903"/>
              <a:gd name="connsiteX49" fmla="*/ 283829 w 372234"/>
              <a:gd name="connsiteY49" fmla="*/ 359904 h 359903"/>
              <a:gd name="connsiteX50" fmla="*/ 260564 w 372234"/>
              <a:gd name="connsiteY50" fmla="*/ 359904 h 359903"/>
              <a:gd name="connsiteX51" fmla="*/ 232646 w 372234"/>
              <a:gd name="connsiteY51" fmla="*/ 331986 h 359903"/>
              <a:gd name="connsiteX52" fmla="*/ 195423 w 372234"/>
              <a:gd name="connsiteY52" fmla="*/ 331986 h 359903"/>
              <a:gd name="connsiteX53" fmla="*/ 167505 w 372234"/>
              <a:gd name="connsiteY53" fmla="*/ 359904 h 359903"/>
              <a:gd name="connsiteX54" fmla="*/ 144241 w 372234"/>
              <a:gd name="connsiteY54" fmla="*/ 359904 h 359903"/>
              <a:gd name="connsiteX55" fmla="*/ 111670 w 372234"/>
              <a:gd name="connsiteY55" fmla="*/ 327333 h 359903"/>
              <a:gd name="connsiteX56" fmla="*/ 111670 w 372234"/>
              <a:gd name="connsiteY56" fmla="*/ 314629 h 359903"/>
              <a:gd name="connsiteX57" fmla="*/ 103029 w 372234"/>
              <a:gd name="connsiteY57" fmla="*/ 311366 h 359903"/>
              <a:gd name="connsiteX58" fmla="*/ 64576 w 372234"/>
              <a:gd name="connsiteY58" fmla="*/ 286021 h 359903"/>
              <a:gd name="connsiteX59" fmla="*/ 34713 w 372234"/>
              <a:gd name="connsiteY59" fmla="*/ 246359 h 359903"/>
              <a:gd name="connsiteX60" fmla="*/ 28591 w 372234"/>
              <a:gd name="connsiteY60" fmla="*/ 241557 h 359903"/>
              <a:gd name="connsiteX61" fmla="*/ 0 w 372234"/>
              <a:gd name="connsiteY61" fmla="*/ 207807 h 359903"/>
              <a:gd name="connsiteX62" fmla="*/ 0 w 372234"/>
              <a:gd name="connsiteY62" fmla="*/ 175183 h 359903"/>
              <a:gd name="connsiteX63" fmla="*/ 26810 w 372234"/>
              <a:gd name="connsiteY63" fmla="*/ 143533 h 359903"/>
              <a:gd name="connsiteX64" fmla="*/ 31947 w 372234"/>
              <a:gd name="connsiteY64" fmla="*/ 138257 h 359903"/>
              <a:gd name="connsiteX65" fmla="*/ 55271 w 372234"/>
              <a:gd name="connsiteY65" fmla="*/ 98775 h 359903"/>
              <a:gd name="connsiteX66" fmla="*/ 86133 w 372234"/>
              <a:gd name="connsiteY66" fmla="*/ 75587 h 359903"/>
              <a:gd name="connsiteX67" fmla="*/ 93059 w 372234"/>
              <a:gd name="connsiteY67" fmla="*/ 71846 h 359903"/>
              <a:gd name="connsiteX68" fmla="*/ 93059 w 372234"/>
              <a:gd name="connsiteY68" fmla="*/ 18772 h 359903"/>
              <a:gd name="connsiteX69" fmla="*/ 125440 w 372234"/>
              <a:gd name="connsiteY69" fmla="*/ 5442 h 359903"/>
              <a:gd name="connsiteX70" fmla="*/ 150403 w 372234"/>
              <a:gd name="connsiteY70" fmla="*/ 26554 h 359903"/>
              <a:gd name="connsiteX71" fmla="*/ 206032 w 372234"/>
              <a:gd name="connsiteY71" fmla="*/ 115122 h 359903"/>
              <a:gd name="connsiteX72" fmla="*/ 187381 w 372234"/>
              <a:gd name="connsiteY72" fmla="*/ 94473 h 359903"/>
              <a:gd name="connsiteX73" fmla="*/ 232068 w 372234"/>
              <a:gd name="connsiteY73" fmla="*/ 11950 h 359903"/>
              <a:gd name="connsiteX74" fmla="*/ 329342 w 372234"/>
              <a:gd name="connsiteY74" fmla="*/ 52232 h 359903"/>
              <a:gd name="connsiteX75" fmla="*/ 302602 w 372234"/>
              <a:gd name="connsiteY75" fmla="*/ 142188 h 359903"/>
              <a:gd name="connsiteX76" fmla="*/ 274813 w 372234"/>
              <a:gd name="connsiteY76" fmla="*/ 143606 h 359903"/>
              <a:gd name="connsiteX77" fmla="*/ 206032 w 372234"/>
              <a:gd name="connsiteY77" fmla="*/ 115122 h 359903"/>
              <a:gd name="connsiteX78" fmla="*/ 287813 w 372234"/>
              <a:gd name="connsiteY78" fmla="*/ 118463 h 359903"/>
              <a:gd name="connsiteX79" fmla="*/ 303550 w 372234"/>
              <a:gd name="connsiteY79" fmla="*/ 62918 h 359903"/>
              <a:gd name="connsiteX80" fmla="*/ 242754 w 372234"/>
              <a:gd name="connsiteY80" fmla="*/ 37742 h 359903"/>
              <a:gd name="connsiteX81" fmla="*/ 214613 w 372234"/>
              <a:gd name="connsiteY81" fmla="*/ 88150 h 359903"/>
              <a:gd name="connsiteX82" fmla="*/ 215012 w 372234"/>
              <a:gd name="connsiteY82" fmla="*/ 88437 h 359903"/>
              <a:gd name="connsiteX83" fmla="*/ 216713 w 372234"/>
              <a:gd name="connsiteY83" fmla="*/ 89329 h 359903"/>
              <a:gd name="connsiteX84" fmla="*/ 285494 w 372234"/>
              <a:gd name="connsiteY84" fmla="*/ 117813 h 359903"/>
              <a:gd name="connsiteX85" fmla="*/ 287329 w 372234"/>
              <a:gd name="connsiteY85" fmla="*/ 118385 h 359903"/>
              <a:gd name="connsiteX86" fmla="*/ 287813 w 372234"/>
              <a:gd name="connsiteY86" fmla="*/ 118463 h 359903"/>
              <a:gd name="connsiteX87" fmla="*/ 130282 w 372234"/>
              <a:gd name="connsiteY87" fmla="*/ 136562 h 359903"/>
              <a:gd name="connsiteX88" fmla="*/ 111670 w 372234"/>
              <a:gd name="connsiteY88" fmla="*/ 155173 h 359903"/>
              <a:gd name="connsiteX89" fmla="*/ 93059 w 372234"/>
              <a:gd name="connsiteY89" fmla="*/ 136562 h 359903"/>
              <a:gd name="connsiteX90" fmla="*/ 111670 w 372234"/>
              <a:gd name="connsiteY90" fmla="*/ 117950 h 359903"/>
              <a:gd name="connsiteX91" fmla="*/ 130282 w 372234"/>
              <a:gd name="connsiteY91" fmla="*/ 136562 h 359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372234" h="359903">
                <a:moveTo>
                  <a:pt x="150403" y="26554"/>
                </a:moveTo>
                <a:cubicBezTo>
                  <a:pt x="160267" y="33362"/>
                  <a:pt x="169696" y="37848"/>
                  <a:pt x="177466" y="38837"/>
                </a:cubicBezTo>
                <a:cubicBezTo>
                  <a:pt x="173230" y="47251"/>
                  <a:pt x="170275" y="56288"/>
                  <a:pt x="168732" y="65624"/>
                </a:cubicBezTo>
                <a:cubicBezTo>
                  <a:pt x="156199" y="62874"/>
                  <a:pt x="144307" y="56267"/>
                  <a:pt x="134547" y="49532"/>
                </a:cubicBezTo>
                <a:cubicBezTo>
                  <a:pt x="129722" y="46202"/>
                  <a:pt x="125154" y="42655"/>
                  <a:pt x="120976" y="39162"/>
                </a:cubicBezTo>
                <a:lnTo>
                  <a:pt x="120976" y="80727"/>
                </a:lnTo>
                <a:cubicBezTo>
                  <a:pt x="120976" y="86427"/>
                  <a:pt x="117511" y="91554"/>
                  <a:pt x="112224" y="93679"/>
                </a:cubicBezTo>
                <a:lnTo>
                  <a:pt x="112108" y="93727"/>
                </a:lnTo>
                <a:cubicBezTo>
                  <a:pt x="111993" y="93775"/>
                  <a:pt x="111795" y="93858"/>
                  <a:pt x="111522" y="93976"/>
                </a:cubicBezTo>
                <a:cubicBezTo>
                  <a:pt x="110975" y="94212"/>
                  <a:pt x="110128" y="94588"/>
                  <a:pt x="109035" y="95103"/>
                </a:cubicBezTo>
                <a:cubicBezTo>
                  <a:pt x="106844" y="96133"/>
                  <a:pt x="103688" y="97710"/>
                  <a:pt x="99984" y="99827"/>
                </a:cubicBezTo>
                <a:cubicBezTo>
                  <a:pt x="92502" y="104102"/>
                  <a:pt x="83155" y="110371"/>
                  <a:pt x="75011" y="118515"/>
                </a:cubicBezTo>
                <a:cubicBezTo>
                  <a:pt x="66571" y="126956"/>
                  <a:pt x="61367" y="138292"/>
                  <a:pt x="58428" y="147096"/>
                </a:cubicBezTo>
                <a:cubicBezTo>
                  <a:pt x="54659" y="158387"/>
                  <a:pt x="45062" y="168795"/>
                  <a:pt x="31400" y="171071"/>
                </a:cubicBezTo>
                <a:cubicBezTo>
                  <a:pt x="29390" y="171406"/>
                  <a:pt x="27918" y="173145"/>
                  <a:pt x="27918" y="175183"/>
                </a:cubicBezTo>
                <a:lnTo>
                  <a:pt x="27918" y="207807"/>
                </a:lnTo>
                <a:cubicBezTo>
                  <a:pt x="27918" y="210887"/>
                  <a:pt x="30144" y="213515"/>
                  <a:pt x="33181" y="214021"/>
                </a:cubicBezTo>
                <a:cubicBezTo>
                  <a:pt x="44793" y="215955"/>
                  <a:pt x="53941" y="223536"/>
                  <a:pt x="59085" y="232745"/>
                </a:cubicBezTo>
                <a:cubicBezTo>
                  <a:pt x="63764" y="241120"/>
                  <a:pt x="72081" y="254044"/>
                  <a:pt x="84317" y="266279"/>
                </a:cubicBezTo>
                <a:cubicBezTo>
                  <a:pt x="93825" y="275788"/>
                  <a:pt x="104897" y="281883"/>
                  <a:pt x="113807" y="285613"/>
                </a:cubicBezTo>
                <a:cubicBezTo>
                  <a:pt x="118223" y="287461"/>
                  <a:pt x="121996" y="288680"/>
                  <a:pt x="124606" y="289427"/>
                </a:cubicBezTo>
                <a:cubicBezTo>
                  <a:pt x="125908" y="289797"/>
                  <a:pt x="126910" y="290048"/>
                  <a:pt x="127546" y="290197"/>
                </a:cubicBezTo>
                <a:cubicBezTo>
                  <a:pt x="127864" y="290272"/>
                  <a:pt x="128089" y="290322"/>
                  <a:pt x="128214" y="290348"/>
                </a:cubicBezTo>
                <a:lnTo>
                  <a:pt x="128304" y="290369"/>
                </a:lnTo>
                <a:lnTo>
                  <a:pt x="128324" y="290372"/>
                </a:lnTo>
                <a:cubicBezTo>
                  <a:pt x="134866" y="291658"/>
                  <a:pt x="139588" y="297396"/>
                  <a:pt x="139588" y="304069"/>
                </a:cubicBezTo>
                <a:lnTo>
                  <a:pt x="139588" y="327333"/>
                </a:lnTo>
                <a:cubicBezTo>
                  <a:pt x="139588" y="329902"/>
                  <a:pt x="141671" y="331986"/>
                  <a:pt x="144241" y="331986"/>
                </a:cubicBezTo>
                <a:lnTo>
                  <a:pt x="167505" y="331986"/>
                </a:lnTo>
                <a:cubicBezTo>
                  <a:pt x="167505" y="316566"/>
                  <a:pt x="180005" y="304069"/>
                  <a:pt x="195423" y="304069"/>
                </a:cubicBezTo>
                <a:lnTo>
                  <a:pt x="232646" y="304069"/>
                </a:lnTo>
                <a:cubicBezTo>
                  <a:pt x="248064" y="304069"/>
                  <a:pt x="260564" y="316566"/>
                  <a:pt x="260564" y="331986"/>
                </a:cubicBezTo>
                <a:lnTo>
                  <a:pt x="283829" y="331986"/>
                </a:lnTo>
                <a:cubicBezTo>
                  <a:pt x="286399" y="331986"/>
                  <a:pt x="288481" y="329902"/>
                  <a:pt x="288481" y="327333"/>
                </a:cubicBezTo>
                <a:lnTo>
                  <a:pt x="288481" y="285457"/>
                </a:lnTo>
                <a:cubicBezTo>
                  <a:pt x="288481" y="280194"/>
                  <a:pt x="291454" y="275373"/>
                  <a:pt x="296146" y="272996"/>
                </a:cubicBezTo>
                <a:lnTo>
                  <a:pt x="296393" y="272864"/>
                </a:lnTo>
                <a:cubicBezTo>
                  <a:pt x="296652" y="272723"/>
                  <a:pt x="297097" y="272475"/>
                  <a:pt x="297700" y="272116"/>
                </a:cubicBezTo>
                <a:cubicBezTo>
                  <a:pt x="298908" y="271398"/>
                  <a:pt x="300739" y="270242"/>
                  <a:pt x="302991" y="268615"/>
                </a:cubicBezTo>
                <a:cubicBezTo>
                  <a:pt x="307508" y="265353"/>
                  <a:pt x="313626" y="260264"/>
                  <a:pt x="319760" y="253108"/>
                </a:cubicBezTo>
                <a:cubicBezTo>
                  <a:pt x="331901" y="238944"/>
                  <a:pt x="344317" y="216482"/>
                  <a:pt x="344317" y="183093"/>
                </a:cubicBezTo>
                <a:cubicBezTo>
                  <a:pt x="344317" y="164358"/>
                  <a:pt x="340814" y="149212"/>
                  <a:pt x="334849" y="136794"/>
                </a:cubicBezTo>
                <a:cubicBezTo>
                  <a:pt x="341510" y="127954"/>
                  <a:pt x="346531" y="118006"/>
                  <a:pt x="349703" y="107463"/>
                </a:cubicBezTo>
                <a:cubicBezTo>
                  <a:pt x="351549" y="109992"/>
                  <a:pt x="353300" y="112617"/>
                  <a:pt x="354949" y="115343"/>
                </a:cubicBezTo>
                <a:cubicBezTo>
                  <a:pt x="366195" y="133921"/>
                  <a:pt x="372234" y="156346"/>
                  <a:pt x="372234" y="183093"/>
                </a:cubicBezTo>
                <a:cubicBezTo>
                  <a:pt x="372234" y="224148"/>
                  <a:pt x="356733" y="252870"/>
                  <a:pt x="340955" y="271277"/>
                </a:cubicBezTo>
                <a:cubicBezTo>
                  <a:pt x="333131" y="280406"/>
                  <a:pt x="325290" y="286948"/>
                  <a:pt x="319338" y="291247"/>
                </a:cubicBezTo>
                <a:cubicBezTo>
                  <a:pt x="318299" y="291997"/>
                  <a:pt x="317317" y="292680"/>
                  <a:pt x="316399" y="293298"/>
                </a:cubicBezTo>
                <a:lnTo>
                  <a:pt x="316399" y="327333"/>
                </a:lnTo>
                <a:cubicBezTo>
                  <a:pt x="316399" y="345321"/>
                  <a:pt x="301817" y="359904"/>
                  <a:pt x="283829" y="359904"/>
                </a:cubicBezTo>
                <a:lnTo>
                  <a:pt x="260564" y="359904"/>
                </a:lnTo>
                <a:cubicBezTo>
                  <a:pt x="245146" y="359904"/>
                  <a:pt x="232646" y="347404"/>
                  <a:pt x="232646" y="331986"/>
                </a:cubicBezTo>
                <a:lnTo>
                  <a:pt x="195423" y="331986"/>
                </a:lnTo>
                <a:cubicBezTo>
                  <a:pt x="195423" y="347404"/>
                  <a:pt x="182923" y="359904"/>
                  <a:pt x="167505" y="359904"/>
                </a:cubicBezTo>
                <a:lnTo>
                  <a:pt x="144241" y="359904"/>
                </a:lnTo>
                <a:cubicBezTo>
                  <a:pt x="126253" y="359904"/>
                  <a:pt x="111670" y="345321"/>
                  <a:pt x="111670" y="327333"/>
                </a:cubicBezTo>
                <a:lnTo>
                  <a:pt x="111670" y="314629"/>
                </a:lnTo>
                <a:cubicBezTo>
                  <a:pt x="109101" y="313762"/>
                  <a:pt x="106185" y="312688"/>
                  <a:pt x="103029" y="311366"/>
                </a:cubicBezTo>
                <a:cubicBezTo>
                  <a:pt x="91935" y="306723"/>
                  <a:pt x="77416" y="298861"/>
                  <a:pt x="64576" y="286021"/>
                </a:cubicBezTo>
                <a:cubicBezTo>
                  <a:pt x="49984" y="271429"/>
                  <a:pt x="40211" y="256203"/>
                  <a:pt x="34713" y="246359"/>
                </a:cubicBezTo>
                <a:cubicBezTo>
                  <a:pt x="33090" y="243456"/>
                  <a:pt x="30666" y="241904"/>
                  <a:pt x="28591" y="241557"/>
                </a:cubicBezTo>
                <a:cubicBezTo>
                  <a:pt x="12093" y="238809"/>
                  <a:pt x="0" y="224533"/>
                  <a:pt x="0" y="207807"/>
                </a:cubicBezTo>
                <a:lnTo>
                  <a:pt x="0" y="175183"/>
                </a:lnTo>
                <a:cubicBezTo>
                  <a:pt x="0" y="159498"/>
                  <a:pt x="11339" y="146113"/>
                  <a:pt x="26810" y="143533"/>
                </a:cubicBezTo>
                <a:cubicBezTo>
                  <a:pt x="28428" y="143263"/>
                  <a:pt x="30812" y="141657"/>
                  <a:pt x="31947" y="138257"/>
                </a:cubicBezTo>
                <a:cubicBezTo>
                  <a:pt x="35527" y="127532"/>
                  <a:pt x="42474" y="111572"/>
                  <a:pt x="55271" y="98775"/>
                </a:cubicBezTo>
                <a:cubicBezTo>
                  <a:pt x="65738" y="88307"/>
                  <a:pt x="77329" y="80618"/>
                  <a:pt x="86133" y="75587"/>
                </a:cubicBezTo>
                <a:cubicBezTo>
                  <a:pt x="88671" y="74137"/>
                  <a:pt x="91008" y="72890"/>
                  <a:pt x="93059" y="71846"/>
                </a:cubicBezTo>
                <a:lnTo>
                  <a:pt x="93059" y="18772"/>
                </a:lnTo>
                <a:cubicBezTo>
                  <a:pt x="93059" y="1316"/>
                  <a:pt x="114101" y="-5849"/>
                  <a:pt x="125440" y="5442"/>
                </a:cubicBezTo>
                <a:cubicBezTo>
                  <a:pt x="131591" y="11566"/>
                  <a:pt x="140520" y="19734"/>
                  <a:pt x="150403" y="26554"/>
                </a:cubicBezTo>
                <a:close/>
                <a:moveTo>
                  <a:pt x="206032" y="115122"/>
                </a:moveTo>
                <a:cubicBezTo>
                  <a:pt x="196910" y="111345"/>
                  <a:pt x="189214" y="104174"/>
                  <a:pt x="187381" y="94473"/>
                </a:cubicBezTo>
                <a:cubicBezTo>
                  <a:pt x="180978" y="60572"/>
                  <a:pt x="198933" y="25679"/>
                  <a:pt x="232068" y="11950"/>
                </a:cubicBezTo>
                <a:cubicBezTo>
                  <a:pt x="270052" y="-3787"/>
                  <a:pt x="313604" y="14248"/>
                  <a:pt x="329342" y="52232"/>
                </a:cubicBezTo>
                <a:cubicBezTo>
                  <a:pt x="343070" y="85368"/>
                  <a:pt x="331099" y="122739"/>
                  <a:pt x="302602" y="142188"/>
                </a:cubicBezTo>
                <a:cubicBezTo>
                  <a:pt x="294448" y="147753"/>
                  <a:pt x="283935" y="147384"/>
                  <a:pt x="274813" y="143606"/>
                </a:cubicBezTo>
                <a:lnTo>
                  <a:pt x="206032" y="115122"/>
                </a:lnTo>
                <a:close/>
                <a:moveTo>
                  <a:pt x="287813" y="118463"/>
                </a:moveTo>
                <a:cubicBezTo>
                  <a:pt x="304929" y="106140"/>
                  <a:pt x="311964" y="83226"/>
                  <a:pt x="303550" y="62918"/>
                </a:cubicBezTo>
                <a:cubicBezTo>
                  <a:pt x="293713" y="39178"/>
                  <a:pt x="266494" y="27906"/>
                  <a:pt x="242754" y="37742"/>
                </a:cubicBezTo>
                <a:cubicBezTo>
                  <a:pt x="222447" y="46156"/>
                  <a:pt x="211222" y="67335"/>
                  <a:pt x="214613" y="88150"/>
                </a:cubicBezTo>
                <a:cubicBezTo>
                  <a:pt x="214721" y="88235"/>
                  <a:pt x="214854" y="88332"/>
                  <a:pt x="215012" y="88437"/>
                </a:cubicBezTo>
                <a:cubicBezTo>
                  <a:pt x="215451" y="88730"/>
                  <a:pt x="216022" y="89043"/>
                  <a:pt x="216713" y="89329"/>
                </a:cubicBezTo>
                <a:lnTo>
                  <a:pt x="285494" y="117813"/>
                </a:lnTo>
                <a:cubicBezTo>
                  <a:pt x="286187" y="118099"/>
                  <a:pt x="286812" y="118281"/>
                  <a:pt x="287329" y="118385"/>
                </a:cubicBezTo>
                <a:cubicBezTo>
                  <a:pt x="287516" y="118422"/>
                  <a:pt x="287677" y="118447"/>
                  <a:pt x="287813" y="118463"/>
                </a:cubicBezTo>
                <a:close/>
                <a:moveTo>
                  <a:pt x="130282" y="136562"/>
                </a:moveTo>
                <a:cubicBezTo>
                  <a:pt x="130282" y="146841"/>
                  <a:pt x="121949" y="155173"/>
                  <a:pt x="111670" y="155173"/>
                </a:cubicBezTo>
                <a:cubicBezTo>
                  <a:pt x="101391" y="155173"/>
                  <a:pt x="93059" y="146841"/>
                  <a:pt x="93059" y="136562"/>
                </a:cubicBezTo>
                <a:cubicBezTo>
                  <a:pt x="93059" y="126283"/>
                  <a:pt x="101391" y="117950"/>
                  <a:pt x="111670" y="117950"/>
                </a:cubicBezTo>
                <a:cubicBezTo>
                  <a:pt x="121949" y="117950"/>
                  <a:pt x="130282" y="126283"/>
                  <a:pt x="130282" y="136562"/>
                </a:cubicBez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89" name="Graphic 47" descr="Icon of a piggy bank ">
            <a:extLst>
              <a:ext uri="{FF2B5EF4-FFF2-40B4-BE49-F238E27FC236}">
                <a16:creationId xmlns:a16="http://schemas.microsoft.com/office/drawing/2014/main" id="{C79E9301-BD1E-D2F7-C36B-317F1A8F8A30}"/>
              </a:ext>
            </a:extLst>
          </p:cNvPr>
          <p:cNvSpPr>
            <a:spLocks noChangeAspect="1"/>
          </p:cNvSpPr>
          <p:nvPr/>
        </p:nvSpPr>
        <p:spPr>
          <a:xfrm>
            <a:off x="5951548" y="5780340"/>
            <a:ext cx="200060" cy="193432"/>
          </a:xfrm>
          <a:custGeom>
            <a:avLst/>
            <a:gdLst>
              <a:gd name="connsiteX0" fmla="*/ 150403 w 372234"/>
              <a:gd name="connsiteY0" fmla="*/ 26554 h 359903"/>
              <a:gd name="connsiteX1" fmla="*/ 177466 w 372234"/>
              <a:gd name="connsiteY1" fmla="*/ 38837 h 359903"/>
              <a:gd name="connsiteX2" fmla="*/ 168732 w 372234"/>
              <a:gd name="connsiteY2" fmla="*/ 65624 h 359903"/>
              <a:gd name="connsiteX3" fmla="*/ 134547 w 372234"/>
              <a:gd name="connsiteY3" fmla="*/ 49532 h 359903"/>
              <a:gd name="connsiteX4" fmla="*/ 120976 w 372234"/>
              <a:gd name="connsiteY4" fmla="*/ 39162 h 359903"/>
              <a:gd name="connsiteX5" fmla="*/ 120976 w 372234"/>
              <a:gd name="connsiteY5" fmla="*/ 80727 h 359903"/>
              <a:gd name="connsiteX6" fmla="*/ 112224 w 372234"/>
              <a:gd name="connsiteY6" fmla="*/ 93679 h 359903"/>
              <a:gd name="connsiteX7" fmla="*/ 112108 w 372234"/>
              <a:gd name="connsiteY7" fmla="*/ 93727 h 359903"/>
              <a:gd name="connsiteX8" fmla="*/ 111522 w 372234"/>
              <a:gd name="connsiteY8" fmla="*/ 93976 h 359903"/>
              <a:gd name="connsiteX9" fmla="*/ 109035 w 372234"/>
              <a:gd name="connsiteY9" fmla="*/ 95103 h 359903"/>
              <a:gd name="connsiteX10" fmla="*/ 99984 w 372234"/>
              <a:gd name="connsiteY10" fmla="*/ 99827 h 359903"/>
              <a:gd name="connsiteX11" fmla="*/ 75011 w 372234"/>
              <a:gd name="connsiteY11" fmla="*/ 118515 h 359903"/>
              <a:gd name="connsiteX12" fmla="*/ 58428 w 372234"/>
              <a:gd name="connsiteY12" fmla="*/ 147096 h 359903"/>
              <a:gd name="connsiteX13" fmla="*/ 31400 w 372234"/>
              <a:gd name="connsiteY13" fmla="*/ 171071 h 359903"/>
              <a:gd name="connsiteX14" fmla="*/ 27918 w 372234"/>
              <a:gd name="connsiteY14" fmla="*/ 175183 h 359903"/>
              <a:gd name="connsiteX15" fmla="*/ 27918 w 372234"/>
              <a:gd name="connsiteY15" fmla="*/ 207807 h 359903"/>
              <a:gd name="connsiteX16" fmla="*/ 33181 w 372234"/>
              <a:gd name="connsiteY16" fmla="*/ 214021 h 359903"/>
              <a:gd name="connsiteX17" fmla="*/ 59085 w 372234"/>
              <a:gd name="connsiteY17" fmla="*/ 232745 h 359903"/>
              <a:gd name="connsiteX18" fmla="*/ 84317 w 372234"/>
              <a:gd name="connsiteY18" fmla="*/ 266279 h 359903"/>
              <a:gd name="connsiteX19" fmla="*/ 113807 w 372234"/>
              <a:gd name="connsiteY19" fmla="*/ 285613 h 359903"/>
              <a:gd name="connsiteX20" fmla="*/ 124606 w 372234"/>
              <a:gd name="connsiteY20" fmla="*/ 289427 h 359903"/>
              <a:gd name="connsiteX21" fmla="*/ 127546 w 372234"/>
              <a:gd name="connsiteY21" fmla="*/ 290197 h 359903"/>
              <a:gd name="connsiteX22" fmla="*/ 128214 w 372234"/>
              <a:gd name="connsiteY22" fmla="*/ 290348 h 359903"/>
              <a:gd name="connsiteX23" fmla="*/ 128304 w 372234"/>
              <a:gd name="connsiteY23" fmla="*/ 290369 h 359903"/>
              <a:gd name="connsiteX24" fmla="*/ 128324 w 372234"/>
              <a:gd name="connsiteY24" fmla="*/ 290372 h 359903"/>
              <a:gd name="connsiteX25" fmla="*/ 139588 w 372234"/>
              <a:gd name="connsiteY25" fmla="*/ 304069 h 359903"/>
              <a:gd name="connsiteX26" fmla="*/ 139588 w 372234"/>
              <a:gd name="connsiteY26" fmla="*/ 327333 h 359903"/>
              <a:gd name="connsiteX27" fmla="*/ 144241 w 372234"/>
              <a:gd name="connsiteY27" fmla="*/ 331986 h 359903"/>
              <a:gd name="connsiteX28" fmla="*/ 167505 w 372234"/>
              <a:gd name="connsiteY28" fmla="*/ 331986 h 359903"/>
              <a:gd name="connsiteX29" fmla="*/ 195423 w 372234"/>
              <a:gd name="connsiteY29" fmla="*/ 304069 h 359903"/>
              <a:gd name="connsiteX30" fmla="*/ 232646 w 372234"/>
              <a:gd name="connsiteY30" fmla="*/ 304069 h 359903"/>
              <a:gd name="connsiteX31" fmla="*/ 260564 w 372234"/>
              <a:gd name="connsiteY31" fmla="*/ 331986 h 359903"/>
              <a:gd name="connsiteX32" fmla="*/ 283829 w 372234"/>
              <a:gd name="connsiteY32" fmla="*/ 331986 h 359903"/>
              <a:gd name="connsiteX33" fmla="*/ 288481 w 372234"/>
              <a:gd name="connsiteY33" fmla="*/ 327333 h 359903"/>
              <a:gd name="connsiteX34" fmla="*/ 288481 w 372234"/>
              <a:gd name="connsiteY34" fmla="*/ 285457 h 359903"/>
              <a:gd name="connsiteX35" fmla="*/ 296146 w 372234"/>
              <a:gd name="connsiteY35" fmla="*/ 272996 h 359903"/>
              <a:gd name="connsiteX36" fmla="*/ 296393 w 372234"/>
              <a:gd name="connsiteY36" fmla="*/ 272864 h 359903"/>
              <a:gd name="connsiteX37" fmla="*/ 297700 w 372234"/>
              <a:gd name="connsiteY37" fmla="*/ 272116 h 359903"/>
              <a:gd name="connsiteX38" fmla="*/ 302991 w 372234"/>
              <a:gd name="connsiteY38" fmla="*/ 268615 h 359903"/>
              <a:gd name="connsiteX39" fmla="*/ 319760 w 372234"/>
              <a:gd name="connsiteY39" fmla="*/ 253108 h 359903"/>
              <a:gd name="connsiteX40" fmla="*/ 344317 w 372234"/>
              <a:gd name="connsiteY40" fmla="*/ 183093 h 359903"/>
              <a:gd name="connsiteX41" fmla="*/ 334849 w 372234"/>
              <a:gd name="connsiteY41" fmla="*/ 136794 h 359903"/>
              <a:gd name="connsiteX42" fmla="*/ 349703 w 372234"/>
              <a:gd name="connsiteY42" fmla="*/ 107463 h 359903"/>
              <a:gd name="connsiteX43" fmla="*/ 354949 w 372234"/>
              <a:gd name="connsiteY43" fmla="*/ 115343 h 359903"/>
              <a:gd name="connsiteX44" fmla="*/ 372234 w 372234"/>
              <a:gd name="connsiteY44" fmla="*/ 183093 h 359903"/>
              <a:gd name="connsiteX45" fmla="*/ 340955 w 372234"/>
              <a:gd name="connsiteY45" fmla="*/ 271277 h 359903"/>
              <a:gd name="connsiteX46" fmla="*/ 319338 w 372234"/>
              <a:gd name="connsiteY46" fmla="*/ 291247 h 359903"/>
              <a:gd name="connsiteX47" fmla="*/ 316399 w 372234"/>
              <a:gd name="connsiteY47" fmla="*/ 293298 h 359903"/>
              <a:gd name="connsiteX48" fmla="*/ 316399 w 372234"/>
              <a:gd name="connsiteY48" fmla="*/ 327333 h 359903"/>
              <a:gd name="connsiteX49" fmla="*/ 283829 w 372234"/>
              <a:gd name="connsiteY49" fmla="*/ 359904 h 359903"/>
              <a:gd name="connsiteX50" fmla="*/ 260564 w 372234"/>
              <a:gd name="connsiteY50" fmla="*/ 359904 h 359903"/>
              <a:gd name="connsiteX51" fmla="*/ 232646 w 372234"/>
              <a:gd name="connsiteY51" fmla="*/ 331986 h 359903"/>
              <a:gd name="connsiteX52" fmla="*/ 195423 w 372234"/>
              <a:gd name="connsiteY52" fmla="*/ 331986 h 359903"/>
              <a:gd name="connsiteX53" fmla="*/ 167505 w 372234"/>
              <a:gd name="connsiteY53" fmla="*/ 359904 h 359903"/>
              <a:gd name="connsiteX54" fmla="*/ 144241 w 372234"/>
              <a:gd name="connsiteY54" fmla="*/ 359904 h 359903"/>
              <a:gd name="connsiteX55" fmla="*/ 111670 w 372234"/>
              <a:gd name="connsiteY55" fmla="*/ 327333 h 359903"/>
              <a:gd name="connsiteX56" fmla="*/ 111670 w 372234"/>
              <a:gd name="connsiteY56" fmla="*/ 314629 h 359903"/>
              <a:gd name="connsiteX57" fmla="*/ 103029 w 372234"/>
              <a:gd name="connsiteY57" fmla="*/ 311366 h 359903"/>
              <a:gd name="connsiteX58" fmla="*/ 64576 w 372234"/>
              <a:gd name="connsiteY58" fmla="*/ 286021 h 359903"/>
              <a:gd name="connsiteX59" fmla="*/ 34713 w 372234"/>
              <a:gd name="connsiteY59" fmla="*/ 246359 h 359903"/>
              <a:gd name="connsiteX60" fmla="*/ 28591 w 372234"/>
              <a:gd name="connsiteY60" fmla="*/ 241557 h 359903"/>
              <a:gd name="connsiteX61" fmla="*/ 0 w 372234"/>
              <a:gd name="connsiteY61" fmla="*/ 207807 h 359903"/>
              <a:gd name="connsiteX62" fmla="*/ 0 w 372234"/>
              <a:gd name="connsiteY62" fmla="*/ 175183 h 359903"/>
              <a:gd name="connsiteX63" fmla="*/ 26810 w 372234"/>
              <a:gd name="connsiteY63" fmla="*/ 143533 h 359903"/>
              <a:gd name="connsiteX64" fmla="*/ 31947 w 372234"/>
              <a:gd name="connsiteY64" fmla="*/ 138257 h 359903"/>
              <a:gd name="connsiteX65" fmla="*/ 55271 w 372234"/>
              <a:gd name="connsiteY65" fmla="*/ 98775 h 359903"/>
              <a:gd name="connsiteX66" fmla="*/ 86133 w 372234"/>
              <a:gd name="connsiteY66" fmla="*/ 75587 h 359903"/>
              <a:gd name="connsiteX67" fmla="*/ 93059 w 372234"/>
              <a:gd name="connsiteY67" fmla="*/ 71846 h 359903"/>
              <a:gd name="connsiteX68" fmla="*/ 93059 w 372234"/>
              <a:gd name="connsiteY68" fmla="*/ 18772 h 359903"/>
              <a:gd name="connsiteX69" fmla="*/ 125440 w 372234"/>
              <a:gd name="connsiteY69" fmla="*/ 5442 h 359903"/>
              <a:gd name="connsiteX70" fmla="*/ 150403 w 372234"/>
              <a:gd name="connsiteY70" fmla="*/ 26554 h 359903"/>
              <a:gd name="connsiteX71" fmla="*/ 206032 w 372234"/>
              <a:gd name="connsiteY71" fmla="*/ 115122 h 359903"/>
              <a:gd name="connsiteX72" fmla="*/ 187381 w 372234"/>
              <a:gd name="connsiteY72" fmla="*/ 94473 h 359903"/>
              <a:gd name="connsiteX73" fmla="*/ 232068 w 372234"/>
              <a:gd name="connsiteY73" fmla="*/ 11950 h 359903"/>
              <a:gd name="connsiteX74" fmla="*/ 329342 w 372234"/>
              <a:gd name="connsiteY74" fmla="*/ 52232 h 359903"/>
              <a:gd name="connsiteX75" fmla="*/ 302602 w 372234"/>
              <a:gd name="connsiteY75" fmla="*/ 142188 h 359903"/>
              <a:gd name="connsiteX76" fmla="*/ 274813 w 372234"/>
              <a:gd name="connsiteY76" fmla="*/ 143606 h 359903"/>
              <a:gd name="connsiteX77" fmla="*/ 206032 w 372234"/>
              <a:gd name="connsiteY77" fmla="*/ 115122 h 359903"/>
              <a:gd name="connsiteX78" fmla="*/ 287813 w 372234"/>
              <a:gd name="connsiteY78" fmla="*/ 118463 h 359903"/>
              <a:gd name="connsiteX79" fmla="*/ 303550 w 372234"/>
              <a:gd name="connsiteY79" fmla="*/ 62918 h 359903"/>
              <a:gd name="connsiteX80" fmla="*/ 242754 w 372234"/>
              <a:gd name="connsiteY80" fmla="*/ 37742 h 359903"/>
              <a:gd name="connsiteX81" fmla="*/ 214613 w 372234"/>
              <a:gd name="connsiteY81" fmla="*/ 88150 h 359903"/>
              <a:gd name="connsiteX82" fmla="*/ 215012 w 372234"/>
              <a:gd name="connsiteY82" fmla="*/ 88437 h 359903"/>
              <a:gd name="connsiteX83" fmla="*/ 216713 w 372234"/>
              <a:gd name="connsiteY83" fmla="*/ 89329 h 359903"/>
              <a:gd name="connsiteX84" fmla="*/ 285494 w 372234"/>
              <a:gd name="connsiteY84" fmla="*/ 117813 h 359903"/>
              <a:gd name="connsiteX85" fmla="*/ 287329 w 372234"/>
              <a:gd name="connsiteY85" fmla="*/ 118385 h 359903"/>
              <a:gd name="connsiteX86" fmla="*/ 287813 w 372234"/>
              <a:gd name="connsiteY86" fmla="*/ 118463 h 359903"/>
              <a:gd name="connsiteX87" fmla="*/ 130282 w 372234"/>
              <a:gd name="connsiteY87" fmla="*/ 136562 h 359903"/>
              <a:gd name="connsiteX88" fmla="*/ 111670 w 372234"/>
              <a:gd name="connsiteY88" fmla="*/ 155173 h 359903"/>
              <a:gd name="connsiteX89" fmla="*/ 93059 w 372234"/>
              <a:gd name="connsiteY89" fmla="*/ 136562 h 359903"/>
              <a:gd name="connsiteX90" fmla="*/ 111670 w 372234"/>
              <a:gd name="connsiteY90" fmla="*/ 117950 h 359903"/>
              <a:gd name="connsiteX91" fmla="*/ 130282 w 372234"/>
              <a:gd name="connsiteY91" fmla="*/ 136562 h 359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372234" h="359903">
                <a:moveTo>
                  <a:pt x="150403" y="26554"/>
                </a:moveTo>
                <a:cubicBezTo>
                  <a:pt x="160267" y="33362"/>
                  <a:pt x="169696" y="37848"/>
                  <a:pt x="177466" y="38837"/>
                </a:cubicBezTo>
                <a:cubicBezTo>
                  <a:pt x="173230" y="47251"/>
                  <a:pt x="170275" y="56288"/>
                  <a:pt x="168732" y="65624"/>
                </a:cubicBezTo>
                <a:cubicBezTo>
                  <a:pt x="156199" y="62874"/>
                  <a:pt x="144307" y="56267"/>
                  <a:pt x="134547" y="49532"/>
                </a:cubicBezTo>
                <a:cubicBezTo>
                  <a:pt x="129722" y="46202"/>
                  <a:pt x="125154" y="42655"/>
                  <a:pt x="120976" y="39162"/>
                </a:cubicBezTo>
                <a:lnTo>
                  <a:pt x="120976" y="80727"/>
                </a:lnTo>
                <a:cubicBezTo>
                  <a:pt x="120976" y="86427"/>
                  <a:pt x="117511" y="91554"/>
                  <a:pt x="112224" y="93679"/>
                </a:cubicBezTo>
                <a:lnTo>
                  <a:pt x="112108" y="93727"/>
                </a:lnTo>
                <a:cubicBezTo>
                  <a:pt x="111993" y="93775"/>
                  <a:pt x="111795" y="93858"/>
                  <a:pt x="111522" y="93976"/>
                </a:cubicBezTo>
                <a:cubicBezTo>
                  <a:pt x="110975" y="94212"/>
                  <a:pt x="110128" y="94588"/>
                  <a:pt x="109035" y="95103"/>
                </a:cubicBezTo>
                <a:cubicBezTo>
                  <a:pt x="106844" y="96133"/>
                  <a:pt x="103688" y="97710"/>
                  <a:pt x="99984" y="99827"/>
                </a:cubicBezTo>
                <a:cubicBezTo>
                  <a:pt x="92502" y="104102"/>
                  <a:pt x="83155" y="110371"/>
                  <a:pt x="75011" y="118515"/>
                </a:cubicBezTo>
                <a:cubicBezTo>
                  <a:pt x="66571" y="126956"/>
                  <a:pt x="61367" y="138292"/>
                  <a:pt x="58428" y="147096"/>
                </a:cubicBezTo>
                <a:cubicBezTo>
                  <a:pt x="54659" y="158387"/>
                  <a:pt x="45062" y="168795"/>
                  <a:pt x="31400" y="171071"/>
                </a:cubicBezTo>
                <a:cubicBezTo>
                  <a:pt x="29390" y="171406"/>
                  <a:pt x="27918" y="173145"/>
                  <a:pt x="27918" y="175183"/>
                </a:cubicBezTo>
                <a:lnTo>
                  <a:pt x="27918" y="207807"/>
                </a:lnTo>
                <a:cubicBezTo>
                  <a:pt x="27918" y="210887"/>
                  <a:pt x="30144" y="213515"/>
                  <a:pt x="33181" y="214021"/>
                </a:cubicBezTo>
                <a:cubicBezTo>
                  <a:pt x="44793" y="215955"/>
                  <a:pt x="53941" y="223536"/>
                  <a:pt x="59085" y="232745"/>
                </a:cubicBezTo>
                <a:cubicBezTo>
                  <a:pt x="63764" y="241120"/>
                  <a:pt x="72081" y="254044"/>
                  <a:pt x="84317" y="266279"/>
                </a:cubicBezTo>
                <a:cubicBezTo>
                  <a:pt x="93825" y="275788"/>
                  <a:pt x="104897" y="281883"/>
                  <a:pt x="113807" y="285613"/>
                </a:cubicBezTo>
                <a:cubicBezTo>
                  <a:pt x="118223" y="287461"/>
                  <a:pt x="121996" y="288680"/>
                  <a:pt x="124606" y="289427"/>
                </a:cubicBezTo>
                <a:cubicBezTo>
                  <a:pt x="125908" y="289797"/>
                  <a:pt x="126910" y="290048"/>
                  <a:pt x="127546" y="290197"/>
                </a:cubicBezTo>
                <a:cubicBezTo>
                  <a:pt x="127864" y="290272"/>
                  <a:pt x="128089" y="290322"/>
                  <a:pt x="128214" y="290348"/>
                </a:cubicBezTo>
                <a:lnTo>
                  <a:pt x="128304" y="290369"/>
                </a:lnTo>
                <a:lnTo>
                  <a:pt x="128324" y="290372"/>
                </a:lnTo>
                <a:cubicBezTo>
                  <a:pt x="134866" y="291658"/>
                  <a:pt x="139588" y="297396"/>
                  <a:pt x="139588" y="304069"/>
                </a:cubicBezTo>
                <a:lnTo>
                  <a:pt x="139588" y="327333"/>
                </a:lnTo>
                <a:cubicBezTo>
                  <a:pt x="139588" y="329902"/>
                  <a:pt x="141671" y="331986"/>
                  <a:pt x="144241" y="331986"/>
                </a:cubicBezTo>
                <a:lnTo>
                  <a:pt x="167505" y="331986"/>
                </a:lnTo>
                <a:cubicBezTo>
                  <a:pt x="167505" y="316566"/>
                  <a:pt x="180005" y="304069"/>
                  <a:pt x="195423" y="304069"/>
                </a:cubicBezTo>
                <a:lnTo>
                  <a:pt x="232646" y="304069"/>
                </a:lnTo>
                <a:cubicBezTo>
                  <a:pt x="248064" y="304069"/>
                  <a:pt x="260564" y="316566"/>
                  <a:pt x="260564" y="331986"/>
                </a:cubicBezTo>
                <a:lnTo>
                  <a:pt x="283829" y="331986"/>
                </a:lnTo>
                <a:cubicBezTo>
                  <a:pt x="286399" y="331986"/>
                  <a:pt x="288481" y="329902"/>
                  <a:pt x="288481" y="327333"/>
                </a:cubicBezTo>
                <a:lnTo>
                  <a:pt x="288481" y="285457"/>
                </a:lnTo>
                <a:cubicBezTo>
                  <a:pt x="288481" y="280194"/>
                  <a:pt x="291454" y="275373"/>
                  <a:pt x="296146" y="272996"/>
                </a:cubicBezTo>
                <a:lnTo>
                  <a:pt x="296393" y="272864"/>
                </a:lnTo>
                <a:cubicBezTo>
                  <a:pt x="296652" y="272723"/>
                  <a:pt x="297097" y="272475"/>
                  <a:pt x="297700" y="272116"/>
                </a:cubicBezTo>
                <a:cubicBezTo>
                  <a:pt x="298908" y="271398"/>
                  <a:pt x="300739" y="270242"/>
                  <a:pt x="302991" y="268615"/>
                </a:cubicBezTo>
                <a:cubicBezTo>
                  <a:pt x="307508" y="265353"/>
                  <a:pt x="313626" y="260264"/>
                  <a:pt x="319760" y="253108"/>
                </a:cubicBezTo>
                <a:cubicBezTo>
                  <a:pt x="331901" y="238944"/>
                  <a:pt x="344317" y="216482"/>
                  <a:pt x="344317" y="183093"/>
                </a:cubicBezTo>
                <a:cubicBezTo>
                  <a:pt x="344317" y="164358"/>
                  <a:pt x="340814" y="149212"/>
                  <a:pt x="334849" y="136794"/>
                </a:cubicBezTo>
                <a:cubicBezTo>
                  <a:pt x="341510" y="127954"/>
                  <a:pt x="346531" y="118006"/>
                  <a:pt x="349703" y="107463"/>
                </a:cubicBezTo>
                <a:cubicBezTo>
                  <a:pt x="351549" y="109992"/>
                  <a:pt x="353300" y="112617"/>
                  <a:pt x="354949" y="115343"/>
                </a:cubicBezTo>
                <a:cubicBezTo>
                  <a:pt x="366195" y="133921"/>
                  <a:pt x="372234" y="156346"/>
                  <a:pt x="372234" y="183093"/>
                </a:cubicBezTo>
                <a:cubicBezTo>
                  <a:pt x="372234" y="224148"/>
                  <a:pt x="356733" y="252870"/>
                  <a:pt x="340955" y="271277"/>
                </a:cubicBezTo>
                <a:cubicBezTo>
                  <a:pt x="333131" y="280406"/>
                  <a:pt x="325290" y="286948"/>
                  <a:pt x="319338" y="291247"/>
                </a:cubicBezTo>
                <a:cubicBezTo>
                  <a:pt x="318299" y="291997"/>
                  <a:pt x="317317" y="292680"/>
                  <a:pt x="316399" y="293298"/>
                </a:cubicBezTo>
                <a:lnTo>
                  <a:pt x="316399" y="327333"/>
                </a:lnTo>
                <a:cubicBezTo>
                  <a:pt x="316399" y="345321"/>
                  <a:pt x="301817" y="359904"/>
                  <a:pt x="283829" y="359904"/>
                </a:cubicBezTo>
                <a:lnTo>
                  <a:pt x="260564" y="359904"/>
                </a:lnTo>
                <a:cubicBezTo>
                  <a:pt x="245146" y="359904"/>
                  <a:pt x="232646" y="347404"/>
                  <a:pt x="232646" y="331986"/>
                </a:cubicBezTo>
                <a:lnTo>
                  <a:pt x="195423" y="331986"/>
                </a:lnTo>
                <a:cubicBezTo>
                  <a:pt x="195423" y="347404"/>
                  <a:pt x="182923" y="359904"/>
                  <a:pt x="167505" y="359904"/>
                </a:cubicBezTo>
                <a:lnTo>
                  <a:pt x="144241" y="359904"/>
                </a:lnTo>
                <a:cubicBezTo>
                  <a:pt x="126253" y="359904"/>
                  <a:pt x="111670" y="345321"/>
                  <a:pt x="111670" y="327333"/>
                </a:cubicBezTo>
                <a:lnTo>
                  <a:pt x="111670" y="314629"/>
                </a:lnTo>
                <a:cubicBezTo>
                  <a:pt x="109101" y="313762"/>
                  <a:pt x="106185" y="312688"/>
                  <a:pt x="103029" y="311366"/>
                </a:cubicBezTo>
                <a:cubicBezTo>
                  <a:pt x="91935" y="306723"/>
                  <a:pt x="77416" y="298861"/>
                  <a:pt x="64576" y="286021"/>
                </a:cubicBezTo>
                <a:cubicBezTo>
                  <a:pt x="49984" y="271429"/>
                  <a:pt x="40211" y="256203"/>
                  <a:pt x="34713" y="246359"/>
                </a:cubicBezTo>
                <a:cubicBezTo>
                  <a:pt x="33090" y="243456"/>
                  <a:pt x="30666" y="241904"/>
                  <a:pt x="28591" y="241557"/>
                </a:cubicBezTo>
                <a:cubicBezTo>
                  <a:pt x="12093" y="238809"/>
                  <a:pt x="0" y="224533"/>
                  <a:pt x="0" y="207807"/>
                </a:cubicBezTo>
                <a:lnTo>
                  <a:pt x="0" y="175183"/>
                </a:lnTo>
                <a:cubicBezTo>
                  <a:pt x="0" y="159498"/>
                  <a:pt x="11339" y="146113"/>
                  <a:pt x="26810" y="143533"/>
                </a:cubicBezTo>
                <a:cubicBezTo>
                  <a:pt x="28428" y="143263"/>
                  <a:pt x="30812" y="141657"/>
                  <a:pt x="31947" y="138257"/>
                </a:cubicBezTo>
                <a:cubicBezTo>
                  <a:pt x="35527" y="127532"/>
                  <a:pt x="42474" y="111572"/>
                  <a:pt x="55271" y="98775"/>
                </a:cubicBezTo>
                <a:cubicBezTo>
                  <a:pt x="65738" y="88307"/>
                  <a:pt x="77329" y="80618"/>
                  <a:pt x="86133" y="75587"/>
                </a:cubicBezTo>
                <a:cubicBezTo>
                  <a:pt x="88671" y="74137"/>
                  <a:pt x="91008" y="72890"/>
                  <a:pt x="93059" y="71846"/>
                </a:cubicBezTo>
                <a:lnTo>
                  <a:pt x="93059" y="18772"/>
                </a:lnTo>
                <a:cubicBezTo>
                  <a:pt x="93059" y="1316"/>
                  <a:pt x="114101" y="-5849"/>
                  <a:pt x="125440" y="5442"/>
                </a:cubicBezTo>
                <a:cubicBezTo>
                  <a:pt x="131591" y="11566"/>
                  <a:pt x="140520" y="19734"/>
                  <a:pt x="150403" y="26554"/>
                </a:cubicBezTo>
                <a:close/>
                <a:moveTo>
                  <a:pt x="206032" y="115122"/>
                </a:moveTo>
                <a:cubicBezTo>
                  <a:pt x="196910" y="111345"/>
                  <a:pt x="189214" y="104174"/>
                  <a:pt x="187381" y="94473"/>
                </a:cubicBezTo>
                <a:cubicBezTo>
                  <a:pt x="180978" y="60572"/>
                  <a:pt x="198933" y="25679"/>
                  <a:pt x="232068" y="11950"/>
                </a:cubicBezTo>
                <a:cubicBezTo>
                  <a:pt x="270052" y="-3787"/>
                  <a:pt x="313604" y="14248"/>
                  <a:pt x="329342" y="52232"/>
                </a:cubicBezTo>
                <a:cubicBezTo>
                  <a:pt x="343070" y="85368"/>
                  <a:pt x="331099" y="122739"/>
                  <a:pt x="302602" y="142188"/>
                </a:cubicBezTo>
                <a:cubicBezTo>
                  <a:pt x="294448" y="147753"/>
                  <a:pt x="283935" y="147384"/>
                  <a:pt x="274813" y="143606"/>
                </a:cubicBezTo>
                <a:lnTo>
                  <a:pt x="206032" y="115122"/>
                </a:lnTo>
                <a:close/>
                <a:moveTo>
                  <a:pt x="287813" y="118463"/>
                </a:moveTo>
                <a:cubicBezTo>
                  <a:pt x="304929" y="106140"/>
                  <a:pt x="311964" y="83226"/>
                  <a:pt x="303550" y="62918"/>
                </a:cubicBezTo>
                <a:cubicBezTo>
                  <a:pt x="293713" y="39178"/>
                  <a:pt x="266494" y="27906"/>
                  <a:pt x="242754" y="37742"/>
                </a:cubicBezTo>
                <a:cubicBezTo>
                  <a:pt x="222447" y="46156"/>
                  <a:pt x="211222" y="67335"/>
                  <a:pt x="214613" y="88150"/>
                </a:cubicBezTo>
                <a:cubicBezTo>
                  <a:pt x="214721" y="88235"/>
                  <a:pt x="214854" y="88332"/>
                  <a:pt x="215012" y="88437"/>
                </a:cubicBezTo>
                <a:cubicBezTo>
                  <a:pt x="215451" y="88730"/>
                  <a:pt x="216022" y="89043"/>
                  <a:pt x="216713" y="89329"/>
                </a:cubicBezTo>
                <a:lnTo>
                  <a:pt x="285494" y="117813"/>
                </a:lnTo>
                <a:cubicBezTo>
                  <a:pt x="286187" y="118099"/>
                  <a:pt x="286812" y="118281"/>
                  <a:pt x="287329" y="118385"/>
                </a:cubicBezTo>
                <a:cubicBezTo>
                  <a:pt x="287516" y="118422"/>
                  <a:pt x="287677" y="118447"/>
                  <a:pt x="287813" y="118463"/>
                </a:cubicBezTo>
                <a:close/>
                <a:moveTo>
                  <a:pt x="130282" y="136562"/>
                </a:moveTo>
                <a:cubicBezTo>
                  <a:pt x="130282" y="146841"/>
                  <a:pt x="121949" y="155173"/>
                  <a:pt x="111670" y="155173"/>
                </a:cubicBezTo>
                <a:cubicBezTo>
                  <a:pt x="101391" y="155173"/>
                  <a:pt x="93059" y="146841"/>
                  <a:pt x="93059" y="136562"/>
                </a:cubicBezTo>
                <a:cubicBezTo>
                  <a:pt x="93059" y="126283"/>
                  <a:pt x="101391" y="117950"/>
                  <a:pt x="111670" y="117950"/>
                </a:cubicBezTo>
                <a:cubicBezTo>
                  <a:pt x="121949" y="117950"/>
                  <a:pt x="130282" y="126283"/>
                  <a:pt x="130282" y="136562"/>
                </a:cubicBez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grpSp>
        <p:nvGrpSpPr>
          <p:cNvPr id="9" name="Group 8">
            <a:extLst>
              <a:ext uri="{FF2B5EF4-FFF2-40B4-BE49-F238E27FC236}">
                <a16:creationId xmlns:a16="http://schemas.microsoft.com/office/drawing/2014/main" id="{0FEC25DD-9D92-7B90-39B7-4D3E3630C562}"/>
              </a:ext>
            </a:extLst>
          </p:cNvPr>
          <p:cNvGrpSpPr/>
          <p:nvPr/>
        </p:nvGrpSpPr>
        <p:grpSpPr>
          <a:xfrm>
            <a:off x="593727" y="4907216"/>
            <a:ext cx="457200" cy="457200"/>
            <a:chOff x="593727" y="4695565"/>
            <a:chExt cx="457200" cy="457200"/>
          </a:xfrm>
        </p:grpSpPr>
        <p:sp>
          <p:nvSpPr>
            <p:cNvPr id="10" name="Text Placeholder 2">
              <a:extLst>
                <a:ext uri="{FF2B5EF4-FFF2-40B4-BE49-F238E27FC236}">
                  <a16:creationId xmlns:a16="http://schemas.microsoft.com/office/drawing/2014/main" id="{0A4919C9-E9F2-AAB8-7BD3-4E084C83EDA2}"/>
                </a:ext>
                <a:ext uri="{C183D7F6-B498-43B3-948B-1728B52AA6E4}">
                  <adec:decorative xmlns:adec="http://schemas.microsoft.com/office/drawing/2017/decorative" val="1"/>
                </a:ext>
              </a:extLst>
            </p:cNvPr>
            <p:cNvSpPr txBox="1">
              <a:spLocks/>
            </p:cNvSpPr>
            <p:nvPr/>
          </p:nvSpPr>
          <p:spPr>
            <a:xfrm>
              <a:off x="593727" y="4695565"/>
              <a:ext cx="457200" cy="457200"/>
            </a:xfrm>
            <a:prstGeom prst="ellipse">
              <a:avLst/>
            </a:prstGeom>
            <a:solidFill>
              <a:schemeClr val="bg1">
                <a:alpha val="74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640080" tIns="137160" rIns="137160" bIns="137160" numCol="1" spcCol="0" rtlCol="0" fromWordArt="0" anchor="t" anchorCtr="0" forceAA="0" compatLnSpc="1">
              <a:prstTxWarp prst="textNoShape">
                <a:avLst/>
              </a:prstTxWarp>
              <a:spAutoFit/>
            </a:bodyPr>
            <a:lstStyle>
              <a:lvl1pPr indent="0">
                <a:lnSpc>
                  <a:spcPct val="100000"/>
                </a:lnSpc>
                <a:spcBef>
                  <a:spcPts val="1000"/>
                </a:spcBef>
                <a:spcAft>
                  <a:spcPts val="600"/>
                </a:spcAft>
                <a:buFont typeface="Arial" panose="020B0604020202020204" pitchFamily="34" charset="0"/>
                <a:buNone/>
                <a:defRPr kumimoji="0" lang="en-US" sz="1400" b="0" i="0" u="none" strike="noStrike" kern="0" cap="none" spc="0" normalizeH="0" baseline="0" smtClean="0">
                  <a:ln w="3175">
                    <a:noFill/>
                  </a:ln>
                  <a:effectLst/>
                  <a:uLnTx/>
                  <a:uFillTx/>
                  <a:latin typeface="+mj-lt"/>
                  <a:ea typeface="Segoe UI Regular" pitchFamily="34" charset="-122"/>
                  <a:cs typeface="Segoe UI" panose="020B0502040204020203" pitchFamily="34" charset="0"/>
                </a:defRPr>
              </a:lvl1pPr>
              <a:lvl2pPr marL="0" lvl="1" indent="0">
                <a:lnSpc>
                  <a:spcPct val="100000"/>
                </a:lnSpc>
                <a:spcBef>
                  <a:spcPts val="0"/>
                </a:spcBef>
                <a:buFont typeface="Arial" panose="020B0604020202020204" pitchFamily="34" charset="0"/>
                <a:buNone/>
                <a:defRPr lang="en-US" sz="1100" dirty="0" smtClean="0">
                  <a:solidFill>
                    <a:schemeClr val="tx2"/>
                  </a:solidFill>
                </a:defRPr>
              </a:lvl2pPr>
              <a:lvl3pPr marL="1200150" indent="-285750">
                <a:lnSpc>
                  <a:spcPct val="100000"/>
                </a:lnSpc>
                <a:spcBef>
                  <a:spcPts val="500"/>
                </a:spcBef>
                <a:buFont typeface="Arial" panose="020B0604020202020204" pitchFamily="34" charset="0"/>
                <a:buChar char="•"/>
                <a:defRPr lang="en-US" sz="1100" smtClean="0">
                  <a:solidFill>
                    <a:schemeClr val="tx2"/>
                  </a:solidFill>
                </a:defRPr>
              </a:lvl3pPr>
              <a:lvl4pPr marL="1657350" indent="-285750">
                <a:lnSpc>
                  <a:spcPct val="100000"/>
                </a:lnSpc>
                <a:spcBef>
                  <a:spcPts val="500"/>
                </a:spcBef>
                <a:buFont typeface="Arial" panose="020B0604020202020204" pitchFamily="34" charset="0"/>
                <a:buChar char="•"/>
                <a:defRPr lang="en-US" sz="1100" smtClean="0">
                  <a:solidFill>
                    <a:schemeClr val="tx2"/>
                  </a:solidFill>
                </a:defRPr>
              </a:lvl4pPr>
              <a:lvl5pPr marL="2114550" indent="-285750">
                <a:lnSpc>
                  <a:spcPct val="100000"/>
                </a:lnSpc>
                <a:spcBef>
                  <a:spcPts val="500"/>
                </a:spcBef>
                <a:buFont typeface="Arial" panose="020B0604020202020204" pitchFamily="34" charset="0"/>
                <a:buChar char="•"/>
                <a:defRPr lang="en-US">
                  <a:solidFill>
                    <a:schemeClr val="tx2"/>
                  </a:solidFill>
                </a:defRPr>
              </a:lvl5pPr>
              <a:lvl6pPr marL="2514600" indent="-228600">
                <a:lnSpc>
                  <a:spcPct val="90000"/>
                </a:lnSpc>
                <a:spcBef>
                  <a:spcPts val="500"/>
                </a:spcBef>
                <a:buFont typeface="Arial" panose="020B0604020202020204" pitchFamily="34" charset="0"/>
                <a:buChar char="•"/>
                <a:defRPr>
                  <a:solidFill>
                    <a:schemeClr val="lt1"/>
                  </a:solidFill>
                </a:defRPr>
              </a:lvl6pPr>
              <a:lvl7pPr marL="2971800" indent="-228600">
                <a:lnSpc>
                  <a:spcPct val="90000"/>
                </a:lnSpc>
                <a:spcBef>
                  <a:spcPts val="500"/>
                </a:spcBef>
                <a:buFont typeface="Arial" panose="020B0604020202020204" pitchFamily="34" charset="0"/>
                <a:buChar char="•"/>
                <a:defRPr>
                  <a:solidFill>
                    <a:schemeClr val="lt1"/>
                  </a:solidFill>
                </a:defRPr>
              </a:lvl7pPr>
              <a:lvl8pPr marL="3429000" indent="-228600">
                <a:lnSpc>
                  <a:spcPct val="90000"/>
                </a:lnSpc>
                <a:spcBef>
                  <a:spcPts val="500"/>
                </a:spcBef>
                <a:buFont typeface="Arial" panose="020B0604020202020204" pitchFamily="34" charset="0"/>
                <a:buChar char="•"/>
                <a:defRPr>
                  <a:solidFill>
                    <a:schemeClr val="lt1"/>
                  </a:solidFill>
                </a:defRPr>
              </a:lvl8pPr>
              <a:lvl9pPr marL="3886200" indent="-228600">
                <a:lnSpc>
                  <a:spcPct val="90000"/>
                </a:lnSpc>
                <a:spcBef>
                  <a:spcPts val="500"/>
                </a:spcBef>
                <a:buFont typeface="Arial" panose="020B0604020202020204" pitchFamily="34" charset="0"/>
                <a:buChar char="•"/>
                <a:defRPr>
                  <a:solidFill>
                    <a:schemeClr val="lt1"/>
                  </a:solidFill>
                </a:defRPr>
              </a:lvl9pPr>
            </a:lstStyle>
            <a:p>
              <a:endParaRPr lang="en-US"/>
            </a:p>
          </p:txBody>
        </p:sp>
        <p:sp>
          <p:nvSpPr>
            <p:cNvPr id="11" name="arrow_16">
              <a:extLst>
                <a:ext uri="{FF2B5EF4-FFF2-40B4-BE49-F238E27FC236}">
                  <a16:creationId xmlns:a16="http://schemas.microsoft.com/office/drawing/2014/main" id="{76C99DB1-E140-8FA1-17A2-0D41D0DA30BF}"/>
                </a:ext>
                <a:ext uri="{C183D7F6-B498-43B3-948B-1728B52AA6E4}">
                  <adec:decorative xmlns:adec="http://schemas.microsoft.com/office/drawing/2017/decorative" val="1"/>
                </a:ext>
              </a:extLst>
            </p:cNvPr>
            <p:cNvSpPr>
              <a:spLocks noChangeAspect="1" noEditPoints="1"/>
            </p:cNvSpPr>
            <p:nvPr/>
          </p:nvSpPr>
          <p:spPr bwMode="auto">
            <a:xfrm>
              <a:off x="708023" y="4839920"/>
              <a:ext cx="228600" cy="168490"/>
            </a:xfrm>
            <a:custGeom>
              <a:avLst/>
              <a:gdLst>
                <a:gd name="T0" fmla="*/ 347 w 347"/>
                <a:gd name="T1" fmla="*/ 206 h 254"/>
                <a:gd name="T2" fmla="*/ 182 w 347"/>
                <a:gd name="T3" fmla="*/ 151 h 254"/>
                <a:gd name="T4" fmla="*/ 135 w 347"/>
                <a:gd name="T5" fmla="*/ 101 h 254"/>
                <a:gd name="T6" fmla="*/ 0 w 347"/>
                <a:gd name="T7" fmla="*/ 47 h 254"/>
                <a:gd name="T8" fmla="*/ 347 w 347"/>
                <a:gd name="T9" fmla="*/ 48 h 254"/>
                <a:gd name="T10" fmla="*/ 158 w 347"/>
                <a:gd name="T11" fmla="*/ 130 h 254"/>
                <a:gd name="T12" fmla="*/ 0 w 347"/>
                <a:gd name="T13" fmla="*/ 207 h 254"/>
                <a:gd name="T14" fmla="*/ 299 w 347"/>
                <a:gd name="T15" fmla="*/ 95 h 254"/>
                <a:gd name="T16" fmla="*/ 347 w 347"/>
                <a:gd name="T17" fmla="*/ 48 h 254"/>
                <a:gd name="T18" fmla="*/ 299 w 347"/>
                <a:gd name="T19" fmla="*/ 0 h 254"/>
                <a:gd name="T20" fmla="*/ 299 w 347"/>
                <a:gd name="T21" fmla="*/ 254 h 254"/>
                <a:gd name="T22" fmla="*/ 347 w 347"/>
                <a:gd name="T23" fmla="*/ 206 h 254"/>
                <a:gd name="T24" fmla="*/ 299 w 347"/>
                <a:gd name="T25" fmla="*/ 158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7" h="254">
                  <a:moveTo>
                    <a:pt x="347" y="206"/>
                  </a:moveTo>
                  <a:cubicBezTo>
                    <a:pt x="258" y="212"/>
                    <a:pt x="213" y="183"/>
                    <a:pt x="182" y="151"/>
                  </a:cubicBezTo>
                  <a:moveTo>
                    <a:pt x="135" y="101"/>
                  </a:moveTo>
                  <a:cubicBezTo>
                    <a:pt x="74" y="47"/>
                    <a:pt x="0" y="47"/>
                    <a:pt x="0" y="47"/>
                  </a:cubicBezTo>
                  <a:moveTo>
                    <a:pt x="347" y="48"/>
                  </a:moveTo>
                  <a:cubicBezTo>
                    <a:pt x="232" y="41"/>
                    <a:pt x="190" y="91"/>
                    <a:pt x="158" y="130"/>
                  </a:cubicBezTo>
                  <a:cubicBezTo>
                    <a:pt x="94" y="207"/>
                    <a:pt x="0" y="207"/>
                    <a:pt x="0" y="207"/>
                  </a:cubicBezTo>
                  <a:moveTo>
                    <a:pt x="299" y="95"/>
                  </a:moveTo>
                  <a:cubicBezTo>
                    <a:pt x="347" y="48"/>
                    <a:pt x="347" y="48"/>
                    <a:pt x="347" y="48"/>
                  </a:cubicBezTo>
                  <a:cubicBezTo>
                    <a:pt x="299" y="0"/>
                    <a:pt x="299" y="0"/>
                    <a:pt x="299" y="0"/>
                  </a:cubicBezTo>
                  <a:moveTo>
                    <a:pt x="299" y="254"/>
                  </a:moveTo>
                  <a:cubicBezTo>
                    <a:pt x="347" y="206"/>
                    <a:pt x="347" y="206"/>
                    <a:pt x="347" y="206"/>
                  </a:cubicBezTo>
                  <a:cubicBezTo>
                    <a:pt x="299" y="158"/>
                    <a:pt x="299" y="158"/>
                    <a:pt x="299" y="158"/>
                  </a:cubicBezTo>
                </a:path>
              </a:pathLst>
            </a:custGeom>
            <a:noFill/>
            <a:ln w="15875" cap="rnd">
              <a:gradFill>
                <a:gsLst>
                  <a:gs pos="3000">
                    <a:srgbClr val="0078D4"/>
                  </a:gs>
                  <a:gs pos="52000">
                    <a:srgbClr val="818EFF"/>
                  </a:gs>
                  <a:gs pos="35000">
                    <a:srgbClr val="2DB4FF"/>
                  </a:gs>
                  <a:gs pos="30000">
                    <a:srgbClr val="2DB4FF"/>
                  </a:gs>
                  <a:gs pos="70000">
                    <a:srgbClr val="D660FF"/>
                  </a:gs>
                  <a:gs pos="97000">
                    <a:srgbClr val="FEA87A"/>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spTree>
    <p:extLst>
      <p:ext uri="{BB962C8B-B14F-4D97-AF65-F5344CB8AC3E}">
        <p14:creationId xmlns:p14="http://schemas.microsoft.com/office/powerpoint/2010/main" val="582663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a:stretch>
        </a:blipFill>
        <a:effectLst/>
      </p:bgPr>
    </p:bg>
    <p:spTree>
      <p:nvGrpSpPr>
        <p:cNvPr id="1" name="">
          <a:extLst>
            <a:ext uri="{FF2B5EF4-FFF2-40B4-BE49-F238E27FC236}">
              <a16:creationId xmlns:a16="http://schemas.microsoft.com/office/drawing/2014/main" id="{6E55C024-7820-A348-33CB-CF5DC5F9100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C5C9B3-D24F-093F-20A7-95A75E1A4973}"/>
              </a:ext>
            </a:extLst>
          </p:cNvPr>
          <p:cNvSpPr>
            <a:spLocks noGrp="1"/>
          </p:cNvSpPr>
          <p:nvPr>
            <p:ph type="title"/>
          </p:nvPr>
        </p:nvSpPr>
        <p:spPr/>
        <p:txBody>
          <a:bodyPr/>
          <a:lstStyle/>
          <a:p>
            <a:r>
              <a:rPr lang="en-US" dirty="0"/>
              <a:t>Example offer for </a:t>
            </a:r>
            <a:r>
              <a:rPr lang="en-US" dirty="0">
                <a:ln w="3175">
                  <a:noFill/>
                </a:ln>
                <a:solidFill>
                  <a:schemeClr val="accent4"/>
                </a:solidFill>
                <a:latin typeface="Segoe UI Semibold"/>
                <a:ea typeface="+mn-ea"/>
                <a:cs typeface="Segoe UI" panose="020B0502040204020203" pitchFamily="34" charset="0"/>
              </a:rPr>
              <a:t>Legal</a:t>
            </a:r>
          </a:p>
        </p:txBody>
      </p:sp>
      <p:sp>
        <p:nvSpPr>
          <p:cNvPr id="2" name="Footer Placeholder 1">
            <a:extLst>
              <a:ext uri="{FF2B5EF4-FFF2-40B4-BE49-F238E27FC236}">
                <a16:creationId xmlns:a16="http://schemas.microsoft.com/office/drawing/2014/main" id="{B4B872C4-E10F-CCA2-0649-8B2F5B54C476}"/>
              </a:ext>
            </a:extLst>
          </p:cNvPr>
          <p:cNvSpPr>
            <a:spLocks noGrp="1"/>
          </p:cNvSpPr>
          <p:nvPr>
            <p:ph type="ftr" sz="quarter" idx="10"/>
          </p:nvPr>
        </p:nvSpPr>
        <p:spPr/>
        <p:txBody>
          <a:bodyPr/>
          <a:lstStyle/>
          <a:p>
            <a:pPr defTabSz="914367">
              <a:defRPr/>
            </a:pPr>
            <a:r>
              <a:rPr lang="en-US"/>
              <a:t>Building Customer-Centric Services offers</a:t>
            </a:r>
          </a:p>
        </p:txBody>
      </p:sp>
      <p:sp>
        <p:nvSpPr>
          <p:cNvPr id="124" name="Slide Number Placeholder 123">
            <a:extLst>
              <a:ext uri="{FF2B5EF4-FFF2-40B4-BE49-F238E27FC236}">
                <a16:creationId xmlns:a16="http://schemas.microsoft.com/office/drawing/2014/main" id="{177E0ACE-A2D5-982B-FAA0-2A393898E216}"/>
              </a:ext>
            </a:extLst>
          </p:cNvPr>
          <p:cNvSpPr>
            <a:spLocks noGrp="1"/>
          </p:cNvSpPr>
          <p:nvPr>
            <p:ph type="sldNum" sz="quarter" idx="11"/>
          </p:nvPr>
        </p:nvSpPr>
        <p:spPr/>
        <p:txBody>
          <a:bodyPr/>
          <a:lstStyle/>
          <a:p>
            <a:pPr defTabSz="914367">
              <a:defRPr/>
            </a:pPr>
            <a:fld id="{2A20A09D-1A50-4CA5-89CD-EDD3F91B2117}" type="slidenum">
              <a:rPr lang="en-US" smtClean="0"/>
              <a:pPr defTabSz="914367">
                <a:defRPr/>
              </a:pPr>
              <a:t>25</a:t>
            </a:fld>
            <a:endParaRPr lang="en-US"/>
          </a:p>
        </p:txBody>
      </p:sp>
      <p:sp>
        <p:nvSpPr>
          <p:cNvPr id="4" name="Text Placeholder 3">
            <a:extLst>
              <a:ext uri="{FF2B5EF4-FFF2-40B4-BE49-F238E27FC236}">
                <a16:creationId xmlns:a16="http://schemas.microsoft.com/office/drawing/2014/main" id="{A5F5A165-1C5A-A02F-0A71-9E3BDE251360}"/>
              </a:ext>
            </a:extLst>
          </p:cNvPr>
          <p:cNvSpPr>
            <a:spLocks noGrp="1"/>
          </p:cNvSpPr>
          <p:nvPr>
            <p:ph type="body" sz="quarter" idx="12"/>
          </p:nvPr>
        </p:nvSpPr>
        <p:spPr>
          <a:xfrm>
            <a:off x="812800" y="1267932"/>
            <a:ext cx="4711700" cy="1536025"/>
          </a:xfrm>
        </p:spPr>
        <p:txBody>
          <a:bodyPr wrap="square" lIns="457200">
            <a:spAutoFit/>
          </a:bodyPr>
          <a:lstStyle/>
          <a:p>
            <a:r>
              <a:rPr lang="en-US" kern="1200" dirty="0">
                <a:ea typeface="+mn-ea"/>
              </a:rPr>
              <a:t>Goals and challenges</a:t>
            </a:r>
          </a:p>
          <a:p>
            <a:pPr lvl="1"/>
            <a:r>
              <a:rPr lang="en-US" sz="1000" dirty="0"/>
              <a:t>Legal departments are navigating an increasingly dynamic and complex legal, regulatory, and compliance landscape. The workload is growing not just in volume, but in speed and complexity. By harnessing the power of Microsoft Copilot, Legal departments can transform how they work to meet these demands and enhance the efficiency, quality, and scale of their work to deliver broad impact. </a:t>
            </a:r>
          </a:p>
        </p:txBody>
      </p:sp>
      <p:sp>
        <p:nvSpPr>
          <p:cNvPr id="5" name="Text Placeholder 4">
            <a:extLst>
              <a:ext uri="{FF2B5EF4-FFF2-40B4-BE49-F238E27FC236}">
                <a16:creationId xmlns:a16="http://schemas.microsoft.com/office/drawing/2014/main" id="{EE00D976-582A-659D-2F70-76A4CC6A94E0}"/>
              </a:ext>
            </a:extLst>
          </p:cNvPr>
          <p:cNvSpPr>
            <a:spLocks noGrp="1"/>
          </p:cNvSpPr>
          <p:nvPr>
            <p:ph type="body" sz="quarter" idx="13"/>
          </p:nvPr>
        </p:nvSpPr>
        <p:spPr>
          <a:prstGeom prst="roundRect">
            <a:avLst>
              <a:gd name="adj" fmla="val 7581"/>
            </a:avLst>
          </a:prstGeom>
          <a:solidFill>
            <a:schemeClr val="bg1">
              <a:alpha val="31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457200" tIns="137160" rIns="137160" bIns="137160" numCol="1" spcCol="0" rtlCol="0" fromWordArt="0" anchor="t" anchorCtr="0" forceAA="0" compatLnSpc="1">
            <a:prstTxWarp prst="textNoShape">
              <a:avLst/>
            </a:prstTxWarp>
            <a:noAutofit/>
          </a:bodyPr>
          <a:lstStyle/>
          <a:p>
            <a:pPr marL="0" indent="0">
              <a:spcAft>
                <a:spcPts val="600"/>
              </a:spcAft>
              <a:buNone/>
            </a:pPr>
            <a:r>
              <a:rPr lang="en-US" kern="1200">
                <a:ea typeface="+mn-ea"/>
              </a:rPr>
              <a:t>Transform Legal processes with Copilot and [Insert Partner Offer]</a:t>
            </a:r>
          </a:p>
          <a:p>
            <a:pPr marL="0" lvl="1" indent="0">
              <a:spcBef>
                <a:spcPts val="0"/>
              </a:spcBef>
              <a:buNone/>
            </a:pPr>
            <a:r>
              <a:rPr lang="en-US" sz="1000"/>
              <a:t>[Insert partner offer summary] </a:t>
            </a:r>
          </a:p>
        </p:txBody>
      </p:sp>
      <p:sp>
        <p:nvSpPr>
          <p:cNvPr id="6" name="Text Placeholder 5">
            <a:extLst>
              <a:ext uri="{FF2B5EF4-FFF2-40B4-BE49-F238E27FC236}">
                <a16:creationId xmlns:a16="http://schemas.microsoft.com/office/drawing/2014/main" id="{D3A53AE8-0068-E994-396F-223B50EF2489}"/>
              </a:ext>
            </a:extLst>
          </p:cNvPr>
          <p:cNvSpPr>
            <a:spLocks noGrp="1"/>
          </p:cNvSpPr>
          <p:nvPr>
            <p:ph type="body" sz="quarter" idx="14"/>
          </p:nvPr>
        </p:nvSpPr>
        <p:spPr>
          <a:xfrm>
            <a:off x="812800" y="3136136"/>
            <a:ext cx="4711700" cy="1306744"/>
          </a:xfrm>
          <a:solidFill>
            <a:schemeClr val="bg1">
              <a:alpha val="31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457200" tIns="137160" rIns="137160" bIns="137160" numCol="1" spcCol="0" rtlCol="0" fromWordArt="0" anchor="t" anchorCtr="0" forceAA="0" compatLnSpc="1">
            <a:prstTxWarp prst="textNoShape">
              <a:avLst/>
            </a:prstTxWarp>
            <a:spAutoFit/>
          </a:bodyPr>
          <a:lstStyle/>
          <a:p>
            <a:pPr marL="0" indent="0">
              <a:spcAft>
                <a:spcPts val="600"/>
              </a:spcAft>
              <a:buNone/>
            </a:pPr>
            <a:r>
              <a:rPr lang="en-US" kern="1200" dirty="0">
                <a:ea typeface="+mn-ea"/>
              </a:rPr>
              <a:t>Copilot can assist with…</a:t>
            </a:r>
          </a:p>
          <a:p>
            <a:pPr marL="0" marR="0" lvl="0" indent="0" algn="l" defTabSz="582780" rtl="0" eaLnBrk="1" fontAlgn="auto" latinLnBrk="0" hangingPunct="1">
              <a:lnSpc>
                <a:spcPct val="110000"/>
              </a:lnSpc>
              <a:spcBef>
                <a:spcPct val="0"/>
              </a:spcBef>
              <a:spcAft>
                <a:spcPts val="300"/>
              </a:spcAft>
              <a:buClrTx/>
              <a:buSzTx/>
              <a:buFont typeface="Wingdings" panose="05000000000000000000" pitchFamily="2" charset="2"/>
              <a:buNone/>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Semilight" panose="020B0402040204020203" pitchFamily="34" charset="0"/>
              </a:rPr>
              <a:t>Copilot assists Legal teams to deliver broad impact in their ability to advise clients, drive efficiencies, and optimize workflows. </a:t>
            </a:r>
            <a:endParaRPr lang="en-US" sz="1000" dirty="0">
              <a:solidFill>
                <a:srgbClr val="2585D6"/>
              </a:solidFill>
              <a:latin typeface="Segoe UI Semibold" panose="020B0702040204020203" pitchFamily="34" charset="0"/>
              <a:cs typeface="Segoe UI Semibold" panose="020B0702040204020203" pitchFamily="34" charset="0"/>
              <a:hlinkClick r:id="" action="ppaction://noaction">
                <a:extLst>
                  <a:ext uri="{A12FA001-AC4F-418D-AE19-62706E023703}">
                    <ahyp:hlinkClr xmlns:ahyp="http://schemas.microsoft.com/office/drawing/2018/hyperlinkcolor" val="tx"/>
                  </a:ext>
                </a:extLst>
              </a:hlinkClick>
            </a:endParaRPr>
          </a:p>
          <a:p>
            <a:pPr marL="114300" indent="-114300" defTabSz="582780">
              <a:lnSpc>
                <a:spcPct val="110000"/>
              </a:lnSpc>
              <a:spcBef>
                <a:spcPct val="0"/>
              </a:spcBef>
              <a:buClr>
                <a:schemeClr val="tx1"/>
              </a:buClr>
              <a:buSzTx/>
              <a:buFont typeface="Arial" panose="020B0604020202020204" pitchFamily="34" charset="0"/>
              <a:buChar char="•"/>
              <a:defRPr/>
            </a:pPr>
            <a:r>
              <a:rPr lang="en-US" sz="1000" dirty="0">
                <a:latin typeface="+mn-lt"/>
              </a:rPr>
              <a:t>Develop a compliance video</a:t>
            </a:r>
          </a:p>
          <a:p>
            <a:pPr marL="114300" indent="-114300" defTabSz="582780">
              <a:lnSpc>
                <a:spcPct val="110000"/>
              </a:lnSpc>
              <a:spcBef>
                <a:spcPct val="0"/>
              </a:spcBef>
              <a:buClr>
                <a:schemeClr val="tx1"/>
              </a:buClr>
              <a:buSzTx/>
              <a:buFont typeface="Arial" panose="020B0604020202020204" pitchFamily="34" charset="0"/>
              <a:buChar char="•"/>
              <a:defRPr/>
            </a:pPr>
            <a:r>
              <a:rPr lang="en-US" sz="1000" dirty="0">
                <a:latin typeface="+mn-lt"/>
              </a:rPr>
              <a:t>Quicker Legal guidance</a:t>
            </a:r>
          </a:p>
        </p:txBody>
      </p:sp>
      <p:sp>
        <p:nvSpPr>
          <p:cNvPr id="7" name="Text Placeholder 6">
            <a:extLst>
              <a:ext uri="{FF2B5EF4-FFF2-40B4-BE49-F238E27FC236}">
                <a16:creationId xmlns:a16="http://schemas.microsoft.com/office/drawing/2014/main" id="{31A8A674-689E-6FA7-2FA3-8CC9983939ED}"/>
              </a:ext>
            </a:extLst>
          </p:cNvPr>
          <p:cNvSpPr>
            <a:spLocks noGrp="1"/>
          </p:cNvSpPr>
          <p:nvPr>
            <p:ph type="body" sz="quarter" idx="15"/>
          </p:nvPr>
        </p:nvSpPr>
        <p:spPr>
          <a:prstGeom prst="roundRect">
            <a:avLst>
              <a:gd name="adj" fmla="val 3842"/>
            </a:avLst>
          </a:prstGeom>
          <a:gradFill>
            <a:gsLst>
              <a:gs pos="0">
                <a:schemeClr val="bg1">
                  <a:alpha val="30000"/>
                </a:schemeClr>
              </a:gs>
              <a:gs pos="100000">
                <a:schemeClr val="bg1">
                  <a:alpha val="50000"/>
                </a:schemeClr>
              </a:gs>
            </a:gsLst>
            <a:lin ang="0" scaled="0"/>
          </a:gradFill>
        </p:spPr>
        <p:txBody>
          <a:bodyPr/>
          <a:lstStyle/>
          <a:p>
            <a:pPr marL="0" indent="0">
              <a:spcAft>
                <a:spcPts val="600"/>
              </a:spcAft>
              <a:buNone/>
            </a:pPr>
            <a:r>
              <a:rPr lang="en-US" kern="1200">
                <a:ea typeface="+mn-ea"/>
              </a:rPr>
              <a:t>How Copilot and [Insert Partner Name] can help you achieve your goals...</a:t>
            </a:r>
          </a:p>
        </p:txBody>
      </p:sp>
      <p:sp>
        <p:nvSpPr>
          <p:cNvPr id="8" name="Text Placeholder 7">
            <a:extLst>
              <a:ext uri="{FF2B5EF4-FFF2-40B4-BE49-F238E27FC236}">
                <a16:creationId xmlns:a16="http://schemas.microsoft.com/office/drawing/2014/main" id="{8B36E003-017D-A800-CDBE-DA17D61F4F36}"/>
              </a:ext>
            </a:extLst>
          </p:cNvPr>
          <p:cNvSpPr>
            <a:spLocks noGrp="1"/>
          </p:cNvSpPr>
          <p:nvPr>
            <p:ph type="body" sz="quarter" idx="16"/>
          </p:nvPr>
        </p:nvSpPr>
        <p:spPr>
          <a:prstGeom prst="roundRect">
            <a:avLst>
              <a:gd name="adj" fmla="val 4108"/>
            </a:avLst>
          </a:prstGeom>
          <a:gradFill>
            <a:gsLst>
              <a:gs pos="0">
                <a:schemeClr val="bg1">
                  <a:alpha val="30000"/>
                </a:schemeClr>
              </a:gs>
              <a:gs pos="100000">
                <a:schemeClr val="bg1">
                  <a:alpha val="50000"/>
                </a:schemeClr>
              </a:gs>
            </a:gsLst>
            <a:lin ang="0" scaled="0"/>
          </a:gradFill>
        </p:spPr>
        <p:txBody>
          <a:bodyPr/>
          <a:lstStyle/>
          <a:p>
            <a:pPr marL="0" indent="0">
              <a:spcAft>
                <a:spcPts val="600"/>
              </a:spcAft>
              <a:buNone/>
            </a:pPr>
            <a:r>
              <a:rPr lang="en-US" kern="1200">
                <a:ea typeface="+mn-ea"/>
              </a:rPr>
              <a:t>Improve key functional KPIs</a:t>
            </a:r>
          </a:p>
        </p:txBody>
      </p:sp>
      <p:sp>
        <p:nvSpPr>
          <p:cNvPr id="14" name="Text Placeholder 2">
            <a:extLst>
              <a:ext uri="{FF2B5EF4-FFF2-40B4-BE49-F238E27FC236}">
                <a16:creationId xmlns:a16="http://schemas.microsoft.com/office/drawing/2014/main" id="{EA4A7849-76DD-7631-A44A-87C460D39E7A}"/>
              </a:ext>
              <a:ext uri="{C183D7F6-B498-43B3-948B-1728B52AA6E4}">
                <adec:decorative xmlns:adec="http://schemas.microsoft.com/office/drawing/2017/decorative" val="1"/>
              </a:ext>
            </a:extLst>
          </p:cNvPr>
          <p:cNvSpPr txBox="1">
            <a:spLocks/>
          </p:cNvSpPr>
          <p:nvPr/>
        </p:nvSpPr>
        <p:spPr>
          <a:xfrm>
            <a:off x="593723" y="1376685"/>
            <a:ext cx="457200" cy="457200"/>
          </a:xfrm>
          <a:prstGeom prst="ellipse">
            <a:avLst/>
          </a:prstGeom>
          <a:solidFill>
            <a:schemeClr val="bg1">
              <a:alpha val="74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640080" tIns="137160" rIns="137160" bIns="137160" numCol="1" spcCol="0" rtlCol="0" fromWordArt="0" anchor="t" anchorCtr="0" forceAA="0" compatLnSpc="1">
            <a:prstTxWarp prst="textNoShape">
              <a:avLst/>
            </a:prstTxWarp>
            <a:spAutoFit/>
          </a:bodyPr>
          <a:lstStyle>
            <a:lvl1pPr indent="0">
              <a:lnSpc>
                <a:spcPct val="100000"/>
              </a:lnSpc>
              <a:spcBef>
                <a:spcPts val="1000"/>
              </a:spcBef>
              <a:spcAft>
                <a:spcPts val="600"/>
              </a:spcAft>
              <a:buFont typeface="Arial" panose="020B0604020202020204" pitchFamily="34" charset="0"/>
              <a:buNone/>
              <a:defRPr kumimoji="0" lang="en-US" sz="1400" b="0" i="0" u="none" strike="noStrike" kern="0" cap="none" spc="0" normalizeH="0" baseline="0" smtClean="0">
                <a:ln w="3175">
                  <a:noFill/>
                </a:ln>
                <a:effectLst/>
                <a:uLnTx/>
                <a:uFillTx/>
                <a:latin typeface="+mj-lt"/>
                <a:ea typeface="Segoe UI Regular" pitchFamily="34" charset="-122"/>
                <a:cs typeface="Segoe UI" panose="020B0502040204020203" pitchFamily="34" charset="0"/>
              </a:defRPr>
            </a:lvl1pPr>
            <a:lvl2pPr marL="0" lvl="1" indent="0">
              <a:lnSpc>
                <a:spcPct val="100000"/>
              </a:lnSpc>
              <a:spcBef>
                <a:spcPts val="0"/>
              </a:spcBef>
              <a:buFont typeface="Arial" panose="020B0604020202020204" pitchFamily="34" charset="0"/>
              <a:buNone/>
              <a:defRPr lang="en-US" sz="1100" dirty="0" smtClean="0">
                <a:solidFill>
                  <a:schemeClr val="tx2"/>
                </a:solidFill>
              </a:defRPr>
            </a:lvl2pPr>
            <a:lvl3pPr marL="1200150" indent="-285750">
              <a:lnSpc>
                <a:spcPct val="100000"/>
              </a:lnSpc>
              <a:spcBef>
                <a:spcPts val="500"/>
              </a:spcBef>
              <a:buFont typeface="Arial" panose="020B0604020202020204" pitchFamily="34" charset="0"/>
              <a:buChar char="•"/>
              <a:defRPr lang="en-US" sz="1100" smtClean="0">
                <a:solidFill>
                  <a:schemeClr val="tx2"/>
                </a:solidFill>
              </a:defRPr>
            </a:lvl3pPr>
            <a:lvl4pPr marL="1657350" indent="-285750">
              <a:lnSpc>
                <a:spcPct val="100000"/>
              </a:lnSpc>
              <a:spcBef>
                <a:spcPts val="500"/>
              </a:spcBef>
              <a:buFont typeface="Arial" panose="020B0604020202020204" pitchFamily="34" charset="0"/>
              <a:buChar char="•"/>
              <a:defRPr lang="en-US" sz="1100" smtClean="0">
                <a:solidFill>
                  <a:schemeClr val="tx2"/>
                </a:solidFill>
              </a:defRPr>
            </a:lvl4pPr>
            <a:lvl5pPr marL="2114550" indent="-285750">
              <a:lnSpc>
                <a:spcPct val="100000"/>
              </a:lnSpc>
              <a:spcBef>
                <a:spcPts val="500"/>
              </a:spcBef>
              <a:buFont typeface="Arial" panose="020B0604020202020204" pitchFamily="34" charset="0"/>
              <a:buChar char="•"/>
              <a:defRPr lang="en-US">
                <a:solidFill>
                  <a:schemeClr val="tx2"/>
                </a:solidFill>
              </a:defRPr>
            </a:lvl5pPr>
            <a:lvl6pPr marL="2514600" indent="-228600">
              <a:lnSpc>
                <a:spcPct val="90000"/>
              </a:lnSpc>
              <a:spcBef>
                <a:spcPts val="500"/>
              </a:spcBef>
              <a:buFont typeface="Arial" panose="020B0604020202020204" pitchFamily="34" charset="0"/>
              <a:buChar char="•"/>
              <a:defRPr>
                <a:solidFill>
                  <a:schemeClr val="lt1"/>
                </a:solidFill>
              </a:defRPr>
            </a:lvl6pPr>
            <a:lvl7pPr marL="2971800" indent="-228600">
              <a:lnSpc>
                <a:spcPct val="90000"/>
              </a:lnSpc>
              <a:spcBef>
                <a:spcPts val="500"/>
              </a:spcBef>
              <a:buFont typeface="Arial" panose="020B0604020202020204" pitchFamily="34" charset="0"/>
              <a:buChar char="•"/>
              <a:defRPr>
                <a:solidFill>
                  <a:schemeClr val="lt1"/>
                </a:solidFill>
              </a:defRPr>
            </a:lvl7pPr>
            <a:lvl8pPr marL="3429000" indent="-228600">
              <a:lnSpc>
                <a:spcPct val="90000"/>
              </a:lnSpc>
              <a:spcBef>
                <a:spcPts val="500"/>
              </a:spcBef>
              <a:buFont typeface="Arial" panose="020B0604020202020204" pitchFamily="34" charset="0"/>
              <a:buChar char="•"/>
              <a:defRPr>
                <a:solidFill>
                  <a:schemeClr val="lt1"/>
                </a:solidFill>
              </a:defRPr>
            </a:lvl8pPr>
            <a:lvl9pPr marL="3886200" indent="-228600">
              <a:lnSpc>
                <a:spcPct val="90000"/>
              </a:lnSpc>
              <a:spcBef>
                <a:spcPts val="500"/>
              </a:spcBef>
              <a:buFont typeface="Arial" panose="020B0604020202020204" pitchFamily="34" charset="0"/>
              <a:buChar char="•"/>
              <a:defRPr>
                <a:solidFill>
                  <a:schemeClr val="lt1"/>
                </a:solidFill>
              </a:defRPr>
            </a:lvl9pPr>
          </a:lstStyle>
          <a:p>
            <a:endParaRPr lang="en-US"/>
          </a:p>
        </p:txBody>
      </p:sp>
      <p:sp>
        <p:nvSpPr>
          <p:cNvPr id="15" name="Graphic 120">
            <a:extLst>
              <a:ext uri="{FF2B5EF4-FFF2-40B4-BE49-F238E27FC236}">
                <a16:creationId xmlns:a16="http://schemas.microsoft.com/office/drawing/2014/main" id="{FB5F6E0C-4EB1-1996-727A-D2D62F30BF95}"/>
              </a:ext>
              <a:ext uri="{C183D7F6-B498-43B3-948B-1728B52AA6E4}">
                <adec:decorative xmlns:adec="http://schemas.microsoft.com/office/drawing/2017/decorative" val="1"/>
              </a:ext>
            </a:extLst>
          </p:cNvPr>
          <p:cNvSpPr>
            <a:spLocks noChangeAspect="1"/>
          </p:cNvSpPr>
          <p:nvPr/>
        </p:nvSpPr>
        <p:spPr>
          <a:xfrm>
            <a:off x="708023" y="1490985"/>
            <a:ext cx="228600" cy="228600"/>
          </a:xfrm>
          <a:custGeom>
            <a:avLst/>
            <a:gdLst>
              <a:gd name="connsiteX0" fmla="*/ 95269 w 190538"/>
              <a:gd name="connsiteY0" fmla="*/ 0 h 190538"/>
              <a:gd name="connsiteX1" fmla="*/ 127911 w 190538"/>
              <a:gd name="connsiteY1" fmla="*/ 5734 h 190538"/>
              <a:gd name="connsiteX2" fmla="*/ 116529 w 190538"/>
              <a:gd name="connsiteY2" fmla="*/ 17107 h 190538"/>
              <a:gd name="connsiteX3" fmla="*/ 17136 w 190538"/>
              <a:gd name="connsiteY3" fmla="*/ 74002 h 190538"/>
              <a:gd name="connsiteX4" fmla="*/ 74031 w 190538"/>
              <a:gd name="connsiteY4" fmla="*/ 173395 h 190538"/>
              <a:gd name="connsiteX5" fmla="*/ 173425 w 190538"/>
              <a:gd name="connsiteY5" fmla="*/ 116500 h 190538"/>
              <a:gd name="connsiteX6" fmla="*/ 173431 w 190538"/>
              <a:gd name="connsiteY6" fmla="*/ 74028 h 190538"/>
              <a:gd name="connsiteX7" fmla="*/ 184804 w 190538"/>
              <a:gd name="connsiteY7" fmla="*/ 62655 h 190538"/>
              <a:gd name="connsiteX8" fmla="*/ 190538 w 190538"/>
              <a:gd name="connsiteY8" fmla="*/ 95269 h 190538"/>
              <a:gd name="connsiteX9" fmla="*/ 95269 w 190538"/>
              <a:gd name="connsiteY9" fmla="*/ 190538 h 190538"/>
              <a:gd name="connsiteX10" fmla="*/ 0 w 190538"/>
              <a:gd name="connsiteY10" fmla="*/ 95269 h 190538"/>
              <a:gd name="connsiteX11" fmla="*/ 95269 w 190538"/>
              <a:gd name="connsiteY11" fmla="*/ 0 h 190538"/>
              <a:gd name="connsiteX12" fmla="*/ 95269 w 190538"/>
              <a:gd name="connsiteY12" fmla="*/ 38119 h 190538"/>
              <a:gd name="connsiteX13" fmla="*/ 109576 w 190538"/>
              <a:gd name="connsiteY13" fmla="*/ 39929 h 190538"/>
              <a:gd name="connsiteX14" fmla="*/ 109576 w 190538"/>
              <a:gd name="connsiteY14" fmla="*/ 54854 h 190538"/>
              <a:gd name="connsiteX15" fmla="*/ 54872 w 190538"/>
              <a:gd name="connsiteY15" fmla="*/ 80967 h 190538"/>
              <a:gd name="connsiteX16" fmla="*/ 80983 w 190538"/>
              <a:gd name="connsiteY16" fmla="*/ 135671 h 190538"/>
              <a:gd name="connsiteX17" fmla="*/ 135688 w 190538"/>
              <a:gd name="connsiteY17" fmla="*/ 109558 h 190538"/>
              <a:gd name="connsiteX18" fmla="*/ 135693 w 190538"/>
              <a:gd name="connsiteY18" fmla="*/ 80982 h 190538"/>
              <a:gd name="connsiteX19" fmla="*/ 150619 w 190538"/>
              <a:gd name="connsiteY19" fmla="*/ 80982 h 190538"/>
              <a:gd name="connsiteX20" fmla="*/ 109571 w 190538"/>
              <a:gd name="connsiteY20" fmla="*/ 150605 h 190538"/>
              <a:gd name="connsiteX21" fmla="*/ 39948 w 190538"/>
              <a:gd name="connsiteY21" fmla="*/ 109557 h 190538"/>
              <a:gd name="connsiteX22" fmla="*/ 80996 w 190538"/>
              <a:gd name="connsiteY22" fmla="*/ 39934 h 190538"/>
              <a:gd name="connsiteX23" fmla="*/ 95288 w 190538"/>
              <a:gd name="connsiteY23" fmla="*/ 38119 h 190538"/>
              <a:gd name="connsiteX24" fmla="*/ 114319 w 190538"/>
              <a:gd name="connsiteY24" fmla="*/ 95269 h 190538"/>
              <a:gd name="connsiteX25" fmla="*/ 95263 w 190538"/>
              <a:gd name="connsiteY25" fmla="*/ 114313 h 190538"/>
              <a:gd name="connsiteX26" fmla="*/ 76219 w 190538"/>
              <a:gd name="connsiteY26" fmla="*/ 95257 h 190538"/>
              <a:gd name="connsiteX27" fmla="*/ 95275 w 190538"/>
              <a:gd name="connsiteY27" fmla="*/ 76213 h 190538"/>
              <a:gd name="connsiteX28" fmla="*/ 102727 w 190538"/>
              <a:gd name="connsiteY28" fmla="*/ 77734 h 190538"/>
              <a:gd name="connsiteX29" fmla="*/ 119110 w 190538"/>
              <a:gd name="connsiteY29" fmla="*/ 61351 h 190538"/>
              <a:gd name="connsiteX30" fmla="*/ 119101 w 190538"/>
              <a:gd name="connsiteY30" fmla="*/ 30975 h 190538"/>
              <a:gd name="connsiteX31" fmla="*/ 121196 w 190538"/>
              <a:gd name="connsiteY31" fmla="*/ 25927 h 190538"/>
              <a:gd name="connsiteX32" fmla="*/ 145009 w 190538"/>
              <a:gd name="connsiteY32" fmla="*/ 2115 h 190538"/>
              <a:gd name="connsiteX33" fmla="*/ 155112 w 190538"/>
              <a:gd name="connsiteY33" fmla="*/ 2121 h 190538"/>
              <a:gd name="connsiteX34" fmla="*/ 157201 w 190538"/>
              <a:gd name="connsiteY34" fmla="*/ 7163 h 190538"/>
              <a:gd name="connsiteX35" fmla="*/ 157201 w 190538"/>
              <a:gd name="connsiteY35" fmla="*/ 33357 h 190538"/>
              <a:gd name="connsiteX36" fmla="*/ 183394 w 190538"/>
              <a:gd name="connsiteY36" fmla="*/ 33357 h 190538"/>
              <a:gd name="connsiteX37" fmla="*/ 190531 w 190538"/>
              <a:gd name="connsiteY37" fmla="*/ 40507 h 190538"/>
              <a:gd name="connsiteX38" fmla="*/ 188443 w 190538"/>
              <a:gd name="connsiteY38" fmla="*/ 45549 h 190538"/>
              <a:gd name="connsiteX39" fmla="*/ 164630 w 190538"/>
              <a:gd name="connsiteY39" fmla="*/ 69361 h 190538"/>
              <a:gd name="connsiteX40" fmla="*/ 159582 w 190538"/>
              <a:gd name="connsiteY40" fmla="*/ 71457 h 190538"/>
              <a:gd name="connsiteX41" fmla="*/ 129197 w 190538"/>
              <a:gd name="connsiteY41" fmla="*/ 71457 h 190538"/>
              <a:gd name="connsiteX42" fmla="*/ 112814 w 190538"/>
              <a:gd name="connsiteY42" fmla="*/ 87840 h 190538"/>
              <a:gd name="connsiteX43" fmla="*/ 114319 w 190538"/>
              <a:gd name="connsiteY43" fmla="*/ 95269 h 190538"/>
              <a:gd name="connsiteX44" fmla="*/ 156620 w 190538"/>
              <a:gd name="connsiteY44" fmla="*/ 57169 h 190538"/>
              <a:gd name="connsiteX45" fmla="*/ 166145 w 190538"/>
              <a:gd name="connsiteY45" fmla="*/ 47644 h 190538"/>
              <a:gd name="connsiteX46" fmla="*/ 150047 w 190538"/>
              <a:gd name="connsiteY46" fmla="*/ 47644 h 190538"/>
              <a:gd name="connsiteX47" fmla="*/ 142904 w 190538"/>
              <a:gd name="connsiteY47" fmla="*/ 40500 h 190538"/>
              <a:gd name="connsiteX48" fmla="*/ 142904 w 190538"/>
              <a:gd name="connsiteY48" fmla="*/ 24403 h 190538"/>
              <a:gd name="connsiteX49" fmla="*/ 133388 w 190538"/>
              <a:gd name="connsiteY49" fmla="*/ 33928 h 190538"/>
              <a:gd name="connsiteX50" fmla="*/ 133388 w 190538"/>
              <a:gd name="connsiteY50" fmla="*/ 56607 h 190538"/>
              <a:gd name="connsiteX51" fmla="*/ 133960 w 190538"/>
              <a:gd name="connsiteY51" fmla="*/ 57169 h 190538"/>
              <a:gd name="connsiteX52" fmla="*/ 156629 w 190538"/>
              <a:gd name="connsiteY52" fmla="*/ 57169 h 1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90538" h="190538">
                <a:moveTo>
                  <a:pt x="95269" y="0"/>
                </a:moveTo>
                <a:cubicBezTo>
                  <a:pt x="106737" y="0"/>
                  <a:pt x="117729" y="2029"/>
                  <a:pt x="127911" y="5734"/>
                </a:cubicBezTo>
                <a:lnTo>
                  <a:pt x="116529" y="17107"/>
                </a:lnTo>
                <a:cubicBezTo>
                  <a:pt x="73371" y="5372"/>
                  <a:pt x="28871" y="30844"/>
                  <a:pt x="17136" y="74002"/>
                </a:cubicBezTo>
                <a:cubicBezTo>
                  <a:pt x="5400" y="117160"/>
                  <a:pt x="30873" y="161659"/>
                  <a:pt x="74031" y="173395"/>
                </a:cubicBezTo>
                <a:cubicBezTo>
                  <a:pt x="117189" y="185131"/>
                  <a:pt x="161689" y="159658"/>
                  <a:pt x="173425" y="116500"/>
                </a:cubicBezTo>
                <a:cubicBezTo>
                  <a:pt x="177205" y="102596"/>
                  <a:pt x="177208" y="87934"/>
                  <a:pt x="173431" y="74028"/>
                </a:cubicBezTo>
                <a:lnTo>
                  <a:pt x="184804" y="62655"/>
                </a:lnTo>
                <a:cubicBezTo>
                  <a:pt x="188608" y="73108"/>
                  <a:pt x="190549" y="84146"/>
                  <a:pt x="190538" y="95269"/>
                </a:cubicBezTo>
                <a:cubicBezTo>
                  <a:pt x="190538" y="147885"/>
                  <a:pt x="147885" y="190538"/>
                  <a:pt x="95269" y="190538"/>
                </a:cubicBezTo>
                <a:cubicBezTo>
                  <a:pt x="42653" y="190538"/>
                  <a:pt x="0" y="147885"/>
                  <a:pt x="0" y="95269"/>
                </a:cubicBezTo>
                <a:cubicBezTo>
                  <a:pt x="0" y="42653"/>
                  <a:pt x="42653" y="0"/>
                  <a:pt x="95269" y="0"/>
                </a:cubicBezTo>
                <a:close/>
                <a:moveTo>
                  <a:pt x="95269" y="38119"/>
                </a:moveTo>
                <a:cubicBezTo>
                  <a:pt x="100095" y="38117"/>
                  <a:pt x="104902" y="38725"/>
                  <a:pt x="109576" y="39929"/>
                </a:cubicBezTo>
                <a:lnTo>
                  <a:pt x="109576" y="54854"/>
                </a:lnTo>
                <a:cubicBezTo>
                  <a:pt x="87259" y="46959"/>
                  <a:pt x="62767" y="58650"/>
                  <a:pt x="54872" y="80967"/>
                </a:cubicBezTo>
                <a:cubicBezTo>
                  <a:pt x="46976" y="103283"/>
                  <a:pt x="58667" y="127775"/>
                  <a:pt x="80983" y="135671"/>
                </a:cubicBezTo>
                <a:cubicBezTo>
                  <a:pt x="103301" y="143567"/>
                  <a:pt x="127792" y="131876"/>
                  <a:pt x="135688" y="109558"/>
                </a:cubicBezTo>
                <a:cubicBezTo>
                  <a:pt x="138958" y="100313"/>
                  <a:pt x="138960" y="90227"/>
                  <a:pt x="135693" y="80982"/>
                </a:cubicBezTo>
                <a:lnTo>
                  <a:pt x="150619" y="80982"/>
                </a:lnTo>
                <a:cubicBezTo>
                  <a:pt x="158509" y="111543"/>
                  <a:pt x="140132" y="142713"/>
                  <a:pt x="109571" y="150605"/>
                </a:cubicBezTo>
                <a:cubicBezTo>
                  <a:pt x="79010" y="158495"/>
                  <a:pt x="47839" y="140118"/>
                  <a:pt x="39948" y="109557"/>
                </a:cubicBezTo>
                <a:cubicBezTo>
                  <a:pt x="32058" y="78996"/>
                  <a:pt x="50435" y="47825"/>
                  <a:pt x="80996" y="39934"/>
                </a:cubicBezTo>
                <a:cubicBezTo>
                  <a:pt x="85664" y="38728"/>
                  <a:pt x="90467" y="38119"/>
                  <a:pt x="95288" y="38119"/>
                </a:cubicBezTo>
                <a:close/>
                <a:moveTo>
                  <a:pt x="114319" y="95269"/>
                </a:moveTo>
                <a:cubicBezTo>
                  <a:pt x="114315" y="105790"/>
                  <a:pt x="105784" y="114316"/>
                  <a:pt x="95263" y="114313"/>
                </a:cubicBezTo>
                <a:cubicBezTo>
                  <a:pt x="84742" y="114310"/>
                  <a:pt x="76216" y="105778"/>
                  <a:pt x="76219" y="95257"/>
                </a:cubicBezTo>
                <a:cubicBezTo>
                  <a:pt x="76222" y="84735"/>
                  <a:pt x="84754" y="76210"/>
                  <a:pt x="95275" y="76213"/>
                </a:cubicBezTo>
                <a:cubicBezTo>
                  <a:pt x="97836" y="76214"/>
                  <a:pt x="100371" y="76731"/>
                  <a:pt x="102727" y="77734"/>
                </a:cubicBezTo>
                <a:lnTo>
                  <a:pt x="119110" y="61351"/>
                </a:lnTo>
                <a:lnTo>
                  <a:pt x="119101" y="30975"/>
                </a:lnTo>
                <a:cubicBezTo>
                  <a:pt x="119103" y="29081"/>
                  <a:pt x="119856" y="27266"/>
                  <a:pt x="121196" y="25927"/>
                </a:cubicBezTo>
                <a:lnTo>
                  <a:pt x="145009" y="2115"/>
                </a:lnTo>
                <a:cubicBezTo>
                  <a:pt x="147800" y="-674"/>
                  <a:pt x="152323" y="-671"/>
                  <a:pt x="155112" y="2121"/>
                </a:cubicBezTo>
                <a:cubicBezTo>
                  <a:pt x="156447" y="3459"/>
                  <a:pt x="157199" y="5272"/>
                  <a:pt x="157201" y="7163"/>
                </a:cubicBezTo>
                <a:lnTo>
                  <a:pt x="157201" y="33357"/>
                </a:lnTo>
                <a:lnTo>
                  <a:pt x="183394" y="33357"/>
                </a:lnTo>
                <a:cubicBezTo>
                  <a:pt x="187340" y="33360"/>
                  <a:pt x="190535" y="36561"/>
                  <a:pt x="190531" y="40507"/>
                </a:cubicBezTo>
                <a:cubicBezTo>
                  <a:pt x="190530" y="42397"/>
                  <a:pt x="189779" y="44211"/>
                  <a:pt x="188443" y="45549"/>
                </a:cubicBezTo>
                <a:lnTo>
                  <a:pt x="164630" y="69361"/>
                </a:lnTo>
                <a:cubicBezTo>
                  <a:pt x="163292" y="70701"/>
                  <a:pt x="161475" y="71455"/>
                  <a:pt x="159582" y="71457"/>
                </a:cubicBezTo>
                <a:lnTo>
                  <a:pt x="129197" y="71457"/>
                </a:lnTo>
                <a:lnTo>
                  <a:pt x="112814" y="87840"/>
                </a:lnTo>
                <a:cubicBezTo>
                  <a:pt x="113786" y="90126"/>
                  <a:pt x="114319" y="92631"/>
                  <a:pt x="114319" y="95269"/>
                </a:cubicBezTo>
                <a:close/>
                <a:moveTo>
                  <a:pt x="156620" y="57169"/>
                </a:moveTo>
                <a:lnTo>
                  <a:pt x="166145" y="47644"/>
                </a:lnTo>
                <a:lnTo>
                  <a:pt x="150047" y="47644"/>
                </a:lnTo>
                <a:cubicBezTo>
                  <a:pt x="146102" y="47644"/>
                  <a:pt x="142904" y="44446"/>
                  <a:pt x="142904" y="40500"/>
                </a:cubicBezTo>
                <a:lnTo>
                  <a:pt x="142904" y="24403"/>
                </a:lnTo>
                <a:lnTo>
                  <a:pt x="133388" y="33928"/>
                </a:lnTo>
                <a:lnTo>
                  <a:pt x="133388" y="56607"/>
                </a:lnTo>
                <a:cubicBezTo>
                  <a:pt x="133590" y="56783"/>
                  <a:pt x="133781" y="56970"/>
                  <a:pt x="133960" y="57169"/>
                </a:cubicBezTo>
                <a:lnTo>
                  <a:pt x="156629" y="57169"/>
                </a:ln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Placeholder 5">
            <a:extLst>
              <a:ext uri="{FF2B5EF4-FFF2-40B4-BE49-F238E27FC236}">
                <a16:creationId xmlns:a16="http://schemas.microsoft.com/office/drawing/2014/main" id="{35A68763-7EB0-D545-EAA9-F004ABD554F3}"/>
              </a:ext>
            </a:extLst>
          </p:cNvPr>
          <p:cNvSpPr txBox="1">
            <a:spLocks/>
          </p:cNvSpPr>
          <p:nvPr/>
        </p:nvSpPr>
        <p:spPr>
          <a:xfrm>
            <a:off x="3007729" y="3956901"/>
            <a:ext cx="2516771" cy="323486"/>
          </a:xfrm>
          <a:prstGeom prst="rect">
            <a:avLst/>
          </a:prstGeom>
          <a:noFill/>
          <a:ln w="12700" cap="flat" cmpd="sng" algn="ctr">
            <a:noFill/>
            <a:prstDash val="solid"/>
            <a:miter lim="800000"/>
          </a:ln>
          <a:effectLst>
            <a:outerShdw blurRad="406400" dist="38100" dir="2700000" algn="tl" rotWithShape="0">
              <a:prstClr val="black">
                <a:alpha val="12000"/>
              </a:prstClr>
            </a:outerShdw>
          </a:effectLst>
        </p:spPr>
        <p:txBody>
          <a:bodyPr rot="0" spcFirstLastPara="0" vertOverflow="overflow" horzOverflow="overflow" vert="horz" wrap="square" lIns="292608" tIns="0" rIns="137160" bIns="0" numCol="1" spcCol="0" rtlCol="0" fromWordArt="0" anchor="t" anchorCtr="0" forceAA="0" compatLnSpc="1">
            <a:prstTxWarp prst="textNoShape">
              <a:avLst/>
            </a:prstTxWarp>
            <a:sp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0" lang="en-US" sz="1400" b="0" i="0" u="none" strike="noStrike" kern="0" cap="none" spc="0" normalizeH="0" baseline="0" dirty="0" smtClean="0">
                <a:ln w="3175">
                  <a:noFill/>
                </a:ln>
                <a:solidFill>
                  <a:schemeClr val="tx1"/>
                </a:solidFill>
                <a:effectLst/>
                <a:uLnTx/>
                <a:uFillTx/>
                <a:latin typeface="+mj-lt"/>
                <a:ea typeface="Segoe UI Regular" pitchFamily="34" charset="-122"/>
                <a:cs typeface="Segoe UI" panose="020B0502040204020203"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lang="en-US" sz="1100" kern="1200" dirty="0" smtClean="0">
                <a:solidFill>
                  <a:schemeClr val="tx2"/>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lang="en-US" sz="1100" kern="1200" dirty="0" smtClean="0">
                <a:solidFill>
                  <a:schemeClr val="tx2"/>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lang="en-US" sz="1100" kern="1200" dirty="0">
                <a:solidFill>
                  <a:schemeClr val="tx2"/>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0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114300" indent="-114300" defTabSz="582780">
              <a:lnSpc>
                <a:spcPct val="110000"/>
              </a:lnSpc>
              <a:spcBef>
                <a:spcPct val="0"/>
              </a:spcBef>
              <a:buClr>
                <a:schemeClr val="tx1"/>
              </a:buClr>
              <a:defRPr/>
            </a:pPr>
            <a:r>
              <a:rPr lang="en-US" sz="1000" dirty="0">
                <a:latin typeface="+mn-lt"/>
              </a:rPr>
              <a:t>Quicker contract review</a:t>
            </a:r>
          </a:p>
          <a:p>
            <a:pPr marL="114300" indent="-114300" defTabSz="582780">
              <a:lnSpc>
                <a:spcPct val="110000"/>
              </a:lnSpc>
              <a:spcBef>
                <a:spcPct val="0"/>
              </a:spcBef>
              <a:buClr>
                <a:schemeClr val="tx1"/>
              </a:buClr>
              <a:defRPr/>
            </a:pPr>
            <a:r>
              <a:rPr lang="en-US" sz="1000" dirty="0">
                <a:latin typeface="+mn-lt"/>
              </a:rPr>
              <a:t>Licensing agreement negotiation </a:t>
            </a:r>
          </a:p>
        </p:txBody>
      </p:sp>
      <p:grpSp>
        <p:nvGrpSpPr>
          <p:cNvPr id="132" name="Group 131">
            <a:extLst>
              <a:ext uri="{FF2B5EF4-FFF2-40B4-BE49-F238E27FC236}">
                <a16:creationId xmlns:a16="http://schemas.microsoft.com/office/drawing/2014/main" id="{72357636-2FE5-5056-59E6-48BB807BF702}"/>
              </a:ext>
              <a:ext uri="{C183D7F6-B498-43B3-948B-1728B52AA6E4}">
                <adec:decorative xmlns:adec="http://schemas.microsoft.com/office/drawing/2017/decorative" val="1"/>
              </a:ext>
            </a:extLst>
          </p:cNvPr>
          <p:cNvGrpSpPr/>
          <p:nvPr/>
        </p:nvGrpSpPr>
        <p:grpSpPr>
          <a:xfrm>
            <a:off x="593725" y="3268293"/>
            <a:ext cx="457200" cy="457200"/>
            <a:chOff x="593725" y="2979773"/>
            <a:chExt cx="457200" cy="457200"/>
          </a:xfrm>
        </p:grpSpPr>
        <p:sp>
          <p:nvSpPr>
            <p:cNvPr id="18" name="Text Placeholder 2">
              <a:extLst>
                <a:ext uri="{FF2B5EF4-FFF2-40B4-BE49-F238E27FC236}">
                  <a16:creationId xmlns:a16="http://schemas.microsoft.com/office/drawing/2014/main" id="{63B92AF9-D051-D997-AB35-BDAA0FC65407}"/>
                </a:ext>
              </a:extLst>
            </p:cNvPr>
            <p:cNvSpPr txBox="1">
              <a:spLocks/>
            </p:cNvSpPr>
            <p:nvPr/>
          </p:nvSpPr>
          <p:spPr>
            <a:xfrm>
              <a:off x="593725" y="2979773"/>
              <a:ext cx="457200" cy="457200"/>
            </a:xfrm>
            <a:prstGeom prst="ellipse">
              <a:avLst/>
            </a:prstGeom>
            <a:solidFill>
              <a:schemeClr val="bg1">
                <a:alpha val="74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640080" tIns="137160" rIns="137160" bIns="137160" numCol="1" spcCol="0" rtlCol="0" fromWordArt="0" anchor="t" anchorCtr="0" forceAA="0" compatLnSpc="1">
              <a:prstTxWarp prst="textNoShape">
                <a:avLst/>
              </a:prstTxWarp>
              <a:spAutoFit/>
            </a:bodyPr>
            <a:lstStyle>
              <a:lvl1pPr indent="0">
                <a:lnSpc>
                  <a:spcPct val="100000"/>
                </a:lnSpc>
                <a:spcBef>
                  <a:spcPts val="1000"/>
                </a:spcBef>
                <a:spcAft>
                  <a:spcPts val="600"/>
                </a:spcAft>
                <a:buFont typeface="Arial" panose="020B0604020202020204" pitchFamily="34" charset="0"/>
                <a:buNone/>
                <a:defRPr kumimoji="0" lang="en-US" sz="1400" b="0" i="0" u="none" strike="noStrike" kern="0" cap="none" spc="0" normalizeH="0" baseline="0" smtClean="0">
                  <a:ln w="3175">
                    <a:noFill/>
                  </a:ln>
                  <a:effectLst/>
                  <a:uLnTx/>
                  <a:uFillTx/>
                  <a:latin typeface="+mj-lt"/>
                  <a:ea typeface="Segoe UI Regular" pitchFamily="34" charset="-122"/>
                  <a:cs typeface="Segoe UI" panose="020B0502040204020203" pitchFamily="34" charset="0"/>
                </a:defRPr>
              </a:lvl1pPr>
              <a:lvl2pPr marL="0" lvl="1" indent="0">
                <a:lnSpc>
                  <a:spcPct val="100000"/>
                </a:lnSpc>
                <a:spcBef>
                  <a:spcPts val="0"/>
                </a:spcBef>
                <a:buFont typeface="Arial" panose="020B0604020202020204" pitchFamily="34" charset="0"/>
                <a:buNone/>
                <a:defRPr lang="en-US" sz="1100" dirty="0" smtClean="0">
                  <a:solidFill>
                    <a:schemeClr val="tx2"/>
                  </a:solidFill>
                </a:defRPr>
              </a:lvl2pPr>
              <a:lvl3pPr marL="1200150" indent="-285750">
                <a:lnSpc>
                  <a:spcPct val="100000"/>
                </a:lnSpc>
                <a:spcBef>
                  <a:spcPts val="500"/>
                </a:spcBef>
                <a:buFont typeface="Arial" panose="020B0604020202020204" pitchFamily="34" charset="0"/>
                <a:buChar char="•"/>
                <a:defRPr lang="en-US" sz="1100" smtClean="0">
                  <a:solidFill>
                    <a:schemeClr val="tx2"/>
                  </a:solidFill>
                </a:defRPr>
              </a:lvl3pPr>
              <a:lvl4pPr marL="1657350" indent="-285750">
                <a:lnSpc>
                  <a:spcPct val="100000"/>
                </a:lnSpc>
                <a:spcBef>
                  <a:spcPts val="500"/>
                </a:spcBef>
                <a:buFont typeface="Arial" panose="020B0604020202020204" pitchFamily="34" charset="0"/>
                <a:buChar char="•"/>
                <a:defRPr lang="en-US" sz="1100" smtClean="0">
                  <a:solidFill>
                    <a:schemeClr val="tx2"/>
                  </a:solidFill>
                </a:defRPr>
              </a:lvl4pPr>
              <a:lvl5pPr marL="2114550" indent="-285750">
                <a:lnSpc>
                  <a:spcPct val="100000"/>
                </a:lnSpc>
                <a:spcBef>
                  <a:spcPts val="500"/>
                </a:spcBef>
                <a:buFont typeface="Arial" panose="020B0604020202020204" pitchFamily="34" charset="0"/>
                <a:buChar char="•"/>
                <a:defRPr lang="en-US">
                  <a:solidFill>
                    <a:schemeClr val="tx2"/>
                  </a:solidFill>
                </a:defRPr>
              </a:lvl5pPr>
              <a:lvl6pPr marL="2514600" indent="-228600">
                <a:lnSpc>
                  <a:spcPct val="90000"/>
                </a:lnSpc>
                <a:spcBef>
                  <a:spcPts val="500"/>
                </a:spcBef>
                <a:buFont typeface="Arial" panose="020B0604020202020204" pitchFamily="34" charset="0"/>
                <a:buChar char="•"/>
                <a:defRPr>
                  <a:solidFill>
                    <a:schemeClr val="lt1"/>
                  </a:solidFill>
                </a:defRPr>
              </a:lvl6pPr>
              <a:lvl7pPr marL="2971800" indent="-228600">
                <a:lnSpc>
                  <a:spcPct val="90000"/>
                </a:lnSpc>
                <a:spcBef>
                  <a:spcPts val="500"/>
                </a:spcBef>
                <a:buFont typeface="Arial" panose="020B0604020202020204" pitchFamily="34" charset="0"/>
                <a:buChar char="•"/>
                <a:defRPr>
                  <a:solidFill>
                    <a:schemeClr val="lt1"/>
                  </a:solidFill>
                </a:defRPr>
              </a:lvl7pPr>
              <a:lvl8pPr marL="3429000" indent="-228600">
                <a:lnSpc>
                  <a:spcPct val="90000"/>
                </a:lnSpc>
                <a:spcBef>
                  <a:spcPts val="500"/>
                </a:spcBef>
                <a:buFont typeface="Arial" panose="020B0604020202020204" pitchFamily="34" charset="0"/>
                <a:buChar char="•"/>
                <a:defRPr>
                  <a:solidFill>
                    <a:schemeClr val="lt1"/>
                  </a:solidFill>
                </a:defRPr>
              </a:lvl8pPr>
              <a:lvl9pPr marL="3886200" indent="-228600">
                <a:lnSpc>
                  <a:spcPct val="90000"/>
                </a:lnSpc>
                <a:spcBef>
                  <a:spcPts val="500"/>
                </a:spcBef>
                <a:buFont typeface="Arial" panose="020B0604020202020204" pitchFamily="34" charset="0"/>
                <a:buChar char="•"/>
                <a:defRPr>
                  <a:solidFill>
                    <a:schemeClr val="lt1"/>
                  </a:solidFill>
                </a:defRPr>
              </a:lvl9pPr>
            </a:lstStyle>
            <a:p>
              <a:endParaRPr lang="en-US"/>
            </a:p>
          </p:txBody>
        </p:sp>
        <p:sp>
          <p:nvSpPr>
            <p:cNvPr id="22" name="Graphic 60">
              <a:extLst>
                <a:ext uri="{FF2B5EF4-FFF2-40B4-BE49-F238E27FC236}">
                  <a16:creationId xmlns:a16="http://schemas.microsoft.com/office/drawing/2014/main" id="{E04F0C85-4BB0-167F-C8E4-B8C9EDE2BABA}"/>
                </a:ext>
                <a:ext uri="{C183D7F6-B498-43B3-948B-1728B52AA6E4}">
                  <adec:decorative xmlns:adec="http://schemas.microsoft.com/office/drawing/2017/decorative" val="1"/>
                </a:ext>
              </a:extLst>
            </p:cNvPr>
            <p:cNvSpPr>
              <a:spLocks/>
            </p:cNvSpPr>
            <p:nvPr/>
          </p:nvSpPr>
          <p:spPr>
            <a:xfrm>
              <a:off x="708023" y="3092477"/>
              <a:ext cx="228600" cy="228600"/>
            </a:xfrm>
            <a:custGeom>
              <a:avLst/>
              <a:gdLst>
                <a:gd name="connsiteX0" fmla="*/ 152400 w 304800"/>
                <a:gd name="connsiteY0" fmla="*/ 0 h 304800"/>
                <a:gd name="connsiteX1" fmla="*/ 304800 w 304800"/>
                <a:gd name="connsiteY1" fmla="*/ 152400 h 304800"/>
                <a:gd name="connsiteX2" fmla="*/ 152400 w 304800"/>
                <a:gd name="connsiteY2" fmla="*/ 304800 h 304800"/>
                <a:gd name="connsiteX3" fmla="*/ 0 w 304800"/>
                <a:gd name="connsiteY3" fmla="*/ 152400 h 304800"/>
                <a:gd name="connsiteX4" fmla="*/ 152400 w 304800"/>
                <a:gd name="connsiteY4" fmla="*/ 0 h 304800"/>
                <a:gd name="connsiteX5" fmla="*/ 152400 w 304800"/>
                <a:gd name="connsiteY5" fmla="*/ 25405 h 304800"/>
                <a:gd name="connsiteX6" fmla="*/ 25405 w 304800"/>
                <a:gd name="connsiteY6" fmla="*/ 152400 h 304800"/>
                <a:gd name="connsiteX7" fmla="*/ 152400 w 304800"/>
                <a:gd name="connsiteY7" fmla="*/ 279395 h 304800"/>
                <a:gd name="connsiteX8" fmla="*/ 279395 w 304800"/>
                <a:gd name="connsiteY8" fmla="*/ 152400 h 304800"/>
                <a:gd name="connsiteX9" fmla="*/ 152400 w 304800"/>
                <a:gd name="connsiteY9" fmla="*/ 25405 h 304800"/>
                <a:gd name="connsiteX10" fmla="*/ 152400 w 304800"/>
                <a:gd name="connsiteY10" fmla="*/ 205740 h 304800"/>
                <a:gd name="connsiteX11" fmla="*/ 167640 w 304800"/>
                <a:gd name="connsiteY11" fmla="*/ 220980 h 304800"/>
                <a:gd name="connsiteX12" fmla="*/ 152400 w 304800"/>
                <a:gd name="connsiteY12" fmla="*/ 236220 h 304800"/>
                <a:gd name="connsiteX13" fmla="*/ 137160 w 304800"/>
                <a:gd name="connsiteY13" fmla="*/ 220980 h 304800"/>
                <a:gd name="connsiteX14" fmla="*/ 152400 w 304800"/>
                <a:gd name="connsiteY14" fmla="*/ 205740 h 304800"/>
                <a:gd name="connsiteX15" fmla="*/ 152400 w 304800"/>
                <a:gd name="connsiteY15" fmla="*/ 72390 h 304800"/>
                <a:gd name="connsiteX16" fmla="*/ 194310 w 304800"/>
                <a:gd name="connsiteY16" fmla="*/ 114300 h 304800"/>
                <a:gd name="connsiteX17" fmla="*/ 178293 w 304800"/>
                <a:gd name="connsiteY17" fmla="*/ 150251 h 304800"/>
                <a:gd name="connsiteX18" fmla="*/ 175717 w 304800"/>
                <a:gd name="connsiteY18" fmla="*/ 152857 h 304800"/>
                <a:gd name="connsiteX19" fmla="*/ 163830 w 304800"/>
                <a:gd name="connsiteY19" fmla="*/ 175260 h 304800"/>
                <a:gd name="connsiteX20" fmla="*/ 152400 w 304800"/>
                <a:gd name="connsiteY20" fmla="*/ 186690 h 304800"/>
                <a:gd name="connsiteX21" fmla="*/ 140970 w 304800"/>
                <a:gd name="connsiteY21" fmla="*/ 175260 h 304800"/>
                <a:gd name="connsiteX22" fmla="*/ 156987 w 304800"/>
                <a:gd name="connsiteY22" fmla="*/ 139309 h 304800"/>
                <a:gd name="connsiteX23" fmla="*/ 159563 w 304800"/>
                <a:gd name="connsiteY23" fmla="*/ 136703 h 304800"/>
                <a:gd name="connsiteX24" fmla="*/ 171450 w 304800"/>
                <a:gd name="connsiteY24" fmla="*/ 114300 h 304800"/>
                <a:gd name="connsiteX25" fmla="*/ 152339 w 304800"/>
                <a:gd name="connsiteY25" fmla="*/ 95312 h 304800"/>
                <a:gd name="connsiteX26" fmla="*/ 133457 w 304800"/>
                <a:gd name="connsiteY26" fmla="*/ 112349 h 304800"/>
                <a:gd name="connsiteX27" fmla="*/ 133350 w 304800"/>
                <a:gd name="connsiteY27" fmla="*/ 114300 h 304800"/>
                <a:gd name="connsiteX28" fmla="*/ 121920 w 304800"/>
                <a:gd name="connsiteY28" fmla="*/ 125730 h 304800"/>
                <a:gd name="connsiteX29" fmla="*/ 110490 w 304800"/>
                <a:gd name="connsiteY29" fmla="*/ 114300 h 304800"/>
                <a:gd name="connsiteX30" fmla="*/ 152400 w 304800"/>
                <a:gd name="connsiteY30" fmla="*/ 7239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4800" h="304800">
                  <a:moveTo>
                    <a:pt x="152400" y="0"/>
                  </a:moveTo>
                  <a:cubicBezTo>
                    <a:pt x="236571" y="0"/>
                    <a:pt x="304800" y="68245"/>
                    <a:pt x="304800" y="152400"/>
                  </a:cubicBezTo>
                  <a:cubicBezTo>
                    <a:pt x="304800" y="236555"/>
                    <a:pt x="236571" y="304800"/>
                    <a:pt x="152400" y="304800"/>
                  </a:cubicBezTo>
                  <a:cubicBezTo>
                    <a:pt x="68229" y="304800"/>
                    <a:pt x="0" y="236555"/>
                    <a:pt x="0" y="152400"/>
                  </a:cubicBezTo>
                  <a:cubicBezTo>
                    <a:pt x="0" y="68245"/>
                    <a:pt x="68229" y="0"/>
                    <a:pt x="152400" y="0"/>
                  </a:cubicBezTo>
                  <a:close/>
                  <a:moveTo>
                    <a:pt x="152400" y="25405"/>
                  </a:moveTo>
                  <a:cubicBezTo>
                    <a:pt x="82372" y="25405"/>
                    <a:pt x="25405" y="82372"/>
                    <a:pt x="25405" y="152400"/>
                  </a:cubicBezTo>
                  <a:cubicBezTo>
                    <a:pt x="25405" y="222428"/>
                    <a:pt x="82372" y="279395"/>
                    <a:pt x="152400" y="279395"/>
                  </a:cubicBezTo>
                  <a:cubicBezTo>
                    <a:pt x="222428" y="279395"/>
                    <a:pt x="279395" y="222428"/>
                    <a:pt x="279395" y="152400"/>
                  </a:cubicBezTo>
                  <a:cubicBezTo>
                    <a:pt x="279395" y="82372"/>
                    <a:pt x="222428" y="25405"/>
                    <a:pt x="152400" y="25405"/>
                  </a:cubicBezTo>
                  <a:close/>
                  <a:moveTo>
                    <a:pt x="152400" y="205740"/>
                  </a:moveTo>
                  <a:cubicBezTo>
                    <a:pt x="160817" y="205740"/>
                    <a:pt x="167640" y="212563"/>
                    <a:pt x="167640" y="220980"/>
                  </a:cubicBezTo>
                  <a:cubicBezTo>
                    <a:pt x="167640" y="229397"/>
                    <a:pt x="160817" y="236220"/>
                    <a:pt x="152400" y="236220"/>
                  </a:cubicBezTo>
                  <a:cubicBezTo>
                    <a:pt x="143983" y="236220"/>
                    <a:pt x="137160" y="229397"/>
                    <a:pt x="137160" y="220980"/>
                  </a:cubicBezTo>
                  <a:cubicBezTo>
                    <a:pt x="137160" y="212563"/>
                    <a:pt x="143983" y="205740"/>
                    <a:pt x="152400" y="205740"/>
                  </a:cubicBezTo>
                  <a:close/>
                  <a:moveTo>
                    <a:pt x="152400" y="72390"/>
                  </a:moveTo>
                  <a:cubicBezTo>
                    <a:pt x="175547" y="72390"/>
                    <a:pt x="194310" y="91154"/>
                    <a:pt x="194310" y="114300"/>
                  </a:cubicBezTo>
                  <a:cubicBezTo>
                    <a:pt x="194310" y="129692"/>
                    <a:pt x="189784" y="138288"/>
                    <a:pt x="178293" y="150251"/>
                  </a:cubicBezTo>
                  <a:lnTo>
                    <a:pt x="175717" y="152857"/>
                  </a:lnTo>
                  <a:cubicBezTo>
                    <a:pt x="166238" y="162336"/>
                    <a:pt x="163830" y="166360"/>
                    <a:pt x="163830" y="175260"/>
                  </a:cubicBezTo>
                  <a:cubicBezTo>
                    <a:pt x="163830" y="181572"/>
                    <a:pt x="158712" y="186690"/>
                    <a:pt x="152400" y="186690"/>
                  </a:cubicBezTo>
                  <a:cubicBezTo>
                    <a:pt x="146088" y="186690"/>
                    <a:pt x="140970" y="181572"/>
                    <a:pt x="140970" y="175260"/>
                  </a:cubicBezTo>
                  <a:cubicBezTo>
                    <a:pt x="140970" y="159868"/>
                    <a:pt x="145496" y="151272"/>
                    <a:pt x="156987" y="139309"/>
                  </a:cubicBezTo>
                  <a:lnTo>
                    <a:pt x="159563" y="136703"/>
                  </a:lnTo>
                  <a:cubicBezTo>
                    <a:pt x="169042" y="127224"/>
                    <a:pt x="171450" y="123200"/>
                    <a:pt x="171450" y="114300"/>
                  </a:cubicBezTo>
                  <a:cubicBezTo>
                    <a:pt x="171416" y="103779"/>
                    <a:pt x="162859" y="95278"/>
                    <a:pt x="152339" y="95312"/>
                  </a:cubicBezTo>
                  <a:cubicBezTo>
                    <a:pt x="142621" y="95343"/>
                    <a:pt x="134484" y="102685"/>
                    <a:pt x="133457" y="112349"/>
                  </a:cubicBezTo>
                  <a:lnTo>
                    <a:pt x="133350" y="114300"/>
                  </a:lnTo>
                  <a:cubicBezTo>
                    <a:pt x="133350" y="120613"/>
                    <a:pt x="128232" y="125730"/>
                    <a:pt x="121920" y="125730"/>
                  </a:cubicBezTo>
                  <a:cubicBezTo>
                    <a:pt x="115607" y="125730"/>
                    <a:pt x="110490" y="120613"/>
                    <a:pt x="110490" y="114300"/>
                  </a:cubicBezTo>
                  <a:cubicBezTo>
                    <a:pt x="110490" y="91154"/>
                    <a:pt x="129253" y="72390"/>
                    <a:pt x="152400" y="72390"/>
                  </a:cubicBez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 name="Group 8">
            <a:extLst>
              <a:ext uri="{FF2B5EF4-FFF2-40B4-BE49-F238E27FC236}">
                <a16:creationId xmlns:a16="http://schemas.microsoft.com/office/drawing/2014/main" id="{C6730E8D-4172-5B72-866E-B5297620F4B4}"/>
              </a:ext>
            </a:extLst>
          </p:cNvPr>
          <p:cNvGrpSpPr/>
          <p:nvPr/>
        </p:nvGrpSpPr>
        <p:grpSpPr>
          <a:xfrm>
            <a:off x="593727" y="4907216"/>
            <a:ext cx="457200" cy="457200"/>
            <a:chOff x="593727" y="4695565"/>
            <a:chExt cx="457200" cy="457200"/>
          </a:xfrm>
        </p:grpSpPr>
        <p:sp>
          <p:nvSpPr>
            <p:cNvPr id="20" name="Text Placeholder 2">
              <a:extLst>
                <a:ext uri="{FF2B5EF4-FFF2-40B4-BE49-F238E27FC236}">
                  <a16:creationId xmlns:a16="http://schemas.microsoft.com/office/drawing/2014/main" id="{C20C8795-3520-D3B8-8DBD-C61EF7ECAF5B}"/>
                </a:ext>
                <a:ext uri="{C183D7F6-B498-43B3-948B-1728B52AA6E4}">
                  <adec:decorative xmlns:adec="http://schemas.microsoft.com/office/drawing/2017/decorative" val="1"/>
                </a:ext>
              </a:extLst>
            </p:cNvPr>
            <p:cNvSpPr txBox="1">
              <a:spLocks/>
            </p:cNvSpPr>
            <p:nvPr/>
          </p:nvSpPr>
          <p:spPr>
            <a:xfrm>
              <a:off x="593727" y="4695565"/>
              <a:ext cx="457200" cy="457200"/>
            </a:xfrm>
            <a:prstGeom prst="ellipse">
              <a:avLst/>
            </a:prstGeom>
            <a:solidFill>
              <a:schemeClr val="bg1">
                <a:alpha val="74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640080" tIns="137160" rIns="137160" bIns="137160" numCol="1" spcCol="0" rtlCol="0" fromWordArt="0" anchor="t" anchorCtr="0" forceAA="0" compatLnSpc="1">
              <a:prstTxWarp prst="textNoShape">
                <a:avLst/>
              </a:prstTxWarp>
              <a:spAutoFit/>
            </a:bodyPr>
            <a:lstStyle>
              <a:lvl1pPr indent="0">
                <a:lnSpc>
                  <a:spcPct val="100000"/>
                </a:lnSpc>
                <a:spcBef>
                  <a:spcPts val="1000"/>
                </a:spcBef>
                <a:spcAft>
                  <a:spcPts val="600"/>
                </a:spcAft>
                <a:buFont typeface="Arial" panose="020B0604020202020204" pitchFamily="34" charset="0"/>
                <a:buNone/>
                <a:defRPr kumimoji="0" lang="en-US" sz="1400" b="0" i="0" u="none" strike="noStrike" kern="0" cap="none" spc="0" normalizeH="0" baseline="0" smtClean="0">
                  <a:ln w="3175">
                    <a:noFill/>
                  </a:ln>
                  <a:effectLst/>
                  <a:uLnTx/>
                  <a:uFillTx/>
                  <a:latin typeface="+mj-lt"/>
                  <a:ea typeface="Segoe UI Regular" pitchFamily="34" charset="-122"/>
                  <a:cs typeface="Segoe UI" panose="020B0502040204020203" pitchFamily="34" charset="0"/>
                </a:defRPr>
              </a:lvl1pPr>
              <a:lvl2pPr marL="0" lvl="1" indent="0">
                <a:lnSpc>
                  <a:spcPct val="100000"/>
                </a:lnSpc>
                <a:spcBef>
                  <a:spcPts val="0"/>
                </a:spcBef>
                <a:buFont typeface="Arial" panose="020B0604020202020204" pitchFamily="34" charset="0"/>
                <a:buNone/>
                <a:defRPr lang="en-US" sz="1100" dirty="0" smtClean="0">
                  <a:solidFill>
                    <a:schemeClr val="tx2"/>
                  </a:solidFill>
                </a:defRPr>
              </a:lvl2pPr>
              <a:lvl3pPr marL="1200150" indent="-285750">
                <a:lnSpc>
                  <a:spcPct val="100000"/>
                </a:lnSpc>
                <a:spcBef>
                  <a:spcPts val="500"/>
                </a:spcBef>
                <a:buFont typeface="Arial" panose="020B0604020202020204" pitchFamily="34" charset="0"/>
                <a:buChar char="•"/>
                <a:defRPr lang="en-US" sz="1100" smtClean="0">
                  <a:solidFill>
                    <a:schemeClr val="tx2"/>
                  </a:solidFill>
                </a:defRPr>
              </a:lvl3pPr>
              <a:lvl4pPr marL="1657350" indent="-285750">
                <a:lnSpc>
                  <a:spcPct val="100000"/>
                </a:lnSpc>
                <a:spcBef>
                  <a:spcPts val="500"/>
                </a:spcBef>
                <a:buFont typeface="Arial" panose="020B0604020202020204" pitchFamily="34" charset="0"/>
                <a:buChar char="•"/>
                <a:defRPr lang="en-US" sz="1100" smtClean="0">
                  <a:solidFill>
                    <a:schemeClr val="tx2"/>
                  </a:solidFill>
                </a:defRPr>
              </a:lvl4pPr>
              <a:lvl5pPr marL="2114550" indent="-285750">
                <a:lnSpc>
                  <a:spcPct val="100000"/>
                </a:lnSpc>
                <a:spcBef>
                  <a:spcPts val="500"/>
                </a:spcBef>
                <a:buFont typeface="Arial" panose="020B0604020202020204" pitchFamily="34" charset="0"/>
                <a:buChar char="•"/>
                <a:defRPr lang="en-US">
                  <a:solidFill>
                    <a:schemeClr val="tx2"/>
                  </a:solidFill>
                </a:defRPr>
              </a:lvl5pPr>
              <a:lvl6pPr marL="2514600" indent="-228600">
                <a:lnSpc>
                  <a:spcPct val="90000"/>
                </a:lnSpc>
                <a:spcBef>
                  <a:spcPts val="500"/>
                </a:spcBef>
                <a:buFont typeface="Arial" panose="020B0604020202020204" pitchFamily="34" charset="0"/>
                <a:buChar char="•"/>
                <a:defRPr>
                  <a:solidFill>
                    <a:schemeClr val="lt1"/>
                  </a:solidFill>
                </a:defRPr>
              </a:lvl6pPr>
              <a:lvl7pPr marL="2971800" indent="-228600">
                <a:lnSpc>
                  <a:spcPct val="90000"/>
                </a:lnSpc>
                <a:spcBef>
                  <a:spcPts val="500"/>
                </a:spcBef>
                <a:buFont typeface="Arial" panose="020B0604020202020204" pitchFamily="34" charset="0"/>
                <a:buChar char="•"/>
                <a:defRPr>
                  <a:solidFill>
                    <a:schemeClr val="lt1"/>
                  </a:solidFill>
                </a:defRPr>
              </a:lvl7pPr>
              <a:lvl8pPr marL="3429000" indent="-228600">
                <a:lnSpc>
                  <a:spcPct val="90000"/>
                </a:lnSpc>
                <a:spcBef>
                  <a:spcPts val="500"/>
                </a:spcBef>
                <a:buFont typeface="Arial" panose="020B0604020202020204" pitchFamily="34" charset="0"/>
                <a:buChar char="•"/>
                <a:defRPr>
                  <a:solidFill>
                    <a:schemeClr val="lt1"/>
                  </a:solidFill>
                </a:defRPr>
              </a:lvl8pPr>
              <a:lvl9pPr marL="3886200" indent="-228600">
                <a:lnSpc>
                  <a:spcPct val="90000"/>
                </a:lnSpc>
                <a:spcBef>
                  <a:spcPts val="500"/>
                </a:spcBef>
                <a:buFont typeface="Arial" panose="020B0604020202020204" pitchFamily="34" charset="0"/>
                <a:buChar char="•"/>
                <a:defRPr>
                  <a:solidFill>
                    <a:schemeClr val="lt1"/>
                  </a:solidFill>
                </a:defRPr>
              </a:lvl9pPr>
            </a:lstStyle>
            <a:p>
              <a:endParaRPr lang="en-US"/>
            </a:p>
          </p:txBody>
        </p:sp>
        <p:sp>
          <p:nvSpPr>
            <p:cNvPr id="23" name="arrow_16">
              <a:extLst>
                <a:ext uri="{FF2B5EF4-FFF2-40B4-BE49-F238E27FC236}">
                  <a16:creationId xmlns:a16="http://schemas.microsoft.com/office/drawing/2014/main" id="{41950807-11CE-2AE5-8422-C471AF178078}"/>
                </a:ext>
                <a:ext uri="{C183D7F6-B498-43B3-948B-1728B52AA6E4}">
                  <adec:decorative xmlns:adec="http://schemas.microsoft.com/office/drawing/2017/decorative" val="1"/>
                </a:ext>
              </a:extLst>
            </p:cNvPr>
            <p:cNvSpPr>
              <a:spLocks noChangeAspect="1" noEditPoints="1"/>
            </p:cNvSpPr>
            <p:nvPr/>
          </p:nvSpPr>
          <p:spPr bwMode="auto">
            <a:xfrm>
              <a:off x="708023" y="4839920"/>
              <a:ext cx="228600" cy="168490"/>
            </a:xfrm>
            <a:custGeom>
              <a:avLst/>
              <a:gdLst>
                <a:gd name="T0" fmla="*/ 347 w 347"/>
                <a:gd name="T1" fmla="*/ 206 h 254"/>
                <a:gd name="T2" fmla="*/ 182 w 347"/>
                <a:gd name="T3" fmla="*/ 151 h 254"/>
                <a:gd name="T4" fmla="*/ 135 w 347"/>
                <a:gd name="T5" fmla="*/ 101 h 254"/>
                <a:gd name="T6" fmla="*/ 0 w 347"/>
                <a:gd name="T7" fmla="*/ 47 h 254"/>
                <a:gd name="T8" fmla="*/ 347 w 347"/>
                <a:gd name="T9" fmla="*/ 48 h 254"/>
                <a:gd name="T10" fmla="*/ 158 w 347"/>
                <a:gd name="T11" fmla="*/ 130 h 254"/>
                <a:gd name="T12" fmla="*/ 0 w 347"/>
                <a:gd name="T13" fmla="*/ 207 h 254"/>
                <a:gd name="T14" fmla="*/ 299 w 347"/>
                <a:gd name="T15" fmla="*/ 95 h 254"/>
                <a:gd name="T16" fmla="*/ 347 w 347"/>
                <a:gd name="T17" fmla="*/ 48 h 254"/>
                <a:gd name="T18" fmla="*/ 299 w 347"/>
                <a:gd name="T19" fmla="*/ 0 h 254"/>
                <a:gd name="T20" fmla="*/ 299 w 347"/>
                <a:gd name="T21" fmla="*/ 254 h 254"/>
                <a:gd name="T22" fmla="*/ 347 w 347"/>
                <a:gd name="T23" fmla="*/ 206 h 254"/>
                <a:gd name="T24" fmla="*/ 299 w 347"/>
                <a:gd name="T25" fmla="*/ 158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7" h="254">
                  <a:moveTo>
                    <a:pt x="347" y="206"/>
                  </a:moveTo>
                  <a:cubicBezTo>
                    <a:pt x="258" y="212"/>
                    <a:pt x="213" y="183"/>
                    <a:pt x="182" y="151"/>
                  </a:cubicBezTo>
                  <a:moveTo>
                    <a:pt x="135" y="101"/>
                  </a:moveTo>
                  <a:cubicBezTo>
                    <a:pt x="74" y="47"/>
                    <a:pt x="0" y="47"/>
                    <a:pt x="0" y="47"/>
                  </a:cubicBezTo>
                  <a:moveTo>
                    <a:pt x="347" y="48"/>
                  </a:moveTo>
                  <a:cubicBezTo>
                    <a:pt x="232" y="41"/>
                    <a:pt x="190" y="91"/>
                    <a:pt x="158" y="130"/>
                  </a:cubicBezTo>
                  <a:cubicBezTo>
                    <a:pt x="94" y="207"/>
                    <a:pt x="0" y="207"/>
                    <a:pt x="0" y="207"/>
                  </a:cubicBezTo>
                  <a:moveTo>
                    <a:pt x="299" y="95"/>
                  </a:moveTo>
                  <a:cubicBezTo>
                    <a:pt x="347" y="48"/>
                    <a:pt x="347" y="48"/>
                    <a:pt x="347" y="48"/>
                  </a:cubicBezTo>
                  <a:cubicBezTo>
                    <a:pt x="299" y="0"/>
                    <a:pt x="299" y="0"/>
                    <a:pt x="299" y="0"/>
                  </a:cubicBezTo>
                  <a:moveTo>
                    <a:pt x="299" y="254"/>
                  </a:moveTo>
                  <a:cubicBezTo>
                    <a:pt x="347" y="206"/>
                    <a:pt x="347" y="206"/>
                    <a:pt x="347" y="206"/>
                  </a:cubicBezTo>
                  <a:cubicBezTo>
                    <a:pt x="299" y="158"/>
                    <a:pt x="299" y="158"/>
                    <a:pt x="299" y="158"/>
                  </a:cubicBezTo>
                </a:path>
              </a:pathLst>
            </a:custGeom>
            <a:noFill/>
            <a:ln w="15875" cap="rnd">
              <a:gradFill>
                <a:gsLst>
                  <a:gs pos="3000">
                    <a:srgbClr val="0078D4"/>
                  </a:gs>
                  <a:gs pos="52000">
                    <a:srgbClr val="818EFF"/>
                  </a:gs>
                  <a:gs pos="35000">
                    <a:srgbClr val="2DB4FF"/>
                  </a:gs>
                  <a:gs pos="30000">
                    <a:srgbClr val="2DB4FF"/>
                  </a:gs>
                  <a:gs pos="70000">
                    <a:srgbClr val="D660FF"/>
                  </a:gs>
                  <a:gs pos="97000">
                    <a:srgbClr val="FEA87A"/>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aphicFrame>
        <p:nvGraphicFramePr>
          <p:cNvPr id="24" name="Table 23">
            <a:extLst>
              <a:ext uri="{FF2B5EF4-FFF2-40B4-BE49-F238E27FC236}">
                <a16:creationId xmlns:a16="http://schemas.microsoft.com/office/drawing/2014/main" id="{5FF844BA-0E72-5AEF-5DB6-33049DA8D4AA}"/>
              </a:ext>
            </a:extLst>
          </p:cNvPr>
          <p:cNvGraphicFramePr>
            <a:graphicFrameLocks noGrp="1"/>
          </p:cNvGraphicFramePr>
          <p:nvPr>
            <p:extLst>
              <p:ext uri="{D42A27DB-BD31-4B8C-83A1-F6EECF244321}">
                <p14:modId xmlns:p14="http://schemas.microsoft.com/office/powerpoint/2010/main" val="2748339628"/>
              </p:ext>
            </p:extLst>
          </p:nvPr>
        </p:nvGraphicFramePr>
        <p:xfrm>
          <a:off x="5951548" y="3871732"/>
          <a:ext cx="5516364" cy="2319518"/>
        </p:xfrm>
        <a:graphic>
          <a:graphicData uri="http://schemas.openxmlformats.org/drawingml/2006/table">
            <a:tbl>
              <a:tblPr firstRow="1" bandRow="1">
                <a:tableStyleId>{2D5ABB26-0587-4C30-8999-92F81FD0307C}</a:tableStyleId>
              </a:tblPr>
              <a:tblGrid>
                <a:gridCol w="217758">
                  <a:extLst>
                    <a:ext uri="{9D8B030D-6E8A-4147-A177-3AD203B41FA5}">
                      <a16:colId xmlns:a16="http://schemas.microsoft.com/office/drawing/2014/main" val="1905125584"/>
                    </a:ext>
                  </a:extLst>
                </a:gridCol>
                <a:gridCol w="1031594">
                  <a:extLst>
                    <a:ext uri="{9D8B030D-6E8A-4147-A177-3AD203B41FA5}">
                      <a16:colId xmlns:a16="http://schemas.microsoft.com/office/drawing/2014/main" val="3580399742"/>
                    </a:ext>
                  </a:extLst>
                </a:gridCol>
                <a:gridCol w="4267012">
                  <a:extLst>
                    <a:ext uri="{9D8B030D-6E8A-4147-A177-3AD203B41FA5}">
                      <a16:colId xmlns:a16="http://schemas.microsoft.com/office/drawing/2014/main" val="1904428677"/>
                    </a:ext>
                  </a:extLst>
                </a:gridCol>
              </a:tblGrid>
              <a:tr h="530686">
                <a:tc>
                  <a:txBody>
                    <a:bodyPr/>
                    <a:lstStyle/>
                    <a:p>
                      <a:endParaRPr lang="en-US" sz="1000"/>
                    </a:p>
                  </a:txBody>
                  <a:tcPr>
                    <a:lnL>
                      <a:noFill/>
                    </a:lnL>
                    <a:lnR w="12700" cap="flat" cmpd="sng" algn="ctr">
                      <a:no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a:latin typeface="+mj-lt"/>
                        </a:rPr>
                        <a:t>Outside counsel spend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225"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Automate routine tasks to bring work in-house and become less reliant on outside legal counsel assistance.</a:t>
                      </a:r>
                    </a:p>
                  </a:txBody>
                  <a:tcPr marL="45720" marR="45720" anchor="ctr">
                    <a:lnL w="12700" cap="flat" cmpd="sng" algn="ctr">
                      <a:noFill/>
                      <a:prstDash val="solid"/>
                      <a:round/>
                      <a:headEnd type="none" w="med" len="med"/>
                      <a:tailEnd type="none" w="med" len="med"/>
                    </a:lnL>
                    <a:lnR>
                      <a:noFill/>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3379039"/>
                  </a:ext>
                </a:extLst>
              </a:tr>
              <a:tr h="574370">
                <a:tc>
                  <a:txBody>
                    <a:bodyPr/>
                    <a:lstStyle/>
                    <a:p>
                      <a:endParaRPr lang="en-US" sz="1000"/>
                    </a:p>
                  </a:txBody>
                  <a:tcPr>
                    <a:lnL>
                      <a:noFill/>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a:latin typeface="+mj-lt"/>
                        </a:rPr>
                        <a:t>Cost per internal review</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225"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111111"/>
                          </a:solidFill>
                          <a:effectLst/>
                          <a:uLnTx/>
                          <a:uFillTx/>
                          <a:latin typeface="Segoe UI"/>
                          <a:ea typeface="+mn-ea"/>
                          <a:cs typeface="Segoe UI" panose="020B0502040204020203" pitchFamily="34" charset="0"/>
                        </a:rPr>
                        <a:t>Reduce review times which in turn leads to increased attorney productivity and higher client satisfaction rates.</a:t>
                      </a:r>
                    </a:p>
                  </a:txBody>
                  <a:tcPr marL="45720" marR="45720" anchor="ctr">
                    <a:lnL w="12700" cap="flat" cmpd="sng" algn="ctr">
                      <a:noFill/>
                      <a:prstDash val="solid"/>
                      <a:round/>
                      <a:headEnd type="none" w="med" len="med"/>
                      <a:tailEnd type="none" w="med" len="med"/>
                    </a:lnL>
                    <a:lnR>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34878029"/>
                  </a:ext>
                </a:extLst>
              </a:tr>
              <a:tr h="574370">
                <a:tc>
                  <a:txBody>
                    <a:bodyPr/>
                    <a:lstStyle/>
                    <a:p>
                      <a:endParaRPr lang="en-US" sz="1000"/>
                    </a:p>
                  </a:txBody>
                  <a:tcPr>
                    <a:lnL>
                      <a:noFill/>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a:latin typeface="+mj-lt"/>
                        </a:rPr>
                        <a:t>Enhance Legal advisory services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Efficiently find relevant information to facilitate rapid decision making and draft guidance with clear and relevant advisory points. </a:t>
                      </a:r>
                    </a:p>
                  </a:txBody>
                  <a:tcPr marL="45720" marR="45720" anchor="ctr">
                    <a:lnL w="12700" cap="flat" cmpd="sng" algn="ctr">
                      <a:noFill/>
                      <a:prstDash val="solid"/>
                      <a:round/>
                      <a:headEnd type="none" w="med" len="med"/>
                      <a:tailEnd type="none" w="med" len="med"/>
                    </a:lnL>
                    <a:lnR>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97277821"/>
                  </a:ext>
                </a:extLst>
              </a:tr>
              <a:tr h="640092">
                <a:tc>
                  <a:txBody>
                    <a:bodyPr/>
                    <a:lstStyle/>
                    <a:p>
                      <a:endParaRPr lang="en-US" sz="1000"/>
                    </a:p>
                  </a:txBody>
                  <a:tcPr>
                    <a:lnL>
                      <a:noFill/>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r>
                        <a:rPr lang="en-US" sz="1000">
                          <a:latin typeface="+mj-lt"/>
                        </a:rPr>
                        <a:t>Streamline transactional processes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Increase efficiency, understanding, and consistency of contract reviews for increased velocity and better decision making. </a:t>
                      </a:r>
                    </a:p>
                  </a:txBody>
                  <a:tcPr marL="45720" marR="45720" anchor="ctr">
                    <a:lnL w="12700" cap="flat" cmpd="sng" algn="ctr">
                      <a:noFill/>
                      <a:prstDash val="solid"/>
                      <a:round/>
                      <a:headEnd type="none" w="med" len="med"/>
                      <a:tailEnd type="none" w="med" len="med"/>
                    </a:lnL>
                    <a:lnR>
                      <a:noFill/>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2953155573"/>
                  </a:ext>
                </a:extLst>
              </a:tr>
            </a:tbl>
          </a:graphicData>
        </a:graphic>
      </p:graphicFrame>
      <p:sp>
        <p:nvSpPr>
          <p:cNvPr id="49" name="Graphic 47" descr="Icon of a piggy bank ">
            <a:extLst>
              <a:ext uri="{FF2B5EF4-FFF2-40B4-BE49-F238E27FC236}">
                <a16:creationId xmlns:a16="http://schemas.microsoft.com/office/drawing/2014/main" id="{A9261E1F-7492-C371-9CD9-9E662C212068}"/>
              </a:ext>
            </a:extLst>
          </p:cNvPr>
          <p:cNvSpPr>
            <a:spLocks noChangeAspect="1"/>
          </p:cNvSpPr>
          <p:nvPr/>
        </p:nvSpPr>
        <p:spPr>
          <a:xfrm>
            <a:off x="5963194" y="4066330"/>
            <a:ext cx="200060" cy="193432"/>
          </a:xfrm>
          <a:custGeom>
            <a:avLst/>
            <a:gdLst>
              <a:gd name="connsiteX0" fmla="*/ 150403 w 372234"/>
              <a:gd name="connsiteY0" fmla="*/ 26554 h 359903"/>
              <a:gd name="connsiteX1" fmla="*/ 177466 w 372234"/>
              <a:gd name="connsiteY1" fmla="*/ 38837 h 359903"/>
              <a:gd name="connsiteX2" fmla="*/ 168732 w 372234"/>
              <a:gd name="connsiteY2" fmla="*/ 65624 h 359903"/>
              <a:gd name="connsiteX3" fmla="*/ 134547 w 372234"/>
              <a:gd name="connsiteY3" fmla="*/ 49532 h 359903"/>
              <a:gd name="connsiteX4" fmla="*/ 120976 w 372234"/>
              <a:gd name="connsiteY4" fmla="*/ 39162 h 359903"/>
              <a:gd name="connsiteX5" fmla="*/ 120976 w 372234"/>
              <a:gd name="connsiteY5" fmla="*/ 80727 h 359903"/>
              <a:gd name="connsiteX6" fmla="*/ 112224 w 372234"/>
              <a:gd name="connsiteY6" fmla="*/ 93679 h 359903"/>
              <a:gd name="connsiteX7" fmla="*/ 112108 w 372234"/>
              <a:gd name="connsiteY7" fmla="*/ 93727 h 359903"/>
              <a:gd name="connsiteX8" fmla="*/ 111522 w 372234"/>
              <a:gd name="connsiteY8" fmla="*/ 93976 h 359903"/>
              <a:gd name="connsiteX9" fmla="*/ 109035 w 372234"/>
              <a:gd name="connsiteY9" fmla="*/ 95103 h 359903"/>
              <a:gd name="connsiteX10" fmla="*/ 99984 w 372234"/>
              <a:gd name="connsiteY10" fmla="*/ 99827 h 359903"/>
              <a:gd name="connsiteX11" fmla="*/ 75011 w 372234"/>
              <a:gd name="connsiteY11" fmla="*/ 118515 h 359903"/>
              <a:gd name="connsiteX12" fmla="*/ 58428 w 372234"/>
              <a:gd name="connsiteY12" fmla="*/ 147096 h 359903"/>
              <a:gd name="connsiteX13" fmla="*/ 31400 w 372234"/>
              <a:gd name="connsiteY13" fmla="*/ 171071 h 359903"/>
              <a:gd name="connsiteX14" fmla="*/ 27918 w 372234"/>
              <a:gd name="connsiteY14" fmla="*/ 175183 h 359903"/>
              <a:gd name="connsiteX15" fmla="*/ 27918 w 372234"/>
              <a:gd name="connsiteY15" fmla="*/ 207807 h 359903"/>
              <a:gd name="connsiteX16" fmla="*/ 33181 w 372234"/>
              <a:gd name="connsiteY16" fmla="*/ 214021 h 359903"/>
              <a:gd name="connsiteX17" fmla="*/ 59085 w 372234"/>
              <a:gd name="connsiteY17" fmla="*/ 232745 h 359903"/>
              <a:gd name="connsiteX18" fmla="*/ 84317 w 372234"/>
              <a:gd name="connsiteY18" fmla="*/ 266279 h 359903"/>
              <a:gd name="connsiteX19" fmla="*/ 113807 w 372234"/>
              <a:gd name="connsiteY19" fmla="*/ 285613 h 359903"/>
              <a:gd name="connsiteX20" fmla="*/ 124606 w 372234"/>
              <a:gd name="connsiteY20" fmla="*/ 289427 h 359903"/>
              <a:gd name="connsiteX21" fmla="*/ 127546 w 372234"/>
              <a:gd name="connsiteY21" fmla="*/ 290197 h 359903"/>
              <a:gd name="connsiteX22" fmla="*/ 128214 w 372234"/>
              <a:gd name="connsiteY22" fmla="*/ 290348 h 359903"/>
              <a:gd name="connsiteX23" fmla="*/ 128304 w 372234"/>
              <a:gd name="connsiteY23" fmla="*/ 290369 h 359903"/>
              <a:gd name="connsiteX24" fmla="*/ 128324 w 372234"/>
              <a:gd name="connsiteY24" fmla="*/ 290372 h 359903"/>
              <a:gd name="connsiteX25" fmla="*/ 139588 w 372234"/>
              <a:gd name="connsiteY25" fmla="*/ 304069 h 359903"/>
              <a:gd name="connsiteX26" fmla="*/ 139588 w 372234"/>
              <a:gd name="connsiteY26" fmla="*/ 327333 h 359903"/>
              <a:gd name="connsiteX27" fmla="*/ 144241 w 372234"/>
              <a:gd name="connsiteY27" fmla="*/ 331986 h 359903"/>
              <a:gd name="connsiteX28" fmla="*/ 167505 w 372234"/>
              <a:gd name="connsiteY28" fmla="*/ 331986 h 359903"/>
              <a:gd name="connsiteX29" fmla="*/ 195423 w 372234"/>
              <a:gd name="connsiteY29" fmla="*/ 304069 h 359903"/>
              <a:gd name="connsiteX30" fmla="*/ 232646 w 372234"/>
              <a:gd name="connsiteY30" fmla="*/ 304069 h 359903"/>
              <a:gd name="connsiteX31" fmla="*/ 260564 w 372234"/>
              <a:gd name="connsiteY31" fmla="*/ 331986 h 359903"/>
              <a:gd name="connsiteX32" fmla="*/ 283829 w 372234"/>
              <a:gd name="connsiteY32" fmla="*/ 331986 h 359903"/>
              <a:gd name="connsiteX33" fmla="*/ 288481 w 372234"/>
              <a:gd name="connsiteY33" fmla="*/ 327333 h 359903"/>
              <a:gd name="connsiteX34" fmla="*/ 288481 w 372234"/>
              <a:gd name="connsiteY34" fmla="*/ 285457 h 359903"/>
              <a:gd name="connsiteX35" fmla="*/ 296146 w 372234"/>
              <a:gd name="connsiteY35" fmla="*/ 272996 h 359903"/>
              <a:gd name="connsiteX36" fmla="*/ 296393 w 372234"/>
              <a:gd name="connsiteY36" fmla="*/ 272864 h 359903"/>
              <a:gd name="connsiteX37" fmla="*/ 297700 w 372234"/>
              <a:gd name="connsiteY37" fmla="*/ 272116 h 359903"/>
              <a:gd name="connsiteX38" fmla="*/ 302991 w 372234"/>
              <a:gd name="connsiteY38" fmla="*/ 268615 h 359903"/>
              <a:gd name="connsiteX39" fmla="*/ 319760 w 372234"/>
              <a:gd name="connsiteY39" fmla="*/ 253108 h 359903"/>
              <a:gd name="connsiteX40" fmla="*/ 344317 w 372234"/>
              <a:gd name="connsiteY40" fmla="*/ 183093 h 359903"/>
              <a:gd name="connsiteX41" fmla="*/ 334849 w 372234"/>
              <a:gd name="connsiteY41" fmla="*/ 136794 h 359903"/>
              <a:gd name="connsiteX42" fmla="*/ 349703 w 372234"/>
              <a:gd name="connsiteY42" fmla="*/ 107463 h 359903"/>
              <a:gd name="connsiteX43" fmla="*/ 354949 w 372234"/>
              <a:gd name="connsiteY43" fmla="*/ 115343 h 359903"/>
              <a:gd name="connsiteX44" fmla="*/ 372234 w 372234"/>
              <a:gd name="connsiteY44" fmla="*/ 183093 h 359903"/>
              <a:gd name="connsiteX45" fmla="*/ 340955 w 372234"/>
              <a:gd name="connsiteY45" fmla="*/ 271277 h 359903"/>
              <a:gd name="connsiteX46" fmla="*/ 319338 w 372234"/>
              <a:gd name="connsiteY46" fmla="*/ 291247 h 359903"/>
              <a:gd name="connsiteX47" fmla="*/ 316399 w 372234"/>
              <a:gd name="connsiteY47" fmla="*/ 293298 h 359903"/>
              <a:gd name="connsiteX48" fmla="*/ 316399 w 372234"/>
              <a:gd name="connsiteY48" fmla="*/ 327333 h 359903"/>
              <a:gd name="connsiteX49" fmla="*/ 283829 w 372234"/>
              <a:gd name="connsiteY49" fmla="*/ 359904 h 359903"/>
              <a:gd name="connsiteX50" fmla="*/ 260564 w 372234"/>
              <a:gd name="connsiteY50" fmla="*/ 359904 h 359903"/>
              <a:gd name="connsiteX51" fmla="*/ 232646 w 372234"/>
              <a:gd name="connsiteY51" fmla="*/ 331986 h 359903"/>
              <a:gd name="connsiteX52" fmla="*/ 195423 w 372234"/>
              <a:gd name="connsiteY52" fmla="*/ 331986 h 359903"/>
              <a:gd name="connsiteX53" fmla="*/ 167505 w 372234"/>
              <a:gd name="connsiteY53" fmla="*/ 359904 h 359903"/>
              <a:gd name="connsiteX54" fmla="*/ 144241 w 372234"/>
              <a:gd name="connsiteY54" fmla="*/ 359904 h 359903"/>
              <a:gd name="connsiteX55" fmla="*/ 111670 w 372234"/>
              <a:gd name="connsiteY55" fmla="*/ 327333 h 359903"/>
              <a:gd name="connsiteX56" fmla="*/ 111670 w 372234"/>
              <a:gd name="connsiteY56" fmla="*/ 314629 h 359903"/>
              <a:gd name="connsiteX57" fmla="*/ 103029 w 372234"/>
              <a:gd name="connsiteY57" fmla="*/ 311366 h 359903"/>
              <a:gd name="connsiteX58" fmla="*/ 64576 w 372234"/>
              <a:gd name="connsiteY58" fmla="*/ 286021 h 359903"/>
              <a:gd name="connsiteX59" fmla="*/ 34713 w 372234"/>
              <a:gd name="connsiteY59" fmla="*/ 246359 h 359903"/>
              <a:gd name="connsiteX60" fmla="*/ 28591 w 372234"/>
              <a:gd name="connsiteY60" fmla="*/ 241557 h 359903"/>
              <a:gd name="connsiteX61" fmla="*/ 0 w 372234"/>
              <a:gd name="connsiteY61" fmla="*/ 207807 h 359903"/>
              <a:gd name="connsiteX62" fmla="*/ 0 w 372234"/>
              <a:gd name="connsiteY62" fmla="*/ 175183 h 359903"/>
              <a:gd name="connsiteX63" fmla="*/ 26810 w 372234"/>
              <a:gd name="connsiteY63" fmla="*/ 143533 h 359903"/>
              <a:gd name="connsiteX64" fmla="*/ 31947 w 372234"/>
              <a:gd name="connsiteY64" fmla="*/ 138257 h 359903"/>
              <a:gd name="connsiteX65" fmla="*/ 55271 w 372234"/>
              <a:gd name="connsiteY65" fmla="*/ 98775 h 359903"/>
              <a:gd name="connsiteX66" fmla="*/ 86133 w 372234"/>
              <a:gd name="connsiteY66" fmla="*/ 75587 h 359903"/>
              <a:gd name="connsiteX67" fmla="*/ 93059 w 372234"/>
              <a:gd name="connsiteY67" fmla="*/ 71846 h 359903"/>
              <a:gd name="connsiteX68" fmla="*/ 93059 w 372234"/>
              <a:gd name="connsiteY68" fmla="*/ 18772 h 359903"/>
              <a:gd name="connsiteX69" fmla="*/ 125440 w 372234"/>
              <a:gd name="connsiteY69" fmla="*/ 5442 h 359903"/>
              <a:gd name="connsiteX70" fmla="*/ 150403 w 372234"/>
              <a:gd name="connsiteY70" fmla="*/ 26554 h 359903"/>
              <a:gd name="connsiteX71" fmla="*/ 206032 w 372234"/>
              <a:gd name="connsiteY71" fmla="*/ 115122 h 359903"/>
              <a:gd name="connsiteX72" fmla="*/ 187381 w 372234"/>
              <a:gd name="connsiteY72" fmla="*/ 94473 h 359903"/>
              <a:gd name="connsiteX73" fmla="*/ 232068 w 372234"/>
              <a:gd name="connsiteY73" fmla="*/ 11950 h 359903"/>
              <a:gd name="connsiteX74" fmla="*/ 329342 w 372234"/>
              <a:gd name="connsiteY74" fmla="*/ 52232 h 359903"/>
              <a:gd name="connsiteX75" fmla="*/ 302602 w 372234"/>
              <a:gd name="connsiteY75" fmla="*/ 142188 h 359903"/>
              <a:gd name="connsiteX76" fmla="*/ 274813 w 372234"/>
              <a:gd name="connsiteY76" fmla="*/ 143606 h 359903"/>
              <a:gd name="connsiteX77" fmla="*/ 206032 w 372234"/>
              <a:gd name="connsiteY77" fmla="*/ 115122 h 359903"/>
              <a:gd name="connsiteX78" fmla="*/ 287813 w 372234"/>
              <a:gd name="connsiteY78" fmla="*/ 118463 h 359903"/>
              <a:gd name="connsiteX79" fmla="*/ 303550 w 372234"/>
              <a:gd name="connsiteY79" fmla="*/ 62918 h 359903"/>
              <a:gd name="connsiteX80" fmla="*/ 242754 w 372234"/>
              <a:gd name="connsiteY80" fmla="*/ 37742 h 359903"/>
              <a:gd name="connsiteX81" fmla="*/ 214613 w 372234"/>
              <a:gd name="connsiteY81" fmla="*/ 88150 h 359903"/>
              <a:gd name="connsiteX82" fmla="*/ 215012 w 372234"/>
              <a:gd name="connsiteY82" fmla="*/ 88437 h 359903"/>
              <a:gd name="connsiteX83" fmla="*/ 216713 w 372234"/>
              <a:gd name="connsiteY83" fmla="*/ 89329 h 359903"/>
              <a:gd name="connsiteX84" fmla="*/ 285494 w 372234"/>
              <a:gd name="connsiteY84" fmla="*/ 117813 h 359903"/>
              <a:gd name="connsiteX85" fmla="*/ 287329 w 372234"/>
              <a:gd name="connsiteY85" fmla="*/ 118385 h 359903"/>
              <a:gd name="connsiteX86" fmla="*/ 287813 w 372234"/>
              <a:gd name="connsiteY86" fmla="*/ 118463 h 359903"/>
              <a:gd name="connsiteX87" fmla="*/ 130282 w 372234"/>
              <a:gd name="connsiteY87" fmla="*/ 136562 h 359903"/>
              <a:gd name="connsiteX88" fmla="*/ 111670 w 372234"/>
              <a:gd name="connsiteY88" fmla="*/ 155173 h 359903"/>
              <a:gd name="connsiteX89" fmla="*/ 93059 w 372234"/>
              <a:gd name="connsiteY89" fmla="*/ 136562 h 359903"/>
              <a:gd name="connsiteX90" fmla="*/ 111670 w 372234"/>
              <a:gd name="connsiteY90" fmla="*/ 117950 h 359903"/>
              <a:gd name="connsiteX91" fmla="*/ 130282 w 372234"/>
              <a:gd name="connsiteY91" fmla="*/ 136562 h 359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372234" h="359903">
                <a:moveTo>
                  <a:pt x="150403" y="26554"/>
                </a:moveTo>
                <a:cubicBezTo>
                  <a:pt x="160267" y="33362"/>
                  <a:pt x="169696" y="37848"/>
                  <a:pt x="177466" y="38837"/>
                </a:cubicBezTo>
                <a:cubicBezTo>
                  <a:pt x="173230" y="47251"/>
                  <a:pt x="170275" y="56288"/>
                  <a:pt x="168732" y="65624"/>
                </a:cubicBezTo>
                <a:cubicBezTo>
                  <a:pt x="156199" y="62874"/>
                  <a:pt x="144307" y="56267"/>
                  <a:pt x="134547" y="49532"/>
                </a:cubicBezTo>
                <a:cubicBezTo>
                  <a:pt x="129722" y="46202"/>
                  <a:pt x="125154" y="42655"/>
                  <a:pt x="120976" y="39162"/>
                </a:cubicBezTo>
                <a:lnTo>
                  <a:pt x="120976" y="80727"/>
                </a:lnTo>
                <a:cubicBezTo>
                  <a:pt x="120976" y="86427"/>
                  <a:pt x="117511" y="91554"/>
                  <a:pt x="112224" y="93679"/>
                </a:cubicBezTo>
                <a:lnTo>
                  <a:pt x="112108" y="93727"/>
                </a:lnTo>
                <a:cubicBezTo>
                  <a:pt x="111993" y="93775"/>
                  <a:pt x="111795" y="93858"/>
                  <a:pt x="111522" y="93976"/>
                </a:cubicBezTo>
                <a:cubicBezTo>
                  <a:pt x="110975" y="94212"/>
                  <a:pt x="110128" y="94588"/>
                  <a:pt x="109035" y="95103"/>
                </a:cubicBezTo>
                <a:cubicBezTo>
                  <a:pt x="106844" y="96133"/>
                  <a:pt x="103688" y="97710"/>
                  <a:pt x="99984" y="99827"/>
                </a:cubicBezTo>
                <a:cubicBezTo>
                  <a:pt x="92502" y="104102"/>
                  <a:pt x="83155" y="110371"/>
                  <a:pt x="75011" y="118515"/>
                </a:cubicBezTo>
                <a:cubicBezTo>
                  <a:pt x="66571" y="126956"/>
                  <a:pt x="61367" y="138292"/>
                  <a:pt x="58428" y="147096"/>
                </a:cubicBezTo>
                <a:cubicBezTo>
                  <a:pt x="54659" y="158387"/>
                  <a:pt x="45062" y="168795"/>
                  <a:pt x="31400" y="171071"/>
                </a:cubicBezTo>
                <a:cubicBezTo>
                  <a:pt x="29390" y="171406"/>
                  <a:pt x="27918" y="173145"/>
                  <a:pt x="27918" y="175183"/>
                </a:cubicBezTo>
                <a:lnTo>
                  <a:pt x="27918" y="207807"/>
                </a:lnTo>
                <a:cubicBezTo>
                  <a:pt x="27918" y="210887"/>
                  <a:pt x="30144" y="213515"/>
                  <a:pt x="33181" y="214021"/>
                </a:cubicBezTo>
                <a:cubicBezTo>
                  <a:pt x="44793" y="215955"/>
                  <a:pt x="53941" y="223536"/>
                  <a:pt x="59085" y="232745"/>
                </a:cubicBezTo>
                <a:cubicBezTo>
                  <a:pt x="63764" y="241120"/>
                  <a:pt x="72081" y="254044"/>
                  <a:pt x="84317" y="266279"/>
                </a:cubicBezTo>
                <a:cubicBezTo>
                  <a:pt x="93825" y="275788"/>
                  <a:pt x="104897" y="281883"/>
                  <a:pt x="113807" y="285613"/>
                </a:cubicBezTo>
                <a:cubicBezTo>
                  <a:pt x="118223" y="287461"/>
                  <a:pt x="121996" y="288680"/>
                  <a:pt x="124606" y="289427"/>
                </a:cubicBezTo>
                <a:cubicBezTo>
                  <a:pt x="125908" y="289797"/>
                  <a:pt x="126910" y="290048"/>
                  <a:pt x="127546" y="290197"/>
                </a:cubicBezTo>
                <a:cubicBezTo>
                  <a:pt x="127864" y="290272"/>
                  <a:pt x="128089" y="290322"/>
                  <a:pt x="128214" y="290348"/>
                </a:cubicBezTo>
                <a:lnTo>
                  <a:pt x="128304" y="290369"/>
                </a:lnTo>
                <a:lnTo>
                  <a:pt x="128324" y="290372"/>
                </a:lnTo>
                <a:cubicBezTo>
                  <a:pt x="134866" y="291658"/>
                  <a:pt x="139588" y="297396"/>
                  <a:pt x="139588" y="304069"/>
                </a:cubicBezTo>
                <a:lnTo>
                  <a:pt x="139588" y="327333"/>
                </a:lnTo>
                <a:cubicBezTo>
                  <a:pt x="139588" y="329902"/>
                  <a:pt x="141671" y="331986"/>
                  <a:pt x="144241" y="331986"/>
                </a:cubicBezTo>
                <a:lnTo>
                  <a:pt x="167505" y="331986"/>
                </a:lnTo>
                <a:cubicBezTo>
                  <a:pt x="167505" y="316566"/>
                  <a:pt x="180005" y="304069"/>
                  <a:pt x="195423" y="304069"/>
                </a:cubicBezTo>
                <a:lnTo>
                  <a:pt x="232646" y="304069"/>
                </a:lnTo>
                <a:cubicBezTo>
                  <a:pt x="248064" y="304069"/>
                  <a:pt x="260564" y="316566"/>
                  <a:pt x="260564" y="331986"/>
                </a:cubicBezTo>
                <a:lnTo>
                  <a:pt x="283829" y="331986"/>
                </a:lnTo>
                <a:cubicBezTo>
                  <a:pt x="286399" y="331986"/>
                  <a:pt x="288481" y="329902"/>
                  <a:pt x="288481" y="327333"/>
                </a:cubicBezTo>
                <a:lnTo>
                  <a:pt x="288481" y="285457"/>
                </a:lnTo>
                <a:cubicBezTo>
                  <a:pt x="288481" y="280194"/>
                  <a:pt x="291454" y="275373"/>
                  <a:pt x="296146" y="272996"/>
                </a:cubicBezTo>
                <a:lnTo>
                  <a:pt x="296393" y="272864"/>
                </a:lnTo>
                <a:cubicBezTo>
                  <a:pt x="296652" y="272723"/>
                  <a:pt x="297097" y="272475"/>
                  <a:pt x="297700" y="272116"/>
                </a:cubicBezTo>
                <a:cubicBezTo>
                  <a:pt x="298908" y="271398"/>
                  <a:pt x="300739" y="270242"/>
                  <a:pt x="302991" y="268615"/>
                </a:cubicBezTo>
                <a:cubicBezTo>
                  <a:pt x="307508" y="265353"/>
                  <a:pt x="313626" y="260264"/>
                  <a:pt x="319760" y="253108"/>
                </a:cubicBezTo>
                <a:cubicBezTo>
                  <a:pt x="331901" y="238944"/>
                  <a:pt x="344317" y="216482"/>
                  <a:pt x="344317" y="183093"/>
                </a:cubicBezTo>
                <a:cubicBezTo>
                  <a:pt x="344317" y="164358"/>
                  <a:pt x="340814" y="149212"/>
                  <a:pt x="334849" y="136794"/>
                </a:cubicBezTo>
                <a:cubicBezTo>
                  <a:pt x="341510" y="127954"/>
                  <a:pt x="346531" y="118006"/>
                  <a:pt x="349703" y="107463"/>
                </a:cubicBezTo>
                <a:cubicBezTo>
                  <a:pt x="351549" y="109992"/>
                  <a:pt x="353300" y="112617"/>
                  <a:pt x="354949" y="115343"/>
                </a:cubicBezTo>
                <a:cubicBezTo>
                  <a:pt x="366195" y="133921"/>
                  <a:pt x="372234" y="156346"/>
                  <a:pt x="372234" y="183093"/>
                </a:cubicBezTo>
                <a:cubicBezTo>
                  <a:pt x="372234" y="224148"/>
                  <a:pt x="356733" y="252870"/>
                  <a:pt x="340955" y="271277"/>
                </a:cubicBezTo>
                <a:cubicBezTo>
                  <a:pt x="333131" y="280406"/>
                  <a:pt x="325290" y="286948"/>
                  <a:pt x="319338" y="291247"/>
                </a:cubicBezTo>
                <a:cubicBezTo>
                  <a:pt x="318299" y="291997"/>
                  <a:pt x="317317" y="292680"/>
                  <a:pt x="316399" y="293298"/>
                </a:cubicBezTo>
                <a:lnTo>
                  <a:pt x="316399" y="327333"/>
                </a:lnTo>
                <a:cubicBezTo>
                  <a:pt x="316399" y="345321"/>
                  <a:pt x="301817" y="359904"/>
                  <a:pt x="283829" y="359904"/>
                </a:cubicBezTo>
                <a:lnTo>
                  <a:pt x="260564" y="359904"/>
                </a:lnTo>
                <a:cubicBezTo>
                  <a:pt x="245146" y="359904"/>
                  <a:pt x="232646" y="347404"/>
                  <a:pt x="232646" y="331986"/>
                </a:cubicBezTo>
                <a:lnTo>
                  <a:pt x="195423" y="331986"/>
                </a:lnTo>
                <a:cubicBezTo>
                  <a:pt x="195423" y="347404"/>
                  <a:pt x="182923" y="359904"/>
                  <a:pt x="167505" y="359904"/>
                </a:cubicBezTo>
                <a:lnTo>
                  <a:pt x="144241" y="359904"/>
                </a:lnTo>
                <a:cubicBezTo>
                  <a:pt x="126253" y="359904"/>
                  <a:pt x="111670" y="345321"/>
                  <a:pt x="111670" y="327333"/>
                </a:cubicBezTo>
                <a:lnTo>
                  <a:pt x="111670" y="314629"/>
                </a:lnTo>
                <a:cubicBezTo>
                  <a:pt x="109101" y="313762"/>
                  <a:pt x="106185" y="312688"/>
                  <a:pt x="103029" y="311366"/>
                </a:cubicBezTo>
                <a:cubicBezTo>
                  <a:pt x="91935" y="306723"/>
                  <a:pt x="77416" y="298861"/>
                  <a:pt x="64576" y="286021"/>
                </a:cubicBezTo>
                <a:cubicBezTo>
                  <a:pt x="49984" y="271429"/>
                  <a:pt x="40211" y="256203"/>
                  <a:pt x="34713" y="246359"/>
                </a:cubicBezTo>
                <a:cubicBezTo>
                  <a:pt x="33090" y="243456"/>
                  <a:pt x="30666" y="241904"/>
                  <a:pt x="28591" y="241557"/>
                </a:cubicBezTo>
                <a:cubicBezTo>
                  <a:pt x="12093" y="238809"/>
                  <a:pt x="0" y="224533"/>
                  <a:pt x="0" y="207807"/>
                </a:cubicBezTo>
                <a:lnTo>
                  <a:pt x="0" y="175183"/>
                </a:lnTo>
                <a:cubicBezTo>
                  <a:pt x="0" y="159498"/>
                  <a:pt x="11339" y="146113"/>
                  <a:pt x="26810" y="143533"/>
                </a:cubicBezTo>
                <a:cubicBezTo>
                  <a:pt x="28428" y="143263"/>
                  <a:pt x="30812" y="141657"/>
                  <a:pt x="31947" y="138257"/>
                </a:cubicBezTo>
                <a:cubicBezTo>
                  <a:pt x="35527" y="127532"/>
                  <a:pt x="42474" y="111572"/>
                  <a:pt x="55271" y="98775"/>
                </a:cubicBezTo>
                <a:cubicBezTo>
                  <a:pt x="65738" y="88307"/>
                  <a:pt x="77329" y="80618"/>
                  <a:pt x="86133" y="75587"/>
                </a:cubicBezTo>
                <a:cubicBezTo>
                  <a:pt x="88671" y="74137"/>
                  <a:pt x="91008" y="72890"/>
                  <a:pt x="93059" y="71846"/>
                </a:cubicBezTo>
                <a:lnTo>
                  <a:pt x="93059" y="18772"/>
                </a:lnTo>
                <a:cubicBezTo>
                  <a:pt x="93059" y="1316"/>
                  <a:pt x="114101" y="-5849"/>
                  <a:pt x="125440" y="5442"/>
                </a:cubicBezTo>
                <a:cubicBezTo>
                  <a:pt x="131591" y="11566"/>
                  <a:pt x="140520" y="19734"/>
                  <a:pt x="150403" y="26554"/>
                </a:cubicBezTo>
                <a:close/>
                <a:moveTo>
                  <a:pt x="206032" y="115122"/>
                </a:moveTo>
                <a:cubicBezTo>
                  <a:pt x="196910" y="111345"/>
                  <a:pt x="189214" y="104174"/>
                  <a:pt x="187381" y="94473"/>
                </a:cubicBezTo>
                <a:cubicBezTo>
                  <a:pt x="180978" y="60572"/>
                  <a:pt x="198933" y="25679"/>
                  <a:pt x="232068" y="11950"/>
                </a:cubicBezTo>
                <a:cubicBezTo>
                  <a:pt x="270052" y="-3787"/>
                  <a:pt x="313604" y="14248"/>
                  <a:pt x="329342" y="52232"/>
                </a:cubicBezTo>
                <a:cubicBezTo>
                  <a:pt x="343070" y="85368"/>
                  <a:pt x="331099" y="122739"/>
                  <a:pt x="302602" y="142188"/>
                </a:cubicBezTo>
                <a:cubicBezTo>
                  <a:pt x="294448" y="147753"/>
                  <a:pt x="283935" y="147384"/>
                  <a:pt x="274813" y="143606"/>
                </a:cubicBezTo>
                <a:lnTo>
                  <a:pt x="206032" y="115122"/>
                </a:lnTo>
                <a:close/>
                <a:moveTo>
                  <a:pt x="287813" y="118463"/>
                </a:moveTo>
                <a:cubicBezTo>
                  <a:pt x="304929" y="106140"/>
                  <a:pt x="311964" y="83226"/>
                  <a:pt x="303550" y="62918"/>
                </a:cubicBezTo>
                <a:cubicBezTo>
                  <a:pt x="293713" y="39178"/>
                  <a:pt x="266494" y="27906"/>
                  <a:pt x="242754" y="37742"/>
                </a:cubicBezTo>
                <a:cubicBezTo>
                  <a:pt x="222447" y="46156"/>
                  <a:pt x="211222" y="67335"/>
                  <a:pt x="214613" y="88150"/>
                </a:cubicBezTo>
                <a:cubicBezTo>
                  <a:pt x="214721" y="88235"/>
                  <a:pt x="214854" y="88332"/>
                  <a:pt x="215012" y="88437"/>
                </a:cubicBezTo>
                <a:cubicBezTo>
                  <a:pt x="215451" y="88730"/>
                  <a:pt x="216022" y="89043"/>
                  <a:pt x="216713" y="89329"/>
                </a:cubicBezTo>
                <a:lnTo>
                  <a:pt x="285494" y="117813"/>
                </a:lnTo>
                <a:cubicBezTo>
                  <a:pt x="286187" y="118099"/>
                  <a:pt x="286812" y="118281"/>
                  <a:pt x="287329" y="118385"/>
                </a:cubicBezTo>
                <a:cubicBezTo>
                  <a:pt x="287516" y="118422"/>
                  <a:pt x="287677" y="118447"/>
                  <a:pt x="287813" y="118463"/>
                </a:cubicBezTo>
                <a:close/>
                <a:moveTo>
                  <a:pt x="130282" y="136562"/>
                </a:moveTo>
                <a:cubicBezTo>
                  <a:pt x="130282" y="146841"/>
                  <a:pt x="121949" y="155173"/>
                  <a:pt x="111670" y="155173"/>
                </a:cubicBezTo>
                <a:cubicBezTo>
                  <a:pt x="101391" y="155173"/>
                  <a:pt x="93059" y="146841"/>
                  <a:pt x="93059" y="136562"/>
                </a:cubicBezTo>
                <a:cubicBezTo>
                  <a:pt x="93059" y="126283"/>
                  <a:pt x="101391" y="117950"/>
                  <a:pt x="111670" y="117950"/>
                </a:cubicBezTo>
                <a:cubicBezTo>
                  <a:pt x="121949" y="117950"/>
                  <a:pt x="130282" y="126283"/>
                  <a:pt x="130282" y="136562"/>
                </a:cubicBez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graphicFrame>
        <p:nvGraphicFramePr>
          <p:cNvPr id="63" name="Table 62">
            <a:extLst>
              <a:ext uri="{FF2B5EF4-FFF2-40B4-BE49-F238E27FC236}">
                <a16:creationId xmlns:a16="http://schemas.microsoft.com/office/drawing/2014/main" id="{D96EE5ED-D204-4DD9-2A5F-921A8505B0D4}"/>
              </a:ext>
            </a:extLst>
          </p:cNvPr>
          <p:cNvGraphicFramePr>
            <a:graphicFrameLocks noGrp="1"/>
          </p:cNvGraphicFramePr>
          <p:nvPr/>
        </p:nvGraphicFramePr>
        <p:xfrm>
          <a:off x="5911132" y="1902349"/>
          <a:ext cx="5556780" cy="1239754"/>
        </p:xfrm>
        <a:graphic>
          <a:graphicData uri="http://schemas.openxmlformats.org/drawingml/2006/table">
            <a:tbl>
              <a:tblPr firstRow="1" bandRow="1">
                <a:tableStyleId>{2D5ABB26-0587-4C30-8999-92F81FD0307C}</a:tableStyleId>
              </a:tblPr>
              <a:tblGrid>
                <a:gridCol w="1389195">
                  <a:extLst>
                    <a:ext uri="{9D8B030D-6E8A-4147-A177-3AD203B41FA5}">
                      <a16:colId xmlns:a16="http://schemas.microsoft.com/office/drawing/2014/main" val="763213795"/>
                    </a:ext>
                  </a:extLst>
                </a:gridCol>
                <a:gridCol w="1389195">
                  <a:extLst>
                    <a:ext uri="{9D8B030D-6E8A-4147-A177-3AD203B41FA5}">
                      <a16:colId xmlns:a16="http://schemas.microsoft.com/office/drawing/2014/main" val="2931493578"/>
                    </a:ext>
                  </a:extLst>
                </a:gridCol>
                <a:gridCol w="1389195">
                  <a:extLst>
                    <a:ext uri="{9D8B030D-6E8A-4147-A177-3AD203B41FA5}">
                      <a16:colId xmlns:a16="http://schemas.microsoft.com/office/drawing/2014/main" val="1229633216"/>
                    </a:ext>
                  </a:extLst>
                </a:gridCol>
                <a:gridCol w="1389195">
                  <a:extLst>
                    <a:ext uri="{9D8B030D-6E8A-4147-A177-3AD203B41FA5}">
                      <a16:colId xmlns:a16="http://schemas.microsoft.com/office/drawing/2014/main" val="1709666378"/>
                    </a:ext>
                  </a:extLst>
                </a:gridCol>
              </a:tblGrid>
              <a:tr h="346614">
                <a:tc>
                  <a:txBody>
                    <a:bodyPr/>
                    <a:lstStyle/>
                    <a:p>
                      <a:pPr algn="l"/>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AI &amp;</a:t>
                      </a:r>
                      <a:b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br>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Copilot advisory</a:t>
                      </a:r>
                      <a:endParaRPr lang="en-US" sz="1000">
                        <a:solidFill>
                          <a:srgbClr val="0078D4"/>
                        </a:solidFill>
                        <a:latin typeface="+mj-lt"/>
                      </a:endParaRPr>
                    </a:p>
                  </a:txBody>
                  <a:tcPr anchor="b">
                    <a:lnL>
                      <a:noFill/>
                    </a:lnL>
                    <a:lnR w="9525" cap="flat" cmpd="sng" algn="ctr">
                      <a:solidFill>
                        <a:schemeClr val="bg1"/>
                      </a:solid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Get ready &amp; deploy</a:t>
                      </a:r>
                      <a:endParaRPr lang="en-US" sz="1000">
                        <a:solidFill>
                          <a:srgbClr val="0078D4"/>
                        </a:solidFill>
                        <a:latin typeface="+mj-lt"/>
                      </a:endParaRPr>
                    </a:p>
                  </a:txBody>
                  <a:tcPr anchor="b">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Adoption &amp; change management</a:t>
                      </a:r>
                      <a:endParaRPr lang="en-US" sz="1000">
                        <a:solidFill>
                          <a:srgbClr val="0078D4"/>
                        </a:solidFill>
                        <a:latin typeface="+mj-lt"/>
                      </a:endParaRPr>
                    </a:p>
                  </a:txBody>
                  <a:tcPr anchor="b">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Copilot Agents</a:t>
                      </a:r>
                      <a:endParaRPr lang="en-US" sz="1000">
                        <a:solidFill>
                          <a:srgbClr val="0078D4"/>
                        </a:solidFill>
                        <a:latin typeface="+mj-lt"/>
                      </a:endParaRPr>
                    </a:p>
                  </a:txBody>
                  <a:tcPr anchor="b">
                    <a:lnL w="9525" cap="flat" cmpd="sng" algn="ctr">
                      <a:solidFill>
                        <a:schemeClr val="bg1"/>
                      </a:solidFill>
                      <a:prstDash val="solid"/>
                      <a:round/>
                      <a:headEnd type="none" w="med" len="med"/>
                      <a:tailEnd type="none" w="med" len="med"/>
                    </a:lnL>
                    <a:lnR>
                      <a:noFill/>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20644008"/>
                  </a:ext>
                </a:extLst>
              </a:tr>
              <a:tr h="8435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000000"/>
                          </a:solidFill>
                          <a:latin typeface="+mn-lt"/>
                        </a:rPr>
                        <a:t>[Insert service value prop]</a:t>
                      </a:r>
                    </a:p>
                  </a:txBody>
                  <a:tcPr>
                    <a:lnL>
                      <a:noFill/>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000000"/>
                          </a:solidFill>
                          <a:latin typeface="+mn-lt"/>
                        </a:rPr>
                        <a:t>[Insert service value prop]</a:t>
                      </a:r>
                    </a:p>
                    <a:p>
                      <a:endParaRPr lang="en-US" sz="1000">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000000"/>
                          </a:solidFill>
                          <a:latin typeface="+mn-lt"/>
                        </a:rPr>
                        <a:t>[Insert service value prop]</a:t>
                      </a:r>
                    </a:p>
                    <a:p>
                      <a:endParaRPr lang="en-US" sz="1000">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000000"/>
                          </a:solidFill>
                          <a:latin typeface="+mn-lt"/>
                        </a:rPr>
                        <a:t>[Insert service value prop]</a:t>
                      </a:r>
                    </a:p>
                    <a:p>
                      <a:endParaRPr lang="en-US" sz="1000">
                        <a:latin typeface="+mn-lt"/>
                      </a:endParaRPr>
                    </a:p>
                  </a:txBody>
                  <a:tcPr>
                    <a:lnL w="9525" cap="flat" cmpd="sng" algn="ctr">
                      <a:solidFill>
                        <a:schemeClr val="bg1"/>
                      </a:solidFill>
                      <a:prstDash val="solid"/>
                      <a:round/>
                      <a:headEnd type="none" w="med" len="med"/>
                      <a:tailEnd type="none" w="med" len="med"/>
                    </a:lnL>
                    <a:lnR>
                      <a:noFill/>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008714714"/>
                  </a:ext>
                </a:extLst>
              </a:tr>
            </a:tbl>
          </a:graphicData>
        </a:graphic>
      </p:graphicFrame>
      <p:sp>
        <p:nvSpPr>
          <p:cNvPr id="64" name="Graphic 47" descr="Icon of a piggy bank ">
            <a:extLst>
              <a:ext uri="{FF2B5EF4-FFF2-40B4-BE49-F238E27FC236}">
                <a16:creationId xmlns:a16="http://schemas.microsoft.com/office/drawing/2014/main" id="{8DEC3DC5-E787-FE06-7438-A2EFD7F8A056}"/>
              </a:ext>
            </a:extLst>
          </p:cNvPr>
          <p:cNvSpPr>
            <a:spLocks noChangeAspect="1"/>
          </p:cNvSpPr>
          <p:nvPr/>
        </p:nvSpPr>
        <p:spPr>
          <a:xfrm>
            <a:off x="5951548" y="4605777"/>
            <a:ext cx="200060" cy="193432"/>
          </a:xfrm>
          <a:custGeom>
            <a:avLst/>
            <a:gdLst>
              <a:gd name="connsiteX0" fmla="*/ 150403 w 372234"/>
              <a:gd name="connsiteY0" fmla="*/ 26554 h 359903"/>
              <a:gd name="connsiteX1" fmla="*/ 177466 w 372234"/>
              <a:gd name="connsiteY1" fmla="*/ 38837 h 359903"/>
              <a:gd name="connsiteX2" fmla="*/ 168732 w 372234"/>
              <a:gd name="connsiteY2" fmla="*/ 65624 h 359903"/>
              <a:gd name="connsiteX3" fmla="*/ 134547 w 372234"/>
              <a:gd name="connsiteY3" fmla="*/ 49532 h 359903"/>
              <a:gd name="connsiteX4" fmla="*/ 120976 w 372234"/>
              <a:gd name="connsiteY4" fmla="*/ 39162 h 359903"/>
              <a:gd name="connsiteX5" fmla="*/ 120976 w 372234"/>
              <a:gd name="connsiteY5" fmla="*/ 80727 h 359903"/>
              <a:gd name="connsiteX6" fmla="*/ 112224 w 372234"/>
              <a:gd name="connsiteY6" fmla="*/ 93679 h 359903"/>
              <a:gd name="connsiteX7" fmla="*/ 112108 w 372234"/>
              <a:gd name="connsiteY7" fmla="*/ 93727 h 359903"/>
              <a:gd name="connsiteX8" fmla="*/ 111522 w 372234"/>
              <a:gd name="connsiteY8" fmla="*/ 93976 h 359903"/>
              <a:gd name="connsiteX9" fmla="*/ 109035 w 372234"/>
              <a:gd name="connsiteY9" fmla="*/ 95103 h 359903"/>
              <a:gd name="connsiteX10" fmla="*/ 99984 w 372234"/>
              <a:gd name="connsiteY10" fmla="*/ 99827 h 359903"/>
              <a:gd name="connsiteX11" fmla="*/ 75011 w 372234"/>
              <a:gd name="connsiteY11" fmla="*/ 118515 h 359903"/>
              <a:gd name="connsiteX12" fmla="*/ 58428 w 372234"/>
              <a:gd name="connsiteY12" fmla="*/ 147096 h 359903"/>
              <a:gd name="connsiteX13" fmla="*/ 31400 w 372234"/>
              <a:gd name="connsiteY13" fmla="*/ 171071 h 359903"/>
              <a:gd name="connsiteX14" fmla="*/ 27918 w 372234"/>
              <a:gd name="connsiteY14" fmla="*/ 175183 h 359903"/>
              <a:gd name="connsiteX15" fmla="*/ 27918 w 372234"/>
              <a:gd name="connsiteY15" fmla="*/ 207807 h 359903"/>
              <a:gd name="connsiteX16" fmla="*/ 33181 w 372234"/>
              <a:gd name="connsiteY16" fmla="*/ 214021 h 359903"/>
              <a:gd name="connsiteX17" fmla="*/ 59085 w 372234"/>
              <a:gd name="connsiteY17" fmla="*/ 232745 h 359903"/>
              <a:gd name="connsiteX18" fmla="*/ 84317 w 372234"/>
              <a:gd name="connsiteY18" fmla="*/ 266279 h 359903"/>
              <a:gd name="connsiteX19" fmla="*/ 113807 w 372234"/>
              <a:gd name="connsiteY19" fmla="*/ 285613 h 359903"/>
              <a:gd name="connsiteX20" fmla="*/ 124606 w 372234"/>
              <a:gd name="connsiteY20" fmla="*/ 289427 h 359903"/>
              <a:gd name="connsiteX21" fmla="*/ 127546 w 372234"/>
              <a:gd name="connsiteY21" fmla="*/ 290197 h 359903"/>
              <a:gd name="connsiteX22" fmla="*/ 128214 w 372234"/>
              <a:gd name="connsiteY22" fmla="*/ 290348 h 359903"/>
              <a:gd name="connsiteX23" fmla="*/ 128304 w 372234"/>
              <a:gd name="connsiteY23" fmla="*/ 290369 h 359903"/>
              <a:gd name="connsiteX24" fmla="*/ 128324 w 372234"/>
              <a:gd name="connsiteY24" fmla="*/ 290372 h 359903"/>
              <a:gd name="connsiteX25" fmla="*/ 139588 w 372234"/>
              <a:gd name="connsiteY25" fmla="*/ 304069 h 359903"/>
              <a:gd name="connsiteX26" fmla="*/ 139588 w 372234"/>
              <a:gd name="connsiteY26" fmla="*/ 327333 h 359903"/>
              <a:gd name="connsiteX27" fmla="*/ 144241 w 372234"/>
              <a:gd name="connsiteY27" fmla="*/ 331986 h 359903"/>
              <a:gd name="connsiteX28" fmla="*/ 167505 w 372234"/>
              <a:gd name="connsiteY28" fmla="*/ 331986 h 359903"/>
              <a:gd name="connsiteX29" fmla="*/ 195423 w 372234"/>
              <a:gd name="connsiteY29" fmla="*/ 304069 h 359903"/>
              <a:gd name="connsiteX30" fmla="*/ 232646 w 372234"/>
              <a:gd name="connsiteY30" fmla="*/ 304069 h 359903"/>
              <a:gd name="connsiteX31" fmla="*/ 260564 w 372234"/>
              <a:gd name="connsiteY31" fmla="*/ 331986 h 359903"/>
              <a:gd name="connsiteX32" fmla="*/ 283829 w 372234"/>
              <a:gd name="connsiteY32" fmla="*/ 331986 h 359903"/>
              <a:gd name="connsiteX33" fmla="*/ 288481 w 372234"/>
              <a:gd name="connsiteY33" fmla="*/ 327333 h 359903"/>
              <a:gd name="connsiteX34" fmla="*/ 288481 w 372234"/>
              <a:gd name="connsiteY34" fmla="*/ 285457 h 359903"/>
              <a:gd name="connsiteX35" fmla="*/ 296146 w 372234"/>
              <a:gd name="connsiteY35" fmla="*/ 272996 h 359903"/>
              <a:gd name="connsiteX36" fmla="*/ 296393 w 372234"/>
              <a:gd name="connsiteY36" fmla="*/ 272864 h 359903"/>
              <a:gd name="connsiteX37" fmla="*/ 297700 w 372234"/>
              <a:gd name="connsiteY37" fmla="*/ 272116 h 359903"/>
              <a:gd name="connsiteX38" fmla="*/ 302991 w 372234"/>
              <a:gd name="connsiteY38" fmla="*/ 268615 h 359903"/>
              <a:gd name="connsiteX39" fmla="*/ 319760 w 372234"/>
              <a:gd name="connsiteY39" fmla="*/ 253108 h 359903"/>
              <a:gd name="connsiteX40" fmla="*/ 344317 w 372234"/>
              <a:gd name="connsiteY40" fmla="*/ 183093 h 359903"/>
              <a:gd name="connsiteX41" fmla="*/ 334849 w 372234"/>
              <a:gd name="connsiteY41" fmla="*/ 136794 h 359903"/>
              <a:gd name="connsiteX42" fmla="*/ 349703 w 372234"/>
              <a:gd name="connsiteY42" fmla="*/ 107463 h 359903"/>
              <a:gd name="connsiteX43" fmla="*/ 354949 w 372234"/>
              <a:gd name="connsiteY43" fmla="*/ 115343 h 359903"/>
              <a:gd name="connsiteX44" fmla="*/ 372234 w 372234"/>
              <a:gd name="connsiteY44" fmla="*/ 183093 h 359903"/>
              <a:gd name="connsiteX45" fmla="*/ 340955 w 372234"/>
              <a:gd name="connsiteY45" fmla="*/ 271277 h 359903"/>
              <a:gd name="connsiteX46" fmla="*/ 319338 w 372234"/>
              <a:gd name="connsiteY46" fmla="*/ 291247 h 359903"/>
              <a:gd name="connsiteX47" fmla="*/ 316399 w 372234"/>
              <a:gd name="connsiteY47" fmla="*/ 293298 h 359903"/>
              <a:gd name="connsiteX48" fmla="*/ 316399 w 372234"/>
              <a:gd name="connsiteY48" fmla="*/ 327333 h 359903"/>
              <a:gd name="connsiteX49" fmla="*/ 283829 w 372234"/>
              <a:gd name="connsiteY49" fmla="*/ 359904 h 359903"/>
              <a:gd name="connsiteX50" fmla="*/ 260564 w 372234"/>
              <a:gd name="connsiteY50" fmla="*/ 359904 h 359903"/>
              <a:gd name="connsiteX51" fmla="*/ 232646 w 372234"/>
              <a:gd name="connsiteY51" fmla="*/ 331986 h 359903"/>
              <a:gd name="connsiteX52" fmla="*/ 195423 w 372234"/>
              <a:gd name="connsiteY52" fmla="*/ 331986 h 359903"/>
              <a:gd name="connsiteX53" fmla="*/ 167505 w 372234"/>
              <a:gd name="connsiteY53" fmla="*/ 359904 h 359903"/>
              <a:gd name="connsiteX54" fmla="*/ 144241 w 372234"/>
              <a:gd name="connsiteY54" fmla="*/ 359904 h 359903"/>
              <a:gd name="connsiteX55" fmla="*/ 111670 w 372234"/>
              <a:gd name="connsiteY55" fmla="*/ 327333 h 359903"/>
              <a:gd name="connsiteX56" fmla="*/ 111670 w 372234"/>
              <a:gd name="connsiteY56" fmla="*/ 314629 h 359903"/>
              <a:gd name="connsiteX57" fmla="*/ 103029 w 372234"/>
              <a:gd name="connsiteY57" fmla="*/ 311366 h 359903"/>
              <a:gd name="connsiteX58" fmla="*/ 64576 w 372234"/>
              <a:gd name="connsiteY58" fmla="*/ 286021 h 359903"/>
              <a:gd name="connsiteX59" fmla="*/ 34713 w 372234"/>
              <a:gd name="connsiteY59" fmla="*/ 246359 h 359903"/>
              <a:gd name="connsiteX60" fmla="*/ 28591 w 372234"/>
              <a:gd name="connsiteY60" fmla="*/ 241557 h 359903"/>
              <a:gd name="connsiteX61" fmla="*/ 0 w 372234"/>
              <a:gd name="connsiteY61" fmla="*/ 207807 h 359903"/>
              <a:gd name="connsiteX62" fmla="*/ 0 w 372234"/>
              <a:gd name="connsiteY62" fmla="*/ 175183 h 359903"/>
              <a:gd name="connsiteX63" fmla="*/ 26810 w 372234"/>
              <a:gd name="connsiteY63" fmla="*/ 143533 h 359903"/>
              <a:gd name="connsiteX64" fmla="*/ 31947 w 372234"/>
              <a:gd name="connsiteY64" fmla="*/ 138257 h 359903"/>
              <a:gd name="connsiteX65" fmla="*/ 55271 w 372234"/>
              <a:gd name="connsiteY65" fmla="*/ 98775 h 359903"/>
              <a:gd name="connsiteX66" fmla="*/ 86133 w 372234"/>
              <a:gd name="connsiteY66" fmla="*/ 75587 h 359903"/>
              <a:gd name="connsiteX67" fmla="*/ 93059 w 372234"/>
              <a:gd name="connsiteY67" fmla="*/ 71846 h 359903"/>
              <a:gd name="connsiteX68" fmla="*/ 93059 w 372234"/>
              <a:gd name="connsiteY68" fmla="*/ 18772 h 359903"/>
              <a:gd name="connsiteX69" fmla="*/ 125440 w 372234"/>
              <a:gd name="connsiteY69" fmla="*/ 5442 h 359903"/>
              <a:gd name="connsiteX70" fmla="*/ 150403 w 372234"/>
              <a:gd name="connsiteY70" fmla="*/ 26554 h 359903"/>
              <a:gd name="connsiteX71" fmla="*/ 206032 w 372234"/>
              <a:gd name="connsiteY71" fmla="*/ 115122 h 359903"/>
              <a:gd name="connsiteX72" fmla="*/ 187381 w 372234"/>
              <a:gd name="connsiteY72" fmla="*/ 94473 h 359903"/>
              <a:gd name="connsiteX73" fmla="*/ 232068 w 372234"/>
              <a:gd name="connsiteY73" fmla="*/ 11950 h 359903"/>
              <a:gd name="connsiteX74" fmla="*/ 329342 w 372234"/>
              <a:gd name="connsiteY74" fmla="*/ 52232 h 359903"/>
              <a:gd name="connsiteX75" fmla="*/ 302602 w 372234"/>
              <a:gd name="connsiteY75" fmla="*/ 142188 h 359903"/>
              <a:gd name="connsiteX76" fmla="*/ 274813 w 372234"/>
              <a:gd name="connsiteY76" fmla="*/ 143606 h 359903"/>
              <a:gd name="connsiteX77" fmla="*/ 206032 w 372234"/>
              <a:gd name="connsiteY77" fmla="*/ 115122 h 359903"/>
              <a:gd name="connsiteX78" fmla="*/ 287813 w 372234"/>
              <a:gd name="connsiteY78" fmla="*/ 118463 h 359903"/>
              <a:gd name="connsiteX79" fmla="*/ 303550 w 372234"/>
              <a:gd name="connsiteY79" fmla="*/ 62918 h 359903"/>
              <a:gd name="connsiteX80" fmla="*/ 242754 w 372234"/>
              <a:gd name="connsiteY80" fmla="*/ 37742 h 359903"/>
              <a:gd name="connsiteX81" fmla="*/ 214613 w 372234"/>
              <a:gd name="connsiteY81" fmla="*/ 88150 h 359903"/>
              <a:gd name="connsiteX82" fmla="*/ 215012 w 372234"/>
              <a:gd name="connsiteY82" fmla="*/ 88437 h 359903"/>
              <a:gd name="connsiteX83" fmla="*/ 216713 w 372234"/>
              <a:gd name="connsiteY83" fmla="*/ 89329 h 359903"/>
              <a:gd name="connsiteX84" fmla="*/ 285494 w 372234"/>
              <a:gd name="connsiteY84" fmla="*/ 117813 h 359903"/>
              <a:gd name="connsiteX85" fmla="*/ 287329 w 372234"/>
              <a:gd name="connsiteY85" fmla="*/ 118385 h 359903"/>
              <a:gd name="connsiteX86" fmla="*/ 287813 w 372234"/>
              <a:gd name="connsiteY86" fmla="*/ 118463 h 359903"/>
              <a:gd name="connsiteX87" fmla="*/ 130282 w 372234"/>
              <a:gd name="connsiteY87" fmla="*/ 136562 h 359903"/>
              <a:gd name="connsiteX88" fmla="*/ 111670 w 372234"/>
              <a:gd name="connsiteY88" fmla="*/ 155173 h 359903"/>
              <a:gd name="connsiteX89" fmla="*/ 93059 w 372234"/>
              <a:gd name="connsiteY89" fmla="*/ 136562 h 359903"/>
              <a:gd name="connsiteX90" fmla="*/ 111670 w 372234"/>
              <a:gd name="connsiteY90" fmla="*/ 117950 h 359903"/>
              <a:gd name="connsiteX91" fmla="*/ 130282 w 372234"/>
              <a:gd name="connsiteY91" fmla="*/ 136562 h 359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372234" h="359903">
                <a:moveTo>
                  <a:pt x="150403" y="26554"/>
                </a:moveTo>
                <a:cubicBezTo>
                  <a:pt x="160267" y="33362"/>
                  <a:pt x="169696" y="37848"/>
                  <a:pt x="177466" y="38837"/>
                </a:cubicBezTo>
                <a:cubicBezTo>
                  <a:pt x="173230" y="47251"/>
                  <a:pt x="170275" y="56288"/>
                  <a:pt x="168732" y="65624"/>
                </a:cubicBezTo>
                <a:cubicBezTo>
                  <a:pt x="156199" y="62874"/>
                  <a:pt x="144307" y="56267"/>
                  <a:pt x="134547" y="49532"/>
                </a:cubicBezTo>
                <a:cubicBezTo>
                  <a:pt x="129722" y="46202"/>
                  <a:pt x="125154" y="42655"/>
                  <a:pt x="120976" y="39162"/>
                </a:cubicBezTo>
                <a:lnTo>
                  <a:pt x="120976" y="80727"/>
                </a:lnTo>
                <a:cubicBezTo>
                  <a:pt x="120976" y="86427"/>
                  <a:pt x="117511" y="91554"/>
                  <a:pt x="112224" y="93679"/>
                </a:cubicBezTo>
                <a:lnTo>
                  <a:pt x="112108" y="93727"/>
                </a:lnTo>
                <a:cubicBezTo>
                  <a:pt x="111993" y="93775"/>
                  <a:pt x="111795" y="93858"/>
                  <a:pt x="111522" y="93976"/>
                </a:cubicBezTo>
                <a:cubicBezTo>
                  <a:pt x="110975" y="94212"/>
                  <a:pt x="110128" y="94588"/>
                  <a:pt x="109035" y="95103"/>
                </a:cubicBezTo>
                <a:cubicBezTo>
                  <a:pt x="106844" y="96133"/>
                  <a:pt x="103688" y="97710"/>
                  <a:pt x="99984" y="99827"/>
                </a:cubicBezTo>
                <a:cubicBezTo>
                  <a:pt x="92502" y="104102"/>
                  <a:pt x="83155" y="110371"/>
                  <a:pt x="75011" y="118515"/>
                </a:cubicBezTo>
                <a:cubicBezTo>
                  <a:pt x="66571" y="126956"/>
                  <a:pt x="61367" y="138292"/>
                  <a:pt x="58428" y="147096"/>
                </a:cubicBezTo>
                <a:cubicBezTo>
                  <a:pt x="54659" y="158387"/>
                  <a:pt x="45062" y="168795"/>
                  <a:pt x="31400" y="171071"/>
                </a:cubicBezTo>
                <a:cubicBezTo>
                  <a:pt x="29390" y="171406"/>
                  <a:pt x="27918" y="173145"/>
                  <a:pt x="27918" y="175183"/>
                </a:cubicBezTo>
                <a:lnTo>
                  <a:pt x="27918" y="207807"/>
                </a:lnTo>
                <a:cubicBezTo>
                  <a:pt x="27918" y="210887"/>
                  <a:pt x="30144" y="213515"/>
                  <a:pt x="33181" y="214021"/>
                </a:cubicBezTo>
                <a:cubicBezTo>
                  <a:pt x="44793" y="215955"/>
                  <a:pt x="53941" y="223536"/>
                  <a:pt x="59085" y="232745"/>
                </a:cubicBezTo>
                <a:cubicBezTo>
                  <a:pt x="63764" y="241120"/>
                  <a:pt x="72081" y="254044"/>
                  <a:pt x="84317" y="266279"/>
                </a:cubicBezTo>
                <a:cubicBezTo>
                  <a:pt x="93825" y="275788"/>
                  <a:pt x="104897" y="281883"/>
                  <a:pt x="113807" y="285613"/>
                </a:cubicBezTo>
                <a:cubicBezTo>
                  <a:pt x="118223" y="287461"/>
                  <a:pt x="121996" y="288680"/>
                  <a:pt x="124606" y="289427"/>
                </a:cubicBezTo>
                <a:cubicBezTo>
                  <a:pt x="125908" y="289797"/>
                  <a:pt x="126910" y="290048"/>
                  <a:pt x="127546" y="290197"/>
                </a:cubicBezTo>
                <a:cubicBezTo>
                  <a:pt x="127864" y="290272"/>
                  <a:pt x="128089" y="290322"/>
                  <a:pt x="128214" y="290348"/>
                </a:cubicBezTo>
                <a:lnTo>
                  <a:pt x="128304" y="290369"/>
                </a:lnTo>
                <a:lnTo>
                  <a:pt x="128324" y="290372"/>
                </a:lnTo>
                <a:cubicBezTo>
                  <a:pt x="134866" y="291658"/>
                  <a:pt x="139588" y="297396"/>
                  <a:pt x="139588" y="304069"/>
                </a:cubicBezTo>
                <a:lnTo>
                  <a:pt x="139588" y="327333"/>
                </a:lnTo>
                <a:cubicBezTo>
                  <a:pt x="139588" y="329902"/>
                  <a:pt x="141671" y="331986"/>
                  <a:pt x="144241" y="331986"/>
                </a:cubicBezTo>
                <a:lnTo>
                  <a:pt x="167505" y="331986"/>
                </a:lnTo>
                <a:cubicBezTo>
                  <a:pt x="167505" y="316566"/>
                  <a:pt x="180005" y="304069"/>
                  <a:pt x="195423" y="304069"/>
                </a:cubicBezTo>
                <a:lnTo>
                  <a:pt x="232646" y="304069"/>
                </a:lnTo>
                <a:cubicBezTo>
                  <a:pt x="248064" y="304069"/>
                  <a:pt x="260564" y="316566"/>
                  <a:pt x="260564" y="331986"/>
                </a:cubicBezTo>
                <a:lnTo>
                  <a:pt x="283829" y="331986"/>
                </a:lnTo>
                <a:cubicBezTo>
                  <a:pt x="286399" y="331986"/>
                  <a:pt x="288481" y="329902"/>
                  <a:pt x="288481" y="327333"/>
                </a:cubicBezTo>
                <a:lnTo>
                  <a:pt x="288481" y="285457"/>
                </a:lnTo>
                <a:cubicBezTo>
                  <a:pt x="288481" y="280194"/>
                  <a:pt x="291454" y="275373"/>
                  <a:pt x="296146" y="272996"/>
                </a:cubicBezTo>
                <a:lnTo>
                  <a:pt x="296393" y="272864"/>
                </a:lnTo>
                <a:cubicBezTo>
                  <a:pt x="296652" y="272723"/>
                  <a:pt x="297097" y="272475"/>
                  <a:pt x="297700" y="272116"/>
                </a:cubicBezTo>
                <a:cubicBezTo>
                  <a:pt x="298908" y="271398"/>
                  <a:pt x="300739" y="270242"/>
                  <a:pt x="302991" y="268615"/>
                </a:cubicBezTo>
                <a:cubicBezTo>
                  <a:pt x="307508" y="265353"/>
                  <a:pt x="313626" y="260264"/>
                  <a:pt x="319760" y="253108"/>
                </a:cubicBezTo>
                <a:cubicBezTo>
                  <a:pt x="331901" y="238944"/>
                  <a:pt x="344317" y="216482"/>
                  <a:pt x="344317" y="183093"/>
                </a:cubicBezTo>
                <a:cubicBezTo>
                  <a:pt x="344317" y="164358"/>
                  <a:pt x="340814" y="149212"/>
                  <a:pt x="334849" y="136794"/>
                </a:cubicBezTo>
                <a:cubicBezTo>
                  <a:pt x="341510" y="127954"/>
                  <a:pt x="346531" y="118006"/>
                  <a:pt x="349703" y="107463"/>
                </a:cubicBezTo>
                <a:cubicBezTo>
                  <a:pt x="351549" y="109992"/>
                  <a:pt x="353300" y="112617"/>
                  <a:pt x="354949" y="115343"/>
                </a:cubicBezTo>
                <a:cubicBezTo>
                  <a:pt x="366195" y="133921"/>
                  <a:pt x="372234" y="156346"/>
                  <a:pt x="372234" y="183093"/>
                </a:cubicBezTo>
                <a:cubicBezTo>
                  <a:pt x="372234" y="224148"/>
                  <a:pt x="356733" y="252870"/>
                  <a:pt x="340955" y="271277"/>
                </a:cubicBezTo>
                <a:cubicBezTo>
                  <a:pt x="333131" y="280406"/>
                  <a:pt x="325290" y="286948"/>
                  <a:pt x="319338" y="291247"/>
                </a:cubicBezTo>
                <a:cubicBezTo>
                  <a:pt x="318299" y="291997"/>
                  <a:pt x="317317" y="292680"/>
                  <a:pt x="316399" y="293298"/>
                </a:cubicBezTo>
                <a:lnTo>
                  <a:pt x="316399" y="327333"/>
                </a:lnTo>
                <a:cubicBezTo>
                  <a:pt x="316399" y="345321"/>
                  <a:pt x="301817" y="359904"/>
                  <a:pt x="283829" y="359904"/>
                </a:cubicBezTo>
                <a:lnTo>
                  <a:pt x="260564" y="359904"/>
                </a:lnTo>
                <a:cubicBezTo>
                  <a:pt x="245146" y="359904"/>
                  <a:pt x="232646" y="347404"/>
                  <a:pt x="232646" y="331986"/>
                </a:cubicBezTo>
                <a:lnTo>
                  <a:pt x="195423" y="331986"/>
                </a:lnTo>
                <a:cubicBezTo>
                  <a:pt x="195423" y="347404"/>
                  <a:pt x="182923" y="359904"/>
                  <a:pt x="167505" y="359904"/>
                </a:cubicBezTo>
                <a:lnTo>
                  <a:pt x="144241" y="359904"/>
                </a:lnTo>
                <a:cubicBezTo>
                  <a:pt x="126253" y="359904"/>
                  <a:pt x="111670" y="345321"/>
                  <a:pt x="111670" y="327333"/>
                </a:cubicBezTo>
                <a:lnTo>
                  <a:pt x="111670" y="314629"/>
                </a:lnTo>
                <a:cubicBezTo>
                  <a:pt x="109101" y="313762"/>
                  <a:pt x="106185" y="312688"/>
                  <a:pt x="103029" y="311366"/>
                </a:cubicBezTo>
                <a:cubicBezTo>
                  <a:pt x="91935" y="306723"/>
                  <a:pt x="77416" y="298861"/>
                  <a:pt x="64576" y="286021"/>
                </a:cubicBezTo>
                <a:cubicBezTo>
                  <a:pt x="49984" y="271429"/>
                  <a:pt x="40211" y="256203"/>
                  <a:pt x="34713" y="246359"/>
                </a:cubicBezTo>
                <a:cubicBezTo>
                  <a:pt x="33090" y="243456"/>
                  <a:pt x="30666" y="241904"/>
                  <a:pt x="28591" y="241557"/>
                </a:cubicBezTo>
                <a:cubicBezTo>
                  <a:pt x="12093" y="238809"/>
                  <a:pt x="0" y="224533"/>
                  <a:pt x="0" y="207807"/>
                </a:cubicBezTo>
                <a:lnTo>
                  <a:pt x="0" y="175183"/>
                </a:lnTo>
                <a:cubicBezTo>
                  <a:pt x="0" y="159498"/>
                  <a:pt x="11339" y="146113"/>
                  <a:pt x="26810" y="143533"/>
                </a:cubicBezTo>
                <a:cubicBezTo>
                  <a:pt x="28428" y="143263"/>
                  <a:pt x="30812" y="141657"/>
                  <a:pt x="31947" y="138257"/>
                </a:cubicBezTo>
                <a:cubicBezTo>
                  <a:pt x="35527" y="127532"/>
                  <a:pt x="42474" y="111572"/>
                  <a:pt x="55271" y="98775"/>
                </a:cubicBezTo>
                <a:cubicBezTo>
                  <a:pt x="65738" y="88307"/>
                  <a:pt x="77329" y="80618"/>
                  <a:pt x="86133" y="75587"/>
                </a:cubicBezTo>
                <a:cubicBezTo>
                  <a:pt x="88671" y="74137"/>
                  <a:pt x="91008" y="72890"/>
                  <a:pt x="93059" y="71846"/>
                </a:cubicBezTo>
                <a:lnTo>
                  <a:pt x="93059" y="18772"/>
                </a:lnTo>
                <a:cubicBezTo>
                  <a:pt x="93059" y="1316"/>
                  <a:pt x="114101" y="-5849"/>
                  <a:pt x="125440" y="5442"/>
                </a:cubicBezTo>
                <a:cubicBezTo>
                  <a:pt x="131591" y="11566"/>
                  <a:pt x="140520" y="19734"/>
                  <a:pt x="150403" y="26554"/>
                </a:cubicBezTo>
                <a:close/>
                <a:moveTo>
                  <a:pt x="206032" y="115122"/>
                </a:moveTo>
                <a:cubicBezTo>
                  <a:pt x="196910" y="111345"/>
                  <a:pt x="189214" y="104174"/>
                  <a:pt x="187381" y="94473"/>
                </a:cubicBezTo>
                <a:cubicBezTo>
                  <a:pt x="180978" y="60572"/>
                  <a:pt x="198933" y="25679"/>
                  <a:pt x="232068" y="11950"/>
                </a:cubicBezTo>
                <a:cubicBezTo>
                  <a:pt x="270052" y="-3787"/>
                  <a:pt x="313604" y="14248"/>
                  <a:pt x="329342" y="52232"/>
                </a:cubicBezTo>
                <a:cubicBezTo>
                  <a:pt x="343070" y="85368"/>
                  <a:pt x="331099" y="122739"/>
                  <a:pt x="302602" y="142188"/>
                </a:cubicBezTo>
                <a:cubicBezTo>
                  <a:pt x="294448" y="147753"/>
                  <a:pt x="283935" y="147384"/>
                  <a:pt x="274813" y="143606"/>
                </a:cubicBezTo>
                <a:lnTo>
                  <a:pt x="206032" y="115122"/>
                </a:lnTo>
                <a:close/>
                <a:moveTo>
                  <a:pt x="287813" y="118463"/>
                </a:moveTo>
                <a:cubicBezTo>
                  <a:pt x="304929" y="106140"/>
                  <a:pt x="311964" y="83226"/>
                  <a:pt x="303550" y="62918"/>
                </a:cubicBezTo>
                <a:cubicBezTo>
                  <a:pt x="293713" y="39178"/>
                  <a:pt x="266494" y="27906"/>
                  <a:pt x="242754" y="37742"/>
                </a:cubicBezTo>
                <a:cubicBezTo>
                  <a:pt x="222447" y="46156"/>
                  <a:pt x="211222" y="67335"/>
                  <a:pt x="214613" y="88150"/>
                </a:cubicBezTo>
                <a:cubicBezTo>
                  <a:pt x="214721" y="88235"/>
                  <a:pt x="214854" y="88332"/>
                  <a:pt x="215012" y="88437"/>
                </a:cubicBezTo>
                <a:cubicBezTo>
                  <a:pt x="215451" y="88730"/>
                  <a:pt x="216022" y="89043"/>
                  <a:pt x="216713" y="89329"/>
                </a:cubicBezTo>
                <a:lnTo>
                  <a:pt x="285494" y="117813"/>
                </a:lnTo>
                <a:cubicBezTo>
                  <a:pt x="286187" y="118099"/>
                  <a:pt x="286812" y="118281"/>
                  <a:pt x="287329" y="118385"/>
                </a:cubicBezTo>
                <a:cubicBezTo>
                  <a:pt x="287516" y="118422"/>
                  <a:pt x="287677" y="118447"/>
                  <a:pt x="287813" y="118463"/>
                </a:cubicBezTo>
                <a:close/>
                <a:moveTo>
                  <a:pt x="130282" y="136562"/>
                </a:moveTo>
                <a:cubicBezTo>
                  <a:pt x="130282" y="146841"/>
                  <a:pt x="121949" y="155173"/>
                  <a:pt x="111670" y="155173"/>
                </a:cubicBezTo>
                <a:cubicBezTo>
                  <a:pt x="101391" y="155173"/>
                  <a:pt x="93059" y="146841"/>
                  <a:pt x="93059" y="136562"/>
                </a:cubicBezTo>
                <a:cubicBezTo>
                  <a:pt x="93059" y="126283"/>
                  <a:pt x="101391" y="117950"/>
                  <a:pt x="111670" y="117950"/>
                </a:cubicBezTo>
                <a:cubicBezTo>
                  <a:pt x="121949" y="117950"/>
                  <a:pt x="130282" y="126283"/>
                  <a:pt x="130282" y="136562"/>
                </a:cubicBez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30" name="Graphic 13" descr="Icon of a chart made of vertical lines with a line tracing the top of each, turning into an arrow pointing up">
            <a:extLst>
              <a:ext uri="{FF2B5EF4-FFF2-40B4-BE49-F238E27FC236}">
                <a16:creationId xmlns:a16="http://schemas.microsoft.com/office/drawing/2014/main" id="{AF28D666-C343-0DAF-C647-94DC968FA386}"/>
              </a:ext>
            </a:extLst>
          </p:cNvPr>
          <p:cNvSpPr>
            <a:spLocks noChangeAspect="1"/>
          </p:cNvSpPr>
          <p:nvPr/>
        </p:nvSpPr>
        <p:spPr>
          <a:xfrm>
            <a:off x="5951548" y="5775577"/>
            <a:ext cx="183641" cy="193302"/>
          </a:xfrm>
          <a:custGeom>
            <a:avLst/>
            <a:gdLst>
              <a:gd name="connsiteX0" fmla="*/ 195609 w 270323"/>
              <a:gd name="connsiteY0" fmla="*/ 0 h 284545"/>
              <a:gd name="connsiteX1" fmla="*/ 260397 w 270323"/>
              <a:gd name="connsiteY1" fmla="*/ 7 h 284545"/>
              <a:gd name="connsiteX2" fmla="*/ 261824 w 270323"/>
              <a:gd name="connsiteY2" fmla="*/ 205 h 284545"/>
              <a:gd name="connsiteX3" fmla="*/ 263230 w 270323"/>
              <a:gd name="connsiteY3" fmla="*/ 598 h 284545"/>
              <a:gd name="connsiteX4" fmla="*/ 264088 w 270323"/>
              <a:gd name="connsiteY4" fmla="*/ 962 h 284545"/>
              <a:gd name="connsiteX5" fmla="*/ 267199 w 270323"/>
              <a:gd name="connsiteY5" fmla="*/ 3107 h 284545"/>
              <a:gd name="connsiteX6" fmla="*/ 267778 w 270323"/>
              <a:gd name="connsiteY6" fmla="*/ 3733 h 284545"/>
              <a:gd name="connsiteX7" fmla="*/ 268397 w 270323"/>
              <a:gd name="connsiteY7" fmla="*/ 4535 h 284545"/>
              <a:gd name="connsiteX8" fmla="*/ 269168 w 270323"/>
              <a:gd name="connsiteY8" fmla="*/ 5818 h 284545"/>
              <a:gd name="connsiteX9" fmla="*/ 269719 w 270323"/>
              <a:gd name="connsiteY9" fmla="*/ 7103 h 284545"/>
              <a:gd name="connsiteX10" fmla="*/ 269991 w 270323"/>
              <a:gd name="connsiteY10" fmla="*/ 8014 h 284545"/>
              <a:gd name="connsiteX11" fmla="*/ 270184 w 270323"/>
              <a:gd name="connsiteY11" fmla="*/ 8925 h 284545"/>
              <a:gd name="connsiteX12" fmla="*/ 270318 w 270323"/>
              <a:gd name="connsiteY12" fmla="*/ 10265 h 284545"/>
              <a:gd name="connsiteX13" fmla="*/ 270323 w 270323"/>
              <a:gd name="connsiteY13" fmla="*/ 74748 h 284545"/>
              <a:gd name="connsiteX14" fmla="*/ 259653 w 270323"/>
              <a:gd name="connsiteY14" fmla="*/ 85419 h 284545"/>
              <a:gd name="connsiteX15" fmla="*/ 249081 w 270323"/>
              <a:gd name="connsiteY15" fmla="*/ 76196 h 284545"/>
              <a:gd name="connsiteX16" fmla="*/ 248983 w 270323"/>
              <a:gd name="connsiteY16" fmla="*/ 74748 h 284545"/>
              <a:gd name="connsiteX17" fmla="*/ 248977 w 270323"/>
              <a:gd name="connsiteY17" fmla="*/ 36408 h 284545"/>
              <a:gd name="connsiteX18" fmla="*/ 157363 w 270323"/>
              <a:gd name="connsiteY18" fmla="*/ 128041 h 284545"/>
              <a:gd name="connsiteX19" fmla="*/ 143469 w 270323"/>
              <a:gd name="connsiteY19" fmla="*/ 129075 h 284545"/>
              <a:gd name="connsiteX20" fmla="*/ 142273 w 270323"/>
              <a:gd name="connsiteY20" fmla="*/ 128042 h 284545"/>
              <a:gd name="connsiteX21" fmla="*/ 99160 w 270323"/>
              <a:gd name="connsiteY21" fmla="*/ 86633 h 284545"/>
              <a:gd name="connsiteX22" fmla="*/ 18216 w 270323"/>
              <a:gd name="connsiteY22" fmla="*/ 167577 h 284545"/>
              <a:gd name="connsiteX23" fmla="*/ 3125 w 270323"/>
              <a:gd name="connsiteY23" fmla="*/ 167577 h 284545"/>
              <a:gd name="connsiteX24" fmla="*/ 2092 w 270323"/>
              <a:gd name="connsiteY24" fmla="*/ 153684 h 284545"/>
              <a:gd name="connsiteX25" fmla="*/ 3125 w 270323"/>
              <a:gd name="connsiteY25" fmla="*/ 152486 h 284545"/>
              <a:gd name="connsiteX26" fmla="*/ 91614 w 270323"/>
              <a:gd name="connsiteY26" fmla="*/ 63998 h 284545"/>
              <a:gd name="connsiteX27" fmla="*/ 105508 w 270323"/>
              <a:gd name="connsiteY27" fmla="*/ 62965 h 284545"/>
              <a:gd name="connsiteX28" fmla="*/ 106704 w 270323"/>
              <a:gd name="connsiteY28" fmla="*/ 63998 h 284545"/>
              <a:gd name="connsiteX29" fmla="*/ 149817 w 270323"/>
              <a:gd name="connsiteY29" fmla="*/ 105406 h 284545"/>
              <a:gd name="connsiteX30" fmla="*/ 233868 w 270323"/>
              <a:gd name="connsiteY30" fmla="*/ 21341 h 284545"/>
              <a:gd name="connsiteX31" fmla="*/ 195609 w 270323"/>
              <a:gd name="connsiteY31" fmla="*/ 21341 h 284545"/>
              <a:gd name="connsiteX32" fmla="*/ 185037 w 270323"/>
              <a:gd name="connsiteY32" fmla="*/ 12118 h 284545"/>
              <a:gd name="connsiteX33" fmla="*/ 184939 w 270323"/>
              <a:gd name="connsiteY33" fmla="*/ 10670 h 284545"/>
              <a:gd name="connsiteX34" fmla="*/ 194162 w 270323"/>
              <a:gd name="connsiteY34" fmla="*/ 97 h 284545"/>
              <a:gd name="connsiteX35" fmla="*/ 195609 w 270323"/>
              <a:gd name="connsiteY35" fmla="*/ 0 h 284545"/>
              <a:gd name="connsiteX36" fmla="*/ 10670 w 270323"/>
              <a:gd name="connsiteY36" fmla="*/ 213409 h 284545"/>
              <a:gd name="connsiteX37" fmla="*/ 21341 w 270323"/>
              <a:gd name="connsiteY37" fmla="*/ 224079 h 284545"/>
              <a:gd name="connsiteX38" fmla="*/ 21341 w 270323"/>
              <a:gd name="connsiteY38" fmla="*/ 273875 h 284545"/>
              <a:gd name="connsiteX39" fmla="*/ 10670 w 270323"/>
              <a:gd name="connsiteY39" fmla="*/ 284545 h 284545"/>
              <a:gd name="connsiteX40" fmla="*/ 0 w 270323"/>
              <a:gd name="connsiteY40" fmla="*/ 273875 h 284545"/>
              <a:gd name="connsiteX41" fmla="*/ 0 w 270323"/>
              <a:gd name="connsiteY41" fmla="*/ 224079 h 284545"/>
              <a:gd name="connsiteX42" fmla="*/ 10670 w 270323"/>
              <a:gd name="connsiteY42" fmla="*/ 213409 h 284545"/>
              <a:gd name="connsiteX43" fmla="*/ 92477 w 270323"/>
              <a:gd name="connsiteY43" fmla="*/ 167170 h 284545"/>
              <a:gd name="connsiteX44" fmla="*/ 81807 w 270323"/>
              <a:gd name="connsiteY44" fmla="*/ 156500 h 284545"/>
              <a:gd name="connsiteX45" fmla="*/ 71136 w 270323"/>
              <a:gd name="connsiteY45" fmla="*/ 167170 h 284545"/>
              <a:gd name="connsiteX46" fmla="*/ 71136 w 270323"/>
              <a:gd name="connsiteY46" fmla="*/ 273875 h 284545"/>
              <a:gd name="connsiteX47" fmla="*/ 81807 w 270323"/>
              <a:gd name="connsiteY47" fmla="*/ 284545 h 284545"/>
              <a:gd name="connsiteX48" fmla="*/ 92477 w 270323"/>
              <a:gd name="connsiteY48" fmla="*/ 273875 h 284545"/>
              <a:gd name="connsiteX49" fmla="*/ 92477 w 270323"/>
              <a:gd name="connsiteY49" fmla="*/ 167170 h 284545"/>
              <a:gd name="connsiteX50" fmla="*/ 152943 w 270323"/>
              <a:gd name="connsiteY50" fmla="*/ 184954 h 284545"/>
              <a:gd name="connsiteX51" fmla="*/ 163613 w 270323"/>
              <a:gd name="connsiteY51" fmla="*/ 195625 h 284545"/>
              <a:gd name="connsiteX52" fmla="*/ 163613 w 270323"/>
              <a:gd name="connsiteY52" fmla="*/ 273875 h 284545"/>
              <a:gd name="connsiteX53" fmla="*/ 152943 w 270323"/>
              <a:gd name="connsiteY53" fmla="*/ 284545 h 284545"/>
              <a:gd name="connsiteX54" fmla="*/ 142273 w 270323"/>
              <a:gd name="connsiteY54" fmla="*/ 273875 h 284545"/>
              <a:gd name="connsiteX55" fmla="*/ 142273 w 270323"/>
              <a:gd name="connsiteY55" fmla="*/ 195625 h 284545"/>
              <a:gd name="connsiteX56" fmla="*/ 152943 w 270323"/>
              <a:gd name="connsiteY56" fmla="*/ 184954 h 284545"/>
              <a:gd name="connsiteX57" fmla="*/ 234750 w 270323"/>
              <a:gd name="connsiteY57" fmla="*/ 124488 h 284545"/>
              <a:gd name="connsiteX58" fmla="*/ 224079 w 270323"/>
              <a:gd name="connsiteY58" fmla="*/ 113818 h 284545"/>
              <a:gd name="connsiteX59" fmla="*/ 213409 w 270323"/>
              <a:gd name="connsiteY59" fmla="*/ 124488 h 284545"/>
              <a:gd name="connsiteX60" fmla="*/ 213409 w 270323"/>
              <a:gd name="connsiteY60" fmla="*/ 273875 h 284545"/>
              <a:gd name="connsiteX61" fmla="*/ 224079 w 270323"/>
              <a:gd name="connsiteY61" fmla="*/ 284545 h 284545"/>
              <a:gd name="connsiteX62" fmla="*/ 234750 w 270323"/>
              <a:gd name="connsiteY62" fmla="*/ 273875 h 284545"/>
              <a:gd name="connsiteX63" fmla="*/ 234750 w 270323"/>
              <a:gd name="connsiteY63" fmla="*/ 124488 h 284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70323" h="284545">
                <a:moveTo>
                  <a:pt x="195609" y="0"/>
                </a:moveTo>
                <a:lnTo>
                  <a:pt x="260397" y="7"/>
                </a:lnTo>
                <a:lnTo>
                  <a:pt x="261824" y="205"/>
                </a:lnTo>
                <a:lnTo>
                  <a:pt x="263230" y="598"/>
                </a:lnTo>
                <a:lnTo>
                  <a:pt x="264088" y="962"/>
                </a:lnTo>
                <a:cubicBezTo>
                  <a:pt x="265214" y="1458"/>
                  <a:pt x="266270" y="2179"/>
                  <a:pt x="267199" y="3107"/>
                </a:cubicBezTo>
                <a:lnTo>
                  <a:pt x="267778" y="3733"/>
                </a:lnTo>
                <a:lnTo>
                  <a:pt x="268397" y="4535"/>
                </a:lnTo>
                <a:lnTo>
                  <a:pt x="269168" y="5818"/>
                </a:lnTo>
                <a:lnTo>
                  <a:pt x="269719" y="7103"/>
                </a:lnTo>
                <a:lnTo>
                  <a:pt x="269991" y="8014"/>
                </a:lnTo>
                <a:lnTo>
                  <a:pt x="270184" y="8925"/>
                </a:lnTo>
                <a:lnTo>
                  <a:pt x="270318" y="10265"/>
                </a:lnTo>
                <a:lnTo>
                  <a:pt x="270323" y="74748"/>
                </a:lnTo>
                <a:cubicBezTo>
                  <a:pt x="270323" y="80641"/>
                  <a:pt x="265547" y="85419"/>
                  <a:pt x="259653" y="85419"/>
                </a:cubicBezTo>
                <a:cubicBezTo>
                  <a:pt x="254252" y="85419"/>
                  <a:pt x="249788" y="81405"/>
                  <a:pt x="249081" y="76196"/>
                </a:cubicBezTo>
                <a:lnTo>
                  <a:pt x="248983" y="74748"/>
                </a:lnTo>
                <a:lnTo>
                  <a:pt x="248977" y="36408"/>
                </a:lnTo>
                <a:lnTo>
                  <a:pt x="157363" y="128041"/>
                </a:lnTo>
                <a:cubicBezTo>
                  <a:pt x="153575" y="131830"/>
                  <a:pt x="147646" y="132174"/>
                  <a:pt x="143469" y="129075"/>
                </a:cubicBezTo>
                <a:lnTo>
                  <a:pt x="142273" y="128042"/>
                </a:lnTo>
                <a:lnTo>
                  <a:pt x="99160" y="86633"/>
                </a:lnTo>
                <a:lnTo>
                  <a:pt x="18216" y="167577"/>
                </a:lnTo>
                <a:cubicBezTo>
                  <a:pt x="14049" y="171744"/>
                  <a:pt x="7292" y="171744"/>
                  <a:pt x="3125" y="167577"/>
                </a:cubicBezTo>
                <a:cubicBezTo>
                  <a:pt x="-663" y="163788"/>
                  <a:pt x="-1007" y="157861"/>
                  <a:pt x="2092" y="153684"/>
                </a:cubicBezTo>
                <a:lnTo>
                  <a:pt x="3125" y="152486"/>
                </a:lnTo>
                <a:lnTo>
                  <a:pt x="91614" y="63998"/>
                </a:lnTo>
                <a:cubicBezTo>
                  <a:pt x="95402" y="60210"/>
                  <a:pt x="101331" y="59865"/>
                  <a:pt x="105508" y="62965"/>
                </a:cubicBezTo>
                <a:lnTo>
                  <a:pt x="106704" y="63998"/>
                </a:lnTo>
                <a:lnTo>
                  <a:pt x="149817" y="105406"/>
                </a:lnTo>
                <a:lnTo>
                  <a:pt x="233868" y="21341"/>
                </a:lnTo>
                <a:lnTo>
                  <a:pt x="195609" y="21341"/>
                </a:lnTo>
                <a:cubicBezTo>
                  <a:pt x="190207" y="21341"/>
                  <a:pt x="185742" y="17327"/>
                  <a:pt x="185037" y="12118"/>
                </a:cubicBezTo>
                <a:lnTo>
                  <a:pt x="184939" y="10670"/>
                </a:lnTo>
                <a:cubicBezTo>
                  <a:pt x="184939" y="5268"/>
                  <a:pt x="188954" y="804"/>
                  <a:pt x="194162" y="97"/>
                </a:cubicBezTo>
                <a:lnTo>
                  <a:pt x="195609" y="0"/>
                </a:lnTo>
                <a:close/>
                <a:moveTo>
                  <a:pt x="10670" y="213409"/>
                </a:moveTo>
                <a:cubicBezTo>
                  <a:pt x="16564" y="213409"/>
                  <a:pt x="21341" y="218186"/>
                  <a:pt x="21341" y="224079"/>
                </a:cubicBezTo>
                <a:lnTo>
                  <a:pt x="21341" y="273875"/>
                </a:lnTo>
                <a:cubicBezTo>
                  <a:pt x="21341" y="279768"/>
                  <a:pt x="16564" y="284545"/>
                  <a:pt x="10670" y="284545"/>
                </a:cubicBezTo>
                <a:cubicBezTo>
                  <a:pt x="4777" y="284545"/>
                  <a:pt x="0" y="279768"/>
                  <a:pt x="0" y="273875"/>
                </a:cubicBezTo>
                <a:lnTo>
                  <a:pt x="0" y="224079"/>
                </a:lnTo>
                <a:cubicBezTo>
                  <a:pt x="0" y="218186"/>
                  <a:pt x="4777" y="213409"/>
                  <a:pt x="10670" y="213409"/>
                </a:cubicBezTo>
                <a:close/>
                <a:moveTo>
                  <a:pt x="92477" y="167170"/>
                </a:moveTo>
                <a:cubicBezTo>
                  <a:pt x="92477" y="161277"/>
                  <a:pt x="87700" y="156500"/>
                  <a:pt x="81807" y="156500"/>
                </a:cubicBezTo>
                <a:cubicBezTo>
                  <a:pt x="75914" y="156500"/>
                  <a:pt x="71136" y="161277"/>
                  <a:pt x="71136" y="167170"/>
                </a:cubicBezTo>
                <a:lnTo>
                  <a:pt x="71136" y="273875"/>
                </a:lnTo>
                <a:cubicBezTo>
                  <a:pt x="71136" y="279768"/>
                  <a:pt x="75914" y="284545"/>
                  <a:pt x="81807" y="284545"/>
                </a:cubicBezTo>
                <a:cubicBezTo>
                  <a:pt x="87700" y="284545"/>
                  <a:pt x="92477" y="279768"/>
                  <a:pt x="92477" y="273875"/>
                </a:cubicBezTo>
                <a:lnTo>
                  <a:pt x="92477" y="167170"/>
                </a:lnTo>
                <a:close/>
                <a:moveTo>
                  <a:pt x="152943" y="184954"/>
                </a:moveTo>
                <a:cubicBezTo>
                  <a:pt x="158836" y="184954"/>
                  <a:pt x="163613" y="189732"/>
                  <a:pt x="163613" y="195625"/>
                </a:cubicBezTo>
                <a:lnTo>
                  <a:pt x="163613" y="273875"/>
                </a:lnTo>
                <a:cubicBezTo>
                  <a:pt x="163613" y="279768"/>
                  <a:pt x="158836" y="284545"/>
                  <a:pt x="152943" y="284545"/>
                </a:cubicBezTo>
                <a:cubicBezTo>
                  <a:pt x="147050" y="284545"/>
                  <a:pt x="142273" y="279768"/>
                  <a:pt x="142273" y="273875"/>
                </a:cubicBezTo>
                <a:lnTo>
                  <a:pt x="142273" y="195625"/>
                </a:lnTo>
                <a:cubicBezTo>
                  <a:pt x="142273" y="189732"/>
                  <a:pt x="147050" y="184954"/>
                  <a:pt x="152943" y="184954"/>
                </a:cubicBezTo>
                <a:close/>
                <a:moveTo>
                  <a:pt x="234750" y="124488"/>
                </a:moveTo>
                <a:cubicBezTo>
                  <a:pt x="234750" y="118596"/>
                  <a:pt x="229972" y="113818"/>
                  <a:pt x="224079" y="113818"/>
                </a:cubicBezTo>
                <a:cubicBezTo>
                  <a:pt x="218186" y="113818"/>
                  <a:pt x="213409" y="118596"/>
                  <a:pt x="213409" y="124488"/>
                </a:cubicBezTo>
                <a:lnTo>
                  <a:pt x="213409" y="273875"/>
                </a:lnTo>
                <a:cubicBezTo>
                  <a:pt x="213409" y="279768"/>
                  <a:pt x="218186" y="284545"/>
                  <a:pt x="224079" y="284545"/>
                </a:cubicBezTo>
                <a:cubicBezTo>
                  <a:pt x="229972" y="284545"/>
                  <a:pt x="234750" y="279768"/>
                  <a:pt x="234750" y="273875"/>
                </a:cubicBezTo>
                <a:lnTo>
                  <a:pt x="234750" y="124488"/>
                </a:ln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Freeform: Shape 124" descr="Employee retention icon">
            <a:extLst>
              <a:ext uri="{FF2B5EF4-FFF2-40B4-BE49-F238E27FC236}">
                <a16:creationId xmlns:a16="http://schemas.microsoft.com/office/drawing/2014/main" id="{270699BF-E97D-B34D-14E4-7E8957CCD89B}"/>
              </a:ext>
            </a:extLst>
          </p:cNvPr>
          <p:cNvSpPr/>
          <p:nvPr/>
        </p:nvSpPr>
        <p:spPr>
          <a:xfrm>
            <a:off x="5943566" y="5152034"/>
            <a:ext cx="182880" cy="180812"/>
          </a:xfrm>
          <a:custGeom>
            <a:avLst/>
            <a:gdLst>
              <a:gd name="connsiteX0" fmla="*/ 53644 w 190500"/>
              <a:gd name="connsiteY0" fmla="*/ 109537 h 190500"/>
              <a:gd name="connsiteX1" fmla="*/ 95249 w 190500"/>
              <a:gd name="connsiteY1" fmla="*/ 142875 h 190500"/>
              <a:gd name="connsiteX2" fmla="*/ 136855 w 190500"/>
              <a:gd name="connsiteY2" fmla="*/ 109537 h 190500"/>
              <a:gd name="connsiteX3" fmla="*/ 45243 w 190500"/>
              <a:gd name="connsiteY3" fmla="*/ 95250 h 190500"/>
              <a:gd name="connsiteX4" fmla="*/ 145256 w 190500"/>
              <a:gd name="connsiteY4" fmla="*/ 95250 h 190500"/>
              <a:gd name="connsiteX5" fmla="*/ 145914 w 190500"/>
              <a:gd name="connsiteY5" fmla="*/ 95279 h 190500"/>
              <a:gd name="connsiteX6" fmla="*/ 152380 w 190500"/>
              <a:gd name="connsiteY6" fmla="*/ 103041 h 190500"/>
              <a:gd name="connsiteX7" fmla="*/ 95249 w 190500"/>
              <a:gd name="connsiteY7" fmla="*/ 157162 h 190500"/>
              <a:gd name="connsiteX8" fmla="*/ 38118 w 190500"/>
              <a:gd name="connsiteY8" fmla="*/ 103041 h 190500"/>
              <a:gd name="connsiteX9" fmla="*/ 38089 w 190500"/>
              <a:gd name="connsiteY9" fmla="*/ 102383 h 190500"/>
              <a:gd name="connsiteX10" fmla="*/ 45243 w 190500"/>
              <a:gd name="connsiteY10" fmla="*/ 95250 h 190500"/>
              <a:gd name="connsiteX11" fmla="*/ 126206 w 190500"/>
              <a:gd name="connsiteY11" fmla="*/ 50006 h 190500"/>
              <a:gd name="connsiteX12" fmla="*/ 147561 w 190500"/>
              <a:gd name="connsiteY12" fmla="*/ 68008 h 190500"/>
              <a:gd name="connsiteX13" fmla="*/ 141541 w 190500"/>
              <a:gd name="connsiteY13" fmla="*/ 76124 h 190500"/>
              <a:gd name="connsiteX14" fmla="*/ 133426 w 190500"/>
              <a:gd name="connsiteY14" fmla="*/ 70104 h 190500"/>
              <a:gd name="connsiteX15" fmla="*/ 126206 w 190500"/>
              <a:gd name="connsiteY15" fmla="*/ 64294 h 190500"/>
              <a:gd name="connsiteX16" fmla="*/ 118986 w 190500"/>
              <a:gd name="connsiteY16" fmla="*/ 70104 h 190500"/>
              <a:gd name="connsiteX17" fmla="*/ 110870 w 190500"/>
              <a:gd name="connsiteY17" fmla="*/ 76124 h 190500"/>
              <a:gd name="connsiteX18" fmla="*/ 104851 w 190500"/>
              <a:gd name="connsiteY18" fmla="*/ 68008 h 190500"/>
              <a:gd name="connsiteX19" fmla="*/ 126206 w 190500"/>
              <a:gd name="connsiteY19" fmla="*/ 50006 h 190500"/>
              <a:gd name="connsiteX20" fmla="*/ 64293 w 190500"/>
              <a:gd name="connsiteY20" fmla="*/ 50006 h 190500"/>
              <a:gd name="connsiteX21" fmla="*/ 85648 w 190500"/>
              <a:gd name="connsiteY21" fmla="*/ 68008 h 190500"/>
              <a:gd name="connsiteX22" fmla="*/ 79628 w 190500"/>
              <a:gd name="connsiteY22" fmla="*/ 76124 h 190500"/>
              <a:gd name="connsiteX23" fmla="*/ 71513 w 190500"/>
              <a:gd name="connsiteY23" fmla="*/ 70104 h 190500"/>
              <a:gd name="connsiteX24" fmla="*/ 64293 w 190500"/>
              <a:gd name="connsiteY24" fmla="*/ 64294 h 190500"/>
              <a:gd name="connsiteX25" fmla="*/ 57073 w 190500"/>
              <a:gd name="connsiteY25" fmla="*/ 70104 h 190500"/>
              <a:gd name="connsiteX26" fmla="*/ 48958 w 190500"/>
              <a:gd name="connsiteY26" fmla="*/ 76124 h 190500"/>
              <a:gd name="connsiteX27" fmla="*/ 42938 w 190500"/>
              <a:gd name="connsiteY27" fmla="*/ 68008 h 190500"/>
              <a:gd name="connsiteX28" fmla="*/ 64293 w 190500"/>
              <a:gd name="connsiteY28" fmla="*/ 50006 h 190500"/>
              <a:gd name="connsiteX29" fmla="*/ 95250 w 190500"/>
              <a:gd name="connsiteY29" fmla="*/ 14288 h 190500"/>
              <a:gd name="connsiteX30" fmla="*/ 14288 w 190500"/>
              <a:gd name="connsiteY30" fmla="*/ 95250 h 190500"/>
              <a:gd name="connsiteX31" fmla="*/ 95250 w 190500"/>
              <a:gd name="connsiteY31" fmla="*/ 176213 h 190500"/>
              <a:gd name="connsiteX32" fmla="*/ 176213 w 190500"/>
              <a:gd name="connsiteY32" fmla="*/ 95250 h 190500"/>
              <a:gd name="connsiteX33" fmla="*/ 95250 w 190500"/>
              <a:gd name="connsiteY33" fmla="*/ 14288 h 190500"/>
              <a:gd name="connsiteX34" fmla="*/ 95250 w 190500"/>
              <a:gd name="connsiteY34" fmla="*/ 0 h 190500"/>
              <a:gd name="connsiteX35" fmla="*/ 190500 w 190500"/>
              <a:gd name="connsiteY35" fmla="*/ 95250 h 190500"/>
              <a:gd name="connsiteX36" fmla="*/ 95250 w 190500"/>
              <a:gd name="connsiteY36" fmla="*/ 190500 h 190500"/>
              <a:gd name="connsiteX37" fmla="*/ 0 w 190500"/>
              <a:gd name="connsiteY37" fmla="*/ 95250 h 190500"/>
              <a:gd name="connsiteX38" fmla="*/ 95250 w 190500"/>
              <a:gd name="connsiteY38"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90500" h="190500">
                <a:moveTo>
                  <a:pt x="53644" y="109537"/>
                </a:moveTo>
                <a:cubicBezTo>
                  <a:pt x="58378" y="128778"/>
                  <a:pt x="73751" y="142875"/>
                  <a:pt x="95249" y="142875"/>
                </a:cubicBezTo>
                <a:cubicBezTo>
                  <a:pt x="116757" y="142875"/>
                  <a:pt x="132130" y="128778"/>
                  <a:pt x="136855" y="109537"/>
                </a:cubicBezTo>
                <a:close/>
                <a:moveTo>
                  <a:pt x="45243" y="95250"/>
                </a:moveTo>
                <a:lnTo>
                  <a:pt x="145256" y="95250"/>
                </a:lnTo>
                <a:cubicBezTo>
                  <a:pt x="145476" y="95250"/>
                  <a:pt x="145695" y="95259"/>
                  <a:pt x="145914" y="95279"/>
                </a:cubicBezTo>
                <a:cubicBezTo>
                  <a:pt x="149843" y="95636"/>
                  <a:pt x="152738" y="99112"/>
                  <a:pt x="152380" y="103041"/>
                </a:cubicBezTo>
                <a:cubicBezTo>
                  <a:pt x="149704" y="132321"/>
                  <a:pt x="128092" y="157162"/>
                  <a:pt x="95249" y="157162"/>
                </a:cubicBezTo>
                <a:cubicBezTo>
                  <a:pt x="62407" y="157162"/>
                  <a:pt x="40785" y="132321"/>
                  <a:pt x="38118" y="103041"/>
                </a:cubicBezTo>
                <a:cubicBezTo>
                  <a:pt x="38099" y="102822"/>
                  <a:pt x="38089" y="102603"/>
                  <a:pt x="38089" y="102383"/>
                </a:cubicBezTo>
                <a:cubicBezTo>
                  <a:pt x="38095" y="98438"/>
                  <a:pt x="41298" y="95244"/>
                  <a:pt x="45243" y="95250"/>
                </a:cubicBezTo>
                <a:close/>
                <a:moveTo>
                  <a:pt x="126206" y="50006"/>
                </a:moveTo>
                <a:cubicBezTo>
                  <a:pt x="136864" y="50006"/>
                  <a:pt x="146018" y="57626"/>
                  <a:pt x="147561" y="68008"/>
                </a:cubicBezTo>
                <a:cubicBezTo>
                  <a:pt x="148140" y="71912"/>
                  <a:pt x="145444" y="75545"/>
                  <a:pt x="141541" y="76124"/>
                </a:cubicBezTo>
                <a:cubicBezTo>
                  <a:pt x="137638" y="76703"/>
                  <a:pt x="134005" y="74007"/>
                  <a:pt x="133426" y="70104"/>
                </a:cubicBezTo>
                <a:cubicBezTo>
                  <a:pt x="132968" y="67027"/>
                  <a:pt x="130092" y="64294"/>
                  <a:pt x="126206" y="64294"/>
                </a:cubicBezTo>
                <a:cubicBezTo>
                  <a:pt x="122319" y="64294"/>
                  <a:pt x="119443" y="67027"/>
                  <a:pt x="118986" y="70104"/>
                </a:cubicBezTo>
                <a:cubicBezTo>
                  <a:pt x="118407" y="74007"/>
                  <a:pt x="114774" y="76703"/>
                  <a:pt x="110870" y="76124"/>
                </a:cubicBezTo>
                <a:cubicBezTo>
                  <a:pt x="106967" y="75545"/>
                  <a:pt x="104271" y="71912"/>
                  <a:pt x="104851" y="68008"/>
                </a:cubicBezTo>
                <a:cubicBezTo>
                  <a:pt x="106394" y="57626"/>
                  <a:pt x="115547" y="50006"/>
                  <a:pt x="126206" y="50006"/>
                </a:cubicBezTo>
                <a:close/>
                <a:moveTo>
                  <a:pt x="64293" y="50006"/>
                </a:moveTo>
                <a:cubicBezTo>
                  <a:pt x="74952" y="50006"/>
                  <a:pt x="84115" y="57626"/>
                  <a:pt x="85648" y="68008"/>
                </a:cubicBezTo>
                <a:cubicBezTo>
                  <a:pt x="86227" y="71912"/>
                  <a:pt x="83532" y="75545"/>
                  <a:pt x="79628" y="76124"/>
                </a:cubicBezTo>
                <a:cubicBezTo>
                  <a:pt x="75725" y="76703"/>
                  <a:pt x="72092" y="74007"/>
                  <a:pt x="71513" y="70104"/>
                </a:cubicBezTo>
                <a:cubicBezTo>
                  <a:pt x="71056" y="67027"/>
                  <a:pt x="68189" y="64294"/>
                  <a:pt x="64293" y="64294"/>
                </a:cubicBezTo>
                <a:cubicBezTo>
                  <a:pt x="60407" y="64294"/>
                  <a:pt x="57530" y="67027"/>
                  <a:pt x="57073" y="70104"/>
                </a:cubicBezTo>
                <a:cubicBezTo>
                  <a:pt x="56495" y="74007"/>
                  <a:pt x="52861" y="76703"/>
                  <a:pt x="48958" y="76124"/>
                </a:cubicBezTo>
                <a:cubicBezTo>
                  <a:pt x="45055" y="75545"/>
                  <a:pt x="42359" y="71912"/>
                  <a:pt x="42938" y="68008"/>
                </a:cubicBezTo>
                <a:cubicBezTo>
                  <a:pt x="44481" y="57626"/>
                  <a:pt x="53635" y="50006"/>
                  <a:pt x="64293" y="50006"/>
                </a:cubicBezTo>
                <a:close/>
                <a:moveTo>
                  <a:pt x="95250" y="14288"/>
                </a:moveTo>
                <a:cubicBezTo>
                  <a:pt x="50536" y="14288"/>
                  <a:pt x="14288" y="50536"/>
                  <a:pt x="14288" y="95250"/>
                </a:cubicBezTo>
                <a:cubicBezTo>
                  <a:pt x="14288" y="139964"/>
                  <a:pt x="50536" y="176213"/>
                  <a:pt x="95250" y="176213"/>
                </a:cubicBezTo>
                <a:cubicBezTo>
                  <a:pt x="139964" y="176213"/>
                  <a:pt x="176213" y="139964"/>
                  <a:pt x="176213" y="95250"/>
                </a:cubicBezTo>
                <a:cubicBezTo>
                  <a:pt x="176213" y="50536"/>
                  <a:pt x="139964" y="14288"/>
                  <a:pt x="95250" y="14288"/>
                </a:cubicBezTo>
                <a:close/>
                <a:moveTo>
                  <a:pt x="95250" y="0"/>
                </a:moveTo>
                <a:cubicBezTo>
                  <a:pt x="147857" y="0"/>
                  <a:pt x="190500" y="42643"/>
                  <a:pt x="190500" y="95250"/>
                </a:cubicBezTo>
                <a:cubicBezTo>
                  <a:pt x="190500" y="147857"/>
                  <a:pt x="147857" y="190500"/>
                  <a:pt x="95250" y="190500"/>
                </a:cubicBezTo>
                <a:cubicBezTo>
                  <a:pt x="42643" y="190500"/>
                  <a:pt x="0" y="147857"/>
                  <a:pt x="0" y="95250"/>
                </a:cubicBezTo>
                <a:cubicBezTo>
                  <a:pt x="0" y="42643"/>
                  <a:pt x="42643" y="0"/>
                  <a:pt x="95250" y="0"/>
                </a:cubicBez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002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a:stretch>
        </a:blipFill>
        <a:effectLst/>
      </p:bgPr>
    </p:bg>
    <p:spTree>
      <p:nvGrpSpPr>
        <p:cNvPr id="1" name="">
          <a:extLst>
            <a:ext uri="{FF2B5EF4-FFF2-40B4-BE49-F238E27FC236}">
              <a16:creationId xmlns:a16="http://schemas.microsoft.com/office/drawing/2014/main" id="{D927D8A5-16E0-67F3-A184-DF8EEB5B3AA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5672141-66EA-0FF1-9844-0CFE0707553D}"/>
              </a:ext>
            </a:extLst>
          </p:cNvPr>
          <p:cNvSpPr>
            <a:spLocks noGrp="1"/>
          </p:cNvSpPr>
          <p:nvPr>
            <p:ph type="title"/>
          </p:nvPr>
        </p:nvSpPr>
        <p:spPr/>
        <p:txBody>
          <a:bodyPr/>
          <a:lstStyle/>
          <a:p>
            <a:r>
              <a:rPr lang="en-US" dirty="0"/>
              <a:t>Example offer for </a:t>
            </a:r>
            <a:r>
              <a:rPr lang="en-US" dirty="0">
                <a:ln w="3175">
                  <a:noFill/>
                </a:ln>
                <a:solidFill>
                  <a:schemeClr val="accent4"/>
                </a:solidFill>
                <a:latin typeface="Segoe UI Semibold"/>
                <a:ea typeface="+mn-ea"/>
                <a:cs typeface="Segoe UI" panose="020B0502040204020203" pitchFamily="34" charset="0"/>
              </a:rPr>
              <a:t>Marketing</a:t>
            </a:r>
          </a:p>
        </p:txBody>
      </p:sp>
      <p:sp>
        <p:nvSpPr>
          <p:cNvPr id="2" name="Footer Placeholder 1">
            <a:extLst>
              <a:ext uri="{FF2B5EF4-FFF2-40B4-BE49-F238E27FC236}">
                <a16:creationId xmlns:a16="http://schemas.microsoft.com/office/drawing/2014/main" id="{D7F6D4A9-7631-86F3-F317-FA55C5BBAC2C}"/>
              </a:ext>
            </a:extLst>
          </p:cNvPr>
          <p:cNvSpPr>
            <a:spLocks noGrp="1"/>
          </p:cNvSpPr>
          <p:nvPr>
            <p:ph type="ftr" sz="quarter" idx="10"/>
          </p:nvPr>
        </p:nvSpPr>
        <p:spPr/>
        <p:txBody>
          <a:bodyPr/>
          <a:lstStyle/>
          <a:p>
            <a:pPr defTabSz="914367">
              <a:defRPr/>
            </a:pPr>
            <a:r>
              <a:rPr lang="en-US"/>
              <a:t>Building Customer-Centric Services offers</a:t>
            </a:r>
          </a:p>
        </p:txBody>
      </p:sp>
      <p:sp>
        <p:nvSpPr>
          <p:cNvPr id="124" name="Slide Number Placeholder 123">
            <a:extLst>
              <a:ext uri="{FF2B5EF4-FFF2-40B4-BE49-F238E27FC236}">
                <a16:creationId xmlns:a16="http://schemas.microsoft.com/office/drawing/2014/main" id="{44F592B7-BCA9-CEDF-BBAD-F46FB909D0D7}"/>
              </a:ext>
            </a:extLst>
          </p:cNvPr>
          <p:cNvSpPr>
            <a:spLocks noGrp="1"/>
          </p:cNvSpPr>
          <p:nvPr>
            <p:ph type="sldNum" sz="quarter" idx="11"/>
          </p:nvPr>
        </p:nvSpPr>
        <p:spPr/>
        <p:txBody>
          <a:bodyPr/>
          <a:lstStyle/>
          <a:p>
            <a:pPr defTabSz="914367">
              <a:defRPr/>
            </a:pPr>
            <a:fld id="{2A20A09D-1A50-4CA5-89CD-EDD3F91B2117}" type="slidenum">
              <a:rPr lang="en-US" smtClean="0"/>
              <a:pPr defTabSz="914367">
                <a:defRPr/>
              </a:pPr>
              <a:t>26</a:t>
            </a:fld>
            <a:endParaRPr lang="en-US"/>
          </a:p>
        </p:txBody>
      </p:sp>
      <p:sp>
        <p:nvSpPr>
          <p:cNvPr id="4" name="Text Placeholder 3">
            <a:extLst>
              <a:ext uri="{FF2B5EF4-FFF2-40B4-BE49-F238E27FC236}">
                <a16:creationId xmlns:a16="http://schemas.microsoft.com/office/drawing/2014/main" id="{0E49271A-AC57-0701-BEC2-48495AD9C738}"/>
              </a:ext>
            </a:extLst>
          </p:cNvPr>
          <p:cNvSpPr>
            <a:spLocks noGrp="1"/>
          </p:cNvSpPr>
          <p:nvPr>
            <p:ph type="body" sz="quarter" idx="12"/>
          </p:nvPr>
        </p:nvSpPr>
        <p:spPr>
          <a:xfrm>
            <a:off x="812800" y="1267932"/>
            <a:ext cx="4711700" cy="1536025"/>
          </a:xfrm>
        </p:spPr>
        <p:txBody>
          <a:bodyPr wrap="square" lIns="457200">
            <a:spAutoFit/>
          </a:bodyPr>
          <a:lstStyle/>
          <a:p>
            <a:r>
              <a:rPr lang="en-US" kern="1200" dirty="0">
                <a:ea typeface="+mn-ea"/>
              </a:rPr>
              <a:t>Goals and challenges</a:t>
            </a:r>
          </a:p>
          <a:p>
            <a:pPr lvl="1"/>
            <a:r>
              <a:rPr lang="en-US" sz="1000" dirty="0"/>
              <a:t>It’s more important than ever to deliver creative, high-quality content that is authentic to your brand. At the same time, cross-functional campaigns are becoming more complex to manage across new surfaces. Marketing teams must overcome the traditional communications gap between Marketing and Sales and Marketing and product teams to develop a cohesive strategy for success.</a:t>
            </a:r>
          </a:p>
        </p:txBody>
      </p:sp>
      <p:sp>
        <p:nvSpPr>
          <p:cNvPr id="5" name="Text Placeholder 4">
            <a:extLst>
              <a:ext uri="{FF2B5EF4-FFF2-40B4-BE49-F238E27FC236}">
                <a16:creationId xmlns:a16="http://schemas.microsoft.com/office/drawing/2014/main" id="{E3D2001D-129F-59DD-7836-C2EBA20E7B3C}"/>
              </a:ext>
            </a:extLst>
          </p:cNvPr>
          <p:cNvSpPr>
            <a:spLocks noGrp="1"/>
          </p:cNvSpPr>
          <p:nvPr>
            <p:ph type="body" sz="quarter" idx="13"/>
          </p:nvPr>
        </p:nvSpPr>
        <p:spPr>
          <a:xfrm>
            <a:off x="812800" y="4861270"/>
            <a:ext cx="4711700" cy="1407768"/>
          </a:xfrm>
          <a:prstGeom prst="roundRect">
            <a:avLst>
              <a:gd name="adj" fmla="val 7581"/>
            </a:avLst>
          </a:prstGeom>
          <a:solidFill>
            <a:schemeClr val="bg1">
              <a:alpha val="31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457200" tIns="137160" rIns="137160" bIns="137160" numCol="1" spcCol="0" rtlCol="0" fromWordArt="0" anchor="t" anchorCtr="0" forceAA="0" compatLnSpc="1">
            <a:prstTxWarp prst="textNoShape">
              <a:avLst/>
            </a:prstTxWarp>
            <a:noAutofit/>
          </a:bodyPr>
          <a:lstStyle/>
          <a:p>
            <a:pPr marL="0" indent="0">
              <a:spcAft>
                <a:spcPts val="600"/>
              </a:spcAft>
              <a:buNone/>
            </a:pPr>
            <a:r>
              <a:rPr lang="en-US" kern="1200" dirty="0">
                <a:ea typeface="+mn-ea"/>
              </a:rPr>
              <a:t>Transform Marketing processes with Copilot and [Insert Partner Offer]</a:t>
            </a:r>
          </a:p>
          <a:p>
            <a:pPr marL="0" lvl="1" indent="0">
              <a:spcBef>
                <a:spcPts val="0"/>
              </a:spcBef>
              <a:buNone/>
            </a:pPr>
            <a:r>
              <a:rPr lang="en-US" sz="1000" dirty="0"/>
              <a:t>[Insert partner offer summary] </a:t>
            </a:r>
          </a:p>
        </p:txBody>
      </p:sp>
      <p:sp>
        <p:nvSpPr>
          <p:cNvPr id="6" name="Text Placeholder 5">
            <a:extLst>
              <a:ext uri="{FF2B5EF4-FFF2-40B4-BE49-F238E27FC236}">
                <a16:creationId xmlns:a16="http://schemas.microsoft.com/office/drawing/2014/main" id="{85B951CD-6E95-BC34-2B4D-BD369170817D}"/>
              </a:ext>
            </a:extLst>
          </p:cNvPr>
          <p:cNvSpPr>
            <a:spLocks noGrp="1"/>
          </p:cNvSpPr>
          <p:nvPr>
            <p:ph type="body" sz="quarter" idx="14"/>
          </p:nvPr>
        </p:nvSpPr>
        <p:spPr>
          <a:xfrm>
            <a:off x="812800" y="2917959"/>
            <a:ext cx="4711700" cy="1829309"/>
          </a:xfrm>
          <a:solidFill>
            <a:schemeClr val="bg1">
              <a:alpha val="31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457200" tIns="137160" rIns="137160" bIns="137160" numCol="1" spcCol="0" rtlCol="0" fromWordArt="0" anchor="t" anchorCtr="0" forceAA="0" compatLnSpc="1">
            <a:prstTxWarp prst="textNoShape">
              <a:avLst/>
            </a:prstTxWarp>
            <a:spAutoFit/>
          </a:bodyPr>
          <a:lstStyle/>
          <a:p>
            <a:pPr marL="0" indent="0">
              <a:spcAft>
                <a:spcPts val="600"/>
              </a:spcAft>
              <a:buNone/>
            </a:pPr>
            <a:r>
              <a:rPr lang="en-US" kern="1200" dirty="0">
                <a:ea typeface="+mn-ea"/>
              </a:rPr>
              <a:t>Copilot can assist with…</a:t>
            </a:r>
          </a:p>
          <a:p>
            <a:pPr marL="0" marR="0" lvl="0" indent="0" algn="l" defTabSz="582780" rtl="0" eaLnBrk="1" fontAlgn="auto" latinLnBrk="0" hangingPunct="1">
              <a:lnSpc>
                <a:spcPct val="110000"/>
              </a:lnSpc>
              <a:spcBef>
                <a:spcPct val="0"/>
              </a:spcBef>
              <a:spcAft>
                <a:spcPts val="300"/>
              </a:spcAft>
              <a:buClrTx/>
              <a:buSzTx/>
              <a:buFont typeface="Wingdings" panose="05000000000000000000" pitchFamily="2" charset="2"/>
              <a:buNone/>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Semilight" panose="020B0402040204020203" pitchFamily="34" charset="0"/>
              </a:rPr>
              <a:t>Copilot can help to achieve alignment between teams and help to generate creative content that can deliver a marketing message effectively. </a:t>
            </a:r>
          </a:p>
          <a:p>
            <a:pPr marL="114300" indent="-114300" defTabSz="582780">
              <a:lnSpc>
                <a:spcPct val="110000"/>
              </a:lnSpc>
              <a:spcBef>
                <a:spcPct val="0"/>
              </a:spcBef>
              <a:buClr>
                <a:schemeClr val="tx1"/>
              </a:buClr>
              <a:buSzTx/>
              <a:buFont typeface="Arial" panose="020B0604020202020204" pitchFamily="34" charset="0"/>
              <a:buChar char="•"/>
              <a:defRPr/>
            </a:pPr>
            <a:r>
              <a:rPr kumimoji="0" lang="en-US" sz="1000" b="0" i="0" u="none" strike="noStrike" kern="1200" cap="none" spc="0" normalizeH="0" baseline="0" noProof="0" dirty="0">
                <a:ln>
                  <a:noFill/>
                </a:ln>
                <a:effectLst/>
                <a:uLnTx/>
                <a:uFillTx/>
                <a:latin typeface="+mn-lt"/>
                <a:cs typeface="Segoe UI Semibold" panose="020B0702040204020203" pitchFamily="34" charset="0"/>
              </a:rPr>
              <a:t>Creating a marketing Bill of Materials</a:t>
            </a:r>
          </a:p>
          <a:p>
            <a:pPr marL="114300" indent="-114300" defTabSz="582780">
              <a:lnSpc>
                <a:spcPct val="110000"/>
              </a:lnSpc>
              <a:spcBef>
                <a:spcPct val="0"/>
              </a:spcBef>
              <a:buClr>
                <a:schemeClr val="tx1"/>
              </a:buClr>
              <a:buSzTx/>
              <a:buFont typeface="Arial" panose="020B0604020202020204" pitchFamily="34" charset="0"/>
              <a:buChar char="•"/>
              <a:defRPr/>
            </a:pPr>
            <a:r>
              <a:rPr kumimoji="0" lang="en-US" sz="1000" b="0" i="0" u="none" strike="noStrike" kern="1200" cap="none" spc="0" normalizeH="0" baseline="0" noProof="0" dirty="0">
                <a:ln>
                  <a:noFill/>
                </a:ln>
                <a:effectLst/>
                <a:uLnTx/>
                <a:uFillTx/>
                <a:latin typeface="+mn-lt"/>
                <a:cs typeface="Segoe UI Semibold" panose="020B0702040204020203" pitchFamily="34" charset="0"/>
              </a:rPr>
              <a:t>Streamline market research</a:t>
            </a:r>
            <a:br>
              <a:rPr kumimoji="0" lang="en-US" sz="1000" b="0" i="0" u="none" strike="noStrike" kern="1200" cap="none" spc="0" normalizeH="0" baseline="0" noProof="0" dirty="0">
                <a:ln>
                  <a:noFill/>
                </a:ln>
                <a:effectLst/>
                <a:uLnTx/>
                <a:uFillTx/>
                <a:latin typeface="+mn-lt"/>
                <a:cs typeface="Segoe UI Semibold" panose="020B0702040204020203" pitchFamily="34" charset="0"/>
              </a:rPr>
            </a:br>
            <a:r>
              <a:rPr kumimoji="0" lang="en-US" sz="1000" b="0" i="0" u="none" strike="noStrike" kern="1200" cap="none" spc="0" normalizeH="0" baseline="0" noProof="0" dirty="0">
                <a:ln>
                  <a:noFill/>
                </a:ln>
                <a:effectLst/>
                <a:uLnTx/>
                <a:uFillTx/>
                <a:latin typeface="+mn-lt"/>
                <a:cs typeface="Segoe UI Semibold" panose="020B0702040204020203" pitchFamily="34" charset="0"/>
              </a:rPr>
              <a:t>and strategy</a:t>
            </a:r>
          </a:p>
          <a:p>
            <a:pPr marL="114300" marR="0" lvl="0" indent="-114300" algn="l" defTabSz="582780" rtl="0" eaLnBrk="1" fontAlgn="auto" latinLnBrk="0" hangingPunct="1">
              <a:lnSpc>
                <a:spcPct val="110000"/>
              </a:lnSpc>
              <a:spcBef>
                <a:spcPct val="0"/>
              </a:spcBef>
              <a:buClr>
                <a:schemeClr val="tx1"/>
              </a:buClr>
              <a:buSzTx/>
              <a:buFont typeface="Arial" panose="020B0604020202020204" pitchFamily="34" charset="0"/>
              <a:buChar char="•"/>
              <a:tabLst/>
              <a:defRPr/>
            </a:pPr>
            <a:r>
              <a:rPr kumimoji="0" lang="en-US" sz="1000" b="0" i="0" u="none" strike="noStrike" kern="1200" cap="none" spc="0" normalizeH="0" baseline="0" noProof="0" dirty="0">
                <a:ln>
                  <a:noFill/>
                </a:ln>
                <a:effectLst/>
                <a:uLnTx/>
                <a:uFillTx/>
                <a:latin typeface="+mn-lt"/>
                <a:cs typeface="Segoe UI Semibold" panose="020B0702040204020203" pitchFamily="34" charset="0"/>
              </a:rPr>
              <a:t>Content creation using Copilot</a:t>
            </a:r>
          </a:p>
        </p:txBody>
      </p:sp>
      <p:sp>
        <p:nvSpPr>
          <p:cNvPr id="7" name="Text Placeholder 6">
            <a:extLst>
              <a:ext uri="{FF2B5EF4-FFF2-40B4-BE49-F238E27FC236}">
                <a16:creationId xmlns:a16="http://schemas.microsoft.com/office/drawing/2014/main" id="{6B7FF4EC-DC81-5371-0B0B-427D095C2FA9}"/>
              </a:ext>
            </a:extLst>
          </p:cNvPr>
          <p:cNvSpPr>
            <a:spLocks noGrp="1"/>
          </p:cNvSpPr>
          <p:nvPr>
            <p:ph type="body" sz="quarter" idx="15"/>
          </p:nvPr>
        </p:nvSpPr>
        <p:spPr>
          <a:prstGeom prst="roundRect">
            <a:avLst>
              <a:gd name="adj" fmla="val 3842"/>
            </a:avLst>
          </a:prstGeom>
          <a:gradFill>
            <a:gsLst>
              <a:gs pos="0">
                <a:schemeClr val="bg1">
                  <a:alpha val="30000"/>
                </a:schemeClr>
              </a:gs>
              <a:gs pos="100000">
                <a:schemeClr val="bg1">
                  <a:alpha val="50000"/>
                </a:schemeClr>
              </a:gs>
            </a:gsLst>
            <a:lin ang="0" scaled="0"/>
          </a:gradFill>
        </p:spPr>
        <p:txBody>
          <a:bodyPr/>
          <a:lstStyle/>
          <a:p>
            <a:pPr marL="0" indent="0">
              <a:spcAft>
                <a:spcPts val="600"/>
              </a:spcAft>
              <a:buNone/>
            </a:pPr>
            <a:r>
              <a:rPr lang="en-US" kern="1200">
                <a:ea typeface="+mn-ea"/>
              </a:rPr>
              <a:t>How Copilot and [Insert Partner Name] can help you achieve your goals...</a:t>
            </a:r>
          </a:p>
        </p:txBody>
      </p:sp>
      <p:sp>
        <p:nvSpPr>
          <p:cNvPr id="8" name="Text Placeholder 7">
            <a:extLst>
              <a:ext uri="{FF2B5EF4-FFF2-40B4-BE49-F238E27FC236}">
                <a16:creationId xmlns:a16="http://schemas.microsoft.com/office/drawing/2014/main" id="{EFCF83AB-0255-C103-7ECC-3B3AD8AF4DBB}"/>
              </a:ext>
            </a:extLst>
          </p:cNvPr>
          <p:cNvSpPr>
            <a:spLocks noGrp="1"/>
          </p:cNvSpPr>
          <p:nvPr>
            <p:ph type="body" sz="quarter" idx="16"/>
          </p:nvPr>
        </p:nvSpPr>
        <p:spPr>
          <a:prstGeom prst="roundRect">
            <a:avLst>
              <a:gd name="adj" fmla="val 4108"/>
            </a:avLst>
          </a:prstGeom>
          <a:gradFill>
            <a:gsLst>
              <a:gs pos="0">
                <a:schemeClr val="bg1">
                  <a:alpha val="30000"/>
                </a:schemeClr>
              </a:gs>
              <a:gs pos="100000">
                <a:schemeClr val="bg1">
                  <a:alpha val="50000"/>
                </a:schemeClr>
              </a:gs>
            </a:gsLst>
            <a:lin ang="0" scaled="0"/>
          </a:gradFill>
        </p:spPr>
        <p:txBody>
          <a:bodyPr/>
          <a:lstStyle/>
          <a:p>
            <a:pPr marL="0" indent="0">
              <a:spcAft>
                <a:spcPts val="600"/>
              </a:spcAft>
              <a:buNone/>
            </a:pPr>
            <a:r>
              <a:rPr lang="en-US" kern="1200">
                <a:ea typeface="+mn-ea"/>
              </a:rPr>
              <a:t>Improve key functional KPIs</a:t>
            </a:r>
          </a:p>
        </p:txBody>
      </p:sp>
      <p:sp>
        <p:nvSpPr>
          <p:cNvPr id="14" name="Text Placeholder 2">
            <a:extLst>
              <a:ext uri="{FF2B5EF4-FFF2-40B4-BE49-F238E27FC236}">
                <a16:creationId xmlns:a16="http://schemas.microsoft.com/office/drawing/2014/main" id="{97814597-EAC3-E43B-36F9-9980BE17B019}"/>
              </a:ext>
              <a:ext uri="{C183D7F6-B498-43B3-948B-1728B52AA6E4}">
                <adec:decorative xmlns:adec="http://schemas.microsoft.com/office/drawing/2017/decorative" val="1"/>
              </a:ext>
            </a:extLst>
          </p:cNvPr>
          <p:cNvSpPr txBox="1">
            <a:spLocks/>
          </p:cNvSpPr>
          <p:nvPr/>
        </p:nvSpPr>
        <p:spPr>
          <a:xfrm>
            <a:off x="593723" y="1376685"/>
            <a:ext cx="457200" cy="457200"/>
          </a:xfrm>
          <a:prstGeom prst="ellipse">
            <a:avLst/>
          </a:prstGeom>
          <a:solidFill>
            <a:schemeClr val="bg1">
              <a:alpha val="74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640080" tIns="137160" rIns="137160" bIns="137160" numCol="1" spcCol="0" rtlCol="0" fromWordArt="0" anchor="t" anchorCtr="0" forceAA="0" compatLnSpc="1">
            <a:prstTxWarp prst="textNoShape">
              <a:avLst/>
            </a:prstTxWarp>
            <a:spAutoFit/>
          </a:bodyPr>
          <a:lstStyle>
            <a:lvl1pPr indent="0">
              <a:lnSpc>
                <a:spcPct val="100000"/>
              </a:lnSpc>
              <a:spcBef>
                <a:spcPts val="1000"/>
              </a:spcBef>
              <a:spcAft>
                <a:spcPts val="600"/>
              </a:spcAft>
              <a:buFont typeface="Arial" panose="020B0604020202020204" pitchFamily="34" charset="0"/>
              <a:buNone/>
              <a:defRPr kumimoji="0" lang="en-US" sz="1400" b="0" i="0" u="none" strike="noStrike" kern="0" cap="none" spc="0" normalizeH="0" baseline="0" smtClean="0">
                <a:ln w="3175">
                  <a:noFill/>
                </a:ln>
                <a:effectLst/>
                <a:uLnTx/>
                <a:uFillTx/>
                <a:latin typeface="+mj-lt"/>
                <a:ea typeface="Segoe UI Regular" pitchFamily="34" charset="-122"/>
                <a:cs typeface="Segoe UI" panose="020B0502040204020203" pitchFamily="34" charset="0"/>
              </a:defRPr>
            </a:lvl1pPr>
            <a:lvl2pPr marL="0" lvl="1" indent="0">
              <a:lnSpc>
                <a:spcPct val="100000"/>
              </a:lnSpc>
              <a:spcBef>
                <a:spcPts val="0"/>
              </a:spcBef>
              <a:buFont typeface="Arial" panose="020B0604020202020204" pitchFamily="34" charset="0"/>
              <a:buNone/>
              <a:defRPr lang="en-US" sz="1100" dirty="0" smtClean="0">
                <a:solidFill>
                  <a:schemeClr val="tx2"/>
                </a:solidFill>
              </a:defRPr>
            </a:lvl2pPr>
            <a:lvl3pPr marL="1200150" indent="-285750">
              <a:lnSpc>
                <a:spcPct val="100000"/>
              </a:lnSpc>
              <a:spcBef>
                <a:spcPts val="500"/>
              </a:spcBef>
              <a:buFont typeface="Arial" panose="020B0604020202020204" pitchFamily="34" charset="0"/>
              <a:buChar char="•"/>
              <a:defRPr lang="en-US" sz="1100" smtClean="0">
                <a:solidFill>
                  <a:schemeClr val="tx2"/>
                </a:solidFill>
              </a:defRPr>
            </a:lvl3pPr>
            <a:lvl4pPr marL="1657350" indent="-285750">
              <a:lnSpc>
                <a:spcPct val="100000"/>
              </a:lnSpc>
              <a:spcBef>
                <a:spcPts val="500"/>
              </a:spcBef>
              <a:buFont typeface="Arial" panose="020B0604020202020204" pitchFamily="34" charset="0"/>
              <a:buChar char="•"/>
              <a:defRPr lang="en-US" sz="1100" smtClean="0">
                <a:solidFill>
                  <a:schemeClr val="tx2"/>
                </a:solidFill>
              </a:defRPr>
            </a:lvl4pPr>
            <a:lvl5pPr marL="2114550" indent="-285750">
              <a:lnSpc>
                <a:spcPct val="100000"/>
              </a:lnSpc>
              <a:spcBef>
                <a:spcPts val="500"/>
              </a:spcBef>
              <a:buFont typeface="Arial" panose="020B0604020202020204" pitchFamily="34" charset="0"/>
              <a:buChar char="•"/>
              <a:defRPr lang="en-US">
                <a:solidFill>
                  <a:schemeClr val="tx2"/>
                </a:solidFill>
              </a:defRPr>
            </a:lvl5pPr>
            <a:lvl6pPr marL="2514600" indent="-228600">
              <a:lnSpc>
                <a:spcPct val="90000"/>
              </a:lnSpc>
              <a:spcBef>
                <a:spcPts val="500"/>
              </a:spcBef>
              <a:buFont typeface="Arial" panose="020B0604020202020204" pitchFamily="34" charset="0"/>
              <a:buChar char="•"/>
              <a:defRPr>
                <a:solidFill>
                  <a:schemeClr val="lt1"/>
                </a:solidFill>
              </a:defRPr>
            </a:lvl6pPr>
            <a:lvl7pPr marL="2971800" indent="-228600">
              <a:lnSpc>
                <a:spcPct val="90000"/>
              </a:lnSpc>
              <a:spcBef>
                <a:spcPts val="500"/>
              </a:spcBef>
              <a:buFont typeface="Arial" panose="020B0604020202020204" pitchFamily="34" charset="0"/>
              <a:buChar char="•"/>
              <a:defRPr>
                <a:solidFill>
                  <a:schemeClr val="lt1"/>
                </a:solidFill>
              </a:defRPr>
            </a:lvl7pPr>
            <a:lvl8pPr marL="3429000" indent="-228600">
              <a:lnSpc>
                <a:spcPct val="90000"/>
              </a:lnSpc>
              <a:spcBef>
                <a:spcPts val="500"/>
              </a:spcBef>
              <a:buFont typeface="Arial" panose="020B0604020202020204" pitchFamily="34" charset="0"/>
              <a:buChar char="•"/>
              <a:defRPr>
                <a:solidFill>
                  <a:schemeClr val="lt1"/>
                </a:solidFill>
              </a:defRPr>
            </a:lvl8pPr>
            <a:lvl9pPr marL="3886200" indent="-228600">
              <a:lnSpc>
                <a:spcPct val="90000"/>
              </a:lnSpc>
              <a:spcBef>
                <a:spcPts val="500"/>
              </a:spcBef>
              <a:buFont typeface="Arial" panose="020B0604020202020204" pitchFamily="34" charset="0"/>
              <a:buChar char="•"/>
              <a:defRPr>
                <a:solidFill>
                  <a:schemeClr val="lt1"/>
                </a:solidFill>
              </a:defRPr>
            </a:lvl9pPr>
          </a:lstStyle>
          <a:p>
            <a:endParaRPr lang="en-US"/>
          </a:p>
        </p:txBody>
      </p:sp>
      <p:sp>
        <p:nvSpPr>
          <p:cNvPr id="15" name="Graphic 120">
            <a:extLst>
              <a:ext uri="{FF2B5EF4-FFF2-40B4-BE49-F238E27FC236}">
                <a16:creationId xmlns:a16="http://schemas.microsoft.com/office/drawing/2014/main" id="{8B4111FB-AA31-86AD-E351-8A618103D907}"/>
              </a:ext>
              <a:ext uri="{C183D7F6-B498-43B3-948B-1728B52AA6E4}">
                <adec:decorative xmlns:adec="http://schemas.microsoft.com/office/drawing/2017/decorative" val="1"/>
              </a:ext>
            </a:extLst>
          </p:cNvPr>
          <p:cNvSpPr>
            <a:spLocks noChangeAspect="1"/>
          </p:cNvSpPr>
          <p:nvPr/>
        </p:nvSpPr>
        <p:spPr>
          <a:xfrm>
            <a:off x="708023" y="1490985"/>
            <a:ext cx="228600" cy="228600"/>
          </a:xfrm>
          <a:custGeom>
            <a:avLst/>
            <a:gdLst>
              <a:gd name="connsiteX0" fmla="*/ 95269 w 190538"/>
              <a:gd name="connsiteY0" fmla="*/ 0 h 190538"/>
              <a:gd name="connsiteX1" fmla="*/ 127911 w 190538"/>
              <a:gd name="connsiteY1" fmla="*/ 5734 h 190538"/>
              <a:gd name="connsiteX2" fmla="*/ 116529 w 190538"/>
              <a:gd name="connsiteY2" fmla="*/ 17107 h 190538"/>
              <a:gd name="connsiteX3" fmla="*/ 17136 w 190538"/>
              <a:gd name="connsiteY3" fmla="*/ 74002 h 190538"/>
              <a:gd name="connsiteX4" fmla="*/ 74031 w 190538"/>
              <a:gd name="connsiteY4" fmla="*/ 173395 h 190538"/>
              <a:gd name="connsiteX5" fmla="*/ 173425 w 190538"/>
              <a:gd name="connsiteY5" fmla="*/ 116500 h 190538"/>
              <a:gd name="connsiteX6" fmla="*/ 173431 w 190538"/>
              <a:gd name="connsiteY6" fmla="*/ 74028 h 190538"/>
              <a:gd name="connsiteX7" fmla="*/ 184804 w 190538"/>
              <a:gd name="connsiteY7" fmla="*/ 62655 h 190538"/>
              <a:gd name="connsiteX8" fmla="*/ 190538 w 190538"/>
              <a:gd name="connsiteY8" fmla="*/ 95269 h 190538"/>
              <a:gd name="connsiteX9" fmla="*/ 95269 w 190538"/>
              <a:gd name="connsiteY9" fmla="*/ 190538 h 190538"/>
              <a:gd name="connsiteX10" fmla="*/ 0 w 190538"/>
              <a:gd name="connsiteY10" fmla="*/ 95269 h 190538"/>
              <a:gd name="connsiteX11" fmla="*/ 95269 w 190538"/>
              <a:gd name="connsiteY11" fmla="*/ 0 h 190538"/>
              <a:gd name="connsiteX12" fmla="*/ 95269 w 190538"/>
              <a:gd name="connsiteY12" fmla="*/ 38119 h 190538"/>
              <a:gd name="connsiteX13" fmla="*/ 109576 w 190538"/>
              <a:gd name="connsiteY13" fmla="*/ 39929 h 190538"/>
              <a:gd name="connsiteX14" fmla="*/ 109576 w 190538"/>
              <a:gd name="connsiteY14" fmla="*/ 54854 h 190538"/>
              <a:gd name="connsiteX15" fmla="*/ 54872 w 190538"/>
              <a:gd name="connsiteY15" fmla="*/ 80967 h 190538"/>
              <a:gd name="connsiteX16" fmla="*/ 80983 w 190538"/>
              <a:gd name="connsiteY16" fmla="*/ 135671 h 190538"/>
              <a:gd name="connsiteX17" fmla="*/ 135688 w 190538"/>
              <a:gd name="connsiteY17" fmla="*/ 109558 h 190538"/>
              <a:gd name="connsiteX18" fmla="*/ 135693 w 190538"/>
              <a:gd name="connsiteY18" fmla="*/ 80982 h 190538"/>
              <a:gd name="connsiteX19" fmla="*/ 150619 w 190538"/>
              <a:gd name="connsiteY19" fmla="*/ 80982 h 190538"/>
              <a:gd name="connsiteX20" fmla="*/ 109571 w 190538"/>
              <a:gd name="connsiteY20" fmla="*/ 150605 h 190538"/>
              <a:gd name="connsiteX21" fmla="*/ 39948 w 190538"/>
              <a:gd name="connsiteY21" fmla="*/ 109557 h 190538"/>
              <a:gd name="connsiteX22" fmla="*/ 80996 w 190538"/>
              <a:gd name="connsiteY22" fmla="*/ 39934 h 190538"/>
              <a:gd name="connsiteX23" fmla="*/ 95288 w 190538"/>
              <a:gd name="connsiteY23" fmla="*/ 38119 h 190538"/>
              <a:gd name="connsiteX24" fmla="*/ 114319 w 190538"/>
              <a:gd name="connsiteY24" fmla="*/ 95269 h 190538"/>
              <a:gd name="connsiteX25" fmla="*/ 95263 w 190538"/>
              <a:gd name="connsiteY25" fmla="*/ 114313 h 190538"/>
              <a:gd name="connsiteX26" fmla="*/ 76219 w 190538"/>
              <a:gd name="connsiteY26" fmla="*/ 95257 h 190538"/>
              <a:gd name="connsiteX27" fmla="*/ 95275 w 190538"/>
              <a:gd name="connsiteY27" fmla="*/ 76213 h 190538"/>
              <a:gd name="connsiteX28" fmla="*/ 102727 w 190538"/>
              <a:gd name="connsiteY28" fmla="*/ 77734 h 190538"/>
              <a:gd name="connsiteX29" fmla="*/ 119110 w 190538"/>
              <a:gd name="connsiteY29" fmla="*/ 61351 h 190538"/>
              <a:gd name="connsiteX30" fmla="*/ 119101 w 190538"/>
              <a:gd name="connsiteY30" fmla="*/ 30975 h 190538"/>
              <a:gd name="connsiteX31" fmla="*/ 121196 w 190538"/>
              <a:gd name="connsiteY31" fmla="*/ 25927 h 190538"/>
              <a:gd name="connsiteX32" fmla="*/ 145009 w 190538"/>
              <a:gd name="connsiteY32" fmla="*/ 2115 h 190538"/>
              <a:gd name="connsiteX33" fmla="*/ 155112 w 190538"/>
              <a:gd name="connsiteY33" fmla="*/ 2121 h 190538"/>
              <a:gd name="connsiteX34" fmla="*/ 157201 w 190538"/>
              <a:gd name="connsiteY34" fmla="*/ 7163 h 190538"/>
              <a:gd name="connsiteX35" fmla="*/ 157201 w 190538"/>
              <a:gd name="connsiteY35" fmla="*/ 33357 h 190538"/>
              <a:gd name="connsiteX36" fmla="*/ 183394 w 190538"/>
              <a:gd name="connsiteY36" fmla="*/ 33357 h 190538"/>
              <a:gd name="connsiteX37" fmla="*/ 190531 w 190538"/>
              <a:gd name="connsiteY37" fmla="*/ 40507 h 190538"/>
              <a:gd name="connsiteX38" fmla="*/ 188443 w 190538"/>
              <a:gd name="connsiteY38" fmla="*/ 45549 h 190538"/>
              <a:gd name="connsiteX39" fmla="*/ 164630 w 190538"/>
              <a:gd name="connsiteY39" fmla="*/ 69361 h 190538"/>
              <a:gd name="connsiteX40" fmla="*/ 159582 w 190538"/>
              <a:gd name="connsiteY40" fmla="*/ 71457 h 190538"/>
              <a:gd name="connsiteX41" fmla="*/ 129197 w 190538"/>
              <a:gd name="connsiteY41" fmla="*/ 71457 h 190538"/>
              <a:gd name="connsiteX42" fmla="*/ 112814 w 190538"/>
              <a:gd name="connsiteY42" fmla="*/ 87840 h 190538"/>
              <a:gd name="connsiteX43" fmla="*/ 114319 w 190538"/>
              <a:gd name="connsiteY43" fmla="*/ 95269 h 190538"/>
              <a:gd name="connsiteX44" fmla="*/ 156620 w 190538"/>
              <a:gd name="connsiteY44" fmla="*/ 57169 h 190538"/>
              <a:gd name="connsiteX45" fmla="*/ 166145 w 190538"/>
              <a:gd name="connsiteY45" fmla="*/ 47644 h 190538"/>
              <a:gd name="connsiteX46" fmla="*/ 150047 w 190538"/>
              <a:gd name="connsiteY46" fmla="*/ 47644 h 190538"/>
              <a:gd name="connsiteX47" fmla="*/ 142904 w 190538"/>
              <a:gd name="connsiteY47" fmla="*/ 40500 h 190538"/>
              <a:gd name="connsiteX48" fmla="*/ 142904 w 190538"/>
              <a:gd name="connsiteY48" fmla="*/ 24403 h 190538"/>
              <a:gd name="connsiteX49" fmla="*/ 133388 w 190538"/>
              <a:gd name="connsiteY49" fmla="*/ 33928 h 190538"/>
              <a:gd name="connsiteX50" fmla="*/ 133388 w 190538"/>
              <a:gd name="connsiteY50" fmla="*/ 56607 h 190538"/>
              <a:gd name="connsiteX51" fmla="*/ 133960 w 190538"/>
              <a:gd name="connsiteY51" fmla="*/ 57169 h 190538"/>
              <a:gd name="connsiteX52" fmla="*/ 156629 w 190538"/>
              <a:gd name="connsiteY52" fmla="*/ 57169 h 1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90538" h="190538">
                <a:moveTo>
                  <a:pt x="95269" y="0"/>
                </a:moveTo>
                <a:cubicBezTo>
                  <a:pt x="106737" y="0"/>
                  <a:pt x="117729" y="2029"/>
                  <a:pt x="127911" y="5734"/>
                </a:cubicBezTo>
                <a:lnTo>
                  <a:pt x="116529" y="17107"/>
                </a:lnTo>
                <a:cubicBezTo>
                  <a:pt x="73371" y="5372"/>
                  <a:pt x="28871" y="30844"/>
                  <a:pt x="17136" y="74002"/>
                </a:cubicBezTo>
                <a:cubicBezTo>
                  <a:pt x="5400" y="117160"/>
                  <a:pt x="30873" y="161659"/>
                  <a:pt x="74031" y="173395"/>
                </a:cubicBezTo>
                <a:cubicBezTo>
                  <a:pt x="117189" y="185131"/>
                  <a:pt x="161689" y="159658"/>
                  <a:pt x="173425" y="116500"/>
                </a:cubicBezTo>
                <a:cubicBezTo>
                  <a:pt x="177205" y="102596"/>
                  <a:pt x="177208" y="87934"/>
                  <a:pt x="173431" y="74028"/>
                </a:cubicBezTo>
                <a:lnTo>
                  <a:pt x="184804" y="62655"/>
                </a:lnTo>
                <a:cubicBezTo>
                  <a:pt x="188608" y="73108"/>
                  <a:pt x="190549" y="84146"/>
                  <a:pt x="190538" y="95269"/>
                </a:cubicBezTo>
                <a:cubicBezTo>
                  <a:pt x="190538" y="147885"/>
                  <a:pt x="147885" y="190538"/>
                  <a:pt x="95269" y="190538"/>
                </a:cubicBezTo>
                <a:cubicBezTo>
                  <a:pt x="42653" y="190538"/>
                  <a:pt x="0" y="147885"/>
                  <a:pt x="0" y="95269"/>
                </a:cubicBezTo>
                <a:cubicBezTo>
                  <a:pt x="0" y="42653"/>
                  <a:pt x="42653" y="0"/>
                  <a:pt x="95269" y="0"/>
                </a:cubicBezTo>
                <a:close/>
                <a:moveTo>
                  <a:pt x="95269" y="38119"/>
                </a:moveTo>
                <a:cubicBezTo>
                  <a:pt x="100095" y="38117"/>
                  <a:pt x="104902" y="38725"/>
                  <a:pt x="109576" y="39929"/>
                </a:cubicBezTo>
                <a:lnTo>
                  <a:pt x="109576" y="54854"/>
                </a:lnTo>
                <a:cubicBezTo>
                  <a:pt x="87259" y="46959"/>
                  <a:pt x="62767" y="58650"/>
                  <a:pt x="54872" y="80967"/>
                </a:cubicBezTo>
                <a:cubicBezTo>
                  <a:pt x="46976" y="103283"/>
                  <a:pt x="58667" y="127775"/>
                  <a:pt x="80983" y="135671"/>
                </a:cubicBezTo>
                <a:cubicBezTo>
                  <a:pt x="103301" y="143567"/>
                  <a:pt x="127792" y="131876"/>
                  <a:pt x="135688" y="109558"/>
                </a:cubicBezTo>
                <a:cubicBezTo>
                  <a:pt x="138958" y="100313"/>
                  <a:pt x="138960" y="90227"/>
                  <a:pt x="135693" y="80982"/>
                </a:cubicBezTo>
                <a:lnTo>
                  <a:pt x="150619" y="80982"/>
                </a:lnTo>
                <a:cubicBezTo>
                  <a:pt x="158509" y="111543"/>
                  <a:pt x="140132" y="142713"/>
                  <a:pt x="109571" y="150605"/>
                </a:cubicBezTo>
                <a:cubicBezTo>
                  <a:pt x="79010" y="158495"/>
                  <a:pt x="47839" y="140118"/>
                  <a:pt x="39948" y="109557"/>
                </a:cubicBezTo>
                <a:cubicBezTo>
                  <a:pt x="32058" y="78996"/>
                  <a:pt x="50435" y="47825"/>
                  <a:pt x="80996" y="39934"/>
                </a:cubicBezTo>
                <a:cubicBezTo>
                  <a:pt x="85664" y="38728"/>
                  <a:pt x="90467" y="38119"/>
                  <a:pt x="95288" y="38119"/>
                </a:cubicBezTo>
                <a:close/>
                <a:moveTo>
                  <a:pt x="114319" y="95269"/>
                </a:moveTo>
                <a:cubicBezTo>
                  <a:pt x="114315" y="105790"/>
                  <a:pt x="105784" y="114316"/>
                  <a:pt x="95263" y="114313"/>
                </a:cubicBezTo>
                <a:cubicBezTo>
                  <a:pt x="84742" y="114310"/>
                  <a:pt x="76216" y="105778"/>
                  <a:pt x="76219" y="95257"/>
                </a:cubicBezTo>
                <a:cubicBezTo>
                  <a:pt x="76222" y="84735"/>
                  <a:pt x="84754" y="76210"/>
                  <a:pt x="95275" y="76213"/>
                </a:cubicBezTo>
                <a:cubicBezTo>
                  <a:pt x="97836" y="76214"/>
                  <a:pt x="100371" y="76731"/>
                  <a:pt x="102727" y="77734"/>
                </a:cubicBezTo>
                <a:lnTo>
                  <a:pt x="119110" y="61351"/>
                </a:lnTo>
                <a:lnTo>
                  <a:pt x="119101" y="30975"/>
                </a:lnTo>
                <a:cubicBezTo>
                  <a:pt x="119103" y="29081"/>
                  <a:pt x="119856" y="27266"/>
                  <a:pt x="121196" y="25927"/>
                </a:cubicBezTo>
                <a:lnTo>
                  <a:pt x="145009" y="2115"/>
                </a:lnTo>
                <a:cubicBezTo>
                  <a:pt x="147800" y="-674"/>
                  <a:pt x="152323" y="-671"/>
                  <a:pt x="155112" y="2121"/>
                </a:cubicBezTo>
                <a:cubicBezTo>
                  <a:pt x="156447" y="3459"/>
                  <a:pt x="157199" y="5272"/>
                  <a:pt x="157201" y="7163"/>
                </a:cubicBezTo>
                <a:lnTo>
                  <a:pt x="157201" y="33357"/>
                </a:lnTo>
                <a:lnTo>
                  <a:pt x="183394" y="33357"/>
                </a:lnTo>
                <a:cubicBezTo>
                  <a:pt x="187340" y="33360"/>
                  <a:pt x="190535" y="36561"/>
                  <a:pt x="190531" y="40507"/>
                </a:cubicBezTo>
                <a:cubicBezTo>
                  <a:pt x="190530" y="42397"/>
                  <a:pt x="189779" y="44211"/>
                  <a:pt x="188443" y="45549"/>
                </a:cubicBezTo>
                <a:lnTo>
                  <a:pt x="164630" y="69361"/>
                </a:lnTo>
                <a:cubicBezTo>
                  <a:pt x="163292" y="70701"/>
                  <a:pt x="161475" y="71455"/>
                  <a:pt x="159582" y="71457"/>
                </a:cubicBezTo>
                <a:lnTo>
                  <a:pt x="129197" y="71457"/>
                </a:lnTo>
                <a:lnTo>
                  <a:pt x="112814" y="87840"/>
                </a:lnTo>
                <a:cubicBezTo>
                  <a:pt x="113786" y="90126"/>
                  <a:pt x="114319" y="92631"/>
                  <a:pt x="114319" y="95269"/>
                </a:cubicBezTo>
                <a:close/>
                <a:moveTo>
                  <a:pt x="156620" y="57169"/>
                </a:moveTo>
                <a:lnTo>
                  <a:pt x="166145" y="47644"/>
                </a:lnTo>
                <a:lnTo>
                  <a:pt x="150047" y="47644"/>
                </a:lnTo>
                <a:cubicBezTo>
                  <a:pt x="146102" y="47644"/>
                  <a:pt x="142904" y="44446"/>
                  <a:pt x="142904" y="40500"/>
                </a:cubicBezTo>
                <a:lnTo>
                  <a:pt x="142904" y="24403"/>
                </a:lnTo>
                <a:lnTo>
                  <a:pt x="133388" y="33928"/>
                </a:lnTo>
                <a:lnTo>
                  <a:pt x="133388" y="56607"/>
                </a:lnTo>
                <a:cubicBezTo>
                  <a:pt x="133590" y="56783"/>
                  <a:pt x="133781" y="56970"/>
                  <a:pt x="133960" y="57169"/>
                </a:cubicBezTo>
                <a:lnTo>
                  <a:pt x="156629" y="57169"/>
                </a:ln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Placeholder 5">
            <a:extLst>
              <a:ext uri="{FF2B5EF4-FFF2-40B4-BE49-F238E27FC236}">
                <a16:creationId xmlns:a16="http://schemas.microsoft.com/office/drawing/2014/main" id="{4BEDD93C-E9EF-125F-493D-BEA28AEB2E0F}"/>
              </a:ext>
            </a:extLst>
          </p:cNvPr>
          <p:cNvSpPr txBox="1">
            <a:spLocks/>
          </p:cNvSpPr>
          <p:nvPr/>
        </p:nvSpPr>
        <p:spPr>
          <a:xfrm>
            <a:off x="3472917" y="3916746"/>
            <a:ext cx="1983413" cy="662041"/>
          </a:xfrm>
          <a:prstGeom prst="rect">
            <a:avLst/>
          </a:prstGeom>
          <a:noFill/>
          <a:ln w="12700" cap="flat" cmpd="sng" algn="ctr">
            <a:noFill/>
            <a:prstDash val="solid"/>
            <a:miter lim="800000"/>
          </a:ln>
          <a:effectLst>
            <a:outerShdw blurRad="406400" dist="38100" dir="2700000" algn="tl" rotWithShape="0">
              <a:prstClr val="black">
                <a:alpha val="12000"/>
              </a:prstClr>
            </a:outerShdw>
          </a:effectLst>
        </p:spPr>
        <p:txBody>
          <a:bodyPr rot="0" spcFirstLastPara="0" vertOverflow="overflow" horzOverflow="overflow" vert="horz" wrap="square" lIns="292608" tIns="0" rIns="137160" bIns="0" numCol="1" spcCol="0" rtlCol="0" fromWordArt="0" anchor="t" anchorCtr="0" forceAA="0" compatLnSpc="1">
            <a:prstTxWarp prst="textNoShape">
              <a:avLst/>
            </a:prstTxWarp>
            <a:sp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0" lang="en-US" sz="1400" b="0" i="0" u="none" strike="noStrike" kern="0" cap="none" spc="0" normalizeH="0" baseline="0" dirty="0" smtClean="0">
                <a:ln w="3175">
                  <a:noFill/>
                </a:ln>
                <a:solidFill>
                  <a:schemeClr val="tx1"/>
                </a:solidFill>
                <a:effectLst/>
                <a:uLnTx/>
                <a:uFillTx/>
                <a:latin typeface="+mj-lt"/>
                <a:ea typeface="Segoe UI Regular" pitchFamily="34" charset="-122"/>
                <a:cs typeface="Segoe UI" panose="020B0502040204020203"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lang="en-US" sz="1100" kern="1200" dirty="0" smtClean="0">
                <a:solidFill>
                  <a:schemeClr val="tx2"/>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lang="en-US" sz="1100" kern="1200" dirty="0" smtClean="0">
                <a:solidFill>
                  <a:schemeClr val="tx2"/>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lang="en-US" sz="1100" kern="1200" dirty="0">
                <a:solidFill>
                  <a:schemeClr val="tx2"/>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0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114300" marR="0" lvl="0" indent="-114300" algn="l" defTabSz="582780" rtl="0" eaLnBrk="1" fontAlgn="auto" latinLnBrk="0" hangingPunct="1">
              <a:lnSpc>
                <a:spcPct val="110000"/>
              </a:lnSpc>
              <a:spcBef>
                <a:spcPct val="0"/>
              </a:spcBef>
              <a:buClr>
                <a:schemeClr val="tx1"/>
              </a:buClr>
              <a:buSzTx/>
              <a:buFont typeface="Arial" panose="020B0604020202020204" pitchFamily="34" charset="0"/>
              <a:buChar char="•"/>
              <a:tabLst/>
              <a:defRPr/>
            </a:pPr>
            <a:r>
              <a:rPr kumimoji="0" lang="en-US" sz="1000" b="0" i="0" u="none" strike="noStrike" kern="1200" cap="none" spc="0" normalizeH="0" baseline="0" noProof="0" dirty="0">
                <a:ln>
                  <a:noFill/>
                </a:ln>
                <a:effectLst/>
                <a:uLnTx/>
                <a:uFillTx/>
                <a:latin typeface="+mn-lt"/>
                <a:cs typeface="Segoe UI Semibold" panose="020B0702040204020203" pitchFamily="34" charset="0"/>
              </a:rPr>
              <a:t>Collect and share product feedback</a:t>
            </a:r>
          </a:p>
          <a:p>
            <a:pPr marL="114300" marR="0" lvl="0" indent="-114300" algn="l" defTabSz="582780" rtl="0" eaLnBrk="1" fontAlgn="auto" latinLnBrk="0" hangingPunct="1">
              <a:lnSpc>
                <a:spcPct val="110000"/>
              </a:lnSpc>
              <a:spcBef>
                <a:spcPct val="0"/>
              </a:spcBef>
              <a:buClr>
                <a:schemeClr val="tx1"/>
              </a:buClr>
              <a:buSzTx/>
              <a:buFont typeface="Arial" panose="020B0604020202020204" pitchFamily="34" charset="0"/>
              <a:buChar char="•"/>
              <a:tabLst/>
              <a:defRPr/>
            </a:pPr>
            <a:r>
              <a:rPr kumimoji="0" lang="en-US" sz="1000" b="0" i="0" u="none" strike="noStrike" kern="1200" cap="none" spc="0" normalizeH="0" baseline="0" noProof="0" dirty="0">
                <a:ln>
                  <a:noFill/>
                </a:ln>
                <a:effectLst/>
                <a:uLnTx/>
                <a:uFillTx/>
                <a:latin typeface="+mn-lt"/>
                <a:cs typeface="Segoe UI Semibold" panose="020B0702040204020203" pitchFamily="34" charset="0"/>
              </a:rPr>
              <a:t>Create a new offering</a:t>
            </a:r>
          </a:p>
          <a:p>
            <a:pPr marL="114300" marR="0" lvl="0" indent="-114300" algn="l" defTabSz="582780" rtl="0" eaLnBrk="1" fontAlgn="auto" latinLnBrk="0" hangingPunct="1">
              <a:lnSpc>
                <a:spcPct val="110000"/>
              </a:lnSpc>
              <a:spcBef>
                <a:spcPct val="0"/>
              </a:spcBef>
              <a:buClr>
                <a:schemeClr val="tx1"/>
              </a:buClr>
              <a:buSzTx/>
              <a:buFont typeface="Arial" panose="020B0604020202020204" pitchFamily="34" charset="0"/>
              <a:buChar char="•"/>
              <a:tabLst/>
              <a:defRPr/>
            </a:pPr>
            <a:r>
              <a:rPr kumimoji="0" lang="en-US" sz="1000" b="0" i="0" u="none" strike="noStrike" kern="1200" cap="none" spc="0" normalizeH="0" baseline="0" noProof="0" dirty="0">
                <a:ln>
                  <a:noFill/>
                </a:ln>
                <a:effectLst/>
                <a:uLnTx/>
                <a:uFillTx/>
                <a:latin typeface="+mn-lt"/>
                <a:cs typeface="Segoe UI Semibold" panose="020B0702040204020203" pitchFamily="34" charset="0"/>
              </a:rPr>
              <a:t>Product launch </a:t>
            </a:r>
          </a:p>
        </p:txBody>
      </p:sp>
      <p:grpSp>
        <p:nvGrpSpPr>
          <p:cNvPr id="132" name="Group 131">
            <a:extLst>
              <a:ext uri="{FF2B5EF4-FFF2-40B4-BE49-F238E27FC236}">
                <a16:creationId xmlns:a16="http://schemas.microsoft.com/office/drawing/2014/main" id="{36B28CD8-DF98-525A-A9DF-A5A8BC11C08A}"/>
              </a:ext>
              <a:ext uri="{C183D7F6-B498-43B3-948B-1728B52AA6E4}">
                <adec:decorative xmlns:adec="http://schemas.microsoft.com/office/drawing/2017/decorative" val="1"/>
              </a:ext>
            </a:extLst>
          </p:cNvPr>
          <p:cNvGrpSpPr/>
          <p:nvPr/>
        </p:nvGrpSpPr>
        <p:grpSpPr>
          <a:xfrm>
            <a:off x="593725" y="3030023"/>
            <a:ext cx="457200" cy="457200"/>
            <a:chOff x="593725" y="2979773"/>
            <a:chExt cx="457200" cy="457200"/>
          </a:xfrm>
        </p:grpSpPr>
        <p:sp>
          <p:nvSpPr>
            <p:cNvPr id="18" name="Text Placeholder 2">
              <a:extLst>
                <a:ext uri="{FF2B5EF4-FFF2-40B4-BE49-F238E27FC236}">
                  <a16:creationId xmlns:a16="http://schemas.microsoft.com/office/drawing/2014/main" id="{B9F9819E-CDD6-6E1B-2EAD-8F50848FF8BD}"/>
                </a:ext>
              </a:extLst>
            </p:cNvPr>
            <p:cNvSpPr txBox="1">
              <a:spLocks/>
            </p:cNvSpPr>
            <p:nvPr/>
          </p:nvSpPr>
          <p:spPr>
            <a:xfrm>
              <a:off x="593725" y="2979773"/>
              <a:ext cx="457200" cy="457200"/>
            </a:xfrm>
            <a:prstGeom prst="ellipse">
              <a:avLst/>
            </a:prstGeom>
            <a:solidFill>
              <a:schemeClr val="bg1">
                <a:alpha val="74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640080" tIns="137160" rIns="137160" bIns="137160" numCol="1" spcCol="0" rtlCol="0" fromWordArt="0" anchor="t" anchorCtr="0" forceAA="0" compatLnSpc="1">
              <a:prstTxWarp prst="textNoShape">
                <a:avLst/>
              </a:prstTxWarp>
              <a:spAutoFit/>
            </a:bodyPr>
            <a:lstStyle>
              <a:lvl1pPr indent="0">
                <a:lnSpc>
                  <a:spcPct val="100000"/>
                </a:lnSpc>
                <a:spcBef>
                  <a:spcPts val="1000"/>
                </a:spcBef>
                <a:spcAft>
                  <a:spcPts val="600"/>
                </a:spcAft>
                <a:buFont typeface="Arial" panose="020B0604020202020204" pitchFamily="34" charset="0"/>
                <a:buNone/>
                <a:defRPr kumimoji="0" lang="en-US" sz="1400" b="0" i="0" u="none" strike="noStrike" kern="0" cap="none" spc="0" normalizeH="0" baseline="0" smtClean="0">
                  <a:ln w="3175">
                    <a:noFill/>
                  </a:ln>
                  <a:effectLst/>
                  <a:uLnTx/>
                  <a:uFillTx/>
                  <a:latin typeface="+mj-lt"/>
                  <a:ea typeface="Segoe UI Regular" pitchFamily="34" charset="-122"/>
                  <a:cs typeface="Segoe UI" panose="020B0502040204020203" pitchFamily="34" charset="0"/>
                </a:defRPr>
              </a:lvl1pPr>
              <a:lvl2pPr marL="0" lvl="1" indent="0">
                <a:lnSpc>
                  <a:spcPct val="100000"/>
                </a:lnSpc>
                <a:spcBef>
                  <a:spcPts val="0"/>
                </a:spcBef>
                <a:buFont typeface="Arial" panose="020B0604020202020204" pitchFamily="34" charset="0"/>
                <a:buNone/>
                <a:defRPr lang="en-US" sz="1100" dirty="0" smtClean="0">
                  <a:solidFill>
                    <a:schemeClr val="tx2"/>
                  </a:solidFill>
                </a:defRPr>
              </a:lvl2pPr>
              <a:lvl3pPr marL="1200150" indent="-285750">
                <a:lnSpc>
                  <a:spcPct val="100000"/>
                </a:lnSpc>
                <a:spcBef>
                  <a:spcPts val="500"/>
                </a:spcBef>
                <a:buFont typeface="Arial" panose="020B0604020202020204" pitchFamily="34" charset="0"/>
                <a:buChar char="•"/>
                <a:defRPr lang="en-US" sz="1100" smtClean="0">
                  <a:solidFill>
                    <a:schemeClr val="tx2"/>
                  </a:solidFill>
                </a:defRPr>
              </a:lvl3pPr>
              <a:lvl4pPr marL="1657350" indent="-285750">
                <a:lnSpc>
                  <a:spcPct val="100000"/>
                </a:lnSpc>
                <a:spcBef>
                  <a:spcPts val="500"/>
                </a:spcBef>
                <a:buFont typeface="Arial" panose="020B0604020202020204" pitchFamily="34" charset="0"/>
                <a:buChar char="•"/>
                <a:defRPr lang="en-US" sz="1100" smtClean="0">
                  <a:solidFill>
                    <a:schemeClr val="tx2"/>
                  </a:solidFill>
                </a:defRPr>
              </a:lvl4pPr>
              <a:lvl5pPr marL="2114550" indent="-285750">
                <a:lnSpc>
                  <a:spcPct val="100000"/>
                </a:lnSpc>
                <a:spcBef>
                  <a:spcPts val="500"/>
                </a:spcBef>
                <a:buFont typeface="Arial" panose="020B0604020202020204" pitchFamily="34" charset="0"/>
                <a:buChar char="•"/>
                <a:defRPr lang="en-US">
                  <a:solidFill>
                    <a:schemeClr val="tx2"/>
                  </a:solidFill>
                </a:defRPr>
              </a:lvl5pPr>
              <a:lvl6pPr marL="2514600" indent="-228600">
                <a:lnSpc>
                  <a:spcPct val="90000"/>
                </a:lnSpc>
                <a:spcBef>
                  <a:spcPts val="500"/>
                </a:spcBef>
                <a:buFont typeface="Arial" panose="020B0604020202020204" pitchFamily="34" charset="0"/>
                <a:buChar char="•"/>
                <a:defRPr>
                  <a:solidFill>
                    <a:schemeClr val="lt1"/>
                  </a:solidFill>
                </a:defRPr>
              </a:lvl6pPr>
              <a:lvl7pPr marL="2971800" indent="-228600">
                <a:lnSpc>
                  <a:spcPct val="90000"/>
                </a:lnSpc>
                <a:spcBef>
                  <a:spcPts val="500"/>
                </a:spcBef>
                <a:buFont typeface="Arial" panose="020B0604020202020204" pitchFamily="34" charset="0"/>
                <a:buChar char="•"/>
                <a:defRPr>
                  <a:solidFill>
                    <a:schemeClr val="lt1"/>
                  </a:solidFill>
                </a:defRPr>
              </a:lvl7pPr>
              <a:lvl8pPr marL="3429000" indent="-228600">
                <a:lnSpc>
                  <a:spcPct val="90000"/>
                </a:lnSpc>
                <a:spcBef>
                  <a:spcPts val="500"/>
                </a:spcBef>
                <a:buFont typeface="Arial" panose="020B0604020202020204" pitchFamily="34" charset="0"/>
                <a:buChar char="•"/>
                <a:defRPr>
                  <a:solidFill>
                    <a:schemeClr val="lt1"/>
                  </a:solidFill>
                </a:defRPr>
              </a:lvl8pPr>
              <a:lvl9pPr marL="3886200" indent="-228600">
                <a:lnSpc>
                  <a:spcPct val="90000"/>
                </a:lnSpc>
                <a:spcBef>
                  <a:spcPts val="500"/>
                </a:spcBef>
                <a:buFont typeface="Arial" panose="020B0604020202020204" pitchFamily="34" charset="0"/>
                <a:buChar char="•"/>
                <a:defRPr>
                  <a:solidFill>
                    <a:schemeClr val="lt1"/>
                  </a:solidFill>
                </a:defRPr>
              </a:lvl9pPr>
            </a:lstStyle>
            <a:p>
              <a:endParaRPr lang="en-US"/>
            </a:p>
          </p:txBody>
        </p:sp>
        <p:sp>
          <p:nvSpPr>
            <p:cNvPr id="22" name="Graphic 60">
              <a:extLst>
                <a:ext uri="{FF2B5EF4-FFF2-40B4-BE49-F238E27FC236}">
                  <a16:creationId xmlns:a16="http://schemas.microsoft.com/office/drawing/2014/main" id="{95219F20-9E67-B69D-FF5E-4DAA00CF13E0}"/>
                </a:ext>
                <a:ext uri="{C183D7F6-B498-43B3-948B-1728B52AA6E4}">
                  <adec:decorative xmlns:adec="http://schemas.microsoft.com/office/drawing/2017/decorative" val="1"/>
                </a:ext>
              </a:extLst>
            </p:cNvPr>
            <p:cNvSpPr>
              <a:spLocks/>
            </p:cNvSpPr>
            <p:nvPr/>
          </p:nvSpPr>
          <p:spPr>
            <a:xfrm>
              <a:off x="708023" y="3092477"/>
              <a:ext cx="228600" cy="228600"/>
            </a:xfrm>
            <a:custGeom>
              <a:avLst/>
              <a:gdLst>
                <a:gd name="connsiteX0" fmla="*/ 152400 w 304800"/>
                <a:gd name="connsiteY0" fmla="*/ 0 h 304800"/>
                <a:gd name="connsiteX1" fmla="*/ 304800 w 304800"/>
                <a:gd name="connsiteY1" fmla="*/ 152400 h 304800"/>
                <a:gd name="connsiteX2" fmla="*/ 152400 w 304800"/>
                <a:gd name="connsiteY2" fmla="*/ 304800 h 304800"/>
                <a:gd name="connsiteX3" fmla="*/ 0 w 304800"/>
                <a:gd name="connsiteY3" fmla="*/ 152400 h 304800"/>
                <a:gd name="connsiteX4" fmla="*/ 152400 w 304800"/>
                <a:gd name="connsiteY4" fmla="*/ 0 h 304800"/>
                <a:gd name="connsiteX5" fmla="*/ 152400 w 304800"/>
                <a:gd name="connsiteY5" fmla="*/ 25405 h 304800"/>
                <a:gd name="connsiteX6" fmla="*/ 25405 w 304800"/>
                <a:gd name="connsiteY6" fmla="*/ 152400 h 304800"/>
                <a:gd name="connsiteX7" fmla="*/ 152400 w 304800"/>
                <a:gd name="connsiteY7" fmla="*/ 279395 h 304800"/>
                <a:gd name="connsiteX8" fmla="*/ 279395 w 304800"/>
                <a:gd name="connsiteY8" fmla="*/ 152400 h 304800"/>
                <a:gd name="connsiteX9" fmla="*/ 152400 w 304800"/>
                <a:gd name="connsiteY9" fmla="*/ 25405 h 304800"/>
                <a:gd name="connsiteX10" fmla="*/ 152400 w 304800"/>
                <a:gd name="connsiteY10" fmla="*/ 205740 h 304800"/>
                <a:gd name="connsiteX11" fmla="*/ 167640 w 304800"/>
                <a:gd name="connsiteY11" fmla="*/ 220980 h 304800"/>
                <a:gd name="connsiteX12" fmla="*/ 152400 w 304800"/>
                <a:gd name="connsiteY12" fmla="*/ 236220 h 304800"/>
                <a:gd name="connsiteX13" fmla="*/ 137160 w 304800"/>
                <a:gd name="connsiteY13" fmla="*/ 220980 h 304800"/>
                <a:gd name="connsiteX14" fmla="*/ 152400 w 304800"/>
                <a:gd name="connsiteY14" fmla="*/ 205740 h 304800"/>
                <a:gd name="connsiteX15" fmla="*/ 152400 w 304800"/>
                <a:gd name="connsiteY15" fmla="*/ 72390 h 304800"/>
                <a:gd name="connsiteX16" fmla="*/ 194310 w 304800"/>
                <a:gd name="connsiteY16" fmla="*/ 114300 h 304800"/>
                <a:gd name="connsiteX17" fmla="*/ 178293 w 304800"/>
                <a:gd name="connsiteY17" fmla="*/ 150251 h 304800"/>
                <a:gd name="connsiteX18" fmla="*/ 175717 w 304800"/>
                <a:gd name="connsiteY18" fmla="*/ 152857 h 304800"/>
                <a:gd name="connsiteX19" fmla="*/ 163830 w 304800"/>
                <a:gd name="connsiteY19" fmla="*/ 175260 h 304800"/>
                <a:gd name="connsiteX20" fmla="*/ 152400 w 304800"/>
                <a:gd name="connsiteY20" fmla="*/ 186690 h 304800"/>
                <a:gd name="connsiteX21" fmla="*/ 140970 w 304800"/>
                <a:gd name="connsiteY21" fmla="*/ 175260 h 304800"/>
                <a:gd name="connsiteX22" fmla="*/ 156987 w 304800"/>
                <a:gd name="connsiteY22" fmla="*/ 139309 h 304800"/>
                <a:gd name="connsiteX23" fmla="*/ 159563 w 304800"/>
                <a:gd name="connsiteY23" fmla="*/ 136703 h 304800"/>
                <a:gd name="connsiteX24" fmla="*/ 171450 w 304800"/>
                <a:gd name="connsiteY24" fmla="*/ 114300 h 304800"/>
                <a:gd name="connsiteX25" fmla="*/ 152339 w 304800"/>
                <a:gd name="connsiteY25" fmla="*/ 95312 h 304800"/>
                <a:gd name="connsiteX26" fmla="*/ 133457 w 304800"/>
                <a:gd name="connsiteY26" fmla="*/ 112349 h 304800"/>
                <a:gd name="connsiteX27" fmla="*/ 133350 w 304800"/>
                <a:gd name="connsiteY27" fmla="*/ 114300 h 304800"/>
                <a:gd name="connsiteX28" fmla="*/ 121920 w 304800"/>
                <a:gd name="connsiteY28" fmla="*/ 125730 h 304800"/>
                <a:gd name="connsiteX29" fmla="*/ 110490 w 304800"/>
                <a:gd name="connsiteY29" fmla="*/ 114300 h 304800"/>
                <a:gd name="connsiteX30" fmla="*/ 152400 w 304800"/>
                <a:gd name="connsiteY30" fmla="*/ 7239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4800" h="304800">
                  <a:moveTo>
                    <a:pt x="152400" y="0"/>
                  </a:moveTo>
                  <a:cubicBezTo>
                    <a:pt x="236571" y="0"/>
                    <a:pt x="304800" y="68245"/>
                    <a:pt x="304800" y="152400"/>
                  </a:cubicBezTo>
                  <a:cubicBezTo>
                    <a:pt x="304800" y="236555"/>
                    <a:pt x="236571" y="304800"/>
                    <a:pt x="152400" y="304800"/>
                  </a:cubicBezTo>
                  <a:cubicBezTo>
                    <a:pt x="68229" y="304800"/>
                    <a:pt x="0" y="236555"/>
                    <a:pt x="0" y="152400"/>
                  </a:cubicBezTo>
                  <a:cubicBezTo>
                    <a:pt x="0" y="68245"/>
                    <a:pt x="68229" y="0"/>
                    <a:pt x="152400" y="0"/>
                  </a:cubicBezTo>
                  <a:close/>
                  <a:moveTo>
                    <a:pt x="152400" y="25405"/>
                  </a:moveTo>
                  <a:cubicBezTo>
                    <a:pt x="82372" y="25405"/>
                    <a:pt x="25405" y="82372"/>
                    <a:pt x="25405" y="152400"/>
                  </a:cubicBezTo>
                  <a:cubicBezTo>
                    <a:pt x="25405" y="222428"/>
                    <a:pt x="82372" y="279395"/>
                    <a:pt x="152400" y="279395"/>
                  </a:cubicBezTo>
                  <a:cubicBezTo>
                    <a:pt x="222428" y="279395"/>
                    <a:pt x="279395" y="222428"/>
                    <a:pt x="279395" y="152400"/>
                  </a:cubicBezTo>
                  <a:cubicBezTo>
                    <a:pt x="279395" y="82372"/>
                    <a:pt x="222428" y="25405"/>
                    <a:pt x="152400" y="25405"/>
                  </a:cubicBezTo>
                  <a:close/>
                  <a:moveTo>
                    <a:pt x="152400" y="205740"/>
                  </a:moveTo>
                  <a:cubicBezTo>
                    <a:pt x="160817" y="205740"/>
                    <a:pt x="167640" y="212563"/>
                    <a:pt x="167640" y="220980"/>
                  </a:cubicBezTo>
                  <a:cubicBezTo>
                    <a:pt x="167640" y="229397"/>
                    <a:pt x="160817" y="236220"/>
                    <a:pt x="152400" y="236220"/>
                  </a:cubicBezTo>
                  <a:cubicBezTo>
                    <a:pt x="143983" y="236220"/>
                    <a:pt x="137160" y="229397"/>
                    <a:pt x="137160" y="220980"/>
                  </a:cubicBezTo>
                  <a:cubicBezTo>
                    <a:pt x="137160" y="212563"/>
                    <a:pt x="143983" y="205740"/>
                    <a:pt x="152400" y="205740"/>
                  </a:cubicBezTo>
                  <a:close/>
                  <a:moveTo>
                    <a:pt x="152400" y="72390"/>
                  </a:moveTo>
                  <a:cubicBezTo>
                    <a:pt x="175547" y="72390"/>
                    <a:pt x="194310" y="91154"/>
                    <a:pt x="194310" y="114300"/>
                  </a:cubicBezTo>
                  <a:cubicBezTo>
                    <a:pt x="194310" y="129692"/>
                    <a:pt x="189784" y="138288"/>
                    <a:pt x="178293" y="150251"/>
                  </a:cubicBezTo>
                  <a:lnTo>
                    <a:pt x="175717" y="152857"/>
                  </a:lnTo>
                  <a:cubicBezTo>
                    <a:pt x="166238" y="162336"/>
                    <a:pt x="163830" y="166360"/>
                    <a:pt x="163830" y="175260"/>
                  </a:cubicBezTo>
                  <a:cubicBezTo>
                    <a:pt x="163830" y="181572"/>
                    <a:pt x="158712" y="186690"/>
                    <a:pt x="152400" y="186690"/>
                  </a:cubicBezTo>
                  <a:cubicBezTo>
                    <a:pt x="146088" y="186690"/>
                    <a:pt x="140970" y="181572"/>
                    <a:pt x="140970" y="175260"/>
                  </a:cubicBezTo>
                  <a:cubicBezTo>
                    <a:pt x="140970" y="159868"/>
                    <a:pt x="145496" y="151272"/>
                    <a:pt x="156987" y="139309"/>
                  </a:cubicBezTo>
                  <a:lnTo>
                    <a:pt x="159563" y="136703"/>
                  </a:lnTo>
                  <a:cubicBezTo>
                    <a:pt x="169042" y="127224"/>
                    <a:pt x="171450" y="123200"/>
                    <a:pt x="171450" y="114300"/>
                  </a:cubicBezTo>
                  <a:cubicBezTo>
                    <a:pt x="171416" y="103779"/>
                    <a:pt x="162859" y="95278"/>
                    <a:pt x="152339" y="95312"/>
                  </a:cubicBezTo>
                  <a:cubicBezTo>
                    <a:pt x="142621" y="95343"/>
                    <a:pt x="134484" y="102685"/>
                    <a:pt x="133457" y="112349"/>
                  </a:cubicBezTo>
                  <a:lnTo>
                    <a:pt x="133350" y="114300"/>
                  </a:lnTo>
                  <a:cubicBezTo>
                    <a:pt x="133350" y="120613"/>
                    <a:pt x="128232" y="125730"/>
                    <a:pt x="121920" y="125730"/>
                  </a:cubicBezTo>
                  <a:cubicBezTo>
                    <a:pt x="115607" y="125730"/>
                    <a:pt x="110490" y="120613"/>
                    <a:pt x="110490" y="114300"/>
                  </a:cubicBezTo>
                  <a:cubicBezTo>
                    <a:pt x="110490" y="91154"/>
                    <a:pt x="129253" y="72390"/>
                    <a:pt x="152400" y="72390"/>
                  </a:cubicBez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 name="Group 8">
            <a:extLst>
              <a:ext uri="{FF2B5EF4-FFF2-40B4-BE49-F238E27FC236}">
                <a16:creationId xmlns:a16="http://schemas.microsoft.com/office/drawing/2014/main" id="{FCBB8FCB-119C-E213-BF36-C2A5747DE161}"/>
              </a:ext>
            </a:extLst>
          </p:cNvPr>
          <p:cNvGrpSpPr/>
          <p:nvPr/>
        </p:nvGrpSpPr>
        <p:grpSpPr>
          <a:xfrm>
            <a:off x="593727" y="4973334"/>
            <a:ext cx="457200" cy="457200"/>
            <a:chOff x="593727" y="4695565"/>
            <a:chExt cx="457200" cy="457200"/>
          </a:xfrm>
        </p:grpSpPr>
        <p:sp>
          <p:nvSpPr>
            <p:cNvPr id="20" name="Text Placeholder 2">
              <a:extLst>
                <a:ext uri="{FF2B5EF4-FFF2-40B4-BE49-F238E27FC236}">
                  <a16:creationId xmlns:a16="http://schemas.microsoft.com/office/drawing/2014/main" id="{62F140BF-8162-1ED8-BE66-51D203F25AA1}"/>
                </a:ext>
                <a:ext uri="{C183D7F6-B498-43B3-948B-1728B52AA6E4}">
                  <adec:decorative xmlns:adec="http://schemas.microsoft.com/office/drawing/2017/decorative" val="1"/>
                </a:ext>
              </a:extLst>
            </p:cNvPr>
            <p:cNvSpPr txBox="1">
              <a:spLocks/>
            </p:cNvSpPr>
            <p:nvPr/>
          </p:nvSpPr>
          <p:spPr>
            <a:xfrm>
              <a:off x="593727" y="4695565"/>
              <a:ext cx="457200" cy="457200"/>
            </a:xfrm>
            <a:prstGeom prst="ellipse">
              <a:avLst/>
            </a:prstGeom>
            <a:solidFill>
              <a:schemeClr val="bg1">
                <a:alpha val="74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640080" tIns="137160" rIns="137160" bIns="137160" numCol="1" spcCol="0" rtlCol="0" fromWordArt="0" anchor="t" anchorCtr="0" forceAA="0" compatLnSpc="1">
              <a:prstTxWarp prst="textNoShape">
                <a:avLst/>
              </a:prstTxWarp>
              <a:spAutoFit/>
            </a:bodyPr>
            <a:lstStyle>
              <a:lvl1pPr indent="0">
                <a:lnSpc>
                  <a:spcPct val="100000"/>
                </a:lnSpc>
                <a:spcBef>
                  <a:spcPts val="1000"/>
                </a:spcBef>
                <a:spcAft>
                  <a:spcPts val="600"/>
                </a:spcAft>
                <a:buFont typeface="Arial" panose="020B0604020202020204" pitchFamily="34" charset="0"/>
                <a:buNone/>
                <a:defRPr kumimoji="0" lang="en-US" sz="1400" b="0" i="0" u="none" strike="noStrike" kern="0" cap="none" spc="0" normalizeH="0" baseline="0" smtClean="0">
                  <a:ln w="3175">
                    <a:noFill/>
                  </a:ln>
                  <a:effectLst/>
                  <a:uLnTx/>
                  <a:uFillTx/>
                  <a:latin typeface="+mj-lt"/>
                  <a:ea typeface="Segoe UI Regular" pitchFamily="34" charset="-122"/>
                  <a:cs typeface="Segoe UI" panose="020B0502040204020203" pitchFamily="34" charset="0"/>
                </a:defRPr>
              </a:lvl1pPr>
              <a:lvl2pPr marL="0" lvl="1" indent="0">
                <a:lnSpc>
                  <a:spcPct val="100000"/>
                </a:lnSpc>
                <a:spcBef>
                  <a:spcPts val="0"/>
                </a:spcBef>
                <a:buFont typeface="Arial" panose="020B0604020202020204" pitchFamily="34" charset="0"/>
                <a:buNone/>
                <a:defRPr lang="en-US" sz="1100" dirty="0" smtClean="0">
                  <a:solidFill>
                    <a:schemeClr val="tx2"/>
                  </a:solidFill>
                </a:defRPr>
              </a:lvl2pPr>
              <a:lvl3pPr marL="1200150" indent="-285750">
                <a:lnSpc>
                  <a:spcPct val="100000"/>
                </a:lnSpc>
                <a:spcBef>
                  <a:spcPts val="500"/>
                </a:spcBef>
                <a:buFont typeface="Arial" panose="020B0604020202020204" pitchFamily="34" charset="0"/>
                <a:buChar char="•"/>
                <a:defRPr lang="en-US" sz="1100" smtClean="0">
                  <a:solidFill>
                    <a:schemeClr val="tx2"/>
                  </a:solidFill>
                </a:defRPr>
              </a:lvl3pPr>
              <a:lvl4pPr marL="1657350" indent="-285750">
                <a:lnSpc>
                  <a:spcPct val="100000"/>
                </a:lnSpc>
                <a:spcBef>
                  <a:spcPts val="500"/>
                </a:spcBef>
                <a:buFont typeface="Arial" panose="020B0604020202020204" pitchFamily="34" charset="0"/>
                <a:buChar char="•"/>
                <a:defRPr lang="en-US" sz="1100" smtClean="0">
                  <a:solidFill>
                    <a:schemeClr val="tx2"/>
                  </a:solidFill>
                </a:defRPr>
              </a:lvl4pPr>
              <a:lvl5pPr marL="2114550" indent="-285750">
                <a:lnSpc>
                  <a:spcPct val="100000"/>
                </a:lnSpc>
                <a:spcBef>
                  <a:spcPts val="500"/>
                </a:spcBef>
                <a:buFont typeface="Arial" panose="020B0604020202020204" pitchFamily="34" charset="0"/>
                <a:buChar char="•"/>
                <a:defRPr lang="en-US">
                  <a:solidFill>
                    <a:schemeClr val="tx2"/>
                  </a:solidFill>
                </a:defRPr>
              </a:lvl5pPr>
              <a:lvl6pPr marL="2514600" indent="-228600">
                <a:lnSpc>
                  <a:spcPct val="90000"/>
                </a:lnSpc>
                <a:spcBef>
                  <a:spcPts val="500"/>
                </a:spcBef>
                <a:buFont typeface="Arial" panose="020B0604020202020204" pitchFamily="34" charset="0"/>
                <a:buChar char="•"/>
                <a:defRPr>
                  <a:solidFill>
                    <a:schemeClr val="lt1"/>
                  </a:solidFill>
                </a:defRPr>
              </a:lvl6pPr>
              <a:lvl7pPr marL="2971800" indent="-228600">
                <a:lnSpc>
                  <a:spcPct val="90000"/>
                </a:lnSpc>
                <a:spcBef>
                  <a:spcPts val="500"/>
                </a:spcBef>
                <a:buFont typeface="Arial" panose="020B0604020202020204" pitchFamily="34" charset="0"/>
                <a:buChar char="•"/>
                <a:defRPr>
                  <a:solidFill>
                    <a:schemeClr val="lt1"/>
                  </a:solidFill>
                </a:defRPr>
              </a:lvl7pPr>
              <a:lvl8pPr marL="3429000" indent="-228600">
                <a:lnSpc>
                  <a:spcPct val="90000"/>
                </a:lnSpc>
                <a:spcBef>
                  <a:spcPts val="500"/>
                </a:spcBef>
                <a:buFont typeface="Arial" panose="020B0604020202020204" pitchFamily="34" charset="0"/>
                <a:buChar char="•"/>
                <a:defRPr>
                  <a:solidFill>
                    <a:schemeClr val="lt1"/>
                  </a:solidFill>
                </a:defRPr>
              </a:lvl8pPr>
              <a:lvl9pPr marL="3886200" indent="-228600">
                <a:lnSpc>
                  <a:spcPct val="90000"/>
                </a:lnSpc>
                <a:spcBef>
                  <a:spcPts val="500"/>
                </a:spcBef>
                <a:buFont typeface="Arial" panose="020B0604020202020204" pitchFamily="34" charset="0"/>
                <a:buChar char="•"/>
                <a:defRPr>
                  <a:solidFill>
                    <a:schemeClr val="lt1"/>
                  </a:solidFill>
                </a:defRPr>
              </a:lvl9pPr>
            </a:lstStyle>
            <a:p>
              <a:endParaRPr lang="en-US"/>
            </a:p>
          </p:txBody>
        </p:sp>
        <p:sp>
          <p:nvSpPr>
            <p:cNvPr id="23" name="arrow_16">
              <a:extLst>
                <a:ext uri="{FF2B5EF4-FFF2-40B4-BE49-F238E27FC236}">
                  <a16:creationId xmlns:a16="http://schemas.microsoft.com/office/drawing/2014/main" id="{CFC26799-1517-134C-691C-9D4C2E3B5939}"/>
                </a:ext>
                <a:ext uri="{C183D7F6-B498-43B3-948B-1728B52AA6E4}">
                  <adec:decorative xmlns:adec="http://schemas.microsoft.com/office/drawing/2017/decorative" val="1"/>
                </a:ext>
              </a:extLst>
            </p:cNvPr>
            <p:cNvSpPr>
              <a:spLocks noChangeAspect="1" noEditPoints="1"/>
            </p:cNvSpPr>
            <p:nvPr/>
          </p:nvSpPr>
          <p:spPr bwMode="auto">
            <a:xfrm>
              <a:off x="708023" y="4839920"/>
              <a:ext cx="228600" cy="168490"/>
            </a:xfrm>
            <a:custGeom>
              <a:avLst/>
              <a:gdLst>
                <a:gd name="T0" fmla="*/ 347 w 347"/>
                <a:gd name="T1" fmla="*/ 206 h 254"/>
                <a:gd name="T2" fmla="*/ 182 w 347"/>
                <a:gd name="T3" fmla="*/ 151 h 254"/>
                <a:gd name="T4" fmla="*/ 135 w 347"/>
                <a:gd name="T5" fmla="*/ 101 h 254"/>
                <a:gd name="T6" fmla="*/ 0 w 347"/>
                <a:gd name="T7" fmla="*/ 47 h 254"/>
                <a:gd name="T8" fmla="*/ 347 w 347"/>
                <a:gd name="T9" fmla="*/ 48 h 254"/>
                <a:gd name="T10" fmla="*/ 158 w 347"/>
                <a:gd name="T11" fmla="*/ 130 h 254"/>
                <a:gd name="T12" fmla="*/ 0 w 347"/>
                <a:gd name="T13" fmla="*/ 207 h 254"/>
                <a:gd name="T14" fmla="*/ 299 w 347"/>
                <a:gd name="T15" fmla="*/ 95 h 254"/>
                <a:gd name="T16" fmla="*/ 347 w 347"/>
                <a:gd name="T17" fmla="*/ 48 h 254"/>
                <a:gd name="T18" fmla="*/ 299 w 347"/>
                <a:gd name="T19" fmla="*/ 0 h 254"/>
                <a:gd name="T20" fmla="*/ 299 w 347"/>
                <a:gd name="T21" fmla="*/ 254 h 254"/>
                <a:gd name="T22" fmla="*/ 347 w 347"/>
                <a:gd name="T23" fmla="*/ 206 h 254"/>
                <a:gd name="T24" fmla="*/ 299 w 347"/>
                <a:gd name="T25" fmla="*/ 158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7" h="254">
                  <a:moveTo>
                    <a:pt x="347" y="206"/>
                  </a:moveTo>
                  <a:cubicBezTo>
                    <a:pt x="258" y="212"/>
                    <a:pt x="213" y="183"/>
                    <a:pt x="182" y="151"/>
                  </a:cubicBezTo>
                  <a:moveTo>
                    <a:pt x="135" y="101"/>
                  </a:moveTo>
                  <a:cubicBezTo>
                    <a:pt x="74" y="47"/>
                    <a:pt x="0" y="47"/>
                    <a:pt x="0" y="47"/>
                  </a:cubicBezTo>
                  <a:moveTo>
                    <a:pt x="347" y="48"/>
                  </a:moveTo>
                  <a:cubicBezTo>
                    <a:pt x="232" y="41"/>
                    <a:pt x="190" y="91"/>
                    <a:pt x="158" y="130"/>
                  </a:cubicBezTo>
                  <a:cubicBezTo>
                    <a:pt x="94" y="207"/>
                    <a:pt x="0" y="207"/>
                    <a:pt x="0" y="207"/>
                  </a:cubicBezTo>
                  <a:moveTo>
                    <a:pt x="299" y="95"/>
                  </a:moveTo>
                  <a:cubicBezTo>
                    <a:pt x="347" y="48"/>
                    <a:pt x="347" y="48"/>
                    <a:pt x="347" y="48"/>
                  </a:cubicBezTo>
                  <a:cubicBezTo>
                    <a:pt x="299" y="0"/>
                    <a:pt x="299" y="0"/>
                    <a:pt x="299" y="0"/>
                  </a:cubicBezTo>
                  <a:moveTo>
                    <a:pt x="299" y="254"/>
                  </a:moveTo>
                  <a:cubicBezTo>
                    <a:pt x="347" y="206"/>
                    <a:pt x="347" y="206"/>
                    <a:pt x="347" y="206"/>
                  </a:cubicBezTo>
                  <a:cubicBezTo>
                    <a:pt x="299" y="158"/>
                    <a:pt x="299" y="158"/>
                    <a:pt x="299" y="158"/>
                  </a:cubicBezTo>
                </a:path>
              </a:pathLst>
            </a:custGeom>
            <a:noFill/>
            <a:ln w="15875" cap="rnd">
              <a:gradFill>
                <a:gsLst>
                  <a:gs pos="3000">
                    <a:srgbClr val="0078D4"/>
                  </a:gs>
                  <a:gs pos="52000">
                    <a:srgbClr val="818EFF"/>
                  </a:gs>
                  <a:gs pos="35000">
                    <a:srgbClr val="2DB4FF"/>
                  </a:gs>
                  <a:gs pos="30000">
                    <a:srgbClr val="2DB4FF"/>
                  </a:gs>
                  <a:gs pos="70000">
                    <a:srgbClr val="D660FF"/>
                  </a:gs>
                  <a:gs pos="97000">
                    <a:srgbClr val="FEA87A"/>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aphicFrame>
        <p:nvGraphicFramePr>
          <p:cNvPr id="24" name="Table 23">
            <a:extLst>
              <a:ext uri="{FF2B5EF4-FFF2-40B4-BE49-F238E27FC236}">
                <a16:creationId xmlns:a16="http://schemas.microsoft.com/office/drawing/2014/main" id="{8A118580-C84D-EC0A-13C9-76CC8CD5A9FC}"/>
              </a:ext>
            </a:extLst>
          </p:cNvPr>
          <p:cNvGraphicFramePr>
            <a:graphicFrameLocks noGrp="1"/>
          </p:cNvGraphicFramePr>
          <p:nvPr>
            <p:extLst>
              <p:ext uri="{D42A27DB-BD31-4B8C-83A1-F6EECF244321}">
                <p14:modId xmlns:p14="http://schemas.microsoft.com/office/powerpoint/2010/main" val="2945783580"/>
              </p:ext>
            </p:extLst>
          </p:nvPr>
        </p:nvGraphicFramePr>
        <p:xfrm>
          <a:off x="5951548" y="3776520"/>
          <a:ext cx="5516364" cy="2400587"/>
        </p:xfrm>
        <a:graphic>
          <a:graphicData uri="http://schemas.openxmlformats.org/drawingml/2006/table">
            <a:tbl>
              <a:tblPr firstRow="1" bandRow="1">
                <a:tableStyleId>{2D5ABB26-0587-4C30-8999-92F81FD0307C}</a:tableStyleId>
              </a:tblPr>
              <a:tblGrid>
                <a:gridCol w="217758">
                  <a:extLst>
                    <a:ext uri="{9D8B030D-6E8A-4147-A177-3AD203B41FA5}">
                      <a16:colId xmlns:a16="http://schemas.microsoft.com/office/drawing/2014/main" val="1905125584"/>
                    </a:ext>
                  </a:extLst>
                </a:gridCol>
                <a:gridCol w="995423">
                  <a:extLst>
                    <a:ext uri="{9D8B030D-6E8A-4147-A177-3AD203B41FA5}">
                      <a16:colId xmlns:a16="http://schemas.microsoft.com/office/drawing/2014/main" val="3580399742"/>
                    </a:ext>
                  </a:extLst>
                </a:gridCol>
                <a:gridCol w="4303183">
                  <a:extLst>
                    <a:ext uri="{9D8B030D-6E8A-4147-A177-3AD203B41FA5}">
                      <a16:colId xmlns:a16="http://schemas.microsoft.com/office/drawing/2014/main" val="1904428677"/>
                    </a:ext>
                  </a:extLst>
                </a:gridCol>
              </a:tblGrid>
              <a:tr h="506913">
                <a:tc>
                  <a:txBody>
                    <a:bodyPr/>
                    <a:lstStyle/>
                    <a:p>
                      <a:endParaRPr lang="en-US" sz="1000"/>
                    </a:p>
                  </a:txBody>
                  <a:tcPr>
                    <a:lnL>
                      <a:noFill/>
                    </a:lnL>
                    <a:lnR w="12700" cap="flat" cmpd="sng" algn="ctr">
                      <a:no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a:latin typeface="+mj-lt"/>
                        </a:rPr>
                        <a:t>Agency spend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225"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Copilot helps reduce the cost spent on outsourcing content creation.</a:t>
                      </a:r>
                    </a:p>
                  </a:txBody>
                  <a:tcPr marL="45720" marR="45720" anchor="ctr">
                    <a:lnL w="12700" cap="flat" cmpd="sng" algn="ctr">
                      <a:noFill/>
                      <a:prstDash val="solid"/>
                      <a:round/>
                      <a:headEnd type="none" w="med" len="med"/>
                      <a:tailEnd type="none" w="med" len="med"/>
                    </a:lnL>
                    <a:lnR>
                      <a:noFill/>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3379039"/>
                  </a:ext>
                </a:extLst>
              </a:tr>
              <a:tr h="506913">
                <a:tc>
                  <a:txBody>
                    <a:bodyPr/>
                    <a:lstStyle/>
                    <a:p>
                      <a:endParaRPr lang="en-US" sz="1000"/>
                    </a:p>
                  </a:txBody>
                  <a:tcPr>
                    <a:lnL>
                      <a:noFill/>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a:latin typeface="+mj-lt"/>
                        </a:rPr>
                        <a:t>Leads generated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225"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111111"/>
                          </a:solidFill>
                          <a:effectLst/>
                          <a:uLnTx/>
                          <a:uFillTx/>
                          <a:latin typeface="Segoe UI"/>
                          <a:ea typeface="+mn-ea"/>
                          <a:cs typeface="Segoe UI" panose="020B0502040204020203" pitchFamily="34" charset="0"/>
                        </a:rPr>
                        <a:t>By analyzing the competitive landscape, enhancing demand generation materials, and improving internal collaboration, Copilot can help marketers generate more leads and reach new customers.</a:t>
                      </a:r>
                    </a:p>
                  </a:txBody>
                  <a:tcPr marL="45720" marR="45720" anchor="ctr">
                    <a:lnL w="12700" cap="flat" cmpd="sng" algn="ctr">
                      <a:noFill/>
                      <a:prstDash val="solid"/>
                      <a:round/>
                      <a:headEnd type="none" w="med" len="med"/>
                      <a:tailEnd type="none" w="med" len="med"/>
                    </a:lnL>
                    <a:lnR>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34878029"/>
                  </a:ext>
                </a:extLst>
              </a:tr>
              <a:tr h="454951">
                <a:tc>
                  <a:txBody>
                    <a:bodyPr/>
                    <a:lstStyle/>
                    <a:p>
                      <a:endParaRPr lang="en-US" sz="1000"/>
                    </a:p>
                  </a:txBody>
                  <a:tcPr>
                    <a:lnL>
                      <a:noFill/>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a:latin typeface="+mj-lt"/>
                        </a:rPr>
                        <a:t>Brand value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Segoe UI" panose="020B0502040204020203" pitchFamily="34" charset="0"/>
                        </a:rPr>
                        <a:t>Copilot elevates your brand message by helping you develop more captivating and engaging content – whether it’s email campaigns, blogs, or website copy. Copilot also helps you brainstorm your social content, sparking interest and expanding your brand reach. </a:t>
                      </a:r>
                    </a:p>
                  </a:txBody>
                  <a:tcPr marL="45720" marR="45720" anchor="ctr">
                    <a:lnL w="12700" cap="flat" cmpd="sng" algn="ctr">
                      <a:noFill/>
                      <a:prstDash val="solid"/>
                      <a:round/>
                      <a:headEnd type="none" w="med" len="med"/>
                      <a:tailEnd type="none" w="med" len="med"/>
                    </a:lnL>
                    <a:lnR>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97277821"/>
                  </a:ext>
                </a:extLst>
              </a:tr>
              <a:tr h="611418">
                <a:tc>
                  <a:txBody>
                    <a:bodyPr/>
                    <a:lstStyle/>
                    <a:p>
                      <a:endParaRPr lang="en-US" sz="1000"/>
                    </a:p>
                  </a:txBody>
                  <a:tcPr>
                    <a:lnL>
                      <a:noFill/>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r>
                        <a:rPr lang="en-US" sz="1000">
                          <a:latin typeface="+mj-lt"/>
                        </a:rPr>
                        <a:t>Cost per lead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n-lt"/>
                          <a:ea typeface="+mn-ea"/>
                          <a:cs typeface="Segoe UI" panose="020B0502040204020203" pitchFamily="34" charset="0"/>
                        </a:rPr>
                        <a:t>Copilot helps reduce the cost spent per lead by simplifying analysis, content creation, and customization.</a:t>
                      </a:r>
                    </a:p>
                  </a:txBody>
                  <a:tcPr marL="45720" marR="45720" anchor="ctr">
                    <a:lnL w="12700" cap="flat" cmpd="sng" algn="ctr">
                      <a:noFill/>
                      <a:prstDash val="solid"/>
                      <a:round/>
                      <a:headEnd type="none" w="med" len="med"/>
                      <a:tailEnd type="none" w="med" len="med"/>
                    </a:lnL>
                    <a:lnR>
                      <a:noFill/>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2953155573"/>
                  </a:ext>
                </a:extLst>
              </a:tr>
            </a:tbl>
          </a:graphicData>
        </a:graphic>
      </p:graphicFrame>
      <p:sp>
        <p:nvSpPr>
          <p:cNvPr id="49" name="Graphic 47" descr="Icon of a piggy bank ">
            <a:extLst>
              <a:ext uri="{FF2B5EF4-FFF2-40B4-BE49-F238E27FC236}">
                <a16:creationId xmlns:a16="http://schemas.microsoft.com/office/drawing/2014/main" id="{1CC1037D-19F3-BE61-8F1B-757411262802}"/>
              </a:ext>
            </a:extLst>
          </p:cNvPr>
          <p:cNvSpPr>
            <a:spLocks noChangeAspect="1"/>
          </p:cNvSpPr>
          <p:nvPr/>
        </p:nvSpPr>
        <p:spPr>
          <a:xfrm>
            <a:off x="5963194" y="3971118"/>
            <a:ext cx="200060" cy="193432"/>
          </a:xfrm>
          <a:custGeom>
            <a:avLst/>
            <a:gdLst>
              <a:gd name="connsiteX0" fmla="*/ 150403 w 372234"/>
              <a:gd name="connsiteY0" fmla="*/ 26554 h 359903"/>
              <a:gd name="connsiteX1" fmla="*/ 177466 w 372234"/>
              <a:gd name="connsiteY1" fmla="*/ 38837 h 359903"/>
              <a:gd name="connsiteX2" fmla="*/ 168732 w 372234"/>
              <a:gd name="connsiteY2" fmla="*/ 65624 h 359903"/>
              <a:gd name="connsiteX3" fmla="*/ 134547 w 372234"/>
              <a:gd name="connsiteY3" fmla="*/ 49532 h 359903"/>
              <a:gd name="connsiteX4" fmla="*/ 120976 w 372234"/>
              <a:gd name="connsiteY4" fmla="*/ 39162 h 359903"/>
              <a:gd name="connsiteX5" fmla="*/ 120976 w 372234"/>
              <a:gd name="connsiteY5" fmla="*/ 80727 h 359903"/>
              <a:gd name="connsiteX6" fmla="*/ 112224 w 372234"/>
              <a:gd name="connsiteY6" fmla="*/ 93679 h 359903"/>
              <a:gd name="connsiteX7" fmla="*/ 112108 w 372234"/>
              <a:gd name="connsiteY7" fmla="*/ 93727 h 359903"/>
              <a:gd name="connsiteX8" fmla="*/ 111522 w 372234"/>
              <a:gd name="connsiteY8" fmla="*/ 93976 h 359903"/>
              <a:gd name="connsiteX9" fmla="*/ 109035 w 372234"/>
              <a:gd name="connsiteY9" fmla="*/ 95103 h 359903"/>
              <a:gd name="connsiteX10" fmla="*/ 99984 w 372234"/>
              <a:gd name="connsiteY10" fmla="*/ 99827 h 359903"/>
              <a:gd name="connsiteX11" fmla="*/ 75011 w 372234"/>
              <a:gd name="connsiteY11" fmla="*/ 118515 h 359903"/>
              <a:gd name="connsiteX12" fmla="*/ 58428 w 372234"/>
              <a:gd name="connsiteY12" fmla="*/ 147096 h 359903"/>
              <a:gd name="connsiteX13" fmla="*/ 31400 w 372234"/>
              <a:gd name="connsiteY13" fmla="*/ 171071 h 359903"/>
              <a:gd name="connsiteX14" fmla="*/ 27918 w 372234"/>
              <a:gd name="connsiteY14" fmla="*/ 175183 h 359903"/>
              <a:gd name="connsiteX15" fmla="*/ 27918 w 372234"/>
              <a:gd name="connsiteY15" fmla="*/ 207807 h 359903"/>
              <a:gd name="connsiteX16" fmla="*/ 33181 w 372234"/>
              <a:gd name="connsiteY16" fmla="*/ 214021 h 359903"/>
              <a:gd name="connsiteX17" fmla="*/ 59085 w 372234"/>
              <a:gd name="connsiteY17" fmla="*/ 232745 h 359903"/>
              <a:gd name="connsiteX18" fmla="*/ 84317 w 372234"/>
              <a:gd name="connsiteY18" fmla="*/ 266279 h 359903"/>
              <a:gd name="connsiteX19" fmla="*/ 113807 w 372234"/>
              <a:gd name="connsiteY19" fmla="*/ 285613 h 359903"/>
              <a:gd name="connsiteX20" fmla="*/ 124606 w 372234"/>
              <a:gd name="connsiteY20" fmla="*/ 289427 h 359903"/>
              <a:gd name="connsiteX21" fmla="*/ 127546 w 372234"/>
              <a:gd name="connsiteY21" fmla="*/ 290197 h 359903"/>
              <a:gd name="connsiteX22" fmla="*/ 128214 w 372234"/>
              <a:gd name="connsiteY22" fmla="*/ 290348 h 359903"/>
              <a:gd name="connsiteX23" fmla="*/ 128304 w 372234"/>
              <a:gd name="connsiteY23" fmla="*/ 290369 h 359903"/>
              <a:gd name="connsiteX24" fmla="*/ 128324 w 372234"/>
              <a:gd name="connsiteY24" fmla="*/ 290372 h 359903"/>
              <a:gd name="connsiteX25" fmla="*/ 139588 w 372234"/>
              <a:gd name="connsiteY25" fmla="*/ 304069 h 359903"/>
              <a:gd name="connsiteX26" fmla="*/ 139588 w 372234"/>
              <a:gd name="connsiteY26" fmla="*/ 327333 h 359903"/>
              <a:gd name="connsiteX27" fmla="*/ 144241 w 372234"/>
              <a:gd name="connsiteY27" fmla="*/ 331986 h 359903"/>
              <a:gd name="connsiteX28" fmla="*/ 167505 w 372234"/>
              <a:gd name="connsiteY28" fmla="*/ 331986 h 359903"/>
              <a:gd name="connsiteX29" fmla="*/ 195423 w 372234"/>
              <a:gd name="connsiteY29" fmla="*/ 304069 h 359903"/>
              <a:gd name="connsiteX30" fmla="*/ 232646 w 372234"/>
              <a:gd name="connsiteY30" fmla="*/ 304069 h 359903"/>
              <a:gd name="connsiteX31" fmla="*/ 260564 w 372234"/>
              <a:gd name="connsiteY31" fmla="*/ 331986 h 359903"/>
              <a:gd name="connsiteX32" fmla="*/ 283829 w 372234"/>
              <a:gd name="connsiteY32" fmla="*/ 331986 h 359903"/>
              <a:gd name="connsiteX33" fmla="*/ 288481 w 372234"/>
              <a:gd name="connsiteY33" fmla="*/ 327333 h 359903"/>
              <a:gd name="connsiteX34" fmla="*/ 288481 w 372234"/>
              <a:gd name="connsiteY34" fmla="*/ 285457 h 359903"/>
              <a:gd name="connsiteX35" fmla="*/ 296146 w 372234"/>
              <a:gd name="connsiteY35" fmla="*/ 272996 h 359903"/>
              <a:gd name="connsiteX36" fmla="*/ 296393 w 372234"/>
              <a:gd name="connsiteY36" fmla="*/ 272864 h 359903"/>
              <a:gd name="connsiteX37" fmla="*/ 297700 w 372234"/>
              <a:gd name="connsiteY37" fmla="*/ 272116 h 359903"/>
              <a:gd name="connsiteX38" fmla="*/ 302991 w 372234"/>
              <a:gd name="connsiteY38" fmla="*/ 268615 h 359903"/>
              <a:gd name="connsiteX39" fmla="*/ 319760 w 372234"/>
              <a:gd name="connsiteY39" fmla="*/ 253108 h 359903"/>
              <a:gd name="connsiteX40" fmla="*/ 344317 w 372234"/>
              <a:gd name="connsiteY40" fmla="*/ 183093 h 359903"/>
              <a:gd name="connsiteX41" fmla="*/ 334849 w 372234"/>
              <a:gd name="connsiteY41" fmla="*/ 136794 h 359903"/>
              <a:gd name="connsiteX42" fmla="*/ 349703 w 372234"/>
              <a:gd name="connsiteY42" fmla="*/ 107463 h 359903"/>
              <a:gd name="connsiteX43" fmla="*/ 354949 w 372234"/>
              <a:gd name="connsiteY43" fmla="*/ 115343 h 359903"/>
              <a:gd name="connsiteX44" fmla="*/ 372234 w 372234"/>
              <a:gd name="connsiteY44" fmla="*/ 183093 h 359903"/>
              <a:gd name="connsiteX45" fmla="*/ 340955 w 372234"/>
              <a:gd name="connsiteY45" fmla="*/ 271277 h 359903"/>
              <a:gd name="connsiteX46" fmla="*/ 319338 w 372234"/>
              <a:gd name="connsiteY46" fmla="*/ 291247 h 359903"/>
              <a:gd name="connsiteX47" fmla="*/ 316399 w 372234"/>
              <a:gd name="connsiteY47" fmla="*/ 293298 h 359903"/>
              <a:gd name="connsiteX48" fmla="*/ 316399 w 372234"/>
              <a:gd name="connsiteY48" fmla="*/ 327333 h 359903"/>
              <a:gd name="connsiteX49" fmla="*/ 283829 w 372234"/>
              <a:gd name="connsiteY49" fmla="*/ 359904 h 359903"/>
              <a:gd name="connsiteX50" fmla="*/ 260564 w 372234"/>
              <a:gd name="connsiteY50" fmla="*/ 359904 h 359903"/>
              <a:gd name="connsiteX51" fmla="*/ 232646 w 372234"/>
              <a:gd name="connsiteY51" fmla="*/ 331986 h 359903"/>
              <a:gd name="connsiteX52" fmla="*/ 195423 w 372234"/>
              <a:gd name="connsiteY52" fmla="*/ 331986 h 359903"/>
              <a:gd name="connsiteX53" fmla="*/ 167505 w 372234"/>
              <a:gd name="connsiteY53" fmla="*/ 359904 h 359903"/>
              <a:gd name="connsiteX54" fmla="*/ 144241 w 372234"/>
              <a:gd name="connsiteY54" fmla="*/ 359904 h 359903"/>
              <a:gd name="connsiteX55" fmla="*/ 111670 w 372234"/>
              <a:gd name="connsiteY55" fmla="*/ 327333 h 359903"/>
              <a:gd name="connsiteX56" fmla="*/ 111670 w 372234"/>
              <a:gd name="connsiteY56" fmla="*/ 314629 h 359903"/>
              <a:gd name="connsiteX57" fmla="*/ 103029 w 372234"/>
              <a:gd name="connsiteY57" fmla="*/ 311366 h 359903"/>
              <a:gd name="connsiteX58" fmla="*/ 64576 w 372234"/>
              <a:gd name="connsiteY58" fmla="*/ 286021 h 359903"/>
              <a:gd name="connsiteX59" fmla="*/ 34713 w 372234"/>
              <a:gd name="connsiteY59" fmla="*/ 246359 h 359903"/>
              <a:gd name="connsiteX60" fmla="*/ 28591 w 372234"/>
              <a:gd name="connsiteY60" fmla="*/ 241557 h 359903"/>
              <a:gd name="connsiteX61" fmla="*/ 0 w 372234"/>
              <a:gd name="connsiteY61" fmla="*/ 207807 h 359903"/>
              <a:gd name="connsiteX62" fmla="*/ 0 w 372234"/>
              <a:gd name="connsiteY62" fmla="*/ 175183 h 359903"/>
              <a:gd name="connsiteX63" fmla="*/ 26810 w 372234"/>
              <a:gd name="connsiteY63" fmla="*/ 143533 h 359903"/>
              <a:gd name="connsiteX64" fmla="*/ 31947 w 372234"/>
              <a:gd name="connsiteY64" fmla="*/ 138257 h 359903"/>
              <a:gd name="connsiteX65" fmla="*/ 55271 w 372234"/>
              <a:gd name="connsiteY65" fmla="*/ 98775 h 359903"/>
              <a:gd name="connsiteX66" fmla="*/ 86133 w 372234"/>
              <a:gd name="connsiteY66" fmla="*/ 75587 h 359903"/>
              <a:gd name="connsiteX67" fmla="*/ 93059 w 372234"/>
              <a:gd name="connsiteY67" fmla="*/ 71846 h 359903"/>
              <a:gd name="connsiteX68" fmla="*/ 93059 w 372234"/>
              <a:gd name="connsiteY68" fmla="*/ 18772 h 359903"/>
              <a:gd name="connsiteX69" fmla="*/ 125440 w 372234"/>
              <a:gd name="connsiteY69" fmla="*/ 5442 h 359903"/>
              <a:gd name="connsiteX70" fmla="*/ 150403 w 372234"/>
              <a:gd name="connsiteY70" fmla="*/ 26554 h 359903"/>
              <a:gd name="connsiteX71" fmla="*/ 206032 w 372234"/>
              <a:gd name="connsiteY71" fmla="*/ 115122 h 359903"/>
              <a:gd name="connsiteX72" fmla="*/ 187381 w 372234"/>
              <a:gd name="connsiteY72" fmla="*/ 94473 h 359903"/>
              <a:gd name="connsiteX73" fmla="*/ 232068 w 372234"/>
              <a:gd name="connsiteY73" fmla="*/ 11950 h 359903"/>
              <a:gd name="connsiteX74" fmla="*/ 329342 w 372234"/>
              <a:gd name="connsiteY74" fmla="*/ 52232 h 359903"/>
              <a:gd name="connsiteX75" fmla="*/ 302602 w 372234"/>
              <a:gd name="connsiteY75" fmla="*/ 142188 h 359903"/>
              <a:gd name="connsiteX76" fmla="*/ 274813 w 372234"/>
              <a:gd name="connsiteY76" fmla="*/ 143606 h 359903"/>
              <a:gd name="connsiteX77" fmla="*/ 206032 w 372234"/>
              <a:gd name="connsiteY77" fmla="*/ 115122 h 359903"/>
              <a:gd name="connsiteX78" fmla="*/ 287813 w 372234"/>
              <a:gd name="connsiteY78" fmla="*/ 118463 h 359903"/>
              <a:gd name="connsiteX79" fmla="*/ 303550 w 372234"/>
              <a:gd name="connsiteY79" fmla="*/ 62918 h 359903"/>
              <a:gd name="connsiteX80" fmla="*/ 242754 w 372234"/>
              <a:gd name="connsiteY80" fmla="*/ 37742 h 359903"/>
              <a:gd name="connsiteX81" fmla="*/ 214613 w 372234"/>
              <a:gd name="connsiteY81" fmla="*/ 88150 h 359903"/>
              <a:gd name="connsiteX82" fmla="*/ 215012 w 372234"/>
              <a:gd name="connsiteY82" fmla="*/ 88437 h 359903"/>
              <a:gd name="connsiteX83" fmla="*/ 216713 w 372234"/>
              <a:gd name="connsiteY83" fmla="*/ 89329 h 359903"/>
              <a:gd name="connsiteX84" fmla="*/ 285494 w 372234"/>
              <a:gd name="connsiteY84" fmla="*/ 117813 h 359903"/>
              <a:gd name="connsiteX85" fmla="*/ 287329 w 372234"/>
              <a:gd name="connsiteY85" fmla="*/ 118385 h 359903"/>
              <a:gd name="connsiteX86" fmla="*/ 287813 w 372234"/>
              <a:gd name="connsiteY86" fmla="*/ 118463 h 359903"/>
              <a:gd name="connsiteX87" fmla="*/ 130282 w 372234"/>
              <a:gd name="connsiteY87" fmla="*/ 136562 h 359903"/>
              <a:gd name="connsiteX88" fmla="*/ 111670 w 372234"/>
              <a:gd name="connsiteY88" fmla="*/ 155173 h 359903"/>
              <a:gd name="connsiteX89" fmla="*/ 93059 w 372234"/>
              <a:gd name="connsiteY89" fmla="*/ 136562 h 359903"/>
              <a:gd name="connsiteX90" fmla="*/ 111670 w 372234"/>
              <a:gd name="connsiteY90" fmla="*/ 117950 h 359903"/>
              <a:gd name="connsiteX91" fmla="*/ 130282 w 372234"/>
              <a:gd name="connsiteY91" fmla="*/ 136562 h 359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372234" h="359903">
                <a:moveTo>
                  <a:pt x="150403" y="26554"/>
                </a:moveTo>
                <a:cubicBezTo>
                  <a:pt x="160267" y="33362"/>
                  <a:pt x="169696" y="37848"/>
                  <a:pt x="177466" y="38837"/>
                </a:cubicBezTo>
                <a:cubicBezTo>
                  <a:pt x="173230" y="47251"/>
                  <a:pt x="170275" y="56288"/>
                  <a:pt x="168732" y="65624"/>
                </a:cubicBezTo>
                <a:cubicBezTo>
                  <a:pt x="156199" y="62874"/>
                  <a:pt x="144307" y="56267"/>
                  <a:pt x="134547" y="49532"/>
                </a:cubicBezTo>
                <a:cubicBezTo>
                  <a:pt x="129722" y="46202"/>
                  <a:pt x="125154" y="42655"/>
                  <a:pt x="120976" y="39162"/>
                </a:cubicBezTo>
                <a:lnTo>
                  <a:pt x="120976" y="80727"/>
                </a:lnTo>
                <a:cubicBezTo>
                  <a:pt x="120976" y="86427"/>
                  <a:pt x="117511" y="91554"/>
                  <a:pt x="112224" y="93679"/>
                </a:cubicBezTo>
                <a:lnTo>
                  <a:pt x="112108" y="93727"/>
                </a:lnTo>
                <a:cubicBezTo>
                  <a:pt x="111993" y="93775"/>
                  <a:pt x="111795" y="93858"/>
                  <a:pt x="111522" y="93976"/>
                </a:cubicBezTo>
                <a:cubicBezTo>
                  <a:pt x="110975" y="94212"/>
                  <a:pt x="110128" y="94588"/>
                  <a:pt x="109035" y="95103"/>
                </a:cubicBezTo>
                <a:cubicBezTo>
                  <a:pt x="106844" y="96133"/>
                  <a:pt x="103688" y="97710"/>
                  <a:pt x="99984" y="99827"/>
                </a:cubicBezTo>
                <a:cubicBezTo>
                  <a:pt x="92502" y="104102"/>
                  <a:pt x="83155" y="110371"/>
                  <a:pt x="75011" y="118515"/>
                </a:cubicBezTo>
                <a:cubicBezTo>
                  <a:pt x="66571" y="126956"/>
                  <a:pt x="61367" y="138292"/>
                  <a:pt x="58428" y="147096"/>
                </a:cubicBezTo>
                <a:cubicBezTo>
                  <a:pt x="54659" y="158387"/>
                  <a:pt x="45062" y="168795"/>
                  <a:pt x="31400" y="171071"/>
                </a:cubicBezTo>
                <a:cubicBezTo>
                  <a:pt x="29390" y="171406"/>
                  <a:pt x="27918" y="173145"/>
                  <a:pt x="27918" y="175183"/>
                </a:cubicBezTo>
                <a:lnTo>
                  <a:pt x="27918" y="207807"/>
                </a:lnTo>
                <a:cubicBezTo>
                  <a:pt x="27918" y="210887"/>
                  <a:pt x="30144" y="213515"/>
                  <a:pt x="33181" y="214021"/>
                </a:cubicBezTo>
                <a:cubicBezTo>
                  <a:pt x="44793" y="215955"/>
                  <a:pt x="53941" y="223536"/>
                  <a:pt x="59085" y="232745"/>
                </a:cubicBezTo>
                <a:cubicBezTo>
                  <a:pt x="63764" y="241120"/>
                  <a:pt x="72081" y="254044"/>
                  <a:pt x="84317" y="266279"/>
                </a:cubicBezTo>
                <a:cubicBezTo>
                  <a:pt x="93825" y="275788"/>
                  <a:pt x="104897" y="281883"/>
                  <a:pt x="113807" y="285613"/>
                </a:cubicBezTo>
                <a:cubicBezTo>
                  <a:pt x="118223" y="287461"/>
                  <a:pt x="121996" y="288680"/>
                  <a:pt x="124606" y="289427"/>
                </a:cubicBezTo>
                <a:cubicBezTo>
                  <a:pt x="125908" y="289797"/>
                  <a:pt x="126910" y="290048"/>
                  <a:pt x="127546" y="290197"/>
                </a:cubicBezTo>
                <a:cubicBezTo>
                  <a:pt x="127864" y="290272"/>
                  <a:pt x="128089" y="290322"/>
                  <a:pt x="128214" y="290348"/>
                </a:cubicBezTo>
                <a:lnTo>
                  <a:pt x="128304" y="290369"/>
                </a:lnTo>
                <a:lnTo>
                  <a:pt x="128324" y="290372"/>
                </a:lnTo>
                <a:cubicBezTo>
                  <a:pt x="134866" y="291658"/>
                  <a:pt x="139588" y="297396"/>
                  <a:pt x="139588" y="304069"/>
                </a:cubicBezTo>
                <a:lnTo>
                  <a:pt x="139588" y="327333"/>
                </a:lnTo>
                <a:cubicBezTo>
                  <a:pt x="139588" y="329902"/>
                  <a:pt x="141671" y="331986"/>
                  <a:pt x="144241" y="331986"/>
                </a:cubicBezTo>
                <a:lnTo>
                  <a:pt x="167505" y="331986"/>
                </a:lnTo>
                <a:cubicBezTo>
                  <a:pt x="167505" y="316566"/>
                  <a:pt x="180005" y="304069"/>
                  <a:pt x="195423" y="304069"/>
                </a:cubicBezTo>
                <a:lnTo>
                  <a:pt x="232646" y="304069"/>
                </a:lnTo>
                <a:cubicBezTo>
                  <a:pt x="248064" y="304069"/>
                  <a:pt x="260564" y="316566"/>
                  <a:pt x="260564" y="331986"/>
                </a:cubicBezTo>
                <a:lnTo>
                  <a:pt x="283829" y="331986"/>
                </a:lnTo>
                <a:cubicBezTo>
                  <a:pt x="286399" y="331986"/>
                  <a:pt x="288481" y="329902"/>
                  <a:pt x="288481" y="327333"/>
                </a:cubicBezTo>
                <a:lnTo>
                  <a:pt x="288481" y="285457"/>
                </a:lnTo>
                <a:cubicBezTo>
                  <a:pt x="288481" y="280194"/>
                  <a:pt x="291454" y="275373"/>
                  <a:pt x="296146" y="272996"/>
                </a:cubicBezTo>
                <a:lnTo>
                  <a:pt x="296393" y="272864"/>
                </a:lnTo>
                <a:cubicBezTo>
                  <a:pt x="296652" y="272723"/>
                  <a:pt x="297097" y="272475"/>
                  <a:pt x="297700" y="272116"/>
                </a:cubicBezTo>
                <a:cubicBezTo>
                  <a:pt x="298908" y="271398"/>
                  <a:pt x="300739" y="270242"/>
                  <a:pt x="302991" y="268615"/>
                </a:cubicBezTo>
                <a:cubicBezTo>
                  <a:pt x="307508" y="265353"/>
                  <a:pt x="313626" y="260264"/>
                  <a:pt x="319760" y="253108"/>
                </a:cubicBezTo>
                <a:cubicBezTo>
                  <a:pt x="331901" y="238944"/>
                  <a:pt x="344317" y="216482"/>
                  <a:pt x="344317" y="183093"/>
                </a:cubicBezTo>
                <a:cubicBezTo>
                  <a:pt x="344317" y="164358"/>
                  <a:pt x="340814" y="149212"/>
                  <a:pt x="334849" y="136794"/>
                </a:cubicBezTo>
                <a:cubicBezTo>
                  <a:pt x="341510" y="127954"/>
                  <a:pt x="346531" y="118006"/>
                  <a:pt x="349703" y="107463"/>
                </a:cubicBezTo>
                <a:cubicBezTo>
                  <a:pt x="351549" y="109992"/>
                  <a:pt x="353300" y="112617"/>
                  <a:pt x="354949" y="115343"/>
                </a:cubicBezTo>
                <a:cubicBezTo>
                  <a:pt x="366195" y="133921"/>
                  <a:pt x="372234" y="156346"/>
                  <a:pt x="372234" y="183093"/>
                </a:cubicBezTo>
                <a:cubicBezTo>
                  <a:pt x="372234" y="224148"/>
                  <a:pt x="356733" y="252870"/>
                  <a:pt x="340955" y="271277"/>
                </a:cubicBezTo>
                <a:cubicBezTo>
                  <a:pt x="333131" y="280406"/>
                  <a:pt x="325290" y="286948"/>
                  <a:pt x="319338" y="291247"/>
                </a:cubicBezTo>
                <a:cubicBezTo>
                  <a:pt x="318299" y="291997"/>
                  <a:pt x="317317" y="292680"/>
                  <a:pt x="316399" y="293298"/>
                </a:cubicBezTo>
                <a:lnTo>
                  <a:pt x="316399" y="327333"/>
                </a:lnTo>
                <a:cubicBezTo>
                  <a:pt x="316399" y="345321"/>
                  <a:pt x="301817" y="359904"/>
                  <a:pt x="283829" y="359904"/>
                </a:cubicBezTo>
                <a:lnTo>
                  <a:pt x="260564" y="359904"/>
                </a:lnTo>
                <a:cubicBezTo>
                  <a:pt x="245146" y="359904"/>
                  <a:pt x="232646" y="347404"/>
                  <a:pt x="232646" y="331986"/>
                </a:cubicBezTo>
                <a:lnTo>
                  <a:pt x="195423" y="331986"/>
                </a:lnTo>
                <a:cubicBezTo>
                  <a:pt x="195423" y="347404"/>
                  <a:pt x="182923" y="359904"/>
                  <a:pt x="167505" y="359904"/>
                </a:cubicBezTo>
                <a:lnTo>
                  <a:pt x="144241" y="359904"/>
                </a:lnTo>
                <a:cubicBezTo>
                  <a:pt x="126253" y="359904"/>
                  <a:pt x="111670" y="345321"/>
                  <a:pt x="111670" y="327333"/>
                </a:cubicBezTo>
                <a:lnTo>
                  <a:pt x="111670" y="314629"/>
                </a:lnTo>
                <a:cubicBezTo>
                  <a:pt x="109101" y="313762"/>
                  <a:pt x="106185" y="312688"/>
                  <a:pt x="103029" y="311366"/>
                </a:cubicBezTo>
                <a:cubicBezTo>
                  <a:pt x="91935" y="306723"/>
                  <a:pt x="77416" y="298861"/>
                  <a:pt x="64576" y="286021"/>
                </a:cubicBezTo>
                <a:cubicBezTo>
                  <a:pt x="49984" y="271429"/>
                  <a:pt x="40211" y="256203"/>
                  <a:pt x="34713" y="246359"/>
                </a:cubicBezTo>
                <a:cubicBezTo>
                  <a:pt x="33090" y="243456"/>
                  <a:pt x="30666" y="241904"/>
                  <a:pt x="28591" y="241557"/>
                </a:cubicBezTo>
                <a:cubicBezTo>
                  <a:pt x="12093" y="238809"/>
                  <a:pt x="0" y="224533"/>
                  <a:pt x="0" y="207807"/>
                </a:cubicBezTo>
                <a:lnTo>
                  <a:pt x="0" y="175183"/>
                </a:lnTo>
                <a:cubicBezTo>
                  <a:pt x="0" y="159498"/>
                  <a:pt x="11339" y="146113"/>
                  <a:pt x="26810" y="143533"/>
                </a:cubicBezTo>
                <a:cubicBezTo>
                  <a:pt x="28428" y="143263"/>
                  <a:pt x="30812" y="141657"/>
                  <a:pt x="31947" y="138257"/>
                </a:cubicBezTo>
                <a:cubicBezTo>
                  <a:pt x="35527" y="127532"/>
                  <a:pt x="42474" y="111572"/>
                  <a:pt x="55271" y="98775"/>
                </a:cubicBezTo>
                <a:cubicBezTo>
                  <a:pt x="65738" y="88307"/>
                  <a:pt x="77329" y="80618"/>
                  <a:pt x="86133" y="75587"/>
                </a:cubicBezTo>
                <a:cubicBezTo>
                  <a:pt x="88671" y="74137"/>
                  <a:pt x="91008" y="72890"/>
                  <a:pt x="93059" y="71846"/>
                </a:cubicBezTo>
                <a:lnTo>
                  <a:pt x="93059" y="18772"/>
                </a:lnTo>
                <a:cubicBezTo>
                  <a:pt x="93059" y="1316"/>
                  <a:pt x="114101" y="-5849"/>
                  <a:pt x="125440" y="5442"/>
                </a:cubicBezTo>
                <a:cubicBezTo>
                  <a:pt x="131591" y="11566"/>
                  <a:pt x="140520" y="19734"/>
                  <a:pt x="150403" y="26554"/>
                </a:cubicBezTo>
                <a:close/>
                <a:moveTo>
                  <a:pt x="206032" y="115122"/>
                </a:moveTo>
                <a:cubicBezTo>
                  <a:pt x="196910" y="111345"/>
                  <a:pt x="189214" y="104174"/>
                  <a:pt x="187381" y="94473"/>
                </a:cubicBezTo>
                <a:cubicBezTo>
                  <a:pt x="180978" y="60572"/>
                  <a:pt x="198933" y="25679"/>
                  <a:pt x="232068" y="11950"/>
                </a:cubicBezTo>
                <a:cubicBezTo>
                  <a:pt x="270052" y="-3787"/>
                  <a:pt x="313604" y="14248"/>
                  <a:pt x="329342" y="52232"/>
                </a:cubicBezTo>
                <a:cubicBezTo>
                  <a:pt x="343070" y="85368"/>
                  <a:pt x="331099" y="122739"/>
                  <a:pt x="302602" y="142188"/>
                </a:cubicBezTo>
                <a:cubicBezTo>
                  <a:pt x="294448" y="147753"/>
                  <a:pt x="283935" y="147384"/>
                  <a:pt x="274813" y="143606"/>
                </a:cubicBezTo>
                <a:lnTo>
                  <a:pt x="206032" y="115122"/>
                </a:lnTo>
                <a:close/>
                <a:moveTo>
                  <a:pt x="287813" y="118463"/>
                </a:moveTo>
                <a:cubicBezTo>
                  <a:pt x="304929" y="106140"/>
                  <a:pt x="311964" y="83226"/>
                  <a:pt x="303550" y="62918"/>
                </a:cubicBezTo>
                <a:cubicBezTo>
                  <a:pt x="293713" y="39178"/>
                  <a:pt x="266494" y="27906"/>
                  <a:pt x="242754" y="37742"/>
                </a:cubicBezTo>
                <a:cubicBezTo>
                  <a:pt x="222447" y="46156"/>
                  <a:pt x="211222" y="67335"/>
                  <a:pt x="214613" y="88150"/>
                </a:cubicBezTo>
                <a:cubicBezTo>
                  <a:pt x="214721" y="88235"/>
                  <a:pt x="214854" y="88332"/>
                  <a:pt x="215012" y="88437"/>
                </a:cubicBezTo>
                <a:cubicBezTo>
                  <a:pt x="215451" y="88730"/>
                  <a:pt x="216022" y="89043"/>
                  <a:pt x="216713" y="89329"/>
                </a:cubicBezTo>
                <a:lnTo>
                  <a:pt x="285494" y="117813"/>
                </a:lnTo>
                <a:cubicBezTo>
                  <a:pt x="286187" y="118099"/>
                  <a:pt x="286812" y="118281"/>
                  <a:pt x="287329" y="118385"/>
                </a:cubicBezTo>
                <a:cubicBezTo>
                  <a:pt x="287516" y="118422"/>
                  <a:pt x="287677" y="118447"/>
                  <a:pt x="287813" y="118463"/>
                </a:cubicBezTo>
                <a:close/>
                <a:moveTo>
                  <a:pt x="130282" y="136562"/>
                </a:moveTo>
                <a:cubicBezTo>
                  <a:pt x="130282" y="146841"/>
                  <a:pt x="121949" y="155173"/>
                  <a:pt x="111670" y="155173"/>
                </a:cubicBezTo>
                <a:cubicBezTo>
                  <a:pt x="101391" y="155173"/>
                  <a:pt x="93059" y="146841"/>
                  <a:pt x="93059" y="136562"/>
                </a:cubicBezTo>
                <a:cubicBezTo>
                  <a:pt x="93059" y="126283"/>
                  <a:pt x="101391" y="117950"/>
                  <a:pt x="111670" y="117950"/>
                </a:cubicBezTo>
                <a:cubicBezTo>
                  <a:pt x="121949" y="117950"/>
                  <a:pt x="130282" y="126283"/>
                  <a:pt x="130282" y="136562"/>
                </a:cubicBez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graphicFrame>
        <p:nvGraphicFramePr>
          <p:cNvPr id="63" name="Table 62">
            <a:extLst>
              <a:ext uri="{FF2B5EF4-FFF2-40B4-BE49-F238E27FC236}">
                <a16:creationId xmlns:a16="http://schemas.microsoft.com/office/drawing/2014/main" id="{3620C718-64E5-8CAD-9661-BF1303B3F2C1}"/>
              </a:ext>
            </a:extLst>
          </p:cNvPr>
          <p:cNvGraphicFramePr>
            <a:graphicFrameLocks noGrp="1"/>
          </p:cNvGraphicFramePr>
          <p:nvPr/>
        </p:nvGraphicFramePr>
        <p:xfrm>
          <a:off x="5911132" y="1902349"/>
          <a:ext cx="5556780" cy="1239754"/>
        </p:xfrm>
        <a:graphic>
          <a:graphicData uri="http://schemas.openxmlformats.org/drawingml/2006/table">
            <a:tbl>
              <a:tblPr firstRow="1" bandRow="1">
                <a:tableStyleId>{2D5ABB26-0587-4C30-8999-92F81FD0307C}</a:tableStyleId>
              </a:tblPr>
              <a:tblGrid>
                <a:gridCol w="1389195">
                  <a:extLst>
                    <a:ext uri="{9D8B030D-6E8A-4147-A177-3AD203B41FA5}">
                      <a16:colId xmlns:a16="http://schemas.microsoft.com/office/drawing/2014/main" val="763213795"/>
                    </a:ext>
                  </a:extLst>
                </a:gridCol>
                <a:gridCol w="1389195">
                  <a:extLst>
                    <a:ext uri="{9D8B030D-6E8A-4147-A177-3AD203B41FA5}">
                      <a16:colId xmlns:a16="http://schemas.microsoft.com/office/drawing/2014/main" val="2931493578"/>
                    </a:ext>
                  </a:extLst>
                </a:gridCol>
                <a:gridCol w="1389195">
                  <a:extLst>
                    <a:ext uri="{9D8B030D-6E8A-4147-A177-3AD203B41FA5}">
                      <a16:colId xmlns:a16="http://schemas.microsoft.com/office/drawing/2014/main" val="1229633216"/>
                    </a:ext>
                  </a:extLst>
                </a:gridCol>
                <a:gridCol w="1389195">
                  <a:extLst>
                    <a:ext uri="{9D8B030D-6E8A-4147-A177-3AD203B41FA5}">
                      <a16:colId xmlns:a16="http://schemas.microsoft.com/office/drawing/2014/main" val="1709666378"/>
                    </a:ext>
                  </a:extLst>
                </a:gridCol>
              </a:tblGrid>
              <a:tr h="346614">
                <a:tc>
                  <a:txBody>
                    <a:bodyPr/>
                    <a:lstStyle/>
                    <a:p>
                      <a:pPr algn="l"/>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AI &amp;</a:t>
                      </a:r>
                      <a:b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br>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Copilot advisory</a:t>
                      </a:r>
                      <a:endParaRPr lang="en-US" sz="1000">
                        <a:solidFill>
                          <a:srgbClr val="0078D4"/>
                        </a:solidFill>
                        <a:latin typeface="+mj-lt"/>
                      </a:endParaRPr>
                    </a:p>
                  </a:txBody>
                  <a:tcPr anchor="b">
                    <a:lnL>
                      <a:noFill/>
                    </a:lnL>
                    <a:lnR w="9525" cap="flat" cmpd="sng" algn="ctr">
                      <a:solidFill>
                        <a:schemeClr val="bg1"/>
                      </a:solid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Get ready &amp; deploy</a:t>
                      </a:r>
                      <a:endParaRPr lang="en-US" sz="1000">
                        <a:solidFill>
                          <a:srgbClr val="0078D4"/>
                        </a:solidFill>
                        <a:latin typeface="+mj-lt"/>
                      </a:endParaRPr>
                    </a:p>
                  </a:txBody>
                  <a:tcPr anchor="b">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Adoption &amp; change management</a:t>
                      </a:r>
                      <a:endParaRPr lang="en-US" sz="1000">
                        <a:solidFill>
                          <a:srgbClr val="0078D4"/>
                        </a:solidFill>
                        <a:latin typeface="+mj-lt"/>
                      </a:endParaRPr>
                    </a:p>
                  </a:txBody>
                  <a:tcPr anchor="b">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Copilot Agents</a:t>
                      </a:r>
                      <a:endParaRPr lang="en-US" sz="1000">
                        <a:solidFill>
                          <a:srgbClr val="0078D4"/>
                        </a:solidFill>
                        <a:latin typeface="+mj-lt"/>
                      </a:endParaRPr>
                    </a:p>
                  </a:txBody>
                  <a:tcPr anchor="b">
                    <a:lnL w="9525" cap="flat" cmpd="sng" algn="ctr">
                      <a:solidFill>
                        <a:schemeClr val="bg1"/>
                      </a:solidFill>
                      <a:prstDash val="solid"/>
                      <a:round/>
                      <a:headEnd type="none" w="med" len="med"/>
                      <a:tailEnd type="none" w="med" len="med"/>
                    </a:lnL>
                    <a:lnR>
                      <a:noFill/>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20644008"/>
                  </a:ext>
                </a:extLst>
              </a:tr>
              <a:tr h="8435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000000"/>
                          </a:solidFill>
                          <a:latin typeface="+mn-lt"/>
                        </a:rPr>
                        <a:t>[Insert service value prop]</a:t>
                      </a:r>
                    </a:p>
                  </a:txBody>
                  <a:tcPr>
                    <a:lnL>
                      <a:noFill/>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rgbClr val="000000"/>
                          </a:solidFill>
                          <a:latin typeface="+mn-lt"/>
                        </a:rPr>
                        <a:t>[Insert service value prop]</a:t>
                      </a:r>
                    </a:p>
                    <a:p>
                      <a:endParaRPr lang="en-US" sz="1000" dirty="0">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000000"/>
                          </a:solidFill>
                          <a:latin typeface="+mn-lt"/>
                        </a:rPr>
                        <a:t>[Insert service value prop]</a:t>
                      </a:r>
                    </a:p>
                    <a:p>
                      <a:endParaRPr lang="en-US" sz="1000">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rgbClr val="000000"/>
                          </a:solidFill>
                          <a:latin typeface="+mn-lt"/>
                        </a:rPr>
                        <a:t>[Insert service value prop]</a:t>
                      </a:r>
                    </a:p>
                    <a:p>
                      <a:endParaRPr lang="en-US" sz="1000" dirty="0">
                        <a:latin typeface="+mn-lt"/>
                      </a:endParaRPr>
                    </a:p>
                  </a:txBody>
                  <a:tcPr>
                    <a:lnL w="9525" cap="flat" cmpd="sng" algn="ctr">
                      <a:solidFill>
                        <a:schemeClr val="bg1"/>
                      </a:solidFill>
                      <a:prstDash val="solid"/>
                      <a:round/>
                      <a:headEnd type="none" w="med" len="med"/>
                      <a:tailEnd type="none" w="med" len="med"/>
                    </a:lnL>
                    <a:lnR>
                      <a:noFill/>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008714714"/>
                  </a:ext>
                </a:extLst>
              </a:tr>
            </a:tbl>
          </a:graphicData>
        </a:graphic>
      </p:graphicFrame>
      <p:sp>
        <p:nvSpPr>
          <p:cNvPr id="130" name="Graphic 13" descr="Icon of a chart made of vertical lines with a line tracing the top of each, turning into an arrow pointing up">
            <a:extLst>
              <a:ext uri="{FF2B5EF4-FFF2-40B4-BE49-F238E27FC236}">
                <a16:creationId xmlns:a16="http://schemas.microsoft.com/office/drawing/2014/main" id="{EE0C639E-04DC-FA9D-5D2D-A6A2CA5D9F15}"/>
              </a:ext>
            </a:extLst>
          </p:cNvPr>
          <p:cNvSpPr>
            <a:spLocks noChangeAspect="1"/>
          </p:cNvSpPr>
          <p:nvPr/>
        </p:nvSpPr>
        <p:spPr>
          <a:xfrm>
            <a:off x="5951548" y="5105071"/>
            <a:ext cx="183641" cy="193302"/>
          </a:xfrm>
          <a:custGeom>
            <a:avLst/>
            <a:gdLst>
              <a:gd name="connsiteX0" fmla="*/ 195609 w 270323"/>
              <a:gd name="connsiteY0" fmla="*/ 0 h 284545"/>
              <a:gd name="connsiteX1" fmla="*/ 260397 w 270323"/>
              <a:gd name="connsiteY1" fmla="*/ 7 h 284545"/>
              <a:gd name="connsiteX2" fmla="*/ 261824 w 270323"/>
              <a:gd name="connsiteY2" fmla="*/ 205 h 284545"/>
              <a:gd name="connsiteX3" fmla="*/ 263230 w 270323"/>
              <a:gd name="connsiteY3" fmla="*/ 598 h 284545"/>
              <a:gd name="connsiteX4" fmla="*/ 264088 w 270323"/>
              <a:gd name="connsiteY4" fmla="*/ 962 h 284545"/>
              <a:gd name="connsiteX5" fmla="*/ 267199 w 270323"/>
              <a:gd name="connsiteY5" fmla="*/ 3107 h 284545"/>
              <a:gd name="connsiteX6" fmla="*/ 267778 w 270323"/>
              <a:gd name="connsiteY6" fmla="*/ 3733 h 284545"/>
              <a:gd name="connsiteX7" fmla="*/ 268397 w 270323"/>
              <a:gd name="connsiteY7" fmla="*/ 4535 h 284545"/>
              <a:gd name="connsiteX8" fmla="*/ 269168 w 270323"/>
              <a:gd name="connsiteY8" fmla="*/ 5818 h 284545"/>
              <a:gd name="connsiteX9" fmla="*/ 269719 w 270323"/>
              <a:gd name="connsiteY9" fmla="*/ 7103 h 284545"/>
              <a:gd name="connsiteX10" fmla="*/ 269991 w 270323"/>
              <a:gd name="connsiteY10" fmla="*/ 8014 h 284545"/>
              <a:gd name="connsiteX11" fmla="*/ 270184 w 270323"/>
              <a:gd name="connsiteY11" fmla="*/ 8925 h 284545"/>
              <a:gd name="connsiteX12" fmla="*/ 270318 w 270323"/>
              <a:gd name="connsiteY12" fmla="*/ 10265 h 284545"/>
              <a:gd name="connsiteX13" fmla="*/ 270323 w 270323"/>
              <a:gd name="connsiteY13" fmla="*/ 74748 h 284545"/>
              <a:gd name="connsiteX14" fmla="*/ 259653 w 270323"/>
              <a:gd name="connsiteY14" fmla="*/ 85419 h 284545"/>
              <a:gd name="connsiteX15" fmla="*/ 249081 w 270323"/>
              <a:gd name="connsiteY15" fmla="*/ 76196 h 284545"/>
              <a:gd name="connsiteX16" fmla="*/ 248983 w 270323"/>
              <a:gd name="connsiteY16" fmla="*/ 74748 h 284545"/>
              <a:gd name="connsiteX17" fmla="*/ 248977 w 270323"/>
              <a:gd name="connsiteY17" fmla="*/ 36408 h 284545"/>
              <a:gd name="connsiteX18" fmla="*/ 157363 w 270323"/>
              <a:gd name="connsiteY18" fmla="*/ 128041 h 284545"/>
              <a:gd name="connsiteX19" fmla="*/ 143469 w 270323"/>
              <a:gd name="connsiteY19" fmla="*/ 129075 h 284545"/>
              <a:gd name="connsiteX20" fmla="*/ 142273 w 270323"/>
              <a:gd name="connsiteY20" fmla="*/ 128042 h 284545"/>
              <a:gd name="connsiteX21" fmla="*/ 99160 w 270323"/>
              <a:gd name="connsiteY21" fmla="*/ 86633 h 284545"/>
              <a:gd name="connsiteX22" fmla="*/ 18216 w 270323"/>
              <a:gd name="connsiteY22" fmla="*/ 167577 h 284545"/>
              <a:gd name="connsiteX23" fmla="*/ 3125 w 270323"/>
              <a:gd name="connsiteY23" fmla="*/ 167577 h 284545"/>
              <a:gd name="connsiteX24" fmla="*/ 2092 w 270323"/>
              <a:gd name="connsiteY24" fmla="*/ 153684 h 284545"/>
              <a:gd name="connsiteX25" fmla="*/ 3125 w 270323"/>
              <a:gd name="connsiteY25" fmla="*/ 152486 h 284545"/>
              <a:gd name="connsiteX26" fmla="*/ 91614 w 270323"/>
              <a:gd name="connsiteY26" fmla="*/ 63998 h 284545"/>
              <a:gd name="connsiteX27" fmla="*/ 105508 w 270323"/>
              <a:gd name="connsiteY27" fmla="*/ 62965 h 284545"/>
              <a:gd name="connsiteX28" fmla="*/ 106704 w 270323"/>
              <a:gd name="connsiteY28" fmla="*/ 63998 h 284545"/>
              <a:gd name="connsiteX29" fmla="*/ 149817 w 270323"/>
              <a:gd name="connsiteY29" fmla="*/ 105406 h 284545"/>
              <a:gd name="connsiteX30" fmla="*/ 233868 w 270323"/>
              <a:gd name="connsiteY30" fmla="*/ 21341 h 284545"/>
              <a:gd name="connsiteX31" fmla="*/ 195609 w 270323"/>
              <a:gd name="connsiteY31" fmla="*/ 21341 h 284545"/>
              <a:gd name="connsiteX32" fmla="*/ 185037 w 270323"/>
              <a:gd name="connsiteY32" fmla="*/ 12118 h 284545"/>
              <a:gd name="connsiteX33" fmla="*/ 184939 w 270323"/>
              <a:gd name="connsiteY33" fmla="*/ 10670 h 284545"/>
              <a:gd name="connsiteX34" fmla="*/ 194162 w 270323"/>
              <a:gd name="connsiteY34" fmla="*/ 97 h 284545"/>
              <a:gd name="connsiteX35" fmla="*/ 195609 w 270323"/>
              <a:gd name="connsiteY35" fmla="*/ 0 h 284545"/>
              <a:gd name="connsiteX36" fmla="*/ 10670 w 270323"/>
              <a:gd name="connsiteY36" fmla="*/ 213409 h 284545"/>
              <a:gd name="connsiteX37" fmla="*/ 21341 w 270323"/>
              <a:gd name="connsiteY37" fmla="*/ 224079 h 284545"/>
              <a:gd name="connsiteX38" fmla="*/ 21341 w 270323"/>
              <a:gd name="connsiteY38" fmla="*/ 273875 h 284545"/>
              <a:gd name="connsiteX39" fmla="*/ 10670 w 270323"/>
              <a:gd name="connsiteY39" fmla="*/ 284545 h 284545"/>
              <a:gd name="connsiteX40" fmla="*/ 0 w 270323"/>
              <a:gd name="connsiteY40" fmla="*/ 273875 h 284545"/>
              <a:gd name="connsiteX41" fmla="*/ 0 w 270323"/>
              <a:gd name="connsiteY41" fmla="*/ 224079 h 284545"/>
              <a:gd name="connsiteX42" fmla="*/ 10670 w 270323"/>
              <a:gd name="connsiteY42" fmla="*/ 213409 h 284545"/>
              <a:gd name="connsiteX43" fmla="*/ 92477 w 270323"/>
              <a:gd name="connsiteY43" fmla="*/ 167170 h 284545"/>
              <a:gd name="connsiteX44" fmla="*/ 81807 w 270323"/>
              <a:gd name="connsiteY44" fmla="*/ 156500 h 284545"/>
              <a:gd name="connsiteX45" fmla="*/ 71136 w 270323"/>
              <a:gd name="connsiteY45" fmla="*/ 167170 h 284545"/>
              <a:gd name="connsiteX46" fmla="*/ 71136 w 270323"/>
              <a:gd name="connsiteY46" fmla="*/ 273875 h 284545"/>
              <a:gd name="connsiteX47" fmla="*/ 81807 w 270323"/>
              <a:gd name="connsiteY47" fmla="*/ 284545 h 284545"/>
              <a:gd name="connsiteX48" fmla="*/ 92477 w 270323"/>
              <a:gd name="connsiteY48" fmla="*/ 273875 h 284545"/>
              <a:gd name="connsiteX49" fmla="*/ 92477 w 270323"/>
              <a:gd name="connsiteY49" fmla="*/ 167170 h 284545"/>
              <a:gd name="connsiteX50" fmla="*/ 152943 w 270323"/>
              <a:gd name="connsiteY50" fmla="*/ 184954 h 284545"/>
              <a:gd name="connsiteX51" fmla="*/ 163613 w 270323"/>
              <a:gd name="connsiteY51" fmla="*/ 195625 h 284545"/>
              <a:gd name="connsiteX52" fmla="*/ 163613 w 270323"/>
              <a:gd name="connsiteY52" fmla="*/ 273875 h 284545"/>
              <a:gd name="connsiteX53" fmla="*/ 152943 w 270323"/>
              <a:gd name="connsiteY53" fmla="*/ 284545 h 284545"/>
              <a:gd name="connsiteX54" fmla="*/ 142273 w 270323"/>
              <a:gd name="connsiteY54" fmla="*/ 273875 h 284545"/>
              <a:gd name="connsiteX55" fmla="*/ 142273 w 270323"/>
              <a:gd name="connsiteY55" fmla="*/ 195625 h 284545"/>
              <a:gd name="connsiteX56" fmla="*/ 152943 w 270323"/>
              <a:gd name="connsiteY56" fmla="*/ 184954 h 284545"/>
              <a:gd name="connsiteX57" fmla="*/ 234750 w 270323"/>
              <a:gd name="connsiteY57" fmla="*/ 124488 h 284545"/>
              <a:gd name="connsiteX58" fmla="*/ 224079 w 270323"/>
              <a:gd name="connsiteY58" fmla="*/ 113818 h 284545"/>
              <a:gd name="connsiteX59" fmla="*/ 213409 w 270323"/>
              <a:gd name="connsiteY59" fmla="*/ 124488 h 284545"/>
              <a:gd name="connsiteX60" fmla="*/ 213409 w 270323"/>
              <a:gd name="connsiteY60" fmla="*/ 273875 h 284545"/>
              <a:gd name="connsiteX61" fmla="*/ 224079 w 270323"/>
              <a:gd name="connsiteY61" fmla="*/ 284545 h 284545"/>
              <a:gd name="connsiteX62" fmla="*/ 234750 w 270323"/>
              <a:gd name="connsiteY62" fmla="*/ 273875 h 284545"/>
              <a:gd name="connsiteX63" fmla="*/ 234750 w 270323"/>
              <a:gd name="connsiteY63" fmla="*/ 124488 h 284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70323" h="284545">
                <a:moveTo>
                  <a:pt x="195609" y="0"/>
                </a:moveTo>
                <a:lnTo>
                  <a:pt x="260397" y="7"/>
                </a:lnTo>
                <a:lnTo>
                  <a:pt x="261824" y="205"/>
                </a:lnTo>
                <a:lnTo>
                  <a:pt x="263230" y="598"/>
                </a:lnTo>
                <a:lnTo>
                  <a:pt x="264088" y="962"/>
                </a:lnTo>
                <a:cubicBezTo>
                  <a:pt x="265214" y="1458"/>
                  <a:pt x="266270" y="2179"/>
                  <a:pt x="267199" y="3107"/>
                </a:cubicBezTo>
                <a:lnTo>
                  <a:pt x="267778" y="3733"/>
                </a:lnTo>
                <a:lnTo>
                  <a:pt x="268397" y="4535"/>
                </a:lnTo>
                <a:lnTo>
                  <a:pt x="269168" y="5818"/>
                </a:lnTo>
                <a:lnTo>
                  <a:pt x="269719" y="7103"/>
                </a:lnTo>
                <a:lnTo>
                  <a:pt x="269991" y="8014"/>
                </a:lnTo>
                <a:lnTo>
                  <a:pt x="270184" y="8925"/>
                </a:lnTo>
                <a:lnTo>
                  <a:pt x="270318" y="10265"/>
                </a:lnTo>
                <a:lnTo>
                  <a:pt x="270323" y="74748"/>
                </a:lnTo>
                <a:cubicBezTo>
                  <a:pt x="270323" y="80641"/>
                  <a:pt x="265547" y="85419"/>
                  <a:pt x="259653" y="85419"/>
                </a:cubicBezTo>
                <a:cubicBezTo>
                  <a:pt x="254252" y="85419"/>
                  <a:pt x="249788" y="81405"/>
                  <a:pt x="249081" y="76196"/>
                </a:cubicBezTo>
                <a:lnTo>
                  <a:pt x="248983" y="74748"/>
                </a:lnTo>
                <a:lnTo>
                  <a:pt x="248977" y="36408"/>
                </a:lnTo>
                <a:lnTo>
                  <a:pt x="157363" y="128041"/>
                </a:lnTo>
                <a:cubicBezTo>
                  <a:pt x="153575" y="131830"/>
                  <a:pt x="147646" y="132174"/>
                  <a:pt x="143469" y="129075"/>
                </a:cubicBezTo>
                <a:lnTo>
                  <a:pt x="142273" y="128042"/>
                </a:lnTo>
                <a:lnTo>
                  <a:pt x="99160" y="86633"/>
                </a:lnTo>
                <a:lnTo>
                  <a:pt x="18216" y="167577"/>
                </a:lnTo>
                <a:cubicBezTo>
                  <a:pt x="14049" y="171744"/>
                  <a:pt x="7292" y="171744"/>
                  <a:pt x="3125" y="167577"/>
                </a:cubicBezTo>
                <a:cubicBezTo>
                  <a:pt x="-663" y="163788"/>
                  <a:pt x="-1007" y="157861"/>
                  <a:pt x="2092" y="153684"/>
                </a:cubicBezTo>
                <a:lnTo>
                  <a:pt x="3125" y="152486"/>
                </a:lnTo>
                <a:lnTo>
                  <a:pt x="91614" y="63998"/>
                </a:lnTo>
                <a:cubicBezTo>
                  <a:pt x="95402" y="60210"/>
                  <a:pt x="101331" y="59865"/>
                  <a:pt x="105508" y="62965"/>
                </a:cubicBezTo>
                <a:lnTo>
                  <a:pt x="106704" y="63998"/>
                </a:lnTo>
                <a:lnTo>
                  <a:pt x="149817" y="105406"/>
                </a:lnTo>
                <a:lnTo>
                  <a:pt x="233868" y="21341"/>
                </a:lnTo>
                <a:lnTo>
                  <a:pt x="195609" y="21341"/>
                </a:lnTo>
                <a:cubicBezTo>
                  <a:pt x="190207" y="21341"/>
                  <a:pt x="185742" y="17327"/>
                  <a:pt x="185037" y="12118"/>
                </a:cubicBezTo>
                <a:lnTo>
                  <a:pt x="184939" y="10670"/>
                </a:lnTo>
                <a:cubicBezTo>
                  <a:pt x="184939" y="5268"/>
                  <a:pt x="188954" y="804"/>
                  <a:pt x="194162" y="97"/>
                </a:cubicBezTo>
                <a:lnTo>
                  <a:pt x="195609" y="0"/>
                </a:lnTo>
                <a:close/>
                <a:moveTo>
                  <a:pt x="10670" y="213409"/>
                </a:moveTo>
                <a:cubicBezTo>
                  <a:pt x="16564" y="213409"/>
                  <a:pt x="21341" y="218186"/>
                  <a:pt x="21341" y="224079"/>
                </a:cubicBezTo>
                <a:lnTo>
                  <a:pt x="21341" y="273875"/>
                </a:lnTo>
                <a:cubicBezTo>
                  <a:pt x="21341" y="279768"/>
                  <a:pt x="16564" y="284545"/>
                  <a:pt x="10670" y="284545"/>
                </a:cubicBezTo>
                <a:cubicBezTo>
                  <a:pt x="4777" y="284545"/>
                  <a:pt x="0" y="279768"/>
                  <a:pt x="0" y="273875"/>
                </a:cubicBezTo>
                <a:lnTo>
                  <a:pt x="0" y="224079"/>
                </a:lnTo>
                <a:cubicBezTo>
                  <a:pt x="0" y="218186"/>
                  <a:pt x="4777" y="213409"/>
                  <a:pt x="10670" y="213409"/>
                </a:cubicBezTo>
                <a:close/>
                <a:moveTo>
                  <a:pt x="92477" y="167170"/>
                </a:moveTo>
                <a:cubicBezTo>
                  <a:pt x="92477" y="161277"/>
                  <a:pt x="87700" y="156500"/>
                  <a:pt x="81807" y="156500"/>
                </a:cubicBezTo>
                <a:cubicBezTo>
                  <a:pt x="75914" y="156500"/>
                  <a:pt x="71136" y="161277"/>
                  <a:pt x="71136" y="167170"/>
                </a:cubicBezTo>
                <a:lnTo>
                  <a:pt x="71136" y="273875"/>
                </a:lnTo>
                <a:cubicBezTo>
                  <a:pt x="71136" y="279768"/>
                  <a:pt x="75914" y="284545"/>
                  <a:pt x="81807" y="284545"/>
                </a:cubicBezTo>
                <a:cubicBezTo>
                  <a:pt x="87700" y="284545"/>
                  <a:pt x="92477" y="279768"/>
                  <a:pt x="92477" y="273875"/>
                </a:cubicBezTo>
                <a:lnTo>
                  <a:pt x="92477" y="167170"/>
                </a:lnTo>
                <a:close/>
                <a:moveTo>
                  <a:pt x="152943" y="184954"/>
                </a:moveTo>
                <a:cubicBezTo>
                  <a:pt x="158836" y="184954"/>
                  <a:pt x="163613" y="189732"/>
                  <a:pt x="163613" y="195625"/>
                </a:cubicBezTo>
                <a:lnTo>
                  <a:pt x="163613" y="273875"/>
                </a:lnTo>
                <a:cubicBezTo>
                  <a:pt x="163613" y="279768"/>
                  <a:pt x="158836" y="284545"/>
                  <a:pt x="152943" y="284545"/>
                </a:cubicBezTo>
                <a:cubicBezTo>
                  <a:pt x="147050" y="284545"/>
                  <a:pt x="142273" y="279768"/>
                  <a:pt x="142273" y="273875"/>
                </a:cubicBezTo>
                <a:lnTo>
                  <a:pt x="142273" y="195625"/>
                </a:lnTo>
                <a:cubicBezTo>
                  <a:pt x="142273" y="189732"/>
                  <a:pt x="147050" y="184954"/>
                  <a:pt x="152943" y="184954"/>
                </a:cubicBezTo>
                <a:close/>
                <a:moveTo>
                  <a:pt x="234750" y="124488"/>
                </a:moveTo>
                <a:cubicBezTo>
                  <a:pt x="234750" y="118596"/>
                  <a:pt x="229972" y="113818"/>
                  <a:pt x="224079" y="113818"/>
                </a:cubicBezTo>
                <a:cubicBezTo>
                  <a:pt x="218186" y="113818"/>
                  <a:pt x="213409" y="118596"/>
                  <a:pt x="213409" y="124488"/>
                </a:cubicBezTo>
                <a:lnTo>
                  <a:pt x="213409" y="273875"/>
                </a:lnTo>
                <a:cubicBezTo>
                  <a:pt x="213409" y="279768"/>
                  <a:pt x="218186" y="284545"/>
                  <a:pt x="224079" y="284545"/>
                </a:cubicBezTo>
                <a:cubicBezTo>
                  <a:pt x="229972" y="284545"/>
                  <a:pt x="234750" y="279768"/>
                  <a:pt x="234750" y="273875"/>
                </a:cubicBezTo>
                <a:lnTo>
                  <a:pt x="234750" y="124488"/>
                </a:ln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Graphic 47" descr="Icon of a piggy bank ">
            <a:extLst>
              <a:ext uri="{FF2B5EF4-FFF2-40B4-BE49-F238E27FC236}">
                <a16:creationId xmlns:a16="http://schemas.microsoft.com/office/drawing/2014/main" id="{53500B73-CB02-C586-B08A-2C75086EA0E7}"/>
              </a:ext>
            </a:extLst>
          </p:cNvPr>
          <p:cNvSpPr>
            <a:spLocks noChangeAspect="1"/>
          </p:cNvSpPr>
          <p:nvPr/>
        </p:nvSpPr>
        <p:spPr>
          <a:xfrm>
            <a:off x="5953436" y="5758951"/>
            <a:ext cx="200060" cy="193432"/>
          </a:xfrm>
          <a:custGeom>
            <a:avLst/>
            <a:gdLst>
              <a:gd name="connsiteX0" fmla="*/ 150403 w 372234"/>
              <a:gd name="connsiteY0" fmla="*/ 26554 h 359903"/>
              <a:gd name="connsiteX1" fmla="*/ 177466 w 372234"/>
              <a:gd name="connsiteY1" fmla="*/ 38837 h 359903"/>
              <a:gd name="connsiteX2" fmla="*/ 168732 w 372234"/>
              <a:gd name="connsiteY2" fmla="*/ 65624 h 359903"/>
              <a:gd name="connsiteX3" fmla="*/ 134547 w 372234"/>
              <a:gd name="connsiteY3" fmla="*/ 49532 h 359903"/>
              <a:gd name="connsiteX4" fmla="*/ 120976 w 372234"/>
              <a:gd name="connsiteY4" fmla="*/ 39162 h 359903"/>
              <a:gd name="connsiteX5" fmla="*/ 120976 w 372234"/>
              <a:gd name="connsiteY5" fmla="*/ 80727 h 359903"/>
              <a:gd name="connsiteX6" fmla="*/ 112224 w 372234"/>
              <a:gd name="connsiteY6" fmla="*/ 93679 h 359903"/>
              <a:gd name="connsiteX7" fmla="*/ 112108 w 372234"/>
              <a:gd name="connsiteY7" fmla="*/ 93727 h 359903"/>
              <a:gd name="connsiteX8" fmla="*/ 111522 w 372234"/>
              <a:gd name="connsiteY8" fmla="*/ 93976 h 359903"/>
              <a:gd name="connsiteX9" fmla="*/ 109035 w 372234"/>
              <a:gd name="connsiteY9" fmla="*/ 95103 h 359903"/>
              <a:gd name="connsiteX10" fmla="*/ 99984 w 372234"/>
              <a:gd name="connsiteY10" fmla="*/ 99827 h 359903"/>
              <a:gd name="connsiteX11" fmla="*/ 75011 w 372234"/>
              <a:gd name="connsiteY11" fmla="*/ 118515 h 359903"/>
              <a:gd name="connsiteX12" fmla="*/ 58428 w 372234"/>
              <a:gd name="connsiteY12" fmla="*/ 147096 h 359903"/>
              <a:gd name="connsiteX13" fmla="*/ 31400 w 372234"/>
              <a:gd name="connsiteY13" fmla="*/ 171071 h 359903"/>
              <a:gd name="connsiteX14" fmla="*/ 27918 w 372234"/>
              <a:gd name="connsiteY14" fmla="*/ 175183 h 359903"/>
              <a:gd name="connsiteX15" fmla="*/ 27918 w 372234"/>
              <a:gd name="connsiteY15" fmla="*/ 207807 h 359903"/>
              <a:gd name="connsiteX16" fmla="*/ 33181 w 372234"/>
              <a:gd name="connsiteY16" fmla="*/ 214021 h 359903"/>
              <a:gd name="connsiteX17" fmla="*/ 59085 w 372234"/>
              <a:gd name="connsiteY17" fmla="*/ 232745 h 359903"/>
              <a:gd name="connsiteX18" fmla="*/ 84317 w 372234"/>
              <a:gd name="connsiteY18" fmla="*/ 266279 h 359903"/>
              <a:gd name="connsiteX19" fmla="*/ 113807 w 372234"/>
              <a:gd name="connsiteY19" fmla="*/ 285613 h 359903"/>
              <a:gd name="connsiteX20" fmla="*/ 124606 w 372234"/>
              <a:gd name="connsiteY20" fmla="*/ 289427 h 359903"/>
              <a:gd name="connsiteX21" fmla="*/ 127546 w 372234"/>
              <a:gd name="connsiteY21" fmla="*/ 290197 h 359903"/>
              <a:gd name="connsiteX22" fmla="*/ 128214 w 372234"/>
              <a:gd name="connsiteY22" fmla="*/ 290348 h 359903"/>
              <a:gd name="connsiteX23" fmla="*/ 128304 w 372234"/>
              <a:gd name="connsiteY23" fmla="*/ 290369 h 359903"/>
              <a:gd name="connsiteX24" fmla="*/ 128324 w 372234"/>
              <a:gd name="connsiteY24" fmla="*/ 290372 h 359903"/>
              <a:gd name="connsiteX25" fmla="*/ 139588 w 372234"/>
              <a:gd name="connsiteY25" fmla="*/ 304069 h 359903"/>
              <a:gd name="connsiteX26" fmla="*/ 139588 w 372234"/>
              <a:gd name="connsiteY26" fmla="*/ 327333 h 359903"/>
              <a:gd name="connsiteX27" fmla="*/ 144241 w 372234"/>
              <a:gd name="connsiteY27" fmla="*/ 331986 h 359903"/>
              <a:gd name="connsiteX28" fmla="*/ 167505 w 372234"/>
              <a:gd name="connsiteY28" fmla="*/ 331986 h 359903"/>
              <a:gd name="connsiteX29" fmla="*/ 195423 w 372234"/>
              <a:gd name="connsiteY29" fmla="*/ 304069 h 359903"/>
              <a:gd name="connsiteX30" fmla="*/ 232646 w 372234"/>
              <a:gd name="connsiteY30" fmla="*/ 304069 h 359903"/>
              <a:gd name="connsiteX31" fmla="*/ 260564 w 372234"/>
              <a:gd name="connsiteY31" fmla="*/ 331986 h 359903"/>
              <a:gd name="connsiteX32" fmla="*/ 283829 w 372234"/>
              <a:gd name="connsiteY32" fmla="*/ 331986 h 359903"/>
              <a:gd name="connsiteX33" fmla="*/ 288481 w 372234"/>
              <a:gd name="connsiteY33" fmla="*/ 327333 h 359903"/>
              <a:gd name="connsiteX34" fmla="*/ 288481 w 372234"/>
              <a:gd name="connsiteY34" fmla="*/ 285457 h 359903"/>
              <a:gd name="connsiteX35" fmla="*/ 296146 w 372234"/>
              <a:gd name="connsiteY35" fmla="*/ 272996 h 359903"/>
              <a:gd name="connsiteX36" fmla="*/ 296393 w 372234"/>
              <a:gd name="connsiteY36" fmla="*/ 272864 h 359903"/>
              <a:gd name="connsiteX37" fmla="*/ 297700 w 372234"/>
              <a:gd name="connsiteY37" fmla="*/ 272116 h 359903"/>
              <a:gd name="connsiteX38" fmla="*/ 302991 w 372234"/>
              <a:gd name="connsiteY38" fmla="*/ 268615 h 359903"/>
              <a:gd name="connsiteX39" fmla="*/ 319760 w 372234"/>
              <a:gd name="connsiteY39" fmla="*/ 253108 h 359903"/>
              <a:gd name="connsiteX40" fmla="*/ 344317 w 372234"/>
              <a:gd name="connsiteY40" fmla="*/ 183093 h 359903"/>
              <a:gd name="connsiteX41" fmla="*/ 334849 w 372234"/>
              <a:gd name="connsiteY41" fmla="*/ 136794 h 359903"/>
              <a:gd name="connsiteX42" fmla="*/ 349703 w 372234"/>
              <a:gd name="connsiteY42" fmla="*/ 107463 h 359903"/>
              <a:gd name="connsiteX43" fmla="*/ 354949 w 372234"/>
              <a:gd name="connsiteY43" fmla="*/ 115343 h 359903"/>
              <a:gd name="connsiteX44" fmla="*/ 372234 w 372234"/>
              <a:gd name="connsiteY44" fmla="*/ 183093 h 359903"/>
              <a:gd name="connsiteX45" fmla="*/ 340955 w 372234"/>
              <a:gd name="connsiteY45" fmla="*/ 271277 h 359903"/>
              <a:gd name="connsiteX46" fmla="*/ 319338 w 372234"/>
              <a:gd name="connsiteY46" fmla="*/ 291247 h 359903"/>
              <a:gd name="connsiteX47" fmla="*/ 316399 w 372234"/>
              <a:gd name="connsiteY47" fmla="*/ 293298 h 359903"/>
              <a:gd name="connsiteX48" fmla="*/ 316399 w 372234"/>
              <a:gd name="connsiteY48" fmla="*/ 327333 h 359903"/>
              <a:gd name="connsiteX49" fmla="*/ 283829 w 372234"/>
              <a:gd name="connsiteY49" fmla="*/ 359904 h 359903"/>
              <a:gd name="connsiteX50" fmla="*/ 260564 w 372234"/>
              <a:gd name="connsiteY50" fmla="*/ 359904 h 359903"/>
              <a:gd name="connsiteX51" fmla="*/ 232646 w 372234"/>
              <a:gd name="connsiteY51" fmla="*/ 331986 h 359903"/>
              <a:gd name="connsiteX52" fmla="*/ 195423 w 372234"/>
              <a:gd name="connsiteY52" fmla="*/ 331986 h 359903"/>
              <a:gd name="connsiteX53" fmla="*/ 167505 w 372234"/>
              <a:gd name="connsiteY53" fmla="*/ 359904 h 359903"/>
              <a:gd name="connsiteX54" fmla="*/ 144241 w 372234"/>
              <a:gd name="connsiteY54" fmla="*/ 359904 h 359903"/>
              <a:gd name="connsiteX55" fmla="*/ 111670 w 372234"/>
              <a:gd name="connsiteY55" fmla="*/ 327333 h 359903"/>
              <a:gd name="connsiteX56" fmla="*/ 111670 w 372234"/>
              <a:gd name="connsiteY56" fmla="*/ 314629 h 359903"/>
              <a:gd name="connsiteX57" fmla="*/ 103029 w 372234"/>
              <a:gd name="connsiteY57" fmla="*/ 311366 h 359903"/>
              <a:gd name="connsiteX58" fmla="*/ 64576 w 372234"/>
              <a:gd name="connsiteY58" fmla="*/ 286021 h 359903"/>
              <a:gd name="connsiteX59" fmla="*/ 34713 w 372234"/>
              <a:gd name="connsiteY59" fmla="*/ 246359 h 359903"/>
              <a:gd name="connsiteX60" fmla="*/ 28591 w 372234"/>
              <a:gd name="connsiteY60" fmla="*/ 241557 h 359903"/>
              <a:gd name="connsiteX61" fmla="*/ 0 w 372234"/>
              <a:gd name="connsiteY61" fmla="*/ 207807 h 359903"/>
              <a:gd name="connsiteX62" fmla="*/ 0 w 372234"/>
              <a:gd name="connsiteY62" fmla="*/ 175183 h 359903"/>
              <a:gd name="connsiteX63" fmla="*/ 26810 w 372234"/>
              <a:gd name="connsiteY63" fmla="*/ 143533 h 359903"/>
              <a:gd name="connsiteX64" fmla="*/ 31947 w 372234"/>
              <a:gd name="connsiteY64" fmla="*/ 138257 h 359903"/>
              <a:gd name="connsiteX65" fmla="*/ 55271 w 372234"/>
              <a:gd name="connsiteY65" fmla="*/ 98775 h 359903"/>
              <a:gd name="connsiteX66" fmla="*/ 86133 w 372234"/>
              <a:gd name="connsiteY66" fmla="*/ 75587 h 359903"/>
              <a:gd name="connsiteX67" fmla="*/ 93059 w 372234"/>
              <a:gd name="connsiteY67" fmla="*/ 71846 h 359903"/>
              <a:gd name="connsiteX68" fmla="*/ 93059 w 372234"/>
              <a:gd name="connsiteY68" fmla="*/ 18772 h 359903"/>
              <a:gd name="connsiteX69" fmla="*/ 125440 w 372234"/>
              <a:gd name="connsiteY69" fmla="*/ 5442 h 359903"/>
              <a:gd name="connsiteX70" fmla="*/ 150403 w 372234"/>
              <a:gd name="connsiteY70" fmla="*/ 26554 h 359903"/>
              <a:gd name="connsiteX71" fmla="*/ 206032 w 372234"/>
              <a:gd name="connsiteY71" fmla="*/ 115122 h 359903"/>
              <a:gd name="connsiteX72" fmla="*/ 187381 w 372234"/>
              <a:gd name="connsiteY72" fmla="*/ 94473 h 359903"/>
              <a:gd name="connsiteX73" fmla="*/ 232068 w 372234"/>
              <a:gd name="connsiteY73" fmla="*/ 11950 h 359903"/>
              <a:gd name="connsiteX74" fmla="*/ 329342 w 372234"/>
              <a:gd name="connsiteY74" fmla="*/ 52232 h 359903"/>
              <a:gd name="connsiteX75" fmla="*/ 302602 w 372234"/>
              <a:gd name="connsiteY75" fmla="*/ 142188 h 359903"/>
              <a:gd name="connsiteX76" fmla="*/ 274813 w 372234"/>
              <a:gd name="connsiteY76" fmla="*/ 143606 h 359903"/>
              <a:gd name="connsiteX77" fmla="*/ 206032 w 372234"/>
              <a:gd name="connsiteY77" fmla="*/ 115122 h 359903"/>
              <a:gd name="connsiteX78" fmla="*/ 287813 w 372234"/>
              <a:gd name="connsiteY78" fmla="*/ 118463 h 359903"/>
              <a:gd name="connsiteX79" fmla="*/ 303550 w 372234"/>
              <a:gd name="connsiteY79" fmla="*/ 62918 h 359903"/>
              <a:gd name="connsiteX80" fmla="*/ 242754 w 372234"/>
              <a:gd name="connsiteY80" fmla="*/ 37742 h 359903"/>
              <a:gd name="connsiteX81" fmla="*/ 214613 w 372234"/>
              <a:gd name="connsiteY81" fmla="*/ 88150 h 359903"/>
              <a:gd name="connsiteX82" fmla="*/ 215012 w 372234"/>
              <a:gd name="connsiteY82" fmla="*/ 88437 h 359903"/>
              <a:gd name="connsiteX83" fmla="*/ 216713 w 372234"/>
              <a:gd name="connsiteY83" fmla="*/ 89329 h 359903"/>
              <a:gd name="connsiteX84" fmla="*/ 285494 w 372234"/>
              <a:gd name="connsiteY84" fmla="*/ 117813 h 359903"/>
              <a:gd name="connsiteX85" fmla="*/ 287329 w 372234"/>
              <a:gd name="connsiteY85" fmla="*/ 118385 h 359903"/>
              <a:gd name="connsiteX86" fmla="*/ 287813 w 372234"/>
              <a:gd name="connsiteY86" fmla="*/ 118463 h 359903"/>
              <a:gd name="connsiteX87" fmla="*/ 130282 w 372234"/>
              <a:gd name="connsiteY87" fmla="*/ 136562 h 359903"/>
              <a:gd name="connsiteX88" fmla="*/ 111670 w 372234"/>
              <a:gd name="connsiteY88" fmla="*/ 155173 h 359903"/>
              <a:gd name="connsiteX89" fmla="*/ 93059 w 372234"/>
              <a:gd name="connsiteY89" fmla="*/ 136562 h 359903"/>
              <a:gd name="connsiteX90" fmla="*/ 111670 w 372234"/>
              <a:gd name="connsiteY90" fmla="*/ 117950 h 359903"/>
              <a:gd name="connsiteX91" fmla="*/ 130282 w 372234"/>
              <a:gd name="connsiteY91" fmla="*/ 136562 h 359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372234" h="359903">
                <a:moveTo>
                  <a:pt x="150403" y="26554"/>
                </a:moveTo>
                <a:cubicBezTo>
                  <a:pt x="160267" y="33362"/>
                  <a:pt x="169696" y="37848"/>
                  <a:pt x="177466" y="38837"/>
                </a:cubicBezTo>
                <a:cubicBezTo>
                  <a:pt x="173230" y="47251"/>
                  <a:pt x="170275" y="56288"/>
                  <a:pt x="168732" y="65624"/>
                </a:cubicBezTo>
                <a:cubicBezTo>
                  <a:pt x="156199" y="62874"/>
                  <a:pt x="144307" y="56267"/>
                  <a:pt x="134547" y="49532"/>
                </a:cubicBezTo>
                <a:cubicBezTo>
                  <a:pt x="129722" y="46202"/>
                  <a:pt x="125154" y="42655"/>
                  <a:pt x="120976" y="39162"/>
                </a:cubicBezTo>
                <a:lnTo>
                  <a:pt x="120976" y="80727"/>
                </a:lnTo>
                <a:cubicBezTo>
                  <a:pt x="120976" y="86427"/>
                  <a:pt x="117511" y="91554"/>
                  <a:pt x="112224" y="93679"/>
                </a:cubicBezTo>
                <a:lnTo>
                  <a:pt x="112108" y="93727"/>
                </a:lnTo>
                <a:cubicBezTo>
                  <a:pt x="111993" y="93775"/>
                  <a:pt x="111795" y="93858"/>
                  <a:pt x="111522" y="93976"/>
                </a:cubicBezTo>
                <a:cubicBezTo>
                  <a:pt x="110975" y="94212"/>
                  <a:pt x="110128" y="94588"/>
                  <a:pt x="109035" y="95103"/>
                </a:cubicBezTo>
                <a:cubicBezTo>
                  <a:pt x="106844" y="96133"/>
                  <a:pt x="103688" y="97710"/>
                  <a:pt x="99984" y="99827"/>
                </a:cubicBezTo>
                <a:cubicBezTo>
                  <a:pt x="92502" y="104102"/>
                  <a:pt x="83155" y="110371"/>
                  <a:pt x="75011" y="118515"/>
                </a:cubicBezTo>
                <a:cubicBezTo>
                  <a:pt x="66571" y="126956"/>
                  <a:pt x="61367" y="138292"/>
                  <a:pt x="58428" y="147096"/>
                </a:cubicBezTo>
                <a:cubicBezTo>
                  <a:pt x="54659" y="158387"/>
                  <a:pt x="45062" y="168795"/>
                  <a:pt x="31400" y="171071"/>
                </a:cubicBezTo>
                <a:cubicBezTo>
                  <a:pt x="29390" y="171406"/>
                  <a:pt x="27918" y="173145"/>
                  <a:pt x="27918" y="175183"/>
                </a:cubicBezTo>
                <a:lnTo>
                  <a:pt x="27918" y="207807"/>
                </a:lnTo>
                <a:cubicBezTo>
                  <a:pt x="27918" y="210887"/>
                  <a:pt x="30144" y="213515"/>
                  <a:pt x="33181" y="214021"/>
                </a:cubicBezTo>
                <a:cubicBezTo>
                  <a:pt x="44793" y="215955"/>
                  <a:pt x="53941" y="223536"/>
                  <a:pt x="59085" y="232745"/>
                </a:cubicBezTo>
                <a:cubicBezTo>
                  <a:pt x="63764" y="241120"/>
                  <a:pt x="72081" y="254044"/>
                  <a:pt x="84317" y="266279"/>
                </a:cubicBezTo>
                <a:cubicBezTo>
                  <a:pt x="93825" y="275788"/>
                  <a:pt x="104897" y="281883"/>
                  <a:pt x="113807" y="285613"/>
                </a:cubicBezTo>
                <a:cubicBezTo>
                  <a:pt x="118223" y="287461"/>
                  <a:pt x="121996" y="288680"/>
                  <a:pt x="124606" y="289427"/>
                </a:cubicBezTo>
                <a:cubicBezTo>
                  <a:pt x="125908" y="289797"/>
                  <a:pt x="126910" y="290048"/>
                  <a:pt x="127546" y="290197"/>
                </a:cubicBezTo>
                <a:cubicBezTo>
                  <a:pt x="127864" y="290272"/>
                  <a:pt x="128089" y="290322"/>
                  <a:pt x="128214" y="290348"/>
                </a:cubicBezTo>
                <a:lnTo>
                  <a:pt x="128304" y="290369"/>
                </a:lnTo>
                <a:lnTo>
                  <a:pt x="128324" y="290372"/>
                </a:lnTo>
                <a:cubicBezTo>
                  <a:pt x="134866" y="291658"/>
                  <a:pt x="139588" y="297396"/>
                  <a:pt x="139588" y="304069"/>
                </a:cubicBezTo>
                <a:lnTo>
                  <a:pt x="139588" y="327333"/>
                </a:lnTo>
                <a:cubicBezTo>
                  <a:pt x="139588" y="329902"/>
                  <a:pt x="141671" y="331986"/>
                  <a:pt x="144241" y="331986"/>
                </a:cubicBezTo>
                <a:lnTo>
                  <a:pt x="167505" y="331986"/>
                </a:lnTo>
                <a:cubicBezTo>
                  <a:pt x="167505" y="316566"/>
                  <a:pt x="180005" y="304069"/>
                  <a:pt x="195423" y="304069"/>
                </a:cubicBezTo>
                <a:lnTo>
                  <a:pt x="232646" y="304069"/>
                </a:lnTo>
                <a:cubicBezTo>
                  <a:pt x="248064" y="304069"/>
                  <a:pt x="260564" y="316566"/>
                  <a:pt x="260564" y="331986"/>
                </a:cubicBezTo>
                <a:lnTo>
                  <a:pt x="283829" y="331986"/>
                </a:lnTo>
                <a:cubicBezTo>
                  <a:pt x="286399" y="331986"/>
                  <a:pt x="288481" y="329902"/>
                  <a:pt x="288481" y="327333"/>
                </a:cubicBezTo>
                <a:lnTo>
                  <a:pt x="288481" y="285457"/>
                </a:lnTo>
                <a:cubicBezTo>
                  <a:pt x="288481" y="280194"/>
                  <a:pt x="291454" y="275373"/>
                  <a:pt x="296146" y="272996"/>
                </a:cubicBezTo>
                <a:lnTo>
                  <a:pt x="296393" y="272864"/>
                </a:lnTo>
                <a:cubicBezTo>
                  <a:pt x="296652" y="272723"/>
                  <a:pt x="297097" y="272475"/>
                  <a:pt x="297700" y="272116"/>
                </a:cubicBezTo>
                <a:cubicBezTo>
                  <a:pt x="298908" y="271398"/>
                  <a:pt x="300739" y="270242"/>
                  <a:pt x="302991" y="268615"/>
                </a:cubicBezTo>
                <a:cubicBezTo>
                  <a:pt x="307508" y="265353"/>
                  <a:pt x="313626" y="260264"/>
                  <a:pt x="319760" y="253108"/>
                </a:cubicBezTo>
                <a:cubicBezTo>
                  <a:pt x="331901" y="238944"/>
                  <a:pt x="344317" y="216482"/>
                  <a:pt x="344317" y="183093"/>
                </a:cubicBezTo>
                <a:cubicBezTo>
                  <a:pt x="344317" y="164358"/>
                  <a:pt x="340814" y="149212"/>
                  <a:pt x="334849" y="136794"/>
                </a:cubicBezTo>
                <a:cubicBezTo>
                  <a:pt x="341510" y="127954"/>
                  <a:pt x="346531" y="118006"/>
                  <a:pt x="349703" y="107463"/>
                </a:cubicBezTo>
                <a:cubicBezTo>
                  <a:pt x="351549" y="109992"/>
                  <a:pt x="353300" y="112617"/>
                  <a:pt x="354949" y="115343"/>
                </a:cubicBezTo>
                <a:cubicBezTo>
                  <a:pt x="366195" y="133921"/>
                  <a:pt x="372234" y="156346"/>
                  <a:pt x="372234" y="183093"/>
                </a:cubicBezTo>
                <a:cubicBezTo>
                  <a:pt x="372234" y="224148"/>
                  <a:pt x="356733" y="252870"/>
                  <a:pt x="340955" y="271277"/>
                </a:cubicBezTo>
                <a:cubicBezTo>
                  <a:pt x="333131" y="280406"/>
                  <a:pt x="325290" y="286948"/>
                  <a:pt x="319338" y="291247"/>
                </a:cubicBezTo>
                <a:cubicBezTo>
                  <a:pt x="318299" y="291997"/>
                  <a:pt x="317317" y="292680"/>
                  <a:pt x="316399" y="293298"/>
                </a:cubicBezTo>
                <a:lnTo>
                  <a:pt x="316399" y="327333"/>
                </a:lnTo>
                <a:cubicBezTo>
                  <a:pt x="316399" y="345321"/>
                  <a:pt x="301817" y="359904"/>
                  <a:pt x="283829" y="359904"/>
                </a:cubicBezTo>
                <a:lnTo>
                  <a:pt x="260564" y="359904"/>
                </a:lnTo>
                <a:cubicBezTo>
                  <a:pt x="245146" y="359904"/>
                  <a:pt x="232646" y="347404"/>
                  <a:pt x="232646" y="331986"/>
                </a:cubicBezTo>
                <a:lnTo>
                  <a:pt x="195423" y="331986"/>
                </a:lnTo>
                <a:cubicBezTo>
                  <a:pt x="195423" y="347404"/>
                  <a:pt x="182923" y="359904"/>
                  <a:pt x="167505" y="359904"/>
                </a:cubicBezTo>
                <a:lnTo>
                  <a:pt x="144241" y="359904"/>
                </a:lnTo>
                <a:cubicBezTo>
                  <a:pt x="126253" y="359904"/>
                  <a:pt x="111670" y="345321"/>
                  <a:pt x="111670" y="327333"/>
                </a:cubicBezTo>
                <a:lnTo>
                  <a:pt x="111670" y="314629"/>
                </a:lnTo>
                <a:cubicBezTo>
                  <a:pt x="109101" y="313762"/>
                  <a:pt x="106185" y="312688"/>
                  <a:pt x="103029" y="311366"/>
                </a:cubicBezTo>
                <a:cubicBezTo>
                  <a:pt x="91935" y="306723"/>
                  <a:pt x="77416" y="298861"/>
                  <a:pt x="64576" y="286021"/>
                </a:cubicBezTo>
                <a:cubicBezTo>
                  <a:pt x="49984" y="271429"/>
                  <a:pt x="40211" y="256203"/>
                  <a:pt x="34713" y="246359"/>
                </a:cubicBezTo>
                <a:cubicBezTo>
                  <a:pt x="33090" y="243456"/>
                  <a:pt x="30666" y="241904"/>
                  <a:pt x="28591" y="241557"/>
                </a:cubicBezTo>
                <a:cubicBezTo>
                  <a:pt x="12093" y="238809"/>
                  <a:pt x="0" y="224533"/>
                  <a:pt x="0" y="207807"/>
                </a:cubicBezTo>
                <a:lnTo>
                  <a:pt x="0" y="175183"/>
                </a:lnTo>
                <a:cubicBezTo>
                  <a:pt x="0" y="159498"/>
                  <a:pt x="11339" y="146113"/>
                  <a:pt x="26810" y="143533"/>
                </a:cubicBezTo>
                <a:cubicBezTo>
                  <a:pt x="28428" y="143263"/>
                  <a:pt x="30812" y="141657"/>
                  <a:pt x="31947" y="138257"/>
                </a:cubicBezTo>
                <a:cubicBezTo>
                  <a:pt x="35527" y="127532"/>
                  <a:pt x="42474" y="111572"/>
                  <a:pt x="55271" y="98775"/>
                </a:cubicBezTo>
                <a:cubicBezTo>
                  <a:pt x="65738" y="88307"/>
                  <a:pt x="77329" y="80618"/>
                  <a:pt x="86133" y="75587"/>
                </a:cubicBezTo>
                <a:cubicBezTo>
                  <a:pt x="88671" y="74137"/>
                  <a:pt x="91008" y="72890"/>
                  <a:pt x="93059" y="71846"/>
                </a:cubicBezTo>
                <a:lnTo>
                  <a:pt x="93059" y="18772"/>
                </a:lnTo>
                <a:cubicBezTo>
                  <a:pt x="93059" y="1316"/>
                  <a:pt x="114101" y="-5849"/>
                  <a:pt x="125440" y="5442"/>
                </a:cubicBezTo>
                <a:cubicBezTo>
                  <a:pt x="131591" y="11566"/>
                  <a:pt x="140520" y="19734"/>
                  <a:pt x="150403" y="26554"/>
                </a:cubicBezTo>
                <a:close/>
                <a:moveTo>
                  <a:pt x="206032" y="115122"/>
                </a:moveTo>
                <a:cubicBezTo>
                  <a:pt x="196910" y="111345"/>
                  <a:pt x="189214" y="104174"/>
                  <a:pt x="187381" y="94473"/>
                </a:cubicBezTo>
                <a:cubicBezTo>
                  <a:pt x="180978" y="60572"/>
                  <a:pt x="198933" y="25679"/>
                  <a:pt x="232068" y="11950"/>
                </a:cubicBezTo>
                <a:cubicBezTo>
                  <a:pt x="270052" y="-3787"/>
                  <a:pt x="313604" y="14248"/>
                  <a:pt x="329342" y="52232"/>
                </a:cubicBezTo>
                <a:cubicBezTo>
                  <a:pt x="343070" y="85368"/>
                  <a:pt x="331099" y="122739"/>
                  <a:pt x="302602" y="142188"/>
                </a:cubicBezTo>
                <a:cubicBezTo>
                  <a:pt x="294448" y="147753"/>
                  <a:pt x="283935" y="147384"/>
                  <a:pt x="274813" y="143606"/>
                </a:cubicBezTo>
                <a:lnTo>
                  <a:pt x="206032" y="115122"/>
                </a:lnTo>
                <a:close/>
                <a:moveTo>
                  <a:pt x="287813" y="118463"/>
                </a:moveTo>
                <a:cubicBezTo>
                  <a:pt x="304929" y="106140"/>
                  <a:pt x="311964" y="83226"/>
                  <a:pt x="303550" y="62918"/>
                </a:cubicBezTo>
                <a:cubicBezTo>
                  <a:pt x="293713" y="39178"/>
                  <a:pt x="266494" y="27906"/>
                  <a:pt x="242754" y="37742"/>
                </a:cubicBezTo>
                <a:cubicBezTo>
                  <a:pt x="222447" y="46156"/>
                  <a:pt x="211222" y="67335"/>
                  <a:pt x="214613" y="88150"/>
                </a:cubicBezTo>
                <a:cubicBezTo>
                  <a:pt x="214721" y="88235"/>
                  <a:pt x="214854" y="88332"/>
                  <a:pt x="215012" y="88437"/>
                </a:cubicBezTo>
                <a:cubicBezTo>
                  <a:pt x="215451" y="88730"/>
                  <a:pt x="216022" y="89043"/>
                  <a:pt x="216713" y="89329"/>
                </a:cubicBezTo>
                <a:lnTo>
                  <a:pt x="285494" y="117813"/>
                </a:lnTo>
                <a:cubicBezTo>
                  <a:pt x="286187" y="118099"/>
                  <a:pt x="286812" y="118281"/>
                  <a:pt x="287329" y="118385"/>
                </a:cubicBezTo>
                <a:cubicBezTo>
                  <a:pt x="287516" y="118422"/>
                  <a:pt x="287677" y="118447"/>
                  <a:pt x="287813" y="118463"/>
                </a:cubicBezTo>
                <a:close/>
                <a:moveTo>
                  <a:pt x="130282" y="136562"/>
                </a:moveTo>
                <a:cubicBezTo>
                  <a:pt x="130282" y="146841"/>
                  <a:pt x="121949" y="155173"/>
                  <a:pt x="111670" y="155173"/>
                </a:cubicBezTo>
                <a:cubicBezTo>
                  <a:pt x="101391" y="155173"/>
                  <a:pt x="93059" y="146841"/>
                  <a:pt x="93059" y="136562"/>
                </a:cubicBezTo>
                <a:cubicBezTo>
                  <a:pt x="93059" y="126283"/>
                  <a:pt x="101391" y="117950"/>
                  <a:pt x="111670" y="117950"/>
                </a:cubicBezTo>
                <a:cubicBezTo>
                  <a:pt x="121949" y="117950"/>
                  <a:pt x="130282" y="126283"/>
                  <a:pt x="130282" y="136562"/>
                </a:cubicBez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27" name="Graphic 13" descr="Icon of a chart made of vertical lines with a line tracing the top of each, turning into an arrow pointing up">
            <a:extLst>
              <a:ext uri="{FF2B5EF4-FFF2-40B4-BE49-F238E27FC236}">
                <a16:creationId xmlns:a16="http://schemas.microsoft.com/office/drawing/2014/main" id="{059ECAD3-B775-6242-5A99-DE720BFBA691}"/>
              </a:ext>
            </a:extLst>
          </p:cNvPr>
          <p:cNvSpPr>
            <a:spLocks noChangeAspect="1"/>
          </p:cNvSpPr>
          <p:nvPr/>
        </p:nvSpPr>
        <p:spPr>
          <a:xfrm>
            <a:off x="5958339" y="4469038"/>
            <a:ext cx="183641" cy="193302"/>
          </a:xfrm>
          <a:custGeom>
            <a:avLst/>
            <a:gdLst>
              <a:gd name="connsiteX0" fmla="*/ 195609 w 270323"/>
              <a:gd name="connsiteY0" fmla="*/ 0 h 284545"/>
              <a:gd name="connsiteX1" fmla="*/ 260397 w 270323"/>
              <a:gd name="connsiteY1" fmla="*/ 7 h 284545"/>
              <a:gd name="connsiteX2" fmla="*/ 261824 w 270323"/>
              <a:gd name="connsiteY2" fmla="*/ 205 h 284545"/>
              <a:gd name="connsiteX3" fmla="*/ 263230 w 270323"/>
              <a:gd name="connsiteY3" fmla="*/ 598 h 284545"/>
              <a:gd name="connsiteX4" fmla="*/ 264088 w 270323"/>
              <a:gd name="connsiteY4" fmla="*/ 962 h 284545"/>
              <a:gd name="connsiteX5" fmla="*/ 267199 w 270323"/>
              <a:gd name="connsiteY5" fmla="*/ 3107 h 284545"/>
              <a:gd name="connsiteX6" fmla="*/ 267778 w 270323"/>
              <a:gd name="connsiteY6" fmla="*/ 3733 h 284545"/>
              <a:gd name="connsiteX7" fmla="*/ 268397 w 270323"/>
              <a:gd name="connsiteY7" fmla="*/ 4535 h 284545"/>
              <a:gd name="connsiteX8" fmla="*/ 269168 w 270323"/>
              <a:gd name="connsiteY8" fmla="*/ 5818 h 284545"/>
              <a:gd name="connsiteX9" fmla="*/ 269719 w 270323"/>
              <a:gd name="connsiteY9" fmla="*/ 7103 h 284545"/>
              <a:gd name="connsiteX10" fmla="*/ 269991 w 270323"/>
              <a:gd name="connsiteY10" fmla="*/ 8014 h 284545"/>
              <a:gd name="connsiteX11" fmla="*/ 270184 w 270323"/>
              <a:gd name="connsiteY11" fmla="*/ 8925 h 284545"/>
              <a:gd name="connsiteX12" fmla="*/ 270318 w 270323"/>
              <a:gd name="connsiteY12" fmla="*/ 10265 h 284545"/>
              <a:gd name="connsiteX13" fmla="*/ 270323 w 270323"/>
              <a:gd name="connsiteY13" fmla="*/ 74748 h 284545"/>
              <a:gd name="connsiteX14" fmla="*/ 259653 w 270323"/>
              <a:gd name="connsiteY14" fmla="*/ 85419 h 284545"/>
              <a:gd name="connsiteX15" fmla="*/ 249081 w 270323"/>
              <a:gd name="connsiteY15" fmla="*/ 76196 h 284545"/>
              <a:gd name="connsiteX16" fmla="*/ 248983 w 270323"/>
              <a:gd name="connsiteY16" fmla="*/ 74748 h 284545"/>
              <a:gd name="connsiteX17" fmla="*/ 248977 w 270323"/>
              <a:gd name="connsiteY17" fmla="*/ 36408 h 284545"/>
              <a:gd name="connsiteX18" fmla="*/ 157363 w 270323"/>
              <a:gd name="connsiteY18" fmla="*/ 128041 h 284545"/>
              <a:gd name="connsiteX19" fmla="*/ 143469 w 270323"/>
              <a:gd name="connsiteY19" fmla="*/ 129075 h 284545"/>
              <a:gd name="connsiteX20" fmla="*/ 142273 w 270323"/>
              <a:gd name="connsiteY20" fmla="*/ 128042 h 284545"/>
              <a:gd name="connsiteX21" fmla="*/ 99160 w 270323"/>
              <a:gd name="connsiteY21" fmla="*/ 86633 h 284545"/>
              <a:gd name="connsiteX22" fmla="*/ 18216 w 270323"/>
              <a:gd name="connsiteY22" fmla="*/ 167577 h 284545"/>
              <a:gd name="connsiteX23" fmla="*/ 3125 w 270323"/>
              <a:gd name="connsiteY23" fmla="*/ 167577 h 284545"/>
              <a:gd name="connsiteX24" fmla="*/ 2092 w 270323"/>
              <a:gd name="connsiteY24" fmla="*/ 153684 h 284545"/>
              <a:gd name="connsiteX25" fmla="*/ 3125 w 270323"/>
              <a:gd name="connsiteY25" fmla="*/ 152486 h 284545"/>
              <a:gd name="connsiteX26" fmla="*/ 91614 w 270323"/>
              <a:gd name="connsiteY26" fmla="*/ 63998 h 284545"/>
              <a:gd name="connsiteX27" fmla="*/ 105508 w 270323"/>
              <a:gd name="connsiteY27" fmla="*/ 62965 h 284545"/>
              <a:gd name="connsiteX28" fmla="*/ 106704 w 270323"/>
              <a:gd name="connsiteY28" fmla="*/ 63998 h 284545"/>
              <a:gd name="connsiteX29" fmla="*/ 149817 w 270323"/>
              <a:gd name="connsiteY29" fmla="*/ 105406 h 284545"/>
              <a:gd name="connsiteX30" fmla="*/ 233868 w 270323"/>
              <a:gd name="connsiteY30" fmla="*/ 21341 h 284545"/>
              <a:gd name="connsiteX31" fmla="*/ 195609 w 270323"/>
              <a:gd name="connsiteY31" fmla="*/ 21341 h 284545"/>
              <a:gd name="connsiteX32" fmla="*/ 185037 w 270323"/>
              <a:gd name="connsiteY32" fmla="*/ 12118 h 284545"/>
              <a:gd name="connsiteX33" fmla="*/ 184939 w 270323"/>
              <a:gd name="connsiteY33" fmla="*/ 10670 h 284545"/>
              <a:gd name="connsiteX34" fmla="*/ 194162 w 270323"/>
              <a:gd name="connsiteY34" fmla="*/ 97 h 284545"/>
              <a:gd name="connsiteX35" fmla="*/ 195609 w 270323"/>
              <a:gd name="connsiteY35" fmla="*/ 0 h 284545"/>
              <a:gd name="connsiteX36" fmla="*/ 10670 w 270323"/>
              <a:gd name="connsiteY36" fmla="*/ 213409 h 284545"/>
              <a:gd name="connsiteX37" fmla="*/ 21341 w 270323"/>
              <a:gd name="connsiteY37" fmla="*/ 224079 h 284545"/>
              <a:gd name="connsiteX38" fmla="*/ 21341 w 270323"/>
              <a:gd name="connsiteY38" fmla="*/ 273875 h 284545"/>
              <a:gd name="connsiteX39" fmla="*/ 10670 w 270323"/>
              <a:gd name="connsiteY39" fmla="*/ 284545 h 284545"/>
              <a:gd name="connsiteX40" fmla="*/ 0 w 270323"/>
              <a:gd name="connsiteY40" fmla="*/ 273875 h 284545"/>
              <a:gd name="connsiteX41" fmla="*/ 0 w 270323"/>
              <a:gd name="connsiteY41" fmla="*/ 224079 h 284545"/>
              <a:gd name="connsiteX42" fmla="*/ 10670 w 270323"/>
              <a:gd name="connsiteY42" fmla="*/ 213409 h 284545"/>
              <a:gd name="connsiteX43" fmla="*/ 92477 w 270323"/>
              <a:gd name="connsiteY43" fmla="*/ 167170 h 284545"/>
              <a:gd name="connsiteX44" fmla="*/ 81807 w 270323"/>
              <a:gd name="connsiteY44" fmla="*/ 156500 h 284545"/>
              <a:gd name="connsiteX45" fmla="*/ 71136 w 270323"/>
              <a:gd name="connsiteY45" fmla="*/ 167170 h 284545"/>
              <a:gd name="connsiteX46" fmla="*/ 71136 w 270323"/>
              <a:gd name="connsiteY46" fmla="*/ 273875 h 284545"/>
              <a:gd name="connsiteX47" fmla="*/ 81807 w 270323"/>
              <a:gd name="connsiteY47" fmla="*/ 284545 h 284545"/>
              <a:gd name="connsiteX48" fmla="*/ 92477 w 270323"/>
              <a:gd name="connsiteY48" fmla="*/ 273875 h 284545"/>
              <a:gd name="connsiteX49" fmla="*/ 92477 w 270323"/>
              <a:gd name="connsiteY49" fmla="*/ 167170 h 284545"/>
              <a:gd name="connsiteX50" fmla="*/ 152943 w 270323"/>
              <a:gd name="connsiteY50" fmla="*/ 184954 h 284545"/>
              <a:gd name="connsiteX51" fmla="*/ 163613 w 270323"/>
              <a:gd name="connsiteY51" fmla="*/ 195625 h 284545"/>
              <a:gd name="connsiteX52" fmla="*/ 163613 w 270323"/>
              <a:gd name="connsiteY52" fmla="*/ 273875 h 284545"/>
              <a:gd name="connsiteX53" fmla="*/ 152943 w 270323"/>
              <a:gd name="connsiteY53" fmla="*/ 284545 h 284545"/>
              <a:gd name="connsiteX54" fmla="*/ 142273 w 270323"/>
              <a:gd name="connsiteY54" fmla="*/ 273875 h 284545"/>
              <a:gd name="connsiteX55" fmla="*/ 142273 w 270323"/>
              <a:gd name="connsiteY55" fmla="*/ 195625 h 284545"/>
              <a:gd name="connsiteX56" fmla="*/ 152943 w 270323"/>
              <a:gd name="connsiteY56" fmla="*/ 184954 h 284545"/>
              <a:gd name="connsiteX57" fmla="*/ 234750 w 270323"/>
              <a:gd name="connsiteY57" fmla="*/ 124488 h 284545"/>
              <a:gd name="connsiteX58" fmla="*/ 224079 w 270323"/>
              <a:gd name="connsiteY58" fmla="*/ 113818 h 284545"/>
              <a:gd name="connsiteX59" fmla="*/ 213409 w 270323"/>
              <a:gd name="connsiteY59" fmla="*/ 124488 h 284545"/>
              <a:gd name="connsiteX60" fmla="*/ 213409 w 270323"/>
              <a:gd name="connsiteY60" fmla="*/ 273875 h 284545"/>
              <a:gd name="connsiteX61" fmla="*/ 224079 w 270323"/>
              <a:gd name="connsiteY61" fmla="*/ 284545 h 284545"/>
              <a:gd name="connsiteX62" fmla="*/ 234750 w 270323"/>
              <a:gd name="connsiteY62" fmla="*/ 273875 h 284545"/>
              <a:gd name="connsiteX63" fmla="*/ 234750 w 270323"/>
              <a:gd name="connsiteY63" fmla="*/ 124488 h 284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70323" h="284545">
                <a:moveTo>
                  <a:pt x="195609" y="0"/>
                </a:moveTo>
                <a:lnTo>
                  <a:pt x="260397" y="7"/>
                </a:lnTo>
                <a:lnTo>
                  <a:pt x="261824" y="205"/>
                </a:lnTo>
                <a:lnTo>
                  <a:pt x="263230" y="598"/>
                </a:lnTo>
                <a:lnTo>
                  <a:pt x="264088" y="962"/>
                </a:lnTo>
                <a:cubicBezTo>
                  <a:pt x="265214" y="1458"/>
                  <a:pt x="266270" y="2179"/>
                  <a:pt x="267199" y="3107"/>
                </a:cubicBezTo>
                <a:lnTo>
                  <a:pt x="267778" y="3733"/>
                </a:lnTo>
                <a:lnTo>
                  <a:pt x="268397" y="4535"/>
                </a:lnTo>
                <a:lnTo>
                  <a:pt x="269168" y="5818"/>
                </a:lnTo>
                <a:lnTo>
                  <a:pt x="269719" y="7103"/>
                </a:lnTo>
                <a:lnTo>
                  <a:pt x="269991" y="8014"/>
                </a:lnTo>
                <a:lnTo>
                  <a:pt x="270184" y="8925"/>
                </a:lnTo>
                <a:lnTo>
                  <a:pt x="270318" y="10265"/>
                </a:lnTo>
                <a:lnTo>
                  <a:pt x="270323" y="74748"/>
                </a:lnTo>
                <a:cubicBezTo>
                  <a:pt x="270323" y="80641"/>
                  <a:pt x="265547" y="85419"/>
                  <a:pt x="259653" y="85419"/>
                </a:cubicBezTo>
                <a:cubicBezTo>
                  <a:pt x="254252" y="85419"/>
                  <a:pt x="249788" y="81405"/>
                  <a:pt x="249081" y="76196"/>
                </a:cubicBezTo>
                <a:lnTo>
                  <a:pt x="248983" y="74748"/>
                </a:lnTo>
                <a:lnTo>
                  <a:pt x="248977" y="36408"/>
                </a:lnTo>
                <a:lnTo>
                  <a:pt x="157363" y="128041"/>
                </a:lnTo>
                <a:cubicBezTo>
                  <a:pt x="153575" y="131830"/>
                  <a:pt x="147646" y="132174"/>
                  <a:pt x="143469" y="129075"/>
                </a:cubicBezTo>
                <a:lnTo>
                  <a:pt x="142273" y="128042"/>
                </a:lnTo>
                <a:lnTo>
                  <a:pt x="99160" y="86633"/>
                </a:lnTo>
                <a:lnTo>
                  <a:pt x="18216" y="167577"/>
                </a:lnTo>
                <a:cubicBezTo>
                  <a:pt x="14049" y="171744"/>
                  <a:pt x="7292" y="171744"/>
                  <a:pt x="3125" y="167577"/>
                </a:cubicBezTo>
                <a:cubicBezTo>
                  <a:pt x="-663" y="163788"/>
                  <a:pt x="-1007" y="157861"/>
                  <a:pt x="2092" y="153684"/>
                </a:cubicBezTo>
                <a:lnTo>
                  <a:pt x="3125" y="152486"/>
                </a:lnTo>
                <a:lnTo>
                  <a:pt x="91614" y="63998"/>
                </a:lnTo>
                <a:cubicBezTo>
                  <a:pt x="95402" y="60210"/>
                  <a:pt x="101331" y="59865"/>
                  <a:pt x="105508" y="62965"/>
                </a:cubicBezTo>
                <a:lnTo>
                  <a:pt x="106704" y="63998"/>
                </a:lnTo>
                <a:lnTo>
                  <a:pt x="149817" y="105406"/>
                </a:lnTo>
                <a:lnTo>
                  <a:pt x="233868" y="21341"/>
                </a:lnTo>
                <a:lnTo>
                  <a:pt x="195609" y="21341"/>
                </a:lnTo>
                <a:cubicBezTo>
                  <a:pt x="190207" y="21341"/>
                  <a:pt x="185742" y="17327"/>
                  <a:pt x="185037" y="12118"/>
                </a:cubicBezTo>
                <a:lnTo>
                  <a:pt x="184939" y="10670"/>
                </a:lnTo>
                <a:cubicBezTo>
                  <a:pt x="184939" y="5268"/>
                  <a:pt x="188954" y="804"/>
                  <a:pt x="194162" y="97"/>
                </a:cubicBezTo>
                <a:lnTo>
                  <a:pt x="195609" y="0"/>
                </a:lnTo>
                <a:close/>
                <a:moveTo>
                  <a:pt x="10670" y="213409"/>
                </a:moveTo>
                <a:cubicBezTo>
                  <a:pt x="16564" y="213409"/>
                  <a:pt x="21341" y="218186"/>
                  <a:pt x="21341" y="224079"/>
                </a:cubicBezTo>
                <a:lnTo>
                  <a:pt x="21341" y="273875"/>
                </a:lnTo>
                <a:cubicBezTo>
                  <a:pt x="21341" y="279768"/>
                  <a:pt x="16564" y="284545"/>
                  <a:pt x="10670" y="284545"/>
                </a:cubicBezTo>
                <a:cubicBezTo>
                  <a:pt x="4777" y="284545"/>
                  <a:pt x="0" y="279768"/>
                  <a:pt x="0" y="273875"/>
                </a:cubicBezTo>
                <a:lnTo>
                  <a:pt x="0" y="224079"/>
                </a:lnTo>
                <a:cubicBezTo>
                  <a:pt x="0" y="218186"/>
                  <a:pt x="4777" y="213409"/>
                  <a:pt x="10670" y="213409"/>
                </a:cubicBezTo>
                <a:close/>
                <a:moveTo>
                  <a:pt x="92477" y="167170"/>
                </a:moveTo>
                <a:cubicBezTo>
                  <a:pt x="92477" y="161277"/>
                  <a:pt x="87700" y="156500"/>
                  <a:pt x="81807" y="156500"/>
                </a:cubicBezTo>
                <a:cubicBezTo>
                  <a:pt x="75914" y="156500"/>
                  <a:pt x="71136" y="161277"/>
                  <a:pt x="71136" y="167170"/>
                </a:cubicBezTo>
                <a:lnTo>
                  <a:pt x="71136" y="273875"/>
                </a:lnTo>
                <a:cubicBezTo>
                  <a:pt x="71136" y="279768"/>
                  <a:pt x="75914" y="284545"/>
                  <a:pt x="81807" y="284545"/>
                </a:cubicBezTo>
                <a:cubicBezTo>
                  <a:pt x="87700" y="284545"/>
                  <a:pt x="92477" y="279768"/>
                  <a:pt x="92477" y="273875"/>
                </a:cubicBezTo>
                <a:lnTo>
                  <a:pt x="92477" y="167170"/>
                </a:lnTo>
                <a:close/>
                <a:moveTo>
                  <a:pt x="152943" y="184954"/>
                </a:moveTo>
                <a:cubicBezTo>
                  <a:pt x="158836" y="184954"/>
                  <a:pt x="163613" y="189732"/>
                  <a:pt x="163613" y="195625"/>
                </a:cubicBezTo>
                <a:lnTo>
                  <a:pt x="163613" y="273875"/>
                </a:lnTo>
                <a:cubicBezTo>
                  <a:pt x="163613" y="279768"/>
                  <a:pt x="158836" y="284545"/>
                  <a:pt x="152943" y="284545"/>
                </a:cubicBezTo>
                <a:cubicBezTo>
                  <a:pt x="147050" y="284545"/>
                  <a:pt x="142273" y="279768"/>
                  <a:pt x="142273" y="273875"/>
                </a:cubicBezTo>
                <a:lnTo>
                  <a:pt x="142273" y="195625"/>
                </a:lnTo>
                <a:cubicBezTo>
                  <a:pt x="142273" y="189732"/>
                  <a:pt x="147050" y="184954"/>
                  <a:pt x="152943" y="184954"/>
                </a:cubicBezTo>
                <a:close/>
                <a:moveTo>
                  <a:pt x="234750" y="124488"/>
                </a:moveTo>
                <a:cubicBezTo>
                  <a:pt x="234750" y="118596"/>
                  <a:pt x="229972" y="113818"/>
                  <a:pt x="224079" y="113818"/>
                </a:cubicBezTo>
                <a:cubicBezTo>
                  <a:pt x="218186" y="113818"/>
                  <a:pt x="213409" y="118596"/>
                  <a:pt x="213409" y="124488"/>
                </a:cubicBezTo>
                <a:lnTo>
                  <a:pt x="213409" y="273875"/>
                </a:lnTo>
                <a:cubicBezTo>
                  <a:pt x="213409" y="279768"/>
                  <a:pt x="218186" y="284545"/>
                  <a:pt x="224079" y="284545"/>
                </a:cubicBezTo>
                <a:cubicBezTo>
                  <a:pt x="229972" y="284545"/>
                  <a:pt x="234750" y="279768"/>
                  <a:pt x="234750" y="273875"/>
                </a:cubicBezTo>
                <a:lnTo>
                  <a:pt x="234750" y="124488"/>
                </a:ln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9205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a:stretch>
        </a:blipFill>
        <a:effectLst/>
      </p:bgPr>
    </p:bg>
    <p:spTree>
      <p:nvGrpSpPr>
        <p:cNvPr id="1" name="">
          <a:extLst>
            <a:ext uri="{FF2B5EF4-FFF2-40B4-BE49-F238E27FC236}">
              <a16:creationId xmlns:a16="http://schemas.microsoft.com/office/drawing/2014/main" id="{1FB34532-E51E-751C-8A06-BB4E5359342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49EE77E-F7C6-ED7C-B08E-511123D76ACC}"/>
              </a:ext>
            </a:extLst>
          </p:cNvPr>
          <p:cNvSpPr>
            <a:spLocks noGrp="1"/>
          </p:cNvSpPr>
          <p:nvPr>
            <p:ph type="title"/>
          </p:nvPr>
        </p:nvSpPr>
        <p:spPr/>
        <p:txBody>
          <a:bodyPr/>
          <a:lstStyle/>
          <a:p>
            <a:r>
              <a:rPr lang="en-US" dirty="0"/>
              <a:t>Example offer for </a:t>
            </a:r>
            <a:r>
              <a:rPr lang="en-US" dirty="0">
                <a:ln w="3175">
                  <a:noFill/>
                </a:ln>
                <a:solidFill>
                  <a:schemeClr val="accent4"/>
                </a:solidFill>
                <a:latin typeface="Segoe UI Semibold"/>
                <a:ea typeface="+mn-ea"/>
                <a:cs typeface="Segoe UI" panose="020B0502040204020203" pitchFamily="34" charset="0"/>
              </a:rPr>
              <a:t>Sales</a:t>
            </a:r>
          </a:p>
        </p:txBody>
      </p:sp>
      <p:sp>
        <p:nvSpPr>
          <p:cNvPr id="124" name="Slide Number Placeholder 123">
            <a:extLst>
              <a:ext uri="{FF2B5EF4-FFF2-40B4-BE49-F238E27FC236}">
                <a16:creationId xmlns:a16="http://schemas.microsoft.com/office/drawing/2014/main" id="{E7CF5B5F-550E-6361-61DA-141FE56F582D}"/>
              </a:ext>
            </a:extLst>
          </p:cNvPr>
          <p:cNvSpPr>
            <a:spLocks noGrp="1"/>
          </p:cNvSpPr>
          <p:nvPr>
            <p:ph type="sldNum" sz="quarter" idx="11"/>
          </p:nvPr>
        </p:nvSpPr>
        <p:spPr/>
        <p:txBody>
          <a:bodyPr/>
          <a:lstStyle/>
          <a:p>
            <a:pPr defTabSz="914367">
              <a:defRPr/>
            </a:pPr>
            <a:fld id="{2A20A09D-1A50-4CA5-89CD-EDD3F91B2117}" type="slidenum">
              <a:rPr lang="en-US" smtClean="0"/>
              <a:pPr defTabSz="914367">
                <a:defRPr/>
              </a:pPr>
              <a:t>27</a:t>
            </a:fld>
            <a:endParaRPr lang="en-US"/>
          </a:p>
        </p:txBody>
      </p:sp>
      <p:sp>
        <p:nvSpPr>
          <p:cNvPr id="4" name="Text Placeholder 3">
            <a:extLst>
              <a:ext uri="{FF2B5EF4-FFF2-40B4-BE49-F238E27FC236}">
                <a16:creationId xmlns:a16="http://schemas.microsoft.com/office/drawing/2014/main" id="{09EF6872-C314-7C66-B0B2-16FA6ED86580}"/>
              </a:ext>
            </a:extLst>
          </p:cNvPr>
          <p:cNvSpPr>
            <a:spLocks noGrp="1"/>
          </p:cNvSpPr>
          <p:nvPr>
            <p:ph type="body" sz="quarter" idx="12"/>
          </p:nvPr>
        </p:nvSpPr>
        <p:spPr>
          <a:xfrm>
            <a:off x="827332" y="1261764"/>
            <a:ext cx="4690872" cy="1219319"/>
          </a:xfrm>
        </p:spPr>
        <p:txBody>
          <a:bodyPr wrap="square" lIns="457200">
            <a:spAutoFit/>
          </a:bodyPr>
          <a:lstStyle/>
          <a:p>
            <a:r>
              <a:rPr lang="en-US" kern="1200" dirty="0">
                <a:ea typeface="+mn-ea"/>
              </a:rPr>
              <a:t>Goals and challenges</a:t>
            </a:r>
          </a:p>
          <a:p>
            <a:pPr lvl="1"/>
            <a:r>
              <a:rPr lang="en-US" sz="1000" dirty="0"/>
              <a:t>Based on Microsoft research, selling is getting harder, with 79% of sellers saying they need to support more accounts and are spending 70% of their time on administrative tasks, such as research, planning, generating proposals, data entry, and internal meetings.</a:t>
            </a:r>
            <a:r>
              <a:rPr lang="en-US" sz="1000" baseline="30000" dirty="0"/>
              <a:t>1</a:t>
            </a:r>
          </a:p>
        </p:txBody>
      </p:sp>
      <p:sp>
        <p:nvSpPr>
          <p:cNvPr id="5" name="Text Placeholder 4">
            <a:extLst>
              <a:ext uri="{FF2B5EF4-FFF2-40B4-BE49-F238E27FC236}">
                <a16:creationId xmlns:a16="http://schemas.microsoft.com/office/drawing/2014/main" id="{75C377D2-3393-7350-46DA-3ABB7FA6ED9B}"/>
              </a:ext>
            </a:extLst>
          </p:cNvPr>
          <p:cNvSpPr>
            <a:spLocks noGrp="1"/>
          </p:cNvSpPr>
          <p:nvPr>
            <p:ph type="body" sz="quarter" idx="13"/>
          </p:nvPr>
        </p:nvSpPr>
        <p:spPr>
          <a:xfrm>
            <a:off x="827332" y="4966039"/>
            <a:ext cx="4690872" cy="1302999"/>
          </a:xfrm>
          <a:prstGeom prst="roundRect">
            <a:avLst>
              <a:gd name="adj" fmla="val 7581"/>
            </a:avLst>
          </a:prstGeom>
          <a:solidFill>
            <a:schemeClr val="bg1">
              <a:alpha val="31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457200" tIns="137160" rIns="137160" bIns="137160" numCol="1" spcCol="0" rtlCol="0" fromWordArt="0" anchor="t" anchorCtr="0" forceAA="0" compatLnSpc="1">
            <a:prstTxWarp prst="textNoShape">
              <a:avLst/>
            </a:prstTxWarp>
            <a:noAutofit/>
          </a:bodyPr>
          <a:lstStyle/>
          <a:p>
            <a:pPr marL="0" indent="0">
              <a:spcAft>
                <a:spcPts val="600"/>
              </a:spcAft>
              <a:buNone/>
            </a:pPr>
            <a:r>
              <a:rPr lang="en-US" kern="1200" dirty="0">
                <a:ea typeface="+mn-ea"/>
              </a:rPr>
              <a:t>Transform Sales processes with Copilot and [Insert Partner Offer]</a:t>
            </a:r>
          </a:p>
          <a:p>
            <a:pPr marL="0" lvl="1" indent="0">
              <a:spcBef>
                <a:spcPts val="0"/>
              </a:spcBef>
              <a:buNone/>
            </a:pPr>
            <a:r>
              <a:rPr lang="en-US" sz="1000" dirty="0"/>
              <a:t>[Insert partner offer summary] </a:t>
            </a:r>
          </a:p>
        </p:txBody>
      </p:sp>
      <p:sp>
        <p:nvSpPr>
          <p:cNvPr id="6" name="Text Placeholder 5">
            <a:extLst>
              <a:ext uri="{FF2B5EF4-FFF2-40B4-BE49-F238E27FC236}">
                <a16:creationId xmlns:a16="http://schemas.microsoft.com/office/drawing/2014/main" id="{2F251B18-5C4D-D6B8-0963-25C08E7BB1CE}"/>
              </a:ext>
            </a:extLst>
          </p:cNvPr>
          <p:cNvSpPr>
            <a:spLocks noGrp="1"/>
          </p:cNvSpPr>
          <p:nvPr>
            <p:ph type="body" sz="quarter" idx="14"/>
          </p:nvPr>
        </p:nvSpPr>
        <p:spPr>
          <a:xfrm>
            <a:off x="827332" y="2769318"/>
            <a:ext cx="4690872" cy="1908486"/>
          </a:xfrm>
          <a:solidFill>
            <a:schemeClr val="bg1">
              <a:alpha val="31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457200" tIns="137160" rIns="137160" bIns="137160" numCol="1" spcCol="0" rtlCol="0" fromWordArt="0" anchor="t" anchorCtr="0" forceAA="0" compatLnSpc="1">
            <a:prstTxWarp prst="textNoShape">
              <a:avLst/>
            </a:prstTxWarp>
            <a:spAutoFit/>
          </a:bodyPr>
          <a:lstStyle/>
          <a:p>
            <a:pPr marL="0" indent="0">
              <a:spcAft>
                <a:spcPts val="600"/>
              </a:spcAft>
              <a:buNone/>
            </a:pPr>
            <a:r>
              <a:rPr lang="en-US" kern="1200" dirty="0">
                <a:ea typeface="+mn-ea"/>
              </a:rPr>
              <a:t>Copilot can assist with…</a:t>
            </a:r>
          </a:p>
          <a:p>
            <a:pPr marL="0" marR="0" lvl="0" indent="0" algn="l" defTabSz="582780" rtl="0" eaLnBrk="1" fontAlgn="auto" latinLnBrk="0" hangingPunct="1">
              <a:lnSpc>
                <a:spcPct val="110000"/>
              </a:lnSpc>
              <a:spcBef>
                <a:spcPct val="0"/>
              </a:spcBef>
              <a:spcAft>
                <a:spcPts val="300"/>
              </a:spcAft>
              <a:buClrTx/>
              <a:buSzTx/>
              <a:buFont typeface="Wingdings" panose="05000000000000000000" pitchFamily="2" charset="2"/>
              <a:buNone/>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Semilight" panose="020B0402040204020203" pitchFamily="34" charset="0"/>
              </a:rPr>
              <a:t>Copilot assists Sales teams with tedious tasks like catching up on pipeline, updating CRM data, preparing for meetings, and analyzing calls, so they can focus on closing the deal.</a:t>
            </a:r>
          </a:p>
          <a:p>
            <a:pPr marL="114300" marR="0" lvl="0" indent="-114300" algn="l" defTabSz="582780" rtl="0" eaLnBrk="1" fontAlgn="auto" latinLnBrk="0" hangingPunct="1">
              <a:lnSpc>
                <a:spcPct val="110000"/>
              </a:lnSpc>
              <a:spcBef>
                <a:spcPct val="0"/>
              </a:spcBef>
              <a:buClr>
                <a:schemeClr val="tx1"/>
              </a:buClr>
              <a:buSzTx/>
              <a:buFont typeface="Arial" panose="020B0604020202020204" pitchFamily="34" charset="0"/>
              <a:buChar char="•"/>
              <a:tabLst/>
              <a:defRPr/>
            </a:pPr>
            <a:r>
              <a:rPr kumimoji="0" lang="en-US" sz="1000" b="0" i="0" u="none" strike="noStrike" kern="1200" cap="none" spc="0" normalizeH="0" baseline="0" noProof="0" dirty="0">
                <a:ln>
                  <a:noFill/>
                </a:ln>
                <a:effectLst/>
                <a:uLnTx/>
                <a:uFillTx/>
                <a:latin typeface="+mn-lt"/>
                <a:ea typeface="+mn-ea"/>
                <a:cs typeface="Segoe UI Semilight" panose="020B0402040204020203" pitchFamily="34" charset="0"/>
              </a:rPr>
              <a:t>Accelerate customer research</a:t>
            </a:r>
            <a:br>
              <a:rPr kumimoji="0" lang="en-US" sz="1000" b="0" i="0" u="none" strike="noStrike" kern="1200" cap="none" spc="0" normalizeH="0" baseline="0" noProof="0" dirty="0">
                <a:ln>
                  <a:noFill/>
                </a:ln>
                <a:effectLst/>
                <a:uLnTx/>
                <a:uFillTx/>
                <a:latin typeface="+mn-lt"/>
                <a:ea typeface="+mn-ea"/>
                <a:cs typeface="Segoe UI Semilight" panose="020B0402040204020203" pitchFamily="34" charset="0"/>
              </a:rPr>
            </a:br>
            <a:r>
              <a:rPr kumimoji="0" lang="en-US" sz="1000" b="0" i="0" u="none" strike="noStrike" kern="1200" cap="none" spc="0" normalizeH="0" baseline="0" noProof="0" dirty="0">
                <a:ln>
                  <a:noFill/>
                </a:ln>
                <a:effectLst/>
                <a:uLnTx/>
                <a:uFillTx/>
                <a:latin typeface="+mn-lt"/>
                <a:ea typeface="+mn-ea"/>
                <a:cs typeface="Segoe UI Semilight" panose="020B0402040204020203" pitchFamily="34" charset="0"/>
              </a:rPr>
              <a:t>and sales preparation</a:t>
            </a:r>
          </a:p>
          <a:p>
            <a:pPr marL="114300" marR="0" lvl="0" indent="-114300" algn="l" defTabSz="582780" rtl="0" eaLnBrk="1" fontAlgn="auto" latinLnBrk="0" hangingPunct="1">
              <a:lnSpc>
                <a:spcPct val="110000"/>
              </a:lnSpc>
              <a:spcBef>
                <a:spcPct val="0"/>
              </a:spcBef>
              <a:buClr>
                <a:schemeClr val="tx1"/>
              </a:buClr>
              <a:buSzTx/>
              <a:buFont typeface="Arial" panose="020B0604020202020204" pitchFamily="34" charset="0"/>
              <a:buChar char="•"/>
              <a:tabLst/>
              <a:defRPr/>
            </a:pPr>
            <a:r>
              <a:rPr kumimoji="0" lang="en-US" sz="1000" b="0" i="0" u="none" strike="noStrike" kern="1200" cap="none" spc="0" normalizeH="0" baseline="0" noProof="0" dirty="0">
                <a:ln>
                  <a:noFill/>
                </a:ln>
                <a:effectLst/>
                <a:uLnTx/>
                <a:uFillTx/>
                <a:latin typeface="+mn-lt"/>
                <a:ea typeface="+mn-ea"/>
                <a:cs typeface="Segoe UI Semilight" panose="020B0402040204020203" pitchFamily="34" charset="0"/>
              </a:rPr>
              <a:t>Improve customer meetings</a:t>
            </a:r>
          </a:p>
          <a:p>
            <a:pPr marL="114300" marR="0" lvl="0" indent="-114300" algn="l" defTabSz="582780" rtl="0" eaLnBrk="1" fontAlgn="auto" latinLnBrk="0" hangingPunct="1">
              <a:lnSpc>
                <a:spcPct val="110000"/>
              </a:lnSpc>
              <a:spcBef>
                <a:spcPct val="0"/>
              </a:spcBef>
              <a:buClr>
                <a:schemeClr val="tx1"/>
              </a:buClr>
              <a:buSzTx/>
              <a:buFont typeface="Arial" panose="020B0604020202020204" pitchFamily="34" charset="0"/>
              <a:buChar char="•"/>
              <a:tabLst/>
              <a:defRPr/>
            </a:pPr>
            <a:r>
              <a:rPr kumimoji="0" lang="en-US" sz="1000" b="0" i="0" u="none" strike="noStrike" kern="1200" cap="none" spc="0" normalizeH="0" baseline="0" noProof="0" dirty="0">
                <a:ln>
                  <a:noFill/>
                </a:ln>
                <a:effectLst/>
                <a:uLnTx/>
                <a:uFillTx/>
                <a:latin typeface="+mn-lt"/>
                <a:ea typeface="+mn-ea"/>
                <a:cs typeface="Segoe UI Semilight" panose="020B0402040204020203" pitchFamily="34" charset="0"/>
              </a:rPr>
              <a:t>Make a customized pitch</a:t>
            </a:r>
          </a:p>
        </p:txBody>
      </p:sp>
      <p:sp>
        <p:nvSpPr>
          <p:cNvPr id="7" name="Text Placeholder 6">
            <a:extLst>
              <a:ext uri="{FF2B5EF4-FFF2-40B4-BE49-F238E27FC236}">
                <a16:creationId xmlns:a16="http://schemas.microsoft.com/office/drawing/2014/main" id="{6503063F-DA71-E408-E6E2-15496936C24A}"/>
              </a:ext>
            </a:extLst>
          </p:cNvPr>
          <p:cNvSpPr>
            <a:spLocks noGrp="1"/>
          </p:cNvSpPr>
          <p:nvPr>
            <p:ph type="body" sz="quarter" idx="15"/>
          </p:nvPr>
        </p:nvSpPr>
        <p:spPr>
          <a:xfrm>
            <a:off x="5841492" y="1257301"/>
            <a:ext cx="5779008" cy="1969841"/>
          </a:xfrm>
          <a:prstGeom prst="roundRect">
            <a:avLst>
              <a:gd name="adj" fmla="val 3842"/>
            </a:avLst>
          </a:prstGeom>
          <a:gradFill>
            <a:gsLst>
              <a:gs pos="0">
                <a:schemeClr val="bg1">
                  <a:alpha val="30000"/>
                </a:schemeClr>
              </a:gs>
              <a:gs pos="100000">
                <a:schemeClr val="bg1">
                  <a:alpha val="50000"/>
                </a:schemeClr>
              </a:gs>
            </a:gsLst>
            <a:lin ang="0" scaled="0"/>
          </a:gradFill>
        </p:spPr>
        <p:txBody>
          <a:bodyPr/>
          <a:lstStyle/>
          <a:p>
            <a:pPr marL="0" indent="0">
              <a:spcAft>
                <a:spcPts val="600"/>
              </a:spcAft>
              <a:buNone/>
            </a:pPr>
            <a:r>
              <a:rPr lang="en-US" kern="1200">
                <a:ea typeface="+mn-ea"/>
              </a:rPr>
              <a:t>How Copilot and [Insert Partner Name] can help you achieve your goals...</a:t>
            </a:r>
          </a:p>
        </p:txBody>
      </p:sp>
      <p:sp>
        <p:nvSpPr>
          <p:cNvPr id="8" name="Text Placeholder 7">
            <a:extLst>
              <a:ext uri="{FF2B5EF4-FFF2-40B4-BE49-F238E27FC236}">
                <a16:creationId xmlns:a16="http://schemas.microsoft.com/office/drawing/2014/main" id="{7C831AFB-EC67-7ED1-4581-0B9F8DD1B114}"/>
              </a:ext>
            </a:extLst>
          </p:cNvPr>
          <p:cNvSpPr>
            <a:spLocks noGrp="1"/>
          </p:cNvSpPr>
          <p:nvPr>
            <p:ph type="body" sz="quarter" idx="16"/>
          </p:nvPr>
        </p:nvSpPr>
        <p:spPr>
          <a:xfrm>
            <a:off x="5829300" y="3378719"/>
            <a:ext cx="5791200" cy="2890319"/>
          </a:xfrm>
          <a:prstGeom prst="roundRect">
            <a:avLst>
              <a:gd name="adj" fmla="val 4108"/>
            </a:avLst>
          </a:prstGeom>
          <a:gradFill>
            <a:gsLst>
              <a:gs pos="0">
                <a:schemeClr val="bg1">
                  <a:alpha val="30000"/>
                </a:schemeClr>
              </a:gs>
              <a:gs pos="100000">
                <a:schemeClr val="bg1">
                  <a:alpha val="50000"/>
                </a:schemeClr>
              </a:gs>
            </a:gsLst>
            <a:lin ang="0" scaled="0"/>
          </a:gradFill>
        </p:spPr>
        <p:txBody>
          <a:bodyPr/>
          <a:lstStyle/>
          <a:p>
            <a:pPr marL="0" indent="0">
              <a:spcAft>
                <a:spcPts val="600"/>
              </a:spcAft>
              <a:buNone/>
            </a:pPr>
            <a:r>
              <a:rPr lang="en-US" kern="1200">
                <a:ea typeface="+mn-ea"/>
              </a:rPr>
              <a:t>Improve key functional KPIs</a:t>
            </a:r>
          </a:p>
        </p:txBody>
      </p:sp>
      <p:sp>
        <p:nvSpPr>
          <p:cNvPr id="17" name="Text Placeholder 5">
            <a:extLst>
              <a:ext uri="{FF2B5EF4-FFF2-40B4-BE49-F238E27FC236}">
                <a16:creationId xmlns:a16="http://schemas.microsoft.com/office/drawing/2014/main" id="{29BBE3B4-3AE9-DFC7-ADC9-83ED01D7579E}"/>
              </a:ext>
            </a:extLst>
          </p:cNvPr>
          <p:cNvSpPr txBox="1">
            <a:spLocks/>
          </p:cNvSpPr>
          <p:nvPr/>
        </p:nvSpPr>
        <p:spPr>
          <a:xfrm>
            <a:off x="3092372" y="3767450"/>
            <a:ext cx="2296632" cy="662041"/>
          </a:xfrm>
          <a:prstGeom prst="rect">
            <a:avLst/>
          </a:prstGeom>
          <a:noFill/>
          <a:ln w="12700" cap="flat" cmpd="sng" algn="ctr">
            <a:noFill/>
            <a:prstDash val="solid"/>
            <a:miter lim="800000"/>
          </a:ln>
          <a:effectLst>
            <a:outerShdw blurRad="406400" dist="38100" dir="2700000" algn="tl" rotWithShape="0">
              <a:prstClr val="black">
                <a:alpha val="12000"/>
              </a:prstClr>
            </a:outerShdw>
          </a:effectLst>
        </p:spPr>
        <p:txBody>
          <a:bodyPr rot="0" spcFirstLastPara="0" vertOverflow="overflow" horzOverflow="overflow" vert="horz" wrap="square" lIns="292608" tIns="0" rIns="137160" bIns="0" numCol="1" spcCol="0" rtlCol="0" fromWordArt="0" anchor="t" anchorCtr="0" forceAA="0" compatLnSpc="1">
            <a:prstTxWarp prst="textNoShape">
              <a:avLst/>
            </a:prstTxWarp>
            <a:sp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0" lang="en-US" sz="1400" b="0" i="0" u="none" strike="noStrike" kern="0" cap="none" spc="0" normalizeH="0" baseline="0" dirty="0" smtClean="0">
                <a:ln w="3175">
                  <a:noFill/>
                </a:ln>
                <a:solidFill>
                  <a:schemeClr val="tx1"/>
                </a:solidFill>
                <a:effectLst/>
                <a:uLnTx/>
                <a:uFillTx/>
                <a:latin typeface="+mj-lt"/>
                <a:ea typeface="Segoe UI Regular" pitchFamily="34" charset="-122"/>
                <a:cs typeface="Segoe UI" panose="020B0502040204020203"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lang="en-US" sz="1100" kern="1200" dirty="0" smtClean="0">
                <a:solidFill>
                  <a:schemeClr val="tx2"/>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lang="en-US" sz="1100" kern="1200" dirty="0" smtClean="0">
                <a:solidFill>
                  <a:schemeClr val="tx2"/>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lang="en-US" sz="1100" kern="1200" dirty="0">
                <a:solidFill>
                  <a:schemeClr val="tx2"/>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0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114300" indent="-114300" defTabSz="582780">
              <a:lnSpc>
                <a:spcPct val="110000"/>
              </a:lnSpc>
              <a:spcBef>
                <a:spcPct val="0"/>
              </a:spcBef>
              <a:buClr>
                <a:schemeClr val="tx1"/>
              </a:buClr>
              <a:buSzTx/>
              <a:buFont typeface="Arial" panose="020B0604020202020204" pitchFamily="34" charset="0"/>
              <a:buChar char="•"/>
              <a:defRPr/>
            </a:pPr>
            <a:r>
              <a:rPr kumimoji="0" lang="en-US" sz="1000" b="0" i="0" u="none" strike="noStrike" kern="1200" cap="none" spc="0" normalizeH="0" baseline="0" noProof="0" dirty="0">
                <a:ln>
                  <a:noFill/>
                </a:ln>
                <a:effectLst/>
                <a:uLnTx/>
                <a:uFillTx/>
                <a:latin typeface="+mn-lt"/>
                <a:ea typeface="+mn-ea"/>
                <a:cs typeface="Segoe UI Semilight" panose="020B0402040204020203" pitchFamily="34" charset="0"/>
              </a:rPr>
              <a:t>Quicker customer response and CRM updates</a:t>
            </a:r>
          </a:p>
          <a:p>
            <a:pPr marL="114300" marR="0" lvl="0" indent="-114300" algn="l" defTabSz="582780" rtl="0" eaLnBrk="1" fontAlgn="auto" latinLnBrk="0" hangingPunct="1">
              <a:lnSpc>
                <a:spcPct val="110000"/>
              </a:lnSpc>
              <a:spcBef>
                <a:spcPct val="0"/>
              </a:spcBef>
              <a:buClr>
                <a:schemeClr val="tx1"/>
              </a:buClr>
              <a:buSzTx/>
              <a:buFont typeface="Arial" panose="020B0604020202020204" pitchFamily="34" charset="0"/>
              <a:buChar char="•"/>
              <a:tabLst/>
              <a:defRPr/>
            </a:pPr>
            <a:r>
              <a:rPr kumimoji="0" lang="en-US" sz="1000" b="0" i="0" u="none" strike="noStrike" kern="1200" cap="none" spc="0" normalizeH="0" baseline="0" noProof="0" dirty="0">
                <a:ln>
                  <a:noFill/>
                </a:ln>
                <a:effectLst/>
                <a:uLnTx/>
                <a:uFillTx/>
                <a:latin typeface="+mn-lt"/>
                <a:ea typeface="+mn-ea"/>
                <a:cs typeface="Segoe UI Semilight" panose="020B0402040204020203" pitchFamily="34" charset="0"/>
              </a:rPr>
              <a:t>Respond to an RFP</a:t>
            </a:r>
          </a:p>
          <a:p>
            <a:pPr marL="114300" marR="0" lvl="0" indent="-114300" algn="l" defTabSz="582780" rtl="0" eaLnBrk="1" fontAlgn="auto" latinLnBrk="0" hangingPunct="1">
              <a:lnSpc>
                <a:spcPct val="110000"/>
              </a:lnSpc>
              <a:spcBef>
                <a:spcPct val="0"/>
              </a:spcBef>
              <a:buClr>
                <a:schemeClr val="tx1"/>
              </a:buClr>
              <a:buSzTx/>
              <a:buFont typeface="Arial" panose="020B0604020202020204" pitchFamily="34" charset="0"/>
              <a:buChar char="•"/>
              <a:tabLst/>
              <a:defRPr/>
            </a:pPr>
            <a:r>
              <a:rPr kumimoji="0" lang="en-US" sz="1000" b="0" i="0" u="none" strike="noStrike" kern="1200" cap="none" spc="0" normalizeH="0" baseline="0" noProof="0" dirty="0">
                <a:ln>
                  <a:noFill/>
                </a:ln>
                <a:effectLst/>
                <a:uLnTx/>
                <a:uFillTx/>
                <a:latin typeface="+mn-lt"/>
                <a:ea typeface="+mn-ea"/>
                <a:cs typeface="Segoe UI Semilight" panose="020B0402040204020203" pitchFamily="34" charset="0"/>
              </a:rPr>
              <a:t>Create an unsolicited proposal</a:t>
            </a:r>
          </a:p>
        </p:txBody>
      </p:sp>
      <p:graphicFrame>
        <p:nvGraphicFramePr>
          <p:cNvPr id="24" name="Table 23">
            <a:extLst>
              <a:ext uri="{FF2B5EF4-FFF2-40B4-BE49-F238E27FC236}">
                <a16:creationId xmlns:a16="http://schemas.microsoft.com/office/drawing/2014/main" id="{C36412E1-D275-3410-4D1B-A89F5DDCBC67}"/>
              </a:ext>
            </a:extLst>
          </p:cNvPr>
          <p:cNvGraphicFramePr>
            <a:graphicFrameLocks noGrp="1"/>
          </p:cNvGraphicFramePr>
          <p:nvPr>
            <p:extLst>
              <p:ext uri="{D42A27DB-BD31-4B8C-83A1-F6EECF244321}">
                <p14:modId xmlns:p14="http://schemas.microsoft.com/office/powerpoint/2010/main" val="354298978"/>
              </p:ext>
            </p:extLst>
          </p:nvPr>
        </p:nvGraphicFramePr>
        <p:xfrm>
          <a:off x="5951548" y="3834520"/>
          <a:ext cx="5516364" cy="2337809"/>
        </p:xfrm>
        <a:graphic>
          <a:graphicData uri="http://schemas.openxmlformats.org/drawingml/2006/table">
            <a:tbl>
              <a:tblPr firstRow="1" bandRow="1">
                <a:tableStyleId>{2D5ABB26-0587-4C30-8999-92F81FD0307C}</a:tableStyleId>
              </a:tblPr>
              <a:tblGrid>
                <a:gridCol w="217758">
                  <a:extLst>
                    <a:ext uri="{9D8B030D-6E8A-4147-A177-3AD203B41FA5}">
                      <a16:colId xmlns:a16="http://schemas.microsoft.com/office/drawing/2014/main" val="1905125584"/>
                    </a:ext>
                  </a:extLst>
                </a:gridCol>
                <a:gridCol w="995423">
                  <a:extLst>
                    <a:ext uri="{9D8B030D-6E8A-4147-A177-3AD203B41FA5}">
                      <a16:colId xmlns:a16="http://schemas.microsoft.com/office/drawing/2014/main" val="3580399742"/>
                    </a:ext>
                  </a:extLst>
                </a:gridCol>
                <a:gridCol w="4303183">
                  <a:extLst>
                    <a:ext uri="{9D8B030D-6E8A-4147-A177-3AD203B41FA5}">
                      <a16:colId xmlns:a16="http://schemas.microsoft.com/office/drawing/2014/main" val="1904428677"/>
                    </a:ext>
                  </a:extLst>
                </a:gridCol>
              </a:tblGrid>
              <a:tr h="506913">
                <a:tc>
                  <a:txBody>
                    <a:bodyPr/>
                    <a:lstStyle/>
                    <a:p>
                      <a:endParaRPr lang="en-US" sz="1000"/>
                    </a:p>
                  </a:txBody>
                  <a:tcPr>
                    <a:lnL>
                      <a:noFill/>
                    </a:lnL>
                    <a:lnR w="12700" cap="flat" cmpd="sng" algn="ctr">
                      <a:no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dirty="0">
                          <a:latin typeface="+mj-lt"/>
                        </a:rPr>
                        <a:t>Opportunities pursued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225"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Simplifying and automating tasks like preparing for meetings, tracking tasks, sending emails, creating proposals, and researching customer and product information can allow sellers to pursue more opportunities.</a:t>
                      </a:r>
                    </a:p>
                  </a:txBody>
                  <a:tcPr marL="45720" marR="45720" anchor="ctr">
                    <a:lnL w="12700" cap="flat" cmpd="sng" algn="ctr">
                      <a:noFill/>
                      <a:prstDash val="solid"/>
                      <a:round/>
                      <a:headEnd type="none" w="med" len="med"/>
                      <a:tailEnd type="none" w="med" len="med"/>
                    </a:lnL>
                    <a:lnR>
                      <a:noFill/>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3379039"/>
                  </a:ext>
                </a:extLst>
              </a:tr>
              <a:tr h="506913">
                <a:tc>
                  <a:txBody>
                    <a:bodyPr/>
                    <a:lstStyle/>
                    <a:p>
                      <a:endParaRPr lang="en-US" sz="1000"/>
                    </a:p>
                  </a:txBody>
                  <a:tcPr>
                    <a:lnL>
                      <a:noFill/>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dirty="0">
                          <a:latin typeface="+mj-lt"/>
                        </a:rPr>
                        <a:t>Close rate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225"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111111"/>
                          </a:solidFill>
                          <a:effectLst/>
                          <a:uLnTx/>
                          <a:uFillTx/>
                          <a:latin typeface="Segoe UI"/>
                          <a:ea typeface="+mn-ea"/>
                          <a:cs typeface="Segoe UI" panose="020B0502040204020203" pitchFamily="34" charset="0"/>
                        </a:rPr>
                        <a:t>Improving the quality of marketing content and customer interactions such as emails and meetings can help to improve close rates.</a:t>
                      </a:r>
                    </a:p>
                  </a:txBody>
                  <a:tcPr marL="45720" marR="45720" anchor="ctr">
                    <a:lnL w="12700" cap="flat" cmpd="sng" algn="ctr">
                      <a:noFill/>
                      <a:prstDash val="solid"/>
                      <a:round/>
                      <a:headEnd type="none" w="med" len="med"/>
                      <a:tailEnd type="none" w="med" len="med"/>
                    </a:lnL>
                    <a:lnR>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34878029"/>
                  </a:ext>
                </a:extLst>
              </a:tr>
              <a:tr h="454951">
                <a:tc>
                  <a:txBody>
                    <a:bodyPr/>
                    <a:lstStyle/>
                    <a:p>
                      <a:endParaRPr lang="en-US" sz="1000"/>
                    </a:p>
                  </a:txBody>
                  <a:tcPr>
                    <a:lnL>
                      <a:noFill/>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dirty="0">
                          <a:latin typeface="+mj-lt"/>
                        </a:rPr>
                        <a:t>Deal size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n-lt"/>
                          <a:ea typeface="+mn-ea"/>
                          <a:cs typeface="Segoe UI" panose="020B0502040204020203" pitchFamily="34" charset="0"/>
                        </a:rPr>
                        <a:t>Sellers can use Copilot to get suggestions for cross-selling opportunities and then research a better together story. Copilot also assists in pulling together quotes and proposals.</a:t>
                      </a:r>
                    </a:p>
                  </a:txBody>
                  <a:tcPr marL="45720" marR="45720" anchor="ctr">
                    <a:lnL w="12700" cap="flat" cmpd="sng" algn="ctr">
                      <a:noFill/>
                      <a:prstDash val="solid"/>
                      <a:round/>
                      <a:headEnd type="none" w="med" len="med"/>
                      <a:tailEnd type="none" w="med" len="med"/>
                    </a:lnL>
                    <a:lnR>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97277821"/>
                  </a:ext>
                </a:extLst>
              </a:tr>
              <a:tr h="611418">
                <a:tc>
                  <a:txBody>
                    <a:bodyPr/>
                    <a:lstStyle/>
                    <a:p>
                      <a:endParaRPr lang="en-US" sz="1000"/>
                    </a:p>
                  </a:txBody>
                  <a:tcPr>
                    <a:lnL>
                      <a:noFill/>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r>
                        <a:rPr lang="en-US" sz="1000" dirty="0">
                          <a:latin typeface="+mj-lt"/>
                        </a:rPr>
                        <a:t>Customer retention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n-lt"/>
                          <a:ea typeface="+mn-ea"/>
                          <a:cs typeface="Segoe UI" panose="020B0502040204020203" pitchFamily="34" charset="0"/>
                        </a:rPr>
                        <a:t>Improving the quality of Sales materials and interactions helps with retention, but the rest of the company can contribute as well from improved support interactions and first call resolution to improved customer feedback processes to product development.</a:t>
                      </a:r>
                    </a:p>
                  </a:txBody>
                  <a:tcPr marL="45720" marR="45720" anchor="ctr">
                    <a:lnL w="12700" cap="flat" cmpd="sng" algn="ctr">
                      <a:noFill/>
                      <a:prstDash val="solid"/>
                      <a:round/>
                      <a:headEnd type="none" w="med" len="med"/>
                      <a:tailEnd type="none" w="med" len="med"/>
                    </a:lnL>
                    <a:lnR>
                      <a:noFill/>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2953155573"/>
                  </a:ext>
                </a:extLst>
              </a:tr>
            </a:tbl>
          </a:graphicData>
        </a:graphic>
      </p:graphicFrame>
      <p:graphicFrame>
        <p:nvGraphicFramePr>
          <p:cNvPr id="63" name="Table 62">
            <a:extLst>
              <a:ext uri="{FF2B5EF4-FFF2-40B4-BE49-F238E27FC236}">
                <a16:creationId xmlns:a16="http://schemas.microsoft.com/office/drawing/2014/main" id="{6DBF807A-9AF9-9AF4-AF89-1D586E2184D9}"/>
              </a:ext>
            </a:extLst>
          </p:cNvPr>
          <p:cNvGraphicFramePr>
            <a:graphicFrameLocks noGrp="1"/>
          </p:cNvGraphicFramePr>
          <p:nvPr>
            <p:extLst>
              <p:ext uri="{D42A27DB-BD31-4B8C-83A1-F6EECF244321}">
                <p14:modId xmlns:p14="http://schemas.microsoft.com/office/powerpoint/2010/main" val="59607178"/>
              </p:ext>
            </p:extLst>
          </p:nvPr>
        </p:nvGraphicFramePr>
        <p:xfrm>
          <a:off x="6007394" y="1956015"/>
          <a:ext cx="5460516" cy="1147087"/>
        </p:xfrm>
        <a:graphic>
          <a:graphicData uri="http://schemas.openxmlformats.org/drawingml/2006/table">
            <a:tbl>
              <a:tblPr firstRow="1" bandRow="1">
                <a:tableStyleId>{2D5ABB26-0587-4C30-8999-92F81FD0307C}</a:tableStyleId>
              </a:tblPr>
              <a:tblGrid>
                <a:gridCol w="1365129">
                  <a:extLst>
                    <a:ext uri="{9D8B030D-6E8A-4147-A177-3AD203B41FA5}">
                      <a16:colId xmlns:a16="http://schemas.microsoft.com/office/drawing/2014/main" val="763213795"/>
                    </a:ext>
                  </a:extLst>
                </a:gridCol>
                <a:gridCol w="1365129">
                  <a:extLst>
                    <a:ext uri="{9D8B030D-6E8A-4147-A177-3AD203B41FA5}">
                      <a16:colId xmlns:a16="http://schemas.microsoft.com/office/drawing/2014/main" val="2931493578"/>
                    </a:ext>
                  </a:extLst>
                </a:gridCol>
                <a:gridCol w="1365129">
                  <a:extLst>
                    <a:ext uri="{9D8B030D-6E8A-4147-A177-3AD203B41FA5}">
                      <a16:colId xmlns:a16="http://schemas.microsoft.com/office/drawing/2014/main" val="1229633216"/>
                    </a:ext>
                  </a:extLst>
                </a:gridCol>
                <a:gridCol w="1365129">
                  <a:extLst>
                    <a:ext uri="{9D8B030D-6E8A-4147-A177-3AD203B41FA5}">
                      <a16:colId xmlns:a16="http://schemas.microsoft.com/office/drawing/2014/main" val="1709666378"/>
                    </a:ext>
                  </a:extLst>
                </a:gridCol>
              </a:tblGrid>
              <a:tr h="382560">
                <a:tc>
                  <a:txBody>
                    <a:bodyPr/>
                    <a:lstStyle/>
                    <a:p>
                      <a:pPr algn="l"/>
                      <a:r>
                        <a:rPr lang="en-US" sz="1000" dirty="0">
                          <a:solidFill>
                            <a:srgbClr val="0078D4"/>
                          </a:solidFill>
                          <a:latin typeface="+mj-lt"/>
                          <a:hlinkClick r:id="" action="ppaction://noaction">
                            <a:extLst>
                              <a:ext uri="{A12FA001-AC4F-418D-AE19-62706E023703}">
                                <ahyp:hlinkClr xmlns:ahyp="http://schemas.microsoft.com/office/drawing/2018/hyperlinkcolor" val="tx"/>
                              </a:ext>
                            </a:extLst>
                          </a:hlinkClick>
                        </a:rPr>
                        <a:t>AI &amp;</a:t>
                      </a:r>
                      <a:br>
                        <a:rPr lang="en-US" sz="1000" dirty="0">
                          <a:solidFill>
                            <a:srgbClr val="0078D4"/>
                          </a:solidFill>
                          <a:latin typeface="+mj-lt"/>
                          <a:hlinkClick r:id="" action="ppaction://noaction">
                            <a:extLst>
                              <a:ext uri="{A12FA001-AC4F-418D-AE19-62706E023703}">
                                <ahyp:hlinkClr xmlns:ahyp="http://schemas.microsoft.com/office/drawing/2018/hyperlinkcolor" val="tx"/>
                              </a:ext>
                            </a:extLst>
                          </a:hlinkClick>
                        </a:rPr>
                      </a:br>
                      <a:r>
                        <a:rPr lang="en-US" sz="1000" dirty="0">
                          <a:solidFill>
                            <a:srgbClr val="0078D4"/>
                          </a:solidFill>
                          <a:latin typeface="+mj-lt"/>
                          <a:hlinkClick r:id="" action="ppaction://noaction">
                            <a:extLst>
                              <a:ext uri="{A12FA001-AC4F-418D-AE19-62706E023703}">
                                <ahyp:hlinkClr xmlns:ahyp="http://schemas.microsoft.com/office/drawing/2018/hyperlinkcolor" val="tx"/>
                              </a:ext>
                            </a:extLst>
                          </a:hlinkClick>
                        </a:rPr>
                        <a:t>Copilot advisory</a:t>
                      </a:r>
                      <a:endParaRPr lang="en-US" sz="1000" dirty="0">
                        <a:solidFill>
                          <a:srgbClr val="0078D4"/>
                        </a:solidFill>
                        <a:latin typeface="+mj-lt"/>
                      </a:endParaRPr>
                    </a:p>
                  </a:txBody>
                  <a:tcPr anchor="b">
                    <a:lnL>
                      <a:noFill/>
                    </a:lnL>
                    <a:lnR w="9525" cap="flat" cmpd="sng" algn="ctr">
                      <a:solidFill>
                        <a:schemeClr val="bg1"/>
                      </a:solid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000" dirty="0">
                          <a:solidFill>
                            <a:srgbClr val="0078D4"/>
                          </a:solidFill>
                          <a:latin typeface="+mj-lt"/>
                          <a:hlinkClick r:id="" action="ppaction://noaction">
                            <a:extLst>
                              <a:ext uri="{A12FA001-AC4F-418D-AE19-62706E023703}">
                                <ahyp:hlinkClr xmlns:ahyp="http://schemas.microsoft.com/office/drawing/2018/hyperlinkcolor" val="tx"/>
                              </a:ext>
                            </a:extLst>
                          </a:hlinkClick>
                        </a:rPr>
                        <a:t>Get ready &amp; deploy</a:t>
                      </a:r>
                      <a:endParaRPr lang="en-US" sz="1000" dirty="0">
                        <a:solidFill>
                          <a:srgbClr val="0078D4"/>
                        </a:solidFill>
                        <a:latin typeface="+mj-lt"/>
                      </a:endParaRPr>
                    </a:p>
                  </a:txBody>
                  <a:tcPr anchor="b">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Adoption &amp; change management</a:t>
                      </a:r>
                      <a:endParaRPr lang="en-US" sz="1000">
                        <a:solidFill>
                          <a:srgbClr val="0078D4"/>
                        </a:solidFill>
                        <a:latin typeface="+mj-lt"/>
                      </a:endParaRPr>
                    </a:p>
                  </a:txBody>
                  <a:tcPr anchor="b">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000">
                          <a:solidFill>
                            <a:srgbClr val="0078D4"/>
                          </a:solidFill>
                          <a:latin typeface="+mj-lt"/>
                          <a:hlinkClick r:id="" action="ppaction://noaction">
                            <a:extLst>
                              <a:ext uri="{A12FA001-AC4F-418D-AE19-62706E023703}">
                                <ahyp:hlinkClr xmlns:ahyp="http://schemas.microsoft.com/office/drawing/2018/hyperlinkcolor" val="tx"/>
                              </a:ext>
                            </a:extLst>
                          </a:hlinkClick>
                        </a:rPr>
                        <a:t>Copilot Agents</a:t>
                      </a:r>
                      <a:endParaRPr lang="en-US" sz="1000">
                        <a:solidFill>
                          <a:srgbClr val="0078D4"/>
                        </a:solidFill>
                        <a:latin typeface="+mj-lt"/>
                      </a:endParaRPr>
                    </a:p>
                  </a:txBody>
                  <a:tcPr anchor="b">
                    <a:lnL w="9525" cap="flat" cmpd="sng" algn="ctr">
                      <a:solidFill>
                        <a:schemeClr val="bg1"/>
                      </a:solidFill>
                      <a:prstDash val="solid"/>
                      <a:round/>
                      <a:headEnd type="none" w="med" len="med"/>
                      <a:tailEnd type="none" w="med" len="med"/>
                    </a:lnL>
                    <a:lnR>
                      <a:noFill/>
                    </a:lnR>
                    <a:lnT>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20644008"/>
                  </a:ext>
                </a:extLst>
              </a:tr>
              <a:tr h="7508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000000"/>
                          </a:solidFill>
                          <a:latin typeface="+mn-lt"/>
                        </a:rPr>
                        <a:t>[Insert service value prop]</a:t>
                      </a:r>
                    </a:p>
                  </a:txBody>
                  <a:tcPr>
                    <a:lnL>
                      <a:noFill/>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rgbClr val="000000"/>
                          </a:solidFill>
                          <a:latin typeface="+mn-lt"/>
                        </a:rPr>
                        <a:t>[Insert service value prop]</a:t>
                      </a:r>
                    </a:p>
                    <a:p>
                      <a:endParaRPr lang="en-US" sz="1000" dirty="0">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000000"/>
                          </a:solidFill>
                          <a:latin typeface="+mn-lt"/>
                        </a:rPr>
                        <a:t>[Insert service value prop]</a:t>
                      </a:r>
                    </a:p>
                    <a:p>
                      <a:endParaRPr lang="en-US" sz="1000">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rgbClr val="000000"/>
                          </a:solidFill>
                          <a:latin typeface="+mn-lt"/>
                        </a:rPr>
                        <a:t>[Insert service value prop]</a:t>
                      </a:r>
                    </a:p>
                    <a:p>
                      <a:endParaRPr lang="en-US" sz="1000" dirty="0">
                        <a:latin typeface="+mn-lt"/>
                      </a:endParaRPr>
                    </a:p>
                  </a:txBody>
                  <a:tcPr>
                    <a:lnL w="9525" cap="flat" cmpd="sng" algn="ctr">
                      <a:solidFill>
                        <a:schemeClr val="bg1"/>
                      </a:solidFill>
                      <a:prstDash val="solid"/>
                      <a:round/>
                      <a:headEnd type="none" w="med" len="med"/>
                      <a:tailEnd type="none" w="med" len="med"/>
                    </a:lnL>
                    <a:lnR>
                      <a:noFill/>
                    </a:lnR>
                    <a:lnT w="9525"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008714714"/>
                  </a:ext>
                </a:extLst>
              </a:tr>
            </a:tbl>
          </a:graphicData>
        </a:graphic>
      </p:graphicFrame>
      <p:sp>
        <p:nvSpPr>
          <p:cNvPr id="130" name="Graphic 13" descr="Icon of a chart made of vertical lines with a line tracing the top of each, turning into an arrow pointing up">
            <a:extLst>
              <a:ext uri="{FF2B5EF4-FFF2-40B4-BE49-F238E27FC236}">
                <a16:creationId xmlns:a16="http://schemas.microsoft.com/office/drawing/2014/main" id="{F9C0FE1E-F991-6AE6-8D0B-00F659A401A3}"/>
              </a:ext>
            </a:extLst>
          </p:cNvPr>
          <p:cNvSpPr>
            <a:spLocks noChangeAspect="1"/>
          </p:cNvSpPr>
          <p:nvPr/>
        </p:nvSpPr>
        <p:spPr>
          <a:xfrm>
            <a:off x="5951548" y="5128934"/>
            <a:ext cx="183641" cy="193302"/>
          </a:xfrm>
          <a:custGeom>
            <a:avLst/>
            <a:gdLst>
              <a:gd name="connsiteX0" fmla="*/ 195609 w 270323"/>
              <a:gd name="connsiteY0" fmla="*/ 0 h 284545"/>
              <a:gd name="connsiteX1" fmla="*/ 260397 w 270323"/>
              <a:gd name="connsiteY1" fmla="*/ 7 h 284545"/>
              <a:gd name="connsiteX2" fmla="*/ 261824 w 270323"/>
              <a:gd name="connsiteY2" fmla="*/ 205 h 284545"/>
              <a:gd name="connsiteX3" fmla="*/ 263230 w 270323"/>
              <a:gd name="connsiteY3" fmla="*/ 598 h 284545"/>
              <a:gd name="connsiteX4" fmla="*/ 264088 w 270323"/>
              <a:gd name="connsiteY4" fmla="*/ 962 h 284545"/>
              <a:gd name="connsiteX5" fmla="*/ 267199 w 270323"/>
              <a:gd name="connsiteY5" fmla="*/ 3107 h 284545"/>
              <a:gd name="connsiteX6" fmla="*/ 267778 w 270323"/>
              <a:gd name="connsiteY6" fmla="*/ 3733 h 284545"/>
              <a:gd name="connsiteX7" fmla="*/ 268397 w 270323"/>
              <a:gd name="connsiteY7" fmla="*/ 4535 h 284545"/>
              <a:gd name="connsiteX8" fmla="*/ 269168 w 270323"/>
              <a:gd name="connsiteY8" fmla="*/ 5818 h 284545"/>
              <a:gd name="connsiteX9" fmla="*/ 269719 w 270323"/>
              <a:gd name="connsiteY9" fmla="*/ 7103 h 284545"/>
              <a:gd name="connsiteX10" fmla="*/ 269991 w 270323"/>
              <a:gd name="connsiteY10" fmla="*/ 8014 h 284545"/>
              <a:gd name="connsiteX11" fmla="*/ 270184 w 270323"/>
              <a:gd name="connsiteY11" fmla="*/ 8925 h 284545"/>
              <a:gd name="connsiteX12" fmla="*/ 270318 w 270323"/>
              <a:gd name="connsiteY12" fmla="*/ 10265 h 284545"/>
              <a:gd name="connsiteX13" fmla="*/ 270323 w 270323"/>
              <a:gd name="connsiteY13" fmla="*/ 74748 h 284545"/>
              <a:gd name="connsiteX14" fmla="*/ 259653 w 270323"/>
              <a:gd name="connsiteY14" fmla="*/ 85419 h 284545"/>
              <a:gd name="connsiteX15" fmla="*/ 249081 w 270323"/>
              <a:gd name="connsiteY15" fmla="*/ 76196 h 284545"/>
              <a:gd name="connsiteX16" fmla="*/ 248983 w 270323"/>
              <a:gd name="connsiteY16" fmla="*/ 74748 h 284545"/>
              <a:gd name="connsiteX17" fmla="*/ 248977 w 270323"/>
              <a:gd name="connsiteY17" fmla="*/ 36408 h 284545"/>
              <a:gd name="connsiteX18" fmla="*/ 157363 w 270323"/>
              <a:gd name="connsiteY18" fmla="*/ 128041 h 284545"/>
              <a:gd name="connsiteX19" fmla="*/ 143469 w 270323"/>
              <a:gd name="connsiteY19" fmla="*/ 129075 h 284545"/>
              <a:gd name="connsiteX20" fmla="*/ 142273 w 270323"/>
              <a:gd name="connsiteY20" fmla="*/ 128042 h 284545"/>
              <a:gd name="connsiteX21" fmla="*/ 99160 w 270323"/>
              <a:gd name="connsiteY21" fmla="*/ 86633 h 284545"/>
              <a:gd name="connsiteX22" fmla="*/ 18216 w 270323"/>
              <a:gd name="connsiteY22" fmla="*/ 167577 h 284545"/>
              <a:gd name="connsiteX23" fmla="*/ 3125 w 270323"/>
              <a:gd name="connsiteY23" fmla="*/ 167577 h 284545"/>
              <a:gd name="connsiteX24" fmla="*/ 2092 w 270323"/>
              <a:gd name="connsiteY24" fmla="*/ 153684 h 284545"/>
              <a:gd name="connsiteX25" fmla="*/ 3125 w 270323"/>
              <a:gd name="connsiteY25" fmla="*/ 152486 h 284545"/>
              <a:gd name="connsiteX26" fmla="*/ 91614 w 270323"/>
              <a:gd name="connsiteY26" fmla="*/ 63998 h 284545"/>
              <a:gd name="connsiteX27" fmla="*/ 105508 w 270323"/>
              <a:gd name="connsiteY27" fmla="*/ 62965 h 284545"/>
              <a:gd name="connsiteX28" fmla="*/ 106704 w 270323"/>
              <a:gd name="connsiteY28" fmla="*/ 63998 h 284545"/>
              <a:gd name="connsiteX29" fmla="*/ 149817 w 270323"/>
              <a:gd name="connsiteY29" fmla="*/ 105406 h 284545"/>
              <a:gd name="connsiteX30" fmla="*/ 233868 w 270323"/>
              <a:gd name="connsiteY30" fmla="*/ 21341 h 284545"/>
              <a:gd name="connsiteX31" fmla="*/ 195609 w 270323"/>
              <a:gd name="connsiteY31" fmla="*/ 21341 h 284545"/>
              <a:gd name="connsiteX32" fmla="*/ 185037 w 270323"/>
              <a:gd name="connsiteY32" fmla="*/ 12118 h 284545"/>
              <a:gd name="connsiteX33" fmla="*/ 184939 w 270323"/>
              <a:gd name="connsiteY33" fmla="*/ 10670 h 284545"/>
              <a:gd name="connsiteX34" fmla="*/ 194162 w 270323"/>
              <a:gd name="connsiteY34" fmla="*/ 97 h 284545"/>
              <a:gd name="connsiteX35" fmla="*/ 195609 w 270323"/>
              <a:gd name="connsiteY35" fmla="*/ 0 h 284545"/>
              <a:gd name="connsiteX36" fmla="*/ 10670 w 270323"/>
              <a:gd name="connsiteY36" fmla="*/ 213409 h 284545"/>
              <a:gd name="connsiteX37" fmla="*/ 21341 w 270323"/>
              <a:gd name="connsiteY37" fmla="*/ 224079 h 284545"/>
              <a:gd name="connsiteX38" fmla="*/ 21341 w 270323"/>
              <a:gd name="connsiteY38" fmla="*/ 273875 h 284545"/>
              <a:gd name="connsiteX39" fmla="*/ 10670 w 270323"/>
              <a:gd name="connsiteY39" fmla="*/ 284545 h 284545"/>
              <a:gd name="connsiteX40" fmla="*/ 0 w 270323"/>
              <a:gd name="connsiteY40" fmla="*/ 273875 h 284545"/>
              <a:gd name="connsiteX41" fmla="*/ 0 w 270323"/>
              <a:gd name="connsiteY41" fmla="*/ 224079 h 284545"/>
              <a:gd name="connsiteX42" fmla="*/ 10670 w 270323"/>
              <a:gd name="connsiteY42" fmla="*/ 213409 h 284545"/>
              <a:gd name="connsiteX43" fmla="*/ 92477 w 270323"/>
              <a:gd name="connsiteY43" fmla="*/ 167170 h 284545"/>
              <a:gd name="connsiteX44" fmla="*/ 81807 w 270323"/>
              <a:gd name="connsiteY44" fmla="*/ 156500 h 284545"/>
              <a:gd name="connsiteX45" fmla="*/ 71136 w 270323"/>
              <a:gd name="connsiteY45" fmla="*/ 167170 h 284545"/>
              <a:gd name="connsiteX46" fmla="*/ 71136 w 270323"/>
              <a:gd name="connsiteY46" fmla="*/ 273875 h 284545"/>
              <a:gd name="connsiteX47" fmla="*/ 81807 w 270323"/>
              <a:gd name="connsiteY47" fmla="*/ 284545 h 284545"/>
              <a:gd name="connsiteX48" fmla="*/ 92477 w 270323"/>
              <a:gd name="connsiteY48" fmla="*/ 273875 h 284545"/>
              <a:gd name="connsiteX49" fmla="*/ 92477 w 270323"/>
              <a:gd name="connsiteY49" fmla="*/ 167170 h 284545"/>
              <a:gd name="connsiteX50" fmla="*/ 152943 w 270323"/>
              <a:gd name="connsiteY50" fmla="*/ 184954 h 284545"/>
              <a:gd name="connsiteX51" fmla="*/ 163613 w 270323"/>
              <a:gd name="connsiteY51" fmla="*/ 195625 h 284545"/>
              <a:gd name="connsiteX52" fmla="*/ 163613 w 270323"/>
              <a:gd name="connsiteY52" fmla="*/ 273875 h 284545"/>
              <a:gd name="connsiteX53" fmla="*/ 152943 w 270323"/>
              <a:gd name="connsiteY53" fmla="*/ 284545 h 284545"/>
              <a:gd name="connsiteX54" fmla="*/ 142273 w 270323"/>
              <a:gd name="connsiteY54" fmla="*/ 273875 h 284545"/>
              <a:gd name="connsiteX55" fmla="*/ 142273 w 270323"/>
              <a:gd name="connsiteY55" fmla="*/ 195625 h 284545"/>
              <a:gd name="connsiteX56" fmla="*/ 152943 w 270323"/>
              <a:gd name="connsiteY56" fmla="*/ 184954 h 284545"/>
              <a:gd name="connsiteX57" fmla="*/ 234750 w 270323"/>
              <a:gd name="connsiteY57" fmla="*/ 124488 h 284545"/>
              <a:gd name="connsiteX58" fmla="*/ 224079 w 270323"/>
              <a:gd name="connsiteY58" fmla="*/ 113818 h 284545"/>
              <a:gd name="connsiteX59" fmla="*/ 213409 w 270323"/>
              <a:gd name="connsiteY59" fmla="*/ 124488 h 284545"/>
              <a:gd name="connsiteX60" fmla="*/ 213409 w 270323"/>
              <a:gd name="connsiteY60" fmla="*/ 273875 h 284545"/>
              <a:gd name="connsiteX61" fmla="*/ 224079 w 270323"/>
              <a:gd name="connsiteY61" fmla="*/ 284545 h 284545"/>
              <a:gd name="connsiteX62" fmla="*/ 234750 w 270323"/>
              <a:gd name="connsiteY62" fmla="*/ 273875 h 284545"/>
              <a:gd name="connsiteX63" fmla="*/ 234750 w 270323"/>
              <a:gd name="connsiteY63" fmla="*/ 124488 h 284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70323" h="284545">
                <a:moveTo>
                  <a:pt x="195609" y="0"/>
                </a:moveTo>
                <a:lnTo>
                  <a:pt x="260397" y="7"/>
                </a:lnTo>
                <a:lnTo>
                  <a:pt x="261824" y="205"/>
                </a:lnTo>
                <a:lnTo>
                  <a:pt x="263230" y="598"/>
                </a:lnTo>
                <a:lnTo>
                  <a:pt x="264088" y="962"/>
                </a:lnTo>
                <a:cubicBezTo>
                  <a:pt x="265214" y="1458"/>
                  <a:pt x="266270" y="2179"/>
                  <a:pt x="267199" y="3107"/>
                </a:cubicBezTo>
                <a:lnTo>
                  <a:pt x="267778" y="3733"/>
                </a:lnTo>
                <a:lnTo>
                  <a:pt x="268397" y="4535"/>
                </a:lnTo>
                <a:lnTo>
                  <a:pt x="269168" y="5818"/>
                </a:lnTo>
                <a:lnTo>
                  <a:pt x="269719" y="7103"/>
                </a:lnTo>
                <a:lnTo>
                  <a:pt x="269991" y="8014"/>
                </a:lnTo>
                <a:lnTo>
                  <a:pt x="270184" y="8925"/>
                </a:lnTo>
                <a:lnTo>
                  <a:pt x="270318" y="10265"/>
                </a:lnTo>
                <a:lnTo>
                  <a:pt x="270323" y="74748"/>
                </a:lnTo>
                <a:cubicBezTo>
                  <a:pt x="270323" y="80641"/>
                  <a:pt x="265547" y="85419"/>
                  <a:pt x="259653" y="85419"/>
                </a:cubicBezTo>
                <a:cubicBezTo>
                  <a:pt x="254252" y="85419"/>
                  <a:pt x="249788" y="81405"/>
                  <a:pt x="249081" y="76196"/>
                </a:cubicBezTo>
                <a:lnTo>
                  <a:pt x="248983" y="74748"/>
                </a:lnTo>
                <a:lnTo>
                  <a:pt x="248977" y="36408"/>
                </a:lnTo>
                <a:lnTo>
                  <a:pt x="157363" y="128041"/>
                </a:lnTo>
                <a:cubicBezTo>
                  <a:pt x="153575" y="131830"/>
                  <a:pt x="147646" y="132174"/>
                  <a:pt x="143469" y="129075"/>
                </a:cubicBezTo>
                <a:lnTo>
                  <a:pt x="142273" y="128042"/>
                </a:lnTo>
                <a:lnTo>
                  <a:pt x="99160" y="86633"/>
                </a:lnTo>
                <a:lnTo>
                  <a:pt x="18216" y="167577"/>
                </a:lnTo>
                <a:cubicBezTo>
                  <a:pt x="14049" y="171744"/>
                  <a:pt x="7292" y="171744"/>
                  <a:pt x="3125" y="167577"/>
                </a:cubicBezTo>
                <a:cubicBezTo>
                  <a:pt x="-663" y="163788"/>
                  <a:pt x="-1007" y="157861"/>
                  <a:pt x="2092" y="153684"/>
                </a:cubicBezTo>
                <a:lnTo>
                  <a:pt x="3125" y="152486"/>
                </a:lnTo>
                <a:lnTo>
                  <a:pt x="91614" y="63998"/>
                </a:lnTo>
                <a:cubicBezTo>
                  <a:pt x="95402" y="60210"/>
                  <a:pt x="101331" y="59865"/>
                  <a:pt x="105508" y="62965"/>
                </a:cubicBezTo>
                <a:lnTo>
                  <a:pt x="106704" y="63998"/>
                </a:lnTo>
                <a:lnTo>
                  <a:pt x="149817" y="105406"/>
                </a:lnTo>
                <a:lnTo>
                  <a:pt x="233868" y="21341"/>
                </a:lnTo>
                <a:lnTo>
                  <a:pt x="195609" y="21341"/>
                </a:lnTo>
                <a:cubicBezTo>
                  <a:pt x="190207" y="21341"/>
                  <a:pt x="185742" y="17327"/>
                  <a:pt x="185037" y="12118"/>
                </a:cubicBezTo>
                <a:lnTo>
                  <a:pt x="184939" y="10670"/>
                </a:lnTo>
                <a:cubicBezTo>
                  <a:pt x="184939" y="5268"/>
                  <a:pt x="188954" y="804"/>
                  <a:pt x="194162" y="97"/>
                </a:cubicBezTo>
                <a:lnTo>
                  <a:pt x="195609" y="0"/>
                </a:lnTo>
                <a:close/>
                <a:moveTo>
                  <a:pt x="10670" y="213409"/>
                </a:moveTo>
                <a:cubicBezTo>
                  <a:pt x="16564" y="213409"/>
                  <a:pt x="21341" y="218186"/>
                  <a:pt x="21341" y="224079"/>
                </a:cubicBezTo>
                <a:lnTo>
                  <a:pt x="21341" y="273875"/>
                </a:lnTo>
                <a:cubicBezTo>
                  <a:pt x="21341" y="279768"/>
                  <a:pt x="16564" y="284545"/>
                  <a:pt x="10670" y="284545"/>
                </a:cubicBezTo>
                <a:cubicBezTo>
                  <a:pt x="4777" y="284545"/>
                  <a:pt x="0" y="279768"/>
                  <a:pt x="0" y="273875"/>
                </a:cubicBezTo>
                <a:lnTo>
                  <a:pt x="0" y="224079"/>
                </a:lnTo>
                <a:cubicBezTo>
                  <a:pt x="0" y="218186"/>
                  <a:pt x="4777" y="213409"/>
                  <a:pt x="10670" y="213409"/>
                </a:cubicBezTo>
                <a:close/>
                <a:moveTo>
                  <a:pt x="92477" y="167170"/>
                </a:moveTo>
                <a:cubicBezTo>
                  <a:pt x="92477" y="161277"/>
                  <a:pt x="87700" y="156500"/>
                  <a:pt x="81807" y="156500"/>
                </a:cubicBezTo>
                <a:cubicBezTo>
                  <a:pt x="75914" y="156500"/>
                  <a:pt x="71136" y="161277"/>
                  <a:pt x="71136" y="167170"/>
                </a:cubicBezTo>
                <a:lnTo>
                  <a:pt x="71136" y="273875"/>
                </a:lnTo>
                <a:cubicBezTo>
                  <a:pt x="71136" y="279768"/>
                  <a:pt x="75914" y="284545"/>
                  <a:pt x="81807" y="284545"/>
                </a:cubicBezTo>
                <a:cubicBezTo>
                  <a:pt x="87700" y="284545"/>
                  <a:pt x="92477" y="279768"/>
                  <a:pt x="92477" y="273875"/>
                </a:cubicBezTo>
                <a:lnTo>
                  <a:pt x="92477" y="167170"/>
                </a:lnTo>
                <a:close/>
                <a:moveTo>
                  <a:pt x="152943" y="184954"/>
                </a:moveTo>
                <a:cubicBezTo>
                  <a:pt x="158836" y="184954"/>
                  <a:pt x="163613" y="189732"/>
                  <a:pt x="163613" y="195625"/>
                </a:cubicBezTo>
                <a:lnTo>
                  <a:pt x="163613" y="273875"/>
                </a:lnTo>
                <a:cubicBezTo>
                  <a:pt x="163613" y="279768"/>
                  <a:pt x="158836" y="284545"/>
                  <a:pt x="152943" y="284545"/>
                </a:cubicBezTo>
                <a:cubicBezTo>
                  <a:pt x="147050" y="284545"/>
                  <a:pt x="142273" y="279768"/>
                  <a:pt x="142273" y="273875"/>
                </a:cubicBezTo>
                <a:lnTo>
                  <a:pt x="142273" y="195625"/>
                </a:lnTo>
                <a:cubicBezTo>
                  <a:pt x="142273" y="189732"/>
                  <a:pt x="147050" y="184954"/>
                  <a:pt x="152943" y="184954"/>
                </a:cubicBezTo>
                <a:close/>
                <a:moveTo>
                  <a:pt x="234750" y="124488"/>
                </a:moveTo>
                <a:cubicBezTo>
                  <a:pt x="234750" y="118596"/>
                  <a:pt x="229972" y="113818"/>
                  <a:pt x="224079" y="113818"/>
                </a:cubicBezTo>
                <a:cubicBezTo>
                  <a:pt x="218186" y="113818"/>
                  <a:pt x="213409" y="118596"/>
                  <a:pt x="213409" y="124488"/>
                </a:cubicBezTo>
                <a:lnTo>
                  <a:pt x="213409" y="273875"/>
                </a:lnTo>
                <a:cubicBezTo>
                  <a:pt x="213409" y="279768"/>
                  <a:pt x="218186" y="284545"/>
                  <a:pt x="224079" y="284545"/>
                </a:cubicBezTo>
                <a:cubicBezTo>
                  <a:pt x="229972" y="284545"/>
                  <a:pt x="234750" y="279768"/>
                  <a:pt x="234750" y="273875"/>
                </a:cubicBezTo>
                <a:lnTo>
                  <a:pt x="234750" y="124488"/>
                </a:ln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Graphic 13" descr="Icon of a chart made of vertical lines with a line tracing the top of each, turning into an arrow pointing up">
            <a:extLst>
              <a:ext uri="{FF2B5EF4-FFF2-40B4-BE49-F238E27FC236}">
                <a16:creationId xmlns:a16="http://schemas.microsoft.com/office/drawing/2014/main" id="{FC484649-1AE3-9B79-F82F-FDE685E0906A}"/>
              </a:ext>
            </a:extLst>
          </p:cNvPr>
          <p:cNvSpPr>
            <a:spLocks noChangeAspect="1"/>
          </p:cNvSpPr>
          <p:nvPr/>
        </p:nvSpPr>
        <p:spPr>
          <a:xfrm>
            <a:off x="5946775" y="5727918"/>
            <a:ext cx="183641" cy="193302"/>
          </a:xfrm>
          <a:custGeom>
            <a:avLst/>
            <a:gdLst>
              <a:gd name="connsiteX0" fmla="*/ 195609 w 270323"/>
              <a:gd name="connsiteY0" fmla="*/ 0 h 284545"/>
              <a:gd name="connsiteX1" fmla="*/ 260397 w 270323"/>
              <a:gd name="connsiteY1" fmla="*/ 7 h 284545"/>
              <a:gd name="connsiteX2" fmla="*/ 261824 w 270323"/>
              <a:gd name="connsiteY2" fmla="*/ 205 h 284545"/>
              <a:gd name="connsiteX3" fmla="*/ 263230 w 270323"/>
              <a:gd name="connsiteY3" fmla="*/ 598 h 284545"/>
              <a:gd name="connsiteX4" fmla="*/ 264088 w 270323"/>
              <a:gd name="connsiteY4" fmla="*/ 962 h 284545"/>
              <a:gd name="connsiteX5" fmla="*/ 267199 w 270323"/>
              <a:gd name="connsiteY5" fmla="*/ 3107 h 284545"/>
              <a:gd name="connsiteX6" fmla="*/ 267778 w 270323"/>
              <a:gd name="connsiteY6" fmla="*/ 3733 h 284545"/>
              <a:gd name="connsiteX7" fmla="*/ 268397 w 270323"/>
              <a:gd name="connsiteY7" fmla="*/ 4535 h 284545"/>
              <a:gd name="connsiteX8" fmla="*/ 269168 w 270323"/>
              <a:gd name="connsiteY8" fmla="*/ 5818 h 284545"/>
              <a:gd name="connsiteX9" fmla="*/ 269719 w 270323"/>
              <a:gd name="connsiteY9" fmla="*/ 7103 h 284545"/>
              <a:gd name="connsiteX10" fmla="*/ 269991 w 270323"/>
              <a:gd name="connsiteY10" fmla="*/ 8014 h 284545"/>
              <a:gd name="connsiteX11" fmla="*/ 270184 w 270323"/>
              <a:gd name="connsiteY11" fmla="*/ 8925 h 284545"/>
              <a:gd name="connsiteX12" fmla="*/ 270318 w 270323"/>
              <a:gd name="connsiteY12" fmla="*/ 10265 h 284545"/>
              <a:gd name="connsiteX13" fmla="*/ 270323 w 270323"/>
              <a:gd name="connsiteY13" fmla="*/ 74748 h 284545"/>
              <a:gd name="connsiteX14" fmla="*/ 259653 w 270323"/>
              <a:gd name="connsiteY14" fmla="*/ 85419 h 284545"/>
              <a:gd name="connsiteX15" fmla="*/ 249081 w 270323"/>
              <a:gd name="connsiteY15" fmla="*/ 76196 h 284545"/>
              <a:gd name="connsiteX16" fmla="*/ 248983 w 270323"/>
              <a:gd name="connsiteY16" fmla="*/ 74748 h 284545"/>
              <a:gd name="connsiteX17" fmla="*/ 248977 w 270323"/>
              <a:gd name="connsiteY17" fmla="*/ 36408 h 284545"/>
              <a:gd name="connsiteX18" fmla="*/ 157363 w 270323"/>
              <a:gd name="connsiteY18" fmla="*/ 128041 h 284545"/>
              <a:gd name="connsiteX19" fmla="*/ 143469 w 270323"/>
              <a:gd name="connsiteY19" fmla="*/ 129075 h 284545"/>
              <a:gd name="connsiteX20" fmla="*/ 142273 w 270323"/>
              <a:gd name="connsiteY20" fmla="*/ 128042 h 284545"/>
              <a:gd name="connsiteX21" fmla="*/ 99160 w 270323"/>
              <a:gd name="connsiteY21" fmla="*/ 86633 h 284545"/>
              <a:gd name="connsiteX22" fmla="*/ 18216 w 270323"/>
              <a:gd name="connsiteY22" fmla="*/ 167577 h 284545"/>
              <a:gd name="connsiteX23" fmla="*/ 3125 w 270323"/>
              <a:gd name="connsiteY23" fmla="*/ 167577 h 284545"/>
              <a:gd name="connsiteX24" fmla="*/ 2092 w 270323"/>
              <a:gd name="connsiteY24" fmla="*/ 153684 h 284545"/>
              <a:gd name="connsiteX25" fmla="*/ 3125 w 270323"/>
              <a:gd name="connsiteY25" fmla="*/ 152486 h 284545"/>
              <a:gd name="connsiteX26" fmla="*/ 91614 w 270323"/>
              <a:gd name="connsiteY26" fmla="*/ 63998 h 284545"/>
              <a:gd name="connsiteX27" fmla="*/ 105508 w 270323"/>
              <a:gd name="connsiteY27" fmla="*/ 62965 h 284545"/>
              <a:gd name="connsiteX28" fmla="*/ 106704 w 270323"/>
              <a:gd name="connsiteY28" fmla="*/ 63998 h 284545"/>
              <a:gd name="connsiteX29" fmla="*/ 149817 w 270323"/>
              <a:gd name="connsiteY29" fmla="*/ 105406 h 284545"/>
              <a:gd name="connsiteX30" fmla="*/ 233868 w 270323"/>
              <a:gd name="connsiteY30" fmla="*/ 21341 h 284545"/>
              <a:gd name="connsiteX31" fmla="*/ 195609 w 270323"/>
              <a:gd name="connsiteY31" fmla="*/ 21341 h 284545"/>
              <a:gd name="connsiteX32" fmla="*/ 185037 w 270323"/>
              <a:gd name="connsiteY32" fmla="*/ 12118 h 284545"/>
              <a:gd name="connsiteX33" fmla="*/ 184939 w 270323"/>
              <a:gd name="connsiteY33" fmla="*/ 10670 h 284545"/>
              <a:gd name="connsiteX34" fmla="*/ 194162 w 270323"/>
              <a:gd name="connsiteY34" fmla="*/ 97 h 284545"/>
              <a:gd name="connsiteX35" fmla="*/ 195609 w 270323"/>
              <a:gd name="connsiteY35" fmla="*/ 0 h 284545"/>
              <a:gd name="connsiteX36" fmla="*/ 10670 w 270323"/>
              <a:gd name="connsiteY36" fmla="*/ 213409 h 284545"/>
              <a:gd name="connsiteX37" fmla="*/ 21341 w 270323"/>
              <a:gd name="connsiteY37" fmla="*/ 224079 h 284545"/>
              <a:gd name="connsiteX38" fmla="*/ 21341 w 270323"/>
              <a:gd name="connsiteY38" fmla="*/ 273875 h 284545"/>
              <a:gd name="connsiteX39" fmla="*/ 10670 w 270323"/>
              <a:gd name="connsiteY39" fmla="*/ 284545 h 284545"/>
              <a:gd name="connsiteX40" fmla="*/ 0 w 270323"/>
              <a:gd name="connsiteY40" fmla="*/ 273875 h 284545"/>
              <a:gd name="connsiteX41" fmla="*/ 0 w 270323"/>
              <a:gd name="connsiteY41" fmla="*/ 224079 h 284545"/>
              <a:gd name="connsiteX42" fmla="*/ 10670 w 270323"/>
              <a:gd name="connsiteY42" fmla="*/ 213409 h 284545"/>
              <a:gd name="connsiteX43" fmla="*/ 92477 w 270323"/>
              <a:gd name="connsiteY43" fmla="*/ 167170 h 284545"/>
              <a:gd name="connsiteX44" fmla="*/ 81807 w 270323"/>
              <a:gd name="connsiteY44" fmla="*/ 156500 h 284545"/>
              <a:gd name="connsiteX45" fmla="*/ 71136 w 270323"/>
              <a:gd name="connsiteY45" fmla="*/ 167170 h 284545"/>
              <a:gd name="connsiteX46" fmla="*/ 71136 w 270323"/>
              <a:gd name="connsiteY46" fmla="*/ 273875 h 284545"/>
              <a:gd name="connsiteX47" fmla="*/ 81807 w 270323"/>
              <a:gd name="connsiteY47" fmla="*/ 284545 h 284545"/>
              <a:gd name="connsiteX48" fmla="*/ 92477 w 270323"/>
              <a:gd name="connsiteY48" fmla="*/ 273875 h 284545"/>
              <a:gd name="connsiteX49" fmla="*/ 92477 w 270323"/>
              <a:gd name="connsiteY49" fmla="*/ 167170 h 284545"/>
              <a:gd name="connsiteX50" fmla="*/ 152943 w 270323"/>
              <a:gd name="connsiteY50" fmla="*/ 184954 h 284545"/>
              <a:gd name="connsiteX51" fmla="*/ 163613 w 270323"/>
              <a:gd name="connsiteY51" fmla="*/ 195625 h 284545"/>
              <a:gd name="connsiteX52" fmla="*/ 163613 w 270323"/>
              <a:gd name="connsiteY52" fmla="*/ 273875 h 284545"/>
              <a:gd name="connsiteX53" fmla="*/ 152943 w 270323"/>
              <a:gd name="connsiteY53" fmla="*/ 284545 h 284545"/>
              <a:gd name="connsiteX54" fmla="*/ 142273 w 270323"/>
              <a:gd name="connsiteY54" fmla="*/ 273875 h 284545"/>
              <a:gd name="connsiteX55" fmla="*/ 142273 w 270323"/>
              <a:gd name="connsiteY55" fmla="*/ 195625 h 284545"/>
              <a:gd name="connsiteX56" fmla="*/ 152943 w 270323"/>
              <a:gd name="connsiteY56" fmla="*/ 184954 h 284545"/>
              <a:gd name="connsiteX57" fmla="*/ 234750 w 270323"/>
              <a:gd name="connsiteY57" fmla="*/ 124488 h 284545"/>
              <a:gd name="connsiteX58" fmla="*/ 224079 w 270323"/>
              <a:gd name="connsiteY58" fmla="*/ 113818 h 284545"/>
              <a:gd name="connsiteX59" fmla="*/ 213409 w 270323"/>
              <a:gd name="connsiteY59" fmla="*/ 124488 h 284545"/>
              <a:gd name="connsiteX60" fmla="*/ 213409 w 270323"/>
              <a:gd name="connsiteY60" fmla="*/ 273875 h 284545"/>
              <a:gd name="connsiteX61" fmla="*/ 224079 w 270323"/>
              <a:gd name="connsiteY61" fmla="*/ 284545 h 284545"/>
              <a:gd name="connsiteX62" fmla="*/ 234750 w 270323"/>
              <a:gd name="connsiteY62" fmla="*/ 273875 h 284545"/>
              <a:gd name="connsiteX63" fmla="*/ 234750 w 270323"/>
              <a:gd name="connsiteY63" fmla="*/ 124488 h 284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70323" h="284545">
                <a:moveTo>
                  <a:pt x="195609" y="0"/>
                </a:moveTo>
                <a:lnTo>
                  <a:pt x="260397" y="7"/>
                </a:lnTo>
                <a:lnTo>
                  <a:pt x="261824" y="205"/>
                </a:lnTo>
                <a:lnTo>
                  <a:pt x="263230" y="598"/>
                </a:lnTo>
                <a:lnTo>
                  <a:pt x="264088" y="962"/>
                </a:lnTo>
                <a:cubicBezTo>
                  <a:pt x="265214" y="1458"/>
                  <a:pt x="266270" y="2179"/>
                  <a:pt x="267199" y="3107"/>
                </a:cubicBezTo>
                <a:lnTo>
                  <a:pt x="267778" y="3733"/>
                </a:lnTo>
                <a:lnTo>
                  <a:pt x="268397" y="4535"/>
                </a:lnTo>
                <a:lnTo>
                  <a:pt x="269168" y="5818"/>
                </a:lnTo>
                <a:lnTo>
                  <a:pt x="269719" y="7103"/>
                </a:lnTo>
                <a:lnTo>
                  <a:pt x="269991" y="8014"/>
                </a:lnTo>
                <a:lnTo>
                  <a:pt x="270184" y="8925"/>
                </a:lnTo>
                <a:lnTo>
                  <a:pt x="270318" y="10265"/>
                </a:lnTo>
                <a:lnTo>
                  <a:pt x="270323" y="74748"/>
                </a:lnTo>
                <a:cubicBezTo>
                  <a:pt x="270323" y="80641"/>
                  <a:pt x="265547" y="85419"/>
                  <a:pt x="259653" y="85419"/>
                </a:cubicBezTo>
                <a:cubicBezTo>
                  <a:pt x="254252" y="85419"/>
                  <a:pt x="249788" y="81405"/>
                  <a:pt x="249081" y="76196"/>
                </a:cubicBezTo>
                <a:lnTo>
                  <a:pt x="248983" y="74748"/>
                </a:lnTo>
                <a:lnTo>
                  <a:pt x="248977" y="36408"/>
                </a:lnTo>
                <a:lnTo>
                  <a:pt x="157363" y="128041"/>
                </a:lnTo>
                <a:cubicBezTo>
                  <a:pt x="153575" y="131830"/>
                  <a:pt x="147646" y="132174"/>
                  <a:pt x="143469" y="129075"/>
                </a:cubicBezTo>
                <a:lnTo>
                  <a:pt x="142273" y="128042"/>
                </a:lnTo>
                <a:lnTo>
                  <a:pt x="99160" y="86633"/>
                </a:lnTo>
                <a:lnTo>
                  <a:pt x="18216" y="167577"/>
                </a:lnTo>
                <a:cubicBezTo>
                  <a:pt x="14049" y="171744"/>
                  <a:pt x="7292" y="171744"/>
                  <a:pt x="3125" y="167577"/>
                </a:cubicBezTo>
                <a:cubicBezTo>
                  <a:pt x="-663" y="163788"/>
                  <a:pt x="-1007" y="157861"/>
                  <a:pt x="2092" y="153684"/>
                </a:cubicBezTo>
                <a:lnTo>
                  <a:pt x="3125" y="152486"/>
                </a:lnTo>
                <a:lnTo>
                  <a:pt x="91614" y="63998"/>
                </a:lnTo>
                <a:cubicBezTo>
                  <a:pt x="95402" y="60210"/>
                  <a:pt x="101331" y="59865"/>
                  <a:pt x="105508" y="62965"/>
                </a:cubicBezTo>
                <a:lnTo>
                  <a:pt x="106704" y="63998"/>
                </a:lnTo>
                <a:lnTo>
                  <a:pt x="149817" y="105406"/>
                </a:lnTo>
                <a:lnTo>
                  <a:pt x="233868" y="21341"/>
                </a:lnTo>
                <a:lnTo>
                  <a:pt x="195609" y="21341"/>
                </a:lnTo>
                <a:cubicBezTo>
                  <a:pt x="190207" y="21341"/>
                  <a:pt x="185742" y="17327"/>
                  <a:pt x="185037" y="12118"/>
                </a:cubicBezTo>
                <a:lnTo>
                  <a:pt x="184939" y="10670"/>
                </a:lnTo>
                <a:cubicBezTo>
                  <a:pt x="184939" y="5268"/>
                  <a:pt x="188954" y="804"/>
                  <a:pt x="194162" y="97"/>
                </a:cubicBezTo>
                <a:lnTo>
                  <a:pt x="195609" y="0"/>
                </a:lnTo>
                <a:close/>
                <a:moveTo>
                  <a:pt x="10670" y="213409"/>
                </a:moveTo>
                <a:cubicBezTo>
                  <a:pt x="16564" y="213409"/>
                  <a:pt x="21341" y="218186"/>
                  <a:pt x="21341" y="224079"/>
                </a:cubicBezTo>
                <a:lnTo>
                  <a:pt x="21341" y="273875"/>
                </a:lnTo>
                <a:cubicBezTo>
                  <a:pt x="21341" y="279768"/>
                  <a:pt x="16564" y="284545"/>
                  <a:pt x="10670" y="284545"/>
                </a:cubicBezTo>
                <a:cubicBezTo>
                  <a:pt x="4777" y="284545"/>
                  <a:pt x="0" y="279768"/>
                  <a:pt x="0" y="273875"/>
                </a:cubicBezTo>
                <a:lnTo>
                  <a:pt x="0" y="224079"/>
                </a:lnTo>
                <a:cubicBezTo>
                  <a:pt x="0" y="218186"/>
                  <a:pt x="4777" y="213409"/>
                  <a:pt x="10670" y="213409"/>
                </a:cubicBezTo>
                <a:close/>
                <a:moveTo>
                  <a:pt x="92477" y="167170"/>
                </a:moveTo>
                <a:cubicBezTo>
                  <a:pt x="92477" y="161277"/>
                  <a:pt x="87700" y="156500"/>
                  <a:pt x="81807" y="156500"/>
                </a:cubicBezTo>
                <a:cubicBezTo>
                  <a:pt x="75914" y="156500"/>
                  <a:pt x="71136" y="161277"/>
                  <a:pt x="71136" y="167170"/>
                </a:cubicBezTo>
                <a:lnTo>
                  <a:pt x="71136" y="273875"/>
                </a:lnTo>
                <a:cubicBezTo>
                  <a:pt x="71136" y="279768"/>
                  <a:pt x="75914" y="284545"/>
                  <a:pt x="81807" y="284545"/>
                </a:cubicBezTo>
                <a:cubicBezTo>
                  <a:pt x="87700" y="284545"/>
                  <a:pt x="92477" y="279768"/>
                  <a:pt x="92477" y="273875"/>
                </a:cubicBezTo>
                <a:lnTo>
                  <a:pt x="92477" y="167170"/>
                </a:lnTo>
                <a:close/>
                <a:moveTo>
                  <a:pt x="152943" y="184954"/>
                </a:moveTo>
                <a:cubicBezTo>
                  <a:pt x="158836" y="184954"/>
                  <a:pt x="163613" y="189732"/>
                  <a:pt x="163613" y="195625"/>
                </a:cubicBezTo>
                <a:lnTo>
                  <a:pt x="163613" y="273875"/>
                </a:lnTo>
                <a:cubicBezTo>
                  <a:pt x="163613" y="279768"/>
                  <a:pt x="158836" y="284545"/>
                  <a:pt x="152943" y="284545"/>
                </a:cubicBezTo>
                <a:cubicBezTo>
                  <a:pt x="147050" y="284545"/>
                  <a:pt x="142273" y="279768"/>
                  <a:pt x="142273" y="273875"/>
                </a:cubicBezTo>
                <a:lnTo>
                  <a:pt x="142273" y="195625"/>
                </a:lnTo>
                <a:cubicBezTo>
                  <a:pt x="142273" y="189732"/>
                  <a:pt x="147050" y="184954"/>
                  <a:pt x="152943" y="184954"/>
                </a:cubicBezTo>
                <a:close/>
                <a:moveTo>
                  <a:pt x="234750" y="124488"/>
                </a:moveTo>
                <a:cubicBezTo>
                  <a:pt x="234750" y="118596"/>
                  <a:pt x="229972" y="113818"/>
                  <a:pt x="224079" y="113818"/>
                </a:cubicBezTo>
                <a:cubicBezTo>
                  <a:pt x="218186" y="113818"/>
                  <a:pt x="213409" y="118596"/>
                  <a:pt x="213409" y="124488"/>
                </a:cubicBezTo>
                <a:lnTo>
                  <a:pt x="213409" y="273875"/>
                </a:lnTo>
                <a:cubicBezTo>
                  <a:pt x="213409" y="279768"/>
                  <a:pt x="218186" y="284545"/>
                  <a:pt x="224079" y="284545"/>
                </a:cubicBezTo>
                <a:cubicBezTo>
                  <a:pt x="229972" y="284545"/>
                  <a:pt x="234750" y="279768"/>
                  <a:pt x="234750" y="273875"/>
                </a:cubicBezTo>
                <a:lnTo>
                  <a:pt x="234750" y="124488"/>
                </a:ln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Graphic 13" descr="Icon of a chart made of vertical lines with a line tracing the top of each, turning into an arrow pointing up">
            <a:extLst>
              <a:ext uri="{FF2B5EF4-FFF2-40B4-BE49-F238E27FC236}">
                <a16:creationId xmlns:a16="http://schemas.microsoft.com/office/drawing/2014/main" id="{026D786F-FC6C-9B23-CD04-87E95AB74D91}"/>
              </a:ext>
            </a:extLst>
          </p:cNvPr>
          <p:cNvSpPr>
            <a:spLocks noChangeAspect="1"/>
          </p:cNvSpPr>
          <p:nvPr/>
        </p:nvSpPr>
        <p:spPr>
          <a:xfrm>
            <a:off x="5950163" y="4561702"/>
            <a:ext cx="183641" cy="193302"/>
          </a:xfrm>
          <a:custGeom>
            <a:avLst/>
            <a:gdLst>
              <a:gd name="connsiteX0" fmla="*/ 195609 w 270323"/>
              <a:gd name="connsiteY0" fmla="*/ 0 h 284545"/>
              <a:gd name="connsiteX1" fmla="*/ 260397 w 270323"/>
              <a:gd name="connsiteY1" fmla="*/ 7 h 284545"/>
              <a:gd name="connsiteX2" fmla="*/ 261824 w 270323"/>
              <a:gd name="connsiteY2" fmla="*/ 205 h 284545"/>
              <a:gd name="connsiteX3" fmla="*/ 263230 w 270323"/>
              <a:gd name="connsiteY3" fmla="*/ 598 h 284545"/>
              <a:gd name="connsiteX4" fmla="*/ 264088 w 270323"/>
              <a:gd name="connsiteY4" fmla="*/ 962 h 284545"/>
              <a:gd name="connsiteX5" fmla="*/ 267199 w 270323"/>
              <a:gd name="connsiteY5" fmla="*/ 3107 h 284545"/>
              <a:gd name="connsiteX6" fmla="*/ 267778 w 270323"/>
              <a:gd name="connsiteY6" fmla="*/ 3733 h 284545"/>
              <a:gd name="connsiteX7" fmla="*/ 268397 w 270323"/>
              <a:gd name="connsiteY7" fmla="*/ 4535 h 284545"/>
              <a:gd name="connsiteX8" fmla="*/ 269168 w 270323"/>
              <a:gd name="connsiteY8" fmla="*/ 5818 h 284545"/>
              <a:gd name="connsiteX9" fmla="*/ 269719 w 270323"/>
              <a:gd name="connsiteY9" fmla="*/ 7103 h 284545"/>
              <a:gd name="connsiteX10" fmla="*/ 269991 w 270323"/>
              <a:gd name="connsiteY10" fmla="*/ 8014 h 284545"/>
              <a:gd name="connsiteX11" fmla="*/ 270184 w 270323"/>
              <a:gd name="connsiteY11" fmla="*/ 8925 h 284545"/>
              <a:gd name="connsiteX12" fmla="*/ 270318 w 270323"/>
              <a:gd name="connsiteY12" fmla="*/ 10265 h 284545"/>
              <a:gd name="connsiteX13" fmla="*/ 270323 w 270323"/>
              <a:gd name="connsiteY13" fmla="*/ 74748 h 284545"/>
              <a:gd name="connsiteX14" fmla="*/ 259653 w 270323"/>
              <a:gd name="connsiteY14" fmla="*/ 85419 h 284545"/>
              <a:gd name="connsiteX15" fmla="*/ 249081 w 270323"/>
              <a:gd name="connsiteY15" fmla="*/ 76196 h 284545"/>
              <a:gd name="connsiteX16" fmla="*/ 248983 w 270323"/>
              <a:gd name="connsiteY16" fmla="*/ 74748 h 284545"/>
              <a:gd name="connsiteX17" fmla="*/ 248977 w 270323"/>
              <a:gd name="connsiteY17" fmla="*/ 36408 h 284545"/>
              <a:gd name="connsiteX18" fmla="*/ 157363 w 270323"/>
              <a:gd name="connsiteY18" fmla="*/ 128041 h 284545"/>
              <a:gd name="connsiteX19" fmla="*/ 143469 w 270323"/>
              <a:gd name="connsiteY19" fmla="*/ 129075 h 284545"/>
              <a:gd name="connsiteX20" fmla="*/ 142273 w 270323"/>
              <a:gd name="connsiteY20" fmla="*/ 128042 h 284545"/>
              <a:gd name="connsiteX21" fmla="*/ 99160 w 270323"/>
              <a:gd name="connsiteY21" fmla="*/ 86633 h 284545"/>
              <a:gd name="connsiteX22" fmla="*/ 18216 w 270323"/>
              <a:gd name="connsiteY22" fmla="*/ 167577 h 284545"/>
              <a:gd name="connsiteX23" fmla="*/ 3125 w 270323"/>
              <a:gd name="connsiteY23" fmla="*/ 167577 h 284545"/>
              <a:gd name="connsiteX24" fmla="*/ 2092 w 270323"/>
              <a:gd name="connsiteY24" fmla="*/ 153684 h 284545"/>
              <a:gd name="connsiteX25" fmla="*/ 3125 w 270323"/>
              <a:gd name="connsiteY25" fmla="*/ 152486 h 284545"/>
              <a:gd name="connsiteX26" fmla="*/ 91614 w 270323"/>
              <a:gd name="connsiteY26" fmla="*/ 63998 h 284545"/>
              <a:gd name="connsiteX27" fmla="*/ 105508 w 270323"/>
              <a:gd name="connsiteY27" fmla="*/ 62965 h 284545"/>
              <a:gd name="connsiteX28" fmla="*/ 106704 w 270323"/>
              <a:gd name="connsiteY28" fmla="*/ 63998 h 284545"/>
              <a:gd name="connsiteX29" fmla="*/ 149817 w 270323"/>
              <a:gd name="connsiteY29" fmla="*/ 105406 h 284545"/>
              <a:gd name="connsiteX30" fmla="*/ 233868 w 270323"/>
              <a:gd name="connsiteY30" fmla="*/ 21341 h 284545"/>
              <a:gd name="connsiteX31" fmla="*/ 195609 w 270323"/>
              <a:gd name="connsiteY31" fmla="*/ 21341 h 284545"/>
              <a:gd name="connsiteX32" fmla="*/ 185037 w 270323"/>
              <a:gd name="connsiteY32" fmla="*/ 12118 h 284545"/>
              <a:gd name="connsiteX33" fmla="*/ 184939 w 270323"/>
              <a:gd name="connsiteY33" fmla="*/ 10670 h 284545"/>
              <a:gd name="connsiteX34" fmla="*/ 194162 w 270323"/>
              <a:gd name="connsiteY34" fmla="*/ 97 h 284545"/>
              <a:gd name="connsiteX35" fmla="*/ 195609 w 270323"/>
              <a:gd name="connsiteY35" fmla="*/ 0 h 284545"/>
              <a:gd name="connsiteX36" fmla="*/ 10670 w 270323"/>
              <a:gd name="connsiteY36" fmla="*/ 213409 h 284545"/>
              <a:gd name="connsiteX37" fmla="*/ 21341 w 270323"/>
              <a:gd name="connsiteY37" fmla="*/ 224079 h 284545"/>
              <a:gd name="connsiteX38" fmla="*/ 21341 w 270323"/>
              <a:gd name="connsiteY38" fmla="*/ 273875 h 284545"/>
              <a:gd name="connsiteX39" fmla="*/ 10670 w 270323"/>
              <a:gd name="connsiteY39" fmla="*/ 284545 h 284545"/>
              <a:gd name="connsiteX40" fmla="*/ 0 w 270323"/>
              <a:gd name="connsiteY40" fmla="*/ 273875 h 284545"/>
              <a:gd name="connsiteX41" fmla="*/ 0 w 270323"/>
              <a:gd name="connsiteY41" fmla="*/ 224079 h 284545"/>
              <a:gd name="connsiteX42" fmla="*/ 10670 w 270323"/>
              <a:gd name="connsiteY42" fmla="*/ 213409 h 284545"/>
              <a:gd name="connsiteX43" fmla="*/ 92477 w 270323"/>
              <a:gd name="connsiteY43" fmla="*/ 167170 h 284545"/>
              <a:gd name="connsiteX44" fmla="*/ 81807 w 270323"/>
              <a:gd name="connsiteY44" fmla="*/ 156500 h 284545"/>
              <a:gd name="connsiteX45" fmla="*/ 71136 w 270323"/>
              <a:gd name="connsiteY45" fmla="*/ 167170 h 284545"/>
              <a:gd name="connsiteX46" fmla="*/ 71136 w 270323"/>
              <a:gd name="connsiteY46" fmla="*/ 273875 h 284545"/>
              <a:gd name="connsiteX47" fmla="*/ 81807 w 270323"/>
              <a:gd name="connsiteY47" fmla="*/ 284545 h 284545"/>
              <a:gd name="connsiteX48" fmla="*/ 92477 w 270323"/>
              <a:gd name="connsiteY48" fmla="*/ 273875 h 284545"/>
              <a:gd name="connsiteX49" fmla="*/ 92477 w 270323"/>
              <a:gd name="connsiteY49" fmla="*/ 167170 h 284545"/>
              <a:gd name="connsiteX50" fmla="*/ 152943 w 270323"/>
              <a:gd name="connsiteY50" fmla="*/ 184954 h 284545"/>
              <a:gd name="connsiteX51" fmla="*/ 163613 w 270323"/>
              <a:gd name="connsiteY51" fmla="*/ 195625 h 284545"/>
              <a:gd name="connsiteX52" fmla="*/ 163613 w 270323"/>
              <a:gd name="connsiteY52" fmla="*/ 273875 h 284545"/>
              <a:gd name="connsiteX53" fmla="*/ 152943 w 270323"/>
              <a:gd name="connsiteY53" fmla="*/ 284545 h 284545"/>
              <a:gd name="connsiteX54" fmla="*/ 142273 w 270323"/>
              <a:gd name="connsiteY54" fmla="*/ 273875 h 284545"/>
              <a:gd name="connsiteX55" fmla="*/ 142273 w 270323"/>
              <a:gd name="connsiteY55" fmla="*/ 195625 h 284545"/>
              <a:gd name="connsiteX56" fmla="*/ 152943 w 270323"/>
              <a:gd name="connsiteY56" fmla="*/ 184954 h 284545"/>
              <a:gd name="connsiteX57" fmla="*/ 234750 w 270323"/>
              <a:gd name="connsiteY57" fmla="*/ 124488 h 284545"/>
              <a:gd name="connsiteX58" fmla="*/ 224079 w 270323"/>
              <a:gd name="connsiteY58" fmla="*/ 113818 h 284545"/>
              <a:gd name="connsiteX59" fmla="*/ 213409 w 270323"/>
              <a:gd name="connsiteY59" fmla="*/ 124488 h 284545"/>
              <a:gd name="connsiteX60" fmla="*/ 213409 w 270323"/>
              <a:gd name="connsiteY60" fmla="*/ 273875 h 284545"/>
              <a:gd name="connsiteX61" fmla="*/ 224079 w 270323"/>
              <a:gd name="connsiteY61" fmla="*/ 284545 h 284545"/>
              <a:gd name="connsiteX62" fmla="*/ 234750 w 270323"/>
              <a:gd name="connsiteY62" fmla="*/ 273875 h 284545"/>
              <a:gd name="connsiteX63" fmla="*/ 234750 w 270323"/>
              <a:gd name="connsiteY63" fmla="*/ 124488 h 284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70323" h="284545">
                <a:moveTo>
                  <a:pt x="195609" y="0"/>
                </a:moveTo>
                <a:lnTo>
                  <a:pt x="260397" y="7"/>
                </a:lnTo>
                <a:lnTo>
                  <a:pt x="261824" y="205"/>
                </a:lnTo>
                <a:lnTo>
                  <a:pt x="263230" y="598"/>
                </a:lnTo>
                <a:lnTo>
                  <a:pt x="264088" y="962"/>
                </a:lnTo>
                <a:cubicBezTo>
                  <a:pt x="265214" y="1458"/>
                  <a:pt x="266270" y="2179"/>
                  <a:pt x="267199" y="3107"/>
                </a:cubicBezTo>
                <a:lnTo>
                  <a:pt x="267778" y="3733"/>
                </a:lnTo>
                <a:lnTo>
                  <a:pt x="268397" y="4535"/>
                </a:lnTo>
                <a:lnTo>
                  <a:pt x="269168" y="5818"/>
                </a:lnTo>
                <a:lnTo>
                  <a:pt x="269719" y="7103"/>
                </a:lnTo>
                <a:lnTo>
                  <a:pt x="269991" y="8014"/>
                </a:lnTo>
                <a:lnTo>
                  <a:pt x="270184" y="8925"/>
                </a:lnTo>
                <a:lnTo>
                  <a:pt x="270318" y="10265"/>
                </a:lnTo>
                <a:lnTo>
                  <a:pt x="270323" y="74748"/>
                </a:lnTo>
                <a:cubicBezTo>
                  <a:pt x="270323" y="80641"/>
                  <a:pt x="265547" y="85419"/>
                  <a:pt x="259653" y="85419"/>
                </a:cubicBezTo>
                <a:cubicBezTo>
                  <a:pt x="254252" y="85419"/>
                  <a:pt x="249788" y="81405"/>
                  <a:pt x="249081" y="76196"/>
                </a:cubicBezTo>
                <a:lnTo>
                  <a:pt x="248983" y="74748"/>
                </a:lnTo>
                <a:lnTo>
                  <a:pt x="248977" y="36408"/>
                </a:lnTo>
                <a:lnTo>
                  <a:pt x="157363" y="128041"/>
                </a:lnTo>
                <a:cubicBezTo>
                  <a:pt x="153575" y="131830"/>
                  <a:pt x="147646" y="132174"/>
                  <a:pt x="143469" y="129075"/>
                </a:cubicBezTo>
                <a:lnTo>
                  <a:pt x="142273" y="128042"/>
                </a:lnTo>
                <a:lnTo>
                  <a:pt x="99160" y="86633"/>
                </a:lnTo>
                <a:lnTo>
                  <a:pt x="18216" y="167577"/>
                </a:lnTo>
                <a:cubicBezTo>
                  <a:pt x="14049" y="171744"/>
                  <a:pt x="7292" y="171744"/>
                  <a:pt x="3125" y="167577"/>
                </a:cubicBezTo>
                <a:cubicBezTo>
                  <a:pt x="-663" y="163788"/>
                  <a:pt x="-1007" y="157861"/>
                  <a:pt x="2092" y="153684"/>
                </a:cubicBezTo>
                <a:lnTo>
                  <a:pt x="3125" y="152486"/>
                </a:lnTo>
                <a:lnTo>
                  <a:pt x="91614" y="63998"/>
                </a:lnTo>
                <a:cubicBezTo>
                  <a:pt x="95402" y="60210"/>
                  <a:pt x="101331" y="59865"/>
                  <a:pt x="105508" y="62965"/>
                </a:cubicBezTo>
                <a:lnTo>
                  <a:pt x="106704" y="63998"/>
                </a:lnTo>
                <a:lnTo>
                  <a:pt x="149817" y="105406"/>
                </a:lnTo>
                <a:lnTo>
                  <a:pt x="233868" y="21341"/>
                </a:lnTo>
                <a:lnTo>
                  <a:pt x="195609" y="21341"/>
                </a:lnTo>
                <a:cubicBezTo>
                  <a:pt x="190207" y="21341"/>
                  <a:pt x="185742" y="17327"/>
                  <a:pt x="185037" y="12118"/>
                </a:cubicBezTo>
                <a:lnTo>
                  <a:pt x="184939" y="10670"/>
                </a:lnTo>
                <a:cubicBezTo>
                  <a:pt x="184939" y="5268"/>
                  <a:pt x="188954" y="804"/>
                  <a:pt x="194162" y="97"/>
                </a:cubicBezTo>
                <a:lnTo>
                  <a:pt x="195609" y="0"/>
                </a:lnTo>
                <a:close/>
                <a:moveTo>
                  <a:pt x="10670" y="213409"/>
                </a:moveTo>
                <a:cubicBezTo>
                  <a:pt x="16564" y="213409"/>
                  <a:pt x="21341" y="218186"/>
                  <a:pt x="21341" y="224079"/>
                </a:cubicBezTo>
                <a:lnTo>
                  <a:pt x="21341" y="273875"/>
                </a:lnTo>
                <a:cubicBezTo>
                  <a:pt x="21341" y="279768"/>
                  <a:pt x="16564" y="284545"/>
                  <a:pt x="10670" y="284545"/>
                </a:cubicBezTo>
                <a:cubicBezTo>
                  <a:pt x="4777" y="284545"/>
                  <a:pt x="0" y="279768"/>
                  <a:pt x="0" y="273875"/>
                </a:cubicBezTo>
                <a:lnTo>
                  <a:pt x="0" y="224079"/>
                </a:lnTo>
                <a:cubicBezTo>
                  <a:pt x="0" y="218186"/>
                  <a:pt x="4777" y="213409"/>
                  <a:pt x="10670" y="213409"/>
                </a:cubicBezTo>
                <a:close/>
                <a:moveTo>
                  <a:pt x="92477" y="167170"/>
                </a:moveTo>
                <a:cubicBezTo>
                  <a:pt x="92477" y="161277"/>
                  <a:pt x="87700" y="156500"/>
                  <a:pt x="81807" y="156500"/>
                </a:cubicBezTo>
                <a:cubicBezTo>
                  <a:pt x="75914" y="156500"/>
                  <a:pt x="71136" y="161277"/>
                  <a:pt x="71136" y="167170"/>
                </a:cubicBezTo>
                <a:lnTo>
                  <a:pt x="71136" y="273875"/>
                </a:lnTo>
                <a:cubicBezTo>
                  <a:pt x="71136" y="279768"/>
                  <a:pt x="75914" y="284545"/>
                  <a:pt x="81807" y="284545"/>
                </a:cubicBezTo>
                <a:cubicBezTo>
                  <a:pt x="87700" y="284545"/>
                  <a:pt x="92477" y="279768"/>
                  <a:pt x="92477" y="273875"/>
                </a:cubicBezTo>
                <a:lnTo>
                  <a:pt x="92477" y="167170"/>
                </a:lnTo>
                <a:close/>
                <a:moveTo>
                  <a:pt x="152943" y="184954"/>
                </a:moveTo>
                <a:cubicBezTo>
                  <a:pt x="158836" y="184954"/>
                  <a:pt x="163613" y="189732"/>
                  <a:pt x="163613" y="195625"/>
                </a:cubicBezTo>
                <a:lnTo>
                  <a:pt x="163613" y="273875"/>
                </a:lnTo>
                <a:cubicBezTo>
                  <a:pt x="163613" y="279768"/>
                  <a:pt x="158836" y="284545"/>
                  <a:pt x="152943" y="284545"/>
                </a:cubicBezTo>
                <a:cubicBezTo>
                  <a:pt x="147050" y="284545"/>
                  <a:pt x="142273" y="279768"/>
                  <a:pt x="142273" y="273875"/>
                </a:cubicBezTo>
                <a:lnTo>
                  <a:pt x="142273" y="195625"/>
                </a:lnTo>
                <a:cubicBezTo>
                  <a:pt x="142273" y="189732"/>
                  <a:pt x="147050" y="184954"/>
                  <a:pt x="152943" y="184954"/>
                </a:cubicBezTo>
                <a:close/>
                <a:moveTo>
                  <a:pt x="234750" y="124488"/>
                </a:moveTo>
                <a:cubicBezTo>
                  <a:pt x="234750" y="118596"/>
                  <a:pt x="229972" y="113818"/>
                  <a:pt x="224079" y="113818"/>
                </a:cubicBezTo>
                <a:cubicBezTo>
                  <a:pt x="218186" y="113818"/>
                  <a:pt x="213409" y="118596"/>
                  <a:pt x="213409" y="124488"/>
                </a:cubicBezTo>
                <a:lnTo>
                  <a:pt x="213409" y="273875"/>
                </a:lnTo>
                <a:cubicBezTo>
                  <a:pt x="213409" y="279768"/>
                  <a:pt x="218186" y="284545"/>
                  <a:pt x="224079" y="284545"/>
                </a:cubicBezTo>
                <a:cubicBezTo>
                  <a:pt x="229972" y="284545"/>
                  <a:pt x="234750" y="279768"/>
                  <a:pt x="234750" y="273875"/>
                </a:cubicBezTo>
                <a:lnTo>
                  <a:pt x="234750" y="124488"/>
                </a:ln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Graphic 13" descr="Icon of a chart made of vertical lines with a line tracing the top of each, turning into an arrow pointing up">
            <a:extLst>
              <a:ext uri="{FF2B5EF4-FFF2-40B4-BE49-F238E27FC236}">
                <a16:creationId xmlns:a16="http://schemas.microsoft.com/office/drawing/2014/main" id="{B274A220-9E02-8210-C7DA-B241F9475CBB}"/>
              </a:ext>
            </a:extLst>
          </p:cNvPr>
          <p:cNvSpPr>
            <a:spLocks noChangeAspect="1"/>
          </p:cNvSpPr>
          <p:nvPr/>
        </p:nvSpPr>
        <p:spPr>
          <a:xfrm>
            <a:off x="5953551" y="4025124"/>
            <a:ext cx="183641" cy="193302"/>
          </a:xfrm>
          <a:custGeom>
            <a:avLst/>
            <a:gdLst>
              <a:gd name="connsiteX0" fmla="*/ 195609 w 270323"/>
              <a:gd name="connsiteY0" fmla="*/ 0 h 284545"/>
              <a:gd name="connsiteX1" fmla="*/ 260397 w 270323"/>
              <a:gd name="connsiteY1" fmla="*/ 7 h 284545"/>
              <a:gd name="connsiteX2" fmla="*/ 261824 w 270323"/>
              <a:gd name="connsiteY2" fmla="*/ 205 h 284545"/>
              <a:gd name="connsiteX3" fmla="*/ 263230 w 270323"/>
              <a:gd name="connsiteY3" fmla="*/ 598 h 284545"/>
              <a:gd name="connsiteX4" fmla="*/ 264088 w 270323"/>
              <a:gd name="connsiteY4" fmla="*/ 962 h 284545"/>
              <a:gd name="connsiteX5" fmla="*/ 267199 w 270323"/>
              <a:gd name="connsiteY5" fmla="*/ 3107 h 284545"/>
              <a:gd name="connsiteX6" fmla="*/ 267778 w 270323"/>
              <a:gd name="connsiteY6" fmla="*/ 3733 h 284545"/>
              <a:gd name="connsiteX7" fmla="*/ 268397 w 270323"/>
              <a:gd name="connsiteY7" fmla="*/ 4535 h 284545"/>
              <a:gd name="connsiteX8" fmla="*/ 269168 w 270323"/>
              <a:gd name="connsiteY8" fmla="*/ 5818 h 284545"/>
              <a:gd name="connsiteX9" fmla="*/ 269719 w 270323"/>
              <a:gd name="connsiteY9" fmla="*/ 7103 h 284545"/>
              <a:gd name="connsiteX10" fmla="*/ 269991 w 270323"/>
              <a:gd name="connsiteY10" fmla="*/ 8014 h 284545"/>
              <a:gd name="connsiteX11" fmla="*/ 270184 w 270323"/>
              <a:gd name="connsiteY11" fmla="*/ 8925 h 284545"/>
              <a:gd name="connsiteX12" fmla="*/ 270318 w 270323"/>
              <a:gd name="connsiteY12" fmla="*/ 10265 h 284545"/>
              <a:gd name="connsiteX13" fmla="*/ 270323 w 270323"/>
              <a:gd name="connsiteY13" fmla="*/ 74748 h 284545"/>
              <a:gd name="connsiteX14" fmla="*/ 259653 w 270323"/>
              <a:gd name="connsiteY14" fmla="*/ 85419 h 284545"/>
              <a:gd name="connsiteX15" fmla="*/ 249081 w 270323"/>
              <a:gd name="connsiteY15" fmla="*/ 76196 h 284545"/>
              <a:gd name="connsiteX16" fmla="*/ 248983 w 270323"/>
              <a:gd name="connsiteY16" fmla="*/ 74748 h 284545"/>
              <a:gd name="connsiteX17" fmla="*/ 248977 w 270323"/>
              <a:gd name="connsiteY17" fmla="*/ 36408 h 284545"/>
              <a:gd name="connsiteX18" fmla="*/ 157363 w 270323"/>
              <a:gd name="connsiteY18" fmla="*/ 128041 h 284545"/>
              <a:gd name="connsiteX19" fmla="*/ 143469 w 270323"/>
              <a:gd name="connsiteY19" fmla="*/ 129075 h 284545"/>
              <a:gd name="connsiteX20" fmla="*/ 142273 w 270323"/>
              <a:gd name="connsiteY20" fmla="*/ 128042 h 284545"/>
              <a:gd name="connsiteX21" fmla="*/ 99160 w 270323"/>
              <a:gd name="connsiteY21" fmla="*/ 86633 h 284545"/>
              <a:gd name="connsiteX22" fmla="*/ 18216 w 270323"/>
              <a:gd name="connsiteY22" fmla="*/ 167577 h 284545"/>
              <a:gd name="connsiteX23" fmla="*/ 3125 w 270323"/>
              <a:gd name="connsiteY23" fmla="*/ 167577 h 284545"/>
              <a:gd name="connsiteX24" fmla="*/ 2092 w 270323"/>
              <a:gd name="connsiteY24" fmla="*/ 153684 h 284545"/>
              <a:gd name="connsiteX25" fmla="*/ 3125 w 270323"/>
              <a:gd name="connsiteY25" fmla="*/ 152486 h 284545"/>
              <a:gd name="connsiteX26" fmla="*/ 91614 w 270323"/>
              <a:gd name="connsiteY26" fmla="*/ 63998 h 284545"/>
              <a:gd name="connsiteX27" fmla="*/ 105508 w 270323"/>
              <a:gd name="connsiteY27" fmla="*/ 62965 h 284545"/>
              <a:gd name="connsiteX28" fmla="*/ 106704 w 270323"/>
              <a:gd name="connsiteY28" fmla="*/ 63998 h 284545"/>
              <a:gd name="connsiteX29" fmla="*/ 149817 w 270323"/>
              <a:gd name="connsiteY29" fmla="*/ 105406 h 284545"/>
              <a:gd name="connsiteX30" fmla="*/ 233868 w 270323"/>
              <a:gd name="connsiteY30" fmla="*/ 21341 h 284545"/>
              <a:gd name="connsiteX31" fmla="*/ 195609 w 270323"/>
              <a:gd name="connsiteY31" fmla="*/ 21341 h 284545"/>
              <a:gd name="connsiteX32" fmla="*/ 185037 w 270323"/>
              <a:gd name="connsiteY32" fmla="*/ 12118 h 284545"/>
              <a:gd name="connsiteX33" fmla="*/ 184939 w 270323"/>
              <a:gd name="connsiteY33" fmla="*/ 10670 h 284545"/>
              <a:gd name="connsiteX34" fmla="*/ 194162 w 270323"/>
              <a:gd name="connsiteY34" fmla="*/ 97 h 284545"/>
              <a:gd name="connsiteX35" fmla="*/ 195609 w 270323"/>
              <a:gd name="connsiteY35" fmla="*/ 0 h 284545"/>
              <a:gd name="connsiteX36" fmla="*/ 10670 w 270323"/>
              <a:gd name="connsiteY36" fmla="*/ 213409 h 284545"/>
              <a:gd name="connsiteX37" fmla="*/ 21341 w 270323"/>
              <a:gd name="connsiteY37" fmla="*/ 224079 h 284545"/>
              <a:gd name="connsiteX38" fmla="*/ 21341 w 270323"/>
              <a:gd name="connsiteY38" fmla="*/ 273875 h 284545"/>
              <a:gd name="connsiteX39" fmla="*/ 10670 w 270323"/>
              <a:gd name="connsiteY39" fmla="*/ 284545 h 284545"/>
              <a:gd name="connsiteX40" fmla="*/ 0 w 270323"/>
              <a:gd name="connsiteY40" fmla="*/ 273875 h 284545"/>
              <a:gd name="connsiteX41" fmla="*/ 0 w 270323"/>
              <a:gd name="connsiteY41" fmla="*/ 224079 h 284545"/>
              <a:gd name="connsiteX42" fmla="*/ 10670 w 270323"/>
              <a:gd name="connsiteY42" fmla="*/ 213409 h 284545"/>
              <a:gd name="connsiteX43" fmla="*/ 92477 w 270323"/>
              <a:gd name="connsiteY43" fmla="*/ 167170 h 284545"/>
              <a:gd name="connsiteX44" fmla="*/ 81807 w 270323"/>
              <a:gd name="connsiteY44" fmla="*/ 156500 h 284545"/>
              <a:gd name="connsiteX45" fmla="*/ 71136 w 270323"/>
              <a:gd name="connsiteY45" fmla="*/ 167170 h 284545"/>
              <a:gd name="connsiteX46" fmla="*/ 71136 w 270323"/>
              <a:gd name="connsiteY46" fmla="*/ 273875 h 284545"/>
              <a:gd name="connsiteX47" fmla="*/ 81807 w 270323"/>
              <a:gd name="connsiteY47" fmla="*/ 284545 h 284545"/>
              <a:gd name="connsiteX48" fmla="*/ 92477 w 270323"/>
              <a:gd name="connsiteY48" fmla="*/ 273875 h 284545"/>
              <a:gd name="connsiteX49" fmla="*/ 92477 w 270323"/>
              <a:gd name="connsiteY49" fmla="*/ 167170 h 284545"/>
              <a:gd name="connsiteX50" fmla="*/ 152943 w 270323"/>
              <a:gd name="connsiteY50" fmla="*/ 184954 h 284545"/>
              <a:gd name="connsiteX51" fmla="*/ 163613 w 270323"/>
              <a:gd name="connsiteY51" fmla="*/ 195625 h 284545"/>
              <a:gd name="connsiteX52" fmla="*/ 163613 w 270323"/>
              <a:gd name="connsiteY52" fmla="*/ 273875 h 284545"/>
              <a:gd name="connsiteX53" fmla="*/ 152943 w 270323"/>
              <a:gd name="connsiteY53" fmla="*/ 284545 h 284545"/>
              <a:gd name="connsiteX54" fmla="*/ 142273 w 270323"/>
              <a:gd name="connsiteY54" fmla="*/ 273875 h 284545"/>
              <a:gd name="connsiteX55" fmla="*/ 142273 w 270323"/>
              <a:gd name="connsiteY55" fmla="*/ 195625 h 284545"/>
              <a:gd name="connsiteX56" fmla="*/ 152943 w 270323"/>
              <a:gd name="connsiteY56" fmla="*/ 184954 h 284545"/>
              <a:gd name="connsiteX57" fmla="*/ 234750 w 270323"/>
              <a:gd name="connsiteY57" fmla="*/ 124488 h 284545"/>
              <a:gd name="connsiteX58" fmla="*/ 224079 w 270323"/>
              <a:gd name="connsiteY58" fmla="*/ 113818 h 284545"/>
              <a:gd name="connsiteX59" fmla="*/ 213409 w 270323"/>
              <a:gd name="connsiteY59" fmla="*/ 124488 h 284545"/>
              <a:gd name="connsiteX60" fmla="*/ 213409 w 270323"/>
              <a:gd name="connsiteY60" fmla="*/ 273875 h 284545"/>
              <a:gd name="connsiteX61" fmla="*/ 224079 w 270323"/>
              <a:gd name="connsiteY61" fmla="*/ 284545 h 284545"/>
              <a:gd name="connsiteX62" fmla="*/ 234750 w 270323"/>
              <a:gd name="connsiteY62" fmla="*/ 273875 h 284545"/>
              <a:gd name="connsiteX63" fmla="*/ 234750 w 270323"/>
              <a:gd name="connsiteY63" fmla="*/ 124488 h 284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70323" h="284545">
                <a:moveTo>
                  <a:pt x="195609" y="0"/>
                </a:moveTo>
                <a:lnTo>
                  <a:pt x="260397" y="7"/>
                </a:lnTo>
                <a:lnTo>
                  <a:pt x="261824" y="205"/>
                </a:lnTo>
                <a:lnTo>
                  <a:pt x="263230" y="598"/>
                </a:lnTo>
                <a:lnTo>
                  <a:pt x="264088" y="962"/>
                </a:lnTo>
                <a:cubicBezTo>
                  <a:pt x="265214" y="1458"/>
                  <a:pt x="266270" y="2179"/>
                  <a:pt x="267199" y="3107"/>
                </a:cubicBezTo>
                <a:lnTo>
                  <a:pt x="267778" y="3733"/>
                </a:lnTo>
                <a:lnTo>
                  <a:pt x="268397" y="4535"/>
                </a:lnTo>
                <a:lnTo>
                  <a:pt x="269168" y="5818"/>
                </a:lnTo>
                <a:lnTo>
                  <a:pt x="269719" y="7103"/>
                </a:lnTo>
                <a:lnTo>
                  <a:pt x="269991" y="8014"/>
                </a:lnTo>
                <a:lnTo>
                  <a:pt x="270184" y="8925"/>
                </a:lnTo>
                <a:lnTo>
                  <a:pt x="270318" y="10265"/>
                </a:lnTo>
                <a:lnTo>
                  <a:pt x="270323" y="74748"/>
                </a:lnTo>
                <a:cubicBezTo>
                  <a:pt x="270323" y="80641"/>
                  <a:pt x="265547" y="85419"/>
                  <a:pt x="259653" y="85419"/>
                </a:cubicBezTo>
                <a:cubicBezTo>
                  <a:pt x="254252" y="85419"/>
                  <a:pt x="249788" y="81405"/>
                  <a:pt x="249081" y="76196"/>
                </a:cubicBezTo>
                <a:lnTo>
                  <a:pt x="248983" y="74748"/>
                </a:lnTo>
                <a:lnTo>
                  <a:pt x="248977" y="36408"/>
                </a:lnTo>
                <a:lnTo>
                  <a:pt x="157363" y="128041"/>
                </a:lnTo>
                <a:cubicBezTo>
                  <a:pt x="153575" y="131830"/>
                  <a:pt x="147646" y="132174"/>
                  <a:pt x="143469" y="129075"/>
                </a:cubicBezTo>
                <a:lnTo>
                  <a:pt x="142273" y="128042"/>
                </a:lnTo>
                <a:lnTo>
                  <a:pt x="99160" y="86633"/>
                </a:lnTo>
                <a:lnTo>
                  <a:pt x="18216" y="167577"/>
                </a:lnTo>
                <a:cubicBezTo>
                  <a:pt x="14049" y="171744"/>
                  <a:pt x="7292" y="171744"/>
                  <a:pt x="3125" y="167577"/>
                </a:cubicBezTo>
                <a:cubicBezTo>
                  <a:pt x="-663" y="163788"/>
                  <a:pt x="-1007" y="157861"/>
                  <a:pt x="2092" y="153684"/>
                </a:cubicBezTo>
                <a:lnTo>
                  <a:pt x="3125" y="152486"/>
                </a:lnTo>
                <a:lnTo>
                  <a:pt x="91614" y="63998"/>
                </a:lnTo>
                <a:cubicBezTo>
                  <a:pt x="95402" y="60210"/>
                  <a:pt x="101331" y="59865"/>
                  <a:pt x="105508" y="62965"/>
                </a:cubicBezTo>
                <a:lnTo>
                  <a:pt x="106704" y="63998"/>
                </a:lnTo>
                <a:lnTo>
                  <a:pt x="149817" y="105406"/>
                </a:lnTo>
                <a:lnTo>
                  <a:pt x="233868" y="21341"/>
                </a:lnTo>
                <a:lnTo>
                  <a:pt x="195609" y="21341"/>
                </a:lnTo>
                <a:cubicBezTo>
                  <a:pt x="190207" y="21341"/>
                  <a:pt x="185742" y="17327"/>
                  <a:pt x="185037" y="12118"/>
                </a:cubicBezTo>
                <a:lnTo>
                  <a:pt x="184939" y="10670"/>
                </a:lnTo>
                <a:cubicBezTo>
                  <a:pt x="184939" y="5268"/>
                  <a:pt x="188954" y="804"/>
                  <a:pt x="194162" y="97"/>
                </a:cubicBezTo>
                <a:lnTo>
                  <a:pt x="195609" y="0"/>
                </a:lnTo>
                <a:close/>
                <a:moveTo>
                  <a:pt x="10670" y="213409"/>
                </a:moveTo>
                <a:cubicBezTo>
                  <a:pt x="16564" y="213409"/>
                  <a:pt x="21341" y="218186"/>
                  <a:pt x="21341" y="224079"/>
                </a:cubicBezTo>
                <a:lnTo>
                  <a:pt x="21341" y="273875"/>
                </a:lnTo>
                <a:cubicBezTo>
                  <a:pt x="21341" y="279768"/>
                  <a:pt x="16564" y="284545"/>
                  <a:pt x="10670" y="284545"/>
                </a:cubicBezTo>
                <a:cubicBezTo>
                  <a:pt x="4777" y="284545"/>
                  <a:pt x="0" y="279768"/>
                  <a:pt x="0" y="273875"/>
                </a:cubicBezTo>
                <a:lnTo>
                  <a:pt x="0" y="224079"/>
                </a:lnTo>
                <a:cubicBezTo>
                  <a:pt x="0" y="218186"/>
                  <a:pt x="4777" y="213409"/>
                  <a:pt x="10670" y="213409"/>
                </a:cubicBezTo>
                <a:close/>
                <a:moveTo>
                  <a:pt x="92477" y="167170"/>
                </a:moveTo>
                <a:cubicBezTo>
                  <a:pt x="92477" y="161277"/>
                  <a:pt x="87700" y="156500"/>
                  <a:pt x="81807" y="156500"/>
                </a:cubicBezTo>
                <a:cubicBezTo>
                  <a:pt x="75914" y="156500"/>
                  <a:pt x="71136" y="161277"/>
                  <a:pt x="71136" y="167170"/>
                </a:cubicBezTo>
                <a:lnTo>
                  <a:pt x="71136" y="273875"/>
                </a:lnTo>
                <a:cubicBezTo>
                  <a:pt x="71136" y="279768"/>
                  <a:pt x="75914" y="284545"/>
                  <a:pt x="81807" y="284545"/>
                </a:cubicBezTo>
                <a:cubicBezTo>
                  <a:pt x="87700" y="284545"/>
                  <a:pt x="92477" y="279768"/>
                  <a:pt x="92477" y="273875"/>
                </a:cubicBezTo>
                <a:lnTo>
                  <a:pt x="92477" y="167170"/>
                </a:lnTo>
                <a:close/>
                <a:moveTo>
                  <a:pt x="152943" y="184954"/>
                </a:moveTo>
                <a:cubicBezTo>
                  <a:pt x="158836" y="184954"/>
                  <a:pt x="163613" y="189732"/>
                  <a:pt x="163613" y="195625"/>
                </a:cubicBezTo>
                <a:lnTo>
                  <a:pt x="163613" y="273875"/>
                </a:lnTo>
                <a:cubicBezTo>
                  <a:pt x="163613" y="279768"/>
                  <a:pt x="158836" y="284545"/>
                  <a:pt x="152943" y="284545"/>
                </a:cubicBezTo>
                <a:cubicBezTo>
                  <a:pt x="147050" y="284545"/>
                  <a:pt x="142273" y="279768"/>
                  <a:pt x="142273" y="273875"/>
                </a:cubicBezTo>
                <a:lnTo>
                  <a:pt x="142273" y="195625"/>
                </a:lnTo>
                <a:cubicBezTo>
                  <a:pt x="142273" y="189732"/>
                  <a:pt x="147050" y="184954"/>
                  <a:pt x="152943" y="184954"/>
                </a:cubicBezTo>
                <a:close/>
                <a:moveTo>
                  <a:pt x="234750" y="124488"/>
                </a:moveTo>
                <a:cubicBezTo>
                  <a:pt x="234750" y="118596"/>
                  <a:pt x="229972" y="113818"/>
                  <a:pt x="224079" y="113818"/>
                </a:cubicBezTo>
                <a:cubicBezTo>
                  <a:pt x="218186" y="113818"/>
                  <a:pt x="213409" y="118596"/>
                  <a:pt x="213409" y="124488"/>
                </a:cubicBezTo>
                <a:lnTo>
                  <a:pt x="213409" y="273875"/>
                </a:lnTo>
                <a:cubicBezTo>
                  <a:pt x="213409" y="279768"/>
                  <a:pt x="218186" y="284545"/>
                  <a:pt x="224079" y="284545"/>
                </a:cubicBezTo>
                <a:cubicBezTo>
                  <a:pt x="229972" y="284545"/>
                  <a:pt x="234750" y="279768"/>
                  <a:pt x="234750" y="273875"/>
                </a:cubicBezTo>
                <a:lnTo>
                  <a:pt x="234750" y="124488"/>
                </a:ln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883B2B1D-FBFA-7DD5-D9EE-22CACC0518E9}"/>
              </a:ext>
            </a:extLst>
          </p:cNvPr>
          <p:cNvSpPr txBox="1"/>
          <p:nvPr/>
        </p:nvSpPr>
        <p:spPr>
          <a:xfrm>
            <a:off x="5829300" y="6478070"/>
            <a:ext cx="2525712" cy="246221"/>
          </a:xfrm>
          <a:prstGeom prst="rect">
            <a:avLst/>
          </a:prstGeom>
          <a:noFill/>
        </p:spPr>
        <p:txBody>
          <a:bodyPr wrap="square" rtlCol="0">
            <a:spAutoFit/>
          </a:bodyPr>
          <a:lstStyle/>
          <a:p>
            <a:pPr algn="l"/>
            <a:r>
              <a:rPr lang="en-US" sz="1000" baseline="30000" dirty="0"/>
              <a:t>1 </a:t>
            </a:r>
            <a:r>
              <a:rPr lang="en-US" sz="1000" dirty="0"/>
              <a:t>Microsoft Internal Report</a:t>
            </a:r>
          </a:p>
        </p:txBody>
      </p:sp>
      <p:sp>
        <p:nvSpPr>
          <p:cNvPr id="9" name="Text Placeholder 2">
            <a:extLst>
              <a:ext uri="{FF2B5EF4-FFF2-40B4-BE49-F238E27FC236}">
                <a16:creationId xmlns:a16="http://schemas.microsoft.com/office/drawing/2014/main" id="{04CC0DB7-751E-14F6-9033-7F119ECF9697}"/>
              </a:ext>
              <a:ext uri="{C183D7F6-B498-43B3-948B-1728B52AA6E4}">
                <adec:decorative xmlns:adec="http://schemas.microsoft.com/office/drawing/2017/decorative" val="1"/>
              </a:ext>
            </a:extLst>
          </p:cNvPr>
          <p:cNvSpPr txBox="1">
            <a:spLocks/>
          </p:cNvSpPr>
          <p:nvPr/>
        </p:nvSpPr>
        <p:spPr>
          <a:xfrm>
            <a:off x="593723" y="1376685"/>
            <a:ext cx="457200" cy="457200"/>
          </a:xfrm>
          <a:prstGeom prst="ellipse">
            <a:avLst/>
          </a:prstGeom>
          <a:solidFill>
            <a:schemeClr val="bg1">
              <a:alpha val="74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640080" tIns="137160" rIns="137160" bIns="137160" numCol="1" spcCol="0" rtlCol="0" fromWordArt="0" anchor="t" anchorCtr="0" forceAA="0" compatLnSpc="1">
            <a:prstTxWarp prst="textNoShape">
              <a:avLst/>
            </a:prstTxWarp>
            <a:spAutoFit/>
          </a:bodyPr>
          <a:lstStyle>
            <a:lvl1pPr indent="0">
              <a:lnSpc>
                <a:spcPct val="100000"/>
              </a:lnSpc>
              <a:spcBef>
                <a:spcPts val="1000"/>
              </a:spcBef>
              <a:spcAft>
                <a:spcPts val="600"/>
              </a:spcAft>
              <a:buFont typeface="Arial" panose="020B0604020202020204" pitchFamily="34" charset="0"/>
              <a:buNone/>
              <a:defRPr kumimoji="0" lang="en-US" sz="1400" b="0" i="0" u="none" strike="noStrike" kern="0" cap="none" spc="0" normalizeH="0" baseline="0" smtClean="0">
                <a:ln w="3175">
                  <a:noFill/>
                </a:ln>
                <a:effectLst/>
                <a:uLnTx/>
                <a:uFillTx/>
                <a:latin typeface="+mj-lt"/>
                <a:ea typeface="Segoe UI Regular" pitchFamily="34" charset="-122"/>
                <a:cs typeface="Segoe UI" panose="020B0502040204020203" pitchFamily="34" charset="0"/>
              </a:defRPr>
            </a:lvl1pPr>
            <a:lvl2pPr marL="0" lvl="1" indent="0">
              <a:lnSpc>
                <a:spcPct val="100000"/>
              </a:lnSpc>
              <a:spcBef>
                <a:spcPts val="0"/>
              </a:spcBef>
              <a:buFont typeface="Arial" panose="020B0604020202020204" pitchFamily="34" charset="0"/>
              <a:buNone/>
              <a:defRPr lang="en-US" sz="1100" dirty="0" smtClean="0">
                <a:solidFill>
                  <a:schemeClr val="tx2"/>
                </a:solidFill>
              </a:defRPr>
            </a:lvl2pPr>
            <a:lvl3pPr marL="1200150" indent="-285750">
              <a:lnSpc>
                <a:spcPct val="100000"/>
              </a:lnSpc>
              <a:spcBef>
                <a:spcPts val="500"/>
              </a:spcBef>
              <a:buFont typeface="Arial" panose="020B0604020202020204" pitchFamily="34" charset="0"/>
              <a:buChar char="•"/>
              <a:defRPr lang="en-US" sz="1100" smtClean="0">
                <a:solidFill>
                  <a:schemeClr val="tx2"/>
                </a:solidFill>
              </a:defRPr>
            </a:lvl3pPr>
            <a:lvl4pPr marL="1657350" indent="-285750">
              <a:lnSpc>
                <a:spcPct val="100000"/>
              </a:lnSpc>
              <a:spcBef>
                <a:spcPts val="500"/>
              </a:spcBef>
              <a:buFont typeface="Arial" panose="020B0604020202020204" pitchFamily="34" charset="0"/>
              <a:buChar char="•"/>
              <a:defRPr lang="en-US" sz="1100" smtClean="0">
                <a:solidFill>
                  <a:schemeClr val="tx2"/>
                </a:solidFill>
              </a:defRPr>
            </a:lvl4pPr>
            <a:lvl5pPr marL="2114550" indent="-285750">
              <a:lnSpc>
                <a:spcPct val="100000"/>
              </a:lnSpc>
              <a:spcBef>
                <a:spcPts val="500"/>
              </a:spcBef>
              <a:buFont typeface="Arial" panose="020B0604020202020204" pitchFamily="34" charset="0"/>
              <a:buChar char="•"/>
              <a:defRPr lang="en-US">
                <a:solidFill>
                  <a:schemeClr val="tx2"/>
                </a:solidFill>
              </a:defRPr>
            </a:lvl5pPr>
            <a:lvl6pPr marL="2514600" indent="-228600">
              <a:lnSpc>
                <a:spcPct val="90000"/>
              </a:lnSpc>
              <a:spcBef>
                <a:spcPts val="500"/>
              </a:spcBef>
              <a:buFont typeface="Arial" panose="020B0604020202020204" pitchFamily="34" charset="0"/>
              <a:buChar char="•"/>
              <a:defRPr>
                <a:solidFill>
                  <a:schemeClr val="lt1"/>
                </a:solidFill>
              </a:defRPr>
            </a:lvl6pPr>
            <a:lvl7pPr marL="2971800" indent="-228600">
              <a:lnSpc>
                <a:spcPct val="90000"/>
              </a:lnSpc>
              <a:spcBef>
                <a:spcPts val="500"/>
              </a:spcBef>
              <a:buFont typeface="Arial" panose="020B0604020202020204" pitchFamily="34" charset="0"/>
              <a:buChar char="•"/>
              <a:defRPr>
                <a:solidFill>
                  <a:schemeClr val="lt1"/>
                </a:solidFill>
              </a:defRPr>
            </a:lvl7pPr>
            <a:lvl8pPr marL="3429000" indent="-228600">
              <a:lnSpc>
                <a:spcPct val="90000"/>
              </a:lnSpc>
              <a:spcBef>
                <a:spcPts val="500"/>
              </a:spcBef>
              <a:buFont typeface="Arial" panose="020B0604020202020204" pitchFamily="34" charset="0"/>
              <a:buChar char="•"/>
              <a:defRPr>
                <a:solidFill>
                  <a:schemeClr val="lt1"/>
                </a:solidFill>
              </a:defRPr>
            </a:lvl8pPr>
            <a:lvl9pPr marL="3886200" indent="-228600">
              <a:lnSpc>
                <a:spcPct val="90000"/>
              </a:lnSpc>
              <a:spcBef>
                <a:spcPts val="500"/>
              </a:spcBef>
              <a:buFont typeface="Arial" panose="020B0604020202020204" pitchFamily="34" charset="0"/>
              <a:buChar char="•"/>
              <a:defRPr>
                <a:solidFill>
                  <a:schemeClr val="lt1"/>
                </a:solidFill>
              </a:defRPr>
            </a:lvl9pPr>
          </a:lstStyle>
          <a:p>
            <a:endParaRPr lang="en-US"/>
          </a:p>
        </p:txBody>
      </p:sp>
      <p:sp>
        <p:nvSpPr>
          <p:cNvPr id="10" name="Graphic 120">
            <a:extLst>
              <a:ext uri="{FF2B5EF4-FFF2-40B4-BE49-F238E27FC236}">
                <a16:creationId xmlns:a16="http://schemas.microsoft.com/office/drawing/2014/main" id="{DCA31ACC-EE28-5828-9DA1-B9478F1EBDCE}"/>
              </a:ext>
              <a:ext uri="{C183D7F6-B498-43B3-948B-1728B52AA6E4}">
                <adec:decorative xmlns:adec="http://schemas.microsoft.com/office/drawing/2017/decorative" val="1"/>
              </a:ext>
            </a:extLst>
          </p:cNvPr>
          <p:cNvSpPr>
            <a:spLocks noChangeAspect="1"/>
          </p:cNvSpPr>
          <p:nvPr/>
        </p:nvSpPr>
        <p:spPr>
          <a:xfrm>
            <a:off x="708023" y="1490985"/>
            <a:ext cx="228600" cy="228600"/>
          </a:xfrm>
          <a:custGeom>
            <a:avLst/>
            <a:gdLst>
              <a:gd name="connsiteX0" fmla="*/ 95269 w 190538"/>
              <a:gd name="connsiteY0" fmla="*/ 0 h 190538"/>
              <a:gd name="connsiteX1" fmla="*/ 127911 w 190538"/>
              <a:gd name="connsiteY1" fmla="*/ 5734 h 190538"/>
              <a:gd name="connsiteX2" fmla="*/ 116529 w 190538"/>
              <a:gd name="connsiteY2" fmla="*/ 17107 h 190538"/>
              <a:gd name="connsiteX3" fmla="*/ 17136 w 190538"/>
              <a:gd name="connsiteY3" fmla="*/ 74002 h 190538"/>
              <a:gd name="connsiteX4" fmla="*/ 74031 w 190538"/>
              <a:gd name="connsiteY4" fmla="*/ 173395 h 190538"/>
              <a:gd name="connsiteX5" fmla="*/ 173425 w 190538"/>
              <a:gd name="connsiteY5" fmla="*/ 116500 h 190538"/>
              <a:gd name="connsiteX6" fmla="*/ 173431 w 190538"/>
              <a:gd name="connsiteY6" fmla="*/ 74028 h 190538"/>
              <a:gd name="connsiteX7" fmla="*/ 184804 w 190538"/>
              <a:gd name="connsiteY7" fmla="*/ 62655 h 190538"/>
              <a:gd name="connsiteX8" fmla="*/ 190538 w 190538"/>
              <a:gd name="connsiteY8" fmla="*/ 95269 h 190538"/>
              <a:gd name="connsiteX9" fmla="*/ 95269 w 190538"/>
              <a:gd name="connsiteY9" fmla="*/ 190538 h 190538"/>
              <a:gd name="connsiteX10" fmla="*/ 0 w 190538"/>
              <a:gd name="connsiteY10" fmla="*/ 95269 h 190538"/>
              <a:gd name="connsiteX11" fmla="*/ 95269 w 190538"/>
              <a:gd name="connsiteY11" fmla="*/ 0 h 190538"/>
              <a:gd name="connsiteX12" fmla="*/ 95269 w 190538"/>
              <a:gd name="connsiteY12" fmla="*/ 38119 h 190538"/>
              <a:gd name="connsiteX13" fmla="*/ 109576 w 190538"/>
              <a:gd name="connsiteY13" fmla="*/ 39929 h 190538"/>
              <a:gd name="connsiteX14" fmla="*/ 109576 w 190538"/>
              <a:gd name="connsiteY14" fmla="*/ 54854 h 190538"/>
              <a:gd name="connsiteX15" fmla="*/ 54872 w 190538"/>
              <a:gd name="connsiteY15" fmla="*/ 80967 h 190538"/>
              <a:gd name="connsiteX16" fmla="*/ 80983 w 190538"/>
              <a:gd name="connsiteY16" fmla="*/ 135671 h 190538"/>
              <a:gd name="connsiteX17" fmla="*/ 135688 w 190538"/>
              <a:gd name="connsiteY17" fmla="*/ 109558 h 190538"/>
              <a:gd name="connsiteX18" fmla="*/ 135693 w 190538"/>
              <a:gd name="connsiteY18" fmla="*/ 80982 h 190538"/>
              <a:gd name="connsiteX19" fmla="*/ 150619 w 190538"/>
              <a:gd name="connsiteY19" fmla="*/ 80982 h 190538"/>
              <a:gd name="connsiteX20" fmla="*/ 109571 w 190538"/>
              <a:gd name="connsiteY20" fmla="*/ 150605 h 190538"/>
              <a:gd name="connsiteX21" fmla="*/ 39948 w 190538"/>
              <a:gd name="connsiteY21" fmla="*/ 109557 h 190538"/>
              <a:gd name="connsiteX22" fmla="*/ 80996 w 190538"/>
              <a:gd name="connsiteY22" fmla="*/ 39934 h 190538"/>
              <a:gd name="connsiteX23" fmla="*/ 95288 w 190538"/>
              <a:gd name="connsiteY23" fmla="*/ 38119 h 190538"/>
              <a:gd name="connsiteX24" fmla="*/ 114319 w 190538"/>
              <a:gd name="connsiteY24" fmla="*/ 95269 h 190538"/>
              <a:gd name="connsiteX25" fmla="*/ 95263 w 190538"/>
              <a:gd name="connsiteY25" fmla="*/ 114313 h 190538"/>
              <a:gd name="connsiteX26" fmla="*/ 76219 w 190538"/>
              <a:gd name="connsiteY26" fmla="*/ 95257 h 190538"/>
              <a:gd name="connsiteX27" fmla="*/ 95275 w 190538"/>
              <a:gd name="connsiteY27" fmla="*/ 76213 h 190538"/>
              <a:gd name="connsiteX28" fmla="*/ 102727 w 190538"/>
              <a:gd name="connsiteY28" fmla="*/ 77734 h 190538"/>
              <a:gd name="connsiteX29" fmla="*/ 119110 w 190538"/>
              <a:gd name="connsiteY29" fmla="*/ 61351 h 190538"/>
              <a:gd name="connsiteX30" fmla="*/ 119101 w 190538"/>
              <a:gd name="connsiteY30" fmla="*/ 30975 h 190538"/>
              <a:gd name="connsiteX31" fmla="*/ 121196 w 190538"/>
              <a:gd name="connsiteY31" fmla="*/ 25927 h 190538"/>
              <a:gd name="connsiteX32" fmla="*/ 145009 w 190538"/>
              <a:gd name="connsiteY32" fmla="*/ 2115 h 190538"/>
              <a:gd name="connsiteX33" fmla="*/ 155112 w 190538"/>
              <a:gd name="connsiteY33" fmla="*/ 2121 h 190538"/>
              <a:gd name="connsiteX34" fmla="*/ 157201 w 190538"/>
              <a:gd name="connsiteY34" fmla="*/ 7163 h 190538"/>
              <a:gd name="connsiteX35" fmla="*/ 157201 w 190538"/>
              <a:gd name="connsiteY35" fmla="*/ 33357 h 190538"/>
              <a:gd name="connsiteX36" fmla="*/ 183394 w 190538"/>
              <a:gd name="connsiteY36" fmla="*/ 33357 h 190538"/>
              <a:gd name="connsiteX37" fmla="*/ 190531 w 190538"/>
              <a:gd name="connsiteY37" fmla="*/ 40507 h 190538"/>
              <a:gd name="connsiteX38" fmla="*/ 188443 w 190538"/>
              <a:gd name="connsiteY38" fmla="*/ 45549 h 190538"/>
              <a:gd name="connsiteX39" fmla="*/ 164630 w 190538"/>
              <a:gd name="connsiteY39" fmla="*/ 69361 h 190538"/>
              <a:gd name="connsiteX40" fmla="*/ 159582 w 190538"/>
              <a:gd name="connsiteY40" fmla="*/ 71457 h 190538"/>
              <a:gd name="connsiteX41" fmla="*/ 129197 w 190538"/>
              <a:gd name="connsiteY41" fmla="*/ 71457 h 190538"/>
              <a:gd name="connsiteX42" fmla="*/ 112814 w 190538"/>
              <a:gd name="connsiteY42" fmla="*/ 87840 h 190538"/>
              <a:gd name="connsiteX43" fmla="*/ 114319 w 190538"/>
              <a:gd name="connsiteY43" fmla="*/ 95269 h 190538"/>
              <a:gd name="connsiteX44" fmla="*/ 156620 w 190538"/>
              <a:gd name="connsiteY44" fmla="*/ 57169 h 190538"/>
              <a:gd name="connsiteX45" fmla="*/ 166145 w 190538"/>
              <a:gd name="connsiteY45" fmla="*/ 47644 h 190538"/>
              <a:gd name="connsiteX46" fmla="*/ 150047 w 190538"/>
              <a:gd name="connsiteY46" fmla="*/ 47644 h 190538"/>
              <a:gd name="connsiteX47" fmla="*/ 142904 w 190538"/>
              <a:gd name="connsiteY47" fmla="*/ 40500 h 190538"/>
              <a:gd name="connsiteX48" fmla="*/ 142904 w 190538"/>
              <a:gd name="connsiteY48" fmla="*/ 24403 h 190538"/>
              <a:gd name="connsiteX49" fmla="*/ 133388 w 190538"/>
              <a:gd name="connsiteY49" fmla="*/ 33928 h 190538"/>
              <a:gd name="connsiteX50" fmla="*/ 133388 w 190538"/>
              <a:gd name="connsiteY50" fmla="*/ 56607 h 190538"/>
              <a:gd name="connsiteX51" fmla="*/ 133960 w 190538"/>
              <a:gd name="connsiteY51" fmla="*/ 57169 h 190538"/>
              <a:gd name="connsiteX52" fmla="*/ 156629 w 190538"/>
              <a:gd name="connsiteY52" fmla="*/ 57169 h 1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90538" h="190538">
                <a:moveTo>
                  <a:pt x="95269" y="0"/>
                </a:moveTo>
                <a:cubicBezTo>
                  <a:pt x="106737" y="0"/>
                  <a:pt x="117729" y="2029"/>
                  <a:pt x="127911" y="5734"/>
                </a:cubicBezTo>
                <a:lnTo>
                  <a:pt x="116529" y="17107"/>
                </a:lnTo>
                <a:cubicBezTo>
                  <a:pt x="73371" y="5372"/>
                  <a:pt x="28871" y="30844"/>
                  <a:pt x="17136" y="74002"/>
                </a:cubicBezTo>
                <a:cubicBezTo>
                  <a:pt x="5400" y="117160"/>
                  <a:pt x="30873" y="161659"/>
                  <a:pt x="74031" y="173395"/>
                </a:cubicBezTo>
                <a:cubicBezTo>
                  <a:pt x="117189" y="185131"/>
                  <a:pt x="161689" y="159658"/>
                  <a:pt x="173425" y="116500"/>
                </a:cubicBezTo>
                <a:cubicBezTo>
                  <a:pt x="177205" y="102596"/>
                  <a:pt x="177208" y="87934"/>
                  <a:pt x="173431" y="74028"/>
                </a:cubicBezTo>
                <a:lnTo>
                  <a:pt x="184804" y="62655"/>
                </a:lnTo>
                <a:cubicBezTo>
                  <a:pt x="188608" y="73108"/>
                  <a:pt x="190549" y="84146"/>
                  <a:pt x="190538" y="95269"/>
                </a:cubicBezTo>
                <a:cubicBezTo>
                  <a:pt x="190538" y="147885"/>
                  <a:pt x="147885" y="190538"/>
                  <a:pt x="95269" y="190538"/>
                </a:cubicBezTo>
                <a:cubicBezTo>
                  <a:pt x="42653" y="190538"/>
                  <a:pt x="0" y="147885"/>
                  <a:pt x="0" y="95269"/>
                </a:cubicBezTo>
                <a:cubicBezTo>
                  <a:pt x="0" y="42653"/>
                  <a:pt x="42653" y="0"/>
                  <a:pt x="95269" y="0"/>
                </a:cubicBezTo>
                <a:close/>
                <a:moveTo>
                  <a:pt x="95269" y="38119"/>
                </a:moveTo>
                <a:cubicBezTo>
                  <a:pt x="100095" y="38117"/>
                  <a:pt x="104902" y="38725"/>
                  <a:pt x="109576" y="39929"/>
                </a:cubicBezTo>
                <a:lnTo>
                  <a:pt x="109576" y="54854"/>
                </a:lnTo>
                <a:cubicBezTo>
                  <a:pt x="87259" y="46959"/>
                  <a:pt x="62767" y="58650"/>
                  <a:pt x="54872" y="80967"/>
                </a:cubicBezTo>
                <a:cubicBezTo>
                  <a:pt x="46976" y="103283"/>
                  <a:pt x="58667" y="127775"/>
                  <a:pt x="80983" y="135671"/>
                </a:cubicBezTo>
                <a:cubicBezTo>
                  <a:pt x="103301" y="143567"/>
                  <a:pt x="127792" y="131876"/>
                  <a:pt x="135688" y="109558"/>
                </a:cubicBezTo>
                <a:cubicBezTo>
                  <a:pt x="138958" y="100313"/>
                  <a:pt x="138960" y="90227"/>
                  <a:pt x="135693" y="80982"/>
                </a:cubicBezTo>
                <a:lnTo>
                  <a:pt x="150619" y="80982"/>
                </a:lnTo>
                <a:cubicBezTo>
                  <a:pt x="158509" y="111543"/>
                  <a:pt x="140132" y="142713"/>
                  <a:pt x="109571" y="150605"/>
                </a:cubicBezTo>
                <a:cubicBezTo>
                  <a:pt x="79010" y="158495"/>
                  <a:pt x="47839" y="140118"/>
                  <a:pt x="39948" y="109557"/>
                </a:cubicBezTo>
                <a:cubicBezTo>
                  <a:pt x="32058" y="78996"/>
                  <a:pt x="50435" y="47825"/>
                  <a:pt x="80996" y="39934"/>
                </a:cubicBezTo>
                <a:cubicBezTo>
                  <a:pt x="85664" y="38728"/>
                  <a:pt x="90467" y="38119"/>
                  <a:pt x="95288" y="38119"/>
                </a:cubicBezTo>
                <a:close/>
                <a:moveTo>
                  <a:pt x="114319" y="95269"/>
                </a:moveTo>
                <a:cubicBezTo>
                  <a:pt x="114315" y="105790"/>
                  <a:pt x="105784" y="114316"/>
                  <a:pt x="95263" y="114313"/>
                </a:cubicBezTo>
                <a:cubicBezTo>
                  <a:pt x="84742" y="114310"/>
                  <a:pt x="76216" y="105778"/>
                  <a:pt x="76219" y="95257"/>
                </a:cubicBezTo>
                <a:cubicBezTo>
                  <a:pt x="76222" y="84735"/>
                  <a:pt x="84754" y="76210"/>
                  <a:pt x="95275" y="76213"/>
                </a:cubicBezTo>
                <a:cubicBezTo>
                  <a:pt x="97836" y="76214"/>
                  <a:pt x="100371" y="76731"/>
                  <a:pt x="102727" y="77734"/>
                </a:cubicBezTo>
                <a:lnTo>
                  <a:pt x="119110" y="61351"/>
                </a:lnTo>
                <a:lnTo>
                  <a:pt x="119101" y="30975"/>
                </a:lnTo>
                <a:cubicBezTo>
                  <a:pt x="119103" y="29081"/>
                  <a:pt x="119856" y="27266"/>
                  <a:pt x="121196" y="25927"/>
                </a:cubicBezTo>
                <a:lnTo>
                  <a:pt x="145009" y="2115"/>
                </a:lnTo>
                <a:cubicBezTo>
                  <a:pt x="147800" y="-674"/>
                  <a:pt x="152323" y="-671"/>
                  <a:pt x="155112" y="2121"/>
                </a:cubicBezTo>
                <a:cubicBezTo>
                  <a:pt x="156447" y="3459"/>
                  <a:pt x="157199" y="5272"/>
                  <a:pt x="157201" y="7163"/>
                </a:cubicBezTo>
                <a:lnTo>
                  <a:pt x="157201" y="33357"/>
                </a:lnTo>
                <a:lnTo>
                  <a:pt x="183394" y="33357"/>
                </a:lnTo>
                <a:cubicBezTo>
                  <a:pt x="187340" y="33360"/>
                  <a:pt x="190535" y="36561"/>
                  <a:pt x="190531" y="40507"/>
                </a:cubicBezTo>
                <a:cubicBezTo>
                  <a:pt x="190530" y="42397"/>
                  <a:pt x="189779" y="44211"/>
                  <a:pt x="188443" y="45549"/>
                </a:cubicBezTo>
                <a:lnTo>
                  <a:pt x="164630" y="69361"/>
                </a:lnTo>
                <a:cubicBezTo>
                  <a:pt x="163292" y="70701"/>
                  <a:pt x="161475" y="71455"/>
                  <a:pt x="159582" y="71457"/>
                </a:cubicBezTo>
                <a:lnTo>
                  <a:pt x="129197" y="71457"/>
                </a:lnTo>
                <a:lnTo>
                  <a:pt x="112814" y="87840"/>
                </a:lnTo>
                <a:cubicBezTo>
                  <a:pt x="113786" y="90126"/>
                  <a:pt x="114319" y="92631"/>
                  <a:pt x="114319" y="95269"/>
                </a:cubicBezTo>
                <a:close/>
                <a:moveTo>
                  <a:pt x="156620" y="57169"/>
                </a:moveTo>
                <a:lnTo>
                  <a:pt x="166145" y="47644"/>
                </a:lnTo>
                <a:lnTo>
                  <a:pt x="150047" y="47644"/>
                </a:lnTo>
                <a:cubicBezTo>
                  <a:pt x="146102" y="47644"/>
                  <a:pt x="142904" y="44446"/>
                  <a:pt x="142904" y="40500"/>
                </a:cubicBezTo>
                <a:lnTo>
                  <a:pt x="142904" y="24403"/>
                </a:lnTo>
                <a:lnTo>
                  <a:pt x="133388" y="33928"/>
                </a:lnTo>
                <a:lnTo>
                  <a:pt x="133388" y="56607"/>
                </a:lnTo>
                <a:cubicBezTo>
                  <a:pt x="133590" y="56783"/>
                  <a:pt x="133781" y="56970"/>
                  <a:pt x="133960" y="57169"/>
                </a:cubicBezTo>
                <a:lnTo>
                  <a:pt x="156629" y="57169"/>
                </a:ln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50313EA-0FBE-0CE2-D58F-A978F2EC2773}"/>
              </a:ext>
              <a:ext uri="{C183D7F6-B498-43B3-948B-1728B52AA6E4}">
                <adec:decorative xmlns:adec="http://schemas.microsoft.com/office/drawing/2017/decorative" val="1"/>
              </a:ext>
            </a:extLst>
          </p:cNvPr>
          <p:cNvGrpSpPr/>
          <p:nvPr/>
        </p:nvGrpSpPr>
        <p:grpSpPr>
          <a:xfrm>
            <a:off x="593725" y="2883620"/>
            <a:ext cx="457200" cy="457200"/>
            <a:chOff x="593725" y="2979773"/>
            <a:chExt cx="457200" cy="457200"/>
          </a:xfrm>
        </p:grpSpPr>
        <p:sp>
          <p:nvSpPr>
            <p:cNvPr id="13" name="Text Placeholder 2">
              <a:extLst>
                <a:ext uri="{FF2B5EF4-FFF2-40B4-BE49-F238E27FC236}">
                  <a16:creationId xmlns:a16="http://schemas.microsoft.com/office/drawing/2014/main" id="{210C71EB-694C-0802-F44E-9A00AFF93A09}"/>
                </a:ext>
              </a:extLst>
            </p:cNvPr>
            <p:cNvSpPr txBox="1">
              <a:spLocks/>
            </p:cNvSpPr>
            <p:nvPr/>
          </p:nvSpPr>
          <p:spPr>
            <a:xfrm>
              <a:off x="593725" y="2979773"/>
              <a:ext cx="457200" cy="457200"/>
            </a:xfrm>
            <a:prstGeom prst="ellipse">
              <a:avLst/>
            </a:prstGeom>
            <a:solidFill>
              <a:schemeClr val="bg1">
                <a:alpha val="74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640080" tIns="137160" rIns="137160" bIns="137160" numCol="1" spcCol="0" rtlCol="0" fromWordArt="0" anchor="t" anchorCtr="0" forceAA="0" compatLnSpc="1">
              <a:prstTxWarp prst="textNoShape">
                <a:avLst/>
              </a:prstTxWarp>
              <a:spAutoFit/>
            </a:bodyPr>
            <a:lstStyle>
              <a:lvl1pPr indent="0">
                <a:lnSpc>
                  <a:spcPct val="100000"/>
                </a:lnSpc>
                <a:spcBef>
                  <a:spcPts val="1000"/>
                </a:spcBef>
                <a:spcAft>
                  <a:spcPts val="600"/>
                </a:spcAft>
                <a:buFont typeface="Arial" panose="020B0604020202020204" pitchFamily="34" charset="0"/>
                <a:buNone/>
                <a:defRPr kumimoji="0" lang="en-US" sz="1400" b="0" i="0" u="none" strike="noStrike" kern="0" cap="none" spc="0" normalizeH="0" baseline="0" smtClean="0">
                  <a:ln w="3175">
                    <a:noFill/>
                  </a:ln>
                  <a:effectLst/>
                  <a:uLnTx/>
                  <a:uFillTx/>
                  <a:latin typeface="+mj-lt"/>
                  <a:ea typeface="Segoe UI Regular" pitchFamily="34" charset="-122"/>
                  <a:cs typeface="Segoe UI" panose="020B0502040204020203" pitchFamily="34" charset="0"/>
                </a:defRPr>
              </a:lvl1pPr>
              <a:lvl2pPr marL="0" lvl="1" indent="0">
                <a:lnSpc>
                  <a:spcPct val="100000"/>
                </a:lnSpc>
                <a:spcBef>
                  <a:spcPts val="0"/>
                </a:spcBef>
                <a:buFont typeface="Arial" panose="020B0604020202020204" pitchFamily="34" charset="0"/>
                <a:buNone/>
                <a:defRPr lang="en-US" sz="1100" dirty="0" smtClean="0">
                  <a:solidFill>
                    <a:schemeClr val="tx2"/>
                  </a:solidFill>
                </a:defRPr>
              </a:lvl2pPr>
              <a:lvl3pPr marL="1200150" indent="-285750">
                <a:lnSpc>
                  <a:spcPct val="100000"/>
                </a:lnSpc>
                <a:spcBef>
                  <a:spcPts val="500"/>
                </a:spcBef>
                <a:buFont typeface="Arial" panose="020B0604020202020204" pitchFamily="34" charset="0"/>
                <a:buChar char="•"/>
                <a:defRPr lang="en-US" sz="1100" smtClean="0">
                  <a:solidFill>
                    <a:schemeClr val="tx2"/>
                  </a:solidFill>
                </a:defRPr>
              </a:lvl3pPr>
              <a:lvl4pPr marL="1657350" indent="-285750">
                <a:lnSpc>
                  <a:spcPct val="100000"/>
                </a:lnSpc>
                <a:spcBef>
                  <a:spcPts val="500"/>
                </a:spcBef>
                <a:buFont typeface="Arial" panose="020B0604020202020204" pitchFamily="34" charset="0"/>
                <a:buChar char="•"/>
                <a:defRPr lang="en-US" sz="1100" smtClean="0">
                  <a:solidFill>
                    <a:schemeClr val="tx2"/>
                  </a:solidFill>
                </a:defRPr>
              </a:lvl4pPr>
              <a:lvl5pPr marL="2114550" indent="-285750">
                <a:lnSpc>
                  <a:spcPct val="100000"/>
                </a:lnSpc>
                <a:spcBef>
                  <a:spcPts val="500"/>
                </a:spcBef>
                <a:buFont typeface="Arial" panose="020B0604020202020204" pitchFamily="34" charset="0"/>
                <a:buChar char="•"/>
                <a:defRPr lang="en-US">
                  <a:solidFill>
                    <a:schemeClr val="tx2"/>
                  </a:solidFill>
                </a:defRPr>
              </a:lvl5pPr>
              <a:lvl6pPr marL="2514600" indent="-228600">
                <a:lnSpc>
                  <a:spcPct val="90000"/>
                </a:lnSpc>
                <a:spcBef>
                  <a:spcPts val="500"/>
                </a:spcBef>
                <a:buFont typeface="Arial" panose="020B0604020202020204" pitchFamily="34" charset="0"/>
                <a:buChar char="•"/>
                <a:defRPr>
                  <a:solidFill>
                    <a:schemeClr val="lt1"/>
                  </a:solidFill>
                </a:defRPr>
              </a:lvl6pPr>
              <a:lvl7pPr marL="2971800" indent="-228600">
                <a:lnSpc>
                  <a:spcPct val="90000"/>
                </a:lnSpc>
                <a:spcBef>
                  <a:spcPts val="500"/>
                </a:spcBef>
                <a:buFont typeface="Arial" panose="020B0604020202020204" pitchFamily="34" charset="0"/>
                <a:buChar char="•"/>
                <a:defRPr>
                  <a:solidFill>
                    <a:schemeClr val="lt1"/>
                  </a:solidFill>
                </a:defRPr>
              </a:lvl7pPr>
              <a:lvl8pPr marL="3429000" indent="-228600">
                <a:lnSpc>
                  <a:spcPct val="90000"/>
                </a:lnSpc>
                <a:spcBef>
                  <a:spcPts val="500"/>
                </a:spcBef>
                <a:buFont typeface="Arial" panose="020B0604020202020204" pitchFamily="34" charset="0"/>
                <a:buChar char="•"/>
                <a:defRPr>
                  <a:solidFill>
                    <a:schemeClr val="lt1"/>
                  </a:solidFill>
                </a:defRPr>
              </a:lvl8pPr>
              <a:lvl9pPr marL="3886200" indent="-228600">
                <a:lnSpc>
                  <a:spcPct val="90000"/>
                </a:lnSpc>
                <a:spcBef>
                  <a:spcPts val="500"/>
                </a:spcBef>
                <a:buFont typeface="Arial" panose="020B0604020202020204" pitchFamily="34" charset="0"/>
                <a:buChar char="•"/>
                <a:defRPr>
                  <a:solidFill>
                    <a:schemeClr val="lt1"/>
                  </a:solidFill>
                </a:defRPr>
              </a:lvl9pPr>
            </a:lstStyle>
            <a:p>
              <a:endParaRPr lang="en-US"/>
            </a:p>
          </p:txBody>
        </p:sp>
        <p:sp>
          <p:nvSpPr>
            <p:cNvPr id="16" name="Graphic 60">
              <a:extLst>
                <a:ext uri="{FF2B5EF4-FFF2-40B4-BE49-F238E27FC236}">
                  <a16:creationId xmlns:a16="http://schemas.microsoft.com/office/drawing/2014/main" id="{F1AF238F-A012-2632-9FE9-1C134C9AEF0F}"/>
                </a:ext>
                <a:ext uri="{C183D7F6-B498-43B3-948B-1728B52AA6E4}">
                  <adec:decorative xmlns:adec="http://schemas.microsoft.com/office/drawing/2017/decorative" val="1"/>
                </a:ext>
              </a:extLst>
            </p:cNvPr>
            <p:cNvSpPr>
              <a:spLocks/>
            </p:cNvSpPr>
            <p:nvPr/>
          </p:nvSpPr>
          <p:spPr>
            <a:xfrm>
              <a:off x="708023" y="3092477"/>
              <a:ext cx="228600" cy="228600"/>
            </a:xfrm>
            <a:custGeom>
              <a:avLst/>
              <a:gdLst>
                <a:gd name="connsiteX0" fmla="*/ 152400 w 304800"/>
                <a:gd name="connsiteY0" fmla="*/ 0 h 304800"/>
                <a:gd name="connsiteX1" fmla="*/ 304800 w 304800"/>
                <a:gd name="connsiteY1" fmla="*/ 152400 h 304800"/>
                <a:gd name="connsiteX2" fmla="*/ 152400 w 304800"/>
                <a:gd name="connsiteY2" fmla="*/ 304800 h 304800"/>
                <a:gd name="connsiteX3" fmla="*/ 0 w 304800"/>
                <a:gd name="connsiteY3" fmla="*/ 152400 h 304800"/>
                <a:gd name="connsiteX4" fmla="*/ 152400 w 304800"/>
                <a:gd name="connsiteY4" fmla="*/ 0 h 304800"/>
                <a:gd name="connsiteX5" fmla="*/ 152400 w 304800"/>
                <a:gd name="connsiteY5" fmla="*/ 25405 h 304800"/>
                <a:gd name="connsiteX6" fmla="*/ 25405 w 304800"/>
                <a:gd name="connsiteY6" fmla="*/ 152400 h 304800"/>
                <a:gd name="connsiteX7" fmla="*/ 152400 w 304800"/>
                <a:gd name="connsiteY7" fmla="*/ 279395 h 304800"/>
                <a:gd name="connsiteX8" fmla="*/ 279395 w 304800"/>
                <a:gd name="connsiteY8" fmla="*/ 152400 h 304800"/>
                <a:gd name="connsiteX9" fmla="*/ 152400 w 304800"/>
                <a:gd name="connsiteY9" fmla="*/ 25405 h 304800"/>
                <a:gd name="connsiteX10" fmla="*/ 152400 w 304800"/>
                <a:gd name="connsiteY10" fmla="*/ 205740 h 304800"/>
                <a:gd name="connsiteX11" fmla="*/ 167640 w 304800"/>
                <a:gd name="connsiteY11" fmla="*/ 220980 h 304800"/>
                <a:gd name="connsiteX12" fmla="*/ 152400 w 304800"/>
                <a:gd name="connsiteY12" fmla="*/ 236220 h 304800"/>
                <a:gd name="connsiteX13" fmla="*/ 137160 w 304800"/>
                <a:gd name="connsiteY13" fmla="*/ 220980 h 304800"/>
                <a:gd name="connsiteX14" fmla="*/ 152400 w 304800"/>
                <a:gd name="connsiteY14" fmla="*/ 205740 h 304800"/>
                <a:gd name="connsiteX15" fmla="*/ 152400 w 304800"/>
                <a:gd name="connsiteY15" fmla="*/ 72390 h 304800"/>
                <a:gd name="connsiteX16" fmla="*/ 194310 w 304800"/>
                <a:gd name="connsiteY16" fmla="*/ 114300 h 304800"/>
                <a:gd name="connsiteX17" fmla="*/ 178293 w 304800"/>
                <a:gd name="connsiteY17" fmla="*/ 150251 h 304800"/>
                <a:gd name="connsiteX18" fmla="*/ 175717 w 304800"/>
                <a:gd name="connsiteY18" fmla="*/ 152857 h 304800"/>
                <a:gd name="connsiteX19" fmla="*/ 163830 w 304800"/>
                <a:gd name="connsiteY19" fmla="*/ 175260 h 304800"/>
                <a:gd name="connsiteX20" fmla="*/ 152400 w 304800"/>
                <a:gd name="connsiteY20" fmla="*/ 186690 h 304800"/>
                <a:gd name="connsiteX21" fmla="*/ 140970 w 304800"/>
                <a:gd name="connsiteY21" fmla="*/ 175260 h 304800"/>
                <a:gd name="connsiteX22" fmla="*/ 156987 w 304800"/>
                <a:gd name="connsiteY22" fmla="*/ 139309 h 304800"/>
                <a:gd name="connsiteX23" fmla="*/ 159563 w 304800"/>
                <a:gd name="connsiteY23" fmla="*/ 136703 h 304800"/>
                <a:gd name="connsiteX24" fmla="*/ 171450 w 304800"/>
                <a:gd name="connsiteY24" fmla="*/ 114300 h 304800"/>
                <a:gd name="connsiteX25" fmla="*/ 152339 w 304800"/>
                <a:gd name="connsiteY25" fmla="*/ 95312 h 304800"/>
                <a:gd name="connsiteX26" fmla="*/ 133457 w 304800"/>
                <a:gd name="connsiteY26" fmla="*/ 112349 h 304800"/>
                <a:gd name="connsiteX27" fmla="*/ 133350 w 304800"/>
                <a:gd name="connsiteY27" fmla="*/ 114300 h 304800"/>
                <a:gd name="connsiteX28" fmla="*/ 121920 w 304800"/>
                <a:gd name="connsiteY28" fmla="*/ 125730 h 304800"/>
                <a:gd name="connsiteX29" fmla="*/ 110490 w 304800"/>
                <a:gd name="connsiteY29" fmla="*/ 114300 h 304800"/>
                <a:gd name="connsiteX30" fmla="*/ 152400 w 304800"/>
                <a:gd name="connsiteY30" fmla="*/ 7239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4800" h="304800">
                  <a:moveTo>
                    <a:pt x="152400" y="0"/>
                  </a:moveTo>
                  <a:cubicBezTo>
                    <a:pt x="236571" y="0"/>
                    <a:pt x="304800" y="68245"/>
                    <a:pt x="304800" y="152400"/>
                  </a:cubicBezTo>
                  <a:cubicBezTo>
                    <a:pt x="304800" y="236555"/>
                    <a:pt x="236571" y="304800"/>
                    <a:pt x="152400" y="304800"/>
                  </a:cubicBezTo>
                  <a:cubicBezTo>
                    <a:pt x="68229" y="304800"/>
                    <a:pt x="0" y="236555"/>
                    <a:pt x="0" y="152400"/>
                  </a:cubicBezTo>
                  <a:cubicBezTo>
                    <a:pt x="0" y="68245"/>
                    <a:pt x="68229" y="0"/>
                    <a:pt x="152400" y="0"/>
                  </a:cubicBezTo>
                  <a:close/>
                  <a:moveTo>
                    <a:pt x="152400" y="25405"/>
                  </a:moveTo>
                  <a:cubicBezTo>
                    <a:pt x="82372" y="25405"/>
                    <a:pt x="25405" y="82372"/>
                    <a:pt x="25405" y="152400"/>
                  </a:cubicBezTo>
                  <a:cubicBezTo>
                    <a:pt x="25405" y="222428"/>
                    <a:pt x="82372" y="279395"/>
                    <a:pt x="152400" y="279395"/>
                  </a:cubicBezTo>
                  <a:cubicBezTo>
                    <a:pt x="222428" y="279395"/>
                    <a:pt x="279395" y="222428"/>
                    <a:pt x="279395" y="152400"/>
                  </a:cubicBezTo>
                  <a:cubicBezTo>
                    <a:pt x="279395" y="82372"/>
                    <a:pt x="222428" y="25405"/>
                    <a:pt x="152400" y="25405"/>
                  </a:cubicBezTo>
                  <a:close/>
                  <a:moveTo>
                    <a:pt x="152400" y="205740"/>
                  </a:moveTo>
                  <a:cubicBezTo>
                    <a:pt x="160817" y="205740"/>
                    <a:pt x="167640" y="212563"/>
                    <a:pt x="167640" y="220980"/>
                  </a:cubicBezTo>
                  <a:cubicBezTo>
                    <a:pt x="167640" y="229397"/>
                    <a:pt x="160817" y="236220"/>
                    <a:pt x="152400" y="236220"/>
                  </a:cubicBezTo>
                  <a:cubicBezTo>
                    <a:pt x="143983" y="236220"/>
                    <a:pt x="137160" y="229397"/>
                    <a:pt x="137160" y="220980"/>
                  </a:cubicBezTo>
                  <a:cubicBezTo>
                    <a:pt x="137160" y="212563"/>
                    <a:pt x="143983" y="205740"/>
                    <a:pt x="152400" y="205740"/>
                  </a:cubicBezTo>
                  <a:close/>
                  <a:moveTo>
                    <a:pt x="152400" y="72390"/>
                  </a:moveTo>
                  <a:cubicBezTo>
                    <a:pt x="175547" y="72390"/>
                    <a:pt x="194310" y="91154"/>
                    <a:pt x="194310" y="114300"/>
                  </a:cubicBezTo>
                  <a:cubicBezTo>
                    <a:pt x="194310" y="129692"/>
                    <a:pt x="189784" y="138288"/>
                    <a:pt x="178293" y="150251"/>
                  </a:cubicBezTo>
                  <a:lnTo>
                    <a:pt x="175717" y="152857"/>
                  </a:lnTo>
                  <a:cubicBezTo>
                    <a:pt x="166238" y="162336"/>
                    <a:pt x="163830" y="166360"/>
                    <a:pt x="163830" y="175260"/>
                  </a:cubicBezTo>
                  <a:cubicBezTo>
                    <a:pt x="163830" y="181572"/>
                    <a:pt x="158712" y="186690"/>
                    <a:pt x="152400" y="186690"/>
                  </a:cubicBezTo>
                  <a:cubicBezTo>
                    <a:pt x="146088" y="186690"/>
                    <a:pt x="140970" y="181572"/>
                    <a:pt x="140970" y="175260"/>
                  </a:cubicBezTo>
                  <a:cubicBezTo>
                    <a:pt x="140970" y="159868"/>
                    <a:pt x="145496" y="151272"/>
                    <a:pt x="156987" y="139309"/>
                  </a:cubicBezTo>
                  <a:lnTo>
                    <a:pt x="159563" y="136703"/>
                  </a:lnTo>
                  <a:cubicBezTo>
                    <a:pt x="169042" y="127224"/>
                    <a:pt x="171450" y="123200"/>
                    <a:pt x="171450" y="114300"/>
                  </a:cubicBezTo>
                  <a:cubicBezTo>
                    <a:pt x="171416" y="103779"/>
                    <a:pt x="162859" y="95278"/>
                    <a:pt x="152339" y="95312"/>
                  </a:cubicBezTo>
                  <a:cubicBezTo>
                    <a:pt x="142621" y="95343"/>
                    <a:pt x="134484" y="102685"/>
                    <a:pt x="133457" y="112349"/>
                  </a:cubicBezTo>
                  <a:lnTo>
                    <a:pt x="133350" y="114300"/>
                  </a:lnTo>
                  <a:cubicBezTo>
                    <a:pt x="133350" y="120613"/>
                    <a:pt x="128232" y="125730"/>
                    <a:pt x="121920" y="125730"/>
                  </a:cubicBezTo>
                  <a:cubicBezTo>
                    <a:pt x="115607" y="125730"/>
                    <a:pt x="110490" y="120613"/>
                    <a:pt x="110490" y="114300"/>
                  </a:cubicBezTo>
                  <a:cubicBezTo>
                    <a:pt x="110490" y="91154"/>
                    <a:pt x="129253" y="72390"/>
                    <a:pt x="152400" y="72390"/>
                  </a:cubicBezTo>
                  <a:close/>
                </a:path>
              </a:pathLst>
            </a:custGeom>
            <a:gradFill flip="none" rotWithShape="1">
              <a:gsLst>
                <a:gs pos="35000">
                  <a:srgbClr val="2DB4FF"/>
                </a:gs>
                <a:gs pos="70000">
                  <a:srgbClr val="D660FF"/>
                </a:gs>
                <a:gs pos="52000">
                  <a:srgbClr val="818EFF"/>
                </a:gs>
                <a:gs pos="30000">
                  <a:srgbClr val="2DB4FF"/>
                </a:gs>
                <a:gs pos="3000">
                  <a:srgbClr val="0078D4"/>
                </a:gs>
                <a:gs pos="97000">
                  <a:srgbClr val="FEA87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1" name="Group 20">
            <a:extLst>
              <a:ext uri="{FF2B5EF4-FFF2-40B4-BE49-F238E27FC236}">
                <a16:creationId xmlns:a16="http://schemas.microsoft.com/office/drawing/2014/main" id="{16DCA7CC-E773-522C-CEED-66C5860C5796}"/>
              </a:ext>
            </a:extLst>
          </p:cNvPr>
          <p:cNvGrpSpPr/>
          <p:nvPr/>
        </p:nvGrpSpPr>
        <p:grpSpPr>
          <a:xfrm>
            <a:off x="593727" y="5080341"/>
            <a:ext cx="457200" cy="457200"/>
            <a:chOff x="593727" y="4695565"/>
            <a:chExt cx="457200" cy="457200"/>
          </a:xfrm>
        </p:grpSpPr>
        <p:sp>
          <p:nvSpPr>
            <p:cNvPr id="11" name="Text Placeholder 2">
              <a:extLst>
                <a:ext uri="{FF2B5EF4-FFF2-40B4-BE49-F238E27FC236}">
                  <a16:creationId xmlns:a16="http://schemas.microsoft.com/office/drawing/2014/main" id="{08EA73E1-6E18-9EFF-B0E4-96D57F4E2843}"/>
                </a:ext>
                <a:ext uri="{C183D7F6-B498-43B3-948B-1728B52AA6E4}">
                  <adec:decorative xmlns:adec="http://schemas.microsoft.com/office/drawing/2017/decorative" val="1"/>
                </a:ext>
              </a:extLst>
            </p:cNvPr>
            <p:cNvSpPr txBox="1">
              <a:spLocks/>
            </p:cNvSpPr>
            <p:nvPr/>
          </p:nvSpPr>
          <p:spPr>
            <a:xfrm>
              <a:off x="593727" y="4695565"/>
              <a:ext cx="457200" cy="457200"/>
            </a:xfrm>
            <a:prstGeom prst="ellipse">
              <a:avLst/>
            </a:prstGeom>
            <a:solidFill>
              <a:schemeClr val="bg1">
                <a:alpha val="74000"/>
              </a:schemeClr>
            </a:solidFill>
            <a:ln w="12700">
              <a:gradFill>
                <a:gsLst>
                  <a:gs pos="0">
                    <a:schemeClr val="bg1">
                      <a:alpha val="30000"/>
                    </a:schemeClr>
                  </a:gs>
                  <a:gs pos="100000">
                    <a:schemeClr val="bg2">
                      <a:alpha val="23000"/>
                    </a:schemeClr>
                  </a:gs>
                </a:gsLst>
                <a:lin ang="5400000" scaled="1"/>
              </a:gradFill>
            </a:ln>
            <a:effectLst>
              <a:outerShdw blurRad="406400" dist="38100" dir="2700000" algn="tl" rotWithShape="0">
                <a:prstClr val="black">
                  <a:alpha val="12000"/>
                </a:prstClr>
              </a:outerShdw>
            </a:effectLst>
          </p:spPr>
          <p:txBody>
            <a:bodyPr rot="0" spcFirstLastPara="0" vertOverflow="overflow" horzOverflow="overflow" vert="horz" wrap="square" lIns="640080" tIns="137160" rIns="137160" bIns="137160" numCol="1" spcCol="0" rtlCol="0" fromWordArt="0" anchor="t" anchorCtr="0" forceAA="0" compatLnSpc="1">
              <a:prstTxWarp prst="textNoShape">
                <a:avLst/>
              </a:prstTxWarp>
              <a:spAutoFit/>
            </a:bodyPr>
            <a:lstStyle>
              <a:lvl1pPr indent="0">
                <a:lnSpc>
                  <a:spcPct val="100000"/>
                </a:lnSpc>
                <a:spcBef>
                  <a:spcPts val="1000"/>
                </a:spcBef>
                <a:spcAft>
                  <a:spcPts val="600"/>
                </a:spcAft>
                <a:buFont typeface="Arial" panose="020B0604020202020204" pitchFamily="34" charset="0"/>
                <a:buNone/>
                <a:defRPr kumimoji="0" lang="en-US" sz="1400" b="0" i="0" u="none" strike="noStrike" kern="0" cap="none" spc="0" normalizeH="0" baseline="0" smtClean="0">
                  <a:ln w="3175">
                    <a:noFill/>
                  </a:ln>
                  <a:effectLst/>
                  <a:uLnTx/>
                  <a:uFillTx/>
                  <a:latin typeface="+mj-lt"/>
                  <a:ea typeface="Segoe UI Regular" pitchFamily="34" charset="-122"/>
                  <a:cs typeface="Segoe UI" panose="020B0502040204020203" pitchFamily="34" charset="0"/>
                </a:defRPr>
              </a:lvl1pPr>
              <a:lvl2pPr marL="0" lvl="1" indent="0">
                <a:lnSpc>
                  <a:spcPct val="100000"/>
                </a:lnSpc>
                <a:spcBef>
                  <a:spcPts val="0"/>
                </a:spcBef>
                <a:buFont typeface="Arial" panose="020B0604020202020204" pitchFamily="34" charset="0"/>
                <a:buNone/>
                <a:defRPr lang="en-US" sz="1100" dirty="0" smtClean="0">
                  <a:solidFill>
                    <a:schemeClr val="tx2"/>
                  </a:solidFill>
                </a:defRPr>
              </a:lvl2pPr>
              <a:lvl3pPr marL="1200150" indent="-285750">
                <a:lnSpc>
                  <a:spcPct val="100000"/>
                </a:lnSpc>
                <a:spcBef>
                  <a:spcPts val="500"/>
                </a:spcBef>
                <a:buFont typeface="Arial" panose="020B0604020202020204" pitchFamily="34" charset="0"/>
                <a:buChar char="•"/>
                <a:defRPr lang="en-US" sz="1100" smtClean="0">
                  <a:solidFill>
                    <a:schemeClr val="tx2"/>
                  </a:solidFill>
                </a:defRPr>
              </a:lvl3pPr>
              <a:lvl4pPr marL="1657350" indent="-285750">
                <a:lnSpc>
                  <a:spcPct val="100000"/>
                </a:lnSpc>
                <a:spcBef>
                  <a:spcPts val="500"/>
                </a:spcBef>
                <a:buFont typeface="Arial" panose="020B0604020202020204" pitchFamily="34" charset="0"/>
                <a:buChar char="•"/>
                <a:defRPr lang="en-US" sz="1100" smtClean="0">
                  <a:solidFill>
                    <a:schemeClr val="tx2"/>
                  </a:solidFill>
                </a:defRPr>
              </a:lvl4pPr>
              <a:lvl5pPr marL="2114550" indent="-285750">
                <a:lnSpc>
                  <a:spcPct val="100000"/>
                </a:lnSpc>
                <a:spcBef>
                  <a:spcPts val="500"/>
                </a:spcBef>
                <a:buFont typeface="Arial" panose="020B0604020202020204" pitchFamily="34" charset="0"/>
                <a:buChar char="•"/>
                <a:defRPr lang="en-US">
                  <a:solidFill>
                    <a:schemeClr val="tx2"/>
                  </a:solidFill>
                </a:defRPr>
              </a:lvl5pPr>
              <a:lvl6pPr marL="2514600" indent="-228600">
                <a:lnSpc>
                  <a:spcPct val="90000"/>
                </a:lnSpc>
                <a:spcBef>
                  <a:spcPts val="500"/>
                </a:spcBef>
                <a:buFont typeface="Arial" panose="020B0604020202020204" pitchFamily="34" charset="0"/>
                <a:buChar char="•"/>
                <a:defRPr>
                  <a:solidFill>
                    <a:schemeClr val="lt1"/>
                  </a:solidFill>
                </a:defRPr>
              </a:lvl6pPr>
              <a:lvl7pPr marL="2971800" indent="-228600">
                <a:lnSpc>
                  <a:spcPct val="90000"/>
                </a:lnSpc>
                <a:spcBef>
                  <a:spcPts val="500"/>
                </a:spcBef>
                <a:buFont typeface="Arial" panose="020B0604020202020204" pitchFamily="34" charset="0"/>
                <a:buChar char="•"/>
                <a:defRPr>
                  <a:solidFill>
                    <a:schemeClr val="lt1"/>
                  </a:solidFill>
                </a:defRPr>
              </a:lvl7pPr>
              <a:lvl8pPr marL="3429000" indent="-228600">
                <a:lnSpc>
                  <a:spcPct val="90000"/>
                </a:lnSpc>
                <a:spcBef>
                  <a:spcPts val="500"/>
                </a:spcBef>
                <a:buFont typeface="Arial" panose="020B0604020202020204" pitchFamily="34" charset="0"/>
                <a:buChar char="•"/>
                <a:defRPr>
                  <a:solidFill>
                    <a:schemeClr val="lt1"/>
                  </a:solidFill>
                </a:defRPr>
              </a:lvl8pPr>
              <a:lvl9pPr marL="3886200" indent="-228600">
                <a:lnSpc>
                  <a:spcPct val="90000"/>
                </a:lnSpc>
                <a:spcBef>
                  <a:spcPts val="500"/>
                </a:spcBef>
                <a:buFont typeface="Arial" panose="020B0604020202020204" pitchFamily="34" charset="0"/>
                <a:buChar char="•"/>
                <a:defRPr>
                  <a:solidFill>
                    <a:schemeClr val="lt1"/>
                  </a:solidFill>
                </a:defRPr>
              </a:lvl9pPr>
            </a:lstStyle>
            <a:p>
              <a:endParaRPr lang="en-US"/>
            </a:p>
          </p:txBody>
        </p:sp>
        <p:sp>
          <p:nvSpPr>
            <p:cNvPr id="19" name="arrow_16">
              <a:extLst>
                <a:ext uri="{FF2B5EF4-FFF2-40B4-BE49-F238E27FC236}">
                  <a16:creationId xmlns:a16="http://schemas.microsoft.com/office/drawing/2014/main" id="{69B976B0-145C-23AC-E0EF-73B03202EF12}"/>
                </a:ext>
                <a:ext uri="{C183D7F6-B498-43B3-948B-1728B52AA6E4}">
                  <adec:decorative xmlns:adec="http://schemas.microsoft.com/office/drawing/2017/decorative" val="1"/>
                </a:ext>
              </a:extLst>
            </p:cNvPr>
            <p:cNvSpPr>
              <a:spLocks noChangeAspect="1" noEditPoints="1"/>
            </p:cNvSpPr>
            <p:nvPr/>
          </p:nvSpPr>
          <p:spPr bwMode="auto">
            <a:xfrm>
              <a:off x="708023" y="4839920"/>
              <a:ext cx="228600" cy="168490"/>
            </a:xfrm>
            <a:custGeom>
              <a:avLst/>
              <a:gdLst>
                <a:gd name="T0" fmla="*/ 347 w 347"/>
                <a:gd name="T1" fmla="*/ 206 h 254"/>
                <a:gd name="T2" fmla="*/ 182 w 347"/>
                <a:gd name="T3" fmla="*/ 151 h 254"/>
                <a:gd name="T4" fmla="*/ 135 w 347"/>
                <a:gd name="T5" fmla="*/ 101 h 254"/>
                <a:gd name="T6" fmla="*/ 0 w 347"/>
                <a:gd name="T7" fmla="*/ 47 h 254"/>
                <a:gd name="T8" fmla="*/ 347 w 347"/>
                <a:gd name="T9" fmla="*/ 48 h 254"/>
                <a:gd name="T10" fmla="*/ 158 w 347"/>
                <a:gd name="T11" fmla="*/ 130 h 254"/>
                <a:gd name="T12" fmla="*/ 0 w 347"/>
                <a:gd name="T13" fmla="*/ 207 h 254"/>
                <a:gd name="T14" fmla="*/ 299 w 347"/>
                <a:gd name="T15" fmla="*/ 95 h 254"/>
                <a:gd name="T16" fmla="*/ 347 w 347"/>
                <a:gd name="T17" fmla="*/ 48 h 254"/>
                <a:gd name="T18" fmla="*/ 299 w 347"/>
                <a:gd name="T19" fmla="*/ 0 h 254"/>
                <a:gd name="T20" fmla="*/ 299 w 347"/>
                <a:gd name="T21" fmla="*/ 254 h 254"/>
                <a:gd name="T22" fmla="*/ 347 w 347"/>
                <a:gd name="T23" fmla="*/ 206 h 254"/>
                <a:gd name="T24" fmla="*/ 299 w 347"/>
                <a:gd name="T25" fmla="*/ 158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7" h="254">
                  <a:moveTo>
                    <a:pt x="347" y="206"/>
                  </a:moveTo>
                  <a:cubicBezTo>
                    <a:pt x="258" y="212"/>
                    <a:pt x="213" y="183"/>
                    <a:pt x="182" y="151"/>
                  </a:cubicBezTo>
                  <a:moveTo>
                    <a:pt x="135" y="101"/>
                  </a:moveTo>
                  <a:cubicBezTo>
                    <a:pt x="74" y="47"/>
                    <a:pt x="0" y="47"/>
                    <a:pt x="0" y="47"/>
                  </a:cubicBezTo>
                  <a:moveTo>
                    <a:pt x="347" y="48"/>
                  </a:moveTo>
                  <a:cubicBezTo>
                    <a:pt x="232" y="41"/>
                    <a:pt x="190" y="91"/>
                    <a:pt x="158" y="130"/>
                  </a:cubicBezTo>
                  <a:cubicBezTo>
                    <a:pt x="94" y="207"/>
                    <a:pt x="0" y="207"/>
                    <a:pt x="0" y="207"/>
                  </a:cubicBezTo>
                  <a:moveTo>
                    <a:pt x="299" y="95"/>
                  </a:moveTo>
                  <a:cubicBezTo>
                    <a:pt x="347" y="48"/>
                    <a:pt x="347" y="48"/>
                    <a:pt x="347" y="48"/>
                  </a:cubicBezTo>
                  <a:cubicBezTo>
                    <a:pt x="299" y="0"/>
                    <a:pt x="299" y="0"/>
                    <a:pt x="299" y="0"/>
                  </a:cubicBezTo>
                  <a:moveTo>
                    <a:pt x="299" y="254"/>
                  </a:moveTo>
                  <a:cubicBezTo>
                    <a:pt x="347" y="206"/>
                    <a:pt x="347" y="206"/>
                    <a:pt x="347" y="206"/>
                  </a:cubicBezTo>
                  <a:cubicBezTo>
                    <a:pt x="299" y="158"/>
                    <a:pt x="299" y="158"/>
                    <a:pt x="299" y="158"/>
                  </a:cubicBezTo>
                </a:path>
              </a:pathLst>
            </a:custGeom>
            <a:noFill/>
            <a:ln w="15875" cap="rnd">
              <a:gradFill>
                <a:gsLst>
                  <a:gs pos="3000">
                    <a:srgbClr val="0078D4"/>
                  </a:gs>
                  <a:gs pos="52000">
                    <a:srgbClr val="818EFF"/>
                  </a:gs>
                  <a:gs pos="35000">
                    <a:srgbClr val="2DB4FF"/>
                  </a:gs>
                  <a:gs pos="30000">
                    <a:srgbClr val="2DB4FF"/>
                  </a:gs>
                  <a:gs pos="70000">
                    <a:srgbClr val="D660FF"/>
                  </a:gs>
                  <a:gs pos="97000">
                    <a:srgbClr val="FEA87A"/>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sp>
        <p:nvSpPr>
          <p:cNvPr id="25" name="Footer Placeholder 24">
            <a:extLst>
              <a:ext uri="{FF2B5EF4-FFF2-40B4-BE49-F238E27FC236}">
                <a16:creationId xmlns:a16="http://schemas.microsoft.com/office/drawing/2014/main" id="{33307E3B-462C-FC86-D47C-586644A66B74}"/>
              </a:ext>
            </a:extLst>
          </p:cNvPr>
          <p:cNvSpPr>
            <a:spLocks noGrp="1"/>
          </p:cNvSpPr>
          <p:nvPr>
            <p:ph type="ftr" sz="quarter" idx="10"/>
          </p:nvPr>
        </p:nvSpPr>
        <p:spPr/>
        <p:txBody>
          <a:bodyPr/>
          <a:lstStyle/>
          <a:p>
            <a:pPr defTabSz="914367">
              <a:defRPr/>
            </a:pPr>
            <a:r>
              <a:rPr lang="en-US" dirty="0"/>
              <a:t>Building Customer-Centric Services offers</a:t>
            </a:r>
          </a:p>
        </p:txBody>
      </p:sp>
    </p:spTree>
    <p:extLst>
      <p:ext uri="{BB962C8B-B14F-4D97-AF65-F5344CB8AC3E}">
        <p14:creationId xmlns:p14="http://schemas.microsoft.com/office/powerpoint/2010/main" val="3118229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A10FBB5-8001-40EB-8A05-7B40D7A685D3}"/>
              </a:ext>
            </a:extLst>
          </p:cNvPr>
          <p:cNvSpPr>
            <a:spLocks noGrp="1"/>
          </p:cNvSpPr>
          <p:nvPr>
            <p:ph type="title"/>
          </p:nvPr>
        </p:nvSpPr>
        <p:spPr>
          <a:xfrm>
            <a:off x="585216" y="3035808"/>
            <a:ext cx="4178808" cy="498598"/>
          </a:xfrm>
        </p:spPr>
        <p:txBody>
          <a:bodyPr/>
          <a:lstStyle/>
          <a:p>
            <a:r>
              <a:rPr lang="en-US"/>
              <a:t>Publishing an offer</a:t>
            </a:r>
          </a:p>
        </p:txBody>
      </p:sp>
    </p:spTree>
    <p:extLst>
      <p:ext uri="{BB962C8B-B14F-4D97-AF65-F5344CB8AC3E}">
        <p14:creationId xmlns:p14="http://schemas.microsoft.com/office/powerpoint/2010/main" val="3551893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1">
            <a:extLst>
              <a:ext uri="{FF2B5EF4-FFF2-40B4-BE49-F238E27FC236}">
                <a16:creationId xmlns:a16="http://schemas.microsoft.com/office/drawing/2014/main" id="{261773F8-60C7-45C2-A615-D2C31A9B119E}"/>
              </a:ext>
            </a:extLst>
          </p:cNvPr>
          <p:cNvSpPr txBox="1">
            <a:spLocks/>
          </p:cNvSpPr>
          <p:nvPr/>
        </p:nvSpPr>
        <p:spPr>
          <a:xfrm>
            <a:off x="15475" y="224772"/>
            <a:ext cx="2636285" cy="809669"/>
          </a:xfrm>
          <a:prstGeom prst="rect">
            <a:avLst/>
          </a:prstGeom>
        </p:spPr>
        <p:txBody>
          <a:bodyPr lIns="274320" tIns="182880"/>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0" normalizeH="0" baseline="0" noProof="0" dirty="0">
                <a:ln w="3175">
                  <a:noFill/>
                </a:ln>
                <a:solidFill>
                  <a:schemeClr val="tx2"/>
                </a:solidFill>
                <a:effectLst/>
                <a:uLnTx/>
                <a:uFillTx/>
                <a:ea typeface="+mn-ea"/>
                <a:cs typeface="Segoe UI" pitchFamily="34" charset="0"/>
              </a:rPr>
              <a:t>The commercial </a:t>
            </a:r>
            <a:r>
              <a:rPr lang="en-US" sz="1800" spc="0" dirty="0">
                <a:solidFill>
                  <a:schemeClr val="tx2"/>
                </a:solidFill>
              </a:rPr>
              <a:t>m</a:t>
            </a:r>
            <a:r>
              <a:rPr kumimoji="0" lang="en-US" sz="1800" b="0" i="0" u="none" strike="noStrike" kern="1200" cap="none" spc="0" normalizeH="0" baseline="0" noProof="0" dirty="0" err="1">
                <a:ln w="3175">
                  <a:noFill/>
                </a:ln>
                <a:solidFill>
                  <a:schemeClr val="tx2"/>
                </a:solidFill>
                <a:effectLst/>
                <a:uLnTx/>
                <a:uFillTx/>
                <a:ea typeface="+mn-ea"/>
                <a:cs typeface="Segoe UI" pitchFamily="34" charset="0"/>
              </a:rPr>
              <a:t>arketplace</a:t>
            </a:r>
            <a:endParaRPr kumimoji="0" lang="en-US" sz="1800" b="0" i="0" u="none" strike="noStrike" kern="1200" cap="none" spc="0" normalizeH="0" baseline="0" noProof="0" dirty="0">
              <a:ln w="3175">
                <a:noFill/>
              </a:ln>
              <a:solidFill>
                <a:schemeClr val="tx2"/>
              </a:solidFill>
              <a:effectLst/>
              <a:uLnTx/>
              <a:uFillTx/>
              <a:ea typeface="+mn-ea"/>
              <a:cs typeface="Segoe UI" pitchFamily="34" charset="0"/>
            </a:endParaRPr>
          </a:p>
        </p:txBody>
      </p:sp>
      <p:sp>
        <p:nvSpPr>
          <p:cNvPr id="39" name="Title 38">
            <a:extLst>
              <a:ext uri="{FF2B5EF4-FFF2-40B4-BE49-F238E27FC236}">
                <a16:creationId xmlns:a16="http://schemas.microsoft.com/office/drawing/2014/main" id="{EECDD5CF-2D0F-4F1B-A160-12C815F23DB5}"/>
              </a:ext>
            </a:extLst>
          </p:cNvPr>
          <p:cNvSpPr>
            <a:spLocks noGrp="1"/>
          </p:cNvSpPr>
          <p:nvPr>
            <p:ph type="title"/>
          </p:nvPr>
        </p:nvSpPr>
        <p:spPr/>
        <p:txBody>
          <a:bodyPr/>
          <a:lstStyle/>
          <a:p>
            <a:pPr lvl="0"/>
            <a:r>
              <a:rPr lang="en-US" noProof="0"/>
              <a:t>Microsoft 365 Copilot offer</a:t>
            </a:r>
          </a:p>
        </p:txBody>
      </p:sp>
      <p:sp>
        <p:nvSpPr>
          <p:cNvPr id="127" name="TextBox 126">
            <a:extLst>
              <a:ext uri="{FF2B5EF4-FFF2-40B4-BE49-F238E27FC236}">
                <a16:creationId xmlns:a16="http://schemas.microsoft.com/office/drawing/2014/main" id="{BDF8E419-F186-4A59-A3CB-A3DCAC07C9A5}"/>
              </a:ext>
            </a:extLst>
          </p:cNvPr>
          <p:cNvSpPr txBox="1">
            <a:spLocks/>
          </p:cNvSpPr>
          <p:nvPr/>
        </p:nvSpPr>
        <p:spPr>
          <a:xfrm>
            <a:off x="3026718" y="4327024"/>
            <a:ext cx="2910279" cy="399886"/>
          </a:xfrm>
          <a:prstGeom prst="rect">
            <a:avLst/>
          </a:prstGeom>
          <a:noFill/>
          <a:ln>
            <a:noFill/>
          </a:ln>
        </p:spPr>
        <p:txBody>
          <a:bodyPr wrap="square" lIns="0" tIns="0" rIns="0" bIns="0" rtlCol="0" anchor="ctr">
            <a:noAutofit/>
          </a:bodyPr>
          <a:lstStyle/>
          <a:p>
            <a:pPr marL="342900" marR="0" lvl="0" indent="-342900" algn="l" defTabSz="932472" rtl="0" eaLnBrk="1" fontAlgn="base" latinLnBrk="0" hangingPunct="1">
              <a:lnSpc>
                <a:spcPct val="100000"/>
              </a:lnSpc>
              <a:spcBef>
                <a:spcPts val="600"/>
              </a:spcBef>
              <a:spcAft>
                <a:spcPts val="1200"/>
              </a:spcAft>
              <a:buClr>
                <a:srgbClr val="000000"/>
              </a:buClr>
              <a:buSzPct val="100000"/>
              <a:buFont typeface="+mj-lt"/>
              <a:buAutoNum type="arabicPeriod" startAt="3"/>
              <a:tabLst/>
              <a:defRPr/>
            </a:pPr>
            <a:r>
              <a:rPr kumimoji="0" lang="en-US" sz="1600" b="1" i="0" u="none" strike="noStrike" kern="1200" cap="none" spc="0" normalizeH="0" baseline="0" noProof="0" dirty="0">
                <a:ln>
                  <a:noFill/>
                </a:ln>
                <a:solidFill>
                  <a:srgbClr val="000000"/>
                </a:solidFill>
                <a:effectLst/>
                <a:uLnTx/>
                <a:uFillTx/>
                <a:ea typeface="+mn-ea"/>
                <a:cs typeface="Segoe UI" pitchFamily="34" charset="0"/>
              </a:rPr>
              <a:t>​</a:t>
            </a:r>
            <a:r>
              <a:rPr kumimoji="0" lang="en-US" sz="1600" i="0" u="none" strike="noStrike" kern="1200" cap="none" spc="0" normalizeH="0" baseline="0" noProof="0" dirty="0">
                <a:ln>
                  <a:noFill/>
                </a:ln>
                <a:solidFill>
                  <a:srgbClr val="000000"/>
                </a:solidFill>
                <a:effectLst/>
                <a:uLnTx/>
                <a:uFillTx/>
                <a:ea typeface="+mn-ea"/>
                <a:cs typeface="Segoe UI" pitchFamily="34" charset="0"/>
              </a:rPr>
              <a:t>Create an </a:t>
            </a:r>
            <a:r>
              <a:rPr kumimoji="0" lang="en-US" sz="1600" b="1" i="0" u="none" strike="noStrike" kern="1200" cap="none" spc="0" normalizeH="0" baseline="0" noProof="0" dirty="0">
                <a:ln>
                  <a:noFill/>
                </a:ln>
                <a:solidFill>
                  <a:srgbClr val="000000"/>
                </a:solidFill>
                <a:effectLst/>
                <a:uLnTx/>
                <a:uFillTx/>
                <a:ea typeface="+mn-ea"/>
                <a:cs typeface="Segoe UI" pitchFamily="34" charset="0"/>
              </a:rPr>
              <a:t>Offer ID </a:t>
            </a:r>
            <a:r>
              <a:rPr kumimoji="0" lang="en-US" sz="1600" i="0" u="none" strike="noStrike" kern="1200" cap="none" spc="0" normalizeH="0" baseline="0" noProof="0" dirty="0">
                <a:ln>
                  <a:noFill/>
                </a:ln>
                <a:solidFill>
                  <a:srgbClr val="000000"/>
                </a:solidFill>
                <a:effectLst/>
                <a:uLnTx/>
                <a:uFillTx/>
                <a:ea typeface="+mn-ea"/>
                <a:cs typeface="Segoe UI" pitchFamily="34" charset="0"/>
              </a:rPr>
              <a:t>and</a:t>
            </a:r>
            <a:r>
              <a:rPr kumimoji="0" lang="en-US" sz="1600" b="1" i="0" u="none" strike="noStrike" kern="1200" cap="none" spc="0" normalizeH="0" baseline="0" noProof="0" dirty="0">
                <a:ln>
                  <a:noFill/>
                </a:ln>
                <a:solidFill>
                  <a:srgbClr val="000000"/>
                </a:solidFill>
                <a:effectLst/>
                <a:uLnTx/>
                <a:uFillTx/>
                <a:ea typeface="+mn-ea"/>
                <a:cs typeface="Segoe UI" pitchFamily="34" charset="0"/>
              </a:rPr>
              <a:t> Offer alias</a:t>
            </a:r>
          </a:p>
        </p:txBody>
      </p:sp>
      <p:pic>
        <p:nvPicPr>
          <p:cNvPr id="45" name="Picture 44">
            <a:extLst>
              <a:ext uri="{FF2B5EF4-FFF2-40B4-BE49-F238E27FC236}">
                <a16:creationId xmlns:a16="http://schemas.microsoft.com/office/drawing/2014/main" id="{C9A26698-DA52-4582-BC50-F139AE7E8E44}"/>
              </a:ext>
            </a:extLst>
          </p:cNvPr>
          <p:cNvPicPr>
            <a:picLocks noChangeAspect="1"/>
          </p:cNvPicPr>
          <p:nvPr/>
        </p:nvPicPr>
        <p:blipFill rotWithShape="1">
          <a:blip r:embed="rId3"/>
          <a:srcRect r="29682" b="26769"/>
          <a:stretch/>
        </p:blipFill>
        <p:spPr>
          <a:xfrm>
            <a:off x="7740174" y="1100987"/>
            <a:ext cx="2978423" cy="3306450"/>
          </a:xfrm>
          <a:prstGeom prst="rect">
            <a:avLst/>
          </a:prstGeom>
          <a:ln>
            <a:noFill/>
          </a:ln>
          <a:effectLst>
            <a:outerShdw blurRad="50800" dist="38100" dir="2700000" algn="tl" rotWithShape="0">
              <a:prstClr val="black">
                <a:alpha val="40000"/>
              </a:prstClr>
            </a:outerShdw>
          </a:effectLst>
        </p:spPr>
      </p:pic>
      <p:sp>
        <p:nvSpPr>
          <p:cNvPr id="46" name="Rectangle 45">
            <a:extLst>
              <a:ext uri="{FF2B5EF4-FFF2-40B4-BE49-F238E27FC236}">
                <a16:creationId xmlns:a16="http://schemas.microsoft.com/office/drawing/2014/main" id="{5DC3C99D-B613-483C-9ECA-00105FB055FA}"/>
              </a:ext>
            </a:extLst>
          </p:cNvPr>
          <p:cNvSpPr/>
          <p:nvPr/>
        </p:nvSpPr>
        <p:spPr bwMode="auto">
          <a:xfrm>
            <a:off x="8003372" y="3311004"/>
            <a:ext cx="1055568" cy="244218"/>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1" name="Rectangle 130">
            <a:extLst>
              <a:ext uri="{FF2B5EF4-FFF2-40B4-BE49-F238E27FC236}">
                <a16:creationId xmlns:a16="http://schemas.microsoft.com/office/drawing/2014/main" id="{01C84016-4F5F-4DAB-9552-F5C50D495DF3}"/>
              </a:ext>
            </a:extLst>
          </p:cNvPr>
          <p:cNvSpPr/>
          <p:nvPr/>
        </p:nvSpPr>
        <p:spPr bwMode="auto">
          <a:xfrm>
            <a:off x="7902978" y="2019596"/>
            <a:ext cx="923822" cy="244219"/>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1" name="TextBox 60">
            <a:extLst>
              <a:ext uri="{FF2B5EF4-FFF2-40B4-BE49-F238E27FC236}">
                <a16:creationId xmlns:a16="http://schemas.microsoft.com/office/drawing/2014/main" id="{41CEE27E-4842-4AD9-9B69-3054C27DBD7F}"/>
              </a:ext>
            </a:extLst>
          </p:cNvPr>
          <p:cNvSpPr txBox="1">
            <a:spLocks/>
          </p:cNvSpPr>
          <p:nvPr/>
        </p:nvSpPr>
        <p:spPr>
          <a:xfrm>
            <a:off x="3026719" y="1941762"/>
            <a:ext cx="2243782" cy="399886"/>
          </a:xfrm>
          <a:prstGeom prst="rect">
            <a:avLst/>
          </a:prstGeom>
          <a:noFill/>
          <a:ln>
            <a:noFill/>
          </a:ln>
        </p:spPr>
        <p:txBody>
          <a:bodyPr wrap="square" lIns="0" tIns="0" rIns="0" bIns="0" rtlCol="0" anchor="ctr">
            <a:noAutofit/>
          </a:bodyPr>
          <a:lstStyle/>
          <a:p>
            <a:pPr marL="342900" marR="0" lvl="0" indent="-342900" algn="l" defTabSz="932472" rtl="0" eaLnBrk="1" fontAlgn="base" latinLnBrk="0" hangingPunct="1">
              <a:lnSpc>
                <a:spcPct val="100000"/>
              </a:lnSpc>
              <a:spcBef>
                <a:spcPts val="600"/>
              </a:spcBef>
              <a:spcAft>
                <a:spcPts val="1200"/>
              </a:spcAft>
              <a:buClr>
                <a:srgbClr val="000000"/>
              </a:buClr>
              <a:buSzPct val="100000"/>
              <a:buFont typeface="+mj-lt"/>
              <a:buAutoNum type="arabicPeriod"/>
              <a:tabLst/>
              <a:defRPr/>
            </a:pPr>
            <a:r>
              <a:rPr kumimoji="0" lang="en-US" sz="1600" b="1" i="0" u="none" strike="noStrike" kern="1200" cap="none" spc="0" normalizeH="0" baseline="0" noProof="0" dirty="0">
                <a:ln>
                  <a:noFill/>
                </a:ln>
                <a:solidFill>
                  <a:srgbClr val="000000"/>
                </a:solidFill>
                <a:effectLst/>
                <a:uLnTx/>
                <a:uFillTx/>
                <a:ea typeface="+mn-ea"/>
                <a:cs typeface="Segoe UI" pitchFamily="34" charset="0"/>
              </a:rPr>
              <a:t>​</a:t>
            </a:r>
            <a:r>
              <a:rPr kumimoji="0" lang="en-US" sz="1600" i="0" u="none" strike="noStrike" kern="1200" cap="none" spc="0" normalizeH="0" baseline="0" noProof="0" dirty="0">
                <a:ln>
                  <a:noFill/>
                </a:ln>
                <a:solidFill>
                  <a:srgbClr val="000000"/>
                </a:solidFill>
                <a:effectLst/>
                <a:uLnTx/>
                <a:uFillTx/>
                <a:ea typeface="+mn-ea"/>
                <a:cs typeface="Segoe UI" pitchFamily="34" charset="0"/>
              </a:rPr>
              <a:t>Select + </a:t>
            </a:r>
            <a:r>
              <a:rPr kumimoji="0" lang="en-US" sz="1600" b="1" i="0" u="none" strike="noStrike" kern="1200" cap="none" spc="0" normalizeH="0" baseline="0" noProof="0" dirty="0">
                <a:ln>
                  <a:noFill/>
                </a:ln>
                <a:solidFill>
                  <a:srgbClr val="000000"/>
                </a:solidFill>
                <a:effectLst/>
                <a:uLnTx/>
                <a:uFillTx/>
                <a:ea typeface="+mn-ea"/>
                <a:cs typeface="Segoe UI" pitchFamily="34" charset="0"/>
              </a:rPr>
              <a:t>New offer</a:t>
            </a:r>
          </a:p>
        </p:txBody>
      </p:sp>
      <p:sp>
        <p:nvSpPr>
          <p:cNvPr id="65" name="TextBox 64">
            <a:extLst>
              <a:ext uri="{FF2B5EF4-FFF2-40B4-BE49-F238E27FC236}">
                <a16:creationId xmlns:a16="http://schemas.microsoft.com/office/drawing/2014/main" id="{6F9A8CFB-99F9-4A5A-9CB9-ECD6E3A6B047}"/>
              </a:ext>
            </a:extLst>
          </p:cNvPr>
          <p:cNvSpPr txBox="1">
            <a:spLocks/>
          </p:cNvSpPr>
          <p:nvPr/>
        </p:nvSpPr>
        <p:spPr>
          <a:xfrm>
            <a:off x="3026718" y="3311002"/>
            <a:ext cx="2978423" cy="232801"/>
          </a:xfrm>
          <a:prstGeom prst="rect">
            <a:avLst/>
          </a:prstGeom>
          <a:noFill/>
          <a:ln>
            <a:noFill/>
          </a:ln>
        </p:spPr>
        <p:txBody>
          <a:bodyPr wrap="square" lIns="0" tIns="0" rIns="0" bIns="0" rtlCol="0" anchor="ctr">
            <a:noAutofit/>
          </a:bodyPr>
          <a:lstStyle/>
          <a:p>
            <a:pPr marL="342900" marR="0" lvl="0" indent="-342900" algn="l" defTabSz="932472" rtl="0" eaLnBrk="1" fontAlgn="base" latinLnBrk="0" hangingPunct="1">
              <a:lnSpc>
                <a:spcPct val="100000"/>
              </a:lnSpc>
              <a:spcBef>
                <a:spcPts val="600"/>
              </a:spcBef>
              <a:spcAft>
                <a:spcPts val="1200"/>
              </a:spcAft>
              <a:buClr>
                <a:srgbClr val="000000"/>
              </a:buClr>
              <a:buSzPct val="100000"/>
              <a:buFont typeface="+mj-lt"/>
              <a:buAutoNum type="arabicPeriod" startAt="2"/>
              <a:tabLst/>
              <a:defRPr/>
            </a:pPr>
            <a:r>
              <a:rPr kumimoji="0" lang="en-US" sz="1600" b="1" i="0" u="none" strike="noStrike" kern="1200" cap="none" spc="0" normalizeH="0" baseline="0" noProof="0" dirty="0">
                <a:ln>
                  <a:noFill/>
                </a:ln>
                <a:solidFill>
                  <a:srgbClr val="000000"/>
                </a:solidFill>
                <a:effectLst/>
                <a:uLnTx/>
                <a:uFillTx/>
                <a:ea typeface="+mn-ea"/>
                <a:cs typeface="Segoe UI" pitchFamily="34" charset="0"/>
              </a:rPr>
              <a:t>​</a:t>
            </a:r>
            <a:r>
              <a:rPr kumimoji="0" lang="en-US" sz="1600" i="0" u="none" strike="noStrike" kern="1200" cap="none" spc="0" normalizeH="0" baseline="0" noProof="0" dirty="0">
                <a:ln>
                  <a:noFill/>
                </a:ln>
                <a:solidFill>
                  <a:srgbClr val="000000"/>
                </a:solidFill>
                <a:effectLst/>
                <a:uLnTx/>
                <a:uFillTx/>
                <a:ea typeface="+mn-ea"/>
                <a:cs typeface="Segoe UI" pitchFamily="34" charset="0"/>
              </a:rPr>
              <a:t>Select </a:t>
            </a:r>
            <a:r>
              <a:rPr kumimoji="0" lang="en-US" sz="1600" b="1" i="0" u="none" strike="noStrike" kern="1200" cap="none" spc="0" normalizeH="0" baseline="0" noProof="0" dirty="0">
                <a:ln>
                  <a:noFill/>
                </a:ln>
                <a:solidFill>
                  <a:srgbClr val="000000"/>
                </a:solidFill>
                <a:effectLst/>
                <a:uLnTx/>
                <a:uFillTx/>
                <a:ea typeface="+mn-ea"/>
                <a:cs typeface="Segoe UI" pitchFamily="34" charset="0"/>
              </a:rPr>
              <a:t>Consulting service</a:t>
            </a:r>
          </a:p>
        </p:txBody>
      </p:sp>
      <p:sp>
        <p:nvSpPr>
          <p:cNvPr id="139" name="TextBox 138">
            <a:extLst>
              <a:ext uri="{FF2B5EF4-FFF2-40B4-BE49-F238E27FC236}">
                <a16:creationId xmlns:a16="http://schemas.microsoft.com/office/drawing/2014/main" id="{9D878183-4844-461F-9408-EF0BEC36920F}"/>
              </a:ext>
            </a:extLst>
          </p:cNvPr>
          <p:cNvSpPr txBox="1">
            <a:spLocks/>
          </p:cNvSpPr>
          <p:nvPr/>
        </p:nvSpPr>
        <p:spPr>
          <a:xfrm>
            <a:off x="3026718" y="5529179"/>
            <a:ext cx="2978424" cy="399886"/>
          </a:xfrm>
          <a:prstGeom prst="rect">
            <a:avLst/>
          </a:prstGeom>
          <a:noFill/>
          <a:ln>
            <a:noFill/>
          </a:ln>
        </p:spPr>
        <p:txBody>
          <a:bodyPr wrap="square" lIns="0" tIns="0" rIns="0" bIns="0" rtlCol="0" anchor="ctr">
            <a:noAutofit/>
          </a:bodyPr>
          <a:lstStyle/>
          <a:p>
            <a:pPr marL="342900" marR="0" lvl="0" indent="-342900" algn="l" defTabSz="932472" rtl="0" eaLnBrk="1" fontAlgn="base" latinLnBrk="0" hangingPunct="1">
              <a:lnSpc>
                <a:spcPct val="100000"/>
              </a:lnSpc>
              <a:spcBef>
                <a:spcPts val="600"/>
              </a:spcBef>
              <a:spcAft>
                <a:spcPts val="1200"/>
              </a:spcAft>
              <a:buClr>
                <a:srgbClr val="000000"/>
              </a:buClr>
              <a:buSzPct val="100000"/>
              <a:buFont typeface="+mj-lt"/>
              <a:buAutoNum type="arabicPeriod" startAt="4"/>
              <a:tabLst/>
              <a:defRPr/>
            </a:pPr>
            <a:r>
              <a:rPr kumimoji="0" lang="en-US" sz="1600" b="1" i="0" u="none" strike="noStrike" kern="1200" cap="none" spc="0" normalizeH="0" baseline="0" noProof="0" dirty="0">
                <a:ln>
                  <a:noFill/>
                </a:ln>
                <a:solidFill>
                  <a:srgbClr val="000000"/>
                </a:solidFill>
                <a:effectLst/>
                <a:uLnTx/>
                <a:uFillTx/>
                <a:ea typeface="+mn-ea"/>
                <a:cs typeface="Segoe UI" pitchFamily="34" charset="0"/>
              </a:rPr>
              <a:t>​</a:t>
            </a:r>
            <a:r>
              <a:rPr kumimoji="0" lang="en-US" sz="1600" i="0" u="none" strike="noStrike" kern="1200" cap="none" spc="0" normalizeH="0" baseline="0" noProof="0" dirty="0">
                <a:ln>
                  <a:noFill/>
                </a:ln>
                <a:solidFill>
                  <a:srgbClr val="000000"/>
                </a:solidFill>
                <a:effectLst/>
                <a:uLnTx/>
                <a:uFillTx/>
                <a:ea typeface="+mn-ea"/>
                <a:cs typeface="Segoe UI" pitchFamily="34" charset="0"/>
              </a:rPr>
              <a:t>Select </a:t>
            </a:r>
            <a:r>
              <a:rPr kumimoji="0" lang="en-US" sz="1600" b="1" i="0" u="none" strike="noStrike" kern="1200" cap="none" spc="0" normalizeH="0" baseline="0" noProof="0" dirty="0">
                <a:ln>
                  <a:noFill/>
                </a:ln>
                <a:solidFill>
                  <a:srgbClr val="000000"/>
                </a:solidFill>
                <a:effectLst/>
                <a:uLnTx/>
                <a:uFillTx/>
                <a:ea typeface="+mn-ea"/>
                <a:cs typeface="Segoe UI" pitchFamily="34" charset="0"/>
              </a:rPr>
              <a:t>Create</a:t>
            </a:r>
          </a:p>
        </p:txBody>
      </p:sp>
      <p:pic>
        <p:nvPicPr>
          <p:cNvPr id="134" name="Picture 133">
            <a:extLst>
              <a:ext uri="{FF2B5EF4-FFF2-40B4-BE49-F238E27FC236}">
                <a16:creationId xmlns:a16="http://schemas.microsoft.com/office/drawing/2014/main" id="{DC263BBB-90DD-44EF-A0B6-EA8C5995FA1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708467" y="4085728"/>
            <a:ext cx="3664138" cy="2482978"/>
          </a:xfrm>
          <a:prstGeom prst="rect">
            <a:avLst/>
          </a:prstGeom>
          <a:ln>
            <a:noFill/>
          </a:ln>
          <a:effectLst>
            <a:outerShdw blurRad="50800" dist="38100" dir="2700000" algn="tl" rotWithShape="0">
              <a:prstClr val="black">
                <a:alpha val="40000"/>
              </a:prstClr>
            </a:outerShdw>
          </a:effectLst>
        </p:spPr>
      </p:pic>
      <p:sp>
        <p:nvSpPr>
          <p:cNvPr id="141" name="Rectangle 140">
            <a:extLst>
              <a:ext uri="{FF2B5EF4-FFF2-40B4-BE49-F238E27FC236}">
                <a16:creationId xmlns:a16="http://schemas.microsoft.com/office/drawing/2014/main" id="{2280BE9E-726C-4CD1-85C1-488046FB1992}"/>
              </a:ext>
            </a:extLst>
          </p:cNvPr>
          <p:cNvSpPr/>
          <p:nvPr/>
        </p:nvSpPr>
        <p:spPr bwMode="auto">
          <a:xfrm>
            <a:off x="7708465" y="4560427"/>
            <a:ext cx="2344619" cy="484979"/>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42" name="Rectangle 141">
            <a:extLst>
              <a:ext uri="{FF2B5EF4-FFF2-40B4-BE49-F238E27FC236}">
                <a16:creationId xmlns:a16="http://schemas.microsoft.com/office/drawing/2014/main" id="{5357F384-554C-40F4-B53D-8FCAF43BD441}"/>
              </a:ext>
            </a:extLst>
          </p:cNvPr>
          <p:cNvSpPr/>
          <p:nvPr/>
        </p:nvSpPr>
        <p:spPr bwMode="auto">
          <a:xfrm>
            <a:off x="7708465" y="5363040"/>
            <a:ext cx="2084121" cy="484977"/>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43" name="Rectangle 142">
            <a:extLst>
              <a:ext uri="{FF2B5EF4-FFF2-40B4-BE49-F238E27FC236}">
                <a16:creationId xmlns:a16="http://schemas.microsoft.com/office/drawing/2014/main" id="{00703102-FFFB-4460-9E09-64CB77AC8B4B}"/>
              </a:ext>
            </a:extLst>
          </p:cNvPr>
          <p:cNvSpPr/>
          <p:nvPr/>
        </p:nvSpPr>
        <p:spPr bwMode="auto">
          <a:xfrm>
            <a:off x="7708465" y="6229350"/>
            <a:ext cx="898591" cy="354494"/>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49" name="Freeform: Shape 148">
            <a:extLst>
              <a:ext uri="{FF2B5EF4-FFF2-40B4-BE49-F238E27FC236}">
                <a16:creationId xmlns:a16="http://schemas.microsoft.com/office/drawing/2014/main" id="{43C0FB26-509A-49FF-9964-0F00B8271772}"/>
              </a:ext>
            </a:extLst>
          </p:cNvPr>
          <p:cNvSpPr/>
          <p:nvPr/>
        </p:nvSpPr>
        <p:spPr bwMode="auto">
          <a:xfrm>
            <a:off x="5671671" y="4434621"/>
            <a:ext cx="1968650" cy="1045852"/>
          </a:xfrm>
          <a:custGeom>
            <a:avLst/>
            <a:gdLst>
              <a:gd name="connsiteX0" fmla="*/ 0 w 800100"/>
              <a:gd name="connsiteY0" fmla="*/ 0 h 257175"/>
              <a:gd name="connsiteX1" fmla="*/ 328612 w 800100"/>
              <a:gd name="connsiteY1" fmla="*/ 0 h 257175"/>
              <a:gd name="connsiteX2" fmla="*/ 328612 w 800100"/>
              <a:gd name="connsiteY2" fmla="*/ 257175 h 257175"/>
              <a:gd name="connsiteX3" fmla="*/ 800100 w 800100"/>
              <a:gd name="connsiteY3" fmla="*/ 257175 h 257175"/>
            </a:gdLst>
            <a:ahLst/>
            <a:cxnLst>
              <a:cxn ang="0">
                <a:pos x="connsiteX0" y="connsiteY0"/>
              </a:cxn>
              <a:cxn ang="0">
                <a:pos x="connsiteX1" y="connsiteY1"/>
              </a:cxn>
              <a:cxn ang="0">
                <a:pos x="connsiteX2" y="connsiteY2"/>
              </a:cxn>
              <a:cxn ang="0">
                <a:pos x="connsiteX3" y="connsiteY3"/>
              </a:cxn>
            </a:cxnLst>
            <a:rect l="l" t="t" r="r" b="b"/>
            <a:pathLst>
              <a:path w="800100" h="257175">
                <a:moveTo>
                  <a:pt x="0" y="0"/>
                </a:moveTo>
                <a:lnTo>
                  <a:pt x="328612" y="0"/>
                </a:lnTo>
                <a:lnTo>
                  <a:pt x="328612" y="257175"/>
                </a:lnTo>
                <a:lnTo>
                  <a:pt x="800100" y="257175"/>
                </a:lnTo>
              </a:path>
            </a:pathLst>
          </a:custGeom>
          <a:noFill/>
          <a:ln w="22225" cap="rnd">
            <a:solidFill>
              <a:schemeClr val="tx2">
                <a:lumMod val="50000"/>
                <a:lumOff val="50000"/>
              </a:schemeClr>
            </a:solidFill>
            <a:prstDash val="sysDot"/>
            <a:headEnd type="none" w="med" len="med"/>
            <a:tailEnd type="triangle" w="lg" len="lg"/>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50" name="Freeform: Shape 149">
            <a:extLst>
              <a:ext uri="{FF2B5EF4-FFF2-40B4-BE49-F238E27FC236}">
                <a16:creationId xmlns:a16="http://schemas.microsoft.com/office/drawing/2014/main" id="{85B7A980-C151-4B62-A6CD-7322FF82871E}"/>
              </a:ext>
            </a:extLst>
          </p:cNvPr>
          <p:cNvSpPr/>
          <p:nvPr/>
        </p:nvSpPr>
        <p:spPr bwMode="auto">
          <a:xfrm>
            <a:off x="4661897" y="5729123"/>
            <a:ext cx="2978424" cy="637243"/>
          </a:xfrm>
          <a:custGeom>
            <a:avLst/>
            <a:gdLst>
              <a:gd name="connsiteX0" fmla="*/ 0 w 800100"/>
              <a:gd name="connsiteY0" fmla="*/ 0 h 257175"/>
              <a:gd name="connsiteX1" fmla="*/ 328612 w 800100"/>
              <a:gd name="connsiteY1" fmla="*/ 0 h 257175"/>
              <a:gd name="connsiteX2" fmla="*/ 328612 w 800100"/>
              <a:gd name="connsiteY2" fmla="*/ 257175 h 257175"/>
              <a:gd name="connsiteX3" fmla="*/ 800100 w 800100"/>
              <a:gd name="connsiteY3" fmla="*/ 257175 h 257175"/>
            </a:gdLst>
            <a:ahLst/>
            <a:cxnLst>
              <a:cxn ang="0">
                <a:pos x="connsiteX0" y="connsiteY0"/>
              </a:cxn>
              <a:cxn ang="0">
                <a:pos x="connsiteX1" y="connsiteY1"/>
              </a:cxn>
              <a:cxn ang="0">
                <a:pos x="connsiteX2" y="connsiteY2"/>
              </a:cxn>
              <a:cxn ang="0">
                <a:pos x="connsiteX3" y="connsiteY3"/>
              </a:cxn>
            </a:cxnLst>
            <a:rect l="l" t="t" r="r" b="b"/>
            <a:pathLst>
              <a:path w="800100" h="257175">
                <a:moveTo>
                  <a:pt x="0" y="0"/>
                </a:moveTo>
                <a:lnTo>
                  <a:pt x="328612" y="0"/>
                </a:lnTo>
                <a:lnTo>
                  <a:pt x="328612" y="257175"/>
                </a:lnTo>
                <a:lnTo>
                  <a:pt x="800100" y="257175"/>
                </a:lnTo>
              </a:path>
            </a:pathLst>
          </a:custGeom>
          <a:noFill/>
          <a:ln w="22225" cap="rnd">
            <a:solidFill>
              <a:schemeClr val="tx2">
                <a:lumMod val="50000"/>
                <a:lumOff val="50000"/>
              </a:schemeClr>
            </a:solidFill>
            <a:prstDash val="sysDot"/>
            <a:headEnd type="none" w="med" len="med"/>
            <a:tailEnd type="triangle" w="lg" len="lg"/>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cxnSp>
        <p:nvCxnSpPr>
          <p:cNvPr id="152" name="Straight Arrow Connector 151">
            <a:extLst>
              <a:ext uri="{FF2B5EF4-FFF2-40B4-BE49-F238E27FC236}">
                <a16:creationId xmlns:a16="http://schemas.microsoft.com/office/drawing/2014/main" id="{B8F0DE29-2830-4457-9F28-98D95A4BE894}"/>
              </a:ext>
            </a:extLst>
          </p:cNvPr>
          <p:cNvCxnSpPr>
            <a:cxnSpLocks/>
            <a:endCxn id="149" idx="1"/>
          </p:cNvCxnSpPr>
          <p:nvPr/>
        </p:nvCxnSpPr>
        <p:spPr>
          <a:xfrm flipH="1" flipV="1">
            <a:off x="6480222" y="4434621"/>
            <a:ext cx="1160101" cy="218144"/>
          </a:xfrm>
          <a:prstGeom prst="straightConnector1">
            <a:avLst/>
          </a:prstGeom>
          <a:ln w="22225" cap="rnd">
            <a:solidFill>
              <a:schemeClr val="tx2">
                <a:lumMod val="50000"/>
                <a:lumOff val="50000"/>
              </a:schemeClr>
            </a:solidFill>
            <a:prstDash val="sysDot"/>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267AC61A-C0C5-4F4E-8130-3B365D7B6541}"/>
              </a:ext>
            </a:extLst>
          </p:cNvPr>
          <p:cNvCxnSpPr>
            <a:cxnSpLocks/>
            <a:stCxn id="61" idx="3"/>
          </p:cNvCxnSpPr>
          <p:nvPr/>
        </p:nvCxnSpPr>
        <p:spPr>
          <a:xfrm>
            <a:off x="5270501" y="2141705"/>
            <a:ext cx="2589212" cy="0"/>
          </a:xfrm>
          <a:prstGeom prst="straightConnector1">
            <a:avLst/>
          </a:prstGeom>
          <a:ln w="22225" cap="rnd">
            <a:solidFill>
              <a:schemeClr val="tx2">
                <a:lumMod val="50000"/>
                <a:lumOff val="50000"/>
              </a:schemeClr>
            </a:solidFill>
            <a:prstDash val="sysDot"/>
            <a:headEnd type="none"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78F2F5A-EECC-48DA-8F77-01C4769AA344}"/>
              </a:ext>
            </a:extLst>
          </p:cNvPr>
          <p:cNvCxnSpPr>
            <a:cxnSpLocks/>
            <a:stCxn id="65" idx="3"/>
          </p:cNvCxnSpPr>
          <p:nvPr/>
        </p:nvCxnSpPr>
        <p:spPr>
          <a:xfrm flipV="1">
            <a:off x="6005141" y="3412069"/>
            <a:ext cx="1897837" cy="15334"/>
          </a:xfrm>
          <a:prstGeom prst="straightConnector1">
            <a:avLst/>
          </a:prstGeom>
          <a:ln w="22225" cap="rnd">
            <a:solidFill>
              <a:schemeClr val="tx2">
                <a:lumMod val="50000"/>
                <a:lumOff val="50000"/>
              </a:schemeClr>
            </a:solidFill>
            <a:prstDash val="sysDot"/>
            <a:headEnd type="none" w="lg" len="med"/>
            <a:tailEnd type="triangle" w="lg" len="lg"/>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59926C91-452F-43AE-F58A-DF92A6239D48}"/>
              </a:ext>
            </a:extLst>
          </p:cNvPr>
          <p:cNvGrpSpPr/>
          <p:nvPr/>
        </p:nvGrpSpPr>
        <p:grpSpPr>
          <a:xfrm>
            <a:off x="9800681" y="299796"/>
            <a:ext cx="1803056" cy="552365"/>
            <a:chOff x="10126451" y="192765"/>
            <a:chExt cx="1803056" cy="552365"/>
          </a:xfrm>
        </p:grpSpPr>
        <p:grpSp>
          <p:nvGrpSpPr>
            <p:cNvPr id="35" name="Group 34">
              <a:extLst>
                <a:ext uri="{FF2B5EF4-FFF2-40B4-BE49-F238E27FC236}">
                  <a16:creationId xmlns:a16="http://schemas.microsoft.com/office/drawing/2014/main" id="{6F61BEE2-975E-50AB-9AEB-4B116317C95C}"/>
                </a:ext>
              </a:extLst>
            </p:cNvPr>
            <p:cNvGrpSpPr/>
            <p:nvPr/>
          </p:nvGrpSpPr>
          <p:grpSpPr>
            <a:xfrm>
              <a:off x="10752268" y="196490"/>
              <a:ext cx="548640" cy="548640"/>
              <a:chOff x="10752268" y="196490"/>
              <a:chExt cx="548640" cy="548640"/>
            </a:xfrm>
          </p:grpSpPr>
          <p:sp>
            <p:nvSpPr>
              <p:cNvPr id="37" name="Oval 36">
                <a:extLst>
                  <a:ext uri="{FF2B5EF4-FFF2-40B4-BE49-F238E27FC236}">
                    <a16:creationId xmlns:a16="http://schemas.microsoft.com/office/drawing/2014/main" id="{93D3D5CF-CBBA-78FD-D6E8-841A2FDD9D3B}"/>
                  </a:ext>
                </a:extLst>
              </p:cNvPr>
              <p:cNvSpPr/>
              <p:nvPr/>
            </p:nvSpPr>
            <p:spPr bwMode="auto">
              <a:xfrm>
                <a:off x="10752268"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40" name="gear" descr="gear, wrench, engineer">
                <a:extLst>
                  <a:ext uri="{FF2B5EF4-FFF2-40B4-BE49-F238E27FC236}">
                    <a16:creationId xmlns:a16="http://schemas.microsoft.com/office/drawing/2014/main" id="{AA42C75E-BA58-037A-E2D9-7E6AA9F58F69}"/>
                  </a:ext>
                </a:extLst>
              </p:cNvPr>
              <p:cNvGrpSpPr/>
              <p:nvPr/>
            </p:nvGrpSpPr>
            <p:grpSpPr>
              <a:xfrm>
                <a:off x="10883844" y="326676"/>
                <a:ext cx="288269" cy="288268"/>
                <a:chOff x="3510968" y="2992337"/>
                <a:chExt cx="498751" cy="498751"/>
              </a:xfrm>
              <a:solidFill>
                <a:schemeClr val="bg1"/>
              </a:solidFill>
            </p:grpSpPr>
            <p:sp>
              <p:nvSpPr>
                <p:cNvPr id="42" name="Freeform: Shape 41">
                  <a:extLst>
                    <a:ext uri="{FF2B5EF4-FFF2-40B4-BE49-F238E27FC236}">
                      <a16:creationId xmlns:a16="http://schemas.microsoft.com/office/drawing/2014/main" id="{4900D384-3553-60E4-44A3-A5E8DA14DA20}"/>
                    </a:ext>
                  </a:extLst>
                </p:cNvPr>
                <p:cNvSpPr/>
                <p:nvPr/>
              </p:nvSpPr>
              <p:spPr>
                <a:xfrm>
                  <a:off x="3510968" y="2992337"/>
                  <a:ext cx="498751" cy="498751"/>
                </a:xfrm>
                <a:custGeom>
                  <a:avLst/>
                  <a:gdLst>
                    <a:gd name="connsiteX0" fmla="*/ 499635 w 498751"/>
                    <a:gd name="connsiteY0" fmla="*/ 277035 h 498751"/>
                    <a:gd name="connsiteX1" fmla="*/ 499635 w 498751"/>
                    <a:gd name="connsiteY1" fmla="*/ 224623 h 498751"/>
                    <a:gd name="connsiteX2" fmla="*/ 445560 w 498751"/>
                    <a:gd name="connsiteY2" fmla="*/ 224623 h 498751"/>
                    <a:gd name="connsiteX3" fmla="*/ 407060 w 498751"/>
                    <a:gd name="connsiteY3" fmla="*/ 131698 h 498751"/>
                    <a:gd name="connsiteX4" fmla="*/ 445298 w 498751"/>
                    <a:gd name="connsiteY4" fmla="*/ 93460 h 498751"/>
                    <a:gd name="connsiteX5" fmla="*/ 408285 w 498751"/>
                    <a:gd name="connsiteY5" fmla="*/ 56448 h 498751"/>
                    <a:gd name="connsiteX6" fmla="*/ 370048 w 498751"/>
                    <a:gd name="connsiteY6" fmla="*/ 94686 h 498751"/>
                    <a:gd name="connsiteX7" fmla="*/ 277123 w 498751"/>
                    <a:gd name="connsiteY7" fmla="*/ 56186 h 498751"/>
                    <a:gd name="connsiteX8" fmla="*/ 277123 w 498751"/>
                    <a:gd name="connsiteY8" fmla="*/ 2111 h 498751"/>
                    <a:gd name="connsiteX9" fmla="*/ 224710 w 498751"/>
                    <a:gd name="connsiteY9" fmla="*/ 2111 h 498751"/>
                    <a:gd name="connsiteX10" fmla="*/ 224710 w 498751"/>
                    <a:gd name="connsiteY10" fmla="*/ 56186 h 498751"/>
                    <a:gd name="connsiteX11" fmla="*/ 131785 w 498751"/>
                    <a:gd name="connsiteY11" fmla="*/ 94686 h 498751"/>
                    <a:gd name="connsiteX12" fmla="*/ 93548 w 498751"/>
                    <a:gd name="connsiteY12" fmla="*/ 56448 h 498751"/>
                    <a:gd name="connsiteX13" fmla="*/ 56536 w 498751"/>
                    <a:gd name="connsiteY13" fmla="*/ 93460 h 498751"/>
                    <a:gd name="connsiteX14" fmla="*/ 94773 w 498751"/>
                    <a:gd name="connsiteY14" fmla="*/ 131698 h 498751"/>
                    <a:gd name="connsiteX15" fmla="*/ 56273 w 498751"/>
                    <a:gd name="connsiteY15" fmla="*/ 224623 h 498751"/>
                    <a:gd name="connsiteX16" fmla="*/ 2111 w 498751"/>
                    <a:gd name="connsiteY16" fmla="*/ 224623 h 498751"/>
                    <a:gd name="connsiteX17" fmla="*/ 2111 w 498751"/>
                    <a:gd name="connsiteY17" fmla="*/ 277035 h 498751"/>
                    <a:gd name="connsiteX18" fmla="*/ 56186 w 498751"/>
                    <a:gd name="connsiteY18" fmla="*/ 277035 h 498751"/>
                    <a:gd name="connsiteX19" fmla="*/ 112010 w 498751"/>
                    <a:gd name="connsiteY19" fmla="*/ 389735 h 498751"/>
                    <a:gd name="connsiteX20" fmla="*/ 224710 w 498751"/>
                    <a:gd name="connsiteY20" fmla="*/ 445560 h 498751"/>
                    <a:gd name="connsiteX21" fmla="*/ 224710 w 498751"/>
                    <a:gd name="connsiteY21" fmla="*/ 499635 h 498751"/>
                    <a:gd name="connsiteX22" fmla="*/ 277123 w 498751"/>
                    <a:gd name="connsiteY22" fmla="*/ 499635 h 498751"/>
                    <a:gd name="connsiteX23" fmla="*/ 277123 w 498751"/>
                    <a:gd name="connsiteY23" fmla="*/ 445560 h 498751"/>
                    <a:gd name="connsiteX24" fmla="*/ 370048 w 498751"/>
                    <a:gd name="connsiteY24" fmla="*/ 407060 h 498751"/>
                    <a:gd name="connsiteX25" fmla="*/ 408285 w 498751"/>
                    <a:gd name="connsiteY25" fmla="*/ 445298 h 498751"/>
                    <a:gd name="connsiteX26" fmla="*/ 445298 w 498751"/>
                    <a:gd name="connsiteY26" fmla="*/ 408285 h 498751"/>
                    <a:gd name="connsiteX27" fmla="*/ 407060 w 498751"/>
                    <a:gd name="connsiteY27" fmla="*/ 370048 h 498751"/>
                    <a:gd name="connsiteX28" fmla="*/ 445560 w 498751"/>
                    <a:gd name="connsiteY28" fmla="*/ 277123 h 498751"/>
                    <a:gd name="connsiteX29" fmla="*/ 499635 w 498751"/>
                    <a:gd name="connsiteY29" fmla="*/ 277123 h 498751"/>
                    <a:gd name="connsiteX30" fmla="*/ 499635 w 498751"/>
                    <a:gd name="connsiteY30" fmla="*/ 277035 h 498751"/>
                    <a:gd name="connsiteX31" fmla="*/ 106848 w 498751"/>
                    <a:gd name="connsiteY31" fmla="*/ 250873 h 498751"/>
                    <a:gd name="connsiteX32" fmla="*/ 139573 w 498751"/>
                    <a:gd name="connsiteY32" fmla="*/ 159523 h 498751"/>
                    <a:gd name="connsiteX33" fmla="*/ 222786 w 498751"/>
                    <a:gd name="connsiteY33" fmla="*/ 109648 h 498751"/>
                    <a:gd name="connsiteX34" fmla="*/ 318773 w 498751"/>
                    <a:gd name="connsiteY34" fmla="*/ 123910 h 498751"/>
                    <a:gd name="connsiteX35" fmla="*/ 383960 w 498751"/>
                    <a:gd name="connsiteY35" fmla="*/ 195835 h 498751"/>
                    <a:gd name="connsiteX36" fmla="*/ 388685 w 498751"/>
                    <a:gd name="connsiteY36" fmla="*/ 292785 h 498751"/>
                    <a:gd name="connsiteX37" fmla="*/ 330848 w 498751"/>
                    <a:gd name="connsiteY37" fmla="*/ 370748 h 498751"/>
                    <a:gd name="connsiteX38" fmla="*/ 236698 w 498751"/>
                    <a:gd name="connsiteY38" fmla="*/ 394285 h 498751"/>
                    <a:gd name="connsiteX39" fmla="*/ 148936 w 498751"/>
                    <a:gd name="connsiteY39" fmla="*/ 352810 h 498751"/>
                    <a:gd name="connsiteX40" fmla="*/ 117610 w 498751"/>
                    <a:gd name="connsiteY40" fmla="*/ 306085 h 498751"/>
                    <a:gd name="connsiteX41" fmla="*/ 106848 w 498751"/>
                    <a:gd name="connsiteY41" fmla="*/ 250873 h 498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98751" h="498751">
                      <a:moveTo>
                        <a:pt x="499635" y="277035"/>
                      </a:moveTo>
                      <a:lnTo>
                        <a:pt x="499635" y="224623"/>
                      </a:lnTo>
                      <a:lnTo>
                        <a:pt x="445560" y="224623"/>
                      </a:lnTo>
                      <a:cubicBezTo>
                        <a:pt x="441098" y="190848"/>
                        <a:pt x="427798" y="158823"/>
                        <a:pt x="407060" y="131698"/>
                      </a:cubicBezTo>
                      <a:lnTo>
                        <a:pt x="445298" y="93460"/>
                      </a:lnTo>
                      <a:lnTo>
                        <a:pt x="408285" y="56448"/>
                      </a:lnTo>
                      <a:lnTo>
                        <a:pt x="370048" y="94686"/>
                      </a:lnTo>
                      <a:cubicBezTo>
                        <a:pt x="342923" y="73948"/>
                        <a:pt x="310898" y="60648"/>
                        <a:pt x="277123" y="56186"/>
                      </a:cubicBezTo>
                      <a:lnTo>
                        <a:pt x="277123" y="2111"/>
                      </a:lnTo>
                      <a:lnTo>
                        <a:pt x="224710" y="2111"/>
                      </a:lnTo>
                      <a:lnTo>
                        <a:pt x="224710" y="56186"/>
                      </a:lnTo>
                      <a:cubicBezTo>
                        <a:pt x="190935" y="60648"/>
                        <a:pt x="158911" y="73948"/>
                        <a:pt x="131785" y="94686"/>
                      </a:cubicBezTo>
                      <a:lnTo>
                        <a:pt x="93548" y="56448"/>
                      </a:lnTo>
                      <a:lnTo>
                        <a:pt x="56536" y="93460"/>
                      </a:lnTo>
                      <a:lnTo>
                        <a:pt x="94773" y="131698"/>
                      </a:lnTo>
                      <a:cubicBezTo>
                        <a:pt x="74036" y="158823"/>
                        <a:pt x="60736" y="190848"/>
                        <a:pt x="56273" y="224623"/>
                      </a:cubicBezTo>
                      <a:lnTo>
                        <a:pt x="2111" y="224623"/>
                      </a:lnTo>
                      <a:lnTo>
                        <a:pt x="2111" y="277035"/>
                      </a:lnTo>
                      <a:lnTo>
                        <a:pt x="56186" y="277035"/>
                      </a:lnTo>
                      <a:cubicBezTo>
                        <a:pt x="61961" y="319648"/>
                        <a:pt x="81561" y="359285"/>
                        <a:pt x="112010" y="389735"/>
                      </a:cubicBezTo>
                      <a:cubicBezTo>
                        <a:pt x="142461" y="420185"/>
                        <a:pt x="182011" y="439785"/>
                        <a:pt x="224710" y="445560"/>
                      </a:cubicBezTo>
                      <a:lnTo>
                        <a:pt x="224710" y="499635"/>
                      </a:lnTo>
                      <a:lnTo>
                        <a:pt x="277123" y="499635"/>
                      </a:lnTo>
                      <a:lnTo>
                        <a:pt x="277123" y="445560"/>
                      </a:lnTo>
                      <a:cubicBezTo>
                        <a:pt x="310898" y="441098"/>
                        <a:pt x="342923" y="427798"/>
                        <a:pt x="370048" y="407060"/>
                      </a:cubicBezTo>
                      <a:lnTo>
                        <a:pt x="408285" y="445298"/>
                      </a:lnTo>
                      <a:lnTo>
                        <a:pt x="445298" y="408285"/>
                      </a:lnTo>
                      <a:lnTo>
                        <a:pt x="407060" y="370048"/>
                      </a:lnTo>
                      <a:cubicBezTo>
                        <a:pt x="427798" y="342923"/>
                        <a:pt x="441098" y="310898"/>
                        <a:pt x="445560" y="277123"/>
                      </a:cubicBezTo>
                      <a:lnTo>
                        <a:pt x="499635" y="277123"/>
                      </a:lnTo>
                      <a:lnTo>
                        <a:pt x="499635" y="277035"/>
                      </a:lnTo>
                      <a:close/>
                      <a:moveTo>
                        <a:pt x="106848" y="250873"/>
                      </a:moveTo>
                      <a:cubicBezTo>
                        <a:pt x="106848" y="217535"/>
                        <a:pt x="118398" y="185248"/>
                        <a:pt x="139573" y="159523"/>
                      </a:cubicBezTo>
                      <a:cubicBezTo>
                        <a:pt x="160748" y="133798"/>
                        <a:pt x="190148" y="116123"/>
                        <a:pt x="222786" y="109648"/>
                      </a:cubicBezTo>
                      <a:cubicBezTo>
                        <a:pt x="255423" y="103173"/>
                        <a:pt x="289373" y="108161"/>
                        <a:pt x="318773" y="123910"/>
                      </a:cubicBezTo>
                      <a:cubicBezTo>
                        <a:pt x="348173" y="139573"/>
                        <a:pt x="371185" y="165035"/>
                        <a:pt x="383960" y="195835"/>
                      </a:cubicBezTo>
                      <a:cubicBezTo>
                        <a:pt x="396735" y="226635"/>
                        <a:pt x="398397" y="260848"/>
                        <a:pt x="388685" y="292785"/>
                      </a:cubicBezTo>
                      <a:cubicBezTo>
                        <a:pt x="378973" y="324635"/>
                        <a:pt x="358585" y="352197"/>
                        <a:pt x="330848" y="370748"/>
                      </a:cubicBezTo>
                      <a:cubicBezTo>
                        <a:pt x="303110" y="389298"/>
                        <a:pt x="269860" y="397610"/>
                        <a:pt x="236698" y="394285"/>
                      </a:cubicBezTo>
                      <a:cubicBezTo>
                        <a:pt x="203535" y="391048"/>
                        <a:pt x="172560" y="376347"/>
                        <a:pt x="148936" y="352810"/>
                      </a:cubicBezTo>
                      <a:cubicBezTo>
                        <a:pt x="135548" y="339510"/>
                        <a:pt x="124873" y="323585"/>
                        <a:pt x="117610" y="306085"/>
                      </a:cubicBezTo>
                      <a:cubicBezTo>
                        <a:pt x="110523" y="288498"/>
                        <a:pt x="106761" y="269773"/>
                        <a:pt x="106848" y="25087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43" name="Freeform: Shape 42">
                  <a:extLst>
                    <a:ext uri="{FF2B5EF4-FFF2-40B4-BE49-F238E27FC236}">
                      <a16:creationId xmlns:a16="http://schemas.microsoft.com/office/drawing/2014/main" id="{57B403FC-BC30-3FDC-E895-411692F10EF6}"/>
                    </a:ext>
                  </a:extLst>
                </p:cNvPr>
                <p:cNvSpPr/>
                <p:nvPr/>
              </p:nvSpPr>
              <p:spPr>
                <a:xfrm>
                  <a:off x="3525494" y="3127375"/>
                  <a:ext cx="348087" cy="348087"/>
                </a:xfrm>
                <a:custGeom>
                  <a:avLst/>
                  <a:gdLst>
                    <a:gd name="connsiteX0" fmla="*/ 286398 w 348086"/>
                    <a:gd name="connsiteY0" fmla="*/ 124333 h 348086"/>
                    <a:gd name="connsiteX1" fmla="*/ 226548 w 348086"/>
                    <a:gd name="connsiteY1" fmla="*/ 64483 h 348086"/>
                    <a:gd name="connsiteX2" fmla="*/ 280448 w 348086"/>
                    <a:gd name="connsiteY2" fmla="*/ 10583 h 348086"/>
                    <a:gd name="connsiteX3" fmla="*/ 216923 w 348086"/>
                    <a:gd name="connsiteY3" fmla="*/ 4108 h 348086"/>
                    <a:gd name="connsiteX4" fmla="*/ 160310 w 348086"/>
                    <a:gd name="connsiteY4" fmla="*/ 33683 h 348086"/>
                    <a:gd name="connsiteX5" fmla="*/ 129335 w 348086"/>
                    <a:gd name="connsiteY5" fmla="*/ 89508 h 348086"/>
                    <a:gd name="connsiteX6" fmla="*/ 134235 w 348086"/>
                    <a:gd name="connsiteY6" fmla="*/ 153121 h 348086"/>
                    <a:gd name="connsiteX7" fmla="*/ 15236 w 348086"/>
                    <a:gd name="connsiteY7" fmla="*/ 272121 h 348086"/>
                    <a:gd name="connsiteX8" fmla="*/ 2111 w 348086"/>
                    <a:gd name="connsiteY8" fmla="*/ 303883 h 348086"/>
                    <a:gd name="connsiteX9" fmla="*/ 15236 w 348086"/>
                    <a:gd name="connsiteY9" fmla="*/ 335645 h 348086"/>
                    <a:gd name="connsiteX10" fmla="*/ 46998 w 348086"/>
                    <a:gd name="connsiteY10" fmla="*/ 348770 h 348086"/>
                    <a:gd name="connsiteX11" fmla="*/ 78760 w 348086"/>
                    <a:gd name="connsiteY11" fmla="*/ 335645 h 348086"/>
                    <a:gd name="connsiteX12" fmla="*/ 197760 w 348086"/>
                    <a:gd name="connsiteY12" fmla="*/ 216645 h 348086"/>
                    <a:gd name="connsiteX13" fmla="*/ 261373 w 348086"/>
                    <a:gd name="connsiteY13" fmla="*/ 221546 h 348086"/>
                    <a:gd name="connsiteX14" fmla="*/ 317198 w 348086"/>
                    <a:gd name="connsiteY14" fmla="*/ 190571 h 348086"/>
                    <a:gd name="connsiteX15" fmla="*/ 346773 w 348086"/>
                    <a:gd name="connsiteY15" fmla="*/ 134045 h 348086"/>
                    <a:gd name="connsiteX16" fmla="*/ 340298 w 348086"/>
                    <a:gd name="connsiteY16" fmla="*/ 70521 h 348086"/>
                    <a:gd name="connsiteX17" fmla="*/ 286398 w 348086"/>
                    <a:gd name="connsiteY17" fmla="*/ 124333 h 348086"/>
                    <a:gd name="connsiteX18" fmla="*/ 63011 w 348086"/>
                    <a:gd name="connsiteY18" fmla="*/ 319633 h 348086"/>
                    <a:gd name="connsiteX19" fmla="*/ 51548 w 348086"/>
                    <a:gd name="connsiteY19" fmla="*/ 325758 h 348086"/>
                    <a:gd name="connsiteX20" fmla="*/ 38598 w 348086"/>
                    <a:gd name="connsiteY20" fmla="*/ 324445 h 348086"/>
                    <a:gd name="connsiteX21" fmla="*/ 28536 w 348086"/>
                    <a:gd name="connsiteY21" fmla="*/ 316220 h 348086"/>
                    <a:gd name="connsiteX22" fmla="*/ 24773 w 348086"/>
                    <a:gd name="connsiteY22" fmla="*/ 303795 h 348086"/>
                    <a:gd name="connsiteX23" fmla="*/ 28536 w 348086"/>
                    <a:gd name="connsiteY23" fmla="*/ 291371 h 348086"/>
                    <a:gd name="connsiteX24" fmla="*/ 38598 w 348086"/>
                    <a:gd name="connsiteY24" fmla="*/ 283146 h 348086"/>
                    <a:gd name="connsiteX25" fmla="*/ 51548 w 348086"/>
                    <a:gd name="connsiteY25" fmla="*/ 281833 h 348086"/>
                    <a:gd name="connsiteX26" fmla="*/ 63011 w 348086"/>
                    <a:gd name="connsiteY26" fmla="*/ 287958 h 348086"/>
                    <a:gd name="connsiteX27" fmla="*/ 69573 w 348086"/>
                    <a:gd name="connsiteY27" fmla="*/ 303795 h 348086"/>
                    <a:gd name="connsiteX28" fmla="*/ 63011 w 348086"/>
                    <a:gd name="connsiteY28" fmla="*/ 319633 h 348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48086" h="348086">
                      <a:moveTo>
                        <a:pt x="286398" y="124333"/>
                      </a:moveTo>
                      <a:lnTo>
                        <a:pt x="226548" y="64483"/>
                      </a:lnTo>
                      <a:lnTo>
                        <a:pt x="280448" y="10583"/>
                      </a:lnTo>
                      <a:cubicBezTo>
                        <a:pt x="260410" y="2271"/>
                        <a:pt x="238273" y="-4"/>
                        <a:pt x="216923" y="4108"/>
                      </a:cubicBezTo>
                      <a:cubicBezTo>
                        <a:pt x="195573" y="8221"/>
                        <a:pt x="175885" y="18458"/>
                        <a:pt x="160310" y="33683"/>
                      </a:cubicBezTo>
                      <a:cubicBezTo>
                        <a:pt x="144735" y="48821"/>
                        <a:pt x="133973" y="68246"/>
                        <a:pt x="129335" y="89508"/>
                      </a:cubicBezTo>
                      <a:cubicBezTo>
                        <a:pt x="124698" y="110771"/>
                        <a:pt x="126448" y="132908"/>
                        <a:pt x="134235" y="153121"/>
                      </a:cubicBezTo>
                      <a:lnTo>
                        <a:pt x="15236" y="272121"/>
                      </a:lnTo>
                      <a:cubicBezTo>
                        <a:pt x="6836" y="280520"/>
                        <a:pt x="2111" y="291983"/>
                        <a:pt x="2111" y="303883"/>
                      </a:cubicBezTo>
                      <a:cubicBezTo>
                        <a:pt x="2111" y="315783"/>
                        <a:pt x="6836" y="327158"/>
                        <a:pt x="15236" y="335645"/>
                      </a:cubicBezTo>
                      <a:cubicBezTo>
                        <a:pt x="23636" y="344046"/>
                        <a:pt x="35098" y="348770"/>
                        <a:pt x="46998" y="348770"/>
                      </a:cubicBezTo>
                      <a:cubicBezTo>
                        <a:pt x="58898" y="348770"/>
                        <a:pt x="70273" y="344046"/>
                        <a:pt x="78760" y="335645"/>
                      </a:cubicBezTo>
                      <a:lnTo>
                        <a:pt x="197760" y="216645"/>
                      </a:lnTo>
                      <a:cubicBezTo>
                        <a:pt x="218060" y="224520"/>
                        <a:pt x="240110" y="226183"/>
                        <a:pt x="261373" y="221546"/>
                      </a:cubicBezTo>
                      <a:cubicBezTo>
                        <a:pt x="282635" y="216908"/>
                        <a:pt x="301973" y="206146"/>
                        <a:pt x="317198" y="190571"/>
                      </a:cubicBezTo>
                      <a:cubicBezTo>
                        <a:pt x="332335" y="174996"/>
                        <a:pt x="342660" y="155308"/>
                        <a:pt x="346773" y="134045"/>
                      </a:cubicBezTo>
                      <a:cubicBezTo>
                        <a:pt x="350885" y="112696"/>
                        <a:pt x="348610" y="90646"/>
                        <a:pt x="340298" y="70521"/>
                      </a:cubicBezTo>
                      <a:lnTo>
                        <a:pt x="286398" y="124333"/>
                      </a:lnTo>
                      <a:close/>
                      <a:moveTo>
                        <a:pt x="63011" y="319633"/>
                      </a:moveTo>
                      <a:cubicBezTo>
                        <a:pt x="59861" y="322783"/>
                        <a:pt x="55835" y="324883"/>
                        <a:pt x="51548" y="325758"/>
                      </a:cubicBezTo>
                      <a:cubicBezTo>
                        <a:pt x="47173" y="326633"/>
                        <a:pt x="42710" y="326196"/>
                        <a:pt x="38598" y="324445"/>
                      </a:cubicBezTo>
                      <a:cubicBezTo>
                        <a:pt x="34486" y="322783"/>
                        <a:pt x="30986" y="319896"/>
                        <a:pt x="28536" y="316220"/>
                      </a:cubicBezTo>
                      <a:cubicBezTo>
                        <a:pt x="26086" y="312545"/>
                        <a:pt x="24773" y="308170"/>
                        <a:pt x="24773" y="303795"/>
                      </a:cubicBezTo>
                      <a:cubicBezTo>
                        <a:pt x="24773" y="299333"/>
                        <a:pt x="26086" y="295045"/>
                        <a:pt x="28536" y="291371"/>
                      </a:cubicBezTo>
                      <a:cubicBezTo>
                        <a:pt x="30986" y="287696"/>
                        <a:pt x="34486" y="284808"/>
                        <a:pt x="38598" y="283146"/>
                      </a:cubicBezTo>
                      <a:cubicBezTo>
                        <a:pt x="42710" y="281483"/>
                        <a:pt x="47173" y="281046"/>
                        <a:pt x="51548" y="281833"/>
                      </a:cubicBezTo>
                      <a:cubicBezTo>
                        <a:pt x="55923" y="282708"/>
                        <a:pt x="59861" y="284808"/>
                        <a:pt x="63011" y="287958"/>
                      </a:cubicBezTo>
                      <a:cubicBezTo>
                        <a:pt x="67211" y="292158"/>
                        <a:pt x="69573" y="297846"/>
                        <a:pt x="69573" y="303795"/>
                      </a:cubicBezTo>
                      <a:cubicBezTo>
                        <a:pt x="69573" y="309746"/>
                        <a:pt x="67211" y="315433"/>
                        <a:pt x="63011" y="31963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sp>
            <p:nvSpPr>
              <p:cNvPr id="41" name="Oval 40">
                <a:extLst>
                  <a:ext uri="{FF2B5EF4-FFF2-40B4-BE49-F238E27FC236}">
                    <a16:creationId xmlns:a16="http://schemas.microsoft.com/office/drawing/2014/main" id="{BF2249F1-5104-0EA1-EDD0-3C38913CCF63}"/>
                  </a:ext>
                </a:extLst>
              </p:cNvPr>
              <p:cNvSpPr>
                <a:spLocks/>
              </p:cNvSpPr>
              <p:nvPr/>
            </p:nvSpPr>
            <p:spPr bwMode="auto">
              <a:xfrm>
                <a:off x="10778606"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7" name="Group 46">
              <a:extLst>
                <a:ext uri="{FF2B5EF4-FFF2-40B4-BE49-F238E27FC236}">
                  <a16:creationId xmlns:a16="http://schemas.microsoft.com/office/drawing/2014/main" id="{EA8FFF66-8A67-6B03-B59E-6EE026D9A162}"/>
                </a:ext>
              </a:extLst>
            </p:cNvPr>
            <p:cNvGrpSpPr/>
            <p:nvPr/>
          </p:nvGrpSpPr>
          <p:grpSpPr>
            <a:xfrm>
              <a:off x="10126451" y="192765"/>
              <a:ext cx="548640" cy="548640"/>
              <a:chOff x="10126451" y="192765"/>
              <a:chExt cx="548640" cy="548640"/>
            </a:xfrm>
          </p:grpSpPr>
          <p:grpSp>
            <p:nvGrpSpPr>
              <p:cNvPr id="48" name="Group 47">
                <a:extLst>
                  <a:ext uri="{FF2B5EF4-FFF2-40B4-BE49-F238E27FC236}">
                    <a16:creationId xmlns:a16="http://schemas.microsoft.com/office/drawing/2014/main" id="{4D94DCE8-B403-63CE-19FD-F7BC3F3AE489}"/>
                  </a:ext>
                </a:extLst>
              </p:cNvPr>
              <p:cNvGrpSpPr/>
              <p:nvPr/>
            </p:nvGrpSpPr>
            <p:grpSpPr>
              <a:xfrm>
                <a:off x="10126451" y="192765"/>
                <a:ext cx="548640" cy="548640"/>
                <a:chOff x="10753659" y="196490"/>
                <a:chExt cx="548640" cy="548640"/>
              </a:xfrm>
            </p:grpSpPr>
            <p:sp>
              <p:nvSpPr>
                <p:cNvPr id="56" name="Oval 55">
                  <a:extLst>
                    <a:ext uri="{FF2B5EF4-FFF2-40B4-BE49-F238E27FC236}">
                      <a16:creationId xmlns:a16="http://schemas.microsoft.com/office/drawing/2014/main" id="{320DC3F1-3750-97B1-6033-F840F5E2271E}"/>
                    </a:ext>
                  </a:extLst>
                </p:cNvPr>
                <p:cNvSpPr/>
                <p:nvPr/>
              </p:nvSpPr>
              <p:spPr bwMode="auto">
                <a:xfrm>
                  <a:off x="10753659"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7" name="Oval 56">
                  <a:extLst>
                    <a:ext uri="{FF2B5EF4-FFF2-40B4-BE49-F238E27FC236}">
                      <a16:creationId xmlns:a16="http://schemas.microsoft.com/office/drawing/2014/main" id="{A3A5CF9E-31AD-4741-8739-D2C08C9BA09D}"/>
                    </a:ext>
                  </a:extLst>
                </p:cNvPr>
                <p:cNvSpPr>
                  <a:spLocks/>
                </p:cNvSpPr>
                <p:nvPr/>
              </p:nvSpPr>
              <p:spPr bwMode="auto">
                <a:xfrm>
                  <a:off x="10779997"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0" name="Group 49">
                <a:extLst>
                  <a:ext uri="{FF2B5EF4-FFF2-40B4-BE49-F238E27FC236}">
                    <a16:creationId xmlns:a16="http://schemas.microsoft.com/office/drawing/2014/main" id="{040BB706-BACF-B12F-13E4-3D78EA4C18E4}"/>
                  </a:ext>
                </a:extLst>
              </p:cNvPr>
              <p:cNvGrpSpPr/>
              <p:nvPr/>
            </p:nvGrpSpPr>
            <p:grpSpPr>
              <a:xfrm>
                <a:off x="10243674" y="318889"/>
                <a:ext cx="314209" cy="303840"/>
                <a:chOff x="3504064" y="4676412"/>
                <a:chExt cx="509193" cy="492392"/>
              </a:xfrm>
            </p:grpSpPr>
            <p:sp>
              <p:nvSpPr>
                <p:cNvPr id="52" name="Oval 51">
                  <a:extLst>
                    <a:ext uri="{FF2B5EF4-FFF2-40B4-BE49-F238E27FC236}">
                      <a16:creationId xmlns:a16="http://schemas.microsoft.com/office/drawing/2014/main" id="{5107A7DF-BCEB-C54D-45B1-17B6B57A05FB}"/>
                    </a:ext>
                  </a:extLst>
                </p:cNvPr>
                <p:cNvSpPr/>
                <p:nvPr/>
              </p:nvSpPr>
              <p:spPr bwMode="auto">
                <a:xfrm>
                  <a:off x="3504064"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4" name="Oval 53">
                  <a:extLst>
                    <a:ext uri="{FF2B5EF4-FFF2-40B4-BE49-F238E27FC236}">
                      <a16:creationId xmlns:a16="http://schemas.microsoft.com/office/drawing/2014/main" id="{97628A2E-EEF0-B072-8862-B8E27B076EFC}"/>
                    </a:ext>
                  </a:extLst>
                </p:cNvPr>
                <p:cNvSpPr/>
                <p:nvPr/>
              </p:nvSpPr>
              <p:spPr bwMode="auto">
                <a:xfrm>
                  <a:off x="3671817"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5" name="Oval 54">
                  <a:extLst>
                    <a:ext uri="{FF2B5EF4-FFF2-40B4-BE49-F238E27FC236}">
                      <a16:creationId xmlns:a16="http://schemas.microsoft.com/office/drawing/2014/main" id="{9AFBE54D-FEF5-B62B-0649-109E95FEBF13}"/>
                    </a:ext>
                  </a:extLst>
                </p:cNvPr>
                <p:cNvSpPr/>
                <p:nvPr/>
              </p:nvSpPr>
              <p:spPr bwMode="auto">
                <a:xfrm>
                  <a:off x="3587940" y="4676412"/>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grpSp>
          <p:nvGrpSpPr>
            <p:cNvPr id="58" name="Group 57">
              <a:extLst>
                <a:ext uri="{FF2B5EF4-FFF2-40B4-BE49-F238E27FC236}">
                  <a16:creationId xmlns:a16="http://schemas.microsoft.com/office/drawing/2014/main" id="{4BCA5518-47E6-67D0-3721-FEBDA912E876}"/>
                </a:ext>
              </a:extLst>
            </p:cNvPr>
            <p:cNvGrpSpPr/>
            <p:nvPr/>
          </p:nvGrpSpPr>
          <p:grpSpPr>
            <a:xfrm>
              <a:off x="11380867" y="196490"/>
              <a:ext cx="548640" cy="548640"/>
              <a:chOff x="11380867" y="196490"/>
              <a:chExt cx="548640" cy="548640"/>
            </a:xfrm>
          </p:grpSpPr>
          <p:sp>
            <p:nvSpPr>
              <p:cNvPr id="59" name="Oval 58">
                <a:extLst>
                  <a:ext uri="{FF2B5EF4-FFF2-40B4-BE49-F238E27FC236}">
                    <a16:creationId xmlns:a16="http://schemas.microsoft.com/office/drawing/2014/main" id="{1FEC983D-1FB2-2DF6-B3F1-335C21D168BB}"/>
                  </a:ext>
                </a:extLst>
              </p:cNvPr>
              <p:cNvSpPr/>
              <p:nvPr/>
            </p:nvSpPr>
            <p:spPr bwMode="auto">
              <a:xfrm>
                <a:off x="11380867" y="196490"/>
                <a:ext cx="548640" cy="548640"/>
              </a:xfrm>
              <a:prstGeom prst="ellipse">
                <a:avLst/>
              </a:prstGeom>
              <a:solidFill>
                <a:srgbClr val="1A2B46"/>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0" name="Oval 59">
                <a:extLst>
                  <a:ext uri="{FF2B5EF4-FFF2-40B4-BE49-F238E27FC236}">
                    <a16:creationId xmlns:a16="http://schemas.microsoft.com/office/drawing/2014/main" id="{6943FB2A-9A3C-5B8A-D711-06F77B969C50}"/>
                  </a:ext>
                </a:extLst>
              </p:cNvPr>
              <p:cNvSpPr>
                <a:spLocks/>
              </p:cNvSpPr>
              <p:nvPr/>
            </p:nvSpPr>
            <p:spPr bwMode="auto">
              <a:xfrm>
                <a:off x="11407205"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62" name="Group 61">
                <a:extLst>
                  <a:ext uri="{FF2B5EF4-FFF2-40B4-BE49-F238E27FC236}">
                    <a16:creationId xmlns:a16="http://schemas.microsoft.com/office/drawing/2014/main" id="{D41A0F30-F6BB-3EE9-6211-8C01F270751B}"/>
                  </a:ext>
                </a:extLst>
              </p:cNvPr>
              <p:cNvGrpSpPr/>
              <p:nvPr/>
            </p:nvGrpSpPr>
            <p:grpSpPr>
              <a:xfrm>
                <a:off x="11478807" y="317384"/>
                <a:ext cx="352760" cy="306952"/>
                <a:chOff x="10772223" y="7410567"/>
                <a:chExt cx="346174" cy="301219"/>
              </a:xfrm>
            </p:grpSpPr>
            <p:sp>
              <p:nvSpPr>
                <p:cNvPr id="63" name="Freeform: Shape 62">
                  <a:extLst>
                    <a:ext uri="{FF2B5EF4-FFF2-40B4-BE49-F238E27FC236}">
                      <a16:creationId xmlns:a16="http://schemas.microsoft.com/office/drawing/2014/main" id="{B8092E77-1E10-E477-5E67-ECDA1C68F259}"/>
                    </a:ext>
                  </a:extLst>
                </p:cNvPr>
                <p:cNvSpPr/>
                <p:nvPr/>
              </p:nvSpPr>
              <p:spPr>
                <a:xfrm>
                  <a:off x="10840877" y="7661402"/>
                  <a:ext cx="236157" cy="47232"/>
                </a:xfrm>
                <a:custGeom>
                  <a:avLst/>
                  <a:gdLst>
                    <a:gd name="connsiteX0" fmla="*/ 121141 w 259772"/>
                    <a:gd name="connsiteY0" fmla="*/ 17145 h 51954"/>
                    <a:gd name="connsiteX1" fmla="*/ 267306 w 259772"/>
                    <a:gd name="connsiteY1" fmla="*/ 0 h 51954"/>
                    <a:gd name="connsiteX2" fmla="*/ 267306 w 259772"/>
                    <a:gd name="connsiteY2" fmla="*/ 25718 h 51954"/>
                    <a:gd name="connsiteX3" fmla="*/ 238039 w 259772"/>
                    <a:gd name="connsiteY3" fmla="*/ 60008 h 51954"/>
                    <a:gd name="connsiteX4" fmla="*/ 33424 w 259772"/>
                    <a:gd name="connsiteY4" fmla="*/ 60008 h 51954"/>
                    <a:gd name="connsiteX5" fmla="*/ 0 w 259772"/>
                    <a:gd name="connsiteY5" fmla="*/ 25718 h 51954"/>
                    <a:gd name="connsiteX6" fmla="*/ 0 w 259772"/>
                    <a:gd name="connsiteY6" fmla="*/ 4330 h 51954"/>
                    <a:gd name="connsiteX7" fmla="*/ 121141 w 259772"/>
                    <a:gd name="connsiteY7" fmla="*/ 17145 h 51954"/>
                    <a:gd name="connsiteX8" fmla="*/ 121141 w 259772"/>
                    <a:gd name="connsiteY8" fmla="*/ 17145 h 51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772" h="51954">
                      <a:moveTo>
                        <a:pt x="121141" y="17145"/>
                      </a:moveTo>
                      <a:cubicBezTo>
                        <a:pt x="175433" y="17145"/>
                        <a:pt x="225569" y="12902"/>
                        <a:pt x="267306" y="0"/>
                      </a:cubicBezTo>
                      <a:cubicBezTo>
                        <a:pt x="267306" y="8573"/>
                        <a:pt x="267306" y="17145"/>
                        <a:pt x="267306" y="25718"/>
                      </a:cubicBezTo>
                      <a:cubicBezTo>
                        <a:pt x="267306" y="42863"/>
                        <a:pt x="254751" y="60008"/>
                        <a:pt x="238039" y="60008"/>
                      </a:cubicBezTo>
                      <a:cubicBezTo>
                        <a:pt x="238039" y="60008"/>
                        <a:pt x="238039" y="60008"/>
                        <a:pt x="33424" y="60008"/>
                      </a:cubicBezTo>
                      <a:cubicBezTo>
                        <a:pt x="16712" y="60008"/>
                        <a:pt x="0" y="42863"/>
                        <a:pt x="0" y="25718"/>
                      </a:cubicBezTo>
                      <a:cubicBezTo>
                        <a:pt x="0" y="25718"/>
                        <a:pt x="0" y="25718"/>
                        <a:pt x="0" y="4330"/>
                      </a:cubicBezTo>
                      <a:cubicBezTo>
                        <a:pt x="37580" y="12815"/>
                        <a:pt x="79404" y="17145"/>
                        <a:pt x="121141" y="17145"/>
                      </a:cubicBezTo>
                      <a:lnTo>
                        <a:pt x="121141" y="17145"/>
                      </a:lnTo>
                      <a:close/>
                    </a:path>
                  </a:pathLst>
                </a:custGeom>
                <a:solidFill>
                  <a:schemeClr val="accent1"/>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nvGrpSpPr>
                <p:cNvPr id="64" name="Group 63">
                  <a:extLst>
                    <a:ext uri="{FF2B5EF4-FFF2-40B4-BE49-F238E27FC236}">
                      <a16:creationId xmlns:a16="http://schemas.microsoft.com/office/drawing/2014/main" id="{72E19909-33B3-F0C2-CE81-8867BCA5CACF}"/>
                    </a:ext>
                  </a:extLst>
                </p:cNvPr>
                <p:cNvGrpSpPr/>
                <p:nvPr/>
              </p:nvGrpSpPr>
              <p:grpSpPr>
                <a:xfrm>
                  <a:off x="10772223" y="7410567"/>
                  <a:ext cx="346174" cy="301219"/>
                  <a:chOff x="10772223" y="1543167"/>
                  <a:chExt cx="346174" cy="301219"/>
                </a:xfrm>
              </p:grpSpPr>
              <p:sp>
                <p:nvSpPr>
                  <p:cNvPr id="66" name="Freeform: Shape 65">
                    <a:extLst>
                      <a:ext uri="{FF2B5EF4-FFF2-40B4-BE49-F238E27FC236}">
                        <a16:creationId xmlns:a16="http://schemas.microsoft.com/office/drawing/2014/main" id="{714D4891-9FEC-04A9-DA79-9C61256F881E}"/>
                      </a:ext>
                    </a:extLst>
                  </p:cNvPr>
                  <p:cNvSpPr/>
                  <p:nvPr/>
                </p:nvSpPr>
                <p:spPr>
                  <a:xfrm rot="13310739">
                    <a:off x="10772223" y="1543167"/>
                    <a:ext cx="346174" cy="301219"/>
                  </a:xfrm>
                  <a:custGeom>
                    <a:avLst/>
                    <a:gdLst>
                      <a:gd name="connsiteX0" fmla="*/ 335526 w 346174"/>
                      <a:gd name="connsiteY0" fmla="*/ 221002 h 301219"/>
                      <a:gd name="connsiteX1" fmla="*/ 256301 w 346174"/>
                      <a:gd name="connsiteY1" fmla="*/ 291951 h 301219"/>
                      <a:gd name="connsiteX2" fmla="*/ 228767 w 346174"/>
                      <a:gd name="connsiteY2" fmla="*/ 300970 h 301219"/>
                      <a:gd name="connsiteX3" fmla="*/ 144718 w 346174"/>
                      <a:gd name="connsiteY3" fmla="*/ 292547 h 301219"/>
                      <a:gd name="connsiteX4" fmla="*/ 112227 w 346174"/>
                      <a:gd name="connsiteY4" fmla="*/ 290366 h 301219"/>
                      <a:gd name="connsiteX5" fmla="*/ 104454 w 346174"/>
                      <a:gd name="connsiteY5" fmla="*/ 281687 h 301219"/>
                      <a:gd name="connsiteX6" fmla="*/ 0 w 346174"/>
                      <a:gd name="connsiteY6" fmla="*/ 165049 h 301219"/>
                      <a:gd name="connsiteX7" fmla="*/ 88589 w 346174"/>
                      <a:gd name="connsiteY7" fmla="*/ 64791 h 301219"/>
                      <a:gd name="connsiteX8" fmla="*/ 178400 w 346174"/>
                      <a:gd name="connsiteY8" fmla="*/ 0 h 301219"/>
                      <a:gd name="connsiteX9" fmla="*/ 295826 w 346174"/>
                      <a:gd name="connsiteY9" fmla="*/ 131123 h 301219"/>
                      <a:gd name="connsiteX10" fmla="*/ 311423 w 346174"/>
                      <a:gd name="connsiteY10" fmla="*/ 148540 h 301219"/>
                      <a:gd name="connsiteX11" fmla="*/ 329593 w 346174"/>
                      <a:gd name="connsiteY11" fmla="*/ 168830 h 301219"/>
                      <a:gd name="connsiteX12" fmla="*/ 339992 w 346174"/>
                      <a:gd name="connsiteY12" fmla="*/ 180441 h 301219"/>
                      <a:gd name="connsiteX13" fmla="*/ 335526 w 346174"/>
                      <a:gd name="connsiteY13" fmla="*/ 221002 h 30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174" h="301219">
                        <a:moveTo>
                          <a:pt x="335526" y="221002"/>
                        </a:moveTo>
                        <a:cubicBezTo>
                          <a:pt x="335526" y="221002"/>
                          <a:pt x="335526" y="221002"/>
                          <a:pt x="256301" y="291951"/>
                        </a:cubicBezTo>
                        <a:cubicBezTo>
                          <a:pt x="247857" y="299513"/>
                          <a:pt x="244983" y="302087"/>
                          <a:pt x="228767" y="300970"/>
                        </a:cubicBezTo>
                        <a:cubicBezTo>
                          <a:pt x="228767" y="300970"/>
                          <a:pt x="228767" y="300970"/>
                          <a:pt x="144718" y="292547"/>
                        </a:cubicBezTo>
                        <a:lnTo>
                          <a:pt x="112227" y="290366"/>
                        </a:lnTo>
                        <a:cubicBezTo>
                          <a:pt x="107027" y="284560"/>
                          <a:pt x="104454" y="281687"/>
                          <a:pt x="104454" y="281687"/>
                        </a:cubicBezTo>
                        <a:cubicBezTo>
                          <a:pt x="104454" y="281687"/>
                          <a:pt x="49365" y="220171"/>
                          <a:pt x="0" y="165049"/>
                        </a:cubicBezTo>
                        <a:cubicBezTo>
                          <a:pt x="17436" y="138972"/>
                          <a:pt x="46132" y="102813"/>
                          <a:pt x="88589" y="64791"/>
                        </a:cubicBezTo>
                        <a:cubicBezTo>
                          <a:pt x="119728" y="36905"/>
                          <a:pt x="150565" y="14466"/>
                          <a:pt x="178400" y="0"/>
                        </a:cubicBezTo>
                        <a:cubicBezTo>
                          <a:pt x="186172" y="8679"/>
                          <a:pt x="269831" y="102096"/>
                          <a:pt x="295826" y="131123"/>
                        </a:cubicBezTo>
                        <a:lnTo>
                          <a:pt x="311423" y="148540"/>
                        </a:lnTo>
                        <a:cubicBezTo>
                          <a:pt x="321821" y="160151"/>
                          <a:pt x="329593" y="168830"/>
                          <a:pt x="329593" y="168830"/>
                        </a:cubicBezTo>
                        <a:cubicBezTo>
                          <a:pt x="332219" y="171762"/>
                          <a:pt x="337419" y="177568"/>
                          <a:pt x="339992" y="180441"/>
                        </a:cubicBezTo>
                        <a:cubicBezTo>
                          <a:pt x="350390" y="192052"/>
                          <a:pt x="346844" y="210867"/>
                          <a:pt x="335526" y="221002"/>
                        </a:cubicBezTo>
                        <a:close/>
                      </a:path>
                    </a:pathLst>
                  </a:custGeom>
                  <a:solidFill>
                    <a:schemeClr val="accent1"/>
                  </a:solidFill>
                  <a:ln w="8603"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67" name="Freeform: Shape 66">
                    <a:extLst>
                      <a:ext uri="{FF2B5EF4-FFF2-40B4-BE49-F238E27FC236}">
                        <a16:creationId xmlns:a16="http://schemas.microsoft.com/office/drawing/2014/main" id="{B00CCBEF-D996-942D-C0BC-757B993B5C80}"/>
                      </a:ext>
                    </a:extLst>
                  </p:cNvPr>
                  <p:cNvSpPr/>
                  <p:nvPr/>
                </p:nvSpPr>
                <p:spPr>
                  <a:xfrm>
                    <a:off x="10892650" y="1664886"/>
                    <a:ext cx="141110" cy="110872"/>
                  </a:xfrm>
                  <a:custGeom>
                    <a:avLst/>
                    <a:gdLst>
                      <a:gd name="connsiteX0" fmla="*/ 106680 w 121227"/>
                      <a:gd name="connsiteY0" fmla="*/ 0 h 95250"/>
                      <a:gd name="connsiteX1" fmla="*/ 48751 w 121227"/>
                      <a:gd name="connsiteY1" fmla="*/ 64683 h 95250"/>
                      <a:gd name="connsiteX2" fmla="*/ 18271 w 121227"/>
                      <a:gd name="connsiteY2" fmla="*/ 35416 h 95250"/>
                      <a:gd name="connsiteX3" fmla="*/ 0 w 121227"/>
                      <a:gd name="connsiteY3" fmla="*/ 55418 h 95250"/>
                      <a:gd name="connsiteX4" fmla="*/ 48837 w 121227"/>
                      <a:gd name="connsiteY4" fmla="*/ 100013 h 95250"/>
                      <a:gd name="connsiteX5" fmla="*/ 125124 w 121227"/>
                      <a:gd name="connsiteY5" fmla="*/ 20003 h 95250"/>
                      <a:gd name="connsiteX6" fmla="*/ 106680 w 121227"/>
                      <a:gd name="connsiteY6" fmla="*/ 0 h 95250"/>
                      <a:gd name="connsiteX7" fmla="*/ 106680 w 121227"/>
                      <a:gd name="connsiteY7" fmla="*/ 0 h 95250"/>
                      <a:gd name="connsiteX8" fmla="*/ 106680 w 121227"/>
                      <a:gd name="connsiteY8"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227" h="95250">
                        <a:moveTo>
                          <a:pt x="106680" y="0"/>
                        </a:moveTo>
                        <a:cubicBezTo>
                          <a:pt x="106680" y="0"/>
                          <a:pt x="74641" y="35416"/>
                          <a:pt x="48751" y="64683"/>
                        </a:cubicBezTo>
                        <a:cubicBezTo>
                          <a:pt x="36541" y="53946"/>
                          <a:pt x="18271" y="35416"/>
                          <a:pt x="18271" y="35416"/>
                        </a:cubicBezTo>
                        <a:cubicBezTo>
                          <a:pt x="0" y="55418"/>
                          <a:pt x="0" y="55418"/>
                          <a:pt x="0" y="55418"/>
                        </a:cubicBezTo>
                        <a:cubicBezTo>
                          <a:pt x="48837" y="100013"/>
                          <a:pt x="48837" y="100013"/>
                          <a:pt x="48837" y="100013"/>
                        </a:cubicBezTo>
                        <a:cubicBezTo>
                          <a:pt x="125124" y="20003"/>
                          <a:pt x="125124" y="20003"/>
                          <a:pt x="125124" y="20003"/>
                        </a:cubicBezTo>
                        <a:cubicBezTo>
                          <a:pt x="106680" y="0"/>
                          <a:pt x="106680" y="0"/>
                          <a:pt x="106680" y="0"/>
                        </a:cubicBezTo>
                        <a:lnTo>
                          <a:pt x="106680" y="0"/>
                        </a:lnTo>
                        <a:lnTo>
                          <a:pt x="106680" y="0"/>
                        </a:lnTo>
                        <a:close/>
                      </a:path>
                    </a:pathLst>
                  </a:custGeom>
                  <a:solidFill>
                    <a:srgbClr val="50E6FF"/>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grpSp>
        </p:grpSp>
      </p:grpSp>
      <p:sp>
        <p:nvSpPr>
          <p:cNvPr id="2" name="Rectangle: Rounded Corners 1">
            <a:extLst>
              <a:ext uri="{FF2B5EF4-FFF2-40B4-BE49-F238E27FC236}">
                <a16:creationId xmlns:a16="http://schemas.microsoft.com/office/drawing/2014/main" id="{A74C7109-A561-8633-CFE6-6002344700F3}"/>
              </a:ext>
            </a:extLst>
          </p:cNvPr>
          <p:cNvSpPr/>
          <p:nvPr/>
        </p:nvSpPr>
        <p:spPr bwMode="auto">
          <a:xfrm>
            <a:off x="-279050" y="1366838"/>
            <a:ext cx="2651760" cy="365760"/>
          </a:xfrm>
          <a:prstGeom prst="roundRect">
            <a:avLst>
              <a:gd name="adj" fmla="val 50000"/>
            </a:avLst>
          </a:prstGeom>
          <a:solidFill>
            <a:srgbClr val="C73EC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0" rIns="9144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bg1"/>
              </a:solidFill>
              <a:effectLst/>
              <a:uLnTx/>
              <a:uFillTx/>
              <a:latin typeface="Segoe UI Semibold"/>
              <a:ea typeface="+mn-ea"/>
              <a:cs typeface="Segoe UI Semilight" panose="020B0402040204020203" pitchFamily="34" charset="0"/>
            </a:endParaRPr>
          </a:p>
        </p:txBody>
      </p:sp>
      <p:sp>
        <p:nvSpPr>
          <p:cNvPr id="51" name="Rectangle: Rounded Corners 50">
            <a:extLst>
              <a:ext uri="{FF2B5EF4-FFF2-40B4-BE49-F238E27FC236}">
                <a16:creationId xmlns:a16="http://schemas.microsoft.com/office/drawing/2014/main" id="{E546CF86-1204-BDAA-17E9-67E819347A21}"/>
              </a:ext>
            </a:extLst>
          </p:cNvPr>
          <p:cNvSpPr/>
          <p:nvPr/>
        </p:nvSpPr>
        <p:spPr bwMode="auto">
          <a:xfrm>
            <a:off x="0" y="180602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Setup</a:t>
            </a:r>
          </a:p>
        </p:txBody>
      </p:sp>
      <p:sp>
        <p:nvSpPr>
          <p:cNvPr id="68" name="Rectangle: Rounded Corners 67">
            <a:extLst>
              <a:ext uri="{FF2B5EF4-FFF2-40B4-BE49-F238E27FC236}">
                <a16:creationId xmlns:a16="http://schemas.microsoft.com/office/drawing/2014/main" id="{39B7D32F-59C2-2114-89F7-A90812DC02F2}"/>
              </a:ext>
            </a:extLst>
          </p:cNvPr>
          <p:cNvSpPr/>
          <p:nvPr/>
        </p:nvSpPr>
        <p:spPr bwMode="auto">
          <a:xfrm>
            <a:off x="0" y="2245217"/>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Properties</a:t>
            </a:r>
          </a:p>
        </p:txBody>
      </p:sp>
      <p:sp>
        <p:nvSpPr>
          <p:cNvPr id="69" name="Rectangle: Rounded Corners 68">
            <a:extLst>
              <a:ext uri="{FF2B5EF4-FFF2-40B4-BE49-F238E27FC236}">
                <a16:creationId xmlns:a16="http://schemas.microsoft.com/office/drawing/2014/main" id="{CBECBD2A-B14C-BA8A-40C0-CA2B01DCB56F}"/>
              </a:ext>
            </a:extLst>
          </p:cNvPr>
          <p:cNvSpPr/>
          <p:nvPr/>
        </p:nvSpPr>
        <p:spPr bwMode="auto">
          <a:xfrm>
            <a:off x="0" y="2684406"/>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Listing</a:t>
            </a:r>
          </a:p>
        </p:txBody>
      </p:sp>
      <p:sp>
        <p:nvSpPr>
          <p:cNvPr id="70" name="Rectangle: Rounded Corners 69">
            <a:extLst>
              <a:ext uri="{FF2B5EF4-FFF2-40B4-BE49-F238E27FC236}">
                <a16:creationId xmlns:a16="http://schemas.microsoft.com/office/drawing/2014/main" id="{7670B788-E664-55BC-5FD8-6C5A9AC564AC}"/>
              </a:ext>
            </a:extLst>
          </p:cNvPr>
          <p:cNvSpPr/>
          <p:nvPr/>
        </p:nvSpPr>
        <p:spPr bwMode="auto">
          <a:xfrm>
            <a:off x="0" y="312359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Pricing and Availability</a:t>
            </a:r>
          </a:p>
        </p:txBody>
      </p:sp>
      <p:sp>
        <p:nvSpPr>
          <p:cNvPr id="72" name="Rectangle: Rounded Corners 71">
            <a:extLst>
              <a:ext uri="{FF2B5EF4-FFF2-40B4-BE49-F238E27FC236}">
                <a16:creationId xmlns:a16="http://schemas.microsoft.com/office/drawing/2014/main" id="{CA23A5A6-7401-1B3A-5C3D-08740A6899EF}"/>
              </a:ext>
            </a:extLst>
          </p:cNvPr>
          <p:cNvSpPr/>
          <p:nvPr/>
        </p:nvSpPr>
        <p:spPr bwMode="auto">
          <a:xfrm>
            <a:off x="0" y="356278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Co-sell with Microsoft </a:t>
            </a:r>
          </a:p>
        </p:txBody>
      </p:sp>
      <p:sp>
        <p:nvSpPr>
          <p:cNvPr id="3" name="TextBox 2">
            <a:extLst>
              <a:ext uri="{FF2B5EF4-FFF2-40B4-BE49-F238E27FC236}">
                <a16:creationId xmlns:a16="http://schemas.microsoft.com/office/drawing/2014/main" id="{EA1A62C4-9CD3-E947-5B4F-B211D806D456}"/>
              </a:ext>
            </a:extLst>
          </p:cNvPr>
          <p:cNvSpPr txBox="1"/>
          <p:nvPr/>
        </p:nvSpPr>
        <p:spPr>
          <a:xfrm>
            <a:off x="9764977" y="2989769"/>
            <a:ext cx="723577" cy="399886"/>
          </a:xfrm>
          <a:prstGeom prst="rect">
            <a:avLst/>
          </a:prstGeom>
          <a:solidFill>
            <a:schemeClr val="bg1"/>
          </a:solidFill>
        </p:spPr>
        <p:txBody>
          <a:bodyPr wrap="square" lIns="0" tIns="0" rIns="0" bIns="0" rtlCol="0">
            <a:spAutoFit/>
          </a:bodyPr>
          <a:lstStyle/>
          <a:p>
            <a:pPr algn="l"/>
            <a:endParaRPr lang="en-US" sz="2000" err="1"/>
          </a:p>
        </p:txBody>
      </p:sp>
      <p:sp>
        <p:nvSpPr>
          <p:cNvPr id="86" name="Rectangle: Rounded Corners 85">
            <a:extLst>
              <a:ext uri="{FF2B5EF4-FFF2-40B4-BE49-F238E27FC236}">
                <a16:creationId xmlns:a16="http://schemas.microsoft.com/office/drawing/2014/main" id="{FE749815-76C7-507F-17CA-63F35FD7C816}"/>
              </a:ext>
            </a:extLst>
          </p:cNvPr>
          <p:cNvSpPr/>
          <p:nvPr/>
        </p:nvSpPr>
        <p:spPr bwMode="auto">
          <a:xfrm>
            <a:off x="0" y="136683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mj-lt"/>
                <a:ea typeface="+mn-ea"/>
                <a:cs typeface="Segoe UI Semilight" panose="020B0402040204020203" pitchFamily="34" charset="0"/>
              </a:rPr>
              <a:t>Offer Setup</a:t>
            </a:r>
          </a:p>
        </p:txBody>
      </p:sp>
      <p:cxnSp>
        <p:nvCxnSpPr>
          <p:cNvPr id="6" name="Straight Connector 5">
            <a:extLst>
              <a:ext uri="{FF2B5EF4-FFF2-40B4-BE49-F238E27FC236}">
                <a16:creationId xmlns:a16="http://schemas.microsoft.com/office/drawing/2014/main" id="{14DE42D7-2D12-9BA5-068A-D388D79525B3}"/>
              </a:ext>
            </a:extLst>
          </p:cNvPr>
          <p:cNvCxnSpPr/>
          <p:nvPr/>
        </p:nvCxnSpPr>
        <p:spPr>
          <a:xfrm>
            <a:off x="223520" y="1154149"/>
            <a:ext cx="2011680" cy="0"/>
          </a:xfrm>
          <a:prstGeom prst="line">
            <a:avLst/>
          </a:prstGeom>
          <a:noFill/>
          <a:ln w="25400" cap="rnd">
            <a:gradFill flip="none" rotWithShape="1">
              <a:gsLst>
                <a:gs pos="30000">
                  <a:srgbClr val="2DB4FF"/>
                </a:gs>
                <a:gs pos="35000">
                  <a:srgbClr val="2DB4FF"/>
                </a:gs>
                <a:gs pos="3000">
                  <a:srgbClr val="0078D4"/>
                </a:gs>
                <a:gs pos="52000">
                  <a:srgbClr val="818EFF"/>
                </a:gs>
                <a:gs pos="70000">
                  <a:srgbClr val="D660FF"/>
                </a:gs>
                <a:gs pos="97000">
                  <a:srgbClr val="FEA87A"/>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8" name="Slide Number Placeholder 7">
            <a:extLst>
              <a:ext uri="{FF2B5EF4-FFF2-40B4-BE49-F238E27FC236}">
                <a16:creationId xmlns:a16="http://schemas.microsoft.com/office/drawing/2014/main" id="{1E9B892F-07DD-BEB0-FA87-EAD0828CBB40}"/>
              </a:ext>
            </a:extLst>
          </p:cNvPr>
          <p:cNvSpPr>
            <a:spLocks noGrp="1"/>
          </p:cNvSpPr>
          <p:nvPr>
            <p:ph type="sldNum" sz="quarter" idx="11"/>
          </p:nvPr>
        </p:nvSpPr>
        <p:spPr/>
        <p:txBody>
          <a:bodyPr/>
          <a:lstStyle/>
          <a:p>
            <a:fld id="{5763EE98-C176-4152-A50F-E68840BAFA00}" type="slidenum">
              <a:rPr lang="en-US" smtClean="0"/>
              <a:pPr/>
              <a:t>29</a:t>
            </a:fld>
            <a:endParaRPr lang="en-US"/>
          </a:p>
        </p:txBody>
      </p:sp>
    </p:spTree>
    <p:extLst>
      <p:ext uri="{BB962C8B-B14F-4D97-AF65-F5344CB8AC3E}">
        <p14:creationId xmlns:p14="http://schemas.microsoft.com/office/powerpoint/2010/main" val="1741057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38">
            <a:extLst>
              <a:ext uri="{FF2B5EF4-FFF2-40B4-BE49-F238E27FC236}">
                <a16:creationId xmlns:a16="http://schemas.microsoft.com/office/drawing/2014/main" id="{EECDD5CF-2D0F-4F1B-A160-12C815F23DB5}"/>
              </a:ext>
            </a:extLst>
          </p:cNvPr>
          <p:cNvSpPr>
            <a:spLocks noGrp="1"/>
          </p:cNvSpPr>
          <p:nvPr>
            <p:ph type="title"/>
          </p:nvPr>
        </p:nvSpPr>
        <p:spPr/>
        <p:txBody>
          <a:bodyPr/>
          <a:lstStyle/>
          <a:p>
            <a:pPr lvl="0"/>
            <a:r>
              <a:rPr lang="en-US" noProof="0"/>
              <a:t>Microsoft 365 Copilot offer</a:t>
            </a:r>
          </a:p>
        </p:txBody>
      </p:sp>
      <p:sp>
        <p:nvSpPr>
          <p:cNvPr id="79" name="TextBox 78">
            <a:extLst>
              <a:ext uri="{FF2B5EF4-FFF2-40B4-BE49-F238E27FC236}">
                <a16:creationId xmlns:a16="http://schemas.microsoft.com/office/drawing/2014/main" id="{540C01FF-9072-43CC-8C57-AD5FBF1A32E0}"/>
              </a:ext>
            </a:extLst>
          </p:cNvPr>
          <p:cNvSpPr txBox="1">
            <a:spLocks/>
          </p:cNvSpPr>
          <p:nvPr/>
        </p:nvSpPr>
        <p:spPr>
          <a:xfrm>
            <a:off x="3038478" y="5129678"/>
            <a:ext cx="2478516" cy="215444"/>
          </a:xfrm>
          <a:prstGeom prst="rect">
            <a:avLst/>
          </a:prstGeom>
          <a:noFill/>
          <a:ln>
            <a:noFill/>
          </a:ln>
        </p:spPr>
        <p:txBody>
          <a:bodyPr wrap="square" lIns="0" tIns="0" rIns="0" bIns="0" rtlCol="0" anchor="t" anchorCtr="0">
            <a:spAutoFit/>
          </a:bodyPr>
          <a:lstStyle/>
          <a:p>
            <a:pPr marL="342900" marR="0" lvl="0" indent="-342900" algn="l" defTabSz="932472" rtl="0" eaLnBrk="1" fontAlgn="base" latinLnBrk="0" hangingPunct="1">
              <a:lnSpc>
                <a:spcPct val="100000"/>
              </a:lnSpc>
              <a:spcBef>
                <a:spcPts val="600"/>
              </a:spcBef>
              <a:spcAft>
                <a:spcPts val="1200"/>
              </a:spcAft>
              <a:buClr>
                <a:srgbClr val="000000"/>
              </a:buClr>
              <a:buSzPct val="100000"/>
              <a:buFont typeface="+mj-lt"/>
              <a:buAutoNum type="arabicPeriod" startAt="2"/>
              <a:tabLst/>
              <a:defRPr/>
            </a:pPr>
            <a:r>
              <a:rPr kumimoji="0" lang="en-US" sz="1400" b="1" i="0" u="none" strike="noStrike" kern="1200" cap="none" spc="0" normalizeH="0" baseline="0" noProof="0" dirty="0">
                <a:ln>
                  <a:noFill/>
                </a:ln>
                <a:solidFill>
                  <a:srgbClr val="000000"/>
                </a:solidFill>
                <a:effectLst/>
                <a:uLnTx/>
                <a:uFillTx/>
                <a:ea typeface="+mn-ea"/>
                <a:cs typeface="Segoe UI" pitchFamily="34" charset="0"/>
              </a:rPr>
              <a:t>​</a:t>
            </a:r>
            <a:r>
              <a:rPr kumimoji="0" lang="en-US" sz="1400" i="0" u="none" strike="noStrike" kern="1200" cap="none" spc="0" normalizeH="0" baseline="0" noProof="0" dirty="0">
                <a:ln>
                  <a:noFill/>
                </a:ln>
                <a:solidFill>
                  <a:srgbClr val="000000"/>
                </a:solidFill>
                <a:effectLst/>
                <a:uLnTx/>
                <a:uFillTx/>
                <a:ea typeface="+mn-ea"/>
                <a:cs typeface="Segoe UI" pitchFamily="34" charset="0"/>
              </a:rPr>
              <a:t>Select</a:t>
            </a:r>
            <a:r>
              <a:rPr kumimoji="0" lang="en-US" sz="1400" b="1" i="0" u="none" strike="noStrike" kern="1200" cap="none" spc="0" normalizeH="0" baseline="0" noProof="0" dirty="0">
                <a:ln>
                  <a:noFill/>
                </a:ln>
                <a:solidFill>
                  <a:srgbClr val="000000"/>
                </a:solidFill>
                <a:effectLst/>
                <a:uLnTx/>
                <a:uFillTx/>
                <a:ea typeface="+mn-ea"/>
                <a:cs typeface="Segoe UI" pitchFamily="34" charset="0"/>
              </a:rPr>
              <a:t> Save draft</a:t>
            </a:r>
          </a:p>
        </p:txBody>
      </p:sp>
      <p:sp>
        <p:nvSpPr>
          <p:cNvPr id="84" name="TextBox 83">
            <a:extLst>
              <a:ext uri="{FF2B5EF4-FFF2-40B4-BE49-F238E27FC236}">
                <a16:creationId xmlns:a16="http://schemas.microsoft.com/office/drawing/2014/main" id="{813AA960-A1CD-49AD-8369-88BFBD7E31F7}"/>
              </a:ext>
            </a:extLst>
          </p:cNvPr>
          <p:cNvSpPr txBox="1">
            <a:spLocks/>
          </p:cNvSpPr>
          <p:nvPr/>
        </p:nvSpPr>
        <p:spPr>
          <a:xfrm>
            <a:off x="3009900" y="2375443"/>
            <a:ext cx="2169425" cy="1292662"/>
          </a:xfrm>
          <a:prstGeom prst="rect">
            <a:avLst/>
          </a:prstGeom>
          <a:noFill/>
          <a:ln>
            <a:noFill/>
          </a:ln>
        </p:spPr>
        <p:txBody>
          <a:bodyPr wrap="square" lIns="0" tIns="0" rIns="0" bIns="0" rtlCol="0" anchor="t" anchorCtr="0">
            <a:spAutoFit/>
          </a:bodyPr>
          <a:lstStyle/>
          <a:p>
            <a:pPr marL="342900" marR="0" lvl="0" indent="-342900" algn="l" defTabSz="932472" rtl="0" eaLnBrk="1" fontAlgn="base" latinLnBrk="0" hangingPunct="1">
              <a:lnSpc>
                <a:spcPct val="100000"/>
              </a:lnSpc>
              <a:spcBef>
                <a:spcPts val="600"/>
              </a:spcBef>
              <a:spcAft>
                <a:spcPts val="1200"/>
              </a:spcAft>
              <a:buClr>
                <a:srgbClr val="000000"/>
              </a:buClr>
              <a:buSzPct val="100000"/>
              <a:buFont typeface="+mj-lt"/>
              <a:buAutoNum type="arabicPeriod"/>
              <a:tabLst/>
              <a:defRPr/>
            </a:pPr>
            <a:r>
              <a:rPr kumimoji="0" lang="en-US" sz="1400" b="1" i="0" u="none" strike="noStrike" kern="1200" cap="none" spc="0" normalizeH="0" baseline="0" noProof="0" dirty="0">
                <a:ln>
                  <a:noFill/>
                </a:ln>
                <a:solidFill>
                  <a:srgbClr val="000000"/>
                </a:solidFill>
                <a:effectLst/>
                <a:uLnTx/>
                <a:uFillTx/>
                <a:ea typeface="+mn-ea"/>
                <a:cs typeface="Segoe UI" pitchFamily="34" charset="0"/>
              </a:rPr>
              <a:t>​Customer leads: </a:t>
            </a:r>
            <a:r>
              <a:rPr kumimoji="0" lang="en-US" sz="1400" b="0" i="0" u="none" strike="noStrike" kern="1200" cap="none" spc="0" normalizeH="0" baseline="0" noProof="0" dirty="0">
                <a:ln>
                  <a:noFill/>
                </a:ln>
                <a:solidFill>
                  <a:srgbClr val="000000"/>
                </a:solidFill>
                <a:effectLst/>
                <a:uLnTx/>
                <a:uFillTx/>
                <a:ea typeface="+mn-ea"/>
                <a:cs typeface="Segoe UI" pitchFamily="34" charset="0"/>
              </a:rPr>
              <a:t>Select the destination where the customer leads should be routed to (e.g., CRM or email contact).</a:t>
            </a:r>
          </a:p>
        </p:txBody>
      </p:sp>
      <p:pic>
        <p:nvPicPr>
          <p:cNvPr id="10" name="Picture 9">
            <a:extLst>
              <a:ext uri="{FF2B5EF4-FFF2-40B4-BE49-F238E27FC236}">
                <a16:creationId xmlns:a16="http://schemas.microsoft.com/office/drawing/2014/main" id="{BF933483-BAFC-4F87-B07B-C137B356E5F9}"/>
              </a:ext>
            </a:extLst>
          </p:cNvPr>
          <p:cNvPicPr>
            <a:picLocks noChangeAspect="1"/>
          </p:cNvPicPr>
          <p:nvPr/>
        </p:nvPicPr>
        <p:blipFill>
          <a:blip r:embed="rId3"/>
          <a:stretch>
            <a:fillRect/>
          </a:stretch>
        </p:blipFill>
        <p:spPr>
          <a:xfrm>
            <a:off x="5928089" y="5834724"/>
            <a:ext cx="3831175" cy="579905"/>
          </a:xfrm>
          <a:prstGeom prst="rect">
            <a:avLst/>
          </a:prstGeom>
          <a:ln w="9525">
            <a:noFill/>
          </a:ln>
          <a:effectLst>
            <a:outerShdw blurRad="50800" dist="38100" dir="2700000" algn="tl" rotWithShape="0">
              <a:prstClr val="black">
                <a:alpha val="40000"/>
              </a:prstClr>
            </a:outerShdw>
          </a:effectLst>
        </p:spPr>
      </p:pic>
      <p:grpSp>
        <p:nvGrpSpPr>
          <p:cNvPr id="17" name="Group 16">
            <a:extLst>
              <a:ext uri="{FF2B5EF4-FFF2-40B4-BE49-F238E27FC236}">
                <a16:creationId xmlns:a16="http://schemas.microsoft.com/office/drawing/2014/main" id="{C8749822-B7AE-4346-AEE6-530561DB8715}"/>
              </a:ext>
            </a:extLst>
          </p:cNvPr>
          <p:cNvGrpSpPr/>
          <p:nvPr/>
        </p:nvGrpSpPr>
        <p:grpSpPr>
          <a:xfrm>
            <a:off x="5928089" y="1223790"/>
            <a:ext cx="5976097" cy="4626508"/>
            <a:chOff x="6150418" y="1385082"/>
            <a:chExt cx="5976097" cy="4626508"/>
          </a:xfrm>
        </p:grpSpPr>
        <p:pic>
          <p:nvPicPr>
            <p:cNvPr id="12" name="Picture 11">
              <a:extLst>
                <a:ext uri="{FF2B5EF4-FFF2-40B4-BE49-F238E27FC236}">
                  <a16:creationId xmlns:a16="http://schemas.microsoft.com/office/drawing/2014/main" id="{1B1C1369-0951-4826-B286-34A6AA8881ED}"/>
                </a:ext>
              </a:extLst>
            </p:cNvPr>
            <p:cNvPicPr>
              <a:picLocks noChangeAspect="1"/>
            </p:cNvPicPr>
            <p:nvPr/>
          </p:nvPicPr>
          <p:blipFill>
            <a:blip r:embed="rId4">
              <a:extLst>
                <a:ext uri="{28A0092B-C50C-407E-A947-70E740481C1C}">
                  <a14:useLocalDpi xmlns:a14="http://schemas.microsoft.com/office/drawing/2010/main" val="0"/>
                </a:ext>
              </a:extLst>
            </a:blip>
            <a:srcRect l="583" r="1420"/>
            <a:stretch/>
          </p:blipFill>
          <p:spPr>
            <a:xfrm>
              <a:off x="6150418" y="1385082"/>
              <a:ext cx="5692412" cy="4501894"/>
            </a:xfrm>
            <a:prstGeom prst="rect">
              <a:avLst/>
            </a:prstGeom>
            <a:ln w="9525">
              <a:noFill/>
            </a:ln>
            <a:effectLst>
              <a:outerShdw blurRad="50800" dist="38100" dir="2700000" algn="tl" rotWithShape="0">
                <a:prstClr val="black">
                  <a:alpha val="40000"/>
                </a:prstClr>
              </a:outerShdw>
            </a:effectLst>
          </p:spPr>
        </p:pic>
        <p:sp>
          <p:nvSpPr>
            <p:cNvPr id="13" name="Isosceles Triangle 12">
              <a:extLst>
                <a:ext uri="{FF2B5EF4-FFF2-40B4-BE49-F238E27FC236}">
                  <a16:creationId xmlns:a16="http://schemas.microsoft.com/office/drawing/2014/main" id="{2CFAFA48-6D1C-4384-BB3B-1DFC9099E942}"/>
                </a:ext>
              </a:extLst>
            </p:cNvPr>
            <p:cNvSpPr/>
            <p:nvPr/>
          </p:nvSpPr>
          <p:spPr bwMode="auto">
            <a:xfrm rot="16200000">
              <a:off x="6774934" y="4190790"/>
              <a:ext cx="1981302" cy="1660298"/>
            </a:xfrm>
            <a:prstGeom prst="triangle">
              <a:avLst>
                <a:gd name="adj" fmla="val 20192"/>
              </a:avLst>
            </a:prstGeom>
            <a:gradFill flip="none" rotWithShape="1">
              <a:gsLst>
                <a:gs pos="0">
                  <a:srgbClr val="FFFFFF"/>
                </a:gs>
                <a:gs pos="92000">
                  <a:srgbClr val="C73ECC"/>
                </a:gs>
              </a:gsLst>
              <a:lin ang="16200000" scaled="1"/>
              <a:tileRect/>
            </a:gradFill>
            <a:ln w="9525">
              <a:noFill/>
              <a:headEnd type="none" w="med" len="med"/>
              <a:tailEnd type="none" w="med" len="med"/>
            </a:ln>
            <a:effectLst>
              <a:outerShdw blurRad="50800" dist="38100" dir="8100000" algn="t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29CABF29-B623-47D4-AA2F-19F998327D38}"/>
                </a:ext>
              </a:extLst>
            </p:cNvPr>
            <p:cNvPicPr>
              <a:picLocks noChangeAspect="1"/>
            </p:cNvPicPr>
            <p:nvPr/>
          </p:nvPicPr>
          <p:blipFill>
            <a:blip r:embed="rId5"/>
            <a:stretch>
              <a:fillRect/>
            </a:stretch>
          </p:blipFill>
          <p:spPr>
            <a:xfrm>
              <a:off x="8595734" y="4030288"/>
              <a:ext cx="3530781" cy="1981302"/>
            </a:xfrm>
            <a:prstGeom prst="rect">
              <a:avLst/>
            </a:prstGeom>
            <a:ln w="9525">
              <a:noFill/>
            </a:ln>
            <a:effectLst>
              <a:outerShdw blurRad="50800" dist="38100" dir="2700000" algn="tl" rotWithShape="0">
                <a:prstClr val="black">
                  <a:alpha val="40000"/>
                </a:prstClr>
              </a:outerShdw>
            </a:effectLst>
          </p:spPr>
        </p:pic>
        <p:sp>
          <p:nvSpPr>
            <p:cNvPr id="14" name="Rectangle 13">
              <a:extLst>
                <a:ext uri="{FF2B5EF4-FFF2-40B4-BE49-F238E27FC236}">
                  <a16:creationId xmlns:a16="http://schemas.microsoft.com/office/drawing/2014/main" id="{E8D7EFB3-C729-451F-A29E-53B250405472}"/>
                </a:ext>
              </a:extLst>
            </p:cNvPr>
            <p:cNvSpPr/>
            <p:nvPr/>
          </p:nvSpPr>
          <p:spPr bwMode="auto">
            <a:xfrm>
              <a:off x="6195263" y="5520648"/>
              <a:ext cx="740173" cy="244219"/>
            </a:xfrm>
            <a:prstGeom prst="rect">
              <a:avLst/>
            </a:prstGeom>
            <a:noFill/>
            <a:ln w="381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5" name="Freeform: Shape 34">
            <a:extLst>
              <a:ext uri="{FF2B5EF4-FFF2-40B4-BE49-F238E27FC236}">
                <a16:creationId xmlns:a16="http://schemas.microsoft.com/office/drawing/2014/main" id="{B6671667-495C-4139-9D56-5D33DB9A8419}"/>
              </a:ext>
            </a:extLst>
          </p:cNvPr>
          <p:cNvSpPr/>
          <p:nvPr/>
        </p:nvSpPr>
        <p:spPr bwMode="auto">
          <a:xfrm>
            <a:off x="5324640" y="2781301"/>
            <a:ext cx="613846" cy="2710416"/>
          </a:xfrm>
          <a:custGeom>
            <a:avLst/>
            <a:gdLst>
              <a:gd name="connsiteX0" fmla="*/ 0 w 800100"/>
              <a:gd name="connsiteY0" fmla="*/ 0 h 257175"/>
              <a:gd name="connsiteX1" fmla="*/ 328612 w 800100"/>
              <a:gd name="connsiteY1" fmla="*/ 0 h 257175"/>
              <a:gd name="connsiteX2" fmla="*/ 328612 w 800100"/>
              <a:gd name="connsiteY2" fmla="*/ 257175 h 257175"/>
              <a:gd name="connsiteX3" fmla="*/ 800100 w 800100"/>
              <a:gd name="connsiteY3" fmla="*/ 257175 h 257175"/>
            </a:gdLst>
            <a:ahLst/>
            <a:cxnLst>
              <a:cxn ang="0">
                <a:pos x="connsiteX0" y="connsiteY0"/>
              </a:cxn>
              <a:cxn ang="0">
                <a:pos x="connsiteX1" y="connsiteY1"/>
              </a:cxn>
              <a:cxn ang="0">
                <a:pos x="connsiteX2" y="connsiteY2"/>
              </a:cxn>
              <a:cxn ang="0">
                <a:pos x="connsiteX3" y="connsiteY3"/>
              </a:cxn>
            </a:cxnLst>
            <a:rect l="l" t="t" r="r" b="b"/>
            <a:pathLst>
              <a:path w="800100" h="257175">
                <a:moveTo>
                  <a:pt x="0" y="0"/>
                </a:moveTo>
                <a:lnTo>
                  <a:pt x="328612" y="0"/>
                </a:lnTo>
                <a:lnTo>
                  <a:pt x="328612" y="257175"/>
                </a:lnTo>
                <a:lnTo>
                  <a:pt x="800100" y="257175"/>
                </a:lnTo>
              </a:path>
            </a:pathLst>
          </a:custGeom>
          <a:noFill/>
          <a:ln w="22225" cap="rnd">
            <a:solidFill>
              <a:schemeClr val="tx2">
                <a:lumMod val="50000"/>
                <a:lumOff val="50000"/>
              </a:schemeClr>
            </a:solidFill>
            <a:prstDash val="sysDot"/>
            <a:headEnd type="none" w="med" len="med"/>
            <a:tailEnd type="triangle" w="lg" len="lg"/>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7" name="Freeform: Shape 36">
            <a:extLst>
              <a:ext uri="{FF2B5EF4-FFF2-40B4-BE49-F238E27FC236}">
                <a16:creationId xmlns:a16="http://schemas.microsoft.com/office/drawing/2014/main" id="{8E60C7AB-DB5A-4D41-A8D0-324AED3B6091}"/>
              </a:ext>
            </a:extLst>
          </p:cNvPr>
          <p:cNvSpPr/>
          <p:nvPr/>
        </p:nvSpPr>
        <p:spPr bwMode="auto">
          <a:xfrm>
            <a:off x="4832498" y="5253136"/>
            <a:ext cx="1095592" cy="844178"/>
          </a:xfrm>
          <a:custGeom>
            <a:avLst/>
            <a:gdLst>
              <a:gd name="connsiteX0" fmla="*/ 0 w 800100"/>
              <a:gd name="connsiteY0" fmla="*/ 0 h 257175"/>
              <a:gd name="connsiteX1" fmla="*/ 328612 w 800100"/>
              <a:gd name="connsiteY1" fmla="*/ 0 h 257175"/>
              <a:gd name="connsiteX2" fmla="*/ 328612 w 800100"/>
              <a:gd name="connsiteY2" fmla="*/ 257175 h 257175"/>
              <a:gd name="connsiteX3" fmla="*/ 800100 w 800100"/>
              <a:gd name="connsiteY3" fmla="*/ 257175 h 257175"/>
            </a:gdLst>
            <a:ahLst/>
            <a:cxnLst>
              <a:cxn ang="0">
                <a:pos x="connsiteX0" y="connsiteY0"/>
              </a:cxn>
              <a:cxn ang="0">
                <a:pos x="connsiteX1" y="connsiteY1"/>
              </a:cxn>
              <a:cxn ang="0">
                <a:pos x="connsiteX2" y="connsiteY2"/>
              </a:cxn>
              <a:cxn ang="0">
                <a:pos x="connsiteX3" y="connsiteY3"/>
              </a:cxn>
            </a:cxnLst>
            <a:rect l="l" t="t" r="r" b="b"/>
            <a:pathLst>
              <a:path w="800100" h="257175">
                <a:moveTo>
                  <a:pt x="0" y="0"/>
                </a:moveTo>
                <a:lnTo>
                  <a:pt x="328612" y="0"/>
                </a:lnTo>
                <a:lnTo>
                  <a:pt x="328612" y="257175"/>
                </a:lnTo>
                <a:lnTo>
                  <a:pt x="800100" y="257175"/>
                </a:lnTo>
              </a:path>
            </a:pathLst>
          </a:custGeom>
          <a:noFill/>
          <a:ln w="22225" cap="rnd">
            <a:solidFill>
              <a:schemeClr val="tx2">
                <a:lumMod val="50000"/>
                <a:lumOff val="50000"/>
              </a:schemeClr>
            </a:solidFill>
            <a:prstDash val="sysDot"/>
            <a:headEnd type="none" w="med" len="med"/>
            <a:tailEnd type="triangle" w="lg" len="lg"/>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2FDCEBF8-6735-407A-8577-E38FFAB46169}"/>
              </a:ext>
            </a:extLst>
          </p:cNvPr>
          <p:cNvSpPr/>
          <p:nvPr/>
        </p:nvSpPr>
        <p:spPr bwMode="auto">
          <a:xfrm>
            <a:off x="6051960" y="5890438"/>
            <a:ext cx="1246262" cy="469418"/>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30" name="Group 29">
            <a:extLst>
              <a:ext uri="{FF2B5EF4-FFF2-40B4-BE49-F238E27FC236}">
                <a16:creationId xmlns:a16="http://schemas.microsoft.com/office/drawing/2014/main" id="{127596B6-E3C6-0E1B-22B8-C0BDE97B8449}"/>
              </a:ext>
            </a:extLst>
          </p:cNvPr>
          <p:cNvGrpSpPr/>
          <p:nvPr/>
        </p:nvGrpSpPr>
        <p:grpSpPr>
          <a:xfrm>
            <a:off x="9800681" y="299796"/>
            <a:ext cx="1803056" cy="552365"/>
            <a:chOff x="10126451" y="192765"/>
            <a:chExt cx="1803056" cy="552365"/>
          </a:xfrm>
        </p:grpSpPr>
        <p:grpSp>
          <p:nvGrpSpPr>
            <p:cNvPr id="31" name="Group 30">
              <a:extLst>
                <a:ext uri="{FF2B5EF4-FFF2-40B4-BE49-F238E27FC236}">
                  <a16:creationId xmlns:a16="http://schemas.microsoft.com/office/drawing/2014/main" id="{2FEE1BF3-A399-B213-D182-F4DA85F45C0A}"/>
                </a:ext>
              </a:extLst>
            </p:cNvPr>
            <p:cNvGrpSpPr/>
            <p:nvPr/>
          </p:nvGrpSpPr>
          <p:grpSpPr>
            <a:xfrm>
              <a:off x="10752268" y="196490"/>
              <a:ext cx="548640" cy="548640"/>
              <a:chOff x="10752268" y="196490"/>
              <a:chExt cx="548640" cy="548640"/>
            </a:xfrm>
          </p:grpSpPr>
          <p:sp>
            <p:nvSpPr>
              <p:cNvPr id="59" name="Oval 58">
                <a:extLst>
                  <a:ext uri="{FF2B5EF4-FFF2-40B4-BE49-F238E27FC236}">
                    <a16:creationId xmlns:a16="http://schemas.microsoft.com/office/drawing/2014/main" id="{DE7224B5-8269-13B4-8EAE-62E3AE9C1569}"/>
                  </a:ext>
                </a:extLst>
              </p:cNvPr>
              <p:cNvSpPr/>
              <p:nvPr/>
            </p:nvSpPr>
            <p:spPr bwMode="auto">
              <a:xfrm>
                <a:off x="10752268"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67" name="gear" descr="gear, wrench, engineer">
                <a:extLst>
                  <a:ext uri="{FF2B5EF4-FFF2-40B4-BE49-F238E27FC236}">
                    <a16:creationId xmlns:a16="http://schemas.microsoft.com/office/drawing/2014/main" id="{E6F12019-0C80-1905-17BC-BC3755D36376}"/>
                  </a:ext>
                </a:extLst>
              </p:cNvPr>
              <p:cNvGrpSpPr/>
              <p:nvPr/>
            </p:nvGrpSpPr>
            <p:grpSpPr>
              <a:xfrm>
                <a:off x="10883844" y="326676"/>
                <a:ext cx="288269" cy="288268"/>
                <a:chOff x="3510968" y="2992337"/>
                <a:chExt cx="498751" cy="498751"/>
              </a:xfrm>
              <a:solidFill>
                <a:schemeClr val="bg1"/>
              </a:solidFill>
            </p:grpSpPr>
            <p:sp>
              <p:nvSpPr>
                <p:cNvPr id="69" name="Freeform: Shape 68">
                  <a:extLst>
                    <a:ext uri="{FF2B5EF4-FFF2-40B4-BE49-F238E27FC236}">
                      <a16:creationId xmlns:a16="http://schemas.microsoft.com/office/drawing/2014/main" id="{9BE13265-4C14-2D44-90F8-C053224732BE}"/>
                    </a:ext>
                  </a:extLst>
                </p:cNvPr>
                <p:cNvSpPr/>
                <p:nvPr/>
              </p:nvSpPr>
              <p:spPr>
                <a:xfrm>
                  <a:off x="3510968" y="2992337"/>
                  <a:ext cx="498751" cy="498751"/>
                </a:xfrm>
                <a:custGeom>
                  <a:avLst/>
                  <a:gdLst>
                    <a:gd name="connsiteX0" fmla="*/ 499635 w 498751"/>
                    <a:gd name="connsiteY0" fmla="*/ 277035 h 498751"/>
                    <a:gd name="connsiteX1" fmla="*/ 499635 w 498751"/>
                    <a:gd name="connsiteY1" fmla="*/ 224623 h 498751"/>
                    <a:gd name="connsiteX2" fmla="*/ 445560 w 498751"/>
                    <a:gd name="connsiteY2" fmla="*/ 224623 h 498751"/>
                    <a:gd name="connsiteX3" fmla="*/ 407060 w 498751"/>
                    <a:gd name="connsiteY3" fmla="*/ 131698 h 498751"/>
                    <a:gd name="connsiteX4" fmla="*/ 445298 w 498751"/>
                    <a:gd name="connsiteY4" fmla="*/ 93460 h 498751"/>
                    <a:gd name="connsiteX5" fmla="*/ 408285 w 498751"/>
                    <a:gd name="connsiteY5" fmla="*/ 56448 h 498751"/>
                    <a:gd name="connsiteX6" fmla="*/ 370048 w 498751"/>
                    <a:gd name="connsiteY6" fmla="*/ 94686 h 498751"/>
                    <a:gd name="connsiteX7" fmla="*/ 277123 w 498751"/>
                    <a:gd name="connsiteY7" fmla="*/ 56186 h 498751"/>
                    <a:gd name="connsiteX8" fmla="*/ 277123 w 498751"/>
                    <a:gd name="connsiteY8" fmla="*/ 2111 h 498751"/>
                    <a:gd name="connsiteX9" fmla="*/ 224710 w 498751"/>
                    <a:gd name="connsiteY9" fmla="*/ 2111 h 498751"/>
                    <a:gd name="connsiteX10" fmla="*/ 224710 w 498751"/>
                    <a:gd name="connsiteY10" fmla="*/ 56186 h 498751"/>
                    <a:gd name="connsiteX11" fmla="*/ 131785 w 498751"/>
                    <a:gd name="connsiteY11" fmla="*/ 94686 h 498751"/>
                    <a:gd name="connsiteX12" fmla="*/ 93548 w 498751"/>
                    <a:gd name="connsiteY12" fmla="*/ 56448 h 498751"/>
                    <a:gd name="connsiteX13" fmla="*/ 56536 w 498751"/>
                    <a:gd name="connsiteY13" fmla="*/ 93460 h 498751"/>
                    <a:gd name="connsiteX14" fmla="*/ 94773 w 498751"/>
                    <a:gd name="connsiteY14" fmla="*/ 131698 h 498751"/>
                    <a:gd name="connsiteX15" fmla="*/ 56273 w 498751"/>
                    <a:gd name="connsiteY15" fmla="*/ 224623 h 498751"/>
                    <a:gd name="connsiteX16" fmla="*/ 2111 w 498751"/>
                    <a:gd name="connsiteY16" fmla="*/ 224623 h 498751"/>
                    <a:gd name="connsiteX17" fmla="*/ 2111 w 498751"/>
                    <a:gd name="connsiteY17" fmla="*/ 277035 h 498751"/>
                    <a:gd name="connsiteX18" fmla="*/ 56186 w 498751"/>
                    <a:gd name="connsiteY18" fmla="*/ 277035 h 498751"/>
                    <a:gd name="connsiteX19" fmla="*/ 112010 w 498751"/>
                    <a:gd name="connsiteY19" fmla="*/ 389735 h 498751"/>
                    <a:gd name="connsiteX20" fmla="*/ 224710 w 498751"/>
                    <a:gd name="connsiteY20" fmla="*/ 445560 h 498751"/>
                    <a:gd name="connsiteX21" fmla="*/ 224710 w 498751"/>
                    <a:gd name="connsiteY21" fmla="*/ 499635 h 498751"/>
                    <a:gd name="connsiteX22" fmla="*/ 277123 w 498751"/>
                    <a:gd name="connsiteY22" fmla="*/ 499635 h 498751"/>
                    <a:gd name="connsiteX23" fmla="*/ 277123 w 498751"/>
                    <a:gd name="connsiteY23" fmla="*/ 445560 h 498751"/>
                    <a:gd name="connsiteX24" fmla="*/ 370048 w 498751"/>
                    <a:gd name="connsiteY24" fmla="*/ 407060 h 498751"/>
                    <a:gd name="connsiteX25" fmla="*/ 408285 w 498751"/>
                    <a:gd name="connsiteY25" fmla="*/ 445298 h 498751"/>
                    <a:gd name="connsiteX26" fmla="*/ 445298 w 498751"/>
                    <a:gd name="connsiteY26" fmla="*/ 408285 h 498751"/>
                    <a:gd name="connsiteX27" fmla="*/ 407060 w 498751"/>
                    <a:gd name="connsiteY27" fmla="*/ 370048 h 498751"/>
                    <a:gd name="connsiteX28" fmla="*/ 445560 w 498751"/>
                    <a:gd name="connsiteY28" fmla="*/ 277123 h 498751"/>
                    <a:gd name="connsiteX29" fmla="*/ 499635 w 498751"/>
                    <a:gd name="connsiteY29" fmla="*/ 277123 h 498751"/>
                    <a:gd name="connsiteX30" fmla="*/ 499635 w 498751"/>
                    <a:gd name="connsiteY30" fmla="*/ 277035 h 498751"/>
                    <a:gd name="connsiteX31" fmla="*/ 106848 w 498751"/>
                    <a:gd name="connsiteY31" fmla="*/ 250873 h 498751"/>
                    <a:gd name="connsiteX32" fmla="*/ 139573 w 498751"/>
                    <a:gd name="connsiteY32" fmla="*/ 159523 h 498751"/>
                    <a:gd name="connsiteX33" fmla="*/ 222786 w 498751"/>
                    <a:gd name="connsiteY33" fmla="*/ 109648 h 498751"/>
                    <a:gd name="connsiteX34" fmla="*/ 318773 w 498751"/>
                    <a:gd name="connsiteY34" fmla="*/ 123910 h 498751"/>
                    <a:gd name="connsiteX35" fmla="*/ 383960 w 498751"/>
                    <a:gd name="connsiteY35" fmla="*/ 195835 h 498751"/>
                    <a:gd name="connsiteX36" fmla="*/ 388685 w 498751"/>
                    <a:gd name="connsiteY36" fmla="*/ 292785 h 498751"/>
                    <a:gd name="connsiteX37" fmla="*/ 330848 w 498751"/>
                    <a:gd name="connsiteY37" fmla="*/ 370748 h 498751"/>
                    <a:gd name="connsiteX38" fmla="*/ 236698 w 498751"/>
                    <a:gd name="connsiteY38" fmla="*/ 394285 h 498751"/>
                    <a:gd name="connsiteX39" fmla="*/ 148936 w 498751"/>
                    <a:gd name="connsiteY39" fmla="*/ 352810 h 498751"/>
                    <a:gd name="connsiteX40" fmla="*/ 117610 w 498751"/>
                    <a:gd name="connsiteY40" fmla="*/ 306085 h 498751"/>
                    <a:gd name="connsiteX41" fmla="*/ 106848 w 498751"/>
                    <a:gd name="connsiteY41" fmla="*/ 250873 h 498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98751" h="498751">
                      <a:moveTo>
                        <a:pt x="499635" y="277035"/>
                      </a:moveTo>
                      <a:lnTo>
                        <a:pt x="499635" y="224623"/>
                      </a:lnTo>
                      <a:lnTo>
                        <a:pt x="445560" y="224623"/>
                      </a:lnTo>
                      <a:cubicBezTo>
                        <a:pt x="441098" y="190848"/>
                        <a:pt x="427798" y="158823"/>
                        <a:pt x="407060" y="131698"/>
                      </a:cubicBezTo>
                      <a:lnTo>
                        <a:pt x="445298" y="93460"/>
                      </a:lnTo>
                      <a:lnTo>
                        <a:pt x="408285" y="56448"/>
                      </a:lnTo>
                      <a:lnTo>
                        <a:pt x="370048" y="94686"/>
                      </a:lnTo>
                      <a:cubicBezTo>
                        <a:pt x="342923" y="73948"/>
                        <a:pt x="310898" y="60648"/>
                        <a:pt x="277123" y="56186"/>
                      </a:cubicBezTo>
                      <a:lnTo>
                        <a:pt x="277123" y="2111"/>
                      </a:lnTo>
                      <a:lnTo>
                        <a:pt x="224710" y="2111"/>
                      </a:lnTo>
                      <a:lnTo>
                        <a:pt x="224710" y="56186"/>
                      </a:lnTo>
                      <a:cubicBezTo>
                        <a:pt x="190935" y="60648"/>
                        <a:pt x="158911" y="73948"/>
                        <a:pt x="131785" y="94686"/>
                      </a:cubicBezTo>
                      <a:lnTo>
                        <a:pt x="93548" y="56448"/>
                      </a:lnTo>
                      <a:lnTo>
                        <a:pt x="56536" y="93460"/>
                      </a:lnTo>
                      <a:lnTo>
                        <a:pt x="94773" y="131698"/>
                      </a:lnTo>
                      <a:cubicBezTo>
                        <a:pt x="74036" y="158823"/>
                        <a:pt x="60736" y="190848"/>
                        <a:pt x="56273" y="224623"/>
                      </a:cubicBezTo>
                      <a:lnTo>
                        <a:pt x="2111" y="224623"/>
                      </a:lnTo>
                      <a:lnTo>
                        <a:pt x="2111" y="277035"/>
                      </a:lnTo>
                      <a:lnTo>
                        <a:pt x="56186" y="277035"/>
                      </a:lnTo>
                      <a:cubicBezTo>
                        <a:pt x="61961" y="319648"/>
                        <a:pt x="81561" y="359285"/>
                        <a:pt x="112010" y="389735"/>
                      </a:cubicBezTo>
                      <a:cubicBezTo>
                        <a:pt x="142461" y="420185"/>
                        <a:pt x="182011" y="439785"/>
                        <a:pt x="224710" y="445560"/>
                      </a:cubicBezTo>
                      <a:lnTo>
                        <a:pt x="224710" y="499635"/>
                      </a:lnTo>
                      <a:lnTo>
                        <a:pt x="277123" y="499635"/>
                      </a:lnTo>
                      <a:lnTo>
                        <a:pt x="277123" y="445560"/>
                      </a:lnTo>
                      <a:cubicBezTo>
                        <a:pt x="310898" y="441098"/>
                        <a:pt x="342923" y="427798"/>
                        <a:pt x="370048" y="407060"/>
                      </a:cubicBezTo>
                      <a:lnTo>
                        <a:pt x="408285" y="445298"/>
                      </a:lnTo>
                      <a:lnTo>
                        <a:pt x="445298" y="408285"/>
                      </a:lnTo>
                      <a:lnTo>
                        <a:pt x="407060" y="370048"/>
                      </a:lnTo>
                      <a:cubicBezTo>
                        <a:pt x="427798" y="342923"/>
                        <a:pt x="441098" y="310898"/>
                        <a:pt x="445560" y="277123"/>
                      </a:cubicBezTo>
                      <a:lnTo>
                        <a:pt x="499635" y="277123"/>
                      </a:lnTo>
                      <a:lnTo>
                        <a:pt x="499635" y="277035"/>
                      </a:lnTo>
                      <a:close/>
                      <a:moveTo>
                        <a:pt x="106848" y="250873"/>
                      </a:moveTo>
                      <a:cubicBezTo>
                        <a:pt x="106848" y="217535"/>
                        <a:pt x="118398" y="185248"/>
                        <a:pt x="139573" y="159523"/>
                      </a:cubicBezTo>
                      <a:cubicBezTo>
                        <a:pt x="160748" y="133798"/>
                        <a:pt x="190148" y="116123"/>
                        <a:pt x="222786" y="109648"/>
                      </a:cubicBezTo>
                      <a:cubicBezTo>
                        <a:pt x="255423" y="103173"/>
                        <a:pt x="289373" y="108161"/>
                        <a:pt x="318773" y="123910"/>
                      </a:cubicBezTo>
                      <a:cubicBezTo>
                        <a:pt x="348173" y="139573"/>
                        <a:pt x="371185" y="165035"/>
                        <a:pt x="383960" y="195835"/>
                      </a:cubicBezTo>
                      <a:cubicBezTo>
                        <a:pt x="396735" y="226635"/>
                        <a:pt x="398397" y="260848"/>
                        <a:pt x="388685" y="292785"/>
                      </a:cubicBezTo>
                      <a:cubicBezTo>
                        <a:pt x="378973" y="324635"/>
                        <a:pt x="358585" y="352197"/>
                        <a:pt x="330848" y="370748"/>
                      </a:cubicBezTo>
                      <a:cubicBezTo>
                        <a:pt x="303110" y="389298"/>
                        <a:pt x="269860" y="397610"/>
                        <a:pt x="236698" y="394285"/>
                      </a:cubicBezTo>
                      <a:cubicBezTo>
                        <a:pt x="203535" y="391048"/>
                        <a:pt x="172560" y="376347"/>
                        <a:pt x="148936" y="352810"/>
                      </a:cubicBezTo>
                      <a:cubicBezTo>
                        <a:pt x="135548" y="339510"/>
                        <a:pt x="124873" y="323585"/>
                        <a:pt x="117610" y="306085"/>
                      </a:cubicBezTo>
                      <a:cubicBezTo>
                        <a:pt x="110523" y="288498"/>
                        <a:pt x="106761" y="269773"/>
                        <a:pt x="106848" y="25087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70" name="Freeform: Shape 69">
                  <a:extLst>
                    <a:ext uri="{FF2B5EF4-FFF2-40B4-BE49-F238E27FC236}">
                      <a16:creationId xmlns:a16="http://schemas.microsoft.com/office/drawing/2014/main" id="{6300CB57-70D3-70DD-0EC0-2F8C3828B2C1}"/>
                    </a:ext>
                  </a:extLst>
                </p:cNvPr>
                <p:cNvSpPr/>
                <p:nvPr/>
              </p:nvSpPr>
              <p:spPr>
                <a:xfrm>
                  <a:off x="3525494" y="3127375"/>
                  <a:ext cx="348087" cy="348087"/>
                </a:xfrm>
                <a:custGeom>
                  <a:avLst/>
                  <a:gdLst>
                    <a:gd name="connsiteX0" fmla="*/ 286398 w 348086"/>
                    <a:gd name="connsiteY0" fmla="*/ 124333 h 348086"/>
                    <a:gd name="connsiteX1" fmla="*/ 226548 w 348086"/>
                    <a:gd name="connsiteY1" fmla="*/ 64483 h 348086"/>
                    <a:gd name="connsiteX2" fmla="*/ 280448 w 348086"/>
                    <a:gd name="connsiteY2" fmla="*/ 10583 h 348086"/>
                    <a:gd name="connsiteX3" fmla="*/ 216923 w 348086"/>
                    <a:gd name="connsiteY3" fmla="*/ 4108 h 348086"/>
                    <a:gd name="connsiteX4" fmla="*/ 160310 w 348086"/>
                    <a:gd name="connsiteY4" fmla="*/ 33683 h 348086"/>
                    <a:gd name="connsiteX5" fmla="*/ 129335 w 348086"/>
                    <a:gd name="connsiteY5" fmla="*/ 89508 h 348086"/>
                    <a:gd name="connsiteX6" fmla="*/ 134235 w 348086"/>
                    <a:gd name="connsiteY6" fmla="*/ 153121 h 348086"/>
                    <a:gd name="connsiteX7" fmla="*/ 15236 w 348086"/>
                    <a:gd name="connsiteY7" fmla="*/ 272121 h 348086"/>
                    <a:gd name="connsiteX8" fmla="*/ 2111 w 348086"/>
                    <a:gd name="connsiteY8" fmla="*/ 303883 h 348086"/>
                    <a:gd name="connsiteX9" fmla="*/ 15236 w 348086"/>
                    <a:gd name="connsiteY9" fmla="*/ 335645 h 348086"/>
                    <a:gd name="connsiteX10" fmla="*/ 46998 w 348086"/>
                    <a:gd name="connsiteY10" fmla="*/ 348770 h 348086"/>
                    <a:gd name="connsiteX11" fmla="*/ 78760 w 348086"/>
                    <a:gd name="connsiteY11" fmla="*/ 335645 h 348086"/>
                    <a:gd name="connsiteX12" fmla="*/ 197760 w 348086"/>
                    <a:gd name="connsiteY12" fmla="*/ 216645 h 348086"/>
                    <a:gd name="connsiteX13" fmla="*/ 261373 w 348086"/>
                    <a:gd name="connsiteY13" fmla="*/ 221546 h 348086"/>
                    <a:gd name="connsiteX14" fmla="*/ 317198 w 348086"/>
                    <a:gd name="connsiteY14" fmla="*/ 190571 h 348086"/>
                    <a:gd name="connsiteX15" fmla="*/ 346773 w 348086"/>
                    <a:gd name="connsiteY15" fmla="*/ 134045 h 348086"/>
                    <a:gd name="connsiteX16" fmla="*/ 340298 w 348086"/>
                    <a:gd name="connsiteY16" fmla="*/ 70521 h 348086"/>
                    <a:gd name="connsiteX17" fmla="*/ 286398 w 348086"/>
                    <a:gd name="connsiteY17" fmla="*/ 124333 h 348086"/>
                    <a:gd name="connsiteX18" fmla="*/ 63011 w 348086"/>
                    <a:gd name="connsiteY18" fmla="*/ 319633 h 348086"/>
                    <a:gd name="connsiteX19" fmla="*/ 51548 w 348086"/>
                    <a:gd name="connsiteY19" fmla="*/ 325758 h 348086"/>
                    <a:gd name="connsiteX20" fmla="*/ 38598 w 348086"/>
                    <a:gd name="connsiteY20" fmla="*/ 324445 h 348086"/>
                    <a:gd name="connsiteX21" fmla="*/ 28536 w 348086"/>
                    <a:gd name="connsiteY21" fmla="*/ 316220 h 348086"/>
                    <a:gd name="connsiteX22" fmla="*/ 24773 w 348086"/>
                    <a:gd name="connsiteY22" fmla="*/ 303795 h 348086"/>
                    <a:gd name="connsiteX23" fmla="*/ 28536 w 348086"/>
                    <a:gd name="connsiteY23" fmla="*/ 291371 h 348086"/>
                    <a:gd name="connsiteX24" fmla="*/ 38598 w 348086"/>
                    <a:gd name="connsiteY24" fmla="*/ 283146 h 348086"/>
                    <a:gd name="connsiteX25" fmla="*/ 51548 w 348086"/>
                    <a:gd name="connsiteY25" fmla="*/ 281833 h 348086"/>
                    <a:gd name="connsiteX26" fmla="*/ 63011 w 348086"/>
                    <a:gd name="connsiteY26" fmla="*/ 287958 h 348086"/>
                    <a:gd name="connsiteX27" fmla="*/ 69573 w 348086"/>
                    <a:gd name="connsiteY27" fmla="*/ 303795 h 348086"/>
                    <a:gd name="connsiteX28" fmla="*/ 63011 w 348086"/>
                    <a:gd name="connsiteY28" fmla="*/ 319633 h 348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48086" h="348086">
                      <a:moveTo>
                        <a:pt x="286398" y="124333"/>
                      </a:moveTo>
                      <a:lnTo>
                        <a:pt x="226548" y="64483"/>
                      </a:lnTo>
                      <a:lnTo>
                        <a:pt x="280448" y="10583"/>
                      </a:lnTo>
                      <a:cubicBezTo>
                        <a:pt x="260410" y="2271"/>
                        <a:pt x="238273" y="-4"/>
                        <a:pt x="216923" y="4108"/>
                      </a:cubicBezTo>
                      <a:cubicBezTo>
                        <a:pt x="195573" y="8221"/>
                        <a:pt x="175885" y="18458"/>
                        <a:pt x="160310" y="33683"/>
                      </a:cubicBezTo>
                      <a:cubicBezTo>
                        <a:pt x="144735" y="48821"/>
                        <a:pt x="133973" y="68246"/>
                        <a:pt x="129335" y="89508"/>
                      </a:cubicBezTo>
                      <a:cubicBezTo>
                        <a:pt x="124698" y="110771"/>
                        <a:pt x="126448" y="132908"/>
                        <a:pt x="134235" y="153121"/>
                      </a:cubicBezTo>
                      <a:lnTo>
                        <a:pt x="15236" y="272121"/>
                      </a:lnTo>
                      <a:cubicBezTo>
                        <a:pt x="6836" y="280520"/>
                        <a:pt x="2111" y="291983"/>
                        <a:pt x="2111" y="303883"/>
                      </a:cubicBezTo>
                      <a:cubicBezTo>
                        <a:pt x="2111" y="315783"/>
                        <a:pt x="6836" y="327158"/>
                        <a:pt x="15236" y="335645"/>
                      </a:cubicBezTo>
                      <a:cubicBezTo>
                        <a:pt x="23636" y="344046"/>
                        <a:pt x="35098" y="348770"/>
                        <a:pt x="46998" y="348770"/>
                      </a:cubicBezTo>
                      <a:cubicBezTo>
                        <a:pt x="58898" y="348770"/>
                        <a:pt x="70273" y="344046"/>
                        <a:pt x="78760" y="335645"/>
                      </a:cubicBezTo>
                      <a:lnTo>
                        <a:pt x="197760" y="216645"/>
                      </a:lnTo>
                      <a:cubicBezTo>
                        <a:pt x="218060" y="224520"/>
                        <a:pt x="240110" y="226183"/>
                        <a:pt x="261373" y="221546"/>
                      </a:cubicBezTo>
                      <a:cubicBezTo>
                        <a:pt x="282635" y="216908"/>
                        <a:pt x="301973" y="206146"/>
                        <a:pt x="317198" y="190571"/>
                      </a:cubicBezTo>
                      <a:cubicBezTo>
                        <a:pt x="332335" y="174996"/>
                        <a:pt x="342660" y="155308"/>
                        <a:pt x="346773" y="134045"/>
                      </a:cubicBezTo>
                      <a:cubicBezTo>
                        <a:pt x="350885" y="112696"/>
                        <a:pt x="348610" y="90646"/>
                        <a:pt x="340298" y="70521"/>
                      </a:cubicBezTo>
                      <a:lnTo>
                        <a:pt x="286398" y="124333"/>
                      </a:lnTo>
                      <a:close/>
                      <a:moveTo>
                        <a:pt x="63011" y="319633"/>
                      </a:moveTo>
                      <a:cubicBezTo>
                        <a:pt x="59861" y="322783"/>
                        <a:pt x="55835" y="324883"/>
                        <a:pt x="51548" y="325758"/>
                      </a:cubicBezTo>
                      <a:cubicBezTo>
                        <a:pt x="47173" y="326633"/>
                        <a:pt x="42710" y="326196"/>
                        <a:pt x="38598" y="324445"/>
                      </a:cubicBezTo>
                      <a:cubicBezTo>
                        <a:pt x="34486" y="322783"/>
                        <a:pt x="30986" y="319896"/>
                        <a:pt x="28536" y="316220"/>
                      </a:cubicBezTo>
                      <a:cubicBezTo>
                        <a:pt x="26086" y="312545"/>
                        <a:pt x="24773" y="308170"/>
                        <a:pt x="24773" y="303795"/>
                      </a:cubicBezTo>
                      <a:cubicBezTo>
                        <a:pt x="24773" y="299333"/>
                        <a:pt x="26086" y="295045"/>
                        <a:pt x="28536" y="291371"/>
                      </a:cubicBezTo>
                      <a:cubicBezTo>
                        <a:pt x="30986" y="287696"/>
                        <a:pt x="34486" y="284808"/>
                        <a:pt x="38598" y="283146"/>
                      </a:cubicBezTo>
                      <a:cubicBezTo>
                        <a:pt x="42710" y="281483"/>
                        <a:pt x="47173" y="281046"/>
                        <a:pt x="51548" y="281833"/>
                      </a:cubicBezTo>
                      <a:cubicBezTo>
                        <a:pt x="55923" y="282708"/>
                        <a:pt x="59861" y="284808"/>
                        <a:pt x="63011" y="287958"/>
                      </a:cubicBezTo>
                      <a:cubicBezTo>
                        <a:pt x="67211" y="292158"/>
                        <a:pt x="69573" y="297846"/>
                        <a:pt x="69573" y="303795"/>
                      </a:cubicBezTo>
                      <a:cubicBezTo>
                        <a:pt x="69573" y="309746"/>
                        <a:pt x="67211" y="315433"/>
                        <a:pt x="63011" y="31963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sp>
            <p:nvSpPr>
              <p:cNvPr id="68" name="Oval 67">
                <a:extLst>
                  <a:ext uri="{FF2B5EF4-FFF2-40B4-BE49-F238E27FC236}">
                    <a16:creationId xmlns:a16="http://schemas.microsoft.com/office/drawing/2014/main" id="{13CD569B-BC50-8C56-0EAF-340E5FFD30CA}"/>
                  </a:ext>
                </a:extLst>
              </p:cNvPr>
              <p:cNvSpPr>
                <a:spLocks/>
              </p:cNvSpPr>
              <p:nvPr/>
            </p:nvSpPr>
            <p:spPr bwMode="auto">
              <a:xfrm>
                <a:off x="10778606"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32" name="Group 31">
              <a:extLst>
                <a:ext uri="{FF2B5EF4-FFF2-40B4-BE49-F238E27FC236}">
                  <a16:creationId xmlns:a16="http://schemas.microsoft.com/office/drawing/2014/main" id="{AF5F6363-4159-6954-DEAF-613D66962A49}"/>
                </a:ext>
              </a:extLst>
            </p:cNvPr>
            <p:cNvGrpSpPr/>
            <p:nvPr/>
          </p:nvGrpSpPr>
          <p:grpSpPr>
            <a:xfrm>
              <a:off x="10126451" y="192765"/>
              <a:ext cx="548640" cy="548640"/>
              <a:chOff x="10126451" y="192765"/>
              <a:chExt cx="548640" cy="548640"/>
            </a:xfrm>
          </p:grpSpPr>
          <p:grpSp>
            <p:nvGrpSpPr>
              <p:cNvPr id="52" name="Group 51">
                <a:extLst>
                  <a:ext uri="{FF2B5EF4-FFF2-40B4-BE49-F238E27FC236}">
                    <a16:creationId xmlns:a16="http://schemas.microsoft.com/office/drawing/2014/main" id="{2B9EF0BC-159D-FDE4-3CCA-1911BF3D546F}"/>
                  </a:ext>
                </a:extLst>
              </p:cNvPr>
              <p:cNvGrpSpPr/>
              <p:nvPr/>
            </p:nvGrpSpPr>
            <p:grpSpPr>
              <a:xfrm>
                <a:off x="10126451" y="192765"/>
                <a:ext cx="548640" cy="548640"/>
                <a:chOff x="10753659" y="196490"/>
                <a:chExt cx="548640" cy="548640"/>
              </a:xfrm>
            </p:grpSpPr>
            <p:sp>
              <p:nvSpPr>
                <p:cNvPr id="57" name="Oval 56">
                  <a:extLst>
                    <a:ext uri="{FF2B5EF4-FFF2-40B4-BE49-F238E27FC236}">
                      <a16:creationId xmlns:a16="http://schemas.microsoft.com/office/drawing/2014/main" id="{6EF6F8C2-60C5-F844-89C9-6ECA1092AEDA}"/>
                    </a:ext>
                  </a:extLst>
                </p:cNvPr>
                <p:cNvSpPr/>
                <p:nvPr/>
              </p:nvSpPr>
              <p:spPr bwMode="auto">
                <a:xfrm>
                  <a:off x="10753659"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58" name="Oval 57">
                  <a:extLst>
                    <a:ext uri="{FF2B5EF4-FFF2-40B4-BE49-F238E27FC236}">
                      <a16:creationId xmlns:a16="http://schemas.microsoft.com/office/drawing/2014/main" id="{A6F1FBDD-D171-E206-49FA-EBDB83D1448F}"/>
                    </a:ext>
                  </a:extLst>
                </p:cNvPr>
                <p:cNvSpPr>
                  <a:spLocks/>
                </p:cNvSpPr>
                <p:nvPr/>
              </p:nvSpPr>
              <p:spPr bwMode="auto">
                <a:xfrm>
                  <a:off x="10779997"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3" name="Group 52">
                <a:extLst>
                  <a:ext uri="{FF2B5EF4-FFF2-40B4-BE49-F238E27FC236}">
                    <a16:creationId xmlns:a16="http://schemas.microsoft.com/office/drawing/2014/main" id="{A1CCCC3A-55C5-C09C-8A28-858B4B2AED74}"/>
                  </a:ext>
                </a:extLst>
              </p:cNvPr>
              <p:cNvGrpSpPr/>
              <p:nvPr/>
            </p:nvGrpSpPr>
            <p:grpSpPr>
              <a:xfrm>
                <a:off x="10243674" y="318889"/>
                <a:ext cx="314209" cy="303840"/>
                <a:chOff x="3504064" y="4676412"/>
                <a:chExt cx="509193" cy="492392"/>
              </a:xfrm>
            </p:grpSpPr>
            <p:sp>
              <p:nvSpPr>
                <p:cNvPr id="54" name="Oval 53">
                  <a:extLst>
                    <a:ext uri="{FF2B5EF4-FFF2-40B4-BE49-F238E27FC236}">
                      <a16:creationId xmlns:a16="http://schemas.microsoft.com/office/drawing/2014/main" id="{FA34C93A-8FAA-6CAD-9886-F8DEF6B4D0EF}"/>
                    </a:ext>
                  </a:extLst>
                </p:cNvPr>
                <p:cNvSpPr/>
                <p:nvPr/>
              </p:nvSpPr>
              <p:spPr bwMode="auto">
                <a:xfrm>
                  <a:off x="3504064"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5" name="Oval 54">
                  <a:extLst>
                    <a:ext uri="{FF2B5EF4-FFF2-40B4-BE49-F238E27FC236}">
                      <a16:creationId xmlns:a16="http://schemas.microsoft.com/office/drawing/2014/main" id="{668AB422-2F97-5A3B-1B8F-1C0316E40A75}"/>
                    </a:ext>
                  </a:extLst>
                </p:cNvPr>
                <p:cNvSpPr/>
                <p:nvPr/>
              </p:nvSpPr>
              <p:spPr bwMode="auto">
                <a:xfrm>
                  <a:off x="3671817"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6" name="Oval 55">
                  <a:extLst>
                    <a:ext uri="{FF2B5EF4-FFF2-40B4-BE49-F238E27FC236}">
                      <a16:creationId xmlns:a16="http://schemas.microsoft.com/office/drawing/2014/main" id="{DE9BA1C7-1A12-1B6D-D141-D6A2E9488C3E}"/>
                    </a:ext>
                  </a:extLst>
                </p:cNvPr>
                <p:cNvSpPr/>
                <p:nvPr/>
              </p:nvSpPr>
              <p:spPr bwMode="auto">
                <a:xfrm>
                  <a:off x="3587940" y="4676412"/>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grpSp>
          <p:nvGrpSpPr>
            <p:cNvPr id="33" name="Group 32">
              <a:extLst>
                <a:ext uri="{FF2B5EF4-FFF2-40B4-BE49-F238E27FC236}">
                  <a16:creationId xmlns:a16="http://schemas.microsoft.com/office/drawing/2014/main" id="{200D68DB-0DAD-599C-BB47-9A161822D2CA}"/>
                </a:ext>
              </a:extLst>
            </p:cNvPr>
            <p:cNvGrpSpPr/>
            <p:nvPr/>
          </p:nvGrpSpPr>
          <p:grpSpPr>
            <a:xfrm>
              <a:off x="11380867" y="196490"/>
              <a:ext cx="548640" cy="548640"/>
              <a:chOff x="11380867" y="196490"/>
              <a:chExt cx="548640" cy="548640"/>
            </a:xfrm>
          </p:grpSpPr>
          <p:sp>
            <p:nvSpPr>
              <p:cNvPr id="34" name="Oval 33">
                <a:extLst>
                  <a:ext uri="{FF2B5EF4-FFF2-40B4-BE49-F238E27FC236}">
                    <a16:creationId xmlns:a16="http://schemas.microsoft.com/office/drawing/2014/main" id="{6D85C1C7-F54F-ECF3-FE58-2AECD6B8FC7C}"/>
                  </a:ext>
                </a:extLst>
              </p:cNvPr>
              <p:cNvSpPr/>
              <p:nvPr/>
            </p:nvSpPr>
            <p:spPr bwMode="auto">
              <a:xfrm>
                <a:off x="11380867" y="196490"/>
                <a:ext cx="548640" cy="548640"/>
              </a:xfrm>
              <a:prstGeom prst="ellipse">
                <a:avLst/>
              </a:prstGeom>
              <a:solidFill>
                <a:srgbClr val="1A2B46"/>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6" name="Oval 35">
                <a:extLst>
                  <a:ext uri="{FF2B5EF4-FFF2-40B4-BE49-F238E27FC236}">
                    <a16:creationId xmlns:a16="http://schemas.microsoft.com/office/drawing/2014/main" id="{B6A00AAE-FF75-54A2-DBEF-C20D00E12899}"/>
                  </a:ext>
                </a:extLst>
              </p:cNvPr>
              <p:cNvSpPr>
                <a:spLocks/>
              </p:cNvSpPr>
              <p:nvPr/>
            </p:nvSpPr>
            <p:spPr bwMode="auto">
              <a:xfrm>
                <a:off x="11407205"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38" name="Group 37">
                <a:extLst>
                  <a:ext uri="{FF2B5EF4-FFF2-40B4-BE49-F238E27FC236}">
                    <a16:creationId xmlns:a16="http://schemas.microsoft.com/office/drawing/2014/main" id="{FACDEBB0-D87A-668C-586B-B2FFF8B2042E}"/>
                  </a:ext>
                </a:extLst>
              </p:cNvPr>
              <p:cNvGrpSpPr/>
              <p:nvPr/>
            </p:nvGrpSpPr>
            <p:grpSpPr>
              <a:xfrm>
                <a:off x="11478807" y="317384"/>
                <a:ext cx="352760" cy="306952"/>
                <a:chOff x="10772223" y="7410567"/>
                <a:chExt cx="346174" cy="301219"/>
              </a:xfrm>
            </p:grpSpPr>
            <p:sp>
              <p:nvSpPr>
                <p:cNvPr id="40" name="Freeform: Shape 39">
                  <a:extLst>
                    <a:ext uri="{FF2B5EF4-FFF2-40B4-BE49-F238E27FC236}">
                      <a16:creationId xmlns:a16="http://schemas.microsoft.com/office/drawing/2014/main" id="{E3BAD62F-E461-34B3-9FD3-A22C4452071B}"/>
                    </a:ext>
                  </a:extLst>
                </p:cNvPr>
                <p:cNvSpPr/>
                <p:nvPr/>
              </p:nvSpPr>
              <p:spPr>
                <a:xfrm>
                  <a:off x="10840877" y="7661402"/>
                  <a:ext cx="236157" cy="47232"/>
                </a:xfrm>
                <a:custGeom>
                  <a:avLst/>
                  <a:gdLst>
                    <a:gd name="connsiteX0" fmla="*/ 121141 w 259772"/>
                    <a:gd name="connsiteY0" fmla="*/ 17145 h 51954"/>
                    <a:gd name="connsiteX1" fmla="*/ 267306 w 259772"/>
                    <a:gd name="connsiteY1" fmla="*/ 0 h 51954"/>
                    <a:gd name="connsiteX2" fmla="*/ 267306 w 259772"/>
                    <a:gd name="connsiteY2" fmla="*/ 25718 h 51954"/>
                    <a:gd name="connsiteX3" fmla="*/ 238039 w 259772"/>
                    <a:gd name="connsiteY3" fmla="*/ 60008 h 51954"/>
                    <a:gd name="connsiteX4" fmla="*/ 33424 w 259772"/>
                    <a:gd name="connsiteY4" fmla="*/ 60008 h 51954"/>
                    <a:gd name="connsiteX5" fmla="*/ 0 w 259772"/>
                    <a:gd name="connsiteY5" fmla="*/ 25718 h 51954"/>
                    <a:gd name="connsiteX6" fmla="*/ 0 w 259772"/>
                    <a:gd name="connsiteY6" fmla="*/ 4330 h 51954"/>
                    <a:gd name="connsiteX7" fmla="*/ 121141 w 259772"/>
                    <a:gd name="connsiteY7" fmla="*/ 17145 h 51954"/>
                    <a:gd name="connsiteX8" fmla="*/ 121141 w 259772"/>
                    <a:gd name="connsiteY8" fmla="*/ 17145 h 51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772" h="51954">
                      <a:moveTo>
                        <a:pt x="121141" y="17145"/>
                      </a:moveTo>
                      <a:cubicBezTo>
                        <a:pt x="175433" y="17145"/>
                        <a:pt x="225569" y="12902"/>
                        <a:pt x="267306" y="0"/>
                      </a:cubicBezTo>
                      <a:cubicBezTo>
                        <a:pt x="267306" y="8573"/>
                        <a:pt x="267306" y="17145"/>
                        <a:pt x="267306" y="25718"/>
                      </a:cubicBezTo>
                      <a:cubicBezTo>
                        <a:pt x="267306" y="42863"/>
                        <a:pt x="254751" y="60008"/>
                        <a:pt x="238039" y="60008"/>
                      </a:cubicBezTo>
                      <a:cubicBezTo>
                        <a:pt x="238039" y="60008"/>
                        <a:pt x="238039" y="60008"/>
                        <a:pt x="33424" y="60008"/>
                      </a:cubicBezTo>
                      <a:cubicBezTo>
                        <a:pt x="16712" y="60008"/>
                        <a:pt x="0" y="42863"/>
                        <a:pt x="0" y="25718"/>
                      </a:cubicBezTo>
                      <a:cubicBezTo>
                        <a:pt x="0" y="25718"/>
                        <a:pt x="0" y="25718"/>
                        <a:pt x="0" y="4330"/>
                      </a:cubicBezTo>
                      <a:cubicBezTo>
                        <a:pt x="37580" y="12815"/>
                        <a:pt x="79404" y="17145"/>
                        <a:pt x="121141" y="17145"/>
                      </a:cubicBezTo>
                      <a:lnTo>
                        <a:pt x="121141" y="17145"/>
                      </a:lnTo>
                      <a:close/>
                    </a:path>
                  </a:pathLst>
                </a:custGeom>
                <a:solidFill>
                  <a:schemeClr val="accent1"/>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nvGrpSpPr>
                <p:cNvPr id="48" name="Group 47">
                  <a:extLst>
                    <a:ext uri="{FF2B5EF4-FFF2-40B4-BE49-F238E27FC236}">
                      <a16:creationId xmlns:a16="http://schemas.microsoft.com/office/drawing/2014/main" id="{2508DCB6-A76A-BA57-3022-4E8B30325EA3}"/>
                    </a:ext>
                  </a:extLst>
                </p:cNvPr>
                <p:cNvGrpSpPr/>
                <p:nvPr/>
              </p:nvGrpSpPr>
              <p:grpSpPr>
                <a:xfrm>
                  <a:off x="10772223" y="7410567"/>
                  <a:ext cx="346174" cy="301219"/>
                  <a:chOff x="10772223" y="1543167"/>
                  <a:chExt cx="346174" cy="301219"/>
                </a:xfrm>
              </p:grpSpPr>
              <p:sp>
                <p:nvSpPr>
                  <p:cNvPr id="49" name="Freeform: Shape 48">
                    <a:extLst>
                      <a:ext uri="{FF2B5EF4-FFF2-40B4-BE49-F238E27FC236}">
                        <a16:creationId xmlns:a16="http://schemas.microsoft.com/office/drawing/2014/main" id="{7650195D-8BBD-8549-4B3C-04A3321E078F}"/>
                      </a:ext>
                    </a:extLst>
                  </p:cNvPr>
                  <p:cNvSpPr/>
                  <p:nvPr/>
                </p:nvSpPr>
                <p:spPr>
                  <a:xfrm rot="13310739">
                    <a:off x="10772223" y="1543167"/>
                    <a:ext cx="346174" cy="301219"/>
                  </a:xfrm>
                  <a:custGeom>
                    <a:avLst/>
                    <a:gdLst>
                      <a:gd name="connsiteX0" fmla="*/ 335526 w 346174"/>
                      <a:gd name="connsiteY0" fmla="*/ 221002 h 301219"/>
                      <a:gd name="connsiteX1" fmla="*/ 256301 w 346174"/>
                      <a:gd name="connsiteY1" fmla="*/ 291951 h 301219"/>
                      <a:gd name="connsiteX2" fmla="*/ 228767 w 346174"/>
                      <a:gd name="connsiteY2" fmla="*/ 300970 h 301219"/>
                      <a:gd name="connsiteX3" fmla="*/ 144718 w 346174"/>
                      <a:gd name="connsiteY3" fmla="*/ 292547 h 301219"/>
                      <a:gd name="connsiteX4" fmla="*/ 112227 w 346174"/>
                      <a:gd name="connsiteY4" fmla="*/ 290366 h 301219"/>
                      <a:gd name="connsiteX5" fmla="*/ 104454 w 346174"/>
                      <a:gd name="connsiteY5" fmla="*/ 281687 h 301219"/>
                      <a:gd name="connsiteX6" fmla="*/ 0 w 346174"/>
                      <a:gd name="connsiteY6" fmla="*/ 165049 h 301219"/>
                      <a:gd name="connsiteX7" fmla="*/ 88589 w 346174"/>
                      <a:gd name="connsiteY7" fmla="*/ 64791 h 301219"/>
                      <a:gd name="connsiteX8" fmla="*/ 178400 w 346174"/>
                      <a:gd name="connsiteY8" fmla="*/ 0 h 301219"/>
                      <a:gd name="connsiteX9" fmla="*/ 295826 w 346174"/>
                      <a:gd name="connsiteY9" fmla="*/ 131123 h 301219"/>
                      <a:gd name="connsiteX10" fmla="*/ 311423 w 346174"/>
                      <a:gd name="connsiteY10" fmla="*/ 148540 h 301219"/>
                      <a:gd name="connsiteX11" fmla="*/ 329593 w 346174"/>
                      <a:gd name="connsiteY11" fmla="*/ 168830 h 301219"/>
                      <a:gd name="connsiteX12" fmla="*/ 339992 w 346174"/>
                      <a:gd name="connsiteY12" fmla="*/ 180441 h 301219"/>
                      <a:gd name="connsiteX13" fmla="*/ 335526 w 346174"/>
                      <a:gd name="connsiteY13" fmla="*/ 221002 h 30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174" h="301219">
                        <a:moveTo>
                          <a:pt x="335526" y="221002"/>
                        </a:moveTo>
                        <a:cubicBezTo>
                          <a:pt x="335526" y="221002"/>
                          <a:pt x="335526" y="221002"/>
                          <a:pt x="256301" y="291951"/>
                        </a:cubicBezTo>
                        <a:cubicBezTo>
                          <a:pt x="247857" y="299513"/>
                          <a:pt x="244983" y="302087"/>
                          <a:pt x="228767" y="300970"/>
                        </a:cubicBezTo>
                        <a:cubicBezTo>
                          <a:pt x="228767" y="300970"/>
                          <a:pt x="228767" y="300970"/>
                          <a:pt x="144718" y="292547"/>
                        </a:cubicBezTo>
                        <a:lnTo>
                          <a:pt x="112227" y="290366"/>
                        </a:lnTo>
                        <a:cubicBezTo>
                          <a:pt x="107027" y="284560"/>
                          <a:pt x="104454" y="281687"/>
                          <a:pt x="104454" y="281687"/>
                        </a:cubicBezTo>
                        <a:cubicBezTo>
                          <a:pt x="104454" y="281687"/>
                          <a:pt x="49365" y="220171"/>
                          <a:pt x="0" y="165049"/>
                        </a:cubicBezTo>
                        <a:cubicBezTo>
                          <a:pt x="17436" y="138972"/>
                          <a:pt x="46132" y="102813"/>
                          <a:pt x="88589" y="64791"/>
                        </a:cubicBezTo>
                        <a:cubicBezTo>
                          <a:pt x="119728" y="36905"/>
                          <a:pt x="150565" y="14466"/>
                          <a:pt x="178400" y="0"/>
                        </a:cubicBezTo>
                        <a:cubicBezTo>
                          <a:pt x="186172" y="8679"/>
                          <a:pt x="269831" y="102096"/>
                          <a:pt x="295826" y="131123"/>
                        </a:cubicBezTo>
                        <a:lnTo>
                          <a:pt x="311423" y="148540"/>
                        </a:lnTo>
                        <a:cubicBezTo>
                          <a:pt x="321821" y="160151"/>
                          <a:pt x="329593" y="168830"/>
                          <a:pt x="329593" y="168830"/>
                        </a:cubicBezTo>
                        <a:cubicBezTo>
                          <a:pt x="332219" y="171762"/>
                          <a:pt x="337419" y="177568"/>
                          <a:pt x="339992" y="180441"/>
                        </a:cubicBezTo>
                        <a:cubicBezTo>
                          <a:pt x="350390" y="192052"/>
                          <a:pt x="346844" y="210867"/>
                          <a:pt x="335526" y="221002"/>
                        </a:cubicBezTo>
                        <a:close/>
                      </a:path>
                    </a:pathLst>
                  </a:custGeom>
                  <a:solidFill>
                    <a:schemeClr val="accent1"/>
                  </a:solidFill>
                  <a:ln w="8603"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51" name="Freeform: Shape 50">
                    <a:extLst>
                      <a:ext uri="{FF2B5EF4-FFF2-40B4-BE49-F238E27FC236}">
                        <a16:creationId xmlns:a16="http://schemas.microsoft.com/office/drawing/2014/main" id="{149F163B-2FE2-D533-4246-8E8F3CD22F6A}"/>
                      </a:ext>
                    </a:extLst>
                  </p:cNvPr>
                  <p:cNvSpPr/>
                  <p:nvPr/>
                </p:nvSpPr>
                <p:spPr>
                  <a:xfrm>
                    <a:off x="10892650" y="1664886"/>
                    <a:ext cx="141110" cy="110872"/>
                  </a:xfrm>
                  <a:custGeom>
                    <a:avLst/>
                    <a:gdLst>
                      <a:gd name="connsiteX0" fmla="*/ 106680 w 121227"/>
                      <a:gd name="connsiteY0" fmla="*/ 0 h 95250"/>
                      <a:gd name="connsiteX1" fmla="*/ 48751 w 121227"/>
                      <a:gd name="connsiteY1" fmla="*/ 64683 h 95250"/>
                      <a:gd name="connsiteX2" fmla="*/ 18271 w 121227"/>
                      <a:gd name="connsiteY2" fmla="*/ 35416 h 95250"/>
                      <a:gd name="connsiteX3" fmla="*/ 0 w 121227"/>
                      <a:gd name="connsiteY3" fmla="*/ 55418 h 95250"/>
                      <a:gd name="connsiteX4" fmla="*/ 48837 w 121227"/>
                      <a:gd name="connsiteY4" fmla="*/ 100013 h 95250"/>
                      <a:gd name="connsiteX5" fmla="*/ 125124 w 121227"/>
                      <a:gd name="connsiteY5" fmla="*/ 20003 h 95250"/>
                      <a:gd name="connsiteX6" fmla="*/ 106680 w 121227"/>
                      <a:gd name="connsiteY6" fmla="*/ 0 h 95250"/>
                      <a:gd name="connsiteX7" fmla="*/ 106680 w 121227"/>
                      <a:gd name="connsiteY7" fmla="*/ 0 h 95250"/>
                      <a:gd name="connsiteX8" fmla="*/ 106680 w 121227"/>
                      <a:gd name="connsiteY8"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227" h="95250">
                        <a:moveTo>
                          <a:pt x="106680" y="0"/>
                        </a:moveTo>
                        <a:cubicBezTo>
                          <a:pt x="106680" y="0"/>
                          <a:pt x="74641" y="35416"/>
                          <a:pt x="48751" y="64683"/>
                        </a:cubicBezTo>
                        <a:cubicBezTo>
                          <a:pt x="36541" y="53946"/>
                          <a:pt x="18271" y="35416"/>
                          <a:pt x="18271" y="35416"/>
                        </a:cubicBezTo>
                        <a:cubicBezTo>
                          <a:pt x="0" y="55418"/>
                          <a:pt x="0" y="55418"/>
                          <a:pt x="0" y="55418"/>
                        </a:cubicBezTo>
                        <a:cubicBezTo>
                          <a:pt x="48837" y="100013"/>
                          <a:pt x="48837" y="100013"/>
                          <a:pt x="48837" y="100013"/>
                        </a:cubicBezTo>
                        <a:cubicBezTo>
                          <a:pt x="125124" y="20003"/>
                          <a:pt x="125124" y="20003"/>
                          <a:pt x="125124" y="20003"/>
                        </a:cubicBezTo>
                        <a:cubicBezTo>
                          <a:pt x="106680" y="0"/>
                          <a:pt x="106680" y="0"/>
                          <a:pt x="106680" y="0"/>
                        </a:cubicBezTo>
                        <a:lnTo>
                          <a:pt x="106680" y="0"/>
                        </a:lnTo>
                        <a:lnTo>
                          <a:pt x="106680" y="0"/>
                        </a:lnTo>
                        <a:close/>
                      </a:path>
                    </a:pathLst>
                  </a:custGeom>
                  <a:solidFill>
                    <a:srgbClr val="50E6FF"/>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grpSp>
        </p:grpSp>
      </p:grpSp>
      <p:sp>
        <p:nvSpPr>
          <p:cNvPr id="71" name="Title 1">
            <a:extLst>
              <a:ext uri="{FF2B5EF4-FFF2-40B4-BE49-F238E27FC236}">
                <a16:creationId xmlns:a16="http://schemas.microsoft.com/office/drawing/2014/main" id="{B639A711-9B23-5880-708C-08C72EC792ED}"/>
              </a:ext>
            </a:extLst>
          </p:cNvPr>
          <p:cNvSpPr txBox="1">
            <a:spLocks/>
          </p:cNvSpPr>
          <p:nvPr/>
        </p:nvSpPr>
        <p:spPr>
          <a:xfrm>
            <a:off x="15475" y="224772"/>
            <a:ext cx="2636285" cy="809669"/>
          </a:xfrm>
          <a:prstGeom prst="rect">
            <a:avLst/>
          </a:prstGeom>
        </p:spPr>
        <p:txBody>
          <a:bodyPr lIns="274320" tIns="182880"/>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0" normalizeH="0" baseline="0" noProof="0">
                <a:ln w="3175">
                  <a:noFill/>
                </a:ln>
                <a:solidFill>
                  <a:schemeClr val="tx2"/>
                </a:solidFill>
                <a:effectLst/>
                <a:uLnTx/>
                <a:uFillTx/>
                <a:ea typeface="+mn-ea"/>
                <a:cs typeface="Segoe UI" pitchFamily="34" charset="0"/>
              </a:rPr>
              <a:t>The commercial </a:t>
            </a:r>
            <a:r>
              <a:rPr lang="en-US" sz="1800" spc="0">
                <a:solidFill>
                  <a:schemeClr val="tx2"/>
                </a:solidFill>
              </a:rPr>
              <a:t>m</a:t>
            </a:r>
            <a:r>
              <a:rPr kumimoji="0" lang="en-US" sz="1800" b="0" i="0" u="none" strike="noStrike" kern="1200" cap="none" spc="0" normalizeH="0" baseline="0" noProof="0" err="1">
                <a:ln w="3175">
                  <a:noFill/>
                </a:ln>
                <a:solidFill>
                  <a:schemeClr val="tx2"/>
                </a:solidFill>
                <a:effectLst/>
                <a:uLnTx/>
                <a:uFillTx/>
                <a:ea typeface="+mn-ea"/>
                <a:cs typeface="Segoe UI" pitchFamily="34" charset="0"/>
              </a:rPr>
              <a:t>arketplace</a:t>
            </a:r>
            <a:endParaRPr kumimoji="0" lang="en-US" sz="1800" b="0" i="0" u="none" strike="noStrike" kern="1200" cap="none" spc="0" normalizeH="0" baseline="0" noProof="0">
              <a:ln w="3175">
                <a:noFill/>
              </a:ln>
              <a:solidFill>
                <a:schemeClr val="tx2"/>
              </a:solidFill>
              <a:effectLst/>
              <a:uLnTx/>
              <a:uFillTx/>
              <a:ea typeface="+mn-ea"/>
              <a:cs typeface="Segoe UI" pitchFamily="34" charset="0"/>
            </a:endParaRPr>
          </a:p>
        </p:txBody>
      </p:sp>
      <p:sp>
        <p:nvSpPr>
          <p:cNvPr id="73" name="Rectangle: Rounded Corners 72">
            <a:extLst>
              <a:ext uri="{FF2B5EF4-FFF2-40B4-BE49-F238E27FC236}">
                <a16:creationId xmlns:a16="http://schemas.microsoft.com/office/drawing/2014/main" id="{2F0BF624-AC09-37C8-9AEC-6F54CE5BCF4E}"/>
              </a:ext>
            </a:extLst>
          </p:cNvPr>
          <p:cNvSpPr/>
          <p:nvPr/>
        </p:nvSpPr>
        <p:spPr bwMode="auto">
          <a:xfrm>
            <a:off x="-279050" y="1806027"/>
            <a:ext cx="2651760" cy="365760"/>
          </a:xfrm>
          <a:prstGeom prst="roundRect">
            <a:avLst>
              <a:gd name="adj" fmla="val 50000"/>
            </a:avLst>
          </a:prstGeom>
          <a:solidFill>
            <a:srgbClr val="C73EC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0" rIns="9144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bg1"/>
              </a:solidFill>
              <a:effectLst/>
              <a:uLnTx/>
              <a:uFillTx/>
              <a:latin typeface="+mj-lt"/>
              <a:ea typeface="+mn-ea"/>
              <a:cs typeface="Segoe UI Semilight" panose="020B0402040204020203" pitchFamily="34" charset="0"/>
            </a:endParaRPr>
          </a:p>
        </p:txBody>
      </p:sp>
      <p:sp>
        <p:nvSpPr>
          <p:cNvPr id="74" name="Rectangle: Rounded Corners 73">
            <a:extLst>
              <a:ext uri="{FF2B5EF4-FFF2-40B4-BE49-F238E27FC236}">
                <a16:creationId xmlns:a16="http://schemas.microsoft.com/office/drawing/2014/main" id="{20F493C0-052D-C6D6-9B07-4DA5E7F6CD7C}"/>
              </a:ext>
            </a:extLst>
          </p:cNvPr>
          <p:cNvSpPr/>
          <p:nvPr/>
        </p:nvSpPr>
        <p:spPr bwMode="auto">
          <a:xfrm>
            <a:off x="0" y="180602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j-lt"/>
                <a:ea typeface="+mn-ea"/>
                <a:cs typeface="Segoe UI Semilight" panose="020B0402040204020203" pitchFamily="34" charset="0"/>
              </a:rPr>
              <a:t>Offer Setup</a:t>
            </a:r>
          </a:p>
        </p:txBody>
      </p:sp>
      <p:sp>
        <p:nvSpPr>
          <p:cNvPr id="75" name="Rectangle: Rounded Corners 74">
            <a:extLst>
              <a:ext uri="{FF2B5EF4-FFF2-40B4-BE49-F238E27FC236}">
                <a16:creationId xmlns:a16="http://schemas.microsoft.com/office/drawing/2014/main" id="{78077DCF-0491-4092-8C63-070BF4051532}"/>
              </a:ext>
            </a:extLst>
          </p:cNvPr>
          <p:cNvSpPr/>
          <p:nvPr/>
        </p:nvSpPr>
        <p:spPr bwMode="auto">
          <a:xfrm>
            <a:off x="0" y="2245217"/>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Properties</a:t>
            </a:r>
          </a:p>
        </p:txBody>
      </p:sp>
      <p:sp>
        <p:nvSpPr>
          <p:cNvPr id="76" name="Rectangle: Rounded Corners 75">
            <a:extLst>
              <a:ext uri="{FF2B5EF4-FFF2-40B4-BE49-F238E27FC236}">
                <a16:creationId xmlns:a16="http://schemas.microsoft.com/office/drawing/2014/main" id="{21B08B55-7759-92A0-B11D-2D4B845DD068}"/>
              </a:ext>
            </a:extLst>
          </p:cNvPr>
          <p:cNvSpPr/>
          <p:nvPr/>
        </p:nvSpPr>
        <p:spPr bwMode="auto">
          <a:xfrm>
            <a:off x="0" y="2684406"/>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Listing</a:t>
            </a:r>
          </a:p>
        </p:txBody>
      </p:sp>
      <p:sp>
        <p:nvSpPr>
          <p:cNvPr id="77" name="Rectangle: Rounded Corners 76">
            <a:extLst>
              <a:ext uri="{FF2B5EF4-FFF2-40B4-BE49-F238E27FC236}">
                <a16:creationId xmlns:a16="http://schemas.microsoft.com/office/drawing/2014/main" id="{026FB328-5ACA-C2C4-BA45-C0FFEA4DF663}"/>
              </a:ext>
            </a:extLst>
          </p:cNvPr>
          <p:cNvSpPr/>
          <p:nvPr/>
        </p:nvSpPr>
        <p:spPr bwMode="auto">
          <a:xfrm>
            <a:off x="0" y="312359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Pricing and Availability</a:t>
            </a:r>
          </a:p>
        </p:txBody>
      </p:sp>
      <p:sp>
        <p:nvSpPr>
          <p:cNvPr id="78" name="Rectangle: Rounded Corners 77">
            <a:extLst>
              <a:ext uri="{FF2B5EF4-FFF2-40B4-BE49-F238E27FC236}">
                <a16:creationId xmlns:a16="http://schemas.microsoft.com/office/drawing/2014/main" id="{1FE8FFE2-C1CE-AB67-1DB6-E4F503A4E73F}"/>
              </a:ext>
            </a:extLst>
          </p:cNvPr>
          <p:cNvSpPr/>
          <p:nvPr/>
        </p:nvSpPr>
        <p:spPr bwMode="auto">
          <a:xfrm>
            <a:off x="0" y="356278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Co-sell with Microsoft </a:t>
            </a:r>
          </a:p>
        </p:txBody>
      </p:sp>
      <p:sp>
        <p:nvSpPr>
          <p:cNvPr id="80" name="Rectangle: Rounded Corners 79">
            <a:extLst>
              <a:ext uri="{FF2B5EF4-FFF2-40B4-BE49-F238E27FC236}">
                <a16:creationId xmlns:a16="http://schemas.microsoft.com/office/drawing/2014/main" id="{2E8DACC7-E603-2FB4-669D-C45CA72348BE}"/>
              </a:ext>
            </a:extLst>
          </p:cNvPr>
          <p:cNvSpPr/>
          <p:nvPr/>
        </p:nvSpPr>
        <p:spPr bwMode="auto">
          <a:xfrm>
            <a:off x="0" y="136683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Setup</a:t>
            </a:r>
          </a:p>
        </p:txBody>
      </p:sp>
      <p:cxnSp>
        <p:nvCxnSpPr>
          <p:cNvPr id="3" name="Straight Connector 2">
            <a:extLst>
              <a:ext uri="{FF2B5EF4-FFF2-40B4-BE49-F238E27FC236}">
                <a16:creationId xmlns:a16="http://schemas.microsoft.com/office/drawing/2014/main" id="{1203783B-761F-2DD7-B12C-A6A823EE6060}"/>
              </a:ext>
            </a:extLst>
          </p:cNvPr>
          <p:cNvCxnSpPr/>
          <p:nvPr/>
        </p:nvCxnSpPr>
        <p:spPr>
          <a:xfrm>
            <a:off x="223520" y="1154149"/>
            <a:ext cx="2011680" cy="0"/>
          </a:xfrm>
          <a:prstGeom prst="line">
            <a:avLst/>
          </a:prstGeom>
          <a:noFill/>
          <a:ln w="25400" cap="rnd">
            <a:gradFill flip="none" rotWithShape="1">
              <a:gsLst>
                <a:gs pos="30000">
                  <a:srgbClr val="2DB4FF"/>
                </a:gs>
                <a:gs pos="35000">
                  <a:srgbClr val="2DB4FF"/>
                </a:gs>
                <a:gs pos="3000">
                  <a:srgbClr val="0078D4"/>
                </a:gs>
                <a:gs pos="52000">
                  <a:srgbClr val="818EFF"/>
                </a:gs>
                <a:gs pos="70000">
                  <a:srgbClr val="D660FF"/>
                </a:gs>
                <a:gs pos="97000">
                  <a:srgbClr val="FEA87A"/>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5" name="Slide Number Placeholder 4">
            <a:extLst>
              <a:ext uri="{FF2B5EF4-FFF2-40B4-BE49-F238E27FC236}">
                <a16:creationId xmlns:a16="http://schemas.microsoft.com/office/drawing/2014/main" id="{82A13FEC-06CA-74EB-15B0-638DA99EDBFD}"/>
              </a:ext>
            </a:extLst>
          </p:cNvPr>
          <p:cNvSpPr>
            <a:spLocks noGrp="1"/>
          </p:cNvSpPr>
          <p:nvPr>
            <p:ph type="sldNum" sz="quarter" idx="11"/>
          </p:nvPr>
        </p:nvSpPr>
        <p:spPr/>
        <p:txBody>
          <a:bodyPr/>
          <a:lstStyle/>
          <a:p>
            <a:fld id="{5763EE98-C176-4152-A50F-E68840BAFA00}" type="slidenum">
              <a:rPr lang="en-US" smtClean="0"/>
              <a:pPr/>
              <a:t>30</a:t>
            </a:fld>
            <a:endParaRPr lang="en-US"/>
          </a:p>
        </p:txBody>
      </p:sp>
    </p:spTree>
    <p:extLst>
      <p:ext uri="{BB962C8B-B14F-4D97-AF65-F5344CB8AC3E}">
        <p14:creationId xmlns:p14="http://schemas.microsoft.com/office/powerpoint/2010/main" val="2241889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F4A4A644-E827-7988-FA7F-721BA573EDC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762847" y="1309996"/>
            <a:ext cx="5852362" cy="3992957"/>
          </a:xfrm>
          <a:prstGeom prst="rect">
            <a:avLst/>
          </a:prstGeom>
          <a:ln>
            <a:noFill/>
          </a:ln>
          <a:effectLst>
            <a:outerShdw blurRad="50800" dist="38100" dir="2700000" algn="tl" rotWithShape="0">
              <a:prstClr val="black">
                <a:alpha val="40000"/>
              </a:prstClr>
            </a:outerShdw>
          </a:effectLst>
        </p:spPr>
      </p:pic>
      <p:sp>
        <p:nvSpPr>
          <p:cNvPr id="39" name="Title 38">
            <a:extLst>
              <a:ext uri="{FF2B5EF4-FFF2-40B4-BE49-F238E27FC236}">
                <a16:creationId xmlns:a16="http://schemas.microsoft.com/office/drawing/2014/main" id="{EECDD5CF-2D0F-4F1B-A160-12C815F23DB5}"/>
              </a:ext>
            </a:extLst>
          </p:cNvPr>
          <p:cNvSpPr>
            <a:spLocks noGrp="1"/>
          </p:cNvSpPr>
          <p:nvPr>
            <p:ph type="title"/>
          </p:nvPr>
        </p:nvSpPr>
        <p:spPr/>
        <p:txBody>
          <a:bodyPr/>
          <a:lstStyle/>
          <a:p>
            <a:pPr lvl="0"/>
            <a:r>
              <a:rPr lang="en-US" noProof="0"/>
              <a:t>Microsoft 365 Copilot offer</a:t>
            </a:r>
          </a:p>
        </p:txBody>
      </p:sp>
      <p:sp>
        <p:nvSpPr>
          <p:cNvPr id="48" name="TextBox 47">
            <a:extLst>
              <a:ext uri="{FF2B5EF4-FFF2-40B4-BE49-F238E27FC236}">
                <a16:creationId xmlns:a16="http://schemas.microsoft.com/office/drawing/2014/main" id="{C785FF87-73AD-47B6-B651-7FEDE75EB1E5}"/>
              </a:ext>
            </a:extLst>
          </p:cNvPr>
          <p:cNvSpPr txBox="1">
            <a:spLocks/>
          </p:cNvSpPr>
          <p:nvPr/>
        </p:nvSpPr>
        <p:spPr>
          <a:xfrm>
            <a:off x="3009899" y="4553048"/>
            <a:ext cx="2260601" cy="880413"/>
          </a:xfrm>
          <a:prstGeom prst="rect">
            <a:avLst/>
          </a:prstGeom>
          <a:noFill/>
        </p:spPr>
        <p:txBody>
          <a:bodyPr wrap="square" lIns="0" tIns="0" rIns="0" bIns="0" rtlCol="0" anchor="t">
            <a:noAutofit/>
          </a:bodyPr>
          <a:lstStyle/>
          <a:p>
            <a:pPr marL="342900" marR="0" lvl="0" indent="-342900" algn="l" defTabSz="932472" rtl="0" eaLnBrk="1" fontAlgn="base" latinLnBrk="0" hangingPunct="1">
              <a:lnSpc>
                <a:spcPct val="100000"/>
              </a:lnSpc>
              <a:spcBef>
                <a:spcPts val="600"/>
              </a:spcBef>
              <a:spcAft>
                <a:spcPts val="1200"/>
              </a:spcAft>
              <a:buClr>
                <a:srgbClr val="000000"/>
              </a:buClr>
              <a:buSzPct val="100000"/>
              <a:buFont typeface="+mj-lt"/>
              <a:buAutoNum type="arabicPeriod" startAt="4"/>
              <a:tabLst/>
              <a:defRPr/>
            </a:pPr>
            <a:r>
              <a:rPr kumimoji="0" lang="en-US" sz="1400" b="1" i="0" u="none" strike="noStrike" kern="1200" cap="none" spc="0" normalizeH="0" baseline="0" noProof="0" dirty="0">
                <a:ln>
                  <a:noFill/>
                </a:ln>
                <a:solidFill>
                  <a:srgbClr val="000000"/>
                </a:solidFill>
                <a:effectLst/>
                <a:uLnTx/>
                <a:uFillTx/>
                <a:ea typeface="+mn-ea"/>
                <a:cs typeface="Segoe UI" pitchFamily="34" charset="0"/>
              </a:rPr>
              <a:t>Industry: </a:t>
            </a:r>
            <a:r>
              <a:rPr kumimoji="0" lang="en-US" sz="1400" b="0" i="0" u="none" strike="noStrike" kern="1200" cap="none" spc="0" normalizeH="0" baseline="0" noProof="0" dirty="0">
                <a:ln>
                  <a:noFill/>
                </a:ln>
                <a:gradFill>
                  <a:gsLst>
                    <a:gs pos="0">
                      <a:srgbClr val="000000">
                        <a:lumMod val="85000"/>
                        <a:lumOff val="15000"/>
                      </a:srgbClr>
                    </a:gs>
                    <a:gs pos="100000">
                      <a:srgbClr val="000000">
                        <a:lumMod val="85000"/>
                        <a:lumOff val="15000"/>
                      </a:srgbClr>
                    </a:gs>
                  </a:gsLst>
                  <a:lin ang="5400000" scaled="0"/>
                </a:gradFill>
                <a:effectLst/>
                <a:uLnTx/>
                <a:uFillTx/>
                <a:ea typeface="+mn-ea"/>
                <a:cs typeface="Segoe UI" pitchFamily="34" charset="0"/>
              </a:rPr>
              <a:t>Select one or more industries that are the focus for your company and offer</a:t>
            </a:r>
          </a:p>
        </p:txBody>
      </p:sp>
      <p:sp>
        <p:nvSpPr>
          <p:cNvPr id="52" name="TextBox 51">
            <a:extLst>
              <a:ext uri="{FF2B5EF4-FFF2-40B4-BE49-F238E27FC236}">
                <a16:creationId xmlns:a16="http://schemas.microsoft.com/office/drawing/2014/main" id="{F1C6A115-90B0-4920-96B6-2A13C4AF691F}"/>
              </a:ext>
            </a:extLst>
          </p:cNvPr>
          <p:cNvSpPr txBox="1"/>
          <p:nvPr/>
        </p:nvSpPr>
        <p:spPr>
          <a:xfrm>
            <a:off x="3009900" y="1341939"/>
            <a:ext cx="2260601" cy="480851"/>
          </a:xfrm>
          <a:prstGeom prst="rect">
            <a:avLst/>
          </a:prstGeom>
          <a:noFill/>
        </p:spPr>
        <p:txBody>
          <a:bodyPr wrap="square" lIns="0" tIns="0" rIns="0" bIns="0" rtlCol="0" anchor="t">
            <a:noAutofit/>
          </a:bodyPr>
          <a:lstStyle>
            <a:defPPr>
              <a:defRPr lang="en-US"/>
            </a:defPPr>
            <a:lvl1pPr algn="ctr" defTabSz="932472" fontAlgn="base">
              <a:spcBef>
                <a:spcPts val="600"/>
              </a:spcBef>
              <a:spcAft>
                <a:spcPts val="1200"/>
              </a:spcAft>
              <a:buClr>
                <a:schemeClr val="tx2"/>
              </a:buClr>
              <a:buSzPct val="80000"/>
              <a:defRPr sz="1600" b="1">
                <a:solidFill>
                  <a:schemeClr val="bg1"/>
                </a:solidFill>
                <a:cs typeface="Segoe UI" pitchFamily="34" charset="0"/>
              </a:defRPr>
            </a:lvl1pPr>
          </a:lstStyle>
          <a:p>
            <a:pPr marL="342900" marR="0" lvl="0" indent="-342900" algn="l" defTabSz="932472" rtl="0" eaLnBrk="1" fontAlgn="base" latinLnBrk="0" hangingPunct="1">
              <a:lnSpc>
                <a:spcPct val="100000"/>
              </a:lnSpc>
              <a:spcBef>
                <a:spcPts val="600"/>
              </a:spcBef>
              <a:spcAft>
                <a:spcPts val="1200"/>
              </a:spcAft>
              <a:buClr>
                <a:srgbClr val="000000"/>
              </a:buClr>
              <a:buSzPct val="100000"/>
              <a:buFont typeface="+mj-lt"/>
              <a:buAutoNum type="arabicPeriod"/>
              <a:tabLst/>
              <a:defRPr/>
            </a:pPr>
            <a:r>
              <a:rPr kumimoji="0" lang="en-US" sz="1400" b="1" i="0" u="none" strike="noStrike" kern="1200" cap="none" spc="0" normalizeH="0" baseline="0" noProof="0" dirty="0">
                <a:ln>
                  <a:noFill/>
                </a:ln>
                <a:solidFill>
                  <a:srgbClr val="000000"/>
                </a:solidFill>
                <a:effectLst/>
                <a:uLnTx/>
                <a:uFillTx/>
                <a:ea typeface="+mn-ea"/>
                <a:cs typeface="Segoe UI" pitchFamily="34" charset="0"/>
              </a:rPr>
              <a:t>Primary Product: </a:t>
            </a:r>
            <a:r>
              <a:rPr kumimoji="0" lang="en-US" sz="1400" b="0" i="0" u="none" strike="noStrike" kern="1200" cap="none" spc="0" normalizeH="0" baseline="0" noProof="0" dirty="0">
                <a:ln>
                  <a:noFill/>
                </a:ln>
                <a:gradFill>
                  <a:gsLst>
                    <a:gs pos="0">
                      <a:srgbClr val="000000">
                        <a:lumMod val="85000"/>
                        <a:lumOff val="15000"/>
                      </a:srgbClr>
                    </a:gs>
                    <a:gs pos="100000">
                      <a:srgbClr val="000000">
                        <a:lumMod val="85000"/>
                        <a:lumOff val="15000"/>
                      </a:srgbClr>
                    </a:gs>
                  </a:gsLst>
                  <a:lin ang="5400000" scaled="0"/>
                </a:gradFill>
                <a:effectLst/>
                <a:uLnTx/>
                <a:uFillTx/>
                <a:ea typeface="+mn-ea"/>
                <a:cs typeface="Segoe UI" pitchFamily="34" charset="0"/>
              </a:rPr>
              <a:t>Select </a:t>
            </a:r>
            <a:r>
              <a:rPr kumimoji="0" lang="en-US" sz="1400" i="0" u="none" strike="noStrike" kern="1200" cap="none" spc="0" normalizeH="0" baseline="0" noProof="0" dirty="0">
                <a:ln>
                  <a:noFill/>
                </a:ln>
                <a:gradFill>
                  <a:gsLst>
                    <a:gs pos="0">
                      <a:srgbClr val="000000">
                        <a:lumMod val="85000"/>
                        <a:lumOff val="15000"/>
                      </a:srgbClr>
                    </a:gs>
                    <a:gs pos="100000">
                      <a:srgbClr val="000000">
                        <a:lumMod val="85000"/>
                        <a:lumOff val="15000"/>
                      </a:srgbClr>
                    </a:gs>
                  </a:gsLst>
                  <a:lin ang="5400000" scaled="0"/>
                </a:gradFill>
                <a:effectLst/>
                <a:uLnTx/>
                <a:uFillTx/>
                <a:ea typeface="+mn-ea"/>
                <a:cs typeface="Segoe UI" pitchFamily="34" charset="0"/>
              </a:rPr>
              <a:t>Microsoft 365</a:t>
            </a:r>
            <a:endParaRPr kumimoji="0" lang="en-US" sz="1400" i="0" u="none" strike="noStrike" kern="1200" cap="none" spc="0" normalizeH="0" baseline="0" noProof="0" dirty="0">
              <a:ln>
                <a:noFill/>
              </a:ln>
              <a:solidFill>
                <a:srgbClr val="000000"/>
              </a:solidFill>
              <a:effectLst/>
              <a:uLnTx/>
              <a:uFillTx/>
              <a:ea typeface="+mn-ea"/>
              <a:cs typeface="Segoe UI" pitchFamily="34" charset="0"/>
            </a:endParaRPr>
          </a:p>
        </p:txBody>
      </p:sp>
      <p:sp>
        <p:nvSpPr>
          <p:cNvPr id="70" name="TextBox 69">
            <a:extLst>
              <a:ext uri="{FF2B5EF4-FFF2-40B4-BE49-F238E27FC236}">
                <a16:creationId xmlns:a16="http://schemas.microsoft.com/office/drawing/2014/main" id="{BA7F0903-4BF9-4BE9-A76F-77EFCDDA35C7}"/>
              </a:ext>
            </a:extLst>
          </p:cNvPr>
          <p:cNvSpPr txBox="1"/>
          <p:nvPr/>
        </p:nvSpPr>
        <p:spPr>
          <a:xfrm>
            <a:off x="3032353" y="3486593"/>
            <a:ext cx="2260601" cy="654214"/>
          </a:xfrm>
          <a:prstGeom prst="rect">
            <a:avLst/>
          </a:prstGeom>
          <a:noFill/>
        </p:spPr>
        <p:txBody>
          <a:bodyPr wrap="square" lIns="0" tIns="0" rIns="0" bIns="0" rtlCol="0" anchor="t">
            <a:noAutofit/>
          </a:bodyPr>
          <a:lstStyle>
            <a:defPPr>
              <a:defRPr lang="en-US"/>
            </a:defPPr>
            <a:lvl1pPr algn="ctr" defTabSz="932472" fontAlgn="base">
              <a:spcBef>
                <a:spcPts val="600"/>
              </a:spcBef>
              <a:spcAft>
                <a:spcPts val="1200"/>
              </a:spcAft>
              <a:buClr>
                <a:schemeClr val="tx2"/>
              </a:buClr>
              <a:buSzPct val="80000"/>
              <a:defRPr sz="1600" b="1">
                <a:solidFill>
                  <a:schemeClr val="bg1"/>
                </a:solidFill>
                <a:cs typeface="Segoe UI" pitchFamily="34" charset="0"/>
              </a:defRPr>
            </a:lvl1pPr>
          </a:lstStyle>
          <a:p>
            <a:pPr marL="342900" marR="0" lvl="0" indent="-342900" algn="l" defTabSz="932472" rtl="0" eaLnBrk="1" fontAlgn="base" latinLnBrk="0" hangingPunct="1">
              <a:lnSpc>
                <a:spcPct val="100000"/>
              </a:lnSpc>
              <a:spcBef>
                <a:spcPts val="600"/>
              </a:spcBef>
              <a:spcAft>
                <a:spcPts val="1200"/>
              </a:spcAft>
              <a:buClr>
                <a:srgbClr val="000000"/>
              </a:buClr>
              <a:buSzPct val="100000"/>
              <a:buFont typeface="+mj-lt"/>
              <a:buAutoNum type="arabicPeriod" startAt="3"/>
              <a:tabLst/>
              <a:defRPr/>
            </a:pPr>
            <a:r>
              <a:rPr kumimoji="0" lang="en-US" sz="1400" b="1" i="0" u="none" strike="noStrike" kern="1200" cap="none" spc="0" normalizeH="0" baseline="0" noProof="0">
                <a:ln>
                  <a:noFill/>
                </a:ln>
                <a:solidFill>
                  <a:srgbClr val="000000"/>
                </a:solidFill>
                <a:effectLst/>
                <a:uLnTx/>
                <a:uFillTx/>
                <a:ea typeface="+mn-ea"/>
                <a:cs typeface="Segoe UI" pitchFamily="34" charset="0"/>
              </a:rPr>
              <a:t>Consulting service </a:t>
            </a:r>
            <a:r>
              <a:rPr lang="en-US" sz="1400">
                <a:solidFill>
                  <a:srgbClr val="000000"/>
                </a:solidFill>
              </a:rPr>
              <a:t>t</a:t>
            </a:r>
            <a:r>
              <a:rPr kumimoji="0" lang="en-US" sz="1400" b="1" i="0" u="none" strike="noStrike" kern="1200" cap="none" spc="0" normalizeH="0" baseline="0" noProof="0" err="1">
                <a:ln>
                  <a:noFill/>
                </a:ln>
                <a:solidFill>
                  <a:srgbClr val="000000"/>
                </a:solidFill>
                <a:effectLst/>
                <a:uLnTx/>
                <a:uFillTx/>
                <a:ea typeface="+mn-ea"/>
                <a:cs typeface="Segoe UI" pitchFamily="34" charset="0"/>
              </a:rPr>
              <a:t>ype</a:t>
            </a:r>
            <a:r>
              <a:rPr kumimoji="0" lang="en-US" sz="1400" b="1" i="0" u="none" strike="noStrike" kern="1200" cap="none" spc="0" normalizeH="0" baseline="0" noProof="0">
                <a:ln>
                  <a:noFill/>
                </a:ln>
                <a:solidFill>
                  <a:srgbClr val="000000"/>
                </a:solidFill>
                <a:effectLst/>
                <a:uLnTx/>
                <a:uFillTx/>
                <a:ea typeface="+mn-ea"/>
                <a:cs typeface="Segoe UI" pitchFamily="34" charset="0"/>
              </a:rPr>
              <a:t>: </a:t>
            </a:r>
            <a:r>
              <a:rPr kumimoji="0" lang="en-US" sz="1400" b="0" i="0" u="none" strike="noStrike" kern="1200" cap="none" spc="0" normalizeH="0" baseline="0" noProof="0">
                <a:ln>
                  <a:noFill/>
                </a:ln>
                <a:gradFill>
                  <a:gsLst>
                    <a:gs pos="0">
                      <a:srgbClr val="000000">
                        <a:lumMod val="85000"/>
                        <a:lumOff val="15000"/>
                      </a:srgbClr>
                    </a:gs>
                    <a:gs pos="100000">
                      <a:srgbClr val="000000">
                        <a:lumMod val="85000"/>
                        <a:lumOff val="15000"/>
                      </a:srgbClr>
                    </a:gs>
                  </a:gsLst>
                  <a:lin ang="5400000" scaled="0"/>
                </a:gradFill>
                <a:effectLst/>
                <a:uLnTx/>
                <a:uFillTx/>
                <a:ea typeface="+mn-ea"/>
                <a:cs typeface="Segoe UI"/>
              </a:rPr>
              <a:t>Selecting </a:t>
            </a:r>
            <a:r>
              <a:rPr kumimoji="0" lang="en-US" sz="1400" i="0" u="none" strike="noStrike" kern="1200" cap="none" spc="0" normalizeH="0" baseline="0" noProof="0">
                <a:ln>
                  <a:noFill/>
                </a:ln>
                <a:gradFill>
                  <a:gsLst>
                    <a:gs pos="0">
                      <a:srgbClr val="000000">
                        <a:lumMod val="85000"/>
                        <a:lumOff val="15000"/>
                      </a:srgbClr>
                    </a:gs>
                    <a:gs pos="100000">
                      <a:srgbClr val="000000">
                        <a:lumMod val="85000"/>
                        <a:lumOff val="15000"/>
                      </a:srgbClr>
                    </a:gs>
                  </a:gsLst>
                  <a:lin ang="5400000" scaled="0"/>
                </a:gradFill>
                <a:effectLst/>
                <a:uLnTx/>
                <a:uFillTx/>
                <a:ea typeface="+mn-ea"/>
                <a:cs typeface="Segoe UI"/>
              </a:rPr>
              <a:t>Implementation</a:t>
            </a:r>
            <a:r>
              <a:rPr kumimoji="0" lang="en-US" sz="1400" b="0" i="0" u="none" strike="noStrike" kern="1200" cap="none" spc="0" normalizeH="0" baseline="0" noProof="0">
                <a:ln>
                  <a:noFill/>
                </a:ln>
                <a:gradFill>
                  <a:gsLst>
                    <a:gs pos="0">
                      <a:srgbClr val="000000">
                        <a:lumMod val="85000"/>
                        <a:lumOff val="15000"/>
                      </a:srgbClr>
                    </a:gs>
                    <a:gs pos="100000">
                      <a:srgbClr val="000000">
                        <a:lumMod val="85000"/>
                        <a:lumOff val="15000"/>
                      </a:srgbClr>
                    </a:gs>
                  </a:gsLst>
                  <a:lin ang="5400000" scaled="0"/>
                </a:gradFill>
                <a:effectLst/>
                <a:uLnTx/>
                <a:uFillTx/>
                <a:ea typeface="+mn-ea"/>
                <a:cs typeface="Segoe UI"/>
              </a:rPr>
              <a:t> is encouraged</a:t>
            </a:r>
            <a:endParaRPr kumimoji="0" lang="en-US" sz="1400" b="1" i="0" u="none" strike="noStrike" kern="1200" cap="none" spc="0" normalizeH="0" baseline="0" noProof="0">
              <a:ln>
                <a:noFill/>
              </a:ln>
              <a:gradFill>
                <a:gsLst>
                  <a:gs pos="0">
                    <a:srgbClr val="000000">
                      <a:lumMod val="85000"/>
                      <a:lumOff val="15000"/>
                    </a:srgbClr>
                  </a:gs>
                  <a:gs pos="100000">
                    <a:srgbClr val="000000">
                      <a:lumMod val="85000"/>
                      <a:lumOff val="15000"/>
                    </a:srgbClr>
                  </a:gs>
                </a:gsLst>
                <a:lin ang="5400000" scaled="0"/>
              </a:gradFill>
              <a:effectLst/>
              <a:uLnTx/>
              <a:uFillTx/>
              <a:ea typeface="+mn-ea"/>
              <a:cs typeface="Segoe UI"/>
            </a:endParaRPr>
          </a:p>
        </p:txBody>
      </p:sp>
      <p:sp>
        <p:nvSpPr>
          <p:cNvPr id="37" name="TextBox 36">
            <a:extLst>
              <a:ext uri="{FF2B5EF4-FFF2-40B4-BE49-F238E27FC236}">
                <a16:creationId xmlns:a16="http://schemas.microsoft.com/office/drawing/2014/main" id="{3855C331-4042-4231-8E97-CC6101F325A3}"/>
              </a:ext>
            </a:extLst>
          </p:cNvPr>
          <p:cNvSpPr txBox="1"/>
          <p:nvPr/>
        </p:nvSpPr>
        <p:spPr>
          <a:xfrm>
            <a:off x="3003234" y="1957740"/>
            <a:ext cx="2191704" cy="1398267"/>
          </a:xfrm>
          <a:prstGeom prst="rect">
            <a:avLst/>
          </a:prstGeom>
          <a:noFill/>
        </p:spPr>
        <p:txBody>
          <a:bodyPr wrap="square" lIns="0" tIns="0" rIns="0" bIns="0" rtlCol="0" anchor="t">
            <a:noAutofit/>
          </a:bodyPr>
          <a:lstStyle>
            <a:defPPr>
              <a:defRPr lang="en-US"/>
            </a:defPPr>
            <a:lvl1pPr algn="ctr" defTabSz="932472" fontAlgn="base">
              <a:spcBef>
                <a:spcPts val="600"/>
              </a:spcBef>
              <a:spcAft>
                <a:spcPts val="1200"/>
              </a:spcAft>
              <a:buClr>
                <a:schemeClr val="tx2"/>
              </a:buClr>
              <a:buSzPct val="80000"/>
              <a:defRPr sz="1600" b="1">
                <a:solidFill>
                  <a:schemeClr val="bg1"/>
                </a:solidFill>
                <a:cs typeface="Segoe UI" pitchFamily="34" charset="0"/>
              </a:defRPr>
            </a:lvl1pPr>
          </a:lstStyle>
          <a:p>
            <a:pPr marL="342900" marR="0" lvl="0" indent="-342900" algn="l" defTabSz="932472" rtl="0" eaLnBrk="1" fontAlgn="base" latinLnBrk="0" hangingPunct="1">
              <a:lnSpc>
                <a:spcPct val="100000"/>
              </a:lnSpc>
              <a:spcBef>
                <a:spcPts val="0"/>
              </a:spcBef>
              <a:spcAft>
                <a:spcPts val="0"/>
              </a:spcAft>
              <a:buClr>
                <a:srgbClr val="000000"/>
              </a:buClr>
              <a:buSzPct val="100000"/>
              <a:buFont typeface="+mj-lt"/>
              <a:buAutoNum type="arabicPeriod" startAt="2"/>
              <a:tabLst/>
              <a:defRPr/>
            </a:pPr>
            <a:r>
              <a:rPr kumimoji="0" lang="en-US" sz="1400" b="1" i="0" u="none" strike="noStrike" kern="1200" cap="none" spc="0" normalizeH="0" baseline="0" noProof="0" dirty="0">
                <a:ln>
                  <a:noFill/>
                </a:ln>
                <a:solidFill>
                  <a:srgbClr val="000000"/>
                </a:solidFill>
                <a:effectLst/>
                <a:uLnTx/>
                <a:uFillTx/>
                <a:ea typeface="+mn-ea"/>
                <a:cs typeface="Segoe UI" pitchFamily="34" charset="0"/>
              </a:rPr>
              <a:t>Solution Area:</a:t>
            </a:r>
            <a:r>
              <a:rPr kumimoji="0" lang="en-US" sz="1400" b="0" i="0" u="none" strike="noStrike" kern="1200" cap="none" spc="0" normalizeH="0" baseline="0" noProof="0" dirty="0">
                <a:ln>
                  <a:noFill/>
                </a:ln>
                <a:solidFill>
                  <a:srgbClr val="000000"/>
                </a:solidFill>
                <a:effectLst/>
                <a:uLnTx/>
                <a:uFillTx/>
                <a:ea typeface="+mn-ea"/>
                <a:cs typeface="Segoe UI" pitchFamily="34" charset="0"/>
              </a:rPr>
              <a:t> </a:t>
            </a:r>
            <a:r>
              <a:rPr kumimoji="0" lang="en-US" sz="1400" b="0" i="0" u="none" strike="noStrike" kern="1200" cap="none" spc="0" normalizeH="0" baseline="0" noProof="0" dirty="0">
                <a:ln>
                  <a:noFill/>
                </a:ln>
                <a:gradFill>
                  <a:gsLst>
                    <a:gs pos="0">
                      <a:srgbClr val="000000">
                        <a:lumMod val="85000"/>
                        <a:lumOff val="15000"/>
                      </a:srgbClr>
                    </a:gs>
                    <a:gs pos="100000">
                      <a:srgbClr val="000000">
                        <a:lumMod val="85000"/>
                        <a:lumOff val="15000"/>
                      </a:srgbClr>
                    </a:gs>
                  </a:gsLst>
                  <a:lin ang="5400000" scaled="0"/>
                </a:gradFill>
                <a:effectLst/>
                <a:uLnTx/>
                <a:uFillTx/>
                <a:ea typeface="+mn-ea"/>
                <a:cs typeface="Segoe UI" pitchFamily="34" charset="0"/>
              </a:rPr>
              <a:t>Select the below three solution areas </a:t>
            </a:r>
            <a:r>
              <a:rPr lang="en-US" sz="1400" b="0" dirty="0">
                <a:gradFill>
                  <a:gsLst>
                    <a:gs pos="0">
                      <a:srgbClr val="000000">
                        <a:lumMod val="85000"/>
                        <a:lumOff val="15000"/>
                      </a:srgbClr>
                    </a:gs>
                    <a:gs pos="100000">
                      <a:srgbClr val="000000">
                        <a:lumMod val="85000"/>
                        <a:lumOff val="15000"/>
                      </a:srgbClr>
                    </a:gs>
                  </a:gsLst>
                  <a:lin ang="5400000" scaled="0"/>
                </a:gradFill>
              </a:rPr>
              <a:t>(e.g.,)</a:t>
            </a:r>
            <a:endParaRPr kumimoji="0" lang="en-US" sz="1400" b="0" i="0" u="none" strike="noStrike" kern="1200" cap="none" spc="0" normalizeH="0" baseline="0" noProof="0" dirty="0">
              <a:ln>
                <a:noFill/>
              </a:ln>
              <a:gradFill>
                <a:gsLst>
                  <a:gs pos="0">
                    <a:srgbClr val="000000">
                      <a:lumMod val="85000"/>
                      <a:lumOff val="15000"/>
                    </a:srgbClr>
                  </a:gs>
                  <a:gs pos="100000">
                    <a:srgbClr val="000000">
                      <a:lumMod val="85000"/>
                      <a:lumOff val="15000"/>
                    </a:srgbClr>
                  </a:gs>
                </a:gsLst>
                <a:lin ang="5400000" scaled="0"/>
              </a:gradFill>
              <a:effectLst/>
              <a:uLnTx/>
              <a:uFillTx/>
              <a:ea typeface="+mn-ea"/>
              <a:cs typeface="Segoe UI" pitchFamily="34" charset="0"/>
            </a:endParaRPr>
          </a:p>
          <a:p>
            <a:pPr marL="685800" marR="0" lvl="1" indent="-2286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400" b="1" i="0" u="none" strike="noStrike" kern="1200" cap="none" spc="0" normalizeH="0" baseline="0" noProof="0" dirty="0">
                <a:ln>
                  <a:noFill/>
                </a:ln>
                <a:gradFill>
                  <a:gsLst>
                    <a:gs pos="0">
                      <a:srgbClr val="000000">
                        <a:lumMod val="85000"/>
                        <a:lumOff val="15000"/>
                      </a:srgbClr>
                    </a:gs>
                    <a:gs pos="100000">
                      <a:srgbClr val="000000">
                        <a:lumMod val="85000"/>
                        <a:lumOff val="15000"/>
                      </a:srgbClr>
                    </a:gs>
                  </a:gsLst>
                  <a:lin ang="5400000" scaled="0"/>
                </a:gradFill>
                <a:effectLst/>
                <a:uLnTx/>
                <a:uFillTx/>
                <a:ea typeface="+mn-ea"/>
                <a:cs typeface="+mn-cs"/>
              </a:rPr>
              <a:t>Adoption &amp; Change </a:t>
            </a:r>
            <a:r>
              <a:rPr lang="en-US" sz="1400" b="1" dirty="0">
                <a:gradFill>
                  <a:gsLst>
                    <a:gs pos="0">
                      <a:srgbClr val="000000">
                        <a:lumMod val="85000"/>
                        <a:lumOff val="15000"/>
                      </a:srgbClr>
                    </a:gs>
                    <a:gs pos="100000">
                      <a:srgbClr val="000000">
                        <a:lumMod val="85000"/>
                        <a:lumOff val="15000"/>
                      </a:srgbClr>
                    </a:gs>
                  </a:gsLst>
                  <a:lin ang="5400000" scaled="0"/>
                </a:gradFill>
              </a:rPr>
              <a:t>M</a:t>
            </a:r>
            <a:r>
              <a:rPr kumimoji="0" lang="en-US" sz="1400" b="1" i="0" u="none" strike="noStrike" kern="1200" cap="none" spc="0" normalizeH="0" baseline="0" noProof="0" dirty="0" err="1">
                <a:ln>
                  <a:noFill/>
                </a:ln>
                <a:gradFill>
                  <a:gsLst>
                    <a:gs pos="0">
                      <a:srgbClr val="000000">
                        <a:lumMod val="85000"/>
                        <a:lumOff val="15000"/>
                      </a:srgbClr>
                    </a:gs>
                    <a:gs pos="100000">
                      <a:srgbClr val="000000">
                        <a:lumMod val="85000"/>
                        <a:lumOff val="15000"/>
                      </a:srgbClr>
                    </a:gs>
                  </a:gsLst>
                  <a:lin ang="5400000" scaled="0"/>
                </a:gradFill>
                <a:effectLst/>
                <a:uLnTx/>
                <a:uFillTx/>
                <a:ea typeface="+mn-ea"/>
                <a:cs typeface="+mn-cs"/>
              </a:rPr>
              <a:t>anagement</a:t>
            </a:r>
            <a:endParaRPr kumimoji="0" lang="en-US" sz="1400" b="1" i="0" u="none" strike="noStrike" kern="1200" cap="none" spc="0" normalizeH="0" baseline="0" noProof="0" dirty="0">
              <a:ln>
                <a:noFill/>
              </a:ln>
              <a:gradFill>
                <a:gsLst>
                  <a:gs pos="0">
                    <a:srgbClr val="000000">
                      <a:lumMod val="85000"/>
                      <a:lumOff val="15000"/>
                    </a:srgbClr>
                  </a:gs>
                  <a:gs pos="100000">
                    <a:srgbClr val="000000">
                      <a:lumMod val="85000"/>
                      <a:lumOff val="15000"/>
                    </a:srgbClr>
                  </a:gs>
                </a:gsLst>
                <a:lin ang="5400000" scaled="0"/>
              </a:gradFill>
              <a:effectLst/>
              <a:uLnTx/>
              <a:uFillTx/>
              <a:ea typeface="+mn-ea"/>
              <a:cs typeface="+mn-cs"/>
            </a:endParaRPr>
          </a:p>
        </p:txBody>
      </p:sp>
      <p:sp>
        <p:nvSpPr>
          <p:cNvPr id="11" name="Rectangle 10">
            <a:extLst>
              <a:ext uri="{FF2B5EF4-FFF2-40B4-BE49-F238E27FC236}">
                <a16:creationId xmlns:a16="http://schemas.microsoft.com/office/drawing/2014/main" id="{7E61BC5F-EB2D-4C3D-AAE1-A39A76729FE6}"/>
              </a:ext>
            </a:extLst>
          </p:cNvPr>
          <p:cNvSpPr/>
          <p:nvPr/>
        </p:nvSpPr>
        <p:spPr bwMode="auto">
          <a:xfrm>
            <a:off x="5717939" y="1290780"/>
            <a:ext cx="1870411" cy="421384"/>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2" name="Rectangle 41">
            <a:extLst>
              <a:ext uri="{FF2B5EF4-FFF2-40B4-BE49-F238E27FC236}">
                <a16:creationId xmlns:a16="http://schemas.microsoft.com/office/drawing/2014/main" id="{9FCC36F5-55CD-4C7B-BFFF-D92196DE085E}"/>
              </a:ext>
            </a:extLst>
          </p:cNvPr>
          <p:cNvSpPr/>
          <p:nvPr/>
        </p:nvSpPr>
        <p:spPr bwMode="auto">
          <a:xfrm>
            <a:off x="5707241" y="1835039"/>
            <a:ext cx="1881109" cy="492444"/>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3" name="Rectangle 42">
            <a:extLst>
              <a:ext uri="{FF2B5EF4-FFF2-40B4-BE49-F238E27FC236}">
                <a16:creationId xmlns:a16="http://schemas.microsoft.com/office/drawing/2014/main" id="{2E546FB9-E257-4CCC-B832-EDFD3F68511A}"/>
              </a:ext>
            </a:extLst>
          </p:cNvPr>
          <p:cNvSpPr/>
          <p:nvPr/>
        </p:nvSpPr>
        <p:spPr bwMode="auto">
          <a:xfrm>
            <a:off x="5716669" y="3624203"/>
            <a:ext cx="1859939" cy="454407"/>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6" name="Freeform: Shape 15">
            <a:extLst>
              <a:ext uri="{FF2B5EF4-FFF2-40B4-BE49-F238E27FC236}">
                <a16:creationId xmlns:a16="http://schemas.microsoft.com/office/drawing/2014/main" id="{EED60D8D-415B-4386-8919-D9660FEFE1A9}"/>
              </a:ext>
            </a:extLst>
          </p:cNvPr>
          <p:cNvSpPr/>
          <p:nvPr/>
        </p:nvSpPr>
        <p:spPr bwMode="auto">
          <a:xfrm flipV="1">
            <a:off x="5200407" y="5645515"/>
            <a:ext cx="510793" cy="435868"/>
          </a:xfrm>
          <a:custGeom>
            <a:avLst/>
            <a:gdLst>
              <a:gd name="connsiteX0" fmla="*/ 0 w 800100"/>
              <a:gd name="connsiteY0" fmla="*/ 0 h 257175"/>
              <a:gd name="connsiteX1" fmla="*/ 328612 w 800100"/>
              <a:gd name="connsiteY1" fmla="*/ 0 h 257175"/>
              <a:gd name="connsiteX2" fmla="*/ 328612 w 800100"/>
              <a:gd name="connsiteY2" fmla="*/ 257175 h 257175"/>
              <a:gd name="connsiteX3" fmla="*/ 800100 w 800100"/>
              <a:gd name="connsiteY3" fmla="*/ 257175 h 257175"/>
            </a:gdLst>
            <a:ahLst/>
            <a:cxnLst>
              <a:cxn ang="0">
                <a:pos x="connsiteX0" y="connsiteY0"/>
              </a:cxn>
              <a:cxn ang="0">
                <a:pos x="connsiteX1" y="connsiteY1"/>
              </a:cxn>
              <a:cxn ang="0">
                <a:pos x="connsiteX2" y="connsiteY2"/>
              </a:cxn>
              <a:cxn ang="0">
                <a:pos x="connsiteX3" y="connsiteY3"/>
              </a:cxn>
            </a:cxnLst>
            <a:rect l="l" t="t" r="r" b="b"/>
            <a:pathLst>
              <a:path w="800100" h="257175">
                <a:moveTo>
                  <a:pt x="0" y="0"/>
                </a:moveTo>
                <a:lnTo>
                  <a:pt x="328612" y="0"/>
                </a:lnTo>
                <a:lnTo>
                  <a:pt x="328612" y="257175"/>
                </a:lnTo>
                <a:lnTo>
                  <a:pt x="800100" y="257175"/>
                </a:lnTo>
              </a:path>
            </a:pathLst>
          </a:custGeom>
          <a:noFill/>
          <a:ln w="22225" cap="rnd">
            <a:solidFill>
              <a:schemeClr val="tx2">
                <a:lumMod val="50000"/>
                <a:lumOff val="50000"/>
              </a:schemeClr>
            </a:solidFill>
            <a:prstDash val="sysDot"/>
            <a:headEnd type="none" w="med" len="med"/>
            <a:tailEnd type="triangle" w="lg" len="lg"/>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67" name="Freeform: Shape 66">
            <a:extLst>
              <a:ext uri="{FF2B5EF4-FFF2-40B4-BE49-F238E27FC236}">
                <a16:creationId xmlns:a16="http://schemas.microsoft.com/office/drawing/2014/main" id="{34B065FC-3613-4E5E-B99A-33D837257425}"/>
              </a:ext>
            </a:extLst>
          </p:cNvPr>
          <p:cNvSpPr/>
          <p:nvPr/>
        </p:nvSpPr>
        <p:spPr bwMode="auto">
          <a:xfrm flipV="1">
            <a:off x="5190978" y="2038453"/>
            <a:ext cx="510793" cy="484208"/>
          </a:xfrm>
          <a:custGeom>
            <a:avLst/>
            <a:gdLst>
              <a:gd name="connsiteX0" fmla="*/ 0 w 800100"/>
              <a:gd name="connsiteY0" fmla="*/ 0 h 257175"/>
              <a:gd name="connsiteX1" fmla="*/ 328612 w 800100"/>
              <a:gd name="connsiteY1" fmla="*/ 0 h 257175"/>
              <a:gd name="connsiteX2" fmla="*/ 328612 w 800100"/>
              <a:gd name="connsiteY2" fmla="*/ 257175 h 257175"/>
              <a:gd name="connsiteX3" fmla="*/ 800100 w 800100"/>
              <a:gd name="connsiteY3" fmla="*/ 257175 h 257175"/>
            </a:gdLst>
            <a:ahLst/>
            <a:cxnLst>
              <a:cxn ang="0">
                <a:pos x="connsiteX0" y="connsiteY0"/>
              </a:cxn>
              <a:cxn ang="0">
                <a:pos x="connsiteX1" y="connsiteY1"/>
              </a:cxn>
              <a:cxn ang="0">
                <a:pos x="connsiteX2" y="connsiteY2"/>
              </a:cxn>
              <a:cxn ang="0">
                <a:pos x="connsiteX3" y="connsiteY3"/>
              </a:cxn>
            </a:cxnLst>
            <a:rect l="l" t="t" r="r" b="b"/>
            <a:pathLst>
              <a:path w="800100" h="257175">
                <a:moveTo>
                  <a:pt x="0" y="0"/>
                </a:moveTo>
                <a:lnTo>
                  <a:pt x="328612" y="0"/>
                </a:lnTo>
                <a:lnTo>
                  <a:pt x="328612" y="257175"/>
                </a:lnTo>
                <a:lnTo>
                  <a:pt x="800100" y="257175"/>
                </a:lnTo>
              </a:path>
            </a:pathLst>
          </a:custGeom>
          <a:noFill/>
          <a:ln w="22225" cap="rnd">
            <a:solidFill>
              <a:schemeClr val="tx2">
                <a:lumMod val="50000"/>
                <a:lumOff val="50000"/>
              </a:schemeClr>
            </a:solidFill>
            <a:prstDash val="sysDot"/>
            <a:headEnd type="none" w="med" len="med"/>
            <a:tailEnd type="triangle" w="lg" len="lg"/>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68" name="Freeform: Shape 67">
            <a:extLst>
              <a:ext uri="{FF2B5EF4-FFF2-40B4-BE49-F238E27FC236}">
                <a16:creationId xmlns:a16="http://schemas.microsoft.com/office/drawing/2014/main" id="{56221DB1-B3B4-4C71-8BA3-F8F67C68899E}"/>
              </a:ext>
            </a:extLst>
          </p:cNvPr>
          <p:cNvSpPr/>
          <p:nvPr/>
        </p:nvSpPr>
        <p:spPr bwMode="auto">
          <a:xfrm flipV="1">
            <a:off x="5200407" y="4941508"/>
            <a:ext cx="510793" cy="241818"/>
          </a:xfrm>
          <a:custGeom>
            <a:avLst/>
            <a:gdLst>
              <a:gd name="connsiteX0" fmla="*/ 0 w 800100"/>
              <a:gd name="connsiteY0" fmla="*/ 0 h 257175"/>
              <a:gd name="connsiteX1" fmla="*/ 328612 w 800100"/>
              <a:gd name="connsiteY1" fmla="*/ 0 h 257175"/>
              <a:gd name="connsiteX2" fmla="*/ 328612 w 800100"/>
              <a:gd name="connsiteY2" fmla="*/ 257175 h 257175"/>
              <a:gd name="connsiteX3" fmla="*/ 800100 w 800100"/>
              <a:gd name="connsiteY3" fmla="*/ 257175 h 257175"/>
            </a:gdLst>
            <a:ahLst/>
            <a:cxnLst>
              <a:cxn ang="0">
                <a:pos x="connsiteX0" y="connsiteY0"/>
              </a:cxn>
              <a:cxn ang="0">
                <a:pos x="connsiteX1" y="connsiteY1"/>
              </a:cxn>
              <a:cxn ang="0">
                <a:pos x="connsiteX2" y="connsiteY2"/>
              </a:cxn>
              <a:cxn ang="0">
                <a:pos x="connsiteX3" y="connsiteY3"/>
              </a:cxn>
            </a:cxnLst>
            <a:rect l="l" t="t" r="r" b="b"/>
            <a:pathLst>
              <a:path w="800100" h="257175">
                <a:moveTo>
                  <a:pt x="0" y="0"/>
                </a:moveTo>
                <a:lnTo>
                  <a:pt x="328612" y="0"/>
                </a:lnTo>
                <a:lnTo>
                  <a:pt x="328612" y="257175"/>
                </a:lnTo>
                <a:lnTo>
                  <a:pt x="800100" y="257175"/>
                </a:lnTo>
              </a:path>
            </a:pathLst>
          </a:custGeom>
          <a:noFill/>
          <a:ln w="22225" cap="rnd">
            <a:solidFill>
              <a:schemeClr val="tx2">
                <a:lumMod val="50000"/>
                <a:lumOff val="50000"/>
              </a:schemeClr>
            </a:solidFill>
            <a:prstDash val="sysDot"/>
            <a:headEnd type="none" w="med" len="med"/>
            <a:tailEnd type="triangle" w="lg" len="lg"/>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66" name="Freeform: Shape 65">
            <a:extLst>
              <a:ext uri="{FF2B5EF4-FFF2-40B4-BE49-F238E27FC236}">
                <a16:creationId xmlns:a16="http://schemas.microsoft.com/office/drawing/2014/main" id="{E14DF27C-6F86-49E2-A5E6-B3934A7EBA13}"/>
              </a:ext>
            </a:extLst>
          </p:cNvPr>
          <p:cNvSpPr/>
          <p:nvPr/>
        </p:nvSpPr>
        <p:spPr bwMode="auto">
          <a:xfrm>
            <a:off x="5200407" y="1437940"/>
            <a:ext cx="510793" cy="113252"/>
          </a:xfrm>
          <a:custGeom>
            <a:avLst/>
            <a:gdLst>
              <a:gd name="connsiteX0" fmla="*/ 0 w 800100"/>
              <a:gd name="connsiteY0" fmla="*/ 0 h 257175"/>
              <a:gd name="connsiteX1" fmla="*/ 328612 w 800100"/>
              <a:gd name="connsiteY1" fmla="*/ 0 h 257175"/>
              <a:gd name="connsiteX2" fmla="*/ 328612 w 800100"/>
              <a:gd name="connsiteY2" fmla="*/ 257175 h 257175"/>
              <a:gd name="connsiteX3" fmla="*/ 800100 w 800100"/>
              <a:gd name="connsiteY3" fmla="*/ 257175 h 257175"/>
            </a:gdLst>
            <a:ahLst/>
            <a:cxnLst>
              <a:cxn ang="0">
                <a:pos x="connsiteX0" y="connsiteY0"/>
              </a:cxn>
              <a:cxn ang="0">
                <a:pos x="connsiteX1" y="connsiteY1"/>
              </a:cxn>
              <a:cxn ang="0">
                <a:pos x="connsiteX2" y="connsiteY2"/>
              </a:cxn>
              <a:cxn ang="0">
                <a:pos x="connsiteX3" y="connsiteY3"/>
              </a:cxn>
            </a:cxnLst>
            <a:rect l="l" t="t" r="r" b="b"/>
            <a:pathLst>
              <a:path w="800100" h="257175">
                <a:moveTo>
                  <a:pt x="0" y="0"/>
                </a:moveTo>
                <a:lnTo>
                  <a:pt x="328612" y="0"/>
                </a:lnTo>
                <a:lnTo>
                  <a:pt x="328612" y="257175"/>
                </a:lnTo>
                <a:lnTo>
                  <a:pt x="800100" y="257175"/>
                </a:lnTo>
              </a:path>
            </a:pathLst>
          </a:custGeom>
          <a:noFill/>
          <a:ln w="22225" cap="rnd">
            <a:solidFill>
              <a:schemeClr val="tx2">
                <a:lumMod val="50000"/>
                <a:lumOff val="50000"/>
              </a:schemeClr>
            </a:solidFill>
            <a:prstDash val="sysDot"/>
            <a:headEnd type="none" w="med" len="med"/>
            <a:tailEnd type="triangle" w="lg" len="lg"/>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1AD76902-1B95-4114-8799-83F2784BF377}"/>
              </a:ext>
            </a:extLst>
          </p:cNvPr>
          <p:cNvPicPr>
            <a:picLocks noChangeAspect="1"/>
          </p:cNvPicPr>
          <p:nvPr/>
        </p:nvPicPr>
        <p:blipFill rotWithShape="1">
          <a:blip r:embed="rId4"/>
          <a:srcRect t="1" r="1458" b="63084"/>
          <a:stretch/>
        </p:blipFill>
        <p:spPr>
          <a:xfrm>
            <a:off x="5777845" y="5425827"/>
            <a:ext cx="5857243" cy="459469"/>
          </a:xfrm>
          <a:prstGeom prst="rect">
            <a:avLst/>
          </a:prstGeom>
          <a:effectLst>
            <a:outerShdw blurRad="50800" dist="38100" dir="2700000" algn="tl" rotWithShape="0">
              <a:prstClr val="black">
                <a:alpha val="40000"/>
              </a:prstClr>
            </a:outerShdw>
          </a:effectLst>
        </p:spPr>
      </p:pic>
      <p:sp>
        <p:nvSpPr>
          <p:cNvPr id="45" name="Rectangle 44">
            <a:extLst>
              <a:ext uri="{FF2B5EF4-FFF2-40B4-BE49-F238E27FC236}">
                <a16:creationId xmlns:a16="http://schemas.microsoft.com/office/drawing/2014/main" id="{A16ECDF3-94B6-43BA-8393-1DC8F7BCAA64}"/>
              </a:ext>
            </a:extLst>
          </p:cNvPr>
          <p:cNvSpPr/>
          <p:nvPr/>
        </p:nvSpPr>
        <p:spPr bwMode="auto">
          <a:xfrm>
            <a:off x="5701771" y="4807267"/>
            <a:ext cx="5967329" cy="502628"/>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TextBox 34">
            <a:extLst>
              <a:ext uri="{FF2B5EF4-FFF2-40B4-BE49-F238E27FC236}">
                <a16:creationId xmlns:a16="http://schemas.microsoft.com/office/drawing/2014/main" id="{71C755BC-E935-474D-999C-E7518DC3298D}"/>
              </a:ext>
            </a:extLst>
          </p:cNvPr>
          <p:cNvSpPr txBox="1">
            <a:spLocks/>
          </p:cNvSpPr>
          <p:nvPr/>
        </p:nvSpPr>
        <p:spPr>
          <a:xfrm>
            <a:off x="3009899" y="5631389"/>
            <a:ext cx="2260601" cy="1036381"/>
          </a:xfrm>
          <a:prstGeom prst="rect">
            <a:avLst/>
          </a:prstGeom>
          <a:noFill/>
        </p:spPr>
        <p:txBody>
          <a:bodyPr wrap="square" lIns="0" tIns="0" rIns="0" bIns="0" rtlCol="0" anchor="t">
            <a:noAutofit/>
          </a:bodyPr>
          <a:lstStyle/>
          <a:p>
            <a:pPr marL="342900" marR="0" lvl="0" indent="-342900" algn="l" defTabSz="932472" rtl="0" eaLnBrk="1" fontAlgn="base" latinLnBrk="0" hangingPunct="1">
              <a:lnSpc>
                <a:spcPct val="100000"/>
              </a:lnSpc>
              <a:spcBef>
                <a:spcPts val="600"/>
              </a:spcBef>
              <a:spcAft>
                <a:spcPts val="1200"/>
              </a:spcAft>
              <a:buClr>
                <a:srgbClr val="000000"/>
              </a:buClr>
              <a:buSzPct val="100000"/>
              <a:buFont typeface="+mj-lt"/>
              <a:buAutoNum type="arabicPeriod" startAt="5"/>
              <a:tabLst/>
              <a:defRPr/>
            </a:pPr>
            <a:r>
              <a:rPr kumimoji="0" lang="en-US" sz="1400" b="1" i="0" u="none" strike="noStrike" kern="1200" cap="none" spc="0" normalizeH="0" baseline="0" noProof="0">
                <a:ln>
                  <a:noFill/>
                </a:ln>
                <a:solidFill>
                  <a:srgbClr val="000000"/>
                </a:solidFill>
                <a:effectLst/>
                <a:uLnTx/>
                <a:uFillTx/>
                <a:ea typeface="+mn-ea"/>
                <a:cs typeface="Segoe UI" pitchFamily="34" charset="0"/>
              </a:rPr>
              <a:t>Competencies:</a:t>
            </a:r>
            <a:r>
              <a:rPr kumimoji="0" lang="en-US" sz="1400" b="1" i="0" u="none" strike="noStrike" kern="1200" cap="none" spc="0" normalizeH="0" baseline="0" noProof="0">
                <a:ln>
                  <a:noFill/>
                </a:ln>
                <a:solidFill>
                  <a:srgbClr val="0078D4"/>
                </a:solidFill>
                <a:effectLst/>
                <a:uLnTx/>
                <a:uFillTx/>
                <a:ea typeface="+mn-ea"/>
                <a:cs typeface="Segoe UI" pitchFamily="34" charset="0"/>
              </a:rPr>
              <a:t>*</a:t>
            </a:r>
            <a:r>
              <a:rPr kumimoji="0" lang="en-US" sz="1400" b="1" i="0" u="none" strike="noStrike" kern="1200" cap="none" spc="0" normalizeH="0" baseline="0" noProof="0">
                <a:ln>
                  <a:noFill/>
                </a:ln>
                <a:solidFill>
                  <a:srgbClr val="000000"/>
                </a:solidFill>
                <a:effectLst/>
                <a:uLnTx/>
                <a:uFillTx/>
                <a:ea typeface="+mn-ea"/>
                <a:cs typeface="Segoe UI" pitchFamily="34" charset="0"/>
              </a:rPr>
              <a:t> </a:t>
            </a:r>
            <a:r>
              <a:rPr kumimoji="0" lang="en-US" sz="1400" b="0" i="0" u="none" strike="noStrike" kern="1200" cap="none" spc="0" normalizeH="0" baseline="0" noProof="0">
                <a:ln>
                  <a:noFill/>
                </a:ln>
                <a:gradFill>
                  <a:gsLst>
                    <a:gs pos="0">
                      <a:srgbClr val="000000">
                        <a:lumMod val="85000"/>
                        <a:lumOff val="15000"/>
                      </a:srgbClr>
                    </a:gs>
                    <a:gs pos="100000">
                      <a:srgbClr val="000000">
                        <a:lumMod val="85000"/>
                        <a:lumOff val="15000"/>
                      </a:srgbClr>
                    </a:gs>
                  </a:gsLst>
                  <a:lin ang="5400000" scaled="0"/>
                </a:gradFill>
                <a:effectLst/>
                <a:uLnTx/>
                <a:uFillTx/>
                <a:ea typeface="+mn-ea"/>
                <a:cs typeface="Segoe UI" pitchFamily="34" charset="0"/>
              </a:rPr>
              <a:t>Select your relevant competencies</a:t>
            </a:r>
          </a:p>
        </p:txBody>
      </p:sp>
      <p:sp>
        <p:nvSpPr>
          <p:cNvPr id="36" name="Rectangle 35">
            <a:extLst>
              <a:ext uri="{FF2B5EF4-FFF2-40B4-BE49-F238E27FC236}">
                <a16:creationId xmlns:a16="http://schemas.microsoft.com/office/drawing/2014/main" id="{2A9EAE25-5D14-466B-821D-210835926438}"/>
              </a:ext>
            </a:extLst>
          </p:cNvPr>
          <p:cNvSpPr/>
          <p:nvPr/>
        </p:nvSpPr>
        <p:spPr bwMode="auto">
          <a:xfrm>
            <a:off x="5701771" y="5433461"/>
            <a:ext cx="3980219" cy="459469"/>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8" name="Freeform: Shape 37">
            <a:extLst>
              <a:ext uri="{FF2B5EF4-FFF2-40B4-BE49-F238E27FC236}">
                <a16:creationId xmlns:a16="http://schemas.microsoft.com/office/drawing/2014/main" id="{4136FC83-334E-4264-9AAD-A47210E978BA}"/>
              </a:ext>
            </a:extLst>
          </p:cNvPr>
          <p:cNvSpPr/>
          <p:nvPr/>
        </p:nvSpPr>
        <p:spPr bwMode="auto">
          <a:xfrm>
            <a:off x="5200407" y="3624203"/>
            <a:ext cx="510793" cy="248408"/>
          </a:xfrm>
          <a:custGeom>
            <a:avLst/>
            <a:gdLst>
              <a:gd name="connsiteX0" fmla="*/ 0 w 800100"/>
              <a:gd name="connsiteY0" fmla="*/ 0 h 257175"/>
              <a:gd name="connsiteX1" fmla="*/ 328612 w 800100"/>
              <a:gd name="connsiteY1" fmla="*/ 0 h 257175"/>
              <a:gd name="connsiteX2" fmla="*/ 328612 w 800100"/>
              <a:gd name="connsiteY2" fmla="*/ 257175 h 257175"/>
              <a:gd name="connsiteX3" fmla="*/ 800100 w 800100"/>
              <a:gd name="connsiteY3" fmla="*/ 257175 h 257175"/>
            </a:gdLst>
            <a:ahLst/>
            <a:cxnLst>
              <a:cxn ang="0">
                <a:pos x="connsiteX0" y="connsiteY0"/>
              </a:cxn>
              <a:cxn ang="0">
                <a:pos x="connsiteX1" y="connsiteY1"/>
              </a:cxn>
              <a:cxn ang="0">
                <a:pos x="connsiteX2" y="connsiteY2"/>
              </a:cxn>
              <a:cxn ang="0">
                <a:pos x="connsiteX3" y="connsiteY3"/>
              </a:cxn>
            </a:cxnLst>
            <a:rect l="l" t="t" r="r" b="b"/>
            <a:pathLst>
              <a:path w="800100" h="257175">
                <a:moveTo>
                  <a:pt x="0" y="0"/>
                </a:moveTo>
                <a:lnTo>
                  <a:pt x="328612" y="0"/>
                </a:lnTo>
                <a:lnTo>
                  <a:pt x="328612" y="257175"/>
                </a:lnTo>
                <a:lnTo>
                  <a:pt x="800100" y="257175"/>
                </a:lnTo>
              </a:path>
            </a:pathLst>
          </a:custGeom>
          <a:noFill/>
          <a:ln w="22225" cap="rnd">
            <a:solidFill>
              <a:schemeClr val="tx2">
                <a:lumMod val="50000"/>
                <a:lumOff val="50000"/>
              </a:schemeClr>
            </a:solidFill>
            <a:prstDash val="sysDot"/>
            <a:headEnd type="none" w="med" len="med"/>
            <a:tailEnd type="triangle" w="lg" len="lg"/>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2" name="TextBox 21">
            <a:extLst>
              <a:ext uri="{FF2B5EF4-FFF2-40B4-BE49-F238E27FC236}">
                <a16:creationId xmlns:a16="http://schemas.microsoft.com/office/drawing/2014/main" id="{38676A62-6A68-7804-DAEB-A93534F2897A}"/>
              </a:ext>
            </a:extLst>
          </p:cNvPr>
          <p:cNvSpPr txBox="1"/>
          <p:nvPr/>
        </p:nvSpPr>
        <p:spPr>
          <a:xfrm>
            <a:off x="3003234" y="6320788"/>
            <a:ext cx="6178868"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58738" marR="0" lvl="0" indent="-58738"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ea typeface="+mn-ea"/>
                <a:cs typeface="+mn-cs"/>
              </a:rPr>
              <a:t>*</a:t>
            </a:r>
            <a:r>
              <a:rPr kumimoji="0" lang="en-US" sz="900" b="0" i="0" u="none" strike="noStrike" kern="1200" cap="none" spc="0" normalizeH="0" baseline="0" noProof="0" dirty="0">
                <a:ln>
                  <a:noFill/>
                </a:ln>
                <a:solidFill>
                  <a:srgbClr val="000000"/>
                </a:solidFill>
                <a:effectLst/>
                <a:uLnTx/>
                <a:uFillTx/>
                <a:ea typeface="+mn-ea"/>
                <a:cs typeface="+mn-cs"/>
              </a:rPr>
              <a:t>Recommend $1 since the terms, conditions, and pricing typically vary and are custom to each engagement. You should also include the exact phrase “</a:t>
            </a:r>
            <a:r>
              <a:rPr kumimoji="0" lang="en-US" sz="900" b="0" i="0" u="none" strike="noStrike" kern="1200" cap="none" spc="0" normalizeH="0" baseline="0" noProof="0" dirty="0">
                <a:ln>
                  <a:noFill/>
                </a:ln>
                <a:solidFill>
                  <a:prstClr val="black"/>
                </a:solidFill>
                <a:effectLst/>
                <a:uLnTx/>
                <a:uFillTx/>
                <a:ea typeface="+mn-ea"/>
                <a:cs typeface="Segoe UI" panose="020B0502040204020203" pitchFamily="34" charset="0"/>
              </a:rPr>
              <a:t>terms, conditions, and pricing are custom to each engagement” in the solution description.</a:t>
            </a:r>
            <a:endParaRPr kumimoji="0" lang="en-US" sz="900" b="0" i="0" u="none" strike="noStrike" kern="1200" cap="none" spc="0" normalizeH="0" baseline="0" noProof="0" dirty="0">
              <a:ln>
                <a:noFill/>
              </a:ln>
              <a:solidFill>
                <a:srgbClr val="000000"/>
              </a:solidFill>
              <a:effectLst/>
              <a:uLnTx/>
              <a:uFillTx/>
              <a:ea typeface="+mn-ea"/>
              <a:cs typeface="+mn-cs"/>
            </a:endParaRPr>
          </a:p>
        </p:txBody>
      </p:sp>
      <p:grpSp>
        <p:nvGrpSpPr>
          <p:cNvPr id="24" name="Group 23">
            <a:extLst>
              <a:ext uri="{FF2B5EF4-FFF2-40B4-BE49-F238E27FC236}">
                <a16:creationId xmlns:a16="http://schemas.microsoft.com/office/drawing/2014/main" id="{0AAA48C6-9AA8-028B-55CB-99047DD0391A}"/>
              </a:ext>
            </a:extLst>
          </p:cNvPr>
          <p:cNvGrpSpPr/>
          <p:nvPr/>
        </p:nvGrpSpPr>
        <p:grpSpPr>
          <a:xfrm>
            <a:off x="9800681" y="299796"/>
            <a:ext cx="1803056" cy="552365"/>
            <a:chOff x="10126451" y="192765"/>
            <a:chExt cx="1803056" cy="552365"/>
          </a:xfrm>
        </p:grpSpPr>
        <p:grpSp>
          <p:nvGrpSpPr>
            <p:cNvPr id="25" name="Group 24">
              <a:extLst>
                <a:ext uri="{FF2B5EF4-FFF2-40B4-BE49-F238E27FC236}">
                  <a16:creationId xmlns:a16="http://schemas.microsoft.com/office/drawing/2014/main" id="{EF85200F-0E65-546D-9B35-4744FF08AD1B}"/>
                </a:ext>
              </a:extLst>
            </p:cNvPr>
            <p:cNvGrpSpPr/>
            <p:nvPr/>
          </p:nvGrpSpPr>
          <p:grpSpPr>
            <a:xfrm>
              <a:off x="10752268" y="196490"/>
              <a:ext cx="548640" cy="548640"/>
              <a:chOff x="10752268" y="196490"/>
              <a:chExt cx="548640" cy="548640"/>
            </a:xfrm>
          </p:grpSpPr>
          <p:sp>
            <p:nvSpPr>
              <p:cNvPr id="58" name="Oval 57">
                <a:extLst>
                  <a:ext uri="{FF2B5EF4-FFF2-40B4-BE49-F238E27FC236}">
                    <a16:creationId xmlns:a16="http://schemas.microsoft.com/office/drawing/2014/main" id="{4C4DB53B-9679-E50F-9D2B-5F0013741F4F}"/>
                  </a:ext>
                </a:extLst>
              </p:cNvPr>
              <p:cNvSpPr/>
              <p:nvPr/>
            </p:nvSpPr>
            <p:spPr bwMode="auto">
              <a:xfrm>
                <a:off x="10752268"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59" name="gear" descr="gear, wrench, engineer">
                <a:extLst>
                  <a:ext uri="{FF2B5EF4-FFF2-40B4-BE49-F238E27FC236}">
                    <a16:creationId xmlns:a16="http://schemas.microsoft.com/office/drawing/2014/main" id="{8C193912-1851-86AA-F387-054186385647}"/>
                  </a:ext>
                </a:extLst>
              </p:cNvPr>
              <p:cNvGrpSpPr/>
              <p:nvPr/>
            </p:nvGrpSpPr>
            <p:grpSpPr>
              <a:xfrm>
                <a:off x="10883844" y="326676"/>
                <a:ext cx="288269" cy="288268"/>
                <a:chOff x="3510968" y="2992337"/>
                <a:chExt cx="498751" cy="498751"/>
              </a:xfrm>
              <a:solidFill>
                <a:schemeClr val="bg1"/>
              </a:solidFill>
            </p:grpSpPr>
            <p:sp>
              <p:nvSpPr>
                <p:cNvPr id="75" name="Freeform: Shape 74">
                  <a:extLst>
                    <a:ext uri="{FF2B5EF4-FFF2-40B4-BE49-F238E27FC236}">
                      <a16:creationId xmlns:a16="http://schemas.microsoft.com/office/drawing/2014/main" id="{13A40B4C-7176-5764-FFB6-5C55D2056C7F}"/>
                    </a:ext>
                  </a:extLst>
                </p:cNvPr>
                <p:cNvSpPr/>
                <p:nvPr/>
              </p:nvSpPr>
              <p:spPr>
                <a:xfrm>
                  <a:off x="3510968" y="2992337"/>
                  <a:ext cx="498751" cy="498751"/>
                </a:xfrm>
                <a:custGeom>
                  <a:avLst/>
                  <a:gdLst>
                    <a:gd name="connsiteX0" fmla="*/ 499635 w 498751"/>
                    <a:gd name="connsiteY0" fmla="*/ 277035 h 498751"/>
                    <a:gd name="connsiteX1" fmla="*/ 499635 w 498751"/>
                    <a:gd name="connsiteY1" fmla="*/ 224623 h 498751"/>
                    <a:gd name="connsiteX2" fmla="*/ 445560 w 498751"/>
                    <a:gd name="connsiteY2" fmla="*/ 224623 h 498751"/>
                    <a:gd name="connsiteX3" fmla="*/ 407060 w 498751"/>
                    <a:gd name="connsiteY3" fmla="*/ 131698 h 498751"/>
                    <a:gd name="connsiteX4" fmla="*/ 445298 w 498751"/>
                    <a:gd name="connsiteY4" fmla="*/ 93460 h 498751"/>
                    <a:gd name="connsiteX5" fmla="*/ 408285 w 498751"/>
                    <a:gd name="connsiteY5" fmla="*/ 56448 h 498751"/>
                    <a:gd name="connsiteX6" fmla="*/ 370048 w 498751"/>
                    <a:gd name="connsiteY6" fmla="*/ 94686 h 498751"/>
                    <a:gd name="connsiteX7" fmla="*/ 277123 w 498751"/>
                    <a:gd name="connsiteY7" fmla="*/ 56186 h 498751"/>
                    <a:gd name="connsiteX8" fmla="*/ 277123 w 498751"/>
                    <a:gd name="connsiteY8" fmla="*/ 2111 h 498751"/>
                    <a:gd name="connsiteX9" fmla="*/ 224710 w 498751"/>
                    <a:gd name="connsiteY9" fmla="*/ 2111 h 498751"/>
                    <a:gd name="connsiteX10" fmla="*/ 224710 w 498751"/>
                    <a:gd name="connsiteY10" fmla="*/ 56186 h 498751"/>
                    <a:gd name="connsiteX11" fmla="*/ 131785 w 498751"/>
                    <a:gd name="connsiteY11" fmla="*/ 94686 h 498751"/>
                    <a:gd name="connsiteX12" fmla="*/ 93548 w 498751"/>
                    <a:gd name="connsiteY12" fmla="*/ 56448 h 498751"/>
                    <a:gd name="connsiteX13" fmla="*/ 56536 w 498751"/>
                    <a:gd name="connsiteY13" fmla="*/ 93460 h 498751"/>
                    <a:gd name="connsiteX14" fmla="*/ 94773 w 498751"/>
                    <a:gd name="connsiteY14" fmla="*/ 131698 h 498751"/>
                    <a:gd name="connsiteX15" fmla="*/ 56273 w 498751"/>
                    <a:gd name="connsiteY15" fmla="*/ 224623 h 498751"/>
                    <a:gd name="connsiteX16" fmla="*/ 2111 w 498751"/>
                    <a:gd name="connsiteY16" fmla="*/ 224623 h 498751"/>
                    <a:gd name="connsiteX17" fmla="*/ 2111 w 498751"/>
                    <a:gd name="connsiteY17" fmla="*/ 277035 h 498751"/>
                    <a:gd name="connsiteX18" fmla="*/ 56186 w 498751"/>
                    <a:gd name="connsiteY18" fmla="*/ 277035 h 498751"/>
                    <a:gd name="connsiteX19" fmla="*/ 112010 w 498751"/>
                    <a:gd name="connsiteY19" fmla="*/ 389735 h 498751"/>
                    <a:gd name="connsiteX20" fmla="*/ 224710 w 498751"/>
                    <a:gd name="connsiteY20" fmla="*/ 445560 h 498751"/>
                    <a:gd name="connsiteX21" fmla="*/ 224710 w 498751"/>
                    <a:gd name="connsiteY21" fmla="*/ 499635 h 498751"/>
                    <a:gd name="connsiteX22" fmla="*/ 277123 w 498751"/>
                    <a:gd name="connsiteY22" fmla="*/ 499635 h 498751"/>
                    <a:gd name="connsiteX23" fmla="*/ 277123 w 498751"/>
                    <a:gd name="connsiteY23" fmla="*/ 445560 h 498751"/>
                    <a:gd name="connsiteX24" fmla="*/ 370048 w 498751"/>
                    <a:gd name="connsiteY24" fmla="*/ 407060 h 498751"/>
                    <a:gd name="connsiteX25" fmla="*/ 408285 w 498751"/>
                    <a:gd name="connsiteY25" fmla="*/ 445298 h 498751"/>
                    <a:gd name="connsiteX26" fmla="*/ 445298 w 498751"/>
                    <a:gd name="connsiteY26" fmla="*/ 408285 h 498751"/>
                    <a:gd name="connsiteX27" fmla="*/ 407060 w 498751"/>
                    <a:gd name="connsiteY27" fmla="*/ 370048 h 498751"/>
                    <a:gd name="connsiteX28" fmla="*/ 445560 w 498751"/>
                    <a:gd name="connsiteY28" fmla="*/ 277123 h 498751"/>
                    <a:gd name="connsiteX29" fmla="*/ 499635 w 498751"/>
                    <a:gd name="connsiteY29" fmla="*/ 277123 h 498751"/>
                    <a:gd name="connsiteX30" fmla="*/ 499635 w 498751"/>
                    <a:gd name="connsiteY30" fmla="*/ 277035 h 498751"/>
                    <a:gd name="connsiteX31" fmla="*/ 106848 w 498751"/>
                    <a:gd name="connsiteY31" fmla="*/ 250873 h 498751"/>
                    <a:gd name="connsiteX32" fmla="*/ 139573 w 498751"/>
                    <a:gd name="connsiteY32" fmla="*/ 159523 h 498751"/>
                    <a:gd name="connsiteX33" fmla="*/ 222786 w 498751"/>
                    <a:gd name="connsiteY33" fmla="*/ 109648 h 498751"/>
                    <a:gd name="connsiteX34" fmla="*/ 318773 w 498751"/>
                    <a:gd name="connsiteY34" fmla="*/ 123910 h 498751"/>
                    <a:gd name="connsiteX35" fmla="*/ 383960 w 498751"/>
                    <a:gd name="connsiteY35" fmla="*/ 195835 h 498751"/>
                    <a:gd name="connsiteX36" fmla="*/ 388685 w 498751"/>
                    <a:gd name="connsiteY36" fmla="*/ 292785 h 498751"/>
                    <a:gd name="connsiteX37" fmla="*/ 330848 w 498751"/>
                    <a:gd name="connsiteY37" fmla="*/ 370748 h 498751"/>
                    <a:gd name="connsiteX38" fmla="*/ 236698 w 498751"/>
                    <a:gd name="connsiteY38" fmla="*/ 394285 h 498751"/>
                    <a:gd name="connsiteX39" fmla="*/ 148936 w 498751"/>
                    <a:gd name="connsiteY39" fmla="*/ 352810 h 498751"/>
                    <a:gd name="connsiteX40" fmla="*/ 117610 w 498751"/>
                    <a:gd name="connsiteY40" fmla="*/ 306085 h 498751"/>
                    <a:gd name="connsiteX41" fmla="*/ 106848 w 498751"/>
                    <a:gd name="connsiteY41" fmla="*/ 250873 h 498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98751" h="498751">
                      <a:moveTo>
                        <a:pt x="499635" y="277035"/>
                      </a:moveTo>
                      <a:lnTo>
                        <a:pt x="499635" y="224623"/>
                      </a:lnTo>
                      <a:lnTo>
                        <a:pt x="445560" y="224623"/>
                      </a:lnTo>
                      <a:cubicBezTo>
                        <a:pt x="441098" y="190848"/>
                        <a:pt x="427798" y="158823"/>
                        <a:pt x="407060" y="131698"/>
                      </a:cubicBezTo>
                      <a:lnTo>
                        <a:pt x="445298" y="93460"/>
                      </a:lnTo>
                      <a:lnTo>
                        <a:pt x="408285" y="56448"/>
                      </a:lnTo>
                      <a:lnTo>
                        <a:pt x="370048" y="94686"/>
                      </a:lnTo>
                      <a:cubicBezTo>
                        <a:pt x="342923" y="73948"/>
                        <a:pt x="310898" y="60648"/>
                        <a:pt x="277123" y="56186"/>
                      </a:cubicBezTo>
                      <a:lnTo>
                        <a:pt x="277123" y="2111"/>
                      </a:lnTo>
                      <a:lnTo>
                        <a:pt x="224710" y="2111"/>
                      </a:lnTo>
                      <a:lnTo>
                        <a:pt x="224710" y="56186"/>
                      </a:lnTo>
                      <a:cubicBezTo>
                        <a:pt x="190935" y="60648"/>
                        <a:pt x="158911" y="73948"/>
                        <a:pt x="131785" y="94686"/>
                      </a:cubicBezTo>
                      <a:lnTo>
                        <a:pt x="93548" y="56448"/>
                      </a:lnTo>
                      <a:lnTo>
                        <a:pt x="56536" y="93460"/>
                      </a:lnTo>
                      <a:lnTo>
                        <a:pt x="94773" y="131698"/>
                      </a:lnTo>
                      <a:cubicBezTo>
                        <a:pt x="74036" y="158823"/>
                        <a:pt x="60736" y="190848"/>
                        <a:pt x="56273" y="224623"/>
                      </a:cubicBezTo>
                      <a:lnTo>
                        <a:pt x="2111" y="224623"/>
                      </a:lnTo>
                      <a:lnTo>
                        <a:pt x="2111" y="277035"/>
                      </a:lnTo>
                      <a:lnTo>
                        <a:pt x="56186" y="277035"/>
                      </a:lnTo>
                      <a:cubicBezTo>
                        <a:pt x="61961" y="319648"/>
                        <a:pt x="81561" y="359285"/>
                        <a:pt x="112010" y="389735"/>
                      </a:cubicBezTo>
                      <a:cubicBezTo>
                        <a:pt x="142461" y="420185"/>
                        <a:pt x="182011" y="439785"/>
                        <a:pt x="224710" y="445560"/>
                      </a:cubicBezTo>
                      <a:lnTo>
                        <a:pt x="224710" y="499635"/>
                      </a:lnTo>
                      <a:lnTo>
                        <a:pt x="277123" y="499635"/>
                      </a:lnTo>
                      <a:lnTo>
                        <a:pt x="277123" y="445560"/>
                      </a:lnTo>
                      <a:cubicBezTo>
                        <a:pt x="310898" y="441098"/>
                        <a:pt x="342923" y="427798"/>
                        <a:pt x="370048" y="407060"/>
                      </a:cubicBezTo>
                      <a:lnTo>
                        <a:pt x="408285" y="445298"/>
                      </a:lnTo>
                      <a:lnTo>
                        <a:pt x="445298" y="408285"/>
                      </a:lnTo>
                      <a:lnTo>
                        <a:pt x="407060" y="370048"/>
                      </a:lnTo>
                      <a:cubicBezTo>
                        <a:pt x="427798" y="342923"/>
                        <a:pt x="441098" y="310898"/>
                        <a:pt x="445560" y="277123"/>
                      </a:cubicBezTo>
                      <a:lnTo>
                        <a:pt x="499635" y="277123"/>
                      </a:lnTo>
                      <a:lnTo>
                        <a:pt x="499635" y="277035"/>
                      </a:lnTo>
                      <a:close/>
                      <a:moveTo>
                        <a:pt x="106848" y="250873"/>
                      </a:moveTo>
                      <a:cubicBezTo>
                        <a:pt x="106848" y="217535"/>
                        <a:pt x="118398" y="185248"/>
                        <a:pt x="139573" y="159523"/>
                      </a:cubicBezTo>
                      <a:cubicBezTo>
                        <a:pt x="160748" y="133798"/>
                        <a:pt x="190148" y="116123"/>
                        <a:pt x="222786" y="109648"/>
                      </a:cubicBezTo>
                      <a:cubicBezTo>
                        <a:pt x="255423" y="103173"/>
                        <a:pt x="289373" y="108161"/>
                        <a:pt x="318773" y="123910"/>
                      </a:cubicBezTo>
                      <a:cubicBezTo>
                        <a:pt x="348173" y="139573"/>
                        <a:pt x="371185" y="165035"/>
                        <a:pt x="383960" y="195835"/>
                      </a:cubicBezTo>
                      <a:cubicBezTo>
                        <a:pt x="396735" y="226635"/>
                        <a:pt x="398397" y="260848"/>
                        <a:pt x="388685" y="292785"/>
                      </a:cubicBezTo>
                      <a:cubicBezTo>
                        <a:pt x="378973" y="324635"/>
                        <a:pt x="358585" y="352197"/>
                        <a:pt x="330848" y="370748"/>
                      </a:cubicBezTo>
                      <a:cubicBezTo>
                        <a:pt x="303110" y="389298"/>
                        <a:pt x="269860" y="397610"/>
                        <a:pt x="236698" y="394285"/>
                      </a:cubicBezTo>
                      <a:cubicBezTo>
                        <a:pt x="203535" y="391048"/>
                        <a:pt x="172560" y="376347"/>
                        <a:pt x="148936" y="352810"/>
                      </a:cubicBezTo>
                      <a:cubicBezTo>
                        <a:pt x="135548" y="339510"/>
                        <a:pt x="124873" y="323585"/>
                        <a:pt x="117610" y="306085"/>
                      </a:cubicBezTo>
                      <a:cubicBezTo>
                        <a:pt x="110523" y="288498"/>
                        <a:pt x="106761" y="269773"/>
                        <a:pt x="106848" y="25087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77" name="Freeform: Shape 76">
                  <a:extLst>
                    <a:ext uri="{FF2B5EF4-FFF2-40B4-BE49-F238E27FC236}">
                      <a16:creationId xmlns:a16="http://schemas.microsoft.com/office/drawing/2014/main" id="{D3D2D0A7-6F90-1ABA-BA8F-FA9FA70846E9}"/>
                    </a:ext>
                  </a:extLst>
                </p:cNvPr>
                <p:cNvSpPr/>
                <p:nvPr/>
              </p:nvSpPr>
              <p:spPr>
                <a:xfrm>
                  <a:off x="3525494" y="3127375"/>
                  <a:ext cx="348087" cy="348087"/>
                </a:xfrm>
                <a:custGeom>
                  <a:avLst/>
                  <a:gdLst>
                    <a:gd name="connsiteX0" fmla="*/ 286398 w 348086"/>
                    <a:gd name="connsiteY0" fmla="*/ 124333 h 348086"/>
                    <a:gd name="connsiteX1" fmla="*/ 226548 w 348086"/>
                    <a:gd name="connsiteY1" fmla="*/ 64483 h 348086"/>
                    <a:gd name="connsiteX2" fmla="*/ 280448 w 348086"/>
                    <a:gd name="connsiteY2" fmla="*/ 10583 h 348086"/>
                    <a:gd name="connsiteX3" fmla="*/ 216923 w 348086"/>
                    <a:gd name="connsiteY3" fmla="*/ 4108 h 348086"/>
                    <a:gd name="connsiteX4" fmla="*/ 160310 w 348086"/>
                    <a:gd name="connsiteY4" fmla="*/ 33683 h 348086"/>
                    <a:gd name="connsiteX5" fmla="*/ 129335 w 348086"/>
                    <a:gd name="connsiteY5" fmla="*/ 89508 h 348086"/>
                    <a:gd name="connsiteX6" fmla="*/ 134235 w 348086"/>
                    <a:gd name="connsiteY6" fmla="*/ 153121 h 348086"/>
                    <a:gd name="connsiteX7" fmla="*/ 15236 w 348086"/>
                    <a:gd name="connsiteY7" fmla="*/ 272121 h 348086"/>
                    <a:gd name="connsiteX8" fmla="*/ 2111 w 348086"/>
                    <a:gd name="connsiteY8" fmla="*/ 303883 h 348086"/>
                    <a:gd name="connsiteX9" fmla="*/ 15236 w 348086"/>
                    <a:gd name="connsiteY9" fmla="*/ 335645 h 348086"/>
                    <a:gd name="connsiteX10" fmla="*/ 46998 w 348086"/>
                    <a:gd name="connsiteY10" fmla="*/ 348770 h 348086"/>
                    <a:gd name="connsiteX11" fmla="*/ 78760 w 348086"/>
                    <a:gd name="connsiteY11" fmla="*/ 335645 h 348086"/>
                    <a:gd name="connsiteX12" fmla="*/ 197760 w 348086"/>
                    <a:gd name="connsiteY12" fmla="*/ 216645 h 348086"/>
                    <a:gd name="connsiteX13" fmla="*/ 261373 w 348086"/>
                    <a:gd name="connsiteY13" fmla="*/ 221546 h 348086"/>
                    <a:gd name="connsiteX14" fmla="*/ 317198 w 348086"/>
                    <a:gd name="connsiteY14" fmla="*/ 190571 h 348086"/>
                    <a:gd name="connsiteX15" fmla="*/ 346773 w 348086"/>
                    <a:gd name="connsiteY15" fmla="*/ 134045 h 348086"/>
                    <a:gd name="connsiteX16" fmla="*/ 340298 w 348086"/>
                    <a:gd name="connsiteY16" fmla="*/ 70521 h 348086"/>
                    <a:gd name="connsiteX17" fmla="*/ 286398 w 348086"/>
                    <a:gd name="connsiteY17" fmla="*/ 124333 h 348086"/>
                    <a:gd name="connsiteX18" fmla="*/ 63011 w 348086"/>
                    <a:gd name="connsiteY18" fmla="*/ 319633 h 348086"/>
                    <a:gd name="connsiteX19" fmla="*/ 51548 w 348086"/>
                    <a:gd name="connsiteY19" fmla="*/ 325758 h 348086"/>
                    <a:gd name="connsiteX20" fmla="*/ 38598 w 348086"/>
                    <a:gd name="connsiteY20" fmla="*/ 324445 h 348086"/>
                    <a:gd name="connsiteX21" fmla="*/ 28536 w 348086"/>
                    <a:gd name="connsiteY21" fmla="*/ 316220 h 348086"/>
                    <a:gd name="connsiteX22" fmla="*/ 24773 w 348086"/>
                    <a:gd name="connsiteY22" fmla="*/ 303795 h 348086"/>
                    <a:gd name="connsiteX23" fmla="*/ 28536 w 348086"/>
                    <a:gd name="connsiteY23" fmla="*/ 291371 h 348086"/>
                    <a:gd name="connsiteX24" fmla="*/ 38598 w 348086"/>
                    <a:gd name="connsiteY24" fmla="*/ 283146 h 348086"/>
                    <a:gd name="connsiteX25" fmla="*/ 51548 w 348086"/>
                    <a:gd name="connsiteY25" fmla="*/ 281833 h 348086"/>
                    <a:gd name="connsiteX26" fmla="*/ 63011 w 348086"/>
                    <a:gd name="connsiteY26" fmla="*/ 287958 h 348086"/>
                    <a:gd name="connsiteX27" fmla="*/ 69573 w 348086"/>
                    <a:gd name="connsiteY27" fmla="*/ 303795 h 348086"/>
                    <a:gd name="connsiteX28" fmla="*/ 63011 w 348086"/>
                    <a:gd name="connsiteY28" fmla="*/ 319633 h 348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48086" h="348086">
                      <a:moveTo>
                        <a:pt x="286398" y="124333"/>
                      </a:moveTo>
                      <a:lnTo>
                        <a:pt x="226548" y="64483"/>
                      </a:lnTo>
                      <a:lnTo>
                        <a:pt x="280448" y="10583"/>
                      </a:lnTo>
                      <a:cubicBezTo>
                        <a:pt x="260410" y="2271"/>
                        <a:pt x="238273" y="-4"/>
                        <a:pt x="216923" y="4108"/>
                      </a:cubicBezTo>
                      <a:cubicBezTo>
                        <a:pt x="195573" y="8221"/>
                        <a:pt x="175885" y="18458"/>
                        <a:pt x="160310" y="33683"/>
                      </a:cubicBezTo>
                      <a:cubicBezTo>
                        <a:pt x="144735" y="48821"/>
                        <a:pt x="133973" y="68246"/>
                        <a:pt x="129335" y="89508"/>
                      </a:cubicBezTo>
                      <a:cubicBezTo>
                        <a:pt x="124698" y="110771"/>
                        <a:pt x="126448" y="132908"/>
                        <a:pt x="134235" y="153121"/>
                      </a:cubicBezTo>
                      <a:lnTo>
                        <a:pt x="15236" y="272121"/>
                      </a:lnTo>
                      <a:cubicBezTo>
                        <a:pt x="6836" y="280520"/>
                        <a:pt x="2111" y="291983"/>
                        <a:pt x="2111" y="303883"/>
                      </a:cubicBezTo>
                      <a:cubicBezTo>
                        <a:pt x="2111" y="315783"/>
                        <a:pt x="6836" y="327158"/>
                        <a:pt x="15236" y="335645"/>
                      </a:cubicBezTo>
                      <a:cubicBezTo>
                        <a:pt x="23636" y="344046"/>
                        <a:pt x="35098" y="348770"/>
                        <a:pt x="46998" y="348770"/>
                      </a:cubicBezTo>
                      <a:cubicBezTo>
                        <a:pt x="58898" y="348770"/>
                        <a:pt x="70273" y="344046"/>
                        <a:pt x="78760" y="335645"/>
                      </a:cubicBezTo>
                      <a:lnTo>
                        <a:pt x="197760" y="216645"/>
                      </a:lnTo>
                      <a:cubicBezTo>
                        <a:pt x="218060" y="224520"/>
                        <a:pt x="240110" y="226183"/>
                        <a:pt x="261373" y="221546"/>
                      </a:cubicBezTo>
                      <a:cubicBezTo>
                        <a:pt x="282635" y="216908"/>
                        <a:pt x="301973" y="206146"/>
                        <a:pt x="317198" y="190571"/>
                      </a:cubicBezTo>
                      <a:cubicBezTo>
                        <a:pt x="332335" y="174996"/>
                        <a:pt x="342660" y="155308"/>
                        <a:pt x="346773" y="134045"/>
                      </a:cubicBezTo>
                      <a:cubicBezTo>
                        <a:pt x="350885" y="112696"/>
                        <a:pt x="348610" y="90646"/>
                        <a:pt x="340298" y="70521"/>
                      </a:cubicBezTo>
                      <a:lnTo>
                        <a:pt x="286398" y="124333"/>
                      </a:lnTo>
                      <a:close/>
                      <a:moveTo>
                        <a:pt x="63011" y="319633"/>
                      </a:moveTo>
                      <a:cubicBezTo>
                        <a:pt x="59861" y="322783"/>
                        <a:pt x="55835" y="324883"/>
                        <a:pt x="51548" y="325758"/>
                      </a:cubicBezTo>
                      <a:cubicBezTo>
                        <a:pt x="47173" y="326633"/>
                        <a:pt x="42710" y="326196"/>
                        <a:pt x="38598" y="324445"/>
                      </a:cubicBezTo>
                      <a:cubicBezTo>
                        <a:pt x="34486" y="322783"/>
                        <a:pt x="30986" y="319896"/>
                        <a:pt x="28536" y="316220"/>
                      </a:cubicBezTo>
                      <a:cubicBezTo>
                        <a:pt x="26086" y="312545"/>
                        <a:pt x="24773" y="308170"/>
                        <a:pt x="24773" y="303795"/>
                      </a:cubicBezTo>
                      <a:cubicBezTo>
                        <a:pt x="24773" y="299333"/>
                        <a:pt x="26086" y="295045"/>
                        <a:pt x="28536" y="291371"/>
                      </a:cubicBezTo>
                      <a:cubicBezTo>
                        <a:pt x="30986" y="287696"/>
                        <a:pt x="34486" y="284808"/>
                        <a:pt x="38598" y="283146"/>
                      </a:cubicBezTo>
                      <a:cubicBezTo>
                        <a:pt x="42710" y="281483"/>
                        <a:pt x="47173" y="281046"/>
                        <a:pt x="51548" y="281833"/>
                      </a:cubicBezTo>
                      <a:cubicBezTo>
                        <a:pt x="55923" y="282708"/>
                        <a:pt x="59861" y="284808"/>
                        <a:pt x="63011" y="287958"/>
                      </a:cubicBezTo>
                      <a:cubicBezTo>
                        <a:pt x="67211" y="292158"/>
                        <a:pt x="69573" y="297846"/>
                        <a:pt x="69573" y="303795"/>
                      </a:cubicBezTo>
                      <a:cubicBezTo>
                        <a:pt x="69573" y="309746"/>
                        <a:pt x="67211" y="315433"/>
                        <a:pt x="63011" y="31963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sp>
            <p:nvSpPr>
              <p:cNvPr id="60" name="Oval 59">
                <a:extLst>
                  <a:ext uri="{FF2B5EF4-FFF2-40B4-BE49-F238E27FC236}">
                    <a16:creationId xmlns:a16="http://schemas.microsoft.com/office/drawing/2014/main" id="{6605510D-6E23-489B-8134-F7B604497795}"/>
                  </a:ext>
                </a:extLst>
              </p:cNvPr>
              <p:cNvSpPr>
                <a:spLocks/>
              </p:cNvSpPr>
              <p:nvPr/>
            </p:nvSpPr>
            <p:spPr bwMode="auto">
              <a:xfrm>
                <a:off x="10778606"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26" name="Group 25">
              <a:extLst>
                <a:ext uri="{FF2B5EF4-FFF2-40B4-BE49-F238E27FC236}">
                  <a16:creationId xmlns:a16="http://schemas.microsoft.com/office/drawing/2014/main" id="{27B9C5CA-CCE8-98DD-7979-DFD699895E78}"/>
                </a:ext>
              </a:extLst>
            </p:cNvPr>
            <p:cNvGrpSpPr/>
            <p:nvPr/>
          </p:nvGrpSpPr>
          <p:grpSpPr>
            <a:xfrm>
              <a:off x="10126451" y="192765"/>
              <a:ext cx="548640" cy="548640"/>
              <a:chOff x="10126451" y="192765"/>
              <a:chExt cx="548640" cy="548640"/>
            </a:xfrm>
          </p:grpSpPr>
          <p:grpSp>
            <p:nvGrpSpPr>
              <p:cNvPr id="40" name="Group 39">
                <a:extLst>
                  <a:ext uri="{FF2B5EF4-FFF2-40B4-BE49-F238E27FC236}">
                    <a16:creationId xmlns:a16="http://schemas.microsoft.com/office/drawing/2014/main" id="{BAF78EDF-5AAA-205E-1B20-6050F6542929}"/>
                  </a:ext>
                </a:extLst>
              </p:cNvPr>
              <p:cNvGrpSpPr/>
              <p:nvPr/>
            </p:nvGrpSpPr>
            <p:grpSpPr>
              <a:xfrm>
                <a:off x="10126451" y="192765"/>
                <a:ext cx="548640" cy="548640"/>
                <a:chOff x="10753659" y="196490"/>
                <a:chExt cx="548640" cy="548640"/>
              </a:xfrm>
            </p:grpSpPr>
            <p:sp>
              <p:nvSpPr>
                <p:cNvPr id="56" name="Oval 55">
                  <a:extLst>
                    <a:ext uri="{FF2B5EF4-FFF2-40B4-BE49-F238E27FC236}">
                      <a16:creationId xmlns:a16="http://schemas.microsoft.com/office/drawing/2014/main" id="{1944C741-1DAC-A521-793B-2CD599CC0709}"/>
                    </a:ext>
                  </a:extLst>
                </p:cNvPr>
                <p:cNvSpPr/>
                <p:nvPr/>
              </p:nvSpPr>
              <p:spPr bwMode="auto">
                <a:xfrm>
                  <a:off x="10753659"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7" name="Oval 56">
                  <a:extLst>
                    <a:ext uri="{FF2B5EF4-FFF2-40B4-BE49-F238E27FC236}">
                      <a16:creationId xmlns:a16="http://schemas.microsoft.com/office/drawing/2014/main" id="{83572A1B-625F-A3BB-F7F8-E1F4AA909C6A}"/>
                    </a:ext>
                  </a:extLst>
                </p:cNvPr>
                <p:cNvSpPr>
                  <a:spLocks/>
                </p:cNvSpPr>
                <p:nvPr/>
              </p:nvSpPr>
              <p:spPr bwMode="auto">
                <a:xfrm>
                  <a:off x="10779997"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7" name="Group 46">
                <a:extLst>
                  <a:ext uri="{FF2B5EF4-FFF2-40B4-BE49-F238E27FC236}">
                    <a16:creationId xmlns:a16="http://schemas.microsoft.com/office/drawing/2014/main" id="{B0215016-0903-D214-1810-D2E1212050D3}"/>
                  </a:ext>
                </a:extLst>
              </p:cNvPr>
              <p:cNvGrpSpPr/>
              <p:nvPr/>
            </p:nvGrpSpPr>
            <p:grpSpPr>
              <a:xfrm>
                <a:off x="10243674" y="318889"/>
                <a:ext cx="314209" cy="303840"/>
                <a:chOff x="3504064" y="4676412"/>
                <a:chExt cx="509193" cy="492392"/>
              </a:xfrm>
            </p:grpSpPr>
            <p:sp>
              <p:nvSpPr>
                <p:cNvPr id="49" name="Oval 48">
                  <a:extLst>
                    <a:ext uri="{FF2B5EF4-FFF2-40B4-BE49-F238E27FC236}">
                      <a16:creationId xmlns:a16="http://schemas.microsoft.com/office/drawing/2014/main" id="{F371D409-7506-0930-868C-B2483D38C514}"/>
                    </a:ext>
                  </a:extLst>
                </p:cNvPr>
                <p:cNvSpPr/>
                <p:nvPr/>
              </p:nvSpPr>
              <p:spPr bwMode="auto">
                <a:xfrm>
                  <a:off x="3504064"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4" name="Oval 53">
                  <a:extLst>
                    <a:ext uri="{FF2B5EF4-FFF2-40B4-BE49-F238E27FC236}">
                      <a16:creationId xmlns:a16="http://schemas.microsoft.com/office/drawing/2014/main" id="{B91F951C-989F-764D-C8DC-E9DF109ACD0B}"/>
                    </a:ext>
                  </a:extLst>
                </p:cNvPr>
                <p:cNvSpPr/>
                <p:nvPr/>
              </p:nvSpPr>
              <p:spPr bwMode="auto">
                <a:xfrm>
                  <a:off x="3671817"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5" name="Oval 54">
                  <a:extLst>
                    <a:ext uri="{FF2B5EF4-FFF2-40B4-BE49-F238E27FC236}">
                      <a16:creationId xmlns:a16="http://schemas.microsoft.com/office/drawing/2014/main" id="{1F0B8225-3581-1CCA-DBB1-5BA209C584DC}"/>
                    </a:ext>
                  </a:extLst>
                </p:cNvPr>
                <p:cNvSpPr/>
                <p:nvPr/>
              </p:nvSpPr>
              <p:spPr bwMode="auto">
                <a:xfrm>
                  <a:off x="3587940" y="4676412"/>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grpSp>
          <p:nvGrpSpPr>
            <p:cNvPr id="27" name="Group 26">
              <a:extLst>
                <a:ext uri="{FF2B5EF4-FFF2-40B4-BE49-F238E27FC236}">
                  <a16:creationId xmlns:a16="http://schemas.microsoft.com/office/drawing/2014/main" id="{F3B72A93-9BF5-6F79-4018-CCBEE3F46272}"/>
                </a:ext>
              </a:extLst>
            </p:cNvPr>
            <p:cNvGrpSpPr/>
            <p:nvPr/>
          </p:nvGrpSpPr>
          <p:grpSpPr>
            <a:xfrm>
              <a:off x="11380867" y="196490"/>
              <a:ext cx="548640" cy="548640"/>
              <a:chOff x="11380867" y="196490"/>
              <a:chExt cx="548640" cy="548640"/>
            </a:xfrm>
          </p:grpSpPr>
          <p:sp>
            <p:nvSpPr>
              <p:cNvPr id="28" name="Oval 27">
                <a:extLst>
                  <a:ext uri="{FF2B5EF4-FFF2-40B4-BE49-F238E27FC236}">
                    <a16:creationId xmlns:a16="http://schemas.microsoft.com/office/drawing/2014/main" id="{56A7EB25-40F8-0DBB-30BD-973AD5DB075E}"/>
                  </a:ext>
                </a:extLst>
              </p:cNvPr>
              <p:cNvSpPr/>
              <p:nvPr/>
            </p:nvSpPr>
            <p:spPr bwMode="auto">
              <a:xfrm>
                <a:off x="11380867" y="196490"/>
                <a:ext cx="548640" cy="548640"/>
              </a:xfrm>
              <a:prstGeom prst="ellipse">
                <a:avLst/>
              </a:prstGeom>
              <a:solidFill>
                <a:srgbClr val="1A2B46"/>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9" name="Oval 28">
                <a:extLst>
                  <a:ext uri="{FF2B5EF4-FFF2-40B4-BE49-F238E27FC236}">
                    <a16:creationId xmlns:a16="http://schemas.microsoft.com/office/drawing/2014/main" id="{D007E8A1-3DD2-331B-AB9A-E242F4B074BE}"/>
                  </a:ext>
                </a:extLst>
              </p:cNvPr>
              <p:cNvSpPr>
                <a:spLocks/>
              </p:cNvSpPr>
              <p:nvPr/>
            </p:nvSpPr>
            <p:spPr bwMode="auto">
              <a:xfrm>
                <a:off x="11407205"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30" name="Group 29">
                <a:extLst>
                  <a:ext uri="{FF2B5EF4-FFF2-40B4-BE49-F238E27FC236}">
                    <a16:creationId xmlns:a16="http://schemas.microsoft.com/office/drawing/2014/main" id="{982C8B7A-4C31-5BC0-25FF-844B6C67FA41}"/>
                  </a:ext>
                </a:extLst>
              </p:cNvPr>
              <p:cNvGrpSpPr/>
              <p:nvPr/>
            </p:nvGrpSpPr>
            <p:grpSpPr>
              <a:xfrm>
                <a:off x="11478807" y="317384"/>
                <a:ext cx="352760" cy="306952"/>
                <a:chOff x="10772223" y="7410567"/>
                <a:chExt cx="346174" cy="301219"/>
              </a:xfrm>
            </p:grpSpPr>
            <p:sp>
              <p:nvSpPr>
                <p:cNvPr id="31" name="Freeform: Shape 30">
                  <a:extLst>
                    <a:ext uri="{FF2B5EF4-FFF2-40B4-BE49-F238E27FC236}">
                      <a16:creationId xmlns:a16="http://schemas.microsoft.com/office/drawing/2014/main" id="{073C9146-84E8-DC37-95BA-19DAFD8825E9}"/>
                    </a:ext>
                  </a:extLst>
                </p:cNvPr>
                <p:cNvSpPr/>
                <p:nvPr/>
              </p:nvSpPr>
              <p:spPr>
                <a:xfrm>
                  <a:off x="10840877" y="7661402"/>
                  <a:ext cx="236157" cy="47232"/>
                </a:xfrm>
                <a:custGeom>
                  <a:avLst/>
                  <a:gdLst>
                    <a:gd name="connsiteX0" fmla="*/ 121141 w 259772"/>
                    <a:gd name="connsiteY0" fmla="*/ 17145 h 51954"/>
                    <a:gd name="connsiteX1" fmla="*/ 267306 w 259772"/>
                    <a:gd name="connsiteY1" fmla="*/ 0 h 51954"/>
                    <a:gd name="connsiteX2" fmla="*/ 267306 w 259772"/>
                    <a:gd name="connsiteY2" fmla="*/ 25718 h 51954"/>
                    <a:gd name="connsiteX3" fmla="*/ 238039 w 259772"/>
                    <a:gd name="connsiteY3" fmla="*/ 60008 h 51954"/>
                    <a:gd name="connsiteX4" fmla="*/ 33424 w 259772"/>
                    <a:gd name="connsiteY4" fmla="*/ 60008 h 51954"/>
                    <a:gd name="connsiteX5" fmla="*/ 0 w 259772"/>
                    <a:gd name="connsiteY5" fmla="*/ 25718 h 51954"/>
                    <a:gd name="connsiteX6" fmla="*/ 0 w 259772"/>
                    <a:gd name="connsiteY6" fmla="*/ 4330 h 51954"/>
                    <a:gd name="connsiteX7" fmla="*/ 121141 w 259772"/>
                    <a:gd name="connsiteY7" fmla="*/ 17145 h 51954"/>
                    <a:gd name="connsiteX8" fmla="*/ 121141 w 259772"/>
                    <a:gd name="connsiteY8" fmla="*/ 17145 h 51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772" h="51954">
                      <a:moveTo>
                        <a:pt x="121141" y="17145"/>
                      </a:moveTo>
                      <a:cubicBezTo>
                        <a:pt x="175433" y="17145"/>
                        <a:pt x="225569" y="12902"/>
                        <a:pt x="267306" y="0"/>
                      </a:cubicBezTo>
                      <a:cubicBezTo>
                        <a:pt x="267306" y="8573"/>
                        <a:pt x="267306" y="17145"/>
                        <a:pt x="267306" y="25718"/>
                      </a:cubicBezTo>
                      <a:cubicBezTo>
                        <a:pt x="267306" y="42863"/>
                        <a:pt x="254751" y="60008"/>
                        <a:pt x="238039" y="60008"/>
                      </a:cubicBezTo>
                      <a:cubicBezTo>
                        <a:pt x="238039" y="60008"/>
                        <a:pt x="238039" y="60008"/>
                        <a:pt x="33424" y="60008"/>
                      </a:cubicBezTo>
                      <a:cubicBezTo>
                        <a:pt x="16712" y="60008"/>
                        <a:pt x="0" y="42863"/>
                        <a:pt x="0" y="25718"/>
                      </a:cubicBezTo>
                      <a:cubicBezTo>
                        <a:pt x="0" y="25718"/>
                        <a:pt x="0" y="25718"/>
                        <a:pt x="0" y="4330"/>
                      </a:cubicBezTo>
                      <a:cubicBezTo>
                        <a:pt x="37580" y="12815"/>
                        <a:pt x="79404" y="17145"/>
                        <a:pt x="121141" y="17145"/>
                      </a:cubicBezTo>
                      <a:lnTo>
                        <a:pt x="121141" y="17145"/>
                      </a:lnTo>
                      <a:close/>
                    </a:path>
                  </a:pathLst>
                </a:custGeom>
                <a:solidFill>
                  <a:schemeClr val="accent1"/>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nvGrpSpPr>
                <p:cNvPr id="32" name="Group 31">
                  <a:extLst>
                    <a:ext uri="{FF2B5EF4-FFF2-40B4-BE49-F238E27FC236}">
                      <a16:creationId xmlns:a16="http://schemas.microsoft.com/office/drawing/2014/main" id="{B9E17469-B189-C2ED-EA6A-E007D14FBD5B}"/>
                    </a:ext>
                  </a:extLst>
                </p:cNvPr>
                <p:cNvGrpSpPr/>
                <p:nvPr/>
              </p:nvGrpSpPr>
              <p:grpSpPr>
                <a:xfrm>
                  <a:off x="10772223" y="7410567"/>
                  <a:ext cx="346174" cy="301219"/>
                  <a:chOff x="10772223" y="1543167"/>
                  <a:chExt cx="346174" cy="301219"/>
                </a:xfrm>
              </p:grpSpPr>
              <p:sp>
                <p:nvSpPr>
                  <p:cNvPr id="33" name="Freeform: Shape 32">
                    <a:extLst>
                      <a:ext uri="{FF2B5EF4-FFF2-40B4-BE49-F238E27FC236}">
                        <a16:creationId xmlns:a16="http://schemas.microsoft.com/office/drawing/2014/main" id="{C4337432-2D9C-6B4C-04F7-1FC02CC11312}"/>
                      </a:ext>
                    </a:extLst>
                  </p:cNvPr>
                  <p:cNvSpPr/>
                  <p:nvPr/>
                </p:nvSpPr>
                <p:spPr>
                  <a:xfrm rot="13310739">
                    <a:off x="10772223" y="1543167"/>
                    <a:ext cx="346174" cy="301219"/>
                  </a:xfrm>
                  <a:custGeom>
                    <a:avLst/>
                    <a:gdLst>
                      <a:gd name="connsiteX0" fmla="*/ 335526 w 346174"/>
                      <a:gd name="connsiteY0" fmla="*/ 221002 h 301219"/>
                      <a:gd name="connsiteX1" fmla="*/ 256301 w 346174"/>
                      <a:gd name="connsiteY1" fmla="*/ 291951 h 301219"/>
                      <a:gd name="connsiteX2" fmla="*/ 228767 w 346174"/>
                      <a:gd name="connsiteY2" fmla="*/ 300970 h 301219"/>
                      <a:gd name="connsiteX3" fmla="*/ 144718 w 346174"/>
                      <a:gd name="connsiteY3" fmla="*/ 292547 h 301219"/>
                      <a:gd name="connsiteX4" fmla="*/ 112227 w 346174"/>
                      <a:gd name="connsiteY4" fmla="*/ 290366 h 301219"/>
                      <a:gd name="connsiteX5" fmla="*/ 104454 w 346174"/>
                      <a:gd name="connsiteY5" fmla="*/ 281687 h 301219"/>
                      <a:gd name="connsiteX6" fmla="*/ 0 w 346174"/>
                      <a:gd name="connsiteY6" fmla="*/ 165049 h 301219"/>
                      <a:gd name="connsiteX7" fmla="*/ 88589 w 346174"/>
                      <a:gd name="connsiteY7" fmla="*/ 64791 h 301219"/>
                      <a:gd name="connsiteX8" fmla="*/ 178400 w 346174"/>
                      <a:gd name="connsiteY8" fmla="*/ 0 h 301219"/>
                      <a:gd name="connsiteX9" fmla="*/ 295826 w 346174"/>
                      <a:gd name="connsiteY9" fmla="*/ 131123 h 301219"/>
                      <a:gd name="connsiteX10" fmla="*/ 311423 w 346174"/>
                      <a:gd name="connsiteY10" fmla="*/ 148540 h 301219"/>
                      <a:gd name="connsiteX11" fmla="*/ 329593 w 346174"/>
                      <a:gd name="connsiteY11" fmla="*/ 168830 h 301219"/>
                      <a:gd name="connsiteX12" fmla="*/ 339992 w 346174"/>
                      <a:gd name="connsiteY12" fmla="*/ 180441 h 301219"/>
                      <a:gd name="connsiteX13" fmla="*/ 335526 w 346174"/>
                      <a:gd name="connsiteY13" fmla="*/ 221002 h 30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174" h="301219">
                        <a:moveTo>
                          <a:pt x="335526" y="221002"/>
                        </a:moveTo>
                        <a:cubicBezTo>
                          <a:pt x="335526" y="221002"/>
                          <a:pt x="335526" y="221002"/>
                          <a:pt x="256301" y="291951"/>
                        </a:cubicBezTo>
                        <a:cubicBezTo>
                          <a:pt x="247857" y="299513"/>
                          <a:pt x="244983" y="302087"/>
                          <a:pt x="228767" y="300970"/>
                        </a:cubicBezTo>
                        <a:cubicBezTo>
                          <a:pt x="228767" y="300970"/>
                          <a:pt x="228767" y="300970"/>
                          <a:pt x="144718" y="292547"/>
                        </a:cubicBezTo>
                        <a:lnTo>
                          <a:pt x="112227" y="290366"/>
                        </a:lnTo>
                        <a:cubicBezTo>
                          <a:pt x="107027" y="284560"/>
                          <a:pt x="104454" y="281687"/>
                          <a:pt x="104454" y="281687"/>
                        </a:cubicBezTo>
                        <a:cubicBezTo>
                          <a:pt x="104454" y="281687"/>
                          <a:pt x="49365" y="220171"/>
                          <a:pt x="0" y="165049"/>
                        </a:cubicBezTo>
                        <a:cubicBezTo>
                          <a:pt x="17436" y="138972"/>
                          <a:pt x="46132" y="102813"/>
                          <a:pt x="88589" y="64791"/>
                        </a:cubicBezTo>
                        <a:cubicBezTo>
                          <a:pt x="119728" y="36905"/>
                          <a:pt x="150565" y="14466"/>
                          <a:pt x="178400" y="0"/>
                        </a:cubicBezTo>
                        <a:cubicBezTo>
                          <a:pt x="186172" y="8679"/>
                          <a:pt x="269831" y="102096"/>
                          <a:pt x="295826" y="131123"/>
                        </a:cubicBezTo>
                        <a:lnTo>
                          <a:pt x="311423" y="148540"/>
                        </a:lnTo>
                        <a:cubicBezTo>
                          <a:pt x="321821" y="160151"/>
                          <a:pt x="329593" y="168830"/>
                          <a:pt x="329593" y="168830"/>
                        </a:cubicBezTo>
                        <a:cubicBezTo>
                          <a:pt x="332219" y="171762"/>
                          <a:pt x="337419" y="177568"/>
                          <a:pt x="339992" y="180441"/>
                        </a:cubicBezTo>
                        <a:cubicBezTo>
                          <a:pt x="350390" y="192052"/>
                          <a:pt x="346844" y="210867"/>
                          <a:pt x="335526" y="221002"/>
                        </a:cubicBezTo>
                        <a:close/>
                      </a:path>
                    </a:pathLst>
                  </a:custGeom>
                  <a:solidFill>
                    <a:schemeClr val="accent1"/>
                  </a:solidFill>
                  <a:ln w="8603"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34" name="Freeform: Shape 33">
                    <a:extLst>
                      <a:ext uri="{FF2B5EF4-FFF2-40B4-BE49-F238E27FC236}">
                        <a16:creationId xmlns:a16="http://schemas.microsoft.com/office/drawing/2014/main" id="{A5A5F2FE-33C2-F801-A793-73144E331FA1}"/>
                      </a:ext>
                    </a:extLst>
                  </p:cNvPr>
                  <p:cNvSpPr/>
                  <p:nvPr/>
                </p:nvSpPr>
                <p:spPr>
                  <a:xfrm>
                    <a:off x="10892650" y="1664886"/>
                    <a:ext cx="141110" cy="110872"/>
                  </a:xfrm>
                  <a:custGeom>
                    <a:avLst/>
                    <a:gdLst>
                      <a:gd name="connsiteX0" fmla="*/ 106680 w 121227"/>
                      <a:gd name="connsiteY0" fmla="*/ 0 h 95250"/>
                      <a:gd name="connsiteX1" fmla="*/ 48751 w 121227"/>
                      <a:gd name="connsiteY1" fmla="*/ 64683 h 95250"/>
                      <a:gd name="connsiteX2" fmla="*/ 18271 w 121227"/>
                      <a:gd name="connsiteY2" fmla="*/ 35416 h 95250"/>
                      <a:gd name="connsiteX3" fmla="*/ 0 w 121227"/>
                      <a:gd name="connsiteY3" fmla="*/ 55418 h 95250"/>
                      <a:gd name="connsiteX4" fmla="*/ 48837 w 121227"/>
                      <a:gd name="connsiteY4" fmla="*/ 100013 h 95250"/>
                      <a:gd name="connsiteX5" fmla="*/ 125124 w 121227"/>
                      <a:gd name="connsiteY5" fmla="*/ 20003 h 95250"/>
                      <a:gd name="connsiteX6" fmla="*/ 106680 w 121227"/>
                      <a:gd name="connsiteY6" fmla="*/ 0 h 95250"/>
                      <a:gd name="connsiteX7" fmla="*/ 106680 w 121227"/>
                      <a:gd name="connsiteY7" fmla="*/ 0 h 95250"/>
                      <a:gd name="connsiteX8" fmla="*/ 106680 w 121227"/>
                      <a:gd name="connsiteY8"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227" h="95250">
                        <a:moveTo>
                          <a:pt x="106680" y="0"/>
                        </a:moveTo>
                        <a:cubicBezTo>
                          <a:pt x="106680" y="0"/>
                          <a:pt x="74641" y="35416"/>
                          <a:pt x="48751" y="64683"/>
                        </a:cubicBezTo>
                        <a:cubicBezTo>
                          <a:pt x="36541" y="53946"/>
                          <a:pt x="18271" y="35416"/>
                          <a:pt x="18271" y="35416"/>
                        </a:cubicBezTo>
                        <a:cubicBezTo>
                          <a:pt x="0" y="55418"/>
                          <a:pt x="0" y="55418"/>
                          <a:pt x="0" y="55418"/>
                        </a:cubicBezTo>
                        <a:cubicBezTo>
                          <a:pt x="48837" y="100013"/>
                          <a:pt x="48837" y="100013"/>
                          <a:pt x="48837" y="100013"/>
                        </a:cubicBezTo>
                        <a:cubicBezTo>
                          <a:pt x="125124" y="20003"/>
                          <a:pt x="125124" y="20003"/>
                          <a:pt x="125124" y="20003"/>
                        </a:cubicBezTo>
                        <a:cubicBezTo>
                          <a:pt x="106680" y="0"/>
                          <a:pt x="106680" y="0"/>
                          <a:pt x="106680" y="0"/>
                        </a:cubicBezTo>
                        <a:lnTo>
                          <a:pt x="106680" y="0"/>
                        </a:lnTo>
                        <a:lnTo>
                          <a:pt x="106680" y="0"/>
                        </a:lnTo>
                        <a:close/>
                      </a:path>
                    </a:pathLst>
                  </a:custGeom>
                  <a:solidFill>
                    <a:srgbClr val="50E6FF"/>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grpSp>
        </p:grpSp>
      </p:grpSp>
      <p:sp>
        <p:nvSpPr>
          <p:cNvPr id="78" name="Title 1">
            <a:extLst>
              <a:ext uri="{FF2B5EF4-FFF2-40B4-BE49-F238E27FC236}">
                <a16:creationId xmlns:a16="http://schemas.microsoft.com/office/drawing/2014/main" id="{A44C07C3-9273-EA10-0415-66597EDD9A11}"/>
              </a:ext>
            </a:extLst>
          </p:cNvPr>
          <p:cNvSpPr txBox="1">
            <a:spLocks/>
          </p:cNvSpPr>
          <p:nvPr/>
        </p:nvSpPr>
        <p:spPr>
          <a:xfrm>
            <a:off x="15475" y="224772"/>
            <a:ext cx="2636285" cy="809669"/>
          </a:xfrm>
          <a:prstGeom prst="rect">
            <a:avLst/>
          </a:prstGeom>
        </p:spPr>
        <p:txBody>
          <a:bodyPr lIns="274320" tIns="182880"/>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0" normalizeH="0" baseline="0" noProof="0" dirty="0">
                <a:ln w="3175">
                  <a:noFill/>
                </a:ln>
                <a:solidFill>
                  <a:schemeClr val="tx2"/>
                </a:solidFill>
                <a:effectLst/>
                <a:uLnTx/>
                <a:uFillTx/>
                <a:ea typeface="+mn-ea"/>
                <a:cs typeface="Segoe UI" pitchFamily="34" charset="0"/>
              </a:rPr>
              <a:t>The commercial </a:t>
            </a:r>
            <a:r>
              <a:rPr lang="en-US" sz="1800" spc="0" dirty="0">
                <a:solidFill>
                  <a:schemeClr val="tx2"/>
                </a:solidFill>
              </a:rPr>
              <a:t>m</a:t>
            </a:r>
            <a:r>
              <a:rPr kumimoji="0" lang="en-US" sz="1800" b="0" i="0" u="none" strike="noStrike" kern="1200" cap="none" spc="0" normalizeH="0" baseline="0" noProof="0" dirty="0" err="1">
                <a:ln w="3175">
                  <a:noFill/>
                </a:ln>
                <a:solidFill>
                  <a:schemeClr val="tx2"/>
                </a:solidFill>
                <a:effectLst/>
                <a:uLnTx/>
                <a:uFillTx/>
                <a:ea typeface="+mn-ea"/>
                <a:cs typeface="Segoe UI" pitchFamily="34" charset="0"/>
              </a:rPr>
              <a:t>arketplace</a:t>
            </a:r>
            <a:endParaRPr kumimoji="0" lang="en-US" sz="1800" b="0" i="0" u="none" strike="noStrike" kern="1200" cap="none" spc="0" normalizeH="0" baseline="0" noProof="0" dirty="0">
              <a:ln w="3175">
                <a:noFill/>
              </a:ln>
              <a:solidFill>
                <a:schemeClr val="tx2"/>
              </a:solidFill>
              <a:effectLst/>
              <a:uLnTx/>
              <a:uFillTx/>
              <a:ea typeface="+mn-ea"/>
              <a:cs typeface="Segoe UI" pitchFamily="34" charset="0"/>
            </a:endParaRPr>
          </a:p>
        </p:txBody>
      </p:sp>
      <p:sp>
        <p:nvSpPr>
          <p:cNvPr id="80" name="Rectangle: Rounded Corners 79">
            <a:extLst>
              <a:ext uri="{FF2B5EF4-FFF2-40B4-BE49-F238E27FC236}">
                <a16:creationId xmlns:a16="http://schemas.microsoft.com/office/drawing/2014/main" id="{D94E58B4-BFE4-DD25-CB5D-411834A60517}"/>
              </a:ext>
            </a:extLst>
          </p:cNvPr>
          <p:cNvSpPr/>
          <p:nvPr/>
        </p:nvSpPr>
        <p:spPr bwMode="auto">
          <a:xfrm>
            <a:off x="-279050" y="2243871"/>
            <a:ext cx="2651760" cy="365760"/>
          </a:xfrm>
          <a:prstGeom prst="roundRect">
            <a:avLst>
              <a:gd name="adj" fmla="val 50000"/>
            </a:avLst>
          </a:prstGeom>
          <a:solidFill>
            <a:srgbClr val="C73EC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0" rIns="9144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2"/>
              </a:solidFill>
              <a:effectLst/>
              <a:uLnTx/>
              <a:uFillTx/>
              <a:latin typeface="Segoe UI Semibold"/>
              <a:ea typeface="+mn-ea"/>
              <a:cs typeface="Segoe UI Semilight" panose="020B0402040204020203" pitchFamily="34" charset="0"/>
            </a:endParaRPr>
          </a:p>
        </p:txBody>
      </p:sp>
      <p:sp>
        <p:nvSpPr>
          <p:cNvPr id="81" name="Rectangle: Rounded Corners 80">
            <a:extLst>
              <a:ext uri="{FF2B5EF4-FFF2-40B4-BE49-F238E27FC236}">
                <a16:creationId xmlns:a16="http://schemas.microsoft.com/office/drawing/2014/main" id="{F4CCEDC6-734B-F153-FDE7-2B2AFAF946B6}"/>
              </a:ext>
            </a:extLst>
          </p:cNvPr>
          <p:cNvSpPr/>
          <p:nvPr/>
        </p:nvSpPr>
        <p:spPr bwMode="auto">
          <a:xfrm>
            <a:off x="0" y="180602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Setup</a:t>
            </a:r>
          </a:p>
        </p:txBody>
      </p:sp>
      <p:sp>
        <p:nvSpPr>
          <p:cNvPr id="82" name="Rectangle: Rounded Corners 81">
            <a:extLst>
              <a:ext uri="{FF2B5EF4-FFF2-40B4-BE49-F238E27FC236}">
                <a16:creationId xmlns:a16="http://schemas.microsoft.com/office/drawing/2014/main" id="{8F8C4462-2FA4-EE53-71FD-D2EE662A2A77}"/>
              </a:ext>
            </a:extLst>
          </p:cNvPr>
          <p:cNvSpPr/>
          <p:nvPr/>
        </p:nvSpPr>
        <p:spPr bwMode="auto">
          <a:xfrm>
            <a:off x="0" y="2245217"/>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mj-lt"/>
                <a:ea typeface="+mn-ea"/>
                <a:cs typeface="Segoe UI Semilight" panose="020B0402040204020203" pitchFamily="34" charset="0"/>
              </a:rPr>
              <a:t>Properties</a:t>
            </a:r>
          </a:p>
        </p:txBody>
      </p:sp>
      <p:sp>
        <p:nvSpPr>
          <p:cNvPr id="83" name="Rectangle: Rounded Corners 82">
            <a:extLst>
              <a:ext uri="{FF2B5EF4-FFF2-40B4-BE49-F238E27FC236}">
                <a16:creationId xmlns:a16="http://schemas.microsoft.com/office/drawing/2014/main" id="{9201C280-F9F0-7F60-C4EF-0EF1658CE83D}"/>
              </a:ext>
            </a:extLst>
          </p:cNvPr>
          <p:cNvSpPr/>
          <p:nvPr/>
        </p:nvSpPr>
        <p:spPr bwMode="auto">
          <a:xfrm>
            <a:off x="0" y="2684406"/>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Listing</a:t>
            </a:r>
          </a:p>
        </p:txBody>
      </p:sp>
      <p:sp>
        <p:nvSpPr>
          <p:cNvPr id="84" name="Rectangle: Rounded Corners 83">
            <a:extLst>
              <a:ext uri="{FF2B5EF4-FFF2-40B4-BE49-F238E27FC236}">
                <a16:creationId xmlns:a16="http://schemas.microsoft.com/office/drawing/2014/main" id="{467911AF-B570-F545-5A9F-4B719B2F0597}"/>
              </a:ext>
            </a:extLst>
          </p:cNvPr>
          <p:cNvSpPr/>
          <p:nvPr/>
        </p:nvSpPr>
        <p:spPr bwMode="auto">
          <a:xfrm>
            <a:off x="0" y="312359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Pricing and Availability</a:t>
            </a:r>
          </a:p>
        </p:txBody>
      </p:sp>
      <p:sp>
        <p:nvSpPr>
          <p:cNvPr id="85" name="Rectangle: Rounded Corners 84">
            <a:extLst>
              <a:ext uri="{FF2B5EF4-FFF2-40B4-BE49-F238E27FC236}">
                <a16:creationId xmlns:a16="http://schemas.microsoft.com/office/drawing/2014/main" id="{F022EDC7-2134-A8BB-8F64-28418B126299}"/>
              </a:ext>
            </a:extLst>
          </p:cNvPr>
          <p:cNvSpPr/>
          <p:nvPr/>
        </p:nvSpPr>
        <p:spPr bwMode="auto">
          <a:xfrm>
            <a:off x="0" y="356278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Co-sell with Microsoft </a:t>
            </a:r>
          </a:p>
        </p:txBody>
      </p:sp>
      <p:sp>
        <p:nvSpPr>
          <p:cNvPr id="86" name="Rectangle: Rounded Corners 85">
            <a:extLst>
              <a:ext uri="{FF2B5EF4-FFF2-40B4-BE49-F238E27FC236}">
                <a16:creationId xmlns:a16="http://schemas.microsoft.com/office/drawing/2014/main" id="{914C282C-7C7F-4069-2B60-87D167AEEE81}"/>
              </a:ext>
            </a:extLst>
          </p:cNvPr>
          <p:cNvSpPr/>
          <p:nvPr/>
        </p:nvSpPr>
        <p:spPr bwMode="auto">
          <a:xfrm>
            <a:off x="0" y="136683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Setup</a:t>
            </a:r>
          </a:p>
        </p:txBody>
      </p:sp>
      <p:cxnSp>
        <p:nvCxnSpPr>
          <p:cNvPr id="2" name="Straight Connector 1">
            <a:extLst>
              <a:ext uri="{FF2B5EF4-FFF2-40B4-BE49-F238E27FC236}">
                <a16:creationId xmlns:a16="http://schemas.microsoft.com/office/drawing/2014/main" id="{5DC75310-863F-7CBA-932B-B28437FD15A9}"/>
              </a:ext>
            </a:extLst>
          </p:cNvPr>
          <p:cNvCxnSpPr/>
          <p:nvPr/>
        </p:nvCxnSpPr>
        <p:spPr>
          <a:xfrm>
            <a:off x="223520" y="1154149"/>
            <a:ext cx="2011680" cy="0"/>
          </a:xfrm>
          <a:prstGeom prst="line">
            <a:avLst/>
          </a:prstGeom>
          <a:noFill/>
          <a:ln w="25400" cap="rnd">
            <a:gradFill flip="none" rotWithShape="1">
              <a:gsLst>
                <a:gs pos="30000">
                  <a:srgbClr val="2DB4FF"/>
                </a:gs>
                <a:gs pos="35000">
                  <a:srgbClr val="2DB4FF"/>
                </a:gs>
                <a:gs pos="3000">
                  <a:srgbClr val="0078D4"/>
                </a:gs>
                <a:gs pos="52000">
                  <a:srgbClr val="818EFF"/>
                </a:gs>
                <a:gs pos="70000">
                  <a:srgbClr val="D660FF"/>
                </a:gs>
                <a:gs pos="97000">
                  <a:srgbClr val="FEA87A"/>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4" name="Slide Number Placeholder 3">
            <a:extLst>
              <a:ext uri="{FF2B5EF4-FFF2-40B4-BE49-F238E27FC236}">
                <a16:creationId xmlns:a16="http://schemas.microsoft.com/office/drawing/2014/main" id="{B9593737-AF20-E318-63C3-47668BC61ED3}"/>
              </a:ext>
            </a:extLst>
          </p:cNvPr>
          <p:cNvSpPr>
            <a:spLocks noGrp="1"/>
          </p:cNvSpPr>
          <p:nvPr>
            <p:ph type="sldNum" sz="quarter" idx="11"/>
          </p:nvPr>
        </p:nvSpPr>
        <p:spPr/>
        <p:txBody>
          <a:bodyPr/>
          <a:lstStyle/>
          <a:p>
            <a:fld id="{5763EE98-C176-4152-A50F-E68840BAFA00}" type="slidenum">
              <a:rPr lang="en-US" smtClean="0"/>
              <a:pPr/>
              <a:t>31</a:t>
            </a:fld>
            <a:endParaRPr lang="en-US"/>
          </a:p>
        </p:txBody>
      </p:sp>
    </p:spTree>
    <p:extLst>
      <p:ext uri="{BB962C8B-B14F-4D97-AF65-F5344CB8AC3E}">
        <p14:creationId xmlns:p14="http://schemas.microsoft.com/office/powerpoint/2010/main" val="1015643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TextBox 84">
            <a:extLst>
              <a:ext uri="{FF2B5EF4-FFF2-40B4-BE49-F238E27FC236}">
                <a16:creationId xmlns:a16="http://schemas.microsoft.com/office/drawing/2014/main" id="{AD3E6C1E-4438-4520-9C68-E011B2A0114C}"/>
              </a:ext>
            </a:extLst>
          </p:cNvPr>
          <p:cNvSpPr txBox="1"/>
          <p:nvPr/>
        </p:nvSpPr>
        <p:spPr>
          <a:xfrm>
            <a:off x="3009900" y="1343124"/>
            <a:ext cx="8603549" cy="43088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171717"/>
                </a:solidFill>
                <a:effectLst/>
                <a:uLnTx/>
                <a:uFillTx/>
                <a:ea typeface="+mn-ea"/>
                <a:cs typeface="+mn-cs"/>
              </a:rPr>
              <a:t>To let customers quickly identify offers of interest, </a:t>
            </a:r>
            <a:r>
              <a:rPr kumimoji="0" lang="en-US" sz="1400" b="1" i="0" u="none" strike="noStrike" kern="1200" cap="none" spc="0" normalizeH="0" baseline="0" noProof="0">
                <a:ln>
                  <a:noFill/>
                </a:ln>
                <a:solidFill>
                  <a:srgbClr val="171717"/>
                </a:solidFill>
                <a:effectLst/>
                <a:uLnTx/>
                <a:uFillTx/>
                <a:ea typeface="+mn-ea"/>
                <a:cs typeface="+mn-cs"/>
              </a:rPr>
              <a:t>your listing must clearly, concisely, and accurately convey the type of offer, the value proposition for your offer, and requirements for its adoption. </a:t>
            </a:r>
          </a:p>
        </p:txBody>
      </p:sp>
      <p:sp>
        <p:nvSpPr>
          <p:cNvPr id="39" name="Title 38">
            <a:extLst>
              <a:ext uri="{FF2B5EF4-FFF2-40B4-BE49-F238E27FC236}">
                <a16:creationId xmlns:a16="http://schemas.microsoft.com/office/drawing/2014/main" id="{EECDD5CF-2D0F-4F1B-A160-12C815F23DB5}"/>
              </a:ext>
            </a:extLst>
          </p:cNvPr>
          <p:cNvSpPr>
            <a:spLocks noGrp="1"/>
          </p:cNvSpPr>
          <p:nvPr>
            <p:ph type="title"/>
          </p:nvPr>
        </p:nvSpPr>
        <p:spPr/>
        <p:txBody>
          <a:bodyPr/>
          <a:lstStyle/>
          <a:p>
            <a:pPr lvl="0"/>
            <a:r>
              <a:rPr lang="en-US" noProof="0"/>
              <a:t>Microsoft 365 Copilot offer</a:t>
            </a:r>
          </a:p>
        </p:txBody>
      </p:sp>
      <p:sp>
        <p:nvSpPr>
          <p:cNvPr id="20" name="TextBox 19">
            <a:extLst>
              <a:ext uri="{FF2B5EF4-FFF2-40B4-BE49-F238E27FC236}">
                <a16:creationId xmlns:a16="http://schemas.microsoft.com/office/drawing/2014/main" id="{3732244D-1156-4420-A678-D6A50DE305B9}"/>
              </a:ext>
            </a:extLst>
          </p:cNvPr>
          <p:cNvSpPr txBox="1"/>
          <p:nvPr/>
        </p:nvSpPr>
        <p:spPr>
          <a:xfrm>
            <a:off x="3009899" y="2016602"/>
            <a:ext cx="2651760" cy="646331"/>
          </a:xfrm>
          <a:prstGeom prst="rect">
            <a:avLst/>
          </a:prstGeom>
          <a:noFill/>
        </p:spPr>
        <p:txBody>
          <a:bodyPr wrap="square" lIns="0" tIns="0" rIns="0" bIns="0">
            <a:spAutoFit/>
          </a:bodyPr>
          <a:lstStyle/>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1" i="0" u="none" strike="noStrike" kern="1200" cap="none" spc="0" normalizeH="0" baseline="0" noProof="0">
                <a:ln>
                  <a:noFill/>
                </a:ln>
                <a:solidFill>
                  <a:srgbClr val="171717"/>
                </a:solidFill>
                <a:effectLst/>
                <a:uLnTx/>
                <a:uFillTx/>
                <a:ea typeface="+mn-ea"/>
                <a:cs typeface="+mn-cs"/>
              </a:rPr>
              <a:t>Summary: </a:t>
            </a:r>
            <a:r>
              <a:rPr kumimoji="0" lang="en-US" sz="1400" b="0" i="0" u="none" strike="noStrike" kern="1200" cap="none" spc="0" normalizeH="0" baseline="0" noProof="0">
                <a:ln>
                  <a:noFill/>
                </a:ln>
                <a:solidFill>
                  <a:srgbClr val="171717"/>
                </a:solidFill>
                <a:effectLst/>
                <a:uLnTx/>
                <a:uFillTx/>
                <a:ea typeface="+mn-ea"/>
                <a:cs typeface="+mn-cs"/>
              </a:rPr>
              <a:t>A concise, well-written summary of the offer or plan and its intended use.</a:t>
            </a:r>
          </a:p>
        </p:txBody>
      </p:sp>
      <p:sp>
        <p:nvSpPr>
          <p:cNvPr id="2" name="Freeform: Shape 1">
            <a:extLst>
              <a:ext uri="{FF2B5EF4-FFF2-40B4-BE49-F238E27FC236}">
                <a16:creationId xmlns:a16="http://schemas.microsoft.com/office/drawing/2014/main" id="{660A9699-1343-47B8-B15F-3632EB33F781}"/>
              </a:ext>
            </a:extLst>
          </p:cNvPr>
          <p:cNvSpPr/>
          <p:nvPr/>
        </p:nvSpPr>
        <p:spPr bwMode="auto">
          <a:xfrm>
            <a:off x="5696310" y="2407064"/>
            <a:ext cx="462139" cy="1234284"/>
          </a:xfrm>
          <a:custGeom>
            <a:avLst/>
            <a:gdLst>
              <a:gd name="connsiteX0" fmla="*/ 0 w 800100"/>
              <a:gd name="connsiteY0" fmla="*/ 0 h 257175"/>
              <a:gd name="connsiteX1" fmla="*/ 328612 w 800100"/>
              <a:gd name="connsiteY1" fmla="*/ 0 h 257175"/>
              <a:gd name="connsiteX2" fmla="*/ 328612 w 800100"/>
              <a:gd name="connsiteY2" fmla="*/ 257175 h 257175"/>
              <a:gd name="connsiteX3" fmla="*/ 800100 w 800100"/>
              <a:gd name="connsiteY3" fmla="*/ 257175 h 257175"/>
            </a:gdLst>
            <a:ahLst/>
            <a:cxnLst>
              <a:cxn ang="0">
                <a:pos x="connsiteX0" y="connsiteY0"/>
              </a:cxn>
              <a:cxn ang="0">
                <a:pos x="connsiteX1" y="connsiteY1"/>
              </a:cxn>
              <a:cxn ang="0">
                <a:pos x="connsiteX2" y="connsiteY2"/>
              </a:cxn>
              <a:cxn ang="0">
                <a:pos x="connsiteX3" y="connsiteY3"/>
              </a:cxn>
            </a:cxnLst>
            <a:rect l="l" t="t" r="r" b="b"/>
            <a:pathLst>
              <a:path w="800100" h="257175">
                <a:moveTo>
                  <a:pt x="0" y="0"/>
                </a:moveTo>
                <a:lnTo>
                  <a:pt x="328612" y="0"/>
                </a:lnTo>
                <a:lnTo>
                  <a:pt x="328612" y="257175"/>
                </a:lnTo>
                <a:lnTo>
                  <a:pt x="800100" y="257175"/>
                </a:lnTo>
              </a:path>
            </a:pathLst>
          </a:custGeom>
          <a:noFill/>
          <a:ln w="22225" cap="rnd">
            <a:solidFill>
              <a:schemeClr val="tx2">
                <a:lumMod val="50000"/>
                <a:lumOff val="50000"/>
              </a:schemeClr>
            </a:solidFill>
            <a:prstDash val="sysDot"/>
            <a:headEnd type="none" w="med" len="med"/>
            <a:tailEnd type="triangle" w="lg" len="lg"/>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7" name="TextBox 26">
            <a:extLst>
              <a:ext uri="{FF2B5EF4-FFF2-40B4-BE49-F238E27FC236}">
                <a16:creationId xmlns:a16="http://schemas.microsoft.com/office/drawing/2014/main" id="{80707981-A185-4B54-9EA7-1B413953C8A6}"/>
              </a:ext>
            </a:extLst>
          </p:cNvPr>
          <p:cNvSpPr txBox="1"/>
          <p:nvPr/>
        </p:nvSpPr>
        <p:spPr>
          <a:xfrm>
            <a:off x="3009899" y="3493550"/>
            <a:ext cx="2651760" cy="2369880"/>
          </a:xfrm>
          <a:prstGeom prst="rect">
            <a:avLst/>
          </a:prstGeom>
          <a:noFill/>
        </p:spPr>
        <p:txBody>
          <a:bodyPr wrap="square" lIns="0" tIns="0" rIns="0" bIns="0">
            <a:spAutoFit/>
          </a:bodyPr>
          <a:lstStyle/>
          <a:p>
            <a:pPr marL="285750" marR="0" lvl="0" indent="-285750" algn="l" defTabSz="914400" rtl="0" eaLnBrk="1" fontAlgn="auto" latinLnBrk="0" hangingPunct="1">
              <a:lnSpc>
                <a:spcPct val="100000"/>
              </a:lnSpc>
              <a:spcBef>
                <a:spcPts val="0"/>
              </a:spcBef>
              <a:spcAft>
                <a:spcPts val="0"/>
              </a:spcAft>
              <a:buClrTx/>
              <a:buSzTx/>
              <a:buFont typeface="+mj-lt"/>
              <a:buAutoNum type="arabicPeriod" startAt="2"/>
              <a:tabLst/>
              <a:defRPr/>
            </a:pPr>
            <a:r>
              <a:rPr kumimoji="0" lang="en-US" sz="1400" b="1" i="0" u="none" strike="noStrike" kern="1200" cap="none" spc="0" normalizeH="0" baseline="0" noProof="0">
                <a:ln>
                  <a:noFill/>
                </a:ln>
                <a:solidFill>
                  <a:srgbClr val="171717"/>
                </a:solidFill>
                <a:effectLst/>
                <a:uLnTx/>
                <a:uFillTx/>
                <a:ea typeface="+mn-ea"/>
                <a:cs typeface="+mn-cs"/>
              </a:rPr>
              <a:t>Description:</a:t>
            </a:r>
            <a:r>
              <a:rPr kumimoji="0" lang="en-US" sz="1400" b="1" i="0" u="none" strike="noStrike" kern="1200" cap="none" spc="0" normalizeH="0" baseline="0" noProof="0">
                <a:ln>
                  <a:noFill/>
                </a:ln>
                <a:solidFill>
                  <a:srgbClr val="0078D4"/>
                </a:solidFill>
                <a:effectLst/>
                <a:uLnTx/>
                <a:uFillTx/>
                <a:ea typeface="+mn-ea"/>
                <a:cs typeface="+mn-cs"/>
              </a:rPr>
              <a:t>*</a:t>
            </a:r>
            <a:r>
              <a:rPr kumimoji="0" lang="en-US" sz="1400" b="1" i="0" u="none" strike="noStrike" kern="1200" cap="none" spc="0" normalizeH="0" baseline="0" noProof="0">
                <a:ln>
                  <a:noFill/>
                </a:ln>
                <a:solidFill>
                  <a:srgbClr val="171717"/>
                </a:solidFill>
                <a:effectLst/>
                <a:uLnTx/>
                <a:uFillTx/>
                <a:ea typeface="+mn-ea"/>
                <a:cs typeface="+mn-cs"/>
              </a:rPr>
              <a:t> </a:t>
            </a:r>
            <a:r>
              <a:rPr kumimoji="0" lang="en-US" sz="1400" b="0" i="0" u="none" strike="noStrike" kern="1200" cap="none" spc="0" normalizeH="0" baseline="0" noProof="0">
                <a:ln>
                  <a:noFill/>
                </a:ln>
                <a:solidFill>
                  <a:srgbClr val="171717"/>
                </a:solidFill>
                <a:effectLst/>
                <a:uLnTx/>
                <a:uFillTx/>
                <a:ea typeface="+mn-ea"/>
                <a:cs typeface="+mn-cs"/>
              </a:rPr>
              <a:t>A description that identifies the audience for the offer, briefly and clearly explains the unique value of the offer, identifies supported Microsoft products and other supported software, and includes any requirements for its use. Refer to the “Sample Final Offer” text </a:t>
            </a:r>
            <a:r>
              <a:rPr kumimoji="0" lang="en-US" sz="1400" b="0" i="0" u="none" strike="noStrike" kern="1200" cap="none" spc="0" normalizeH="0" baseline="0" noProof="0">
                <a:ln>
                  <a:noFill/>
                </a:ln>
                <a:solidFill>
                  <a:srgbClr val="171717"/>
                </a:solidFill>
                <a:effectLst/>
                <a:uLnTx/>
                <a:uFillTx/>
                <a:ea typeface="+mn-ea"/>
                <a:cs typeface="+mn-cs"/>
                <a:hlinkClick r:id="rId3" action="ppaction://hlinksldjump"/>
              </a:rPr>
              <a:t>here</a:t>
            </a:r>
            <a:r>
              <a:rPr kumimoji="0" lang="en-US" sz="1400" b="0" i="0" u="none" strike="noStrike" kern="1200" cap="none" spc="0" normalizeH="0" baseline="0" noProof="0">
                <a:ln>
                  <a:noFill/>
                </a:ln>
                <a:solidFill>
                  <a:srgbClr val="171717"/>
                </a:solidFill>
                <a:effectLst/>
                <a:uLnTx/>
                <a:uFillTx/>
                <a:ea typeface="+mn-ea"/>
                <a:cs typeface="+mn-cs"/>
              </a:rPr>
              <a:t>.</a:t>
            </a:r>
            <a:endParaRPr kumimoji="0" lang="en-US" sz="1400" b="0" i="0" u="none" strike="noStrike" kern="1200" cap="none" spc="0" normalizeH="0" baseline="0" noProof="0">
              <a:ln>
                <a:noFill/>
              </a:ln>
              <a:solidFill>
                <a:srgbClr val="000000"/>
              </a:solidFill>
              <a:effectLst/>
              <a:uLnTx/>
              <a:uFillTx/>
              <a:ea typeface="+mn-ea"/>
              <a:cs typeface="+mn-cs"/>
            </a:endParaRPr>
          </a:p>
        </p:txBody>
      </p:sp>
      <p:sp>
        <p:nvSpPr>
          <p:cNvPr id="32" name="Freeform: Shape 31">
            <a:extLst>
              <a:ext uri="{FF2B5EF4-FFF2-40B4-BE49-F238E27FC236}">
                <a16:creationId xmlns:a16="http://schemas.microsoft.com/office/drawing/2014/main" id="{1D3C57C2-8FEF-4280-96D6-C95F80D1F1C6}"/>
              </a:ext>
            </a:extLst>
          </p:cNvPr>
          <p:cNvSpPr/>
          <p:nvPr/>
        </p:nvSpPr>
        <p:spPr bwMode="auto">
          <a:xfrm flipV="1">
            <a:off x="5766492" y="4369193"/>
            <a:ext cx="391957" cy="365779"/>
          </a:xfrm>
          <a:custGeom>
            <a:avLst/>
            <a:gdLst>
              <a:gd name="connsiteX0" fmla="*/ 0 w 800100"/>
              <a:gd name="connsiteY0" fmla="*/ 0 h 257175"/>
              <a:gd name="connsiteX1" fmla="*/ 328612 w 800100"/>
              <a:gd name="connsiteY1" fmla="*/ 0 h 257175"/>
              <a:gd name="connsiteX2" fmla="*/ 328612 w 800100"/>
              <a:gd name="connsiteY2" fmla="*/ 257175 h 257175"/>
              <a:gd name="connsiteX3" fmla="*/ 800100 w 800100"/>
              <a:gd name="connsiteY3" fmla="*/ 257175 h 257175"/>
            </a:gdLst>
            <a:ahLst/>
            <a:cxnLst>
              <a:cxn ang="0">
                <a:pos x="connsiteX0" y="connsiteY0"/>
              </a:cxn>
              <a:cxn ang="0">
                <a:pos x="connsiteX1" y="connsiteY1"/>
              </a:cxn>
              <a:cxn ang="0">
                <a:pos x="connsiteX2" y="connsiteY2"/>
              </a:cxn>
              <a:cxn ang="0">
                <a:pos x="connsiteX3" y="connsiteY3"/>
              </a:cxn>
            </a:cxnLst>
            <a:rect l="l" t="t" r="r" b="b"/>
            <a:pathLst>
              <a:path w="800100" h="257175">
                <a:moveTo>
                  <a:pt x="0" y="0"/>
                </a:moveTo>
                <a:lnTo>
                  <a:pt x="328612" y="0"/>
                </a:lnTo>
                <a:lnTo>
                  <a:pt x="328612" y="257175"/>
                </a:lnTo>
                <a:lnTo>
                  <a:pt x="800100" y="257175"/>
                </a:lnTo>
              </a:path>
            </a:pathLst>
          </a:custGeom>
          <a:noFill/>
          <a:ln w="22225" cap="rnd">
            <a:solidFill>
              <a:schemeClr val="tx2">
                <a:lumMod val="50000"/>
                <a:lumOff val="50000"/>
              </a:schemeClr>
            </a:solidFill>
            <a:prstDash val="sysDot"/>
            <a:headEnd type="none" w="med" len="med"/>
            <a:tailEnd type="triangle" w="lg" len="lg"/>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4" name="Group 23">
            <a:extLst>
              <a:ext uri="{FF2B5EF4-FFF2-40B4-BE49-F238E27FC236}">
                <a16:creationId xmlns:a16="http://schemas.microsoft.com/office/drawing/2014/main" id="{BD0269E5-634C-9A1B-92A1-56E63875531C}"/>
              </a:ext>
            </a:extLst>
          </p:cNvPr>
          <p:cNvGrpSpPr/>
          <p:nvPr/>
        </p:nvGrpSpPr>
        <p:grpSpPr>
          <a:xfrm>
            <a:off x="9800681" y="299796"/>
            <a:ext cx="1803056" cy="552365"/>
            <a:chOff x="10126451" y="192765"/>
            <a:chExt cx="1803056" cy="552365"/>
          </a:xfrm>
        </p:grpSpPr>
        <p:grpSp>
          <p:nvGrpSpPr>
            <p:cNvPr id="25" name="Group 24">
              <a:extLst>
                <a:ext uri="{FF2B5EF4-FFF2-40B4-BE49-F238E27FC236}">
                  <a16:creationId xmlns:a16="http://schemas.microsoft.com/office/drawing/2014/main" id="{49AAD95C-EC50-09CB-0EE0-D3DF1B9DEB41}"/>
                </a:ext>
              </a:extLst>
            </p:cNvPr>
            <p:cNvGrpSpPr/>
            <p:nvPr/>
          </p:nvGrpSpPr>
          <p:grpSpPr>
            <a:xfrm>
              <a:off x="10752268" y="196490"/>
              <a:ext cx="548640" cy="548640"/>
              <a:chOff x="10752268" y="196490"/>
              <a:chExt cx="548640" cy="548640"/>
            </a:xfrm>
          </p:grpSpPr>
          <p:sp>
            <p:nvSpPr>
              <p:cNvPr id="60" name="Oval 59">
                <a:extLst>
                  <a:ext uri="{FF2B5EF4-FFF2-40B4-BE49-F238E27FC236}">
                    <a16:creationId xmlns:a16="http://schemas.microsoft.com/office/drawing/2014/main" id="{C7E49E9D-2367-7DA1-6180-481EE74DB39B}"/>
                  </a:ext>
                </a:extLst>
              </p:cNvPr>
              <p:cNvSpPr/>
              <p:nvPr/>
            </p:nvSpPr>
            <p:spPr bwMode="auto">
              <a:xfrm>
                <a:off x="10752268"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61" name="gear" descr="gear, wrench, engineer">
                <a:extLst>
                  <a:ext uri="{FF2B5EF4-FFF2-40B4-BE49-F238E27FC236}">
                    <a16:creationId xmlns:a16="http://schemas.microsoft.com/office/drawing/2014/main" id="{405EF6A3-93EF-F51E-6C60-5558EF64DDCF}"/>
                  </a:ext>
                </a:extLst>
              </p:cNvPr>
              <p:cNvGrpSpPr/>
              <p:nvPr/>
            </p:nvGrpSpPr>
            <p:grpSpPr>
              <a:xfrm>
                <a:off x="10883844" y="326676"/>
                <a:ext cx="288269" cy="288268"/>
                <a:chOff x="3510968" y="2992337"/>
                <a:chExt cx="498751" cy="498751"/>
              </a:xfrm>
              <a:solidFill>
                <a:schemeClr val="bg1"/>
              </a:solidFill>
            </p:grpSpPr>
            <p:sp>
              <p:nvSpPr>
                <p:cNvPr id="63" name="Freeform: Shape 62">
                  <a:extLst>
                    <a:ext uri="{FF2B5EF4-FFF2-40B4-BE49-F238E27FC236}">
                      <a16:creationId xmlns:a16="http://schemas.microsoft.com/office/drawing/2014/main" id="{B2165A98-B129-2132-D148-D42FEB20EADD}"/>
                    </a:ext>
                  </a:extLst>
                </p:cNvPr>
                <p:cNvSpPr/>
                <p:nvPr/>
              </p:nvSpPr>
              <p:spPr>
                <a:xfrm>
                  <a:off x="3510968" y="2992337"/>
                  <a:ext cx="498751" cy="498751"/>
                </a:xfrm>
                <a:custGeom>
                  <a:avLst/>
                  <a:gdLst>
                    <a:gd name="connsiteX0" fmla="*/ 499635 w 498751"/>
                    <a:gd name="connsiteY0" fmla="*/ 277035 h 498751"/>
                    <a:gd name="connsiteX1" fmla="*/ 499635 w 498751"/>
                    <a:gd name="connsiteY1" fmla="*/ 224623 h 498751"/>
                    <a:gd name="connsiteX2" fmla="*/ 445560 w 498751"/>
                    <a:gd name="connsiteY2" fmla="*/ 224623 h 498751"/>
                    <a:gd name="connsiteX3" fmla="*/ 407060 w 498751"/>
                    <a:gd name="connsiteY3" fmla="*/ 131698 h 498751"/>
                    <a:gd name="connsiteX4" fmla="*/ 445298 w 498751"/>
                    <a:gd name="connsiteY4" fmla="*/ 93460 h 498751"/>
                    <a:gd name="connsiteX5" fmla="*/ 408285 w 498751"/>
                    <a:gd name="connsiteY5" fmla="*/ 56448 h 498751"/>
                    <a:gd name="connsiteX6" fmla="*/ 370048 w 498751"/>
                    <a:gd name="connsiteY6" fmla="*/ 94686 h 498751"/>
                    <a:gd name="connsiteX7" fmla="*/ 277123 w 498751"/>
                    <a:gd name="connsiteY7" fmla="*/ 56186 h 498751"/>
                    <a:gd name="connsiteX8" fmla="*/ 277123 w 498751"/>
                    <a:gd name="connsiteY8" fmla="*/ 2111 h 498751"/>
                    <a:gd name="connsiteX9" fmla="*/ 224710 w 498751"/>
                    <a:gd name="connsiteY9" fmla="*/ 2111 h 498751"/>
                    <a:gd name="connsiteX10" fmla="*/ 224710 w 498751"/>
                    <a:gd name="connsiteY10" fmla="*/ 56186 h 498751"/>
                    <a:gd name="connsiteX11" fmla="*/ 131785 w 498751"/>
                    <a:gd name="connsiteY11" fmla="*/ 94686 h 498751"/>
                    <a:gd name="connsiteX12" fmla="*/ 93548 w 498751"/>
                    <a:gd name="connsiteY12" fmla="*/ 56448 h 498751"/>
                    <a:gd name="connsiteX13" fmla="*/ 56536 w 498751"/>
                    <a:gd name="connsiteY13" fmla="*/ 93460 h 498751"/>
                    <a:gd name="connsiteX14" fmla="*/ 94773 w 498751"/>
                    <a:gd name="connsiteY14" fmla="*/ 131698 h 498751"/>
                    <a:gd name="connsiteX15" fmla="*/ 56273 w 498751"/>
                    <a:gd name="connsiteY15" fmla="*/ 224623 h 498751"/>
                    <a:gd name="connsiteX16" fmla="*/ 2111 w 498751"/>
                    <a:gd name="connsiteY16" fmla="*/ 224623 h 498751"/>
                    <a:gd name="connsiteX17" fmla="*/ 2111 w 498751"/>
                    <a:gd name="connsiteY17" fmla="*/ 277035 h 498751"/>
                    <a:gd name="connsiteX18" fmla="*/ 56186 w 498751"/>
                    <a:gd name="connsiteY18" fmla="*/ 277035 h 498751"/>
                    <a:gd name="connsiteX19" fmla="*/ 112010 w 498751"/>
                    <a:gd name="connsiteY19" fmla="*/ 389735 h 498751"/>
                    <a:gd name="connsiteX20" fmla="*/ 224710 w 498751"/>
                    <a:gd name="connsiteY20" fmla="*/ 445560 h 498751"/>
                    <a:gd name="connsiteX21" fmla="*/ 224710 w 498751"/>
                    <a:gd name="connsiteY21" fmla="*/ 499635 h 498751"/>
                    <a:gd name="connsiteX22" fmla="*/ 277123 w 498751"/>
                    <a:gd name="connsiteY22" fmla="*/ 499635 h 498751"/>
                    <a:gd name="connsiteX23" fmla="*/ 277123 w 498751"/>
                    <a:gd name="connsiteY23" fmla="*/ 445560 h 498751"/>
                    <a:gd name="connsiteX24" fmla="*/ 370048 w 498751"/>
                    <a:gd name="connsiteY24" fmla="*/ 407060 h 498751"/>
                    <a:gd name="connsiteX25" fmla="*/ 408285 w 498751"/>
                    <a:gd name="connsiteY25" fmla="*/ 445298 h 498751"/>
                    <a:gd name="connsiteX26" fmla="*/ 445298 w 498751"/>
                    <a:gd name="connsiteY26" fmla="*/ 408285 h 498751"/>
                    <a:gd name="connsiteX27" fmla="*/ 407060 w 498751"/>
                    <a:gd name="connsiteY27" fmla="*/ 370048 h 498751"/>
                    <a:gd name="connsiteX28" fmla="*/ 445560 w 498751"/>
                    <a:gd name="connsiteY28" fmla="*/ 277123 h 498751"/>
                    <a:gd name="connsiteX29" fmla="*/ 499635 w 498751"/>
                    <a:gd name="connsiteY29" fmla="*/ 277123 h 498751"/>
                    <a:gd name="connsiteX30" fmla="*/ 499635 w 498751"/>
                    <a:gd name="connsiteY30" fmla="*/ 277035 h 498751"/>
                    <a:gd name="connsiteX31" fmla="*/ 106848 w 498751"/>
                    <a:gd name="connsiteY31" fmla="*/ 250873 h 498751"/>
                    <a:gd name="connsiteX32" fmla="*/ 139573 w 498751"/>
                    <a:gd name="connsiteY32" fmla="*/ 159523 h 498751"/>
                    <a:gd name="connsiteX33" fmla="*/ 222786 w 498751"/>
                    <a:gd name="connsiteY33" fmla="*/ 109648 h 498751"/>
                    <a:gd name="connsiteX34" fmla="*/ 318773 w 498751"/>
                    <a:gd name="connsiteY34" fmla="*/ 123910 h 498751"/>
                    <a:gd name="connsiteX35" fmla="*/ 383960 w 498751"/>
                    <a:gd name="connsiteY35" fmla="*/ 195835 h 498751"/>
                    <a:gd name="connsiteX36" fmla="*/ 388685 w 498751"/>
                    <a:gd name="connsiteY36" fmla="*/ 292785 h 498751"/>
                    <a:gd name="connsiteX37" fmla="*/ 330848 w 498751"/>
                    <a:gd name="connsiteY37" fmla="*/ 370748 h 498751"/>
                    <a:gd name="connsiteX38" fmla="*/ 236698 w 498751"/>
                    <a:gd name="connsiteY38" fmla="*/ 394285 h 498751"/>
                    <a:gd name="connsiteX39" fmla="*/ 148936 w 498751"/>
                    <a:gd name="connsiteY39" fmla="*/ 352810 h 498751"/>
                    <a:gd name="connsiteX40" fmla="*/ 117610 w 498751"/>
                    <a:gd name="connsiteY40" fmla="*/ 306085 h 498751"/>
                    <a:gd name="connsiteX41" fmla="*/ 106848 w 498751"/>
                    <a:gd name="connsiteY41" fmla="*/ 250873 h 498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98751" h="498751">
                      <a:moveTo>
                        <a:pt x="499635" y="277035"/>
                      </a:moveTo>
                      <a:lnTo>
                        <a:pt x="499635" y="224623"/>
                      </a:lnTo>
                      <a:lnTo>
                        <a:pt x="445560" y="224623"/>
                      </a:lnTo>
                      <a:cubicBezTo>
                        <a:pt x="441098" y="190848"/>
                        <a:pt x="427798" y="158823"/>
                        <a:pt x="407060" y="131698"/>
                      </a:cubicBezTo>
                      <a:lnTo>
                        <a:pt x="445298" y="93460"/>
                      </a:lnTo>
                      <a:lnTo>
                        <a:pt x="408285" y="56448"/>
                      </a:lnTo>
                      <a:lnTo>
                        <a:pt x="370048" y="94686"/>
                      </a:lnTo>
                      <a:cubicBezTo>
                        <a:pt x="342923" y="73948"/>
                        <a:pt x="310898" y="60648"/>
                        <a:pt x="277123" y="56186"/>
                      </a:cubicBezTo>
                      <a:lnTo>
                        <a:pt x="277123" y="2111"/>
                      </a:lnTo>
                      <a:lnTo>
                        <a:pt x="224710" y="2111"/>
                      </a:lnTo>
                      <a:lnTo>
                        <a:pt x="224710" y="56186"/>
                      </a:lnTo>
                      <a:cubicBezTo>
                        <a:pt x="190935" y="60648"/>
                        <a:pt x="158911" y="73948"/>
                        <a:pt x="131785" y="94686"/>
                      </a:cubicBezTo>
                      <a:lnTo>
                        <a:pt x="93548" y="56448"/>
                      </a:lnTo>
                      <a:lnTo>
                        <a:pt x="56536" y="93460"/>
                      </a:lnTo>
                      <a:lnTo>
                        <a:pt x="94773" y="131698"/>
                      </a:lnTo>
                      <a:cubicBezTo>
                        <a:pt x="74036" y="158823"/>
                        <a:pt x="60736" y="190848"/>
                        <a:pt x="56273" y="224623"/>
                      </a:cubicBezTo>
                      <a:lnTo>
                        <a:pt x="2111" y="224623"/>
                      </a:lnTo>
                      <a:lnTo>
                        <a:pt x="2111" y="277035"/>
                      </a:lnTo>
                      <a:lnTo>
                        <a:pt x="56186" y="277035"/>
                      </a:lnTo>
                      <a:cubicBezTo>
                        <a:pt x="61961" y="319648"/>
                        <a:pt x="81561" y="359285"/>
                        <a:pt x="112010" y="389735"/>
                      </a:cubicBezTo>
                      <a:cubicBezTo>
                        <a:pt x="142461" y="420185"/>
                        <a:pt x="182011" y="439785"/>
                        <a:pt x="224710" y="445560"/>
                      </a:cubicBezTo>
                      <a:lnTo>
                        <a:pt x="224710" y="499635"/>
                      </a:lnTo>
                      <a:lnTo>
                        <a:pt x="277123" y="499635"/>
                      </a:lnTo>
                      <a:lnTo>
                        <a:pt x="277123" y="445560"/>
                      </a:lnTo>
                      <a:cubicBezTo>
                        <a:pt x="310898" y="441098"/>
                        <a:pt x="342923" y="427798"/>
                        <a:pt x="370048" y="407060"/>
                      </a:cubicBezTo>
                      <a:lnTo>
                        <a:pt x="408285" y="445298"/>
                      </a:lnTo>
                      <a:lnTo>
                        <a:pt x="445298" y="408285"/>
                      </a:lnTo>
                      <a:lnTo>
                        <a:pt x="407060" y="370048"/>
                      </a:lnTo>
                      <a:cubicBezTo>
                        <a:pt x="427798" y="342923"/>
                        <a:pt x="441098" y="310898"/>
                        <a:pt x="445560" y="277123"/>
                      </a:cubicBezTo>
                      <a:lnTo>
                        <a:pt x="499635" y="277123"/>
                      </a:lnTo>
                      <a:lnTo>
                        <a:pt x="499635" y="277035"/>
                      </a:lnTo>
                      <a:close/>
                      <a:moveTo>
                        <a:pt x="106848" y="250873"/>
                      </a:moveTo>
                      <a:cubicBezTo>
                        <a:pt x="106848" y="217535"/>
                        <a:pt x="118398" y="185248"/>
                        <a:pt x="139573" y="159523"/>
                      </a:cubicBezTo>
                      <a:cubicBezTo>
                        <a:pt x="160748" y="133798"/>
                        <a:pt x="190148" y="116123"/>
                        <a:pt x="222786" y="109648"/>
                      </a:cubicBezTo>
                      <a:cubicBezTo>
                        <a:pt x="255423" y="103173"/>
                        <a:pt x="289373" y="108161"/>
                        <a:pt x="318773" y="123910"/>
                      </a:cubicBezTo>
                      <a:cubicBezTo>
                        <a:pt x="348173" y="139573"/>
                        <a:pt x="371185" y="165035"/>
                        <a:pt x="383960" y="195835"/>
                      </a:cubicBezTo>
                      <a:cubicBezTo>
                        <a:pt x="396735" y="226635"/>
                        <a:pt x="398397" y="260848"/>
                        <a:pt x="388685" y="292785"/>
                      </a:cubicBezTo>
                      <a:cubicBezTo>
                        <a:pt x="378973" y="324635"/>
                        <a:pt x="358585" y="352197"/>
                        <a:pt x="330848" y="370748"/>
                      </a:cubicBezTo>
                      <a:cubicBezTo>
                        <a:pt x="303110" y="389298"/>
                        <a:pt x="269860" y="397610"/>
                        <a:pt x="236698" y="394285"/>
                      </a:cubicBezTo>
                      <a:cubicBezTo>
                        <a:pt x="203535" y="391048"/>
                        <a:pt x="172560" y="376347"/>
                        <a:pt x="148936" y="352810"/>
                      </a:cubicBezTo>
                      <a:cubicBezTo>
                        <a:pt x="135548" y="339510"/>
                        <a:pt x="124873" y="323585"/>
                        <a:pt x="117610" y="306085"/>
                      </a:cubicBezTo>
                      <a:cubicBezTo>
                        <a:pt x="110523" y="288498"/>
                        <a:pt x="106761" y="269773"/>
                        <a:pt x="106848" y="25087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64" name="Freeform: Shape 63">
                  <a:extLst>
                    <a:ext uri="{FF2B5EF4-FFF2-40B4-BE49-F238E27FC236}">
                      <a16:creationId xmlns:a16="http://schemas.microsoft.com/office/drawing/2014/main" id="{3D1A43E7-49AF-7352-1C48-79BB4E56BF17}"/>
                    </a:ext>
                  </a:extLst>
                </p:cNvPr>
                <p:cNvSpPr/>
                <p:nvPr/>
              </p:nvSpPr>
              <p:spPr>
                <a:xfrm>
                  <a:off x="3525494" y="3127375"/>
                  <a:ext cx="348087" cy="348087"/>
                </a:xfrm>
                <a:custGeom>
                  <a:avLst/>
                  <a:gdLst>
                    <a:gd name="connsiteX0" fmla="*/ 286398 w 348086"/>
                    <a:gd name="connsiteY0" fmla="*/ 124333 h 348086"/>
                    <a:gd name="connsiteX1" fmla="*/ 226548 w 348086"/>
                    <a:gd name="connsiteY1" fmla="*/ 64483 h 348086"/>
                    <a:gd name="connsiteX2" fmla="*/ 280448 w 348086"/>
                    <a:gd name="connsiteY2" fmla="*/ 10583 h 348086"/>
                    <a:gd name="connsiteX3" fmla="*/ 216923 w 348086"/>
                    <a:gd name="connsiteY3" fmla="*/ 4108 h 348086"/>
                    <a:gd name="connsiteX4" fmla="*/ 160310 w 348086"/>
                    <a:gd name="connsiteY4" fmla="*/ 33683 h 348086"/>
                    <a:gd name="connsiteX5" fmla="*/ 129335 w 348086"/>
                    <a:gd name="connsiteY5" fmla="*/ 89508 h 348086"/>
                    <a:gd name="connsiteX6" fmla="*/ 134235 w 348086"/>
                    <a:gd name="connsiteY6" fmla="*/ 153121 h 348086"/>
                    <a:gd name="connsiteX7" fmla="*/ 15236 w 348086"/>
                    <a:gd name="connsiteY7" fmla="*/ 272121 h 348086"/>
                    <a:gd name="connsiteX8" fmla="*/ 2111 w 348086"/>
                    <a:gd name="connsiteY8" fmla="*/ 303883 h 348086"/>
                    <a:gd name="connsiteX9" fmla="*/ 15236 w 348086"/>
                    <a:gd name="connsiteY9" fmla="*/ 335645 h 348086"/>
                    <a:gd name="connsiteX10" fmla="*/ 46998 w 348086"/>
                    <a:gd name="connsiteY10" fmla="*/ 348770 h 348086"/>
                    <a:gd name="connsiteX11" fmla="*/ 78760 w 348086"/>
                    <a:gd name="connsiteY11" fmla="*/ 335645 h 348086"/>
                    <a:gd name="connsiteX12" fmla="*/ 197760 w 348086"/>
                    <a:gd name="connsiteY12" fmla="*/ 216645 h 348086"/>
                    <a:gd name="connsiteX13" fmla="*/ 261373 w 348086"/>
                    <a:gd name="connsiteY13" fmla="*/ 221546 h 348086"/>
                    <a:gd name="connsiteX14" fmla="*/ 317198 w 348086"/>
                    <a:gd name="connsiteY14" fmla="*/ 190571 h 348086"/>
                    <a:gd name="connsiteX15" fmla="*/ 346773 w 348086"/>
                    <a:gd name="connsiteY15" fmla="*/ 134045 h 348086"/>
                    <a:gd name="connsiteX16" fmla="*/ 340298 w 348086"/>
                    <a:gd name="connsiteY16" fmla="*/ 70521 h 348086"/>
                    <a:gd name="connsiteX17" fmla="*/ 286398 w 348086"/>
                    <a:gd name="connsiteY17" fmla="*/ 124333 h 348086"/>
                    <a:gd name="connsiteX18" fmla="*/ 63011 w 348086"/>
                    <a:gd name="connsiteY18" fmla="*/ 319633 h 348086"/>
                    <a:gd name="connsiteX19" fmla="*/ 51548 w 348086"/>
                    <a:gd name="connsiteY19" fmla="*/ 325758 h 348086"/>
                    <a:gd name="connsiteX20" fmla="*/ 38598 w 348086"/>
                    <a:gd name="connsiteY20" fmla="*/ 324445 h 348086"/>
                    <a:gd name="connsiteX21" fmla="*/ 28536 w 348086"/>
                    <a:gd name="connsiteY21" fmla="*/ 316220 h 348086"/>
                    <a:gd name="connsiteX22" fmla="*/ 24773 w 348086"/>
                    <a:gd name="connsiteY22" fmla="*/ 303795 h 348086"/>
                    <a:gd name="connsiteX23" fmla="*/ 28536 w 348086"/>
                    <a:gd name="connsiteY23" fmla="*/ 291371 h 348086"/>
                    <a:gd name="connsiteX24" fmla="*/ 38598 w 348086"/>
                    <a:gd name="connsiteY24" fmla="*/ 283146 h 348086"/>
                    <a:gd name="connsiteX25" fmla="*/ 51548 w 348086"/>
                    <a:gd name="connsiteY25" fmla="*/ 281833 h 348086"/>
                    <a:gd name="connsiteX26" fmla="*/ 63011 w 348086"/>
                    <a:gd name="connsiteY26" fmla="*/ 287958 h 348086"/>
                    <a:gd name="connsiteX27" fmla="*/ 69573 w 348086"/>
                    <a:gd name="connsiteY27" fmla="*/ 303795 h 348086"/>
                    <a:gd name="connsiteX28" fmla="*/ 63011 w 348086"/>
                    <a:gd name="connsiteY28" fmla="*/ 319633 h 348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48086" h="348086">
                      <a:moveTo>
                        <a:pt x="286398" y="124333"/>
                      </a:moveTo>
                      <a:lnTo>
                        <a:pt x="226548" y="64483"/>
                      </a:lnTo>
                      <a:lnTo>
                        <a:pt x="280448" y="10583"/>
                      </a:lnTo>
                      <a:cubicBezTo>
                        <a:pt x="260410" y="2271"/>
                        <a:pt x="238273" y="-4"/>
                        <a:pt x="216923" y="4108"/>
                      </a:cubicBezTo>
                      <a:cubicBezTo>
                        <a:pt x="195573" y="8221"/>
                        <a:pt x="175885" y="18458"/>
                        <a:pt x="160310" y="33683"/>
                      </a:cubicBezTo>
                      <a:cubicBezTo>
                        <a:pt x="144735" y="48821"/>
                        <a:pt x="133973" y="68246"/>
                        <a:pt x="129335" y="89508"/>
                      </a:cubicBezTo>
                      <a:cubicBezTo>
                        <a:pt x="124698" y="110771"/>
                        <a:pt x="126448" y="132908"/>
                        <a:pt x="134235" y="153121"/>
                      </a:cubicBezTo>
                      <a:lnTo>
                        <a:pt x="15236" y="272121"/>
                      </a:lnTo>
                      <a:cubicBezTo>
                        <a:pt x="6836" y="280520"/>
                        <a:pt x="2111" y="291983"/>
                        <a:pt x="2111" y="303883"/>
                      </a:cubicBezTo>
                      <a:cubicBezTo>
                        <a:pt x="2111" y="315783"/>
                        <a:pt x="6836" y="327158"/>
                        <a:pt x="15236" y="335645"/>
                      </a:cubicBezTo>
                      <a:cubicBezTo>
                        <a:pt x="23636" y="344046"/>
                        <a:pt x="35098" y="348770"/>
                        <a:pt x="46998" y="348770"/>
                      </a:cubicBezTo>
                      <a:cubicBezTo>
                        <a:pt x="58898" y="348770"/>
                        <a:pt x="70273" y="344046"/>
                        <a:pt x="78760" y="335645"/>
                      </a:cubicBezTo>
                      <a:lnTo>
                        <a:pt x="197760" y="216645"/>
                      </a:lnTo>
                      <a:cubicBezTo>
                        <a:pt x="218060" y="224520"/>
                        <a:pt x="240110" y="226183"/>
                        <a:pt x="261373" y="221546"/>
                      </a:cubicBezTo>
                      <a:cubicBezTo>
                        <a:pt x="282635" y="216908"/>
                        <a:pt x="301973" y="206146"/>
                        <a:pt x="317198" y="190571"/>
                      </a:cubicBezTo>
                      <a:cubicBezTo>
                        <a:pt x="332335" y="174996"/>
                        <a:pt x="342660" y="155308"/>
                        <a:pt x="346773" y="134045"/>
                      </a:cubicBezTo>
                      <a:cubicBezTo>
                        <a:pt x="350885" y="112696"/>
                        <a:pt x="348610" y="90646"/>
                        <a:pt x="340298" y="70521"/>
                      </a:cubicBezTo>
                      <a:lnTo>
                        <a:pt x="286398" y="124333"/>
                      </a:lnTo>
                      <a:close/>
                      <a:moveTo>
                        <a:pt x="63011" y="319633"/>
                      </a:moveTo>
                      <a:cubicBezTo>
                        <a:pt x="59861" y="322783"/>
                        <a:pt x="55835" y="324883"/>
                        <a:pt x="51548" y="325758"/>
                      </a:cubicBezTo>
                      <a:cubicBezTo>
                        <a:pt x="47173" y="326633"/>
                        <a:pt x="42710" y="326196"/>
                        <a:pt x="38598" y="324445"/>
                      </a:cubicBezTo>
                      <a:cubicBezTo>
                        <a:pt x="34486" y="322783"/>
                        <a:pt x="30986" y="319896"/>
                        <a:pt x="28536" y="316220"/>
                      </a:cubicBezTo>
                      <a:cubicBezTo>
                        <a:pt x="26086" y="312545"/>
                        <a:pt x="24773" y="308170"/>
                        <a:pt x="24773" y="303795"/>
                      </a:cubicBezTo>
                      <a:cubicBezTo>
                        <a:pt x="24773" y="299333"/>
                        <a:pt x="26086" y="295045"/>
                        <a:pt x="28536" y="291371"/>
                      </a:cubicBezTo>
                      <a:cubicBezTo>
                        <a:pt x="30986" y="287696"/>
                        <a:pt x="34486" y="284808"/>
                        <a:pt x="38598" y="283146"/>
                      </a:cubicBezTo>
                      <a:cubicBezTo>
                        <a:pt x="42710" y="281483"/>
                        <a:pt x="47173" y="281046"/>
                        <a:pt x="51548" y="281833"/>
                      </a:cubicBezTo>
                      <a:cubicBezTo>
                        <a:pt x="55923" y="282708"/>
                        <a:pt x="59861" y="284808"/>
                        <a:pt x="63011" y="287958"/>
                      </a:cubicBezTo>
                      <a:cubicBezTo>
                        <a:pt x="67211" y="292158"/>
                        <a:pt x="69573" y="297846"/>
                        <a:pt x="69573" y="303795"/>
                      </a:cubicBezTo>
                      <a:cubicBezTo>
                        <a:pt x="69573" y="309746"/>
                        <a:pt x="67211" y="315433"/>
                        <a:pt x="63011" y="31963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sp>
            <p:nvSpPr>
              <p:cNvPr id="62" name="Oval 61">
                <a:extLst>
                  <a:ext uri="{FF2B5EF4-FFF2-40B4-BE49-F238E27FC236}">
                    <a16:creationId xmlns:a16="http://schemas.microsoft.com/office/drawing/2014/main" id="{30DF6F31-B755-3869-C110-B44DF5F99FDB}"/>
                  </a:ext>
                </a:extLst>
              </p:cNvPr>
              <p:cNvSpPr>
                <a:spLocks/>
              </p:cNvSpPr>
              <p:nvPr/>
            </p:nvSpPr>
            <p:spPr bwMode="auto">
              <a:xfrm>
                <a:off x="10778606"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37" name="Group 36">
              <a:extLst>
                <a:ext uri="{FF2B5EF4-FFF2-40B4-BE49-F238E27FC236}">
                  <a16:creationId xmlns:a16="http://schemas.microsoft.com/office/drawing/2014/main" id="{D41B4C08-32CF-35DA-E2C4-A8C1E060F222}"/>
                </a:ext>
              </a:extLst>
            </p:cNvPr>
            <p:cNvGrpSpPr/>
            <p:nvPr/>
          </p:nvGrpSpPr>
          <p:grpSpPr>
            <a:xfrm>
              <a:off x="10126451" y="192765"/>
              <a:ext cx="548640" cy="548640"/>
              <a:chOff x="10126451" y="192765"/>
              <a:chExt cx="548640" cy="548640"/>
            </a:xfrm>
          </p:grpSpPr>
          <p:grpSp>
            <p:nvGrpSpPr>
              <p:cNvPr id="53" name="Group 52">
                <a:extLst>
                  <a:ext uri="{FF2B5EF4-FFF2-40B4-BE49-F238E27FC236}">
                    <a16:creationId xmlns:a16="http://schemas.microsoft.com/office/drawing/2014/main" id="{91425BCF-E371-CEB8-6EEC-C400A5FE4A97}"/>
                  </a:ext>
                </a:extLst>
              </p:cNvPr>
              <p:cNvGrpSpPr/>
              <p:nvPr/>
            </p:nvGrpSpPr>
            <p:grpSpPr>
              <a:xfrm>
                <a:off x="10126451" y="192765"/>
                <a:ext cx="548640" cy="548640"/>
                <a:chOff x="10753659" y="196490"/>
                <a:chExt cx="548640" cy="548640"/>
              </a:xfrm>
            </p:grpSpPr>
            <p:sp>
              <p:nvSpPr>
                <p:cNvPr id="58" name="Oval 57">
                  <a:extLst>
                    <a:ext uri="{FF2B5EF4-FFF2-40B4-BE49-F238E27FC236}">
                      <a16:creationId xmlns:a16="http://schemas.microsoft.com/office/drawing/2014/main" id="{112F93BA-F38D-AF9F-D8E7-700D50F2B827}"/>
                    </a:ext>
                  </a:extLst>
                </p:cNvPr>
                <p:cNvSpPr/>
                <p:nvPr/>
              </p:nvSpPr>
              <p:spPr bwMode="auto">
                <a:xfrm>
                  <a:off x="10753659"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9" name="Oval 58">
                  <a:extLst>
                    <a:ext uri="{FF2B5EF4-FFF2-40B4-BE49-F238E27FC236}">
                      <a16:creationId xmlns:a16="http://schemas.microsoft.com/office/drawing/2014/main" id="{E45A47BC-5AF2-125A-7F6E-4D2E59BD3197}"/>
                    </a:ext>
                  </a:extLst>
                </p:cNvPr>
                <p:cNvSpPr>
                  <a:spLocks/>
                </p:cNvSpPr>
                <p:nvPr/>
              </p:nvSpPr>
              <p:spPr bwMode="auto">
                <a:xfrm>
                  <a:off x="10779997"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4" name="Group 53">
                <a:extLst>
                  <a:ext uri="{FF2B5EF4-FFF2-40B4-BE49-F238E27FC236}">
                    <a16:creationId xmlns:a16="http://schemas.microsoft.com/office/drawing/2014/main" id="{AFDD69D2-E359-88F4-8FD4-3F46C1134F54}"/>
                  </a:ext>
                </a:extLst>
              </p:cNvPr>
              <p:cNvGrpSpPr/>
              <p:nvPr/>
            </p:nvGrpSpPr>
            <p:grpSpPr>
              <a:xfrm>
                <a:off x="10243674" y="318889"/>
                <a:ext cx="314209" cy="303840"/>
                <a:chOff x="3504064" y="4676412"/>
                <a:chExt cx="509193" cy="492392"/>
              </a:xfrm>
            </p:grpSpPr>
            <p:sp>
              <p:nvSpPr>
                <p:cNvPr id="55" name="Oval 54">
                  <a:extLst>
                    <a:ext uri="{FF2B5EF4-FFF2-40B4-BE49-F238E27FC236}">
                      <a16:creationId xmlns:a16="http://schemas.microsoft.com/office/drawing/2014/main" id="{2C759101-3F1A-4113-A37A-73FF08344C36}"/>
                    </a:ext>
                  </a:extLst>
                </p:cNvPr>
                <p:cNvSpPr/>
                <p:nvPr/>
              </p:nvSpPr>
              <p:spPr bwMode="auto">
                <a:xfrm>
                  <a:off x="3504064"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6" name="Oval 55">
                  <a:extLst>
                    <a:ext uri="{FF2B5EF4-FFF2-40B4-BE49-F238E27FC236}">
                      <a16:creationId xmlns:a16="http://schemas.microsoft.com/office/drawing/2014/main" id="{56D542F0-3B46-84F7-DA9B-93A3A2C603F1}"/>
                    </a:ext>
                  </a:extLst>
                </p:cNvPr>
                <p:cNvSpPr/>
                <p:nvPr/>
              </p:nvSpPr>
              <p:spPr bwMode="auto">
                <a:xfrm>
                  <a:off x="3671817"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7" name="Oval 56">
                  <a:extLst>
                    <a:ext uri="{FF2B5EF4-FFF2-40B4-BE49-F238E27FC236}">
                      <a16:creationId xmlns:a16="http://schemas.microsoft.com/office/drawing/2014/main" id="{6D644B07-817E-39C6-B1DF-6D8A823C7E20}"/>
                    </a:ext>
                  </a:extLst>
                </p:cNvPr>
                <p:cNvSpPr/>
                <p:nvPr/>
              </p:nvSpPr>
              <p:spPr bwMode="auto">
                <a:xfrm>
                  <a:off x="3587940" y="4676412"/>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grpSp>
          <p:nvGrpSpPr>
            <p:cNvPr id="38" name="Group 37">
              <a:extLst>
                <a:ext uri="{FF2B5EF4-FFF2-40B4-BE49-F238E27FC236}">
                  <a16:creationId xmlns:a16="http://schemas.microsoft.com/office/drawing/2014/main" id="{30152C25-133F-7199-376A-B290A3603094}"/>
                </a:ext>
              </a:extLst>
            </p:cNvPr>
            <p:cNvGrpSpPr/>
            <p:nvPr/>
          </p:nvGrpSpPr>
          <p:grpSpPr>
            <a:xfrm>
              <a:off x="11380867" y="196490"/>
              <a:ext cx="548640" cy="548640"/>
              <a:chOff x="11380867" y="196490"/>
              <a:chExt cx="548640" cy="548640"/>
            </a:xfrm>
          </p:grpSpPr>
          <p:sp>
            <p:nvSpPr>
              <p:cNvPr id="41" name="Oval 40">
                <a:extLst>
                  <a:ext uri="{FF2B5EF4-FFF2-40B4-BE49-F238E27FC236}">
                    <a16:creationId xmlns:a16="http://schemas.microsoft.com/office/drawing/2014/main" id="{E35F7406-BF70-554C-2EE8-93A49C57767B}"/>
                  </a:ext>
                </a:extLst>
              </p:cNvPr>
              <p:cNvSpPr/>
              <p:nvPr/>
            </p:nvSpPr>
            <p:spPr bwMode="auto">
              <a:xfrm>
                <a:off x="11380867" y="196490"/>
                <a:ext cx="548640" cy="548640"/>
              </a:xfrm>
              <a:prstGeom prst="ellipse">
                <a:avLst/>
              </a:prstGeom>
              <a:solidFill>
                <a:srgbClr val="1A2B46"/>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2" name="Oval 41">
                <a:extLst>
                  <a:ext uri="{FF2B5EF4-FFF2-40B4-BE49-F238E27FC236}">
                    <a16:creationId xmlns:a16="http://schemas.microsoft.com/office/drawing/2014/main" id="{623BED30-BD65-7374-4E09-7D12CA16F9DC}"/>
                  </a:ext>
                </a:extLst>
              </p:cNvPr>
              <p:cNvSpPr>
                <a:spLocks/>
              </p:cNvSpPr>
              <p:nvPr/>
            </p:nvSpPr>
            <p:spPr bwMode="auto">
              <a:xfrm>
                <a:off x="11407205"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43" name="Group 42">
                <a:extLst>
                  <a:ext uri="{FF2B5EF4-FFF2-40B4-BE49-F238E27FC236}">
                    <a16:creationId xmlns:a16="http://schemas.microsoft.com/office/drawing/2014/main" id="{36AAC8B3-1E0E-2CF2-00B8-21943AF48930}"/>
                  </a:ext>
                </a:extLst>
              </p:cNvPr>
              <p:cNvGrpSpPr/>
              <p:nvPr/>
            </p:nvGrpSpPr>
            <p:grpSpPr>
              <a:xfrm>
                <a:off x="11478807" y="317384"/>
                <a:ext cx="352760" cy="306952"/>
                <a:chOff x="10772223" y="7410567"/>
                <a:chExt cx="346174" cy="301219"/>
              </a:xfrm>
            </p:grpSpPr>
            <p:sp>
              <p:nvSpPr>
                <p:cNvPr id="44" name="Freeform: Shape 43">
                  <a:extLst>
                    <a:ext uri="{FF2B5EF4-FFF2-40B4-BE49-F238E27FC236}">
                      <a16:creationId xmlns:a16="http://schemas.microsoft.com/office/drawing/2014/main" id="{1DC8AE25-26EB-1527-8773-E198F22751DC}"/>
                    </a:ext>
                  </a:extLst>
                </p:cNvPr>
                <p:cNvSpPr/>
                <p:nvPr/>
              </p:nvSpPr>
              <p:spPr>
                <a:xfrm>
                  <a:off x="10840877" y="7661402"/>
                  <a:ext cx="236157" cy="47232"/>
                </a:xfrm>
                <a:custGeom>
                  <a:avLst/>
                  <a:gdLst>
                    <a:gd name="connsiteX0" fmla="*/ 121141 w 259772"/>
                    <a:gd name="connsiteY0" fmla="*/ 17145 h 51954"/>
                    <a:gd name="connsiteX1" fmla="*/ 267306 w 259772"/>
                    <a:gd name="connsiteY1" fmla="*/ 0 h 51954"/>
                    <a:gd name="connsiteX2" fmla="*/ 267306 w 259772"/>
                    <a:gd name="connsiteY2" fmla="*/ 25718 h 51954"/>
                    <a:gd name="connsiteX3" fmla="*/ 238039 w 259772"/>
                    <a:gd name="connsiteY3" fmla="*/ 60008 h 51954"/>
                    <a:gd name="connsiteX4" fmla="*/ 33424 w 259772"/>
                    <a:gd name="connsiteY4" fmla="*/ 60008 h 51954"/>
                    <a:gd name="connsiteX5" fmla="*/ 0 w 259772"/>
                    <a:gd name="connsiteY5" fmla="*/ 25718 h 51954"/>
                    <a:gd name="connsiteX6" fmla="*/ 0 w 259772"/>
                    <a:gd name="connsiteY6" fmla="*/ 4330 h 51954"/>
                    <a:gd name="connsiteX7" fmla="*/ 121141 w 259772"/>
                    <a:gd name="connsiteY7" fmla="*/ 17145 h 51954"/>
                    <a:gd name="connsiteX8" fmla="*/ 121141 w 259772"/>
                    <a:gd name="connsiteY8" fmla="*/ 17145 h 51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772" h="51954">
                      <a:moveTo>
                        <a:pt x="121141" y="17145"/>
                      </a:moveTo>
                      <a:cubicBezTo>
                        <a:pt x="175433" y="17145"/>
                        <a:pt x="225569" y="12902"/>
                        <a:pt x="267306" y="0"/>
                      </a:cubicBezTo>
                      <a:cubicBezTo>
                        <a:pt x="267306" y="8573"/>
                        <a:pt x="267306" y="17145"/>
                        <a:pt x="267306" y="25718"/>
                      </a:cubicBezTo>
                      <a:cubicBezTo>
                        <a:pt x="267306" y="42863"/>
                        <a:pt x="254751" y="60008"/>
                        <a:pt x="238039" y="60008"/>
                      </a:cubicBezTo>
                      <a:cubicBezTo>
                        <a:pt x="238039" y="60008"/>
                        <a:pt x="238039" y="60008"/>
                        <a:pt x="33424" y="60008"/>
                      </a:cubicBezTo>
                      <a:cubicBezTo>
                        <a:pt x="16712" y="60008"/>
                        <a:pt x="0" y="42863"/>
                        <a:pt x="0" y="25718"/>
                      </a:cubicBezTo>
                      <a:cubicBezTo>
                        <a:pt x="0" y="25718"/>
                        <a:pt x="0" y="25718"/>
                        <a:pt x="0" y="4330"/>
                      </a:cubicBezTo>
                      <a:cubicBezTo>
                        <a:pt x="37580" y="12815"/>
                        <a:pt x="79404" y="17145"/>
                        <a:pt x="121141" y="17145"/>
                      </a:cubicBezTo>
                      <a:lnTo>
                        <a:pt x="121141" y="17145"/>
                      </a:lnTo>
                      <a:close/>
                    </a:path>
                  </a:pathLst>
                </a:custGeom>
                <a:solidFill>
                  <a:schemeClr val="accent1"/>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nvGrpSpPr>
                <p:cNvPr id="45" name="Group 44">
                  <a:extLst>
                    <a:ext uri="{FF2B5EF4-FFF2-40B4-BE49-F238E27FC236}">
                      <a16:creationId xmlns:a16="http://schemas.microsoft.com/office/drawing/2014/main" id="{54CEFA8E-246D-01B3-0E67-D21AF2A77A38}"/>
                    </a:ext>
                  </a:extLst>
                </p:cNvPr>
                <p:cNvGrpSpPr/>
                <p:nvPr/>
              </p:nvGrpSpPr>
              <p:grpSpPr>
                <a:xfrm>
                  <a:off x="10772223" y="7410567"/>
                  <a:ext cx="346174" cy="301219"/>
                  <a:chOff x="10772223" y="1543167"/>
                  <a:chExt cx="346174" cy="301219"/>
                </a:xfrm>
              </p:grpSpPr>
              <p:sp>
                <p:nvSpPr>
                  <p:cNvPr id="46" name="Freeform: Shape 45">
                    <a:extLst>
                      <a:ext uri="{FF2B5EF4-FFF2-40B4-BE49-F238E27FC236}">
                        <a16:creationId xmlns:a16="http://schemas.microsoft.com/office/drawing/2014/main" id="{F64157F4-34AD-5CC5-E513-2A9978968A27}"/>
                      </a:ext>
                    </a:extLst>
                  </p:cNvPr>
                  <p:cNvSpPr/>
                  <p:nvPr/>
                </p:nvSpPr>
                <p:spPr>
                  <a:xfrm rot="13310739">
                    <a:off x="10772223" y="1543167"/>
                    <a:ext cx="346174" cy="301219"/>
                  </a:xfrm>
                  <a:custGeom>
                    <a:avLst/>
                    <a:gdLst>
                      <a:gd name="connsiteX0" fmla="*/ 335526 w 346174"/>
                      <a:gd name="connsiteY0" fmla="*/ 221002 h 301219"/>
                      <a:gd name="connsiteX1" fmla="*/ 256301 w 346174"/>
                      <a:gd name="connsiteY1" fmla="*/ 291951 h 301219"/>
                      <a:gd name="connsiteX2" fmla="*/ 228767 w 346174"/>
                      <a:gd name="connsiteY2" fmla="*/ 300970 h 301219"/>
                      <a:gd name="connsiteX3" fmla="*/ 144718 w 346174"/>
                      <a:gd name="connsiteY3" fmla="*/ 292547 h 301219"/>
                      <a:gd name="connsiteX4" fmla="*/ 112227 w 346174"/>
                      <a:gd name="connsiteY4" fmla="*/ 290366 h 301219"/>
                      <a:gd name="connsiteX5" fmla="*/ 104454 w 346174"/>
                      <a:gd name="connsiteY5" fmla="*/ 281687 h 301219"/>
                      <a:gd name="connsiteX6" fmla="*/ 0 w 346174"/>
                      <a:gd name="connsiteY6" fmla="*/ 165049 h 301219"/>
                      <a:gd name="connsiteX7" fmla="*/ 88589 w 346174"/>
                      <a:gd name="connsiteY7" fmla="*/ 64791 h 301219"/>
                      <a:gd name="connsiteX8" fmla="*/ 178400 w 346174"/>
                      <a:gd name="connsiteY8" fmla="*/ 0 h 301219"/>
                      <a:gd name="connsiteX9" fmla="*/ 295826 w 346174"/>
                      <a:gd name="connsiteY9" fmla="*/ 131123 h 301219"/>
                      <a:gd name="connsiteX10" fmla="*/ 311423 w 346174"/>
                      <a:gd name="connsiteY10" fmla="*/ 148540 h 301219"/>
                      <a:gd name="connsiteX11" fmla="*/ 329593 w 346174"/>
                      <a:gd name="connsiteY11" fmla="*/ 168830 h 301219"/>
                      <a:gd name="connsiteX12" fmla="*/ 339992 w 346174"/>
                      <a:gd name="connsiteY12" fmla="*/ 180441 h 301219"/>
                      <a:gd name="connsiteX13" fmla="*/ 335526 w 346174"/>
                      <a:gd name="connsiteY13" fmla="*/ 221002 h 30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174" h="301219">
                        <a:moveTo>
                          <a:pt x="335526" y="221002"/>
                        </a:moveTo>
                        <a:cubicBezTo>
                          <a:pt x="335526" y="221002"/>
                          <a:pt x="335526" y="221002"/>
                          <a:pt x="256301" y="291951"/>
                        </a:cubicBezTo>
                        <a:cubicBezTo>
                          <a:pt x="247857" y="299513"/>
                          <a:pt x="244983" y="302087"/>
                          <a:pt x="228767" y="300970"/>
                        </a:cubicBezTo>
                        <a:cubicBezTo>
                          <a:pt x="228767" y="300970"/>
                          <a:pt x="228767" y="300970"/>
                          <a:pt x="144718" y="292547"/>
                        </a:cubicBezTo>
                        <a:lnTo>
                          <a:pt x="112227" y="290366"/>
                        </a:lnTo>
                        <a:cubicBezTo>
                          <a:pt x="107027" y="284560"/>
                          <a:pt x="104454" y="281687"/>
                          <a:pt x="104454" y="281687"/>
                        </a:cubicBezTo>
                        <a:cubicBezTo>
                          <a:pt x="104454" y="281687"/>
                          <a:pt x="49365" y="220171"/>
                          <a:pt x="0" y="165049"/>
                        </a:cubicBezTo>
                        <a:cubicBezTo>
                          <a:pt x="17436" y="138972"/>
                          <a:pt x="46132" y="102813"/>
                          <a:pt x="88589" y="64791"/>
                        </a:cubicBezTo>
                        <a:cubicBezTo>
                          <a:pt x="119728" y="36905"/>
                          <a:pt x="150565" y="14466"/>
                          <a:pt x="178400" y="0"/>
                        </a:cubicBezTo>
                        <a:cubicBezTo>
                          <a:pt x="186172" y="8679"/>
                          <a:pt x="269831" y="102096"/>
                          <a:pt x="295826" y="131123"/>
                        </a:cubicBezTo>
                        <a:lnTo>
                          <a:pt x="311423" y="148540"/>
                        </a:lnTo>
                        <a:cubicBezTo>
                          <a:pt x="321821" y="160151"/>
                          <a:pt x="329593" y="168830"/>
                          <a:pt x="329593" y="168830"/>
                        </a:cubicBezTo>
                        <a:cubicBezTo>
                          <a:pt x="332219" y="171762"/>
                          <a:pt x="337419" y="177568"/>
                          <a:pt x="339992" y="180441"/>
                        </a:cubicBezTo>
                        <a:cubicBezTo>
                          <a:pt x="350390" y="192052"/>
                          <a:pt x="346844" y="210867"/>
                          <a:pt x="335526" y="221002"/>
                        </a:cubicBezTo>
                        <a:close/>
                      </a:path>
                    </a:pathLst>
                  </a:custGeom>
                  <a:solidFill>
                    <a:schemeClr val="accent1"/>
                  </a:solidFill>
                  <a:ln w="8603"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47" name="Freeform: Shape 46">
                    <a:extLst>
                      <a:ext uri="{FF2B5EF4-FFF2-40B4-BE49-F238E27FC236}">
                        <a16:creationId xmlns:a16="http://schemas.microsoft.com/office/drawing/2014/main" id="{F0ECE1A3-31F9-C0F3-B341-EC4A5C8A00C9}"/>
                      </a:ext>
                    </a:extLst>
                  </p:cNvPr>
                  <p:cNvSpPr/>
                  <p:nvPr/>
                </p:nvSpPr>
                <p:spPr>
                  <a:xfrm>
                    <a:off x="10892650" y="1664886"/>
                    <a:ext cx="141110" cy="110872"/>
                  </a:xfrm>
                  <a:custGeom>
                    <a:avLst/>
                    <a:gdLst>
                      <a:gd name="connsiteX0" fmla="*/ 106680 w 121227"/>
                      <a:gd name="connsiteY0" fmla="*/ 0 h 95250"/>
                      <a:gd name="connsiteX1" fmla="*/ 48751 w 121227"/>
                      <a:gd name="connsiteY1" fmla="*/ 64683 h 95250"/>
                      <a:gd name="connsiteX2" fmla="*/ 18271 w 121227"/>
                      <a:gd name="connsiteY2" fmla="*/ 35416 h 95250"/>
                      <a:gd name="connsiteX3" fmla="*/ 0 w 121227"/>
                      <a:gd name="connsiteY3" fmla="*/ 55418 h 95250"/>
                      <a:gd name="connsiteX4" fmla="*/ 48837 w 121227"/>
                      <a:gd name="connsiteY4" fmla="*/ 100013 h 95250"/>
                      <a:gd name="connsiteX5" fmla="*/ 125124 w 121227"/>
                      <a:gd name="connsiteY5" fmla="*/ 20003 h 95250"/>
                      <a:gd name="connsiteX6" fmla="*/ 106680 w 121227"/>
                      <a:gd name="connsiteY6" fmla="*/ 0 h 95250"/>
                      <a:gd name="connsiteX7" fmla="*/ 106680 w 121227"/>
                      <a:gd name="connsiteY7" fmla="*/ 0 h 95250"/>
                      <a:gd name="connsiteX8" fmla="*/ 106680 w 121227"/>
                      <a:gd name="connsiteY8"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227" h="95250">
                        <a:moveTo>
                          <a:pt x="106680" y="0"/>
                        </a:moveTo>
                        <a:cubicBezTo>
                          <a:pt x="106680" y="0"/>
                          <a:pt x="74641" y="35416"/>
                          <a:pt x="48751" y="64683"/>
                        </a:cubicBezTo>
                        <a:cubicBezTo>
                          <a:pt x="36541" y="53946"/>
                          <a:pt x="18271" y="35416"/>
                          <a:pt x="18271" y="35416"/>
                        </a:cubicBezTo>
                        <a:cubicBezTo>
                          <a:pt x="0" y="55418"/>
                          <a:pt x="0" y="55418"/>
                          <a:pt x="0" y="55418"/>
                        </a:cubicBezTo>
                        <a:cubicBezTo>
                          <a:pt x="48837" y="100013"/>
                          <a:pt x="48837" y="100013"/>
                          <a:pt x="48837" y="100013"/>
                        </a:cubicBezTo>
                        <a:cubicBezTo>
                          <a:pt x="125124" y="20003"/>
                          <a:pt x="125124" y="20003"/>
                          <a:pt x="125124" y="20003"/>
                        </a:cubicBezTo>
                        <a:cubicBezTo>
                          <a:pt x="106680" y="0"/>
                          <a:pt x="106680" y="0"/>
                          <a:pt x="106680" y="0"/>
                        </a:cubicBezTo>
                        <a:lnTo>
                          <a:pt x="106680" y="0"/>
                        </a:lnTo>
                        <a:lnTo>
                          <a:pt x="106680" y="0"/>
                        </a:lnTo>
                        <a:close/>
                      </a:path>
                    </a:pathLst>
                  </a:custGeom>
                  <a:solidFill>
                    <a:srgbClr val="50E6FF"/>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grpSp>
        </p:grpSp>
      </p:grpSp>
      <p:pic>
        <p:nvPicPr>
          <p:cNvPr id="84" name="Picture 83">
            <a:extLst>
              <a:ext uri="{FF2B5EF4-FFF2-40B4-BE49-F238E27FC236}">
                <a16:creationId xmlns:a16="http://schemas.microsoft.com/office/drawing/2014/main" id="{098A0395-A930-C000-DD4A-E8E1D74DA02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193100" y="2339163"/>
            <a:ext cx="5431486" cy="3490213"/>
          </a:xfrm>
          <a:prstGeom prst="rect">
            <a:avLst/>
          </a:prstGeom>
          <a:ln>
            <a:noFill/>
          </a:ln>
          <a:effectLst>
            <a:outerShdw blurRad="50800" dist="38100" dir="2700000" algn="tl" rotWithShape="0">
              <a:prstClr val="black">
                <a:alpha val="40000"/>
              </a:prstClr>
            </a:outerShdw>
          </a:effectLst>
        </p:spPr>
      </p:pic>
      <p:sp>
        <p:nvSpPr>
          <p:cNvPr id="22" name="Rectangle 21">
            <a:extLst>
              <a:ext uri="{FF2B5EF4-FFF2-40B4-BE49-F238E27FC236}">
                <a16:creationId xmlns:a16="http://schemas.microsoft.com/office/drawing/2014/main" id="{E8E38BB4-9DAD-4F2C-A006-9F4102432B27}"/>
              </a:ext>
            </a:extLst>
          </p:cNvPr>
          <p:cNvSpPr/>
          <p:nvPr/>
        </p:nvSpPr>
        <p:spPr bwMode="auto">
          <a:xfrm>
            <a:off x="6158449" y="4068827"/>
            <a:ext cx="5405812" cy="624588"/>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78102F24-9E55-4490-B46D-08B824E694AB}"/>
              </a:ext>
            </a:extLst>
          </p:cNvPr>
          <p:cNvSpPr/>
          <p:nvPr/>
        </p:nvSpPr>
        <p:spPr bwMode="auto">
          <a:xfrm>
            <a:off x="6158449" y="3536090"/>
            <a:ext cx="2929825" cy="487459"/>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3" name="TextBox 82">
            <a:extLst>
              <a:ext uri="{FF2B5EF4-FFF2-40B4-BE49-F238E27FC236}">
                <a16:creationId xmlns:a16="http://schemas.microsoft.com/office/drawing/2014/main" id="{A3D9A3AD-AFDA-8390-0BDE-5909A79190F4}"/>
              </a:ext>
            </a:extLst>
          </p:cNvPr>
          <p:cNvSpPr txBox="1"/>
          <p:nvPr/>
        </p:nvSpPr>
        <p:spPr>
          <a:xfrm>
            <a:off x="3021037" y="6320788"/>
            <a:ext cx="6197391"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58738" marR="0" lvl="0" indent="-58738"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ea typeface="+mn-ea"/>
                <a:cs typeface="+mn-cs"/>
              </a:rPr>
              <a:t>*</a:t>
            </a:r>
            <a:r>
              <a:rPr kumimoji="0" lang="en-US" sz="900" b="0" i="0" u="none" strike="noStrike" kern="1200" cap="none" spc="0" normalizeH="0" baseline="0" noProof="0" dirty="0">
                <a:ln>
                  <a:noFill/>
                </a:ln>
                <a:solidFill>
                  <a:srgbClr val="000000"/>
                </a:solidFill>
                <a:effectLst/>
                <a:uLnTx/>
                <a:uFillTx/>
                <a:ea typeface="+mn-ea"/>
                <a:cs typeface="+mn-cs"/>
              </a:rPr>
              <a:t>Recommend $1 since the terms, conditions, and pricing typically vary and are custom to each engagement. You should also include the exact phrase “</a:t>
            </a:r>
            <a:r>
              <a:rPr kumimoji="0" lang="en-US" sz="900" b="0" i="0" u="none" strike="noStrike" kern="1200" cap="none" spc="0" normalizeH="0" baseline="0" noProof="0" dirty="0">
                <a:ln>
                  <a:noFill/>
                </a:ln>
                <a:solidFill>
                  <a:prstClr val="black"/>
                </a:solidFill>
                <a:effectLst/>
                <a:uLnTx/>
                <a:uFillTx/>
                <a:ea typeface="+mn-ea"/>
                <a:cs typeface="Segoe UI" panose="020B0502040204020203" pitchFamily="34" charset="0"/>
              </a:rPr>
              <a:t>terms, conditions, and pricing are custom to each engagement” in the solution description.</a:t>
            </a:r>
            <a:endParaRPr kumimoji="0" lang="en-US" sz="900" b="0" i="0" u="none" strike="noStrike" kern="1200" cap="none" spc="0" normalizeH="0" baseline="0" noProof="0" dirty="0">
              <a:ln>
                <a:noFill/>
              </a:ln>
              <a:solidFill>
                <a:srgbClr val="000000"/>
              </a:solidFill>
              <a:effectLst/>
              <a:uLnTx/>
              <a:uFillTx/>
              <a:ea typeface="+mn-ea"/>
              <a:cs typeface="+mn-cs"/>
            </a:endParaRPr>
          </a:p>
        </p:txBody>
      </p:sp>
      <p:sp>
        <p:nvSpPr>
          <p:cNvPr id="3" name="Title 1">
            <a:extLst>
              <a:ext uri="{FF2B5EF4-FFF2-40B4-BE49-F238E27FC236}">
                <a16:creationId xmlns:a16="http://schemas.microsoft.com/office/drawing/2014/main" id="{CF911E8C-7CF9-5220-81A0-1E02C1C7C459}"/>
              </a:ext>
            </a:extLst>
          </p:cNvPr>
          <p:cNvSpPr txBox="1">
            <a:spLocks/>
          </p:cNvSpPr>
          <p:nvPr/>
        </p:nvSpPr>
        <p:spPr>
          <a:xfrm>
            <a:off x="15475" y="224772"/>
            <a:ext cx="2636285" cy="809669"/>
          </a:xfrm>
          <a:prstGeom prst="rect">
            <a:avLst/>
          </a:prstGeom>
        </p:spPr>
        <p:txBody>
          <a:bodyPr lIns="274320" tIns="182880"/>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0" normalizeH="0" baseline="0" noProof="0" dirty="0">
                <a:ln w="3175">
                  <a:noFill/>
                </a:ln>
                <a:solidFill>
                  <a:schemeClr val="tx2"/>
                </a:solidFill>
                <a:effectLst/>
                <a:uLnTx/>
                <a:uFillTx/>
                <a:ea typeface="+mn-ea"/>
                <a:cs typeface="Segoe UI" pitchFamily="34" charset="0"/>
              </a:rPr>
              <a:t>The commercial </a:t>
            </a:r>
            <a:r>
              <a:rPr lang="en-US" sz="1800" spc="0" dirty="0">
                <a:solidFill>
                  <a:schemeClr val="tx2"/>
                </a:solidFill>
              </a:rPr>
              <a:t>m</a:t>
            </a:r>
            <a:r>
              <a:rPr kumimoji="0" lang="en-US" sz="1800" b="0" i="0" u="none" strike="noStrike" kern="1200" cap="none" spc="0" normalizeH="0" baseline="0" noProof="0" dirty="0" err="1">
                <a:ln w="3175">
                  <a:noFill/>
                </a:ln>
                <a:solidFill>
                  <a:schemeClr val="tx2"/>
                </a:solidFill>
                <a:effectLst/>
                <a:uLnTx/>
                <a:uFillTx/>
                <a:ea typeface="+mn-ea"/>
                <a:cs typeface="Segoe UI" pitchFamily="34" charset="0"/>
              </a:rPr>
              <a:t>arketplace</a:t>
            </a:r>
            <a:endParaRPr kumimoji="0" lang="en-US" sz="1800" b="0" i="0" u="none" strike="noStrike" kern="1200" cap="none" spc="0" normalizeH="0" baseline="0" noProof="0" dirty="0">
              <a:ln w="3175">
                <a:noFill/>
              </a:ln>
              <a:solidFill>
                <a:schemeClr val="tx2"/>
              </a:solidFill>
              <a:effectLst/>
              <a:uLnTx/>
              <a:uFillTx/>
              <a:ea typeface="+mn-ea"/>
              <a:cs typeface="Segoe UI" pitchFamily="34" charset="0"/>
            </a:endParaRPr>
          </a:p>
        </p:txBody>
      </p:sp>
      <p:sp>
        <p:nvSpPr>
          <p:cNvPr id="4" name="Rectangle: Rounded Corners 3">
            <a:extLst>
              <a:ext uri="{FF2B5EF4-FFF2-40B4-BE49-F238E27FC236}">
                <a16:creationId xmlns:a16="http://schemas.microsoft.com/office/drawing/2014/main" id="{EBA1F922-C05C-EDF2-0AC6-6C0080178906}"/>
              </a:ext>
            </a:extLst>
          </p:cNvPr>
          <p:cNvSpPr/>
          <p:nvPr/>
        </p:nvSpPr>
        <p:spPr bwMode="auto">
          <a:xfrm>
            <a:off x="-279050" y="2684405"/>
            <a:ext cx="2651760" cy="365760"/>
          </a:xfrm>
          <a:prstGeom prst="roundRect">
            <a:avLst>
              <a:gd name="adj" fmla="val 50000"/>
            </a:avLst>
          </a:prstGeom>
          <a:solidFill>
            <a:srgbClr val="C73EC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0" rIns="9144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bg1"/>
              </a:solidFill>
              <a:effectLst/>
              <a:uLnTx/>
              <a:uFillTx/>
              <a:latin typeface="Segoe UI Semibold"/>
              <a:ea typeface="+mn-ea"/>
              <a:cs typeface="Segoe UI Semilight" panose="020B0402040204020203" pitchFamily="34" charset="0"/>
            </a:endParaRPr>
          </a:p>
        </p:txBody>
      </p:sp>
      <p:sp>
        <p:nvSpPr>
          <p:cNvPr id="5" name="Rectangle: Rounded Corners 4">
            <a:extLst>
              <a:ext uri="{FF2B5EF4-FFF2-40B4-BE49-F238E27FC236}">
                <a16:creationId xmlns:a16="http://schemas.microsoft.com/office/drawing/2014/main" id="{DE327FE6-D91E-A83C-6309-32D816E67849}"/>
              </a:ext>
            </a:extLst>
          </p:cNvPr>
          <p:cNvSpPr/>
          <p:nvPr/>
        </p:nvSpPr>
        <p:spPr bwMode="auto">
          <a:xfrm>
            <a:off x="0" y="180602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Setup</a:t>
            </a:r>
          </a:p>
        </p:txBody>
      </p:sp>
      <p:sp>
        <p:nvSpPr>
          <p:cNvPr id="6" name="Rectangle: Rounded Corners 5">
            <a:extLst>
              <a:ext uri="{FF2B5EF4-FFF2-40B4-BE49-F238E27FC236}">
                <a16:creationId xmlns:a16="http://schemas.microsoft.com/office/drawing/2014/main" id="{ABAB89C1-F0C0-0B6B-A01D-8A8A8FDF0C78}"/>
              </a:ext>
            </a:extLst>
          </p:cNvPr>
          <p:cNvSpPr/>
          <p:nvPr/>
        </p:nvSpPr>
        <p:spPr bwMode="auto">
          <a:xfrm>
            <a:off x="0" y="2245217"/>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Properties</a:t>
            </a:r>
          </a:p>
        </p:txBody>
      </p:sp>
      <p:sp>
        <p:nvSpPr>
          <p:cNvPr id="8" name="Rectangle: Rounded Corners 7">
            <a:extLst>
              <a:ext uri="{FF2B5EF4-FFF2-40B4-BE49-F238E27FC236}">
                <a16:creationId xmlns:a16="http://schemas.microsoft.com/office/drawing/2014/main" id="{AFE850AA-BFAA-0807-2583-3E2C7EF95EEA}"/>
              </a:ext>
            </a:extLst>
          </p:cNvPr>
          <p:cNvSpPr/>
          <p:nvPr/>
        </p:nvSpPr>
        <p:spPr bwMode="auto">
          <a:xfrm>
            <a:off x="0" y="2684406"/>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j-lt"/>
                <a:ea typeface="+mn-ea"/>
                <a:cs typeface="Segoe UI Semilight" panose="020B0402040204020203" pitchFamily="34" charset="0"/>
              </a:rPr>
              <a:t>Offer Listing</a:t>
            </a:r>
          </a:p>
        </p:txBody>
      </p:sp>
      <p:sp>
        <p:nvSpPr>
          <p:cNvPr id="9" name="Rectangle: Rounded Corners 8">
            <a:extLst>
              <a:ext uri="{FF2B5EF4-FFF2-40B4-BE49-F238E27FC236}">
                <a16:creationId xmlns:a16="http://schemas.microsoft.com/office/drawing/2014/main" id="{22B48596-BAA7-4ACE-BC0D-40690DBBE517}"/>
              </a:ext>
            </a:extLst>
          </p:cNvPr>
          <p:cNvSpPr/>
          <p:nvPr/>
        </p:nvSpPr>
        <p:spPr bwMode="auto">
          <a:xfrm>
            <a:off x="0" y="312359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Pricing and Availability</a:t>
            </a:r>
          </a:p>
        </p:txBody>
      </p:sp>
      <p:sp>
        <p:nvSpPr>
          <p:cNvPr id="10" name="Rectangle: Rounded Corners 9">
            <a:extLst>
              <a:ext uri="{FF2B5EF4-FFF2-40B4-BE49-F238E27FC236}">
                <a16:creationId xmlns:a16="http://schemas.microsoft.com/office/drawing/2014/main" id="{0FFD0BDF-8EE4-64BD-6FEB-5C3698299918}"/>
              </a:ext>
            </a:extLst>
          </p:cNvPr>
          <p:cNvSpPr/>
          <p:nvPr/>
        </p:nvSpPr>
        <p:spPr bwMode="auto">
          <a:xfrm>
            <a:off x="0" y="356278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2"/>
                </a:solidFill>
                <a:effectLst/>
                <a:uLnTx/>
                <a:uFillTx/>
                <a:latin typeface="+mj-lt"/>
                <a:ea typeface="+mn-ea"/>
                <a:cs typeface="Segoe UI Semilight" panose="020B0402040204020203" pitchFamily="34" charset="0"/>
              </a:rPr>
              <a:t>Co-sell with Microsoft </a:t>
            </a:r>
          </a:p>
        </p:txBody>
      </p:sp>
      <p:sp>
        <p:nvSpPr>
          <p:cNvPr id="11" name="Rectangle: Rounded Corners 10">
            <a:extLst>
              <a:ext uri="{FF2B5EF4-FFF2-40B4-BE49-F238E27FC236}">
                <a16:creationId xmlns:a16="http://schemas.microsoft.com/office/drawing/2014/main" id="{6CC7230E-C00A-F17C-3E51-575AEE772FE1}"/>
              </a:ext>
            </a:extLst>
          </p:cNvPr>
          <p:cNvSpPr/>
          <p:nvPr/>
        </p:nvSpPr>
        <p:spPr bwMode="auto">
          <a:xfrm>
            <a:off x="0" y="136683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Setup</a:t>
            </a:r>
          </a:p>
        </p:txBody>
      </p:sp>
      <p:cxnSp>
        <p:nvCxnSpPr>
          <p:cNvPr id="12" name="Straight Connector 11">
            <a:extLst>
              <a:ext uri="{FF2B5EF4-FFF2-40B4-BE49-F238E27FC236}">
                <a16:creationId xmlns:a16="http://schemas.microsoft.com/office/drawing/2014/main" id="{DBFD20D9-5CB7-3296-E7A5-15966BD3327A}"/>
              </a:ext>
            </a:extLst>
          </p:cNvPr>
          <p:cNvCxnSpPr/>
          <p:nvPr/>
        </p:nvCxnSpPr>
        <p:spPr>
          <a:xfrm>
            <a:off x="223520" y="1154149"/>
            <a:ext cx="2011680" cy="0"/>
          </a:xfrm>
          <a:prstGeom prst="line">
            <a:avLst/>
          </a:prstGeom>
          <a:noFill/>
          <a:ln w="25400" cap="rnd">
            <a:gradFill flip="none" rotWithShape="1">
              <a:gsLst>
                <a:gs pos="30000">
                  <a:srgbClr val="2DB4FF"/>
                </a:gs>
                <a:gs pos="35000">
                  <a:srgbClr val="2DB4FF"/>
                </a:gs>
                <a:gs pos="3000">
                  <a:srgbClr val="0078D4"/>
                </a:gs>
                <a:gs pos="52000">
                  <a:srgbClr val="818EFF"/>
                </a:gs>
                <a:gs pos="70000">
                  <a:srgbClr val="D660FF"/>
                </a:gs>
                <a:gs pos="97000">
                  <a:srgbClr val="FEA87A"/>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13" name="Slide Number Placeholder 12">
            <a:extLst>
              <a:ext uri="{FF2B5EF4-FFF2-40B4-BE49-F238E27FC236}">
                <a16:creationId xmlns:a16="http://schemas.microsoft.com/office/drawing/2014/main" id="{71A8BAE4-FCC8-73BA-FC2C-36184B81980D}"/>
              </a:ext>
            </a:extLst>
          </p:cNvPr>
          <p:cNvSpPr>
            <a:spLocks noGrp="1"/>
          </p:cNvSpPr>
          <p:nvPr>
            <p:ph type="sldNum" sz="quarter" idx="11"/>
          </p:nvPr>
        </p:nvSpPr>
        <p:spPr/>
        <p:txBody>
          <a:bodyPr/>
          <a:lstStyle/>
          <a:p>
            <a:fld id="{5763EE98-C176-4152-A50F-E68840BAFA00}" type="slidenum">
              <a:rPr lang="en-US" smtClean="0"/>
              <a:pPr/>
              <a:t>32</a:t>
            </a:fld>
            <a:endParaRPr lang="en-US"/>
          </a:p>
        </p:txBody>
      </p:sp>
    </p:spTree>
    <p:extLst>
      <p:ext uri="{BB962C8B-B14F-4D97-AF65-F5344CB8AC3E}">
        <p14:creationId xmlns:p14="http://schemas.microsoft.com/office/powerpoint/2010/main" val="625247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38">
            <a:extLst>
              <a:ext uri="{FF2B5EF4-FFF2-40B4-BE49-F238E27FC236}">
                <a16:creationId xmlns:a16="http://schemas.microsoft.com/office/drawing/2014/main" id="{EECDD5CF-2D0F-4F1B-A160-12C815F23DB5}"/>
              </a:ext>
            </a:extLst>
          </p:cNvPr>
          <p:cNvSpPr>
            <a:spLocks noGrp="1"/>
          </p:cNvSpPr>
          <p:nvPr>
            <p:ph type="title"/>
          </p:nvPr>
        </p:nvSpPr>
        <p:spPr/>
        <p:txBody>
          <a:bodyPr/>
          <a:lstStyle/>
          <a:p>
            <a:pPr lvl="0"/>
            <a:r>
              <a:rPr lang="en-US" noProof="0"/>
              <a:t>Microsoft 365 Copilot offer</a:t>
            </a:r>
          </a:p>
        </p:txBody>
      </p:sp>
      <p:sp>
        <p:nvSpPr>
          <p:cNvPr id="4" name="TextBox 3">
            <a:extLst>
              <a:ext uri="{FF2B5EF4-FFF2-40B4-BE49-F238E27FC236}">
                <a16:creationId xmlns:a16="http://schemas.microsoft.com/office/drawing/2014/main" id="{70DF1697-7243-4863-8273-AFF16CCE2406}"/>
              </a:ext>
            </a:extLst>
          </p:cNvPr>
          <p:cNvSpPr txBox="1"/>
          <p:nvPr/>
        </p:nvSpPr>
        <p:spPr>
          <a:xfrm>
            <a:off x="3020661" y="1322566"/>
            <a:ext cx="8588728" cy="64633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171717"/>
                </a:solidFill>
                <a:effectLst/>
                <a:uLnTx/>
                <a:uFillTx/>
                <a:ea typeface="+mn-ea"/>
                <a:cs typeface="+mn-cs"/>
              </a:rPr>
              <a:t>To let customers quickly identify offers of interest, </a:t>
            </a:r>
            <a:r>
              <a:rPr kumimoji="0" lang="en-US" sz="1400" b="1" i="0" u="none" strike="noStrike" kern="1200" cap="none" spc="0" normalizeH="0" baseline="0" noProof="0">
                <a:ln>
                  <a:noFill/>
                </a:ln>
                <a:solidFill>
                  <a:srgbClr val="171717"/>
                </a:solidFill>
                <a:effectLst/>
                <a:uLnTx/>
                <a:uFillTx/>
                <a:ea typeface="+mn-ea"/>
                <a:cs typeface="+mn-cs"/>
              </a:rPr>
              <a:t>your listing must clearly, concisely, and accurately convey the type of offer, the value proposition for your offer, and the requirements for its adoption.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171717"/>
              </a:solidFill>
              <a:effectLst/>
              <a:uLnTx/>
              <a:uFillTx/>
              <a:ea typeface="+mn-ea"/>
              <a:cs typeface="+mn-cs"/>
            </a:endParaRPr>
          </a:p>
        </p:txBody>
      </p:sp>
      <p:sp>
        <p:nvSpPr>
          <p:cNvPr id="20" name="TextBox 19">
            <a:extLst>
              <a:ext uri="{FF2B5EF4-FFF2-40B4-BE49-F238E27FC236}">
                <a16:creationId xmlns:a16="http://schemas.microsoft.com/office/drawing/2014/main" id="{C3F174DF-94C1-406C-A315-AB952EC94AE8}"/>
              </a:ext>
            </a:extLst>
          </p:cNvPr>
          <p:cNvSpPr txBox="1"/>
          <p:nvPr/>
        </p:nvSpPr>
        <p:spPr>
          <a:xfrm>
            <a:off x="3009899" y="1926059"/>
            <a:ext cx="3045533" cy="1077218"/>
          </a:xfrm>
          <a:prstGeom prst="rect">
            <a:avLst/>
          </a:prstGeom>
          <a:noFill/>
        </p:spPr>
        <p:txBody>
          <a:bodyPr wrap="square" lIns="0" tIns="0" rIns="0" bIns="0">
            <a:spAutoFit/>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startAt="3"/>
              <a:tabLst/>
              <a:defRPr/>
            </a:pPr>
            <a:r>
              <a:rPr kumimoji="0" lang="en-US" sz="1400" b="1" i="0" u="none" strike="noStrike" kern="1200" cap="none" spc="0" normalizeH="0" baseline="0" noProof="0">
                <a:ln>
                  <a:noFill/>
                </a:ln>
                <a:solidFill>
                  <a:srgbClr val="171717"/>
                </a:solidFill>
                <a:effectLst/>
                <a:uLnTx/>
                <a:uFillTx/>
                <a:ea typeface="+mn-ea"/>
                <a:cs typeface="+mn-cs"/>
              </a:rPr>
              <a:t>Search keywords: </a:t>
            </a:r>
            <a:r>
              <a:rPr kumimoji="0" lang="en-US" sz="1400" b="0" i="0" u="none" strike="noStrike" kern="1200" cap="none" spc="0" normalizeH="0" baseline="0" noProof="0">
                <a:ln>
                  <a:noFill/>
                </a:ln>
                <a:solidFill>
                  <a:srgbClr val="171717"/>
                </a:solidFill>
                <a:effectLst/>
                <a:uLnTx/>
                <a:uFillTx/>
                <a:ea typeface="+mn-ea"/>
                <a:cs typeface="+mn-cs"/>
              </a:rPr>
              <a:t>Add up to three keywords to help customers find your solutions</a:t>
            </a:r>
            <a:r>
              <a:rPr lang="en-US" sz="1400">
                <a:solidFill>
                  <a:srgbClr val="171717"/>
                </a:solidFill>
              </a:rPr>
              <a:t>;</a:t>
            </a:r>
            <a:r>
              <a:rPr kumimoji="0" lang="en-US" sz="1400" b="0" i="0" u="none" strike="noStrike" kern="1200" cap="none" spc="0" normalizeH="0" baseline="0" noProof="0">
                <a:ln>
                  <a:noFill/>
                </a:ln>
                <a:solidFill>
                  <a:srgbClr val="171717"/>
                </a:solidFill>
                <a:effectLst/>
                <a:uLnTx/>
                <a:uFillTx/>
                <a:ea typeface="+mn-ea"/>
                <a:cs typeface="+mn-cs"/>
              </a:rPr>
              <a:t> </a:t>
            </a:r>
            <a:r>
              <a:rPr lang="en-US" sz="1400">
                <a:solidFill>
                  <a:srgbClr val="171717"/>
                </a:solidFill>
              </a:rPr>
              <a:t>r</a:t>
            </a:r>
            <a:r>
              <a:rPr kumimoji="0" lang="en-US" sz="1400" b="0" i="0" u="none" strike="noStrike" kern="1200" cap="none" spc="0" normalizeH="0" baseline="0" noProof="0" err="1">
                <a:ln>
                  <a:noFill/>
                </a:ln>
                <a:solidFill>
                  <a:srgbClr val="171717"/>
                </a:solidFill>
                <a:effectLst/>
                <a:uLnTx/>
                <a:uFillTx/>
                <a:ea typeface="+mn-ea"/>
                <a:cs typeface="+mn-cs"/>
              </a:rPr>
              <a:t>efer</a:t>
            </a:r>
            <a:r>
              <a:rPr kumimoji="0" lang="en-US" sz="1400" b="0" i="0" u="none" strike="noStrike" kern="1200" cap="none" spc="0" normalizeH="0" baseline="0" noProof="0">
                <a:ln>
                  <a:noFill/>
                </a:ln>
                <a:solidFill>
                  <a:srgbClr val="171717"/>
                </a:solidFill>
                <a:effectLst/>
                <a:uLnTx/>
                <a:uFillTx/>
                <a:ea typeface="+mn-ea"/>
                <a:cs typeface="+mn-cs"/>
              </a:rPr>
              <a:t> to “Anatomy of the Offer” guidance (images linked below) for recommendations.</a:t>
            </a:r>
          </a:p>
        </p:txBody>
      </p:sp>
      <p:sp>
        <p:nvSpPr>
          <p:cNvPr id="23" name="TextBox 22">
            <a:extLst>
              <a:ext uri="{FF2B5EF4-FFF2-40B4-BE49-F238E27FC236}">
                <a16:creationId xmlns:a16="http://schemas.microsoft.com/office/drawing/2014/main" id="{A040D362-24ED-4B57-9D43-CA88F53B2D12}"/>
              </a:ext>
            </a:extLst>
          </p:cNvPr>
          <p:cNvSpPr txBox="1"/>
          <p:nvPr/>
        </p:nvSpPr>
        <p:spPr>
          <a:xfrm>
            <a:off x="3003233" y="4662986"/>
            <a:ext cx="2611172" cy="1508105"/>
          </a:xfrm>
          <a:prstGeom prst="rect">
            <a:avLst/>
          </a:prstGeom>
          <a:noFill/>
        </p:spPr>
        <p:txBody>
          <a:bodyPr wrap="square" lIns="0" tIns="0" rIns="0" bIns="0">
            <a:spAutoFit/>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startAt="4"/>
              <a:tabLst/>
              <a:defRPr/>
            </a:pPr>
            <a:r>
              <a:rPr kumimoji="0" lang="en-US" sz="1400" b="1" i="0" u="none" strike="noStrike" kern="1200" cap="none" spc="0" normalizeH="0" baseline="0" noProof="0">
                <a:ln>
                  <a:noFill/>
                </a:ln>
                <a:solidFill>
                  <a:srgbClr val="171717"/>
                </a:solidFill>
                <a:effectLst/>
                <a:uLnTx/>
                <a:uFillTx/>
                <a:ea typeface="+mn-ea"/>
                <a:cs typeface="+mn-cs"/>
              </a:rPr>
              <a:t>Duration:</a:t>
            </a:r>
            <a:r>
              <a:rPr kumimoji="0" lang="en-US" sz="1400" b="1" i="0" u="none" strike="noStrike" kern="1200" cap="none" spc="0" normalizeH="0" baseline="0" noProof="0">
                <a:ln>
                  <a:noFill/>
                </a:ln>
                <a:solidFill>
                  <a:srgbClr val="0078D4"/>
                </a:solidFill>
                <a:effectLst/>
                <a:uLnTx/>
                <a:uFillTx/>
                <a:ea typeface="+mn-ea"/>
                <a:cs typeface="+mn-cs"/>
              </a:rPr>
              <a:t>*</a:t>
            </a:r>
            <a:r>
              <a:rPr kumimoji="0" lang="en-US" sz="1400" b="0" i="0" u="none" strike="noStrike" kern="1200" cap="none" spc="0" normalizeH="0" baseline="0" noProof="0">
                <a:ln>
                  <a:noFill/>
                </a:ln>
                <a:solidFill>
                  <a:srgbClr val="171717"/>
                </a:solidFill>
                <a:effectLst/>
                <a:uLnTx/>
                <a:uFillTx/>
                <a:ea typeface="+mn-ea"/>
                <a:cs typeface="+mn-cs"/>
              </a:rPr>
              <a:t> Enter one month as the typical engagement cycle; although this is a required field on the Offer listing pane, it will not be visible to customers on the commercial marketplace.</a:t>
            </a:r>
          </a:p>
        </p:txBody>
      </p:sp>
      <p:sp>
        <p:nvSpPr>
          <p:cNvPr id="26" name="TextBox 25">
            <a:extLst>
              <a:ext uri="{FF2B5EF4-FFF2-40B4-BE49-F238E27FC236}">
                <a16:creationId xmlns:a16="http://schemas.microsoft.com/office/drawing/2014/main" id="{6C8B5B89-6DC2-4B35-B14F-FE389FBC18FA}"/>
              </a:ext>
            </a:extLst>
          </p:cNvPr>
          <p:cNvSpPr txBox="1"/>
          <p:nvPr/>
        </p:nvSpPr>
        <p:spPr>
          <a:xfrm>
            <a:off x="3009900" y="6276664"/>
            <a:ext cx="5076160" cy="276999"/>
          </a:xfrm>
          <a:prstGeom prst="rect">
            <a:avLst/>
          </a:prstGeom>
          <a:noFill/>
        </p:spPr>
        <p:txBody>
          <a:bodyPr wrap="square" lIns="0" tIns="0" rIns="0" bIns="0">
            <a:spAutoFit/>
          </a:bodyPr>
          <a:lstStyle/>
          <a:p>
            <a:pPr marL="58738" marR="0" lvl="0" indent="-58738"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dirty="0">
                <a:ln>
                  <a:noFill/>
                </a:ln>
                <a:solidFill>
                  <a:srgbClr val="0078D4"/>
                </a:solidFill>
                <a:effectLst/>
                <a:uLnTx/>
                <a:uFillTx/>
                <a:ea typeface="+mn-ea"/>
                <a:cs typeface="Segoe UI" panose="020B0502040204020203" pitchFamily="34" charset="0"/>
              </a:rPr>
              <a:t>*</a:t>
            </a:r>
            <a:r>
              <a:rPr kumimoji="0" lang="en-US" sz="900" b="0" i="0" u="none" strike="noStrike" kern="1200" cap="none" spc="0" normalizeH="0" baseline="0" noProof="0" dirty="0">
                <a:ln>
                  <a:noFill/>
                </a:ln>
                <a:solidFill>
                  <a:prstClr val="black"/>
                </a:solidFill>
                <a:effectLst/>
                <a:uLnTx/>
                <a:uFillTx/>
                <a:ea typeface="+mn-ea"/>
                <a:cs typeface="Segoe UI" panose="020B0502040204020203" pitchFamily="34" charset="0"/>
              </a:rPr>
              <a:t>If publishers include the following language verbatim in the </a:t>
            </a:r>
            <a:r>
              <a:rPr kumimoji="0" lang="en-US" sz="900" b="0" i="1" u="none" strike="noStrike" kern="1200" cap="none" spc="0" normalizeH="0" baseline="0" noProof="0" dirty="0">
                <a:ln>
                  <a:noFill/>
                </a:ln>
                <a:solidFill>
                  <a:prstClr val="black"/>
                </a:solidFill>
                <a:effectLst/>
                <a:uLnTx/>
                <a:uFillTx/>
                <a:ea typeface="+mn-ea"/>
                <a:cs typeface="Segoe UI" panose="020B0502040204020203" pitchFamily="34" charset="0"/>
              </a:rPr>
              <a:t>Description</a:t>
            </a:r>
            <a:r>
              <a:rPr kumimoji="0" lang="en-US" sz="900" b="0" i="0" u="none" strike="noStrike" kern="1200" cap="none" spc="0" normalizeH="0" baseline="0" noProof="0" dirty="0">
                <a:ln>
                  <a:noFill/>
                </a:ln>
                <a:solidFill>
                  <a:prstClr val="black"/>
                </a:solidFill>
                <a:effectLst/>
                <a:uLnTx/>
                <a:uFillTx/>
                <a:ea typeface="+mn-ea"/>
                <a:cs typeface="Segoe UI" panose="020B0502040204020203" pitchFamily="34" charset="0"/>
              </a:rPr>
              <a:t> field: “terms, conditions, and pricing are custom to each engagement”, they do </a:t>
            </a:r>
            <a:r>
              <a:rPr kumimoji="0" lang="en-US" sz="900" b="0" i="0" u="sng" strike="noStrike" kern="1200" cap="none" spc="0" normalizeH="0" baseline="0" noProof="0" dirty="0">
                <a:ln>
                  <a:noFill/>
                </a:ln>
                <a:solidFill>
                  <a:prstClr val="black"/>
                </a:solidFill>
                <a:effectLst/>
                <a:uLnTx/>
                <a:uFillTx/>
                <a:ea typeface="+mn-ea"/>
                <a:cs typeface="Segoe UI" panose="020B0502040204020203" pitchFamily="34" charset="0"/>
              </a:rPr>
              <a:t>not</a:t>
            </a:r>
            <a:r>
              <a:rPr kumimoji="0" lang="en-US" sz="900" b="0" i="0" u="none" strike="noStrike" kern="1200" cap="none" spc="0" normalizeH="0" baseline="0" noProof="0" dirty="0">
                <a:ln>
                  <a:noFill/>
                </a:ln>
                <a:solidFill>
                  <a:prstClr val="black"/>
                </a:solidFill>
                <a:effectLst/>
                <a:uLnTx/>
                <a:uFillTx/>
                <a:ea typeface="+mn-ea"/>
                <a:cs typeface="Segoe UI" panose="020B0502040204020203" pitchFamily="34" charset="0"/>
              </a:rPr>
              <a:t> need to include a </a:t>
            </a:r>
            <a:r>
              <a:rPr kumimoji="0" lang="en-US" sz="900" b="0" i="1" u="none" strike="noStrike" kern="1200" cap="none" spc="0" normalizeH="0" baseline="0" noProof="0" dirty="0">
                <a:ln>
                  <a:noFill/>
                </a:ln>
                <a:solidFill>
                  <a:prstClr val="black"/>
                </a:solidFill>
                <a:effectLst/>
                <a:uLnTx/>
                <a:uFillTx/>
                <a:ea typeface="+mn-ea"/>
                <a:cs typeface="Segoe UI" panose="020B0502040204020203" pitchFamily="34" charset="0"/>
              </a:rPr>
              <a:t>Duration</a:t>
            </a:r>
            <a:r>
              <a:rPr kumimoji="0" lang="en-US" sz="900" b="0" i="0" u="none" strike="noStrike" kern="1200" cap="none" spc="0" normalizeH="0" baseline="0" noProof="0" dirty="0">
                <a:ln>
                  <a:noFill/>
                </a:ln>
                <a:solidFill>
                  <a:prstClr val="black"/>
                </a:solidFill>
                <a:effectLst/>
                <a:uLnTx/>
                <a:uFillTx/>
                <a:ea typeface="+mn-ea"/>
                <a:cs typeface="Segoe UI" panose="020B0502040204020203" pitchFamily="34" charset="0"/>
              </a:rPr>
              <a:t> in the offer title.</a:t>
            </a:r>
          </a:p>
        </p:txBody>
      </p:sp>
      <p:pic>
        <p:nvPicPr>
          <p:cNvPr id="25" name="Picture 24">
            <a:extLst>
              <a:ext uri="{FF2B5EF4-FFF2-40B4-BE49-F238E27FC236}">
                <a16:creationId xmlns:a16="http://schemas.microsoft.com/office/drawing/2014/main" id="{86E411EA-1CD8-4AFD-9AA8-F2E966FA4F3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189014" y="2339163"/>
            <a:ext cx="5431486" cy="3490213"/>
          </a:xfrm>
          <a:prstGeom prst="rect">
            <a:avLst/>
          </a:prstGeom>
          <a:ln>
            <a:noFill/>
          </a:ln>
          <a:effectLst>
            <a:outerShdw blurRad="50800" dist="38100" dir="2700000" algn="tl" rotWithShape="0">
              <a:prstClr val="black">
                <a:alpha val="40000"/>
              </a:prstClr>
            </a:outerShdw>
          </a:effectLst>
        </p:spPr>
      </p:pic>
      <p:sp>
        <p:nvSpPr>
          <p:cNvPr id="22" name="Rectangle 21">
            <a:extLst>
              <a:ext uri="{FF2B5EF4-FFF2-40B4-BE49-F238E27FC236}">
                <a16:creationId xmlns:a16="http://schemas.microsoft.com/office/drawing/2014/main" id="{E8E38BB4-9DAD-4F2C-A006-9F4102432B27}"/>
              </a:ext>
            </a:extLst>
          </p:cNvPr>
          <p:cNvSpPr/>
          <p:nvPr/>
        </p:nvSpPr>
        <p:spPr bwMode="auto">
          <a:xfrm>
            <a:off x="6165215" y="5194289"/>
            <a:ext cx="3986224" cy="690832"/>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78102F24-9E55-4490-B46D-08B824E694AB}"/>
              </a:ext>
            </a:extLst>
          </p:cNvPr>
          <p:cNvSpPr/>
          <p:nvPr/>
        </p:nvSpPr>
        <p:spPr bwMode="auto">
          <a:xfrm>
            <a:off x="6156629" y="4746918"/>
            <a:ext cx="4137679" cy="400110"/>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Freeform: Shape 9">
            <a:extLst>
              <a:ext uri="{FF2B5EF4-FFF2-40B4-BE49-F238E27FC236}">
                <a16:creationId xmlns:a16="http://schemas.microsoft.com/office/drawing/2014/main" id="{2916ED10-1566-4656-9CD6-247837E2C00E}"/>
              </a:ext>
            </a:extLst>
          </p:cNvPr>
          <p:cNvSpPr/>
          <p:nvPr/>
        </p:nvSpPr>
        <p:spPr bwMode="auto">
          <a:xfrm>
            <a:off x="5518298" y="5237918"/>
            <a:ext cx="638331" cy="423520"/>
          </a:xfrm>
          <a:custGeom>
            <a:avLst/>
            <a:gdLst>
              <a:gd name="connsiteX0" fmla="*/ 0 w 800100"/>
              <a:gd name="connsiteY0" fmla="*/ 0 h 257175"/>
              <a:gd name="connsiteX1" fmla="*/ 328612 w 800100"/>
              <a:gd name="connsiteY1" fmla="*/ 0 h 257175"/>
              <a:gd name="connsiteX2" fmla="*/ 328612 w 800100"/>
              <a:gd name="connsiteY2" fmla="*/ 257175 h 257175"/>
              <a:gd name="connsiteX3" fmla="*/ 800100 w 800100"/>
              <a:gd name="connsiteY3" fmla="*/ 257175 h 257175"/>
            </a:gdLst>
            <a:ahLst/>
            <a:cxnLst>
              <a:cxn ang="0">
                <a:pos x="connsiteX0" y="connsiteY0"/>
              </a:cxn>
              <a:cxn ang="0">
                <a:pos x="connsiteX1" y="connsiteY1"/>
              </a:cxn>
              <a:cxn ang="0">
                <a:pos x="connsiteX2" y="connsiteY2"/>
              </a:cxn>
              <a:cxn ang="0">
                <a:pos x="connsiteX3" y="connsiteY3"/>
              </a:cxn>
            </a:cxnLst>
            <a:rect l="l" t="t" r="r" b="b"/>
            <a:pathLst>
              <a:path w="800100" h="257175">
                <a:moveTo>
                  <a:pt x="0" y="0"/>
                </a:moveTo>
                <a:lnTo>
                  <a:pt x="328612" y="0"/>
                </a:lnTo>
                <a:lnTo>
                  <a:pt x="328612" y="257175"/>
                </a:lnTo>
                <a:lnTo>
                  <a:pt x="800100" y="257175"/>
                </a:lnTo>
              </a:path>
            </a:pathLst>
          </a:custGeom>
          <a:noFill/>
          <a:ln w="22225" cap="rnd">
            <a:solidFill>
              <a:schemeClr val="tx2">
                <a:lumMod val="50000"/>
                <a:lumOff val="50000"/>
              </a:schemeClr>
            </a:solidFill>
            <a:prstDash val="sysDot"/>
            <a:headEnd type="none" w="med" len="med"/>
            <a:tailEnd type="triangle" w="lg" len="lg"/>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9" name="Freeform: Shape 8">
            <a:extLst>
              <a:ext uri="{FF2B5EF4-FFF2-40B4-BE49-F238E27FC236}">
                <a16:creationId xmlns:a16="http://schemas.microsoft.com/office/drawing/2014/main" id="{862EF770-F228-4696-88CE-225BC7369EF5}"/>
              </a:ext>
            </a:extLst>
          </p:cNvPr>
          <p:cNvSpPr/>
          <p:nvPr/>
        </p:nvSpPr>
        <p:spPr bwMode="auto">
          <a:xfrm>
            <a:off x="5770317" y="3050164"/>
            <a:ext cx="368211" cy="1991405"/>
          </a:xfrm>
          <a:custGeom>
            <a:avLst/>
            <a:gdLst>
              <a:gd name="connsiteX0" fmla="*/ 0 w 800100"/>
              <a:gd name="connsiteY0" fmla="*/ 0 h 257175"/>
              <a:gd name="connsiteX1" fmla="*/ 328612 w 800100"/>
              <a:gd name="connsiteY1" fmla="*/ 0 h 257175"/>
              <a:gd name="connsiteX2" fmla="*/ 328612 w 800100"/>
              <a:gd name="connsiteY2" fmla="*/ 257175 h 257175"/>
              <a:gd name="connsiteX3" fmla="*/ 800100 w 800100"/>
              <a:gd name="connsiteY3" fmla="*/ 257175 h 257175"/>
            </a:gdLst>
            <a:ahLst/>
            <a:cxnLst>
              <a:cxn ang="0">
                <a:pos x="connsiteX0" y="connsiteY0"/>
              </a:cxn>
              <a:cxn ang="0">
                <a:pos x="connsiteX1" y="connsiteY1"/>
              </a:cxn>
              <a:cxn ang="0">
                <a:pos x="connsiteX2" y="connsiteY2"/>
              </a:cxn>
              <a:cxn ang="0">
                <a:pos x="connsiteX3" y="connsiteY3"/>
              </a:cxn>
            </a:cxnLst>
            <a:rect l="l" t="t" r="r" b="b"/>
            <a:pathLst>
              <a:path w="800100" h="257175">
                <a:moveTo>
                  <a:pt x="0" y="0"/>
                </a:moveTo>
                <a:lnTo>
                  <a:pt x="328612" y="0"/>
                </a:lnTo>
                <a:lnTo>
                  <a:pt x="328612" y="257175"/>
                </a:lnTo>
                <a:lnTo>
                  <a:pt x="800100" y="257175"/>
                </a:lnTo>
              </a:path>
            </a:pathLst>
          </a:custGeom>
          <a:noFill/>
          <a:ln w="22225" cap="rnd">
            <a:solidFill>
              <a:schemeClr val="tx2">
                <a:lumMod val="50000"/>
                <a:lumOff val="50000"/>
              </a:schemeClr>
            </a:solidFill>
            <a:prstDash val="sysDot"/>
            <a:headEnd type="none" w="med" len="med"/>
            <a:tailEnd type="triangle" w="lg" len="lg"/>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8" name="Group 27">
            <a:extLst>
              <a:ext uri="{FF2B5EF4-FFF2-40B4-BE49-F238E27FC236}">
                <a16:creationId xmlns:a16="http://schemas.microsoft.com/office/drawing/2014/main" id="{24A64724-CCC6-5FAE-5FBA-331E1C19321C}"/>
              </a:ext>
            </a:extLst>
          </p:cNvPr>
          <p:cNvGrpSpPr/>
          <p:nvPr/>
        </p:nvGrpSpPr>
        <p:grpSpPr>
          <a:xfrm>
            <a:off x="9800681" y="299796"/>
            <a:ext cx="1803056" cy="552365"/>
            <a:chOff x="10126451" y="192765"/>
            <a:chExt cx="1803056" cy="552365"/>
          </a:xfrm>
        </p:grpSpPr>
        <p:grpSp>
          <p:nvGrpSpPr>
            <p:cNvPr id="35" name="Group 34">
              <a:extLst>
                <a:ext uri="{FF2B5EF4-FFF2-40B4-BE49-F238E27FC236}">
                  <a16:creationId xmlns:a16="http://schemas.microsoft.com/office/drawing/2014/main" id="{9B931F55-181E-8B80-4E7A-0550907A4960}"/>
                </a:ext>
              </a:extLst>
            </p:cNvPr>
            <p:cNvGrpSpPr/>
            <p:nvPr/>
          </p:nvGrpSpPr>
          <p:grpSpPr>
            <a:xfrm>
              <a:off x="10752268" y="196490"/>
              <a:ext cx="548640" cy="548640"/>
              <a:chOff x="10752268" y="196490"/>
              <a:chExt cx="548640" cy="548640"/>
            </a:xfrm>
          </p:grpSpPr>
          <p:sp>
            <p:nvSpPr>
              <p:cNvPr id="62" name="Oval 61">
                <a:extLst>
                  <a:ext uri="{FF2B5EF4-FFF2-40B4-BE49-F238E27FC236}">
                    <a16:creationId xmlns:a16="http://schemas.microsoft.com/office/drawing/2014/main" id="{4DF2CD43-80B7-C3A1-1052-571B6DF466F8}"/>
                  </a:ext>
                </a:extLst>
              </p:cNvPr>
              <p:cNvSpPr/>
              <p:nvPr/>
            </p:nvSpPr>
            <p:spPr bwMode="auto">
              <a:xfrm>
                <a:off x="10752268"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63" name="gear" descr="gear, wrench, engineer">
                <a:extLst>
                  <a:ext uri="{FF2B5EF4-FFF2-40B4-BE49-F238E27FC236}">
                    <a16:creationId xmlns:a16="http://schemas.microsoft.com/office/drawing/2014/main" id="{78B1EAE7-F76F-C3AA-F5E8-E4CB2653AC14}"/>
                  </a:ext>
                </a:extLst>
              </p:cNvPr>
              <p:cNvGrpSpPr/>
              <p:nvPr/>
            </p:nvGrpSpPr>
            <p:grpSpPr>
              <a:xfrm>
                <a:off x="10883844" y="326676"/>
                <a:ext cx="288269" cy="288268"/>
                <a:chOff x="3510968" y="2992337"/>
                <a:chExt cx="498751" cy="498751"/>
              </a:xfrm>
              <a:solidFill>
                <a:schemeClr val="bg1"/>
              </a:solidFill>
            </p:grpSpPr>
            <p:sp>
              <p:nvSpPr>
                <p:cNvPr id="66" name="Freeform: Shape 65">
                  <a:extLst>
                    <a:ext uri="{FF2B5EF4-FFF2-40B4-BE49-F238E27FC236}">
                      <a16:creationId xmlns:a16="http://schemas.microsoft.com/office/drawing/2014/main" id="{CF296EC3-5C97-E5A9-50E5-848A0DA8A8CF}"/>
                    </a:ext>
                  </a:extLst>
                </p:cNvPr>
                <p:cNvSpPr/>
                <p:nvPr/>
              </p:nvSpPr>
              <p:spPr>
                <a:xfrm>
                  <a:off x="3510968" y="2992337"/>
                  <a:ext cx="498751" cy="498751"/>
                </a:xfrm>
                <a:custGeom>
                  <a:avLst/>
                  <a:gdLst>
                    <a:gd name="connsiteX0" fmla="*/ 499635 w 498751"/>
                    <a:gd name="connsiteY0" fmla="*/ 277035 h 498751"/>
                    <a:gd name="connsiteX1" fmla="*/ 499635 w 498751"/>
                    <a:gd name="connsiteY1" fmla="*/ 224623 h 498751"/>
                    <a:gd name="connsiteX2" fmla="*/ 445560 w 498751"/>
                    <a:gd name="connsiteY2" fmla="*/ 224623 h 498751"/>
                    <a:gd name="connsiteX3" fmla="*/ 407060 w 498751"/>
                    <a:gd name="connsiteY3" fmla="*/ 131698 h 498751"/>
                    <a:gd name="connsiteX4" fmla="*/ 445298 w 498751"/>
                    <a:gd name="connsiteY4" fmla="*/ 93460 h 498751"/>
                    <a:gd name="connsiteX5" fmla="*/ 408285 w 498751"/>
                    <a:gd name="connsiteY5" fmla="*/ 56448 h 498751"/>
                    <a:gd name="connsiteX6" fmla="*/ 370048 w 498751"/>
                    <a:gd name="connsiteY6" fmla="*/ 94686 h 498751"/>
                    <a:gd name="connsiteX7" fmla="*/ 277123 w 498751"/>
                    <a:gd name="connsiteY7" fmla="*/ 56186 h 498751"/>
                    <a:gd name="connsiteX8" fmla="*/ 277123 w 498751"/>
                    <a:gd name="connsiteY8" fmla="*/ 2111 h 498751"/>
                    <a:gd name="connsiteX9" fmla="*/ 224710 w 498751"/>
                    <a:gd name="connsiteY9" fmla="*/ 2111 h 498751"/>
                    <a:gd name="connsiteX10" fmla="*/ 224710 w 498751"/>
                    <a:gd name="connsiteY10" fmla="*/ 56186 h 498751"/>
                    <a:gd name="connsiteX11" fmla="*/ 131785 w 498751"/>
                    <a:gd name="connsiteY11" fmla="*/ 94686 h 498751"/>
                    <a:gd name="connsiteX12" fmla="*/ 93548 w 498751"/>
                    <a:gd name="connsiteY12" fmla="*/ 56448 h 498751"/>
                    <a:gd name="connsiteX13" fmla="*/ 56536 w 498751"/>
                    <a:gd name="connsiteY13" fmla="*/ 93460 h 498751"/>
                    <a:gd name="connsiteX14" fmla="*/ 94773 w 498751"/>
                    <a:gd name="connsiteY14" fmla="*/ 131698 h 498751"/>
                    <a:gd name="connsiteX15" fmla="*/ 56273 w 498751"/>
                    <a:gd name="connsiteY15" fmla="*/ 224623 h 498751"/>
                    <a:gd name="connsiteX16" fmla="*/ 2111 w 498751"/>
                    <a:gd name="connsiteY16" fmla="*/ 224623 h 498751"/>
                    <a:gd name="connsiteX17" fmla="*/ 2111 w 498751"/>
                    <a:gd name="connsiteY17" fmla="*/ 277035 h 498751"/>
                    <a:gd name="connsiteX18" fmla="*/ 56186 w 498751"/>
                    <a:gd name="connsiteY18" fmla="*/ 277035 h 498751"/>
                    <a:gd name="connsiteX19" fmla="*/ 112010 w 498751"/>
                    <a:gd name="connsiteY19" fmla="*/ 389735 h 498751"/>
                    <a:gd name="connsiteX20" fmla="*/ 224710 w 498751"/>
                    <a:gd name="connsiteY20" fmla="*/ 445560 h 498751"/>
                    <a:gd name="connsiteX21" fmla="*/ 224710 w 498751"/>
                    <a:gd name="connsiteY21" fmla="*/ 499635 h 498751"/>
                    <a:gd name="connsiteX22" fmla="*/ 277123 w 498751"/>
                    <a:gd name="connsiteY22" fmla="*/ 499635 h 498751"/>
                    <a:gd name="connsiteX23" fmla="*/ 277123 w 498751"/>
                    <a:gd name="connsiteY23" fmla="*/ 445560 h 498751"/>
                    <a:gd name="connsiteX24" fmla="*/ 370048 w 498751"/>
                    <a:gd name="connsiteY24" fmla="*/ 407060 h 498751"/>
                    <a:gd name="connsiteX25" fmla="*/ 408285 w 498751"/>
                    <a:gd name="connsiteY25" fmla="*/ 445298 h 498751"/>
                    <a:gd name="connsiteX26" fmla="*/ 445298 w 498751"/>
                    <a:gd name="connsiteY26" fmla="*/ 408285 h 498751"/>
                    <a:gd name="connsiteX27" fmla="*/ 407060 w 498751"/>
                    <a:gd name="connsiteY27" fmla="*/ 370048 h 498751"/>
                    <a:gd name="connsiteX28" fmla="*/ 445560 w 498751"/>
                    <a:gd name="connsiteY28" fmla="*/ 277123 h 498751"/>
                    <a:gd name="connsiteX29" fmla="*/ 499635 w 498751"/>
                    <a:gd name="connsiteY29" fmla="*/ 277123 h 498751"/>
                    <a:gd name="connsiteX30" fmla="*/ 499635 w 498751"/>
                    <a:gd name="connsiteY30" fmla="*/ 277035 h 498751"/>
                    <a:gd name="connsiteX31" fmla="*/ 106848 w 498751"/>
                    <a:gd name="connsiteY31" fmla="*/ 250873 h 498751"/>
                    <a:gd name="connsiteX32" fmla="*/ 139573 w 498751"/>
                    <a:gd name="connsiteY32" fmla="*/ 159523 h 498751"/>
                    <a:gd name="connsiteX33" fmla="*/ 222786 w 498751"/>
                    <a:gd name="connsiteY33" fmla="*/ 109648 h 498751"/>
                    <a:gd name="connsiteX34" fmla="*/ 318773 w 498751"/>
                    <a:gd name="connsiteY34" fmla="*/ 123910 h 498751"/>
                    <a:gd name="connsiteX35" fmla="*/ 383960 w 498751"/>
                    <a:gd name="connsiteY35" fmla="*/ 195835 h 498751"/>
                    <a:gd name="connsiteX36" fmla="*/ 388685 w 498751"/>
                    <a:gd name="connsiteY36" fmla="*/ 292785 h 498751"/>
                    <a:gd name="connsiteX37" fmla="*/ 330848 w 498751"/>
                    <a:gd name="connsiteY37" fmla="*/ 370748 h 498751"/>
                    <a:gd name="connsiteX38" fmla="*/ 236698 w 498751"/>
                    <a:gd name="connsiteY38" fmla="*/ 394285 h 498751"/>
                    <a:gd name="connsiteX39" fmla="*/ 148936 w 498751"/>
                    <a:gd name="connsiteY39" fmla="*/ 352810 h 498751"/>
                    <a:gd name="connsiteX40" fmla="*/ 117610 w 498751"/>
                    <a:gd name="connsiteY40" fmla="*/ 306085 h 498751"/>
                    <a:gd name="connsiteX41" fmla="*/ 106848 w 498751"/>
                    <a:gd name="connsiteY41" fmla="*/ 250873 h 498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98751" h="498751">
                      <a:moveTo>
                        <a:pt x="499635" y="277035"/>
                      </a:moveTo>
                      <a:lnTo>
                        <a:pt x="499635" y="224623"/>
                      </a:lnTo>
                      <a:lnTo>
                        <a:pt x="445560" y="224623"/>
                      </a:lnTo>
                      <a:cubicBezTo>
                        <a:pt x="441098" y="190848"/>
                        <a:pt x="427798" y="158823"/>
                        <a:pt x="407060" y="131698"/>
                      </a:cubicBezTo>
                      <a:lnTo>
                        <a:pt x="445298" y="93460"/>
                      </a:lnTo>
                      <a:lnTo>
                        <a:pt x="408285" y="56448"/>
                      </a:lnTo>
                      <a:lnTo>
                        <a:pt x="370048" y="94686"/>
                      </a:lnTo>
                      <a:cubicBezTo>
                        <a:pt x="342923" y="73948"/>
                        <a:pt x="310898" y="60648"/>
                        <a:pt x="277123" y="56186"/>
                      </a:cubicBezTo>
                      <a:lnTo>
                        <a:pt x="277123" y="2111"/>
                      </a:lnTo>
                      <a:lnTo>
                        <a:pt x="224710" y="2111"/>
                      </a:lnTo>
                      <a:lnTo>
                        <a:pt x="224710" y="56186"/>
                      </a:lnTo>
                      <a:cubicBezTo>
                        <a:pt x="190935" y="60648"/>
                        <a:pt x="158911" y="73948"/>
                        <a:pt x="131785" y="94686"/>
                      </a:cubicBezTo>
                      <a:lnTo>
                        <a:pt x="93548" y="56448"/>
                      </a:lnTo>
                      <a:lnTo>
                        <a:pt x="56536" y="93460"/>
                      </a:lnTo>
                      <a:lnTo>
                        <a:pt x="94773" y="131698"/>
                      </a:lnTo>
                      <a:cubicBezTo>
                        <a:pt x="74036" y="158823"/>
                        <a:pt x="60736" y="190848"/>
                        <a:pt x="56273" y="224623"/>
                      </a:cubicBezTo>
                      <a:lnTo>
                        <a:pt x="2111" y="224623"/>
                      </a:lnTo>
                      <a:lnTo>
                        <a:pt x="2111" y="277035"/>
                      </a:lnTo>
                      <a:lnTo>
                        <a:pt x="56186" y="277035"/>
                      </a:lnTo>
                      <a:cubicBezTo>
                        <a:pt x="61961" y="319648"/>
                        <a:pt x="81561" y="359285"/>
                        <a:pt x="112010" y="389735"/>
                      </a:cubicBezTo>
                      <a:cubicBezTo>
                        <a:pt x="142461" y="420185"/>
                        <a:pt x="182011" y="439785"/>
                        <a:pt x="224710" y="445560"/>
                      </a:cubicBezTo>
                      <a:lnTo>
                        <a:pt x="224710" y="499635"/>
                      </a:lnTo>
                      <a:lnTo>
                        <a:pt x="277123" y="499635"/>
                      </a:lnTo>
                      <a:lnTo>
                        <a:pt x="277123" y="445560"/>
                      </a:lnTo>
                      <a:cubicBezTo>
                        <a:pt x="310898" y="441098"/>
                        <a:pt x="342923" y="427798"/>
                        <a:pt x="370048" y="407060"/>
                      </a:cubicBezTo>
                      <a:lnTo>
                        <a:pt x="408285" y="445298"/>
                      </a:lnTo>
                      <a:lnTo>
                        <a:pt x="445298" y="408285"/>
                      </a:lnTo>
                      <a:lnTo>
                        <a:pt x="407060" y="370048"/>
                      </a:lnTo>
                      <a:cubicBezTo>
                        <a:pt x="427798" y="342923"/>
                        <a:pt x="441098" y="310898"/>
                        <a:pt x="445560" y="277123"/>
                      </a:cubicBezTo>
                      <a:lnTo>
                        <a:pt x="499635" y="277123"/>
                      </a:lnTo>
                      <a:lnTo>
                        <a:pt x="499635" y="277035"/>
                      </a:lnTo>
                      <a:close/>
                      <a:moveTo>
                        <a:pt x="106848" y="250873"/>
                      </a:moveTo>
                      <a:cubicBezTo>
                        <a:pt x="106848" y="217535"/>
                        <a:pt x="118398" y="185248"/>
                        <a:pt x="139573" y="159523"/>
                      </a:cubicBezTo>
                      <a:cubicBezTo>
                        <a:pt x="160748" y="133798"/>
                        <a:pt x="190148" y="116123"/>
                        <a:pt x="222786" y="109648"/>
                      </a:cubicBezTo>
                      <a:cubicBezTo>
                        <a:pt x="255423" y="103173"/>
                        <a:pt x="289373" y="108161"/>
                        <a:pt x="318773" y="123910"/>
                      </a:cubicBezTo>
                      <a:cubicBezTo>
                        <a:pt x="348173" y="139573"/>
                        <a:pt x="371185" y="165035"/>
                        <a:pt x="383960" y="195835"/>
                      </a:cubicBezTo>
                      <a:cubicBezTo>
                        <a:pt x="396735" y="226635"/>
                        <a:pt x="398397" y="260848"/>
                        <a:pt x="388685" y="292785"/>
                      </a:cubicBezTo>
                      <a:cubicBezTo>
                        <a:pt x="378973" y="324635"/>
                        <a:pt x="358585" y="352197"/>
                        <a:pt x="330848" y="370748"/>
                      </a:cubicBezTo>
                      <a:cubicBezTo>
                        <a:pt x="303110" y="389298"/>
                        <a:pt x="269860" y="397610"/>
                        <a:pt x="236698" y="394285"/>
                      </a:cubicBezTo>
                      <a:cubicBezTo>
                        <a:pt x="203535" y="391048"/>
                        <a:pt x="172560" y="376347"/>
                        <a:pt x="148936" y="352810"/>
                      </a:cubicBezTo>
                      <a:cubicBezTo>
                        <a:pt x="135548" y="339510"/>
                        <a:pt x="124873" y="323585"/>
                        <a:pt x="117610" y="306085"/>
                      </a:cubicBezTo>
                      <a:cubicBezTo>
                        <a:pt x="110523" y="288498"/>
                        <a:pt x="106761" y="269773"/>
                        <a:pt x="106848" y="25087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67" name="Freeform: Shape 66">
                  <a:extLst>
                    <a:ext uri="{FF2B5EF4-FFF2-40B4-BE49-F238E27FC236}">
                      <a16:creationId xmlns:a16="http://schemas.microsoft.com/office/drawing/2014/main" id="{6D2A9A28-16C7-F69B-5F32-D84E6B43B7F1}"/>
                    </a:ext>
                  </a:extLst>
                </p:cNvPr>
                <p:cNvSpPr/>
                <p:nvPr/>
              </p:nvSpPr>
              <p:spPr>
                <a:xfrm>
                  <a:off x="3525494" y="3127375"/>
                  <a:ext cx="348087" cy="348087"/>
                </a:xfrm>
                <a:custGeom>
                  <a:avLst/>
                  <a:gdLst>
                    <a:gd name="connsiteX0" fmla="*/ 286398 w 348086"/>
                    <a:gd name="connsiteY0" fmla="*/ 124333 h 348086"/>
                    <a:gd name="connsiteX1" fmla="*/ 226548 w 348086"/>
                    <a:gd name="connsiteY1" fmla="*/ 64483 h 348086"/>
                    <a:gd name="connsiteX2" fmla="*/ 280448 w 348086"/>
                    <a:gd name="connsiteY2" fmla="*/ 10583 h 348086"/>
                    <a:gd name="connsiteX3" fmla="*/ 216923 w 348086"/>
                    <a:gd name="connsiteY3" fmla="*/ 4108 h 348086"/>
                    <a:gd name="connsiteX4" fmla="*/ 160310 w 348086"/>
                    <a:gd name="connsiteY4" fmla="*/ 33683 h 348086"/>
                    <a:gd name="connsiteX5" fmla="*/ 129335 w 348086"/>
                    <a:gd name="connsiteY5" fmla="*/ 89508 h 348086"/>
                    <a:gd name="connsiteX6" fmla="*/ 134235 w 348086"/>
                    <a:gd name="connsiteY6" fmla="*/ 153121 h 348086"/>
                    <a:gd name="connsiteX7" fmla="*/ 15236 w 348086"/>
                    <a:gd name="connsiteY7" fmla="*/ 272121 h 348086"/>
                    <a:gd name="connsiteX8" fmla="*/ 2111 w 348086"/>
                    <a:gd name="connsiteY8" fmla="*/ 303883 h 348086"/>
                    <a:gd name="connsiteX9" fmla="*/ 15236 w 348086"/>
                    <a:gd name="connsiteY9" fmla="*/ 335645 h 348086"/>
                    <a:gd name="connsiteX10" fmla="*/ 46998 w 348086"/>
                    <a:gd name="connsiteY10" fmla="*/ 348770 h 348086"/>
                    <a:gd name="connsiteX11" fmla="*/ 78760 w 348086"/>
                    <a:gd name="connsiteY11" fmla="*/ 335645 h 348086"/>
                    <a:gd name="connsiteX12" fmla="*/ 197760 w 348086"/>
                    <a:gd name="connsiteY12" fmla="*/ 216645 h 348086"/>
                    <a:gd name="connsiteX13" fmla="*/ 261373 w 348086"/>
                    <a:gd name="connsiteY13" fmla="*/ 221546 h 348086"/>
                    <a:gd name="connsiteX14" fmla="*/ 317198 w 348086"/>
                    <a:gd name="connsiteY14" fmla="*/ 190571 h 348086"/>
                    <a:gd name="connsiteX15" fmla="*/ 346773 w 348086"/>
                    <a:gd name="connsiteY15" fmla="*/ 134045 h 348086"/>
                    <a:gd name="connsiteX16" fmla="*/ 340298 w 348086"/>
                    <a:gd name="connsiteY16" fmla="*/ 70521 h 348086"/>
                    <a:gd name="connsiteX17" fmla="*/ 286398 w 348086"/>
                    <a:gd name="connsiteY17" fmla="*/ 124333 h 348086"/>
                    <a:gd name="connsiteX18" fmla="*/ 63011 w 348086"/>
                    <a:gd name="connsiteY18" fmla="*/ 319633 h 348086"/>
                    <a:gd name="connsiteX19" fmla="*/ 51548 w 348086"/>
                    <a:gd name="connsiteY19" fmla="*/ 325758 h 348086"/>
                    <a:gd name="connsiteX20" fmla="*/ 38598 w 348086"/>
                    <a:gd name="connsiteY20" fmla="*/ 324445 h 348086"/>
                    <a:gd name="connsiteX21" fmla="*/ 28536 w 348086"/>
                    <a:gd name="connsiteY21" fmla="*/ 316220 h 348086"/>
                    <a:gd name="connsiteX22" fmla="*/ 24773 w 348086"/>
                    <a:gd name="connsiteY22" fmla="*/ 303795 h 348086"/>
                    <a:gd name="connsiteX23" fmla="*/ 28536 w 348086"/>
                    <a:gd name="connsiteY23" fmla="*/ 291371 h 348086"/>
                    <a:gd name="connsiteX24" fmla="*/ 38598 w 348086"/>
                    <a:gd name="connsiteY24" fmla="*/ 283146 h 348086"/>
                    <a:gd name="connsiteX25" fmla="*/ 51548 w 348086"/>
                    <a:gd name="connsiteY25" fmla="*/ 281833 h 348086"/>
                    <a:gd name="connsiteX26" fmla="*/ 63011 w 348086"/>
                    <a:gd name="connsiteY26" fmla="*/ 287958 h 348086"/>
                    <a:gd name="connsiteX27" fmla="*/ 69573 w 348086"/>
                    <a:gd name="connsiteY27" fmla="*/ 303795 h 348086"/>
                    <a:gd name="connsiteX28" fmla="*/ 63011 w 348086"/>
                    <a:gd name="connsiteY28" fmla="*/ 319633 h 348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48086" h="348086">
                      <a:moveTo>
                        <a:pt x="286398" y="124333"/>
                      </a:moveTo>
                      <a:lnTo>
                        <a:pt x="226548" y="64483"/>
                      </a:lnTo>
                      <a:lnTo>
                        <a:pt x="280448" y="10583"/>
                      </a:lnTo>
                      <a:cubicBezTo>
                        <a:pt x="260410" y="2271"/>
                        <a:pt x="238273" y="-4"/>
                        <a:pt x="216923" y="4108"/>
                      </a:cubicBezTo>
                      <a:cubicBezTo>
                        <a:pt x="195573" y="8221"/>
                        <a:pt x="175885" y="18458"/>
                        <a:pt x="160310" y="33683"/>
                      </a:cubicBezTo>
                      <a:cubicBezTo>
                        <a:pt x="144735" y="48821"/>
                        <a:pt x="133973" y="68246"/>
                        <a:pt x="129335" y="89508"/>
                      </a:cubicBezTo>
                      <a:cubicBezTo>
                        <a:pt x="124698" y="110771"/>
                        <a:pt x="126448" y="132908"/>
                        <a:pt x="134235" y="153121"/>
                      </a:cubicBezTo>
                      <a:lnTo>
                        <a:pt x="15236" y="272121"/>
                      </a:lnTo>
                      <a:cubicBezTo>
                        <a:pt x="6836" y="280520"/>
                        <a:pt x="2111" y="291983"/>
                        <a:pt x="2111" y="303883"/>
                      </a:cubicBezTo>
                      <a:cubicBezTo>
                        <a:pt x="2111" y="315783"/>
                        <a:pt x="6836" y="327158"/>
                        <a:pt x="15236" y="335645"/>
                      </a:cubicBezTo>
                      <a:cubicBezTo>
                        <a:pt x="23636" y="344046"/>
                        <a:pt x="35098" y="348770"/>
                        <a:pt x="46998" y="348770"/>
                      </a:cubicBezTo>
                      <a:cubicBezTo>
                        <a:pt x="58898" y="348770"/>
                        <a:pt x="70273" y="344046"/>
                        <a:pt x="78760" y="335645"/>
                      </a:cubicBezTo>
                      <a:lnTo>
                        <a:pt x="197760" y="216645"/>
                      </a:lnTo>
                      <a:cubicBezTo>
                        <a:pt x="218060" y="224520"/>
                        <a:pt x="240110" y="226183"/>
                        <a:pt x="261373" y="221546"/>
                      </a:cubicBezTo>
                      <a:cubicBezTo>
                        <a:pt x="282635" y="216908"/>
                        <a:pt x="301973" y="206146"/>
                        <a:pt x="317198" y="190571"/>
                      </a:cubicBezTo>
                      <a:cubicBezTo>
                        <a:pt x="332335" y="174996"/>
                        <a:pt x="342660" y="155308"/>
                        <a:pt x="346773" y="134045"/>
                      </a:cubicBezTo>
                      <a:cubicBezTo>
                        <a:pt x="350885" y="112696"/>
                        <a:pt x="348610" y="90646"/>
                        <a:pt x="340298" y="70521"/>
                      </a:cubicBezTo>
                      <a:lnTo>
                        <a:pt x="286398" y="124333"/>
                      </a:lnTo>
                      <a:close/>
                      <a:moveTo>
                        <a:pt x="63011" y="319633"/>
                      </a:moveTo>
                      <a:cubicBezTo>
                        <a:pt x="59861" y="322783"/>
                        <a:pt x="55835" y="324883"/>
                        <a:pt x="51548" y="325758"/>
                      </a:cubicBezTo>
                      <a:cubicBezTo>
                        <a:pt x="47173" y="326633"/>
                        <a:pt x="42710" y="326196"/>
                        <a:pt x="38598" y="324445"/>
                      </a:cubicBezTo>
                      <a:cubicBezTo>
                        <a:pt x="34486" y="322783"/>
                        <a:pt x="30986" y="319896"/>
                        <a:pt x="28536" y="316220"/>
                      </a:cubicBezTo>
                      <a:cubicBezTo>
                        <a:pt x="26086" y="312545"/>
                        <a:pt x="24773" y="308170"/>
                        <a:pt x="24773" y="303795"/>
                      </a:cubicBezTo>
                      <a:cubicBezTo>
                        <a:pt x="24773" y="299333"/>
                        <a:pt x="26086" y="295045"/>
                        <a:pt x="28536" y="291371"/>
                      </a:cubicBezTo>
                      <a:cubicBezTo>
                        <a:pt x="30986" y="287696"/>
                        <a:pt x="34486" y="284808"/>
                        <a:pt x="38598" y="283146"/>
                      </a:cubicBezTo>
                      <a:cubicBezTo>
                        <a:pt x="42710" y="281483"/>
                        <a:pt x="47173" y="281046"/>
                        <a:pt x="51548" y="281833"/>
                      </a:cubicBezTo>
                      <a:cubicBezTo>
                        <a:pt x="55923" y="282708"/>
                        <a:pt x="59861" y="284808"/>
                        <a:pt x="63011" y="287958"/>
                      </a:cubicBezTo>
                      <a:cubicBezTo>
                        <a:pt x="67211" y="292158"/>
                        <a:pt x="69573" y="297846"/>
                        <a:pt x="69573" y="303795"/>
                      </a:cubicBezTo>
                      <a:cubicBezTo>
                        <a:pt x="69573" y="309746"/>
                        <a:pt x="67211" y="315433"/>
                        <a:pt x="63011" y="31963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sp>
            <p:nvSpPr>
              <p:cNvPr id="65" name="Oval 64">
                <a:extLst>
                  <a:ext uri="{FF2B5EF4-FFF2-40B4-BE49-F238E27FC236}">
                    <a16:creationId xmlns:a16="http://schemas.microsoft.com/office/drawing/2014/main" id="{620CDD6D-7A6E-3227-014F-8DF1487ADED3}"/>
                  </a:ext>
                </a:extLst>
              </p:cNvPr>
              <p:cNvSpPr>
                <a:spLocks/>
              </p:cNvSpPr>
              <p:nvPr/>
            </p:nvSpPr>
            <p:spPr bwMode="auto">
              <a:xfrm>
                <a:off x="10778606"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37" name="Group 36">
              <a:extLst>
                <a:ext uri="{FF2B5EF4-FFF2-40B4-BE49-F238E27FC236}">
                  <a16:creationId xmlns:a16="http://schemas.microsoft.com/office/drawing/2014/main" id="{D0AA5F4D-C967-E305-A7D4-89148DF78118}"/>
                </a:ext>
              </a:extLst>
            </p:cNvPr>
            <p:cNvGrpSpPr/>
            <p:nvPr/>
          </p:nvGrpSpPr>
          <p:grpSpPr>
            <a:xfrm>
              <a:off x="10126451" y="192765"/>
              <a:ext cx="548640" cy="548640"/>
              <a:chOff x="10126451" y="192765"/>
              <a:chExt cx="548640" cy="548640"/>
            </a:xfrm>
          </p:grpSpPr>
          <p:grpSp>
            <p:nvGrpSpPr>
              <p:cNvPr id="48" name="Group 47">
                <a:extLst>
                  <a:ext uri="{FF2B5EF4-FFF2-40B4-BE49-F238E27FC236}">
                    <a16:creationId xmlns:a16="http://schemas.microsoft.com/office/drawing/2014/main" id="{48FCCF3D-B77F-3EEF-537D-80863361A97E}"/>
                  </a:ext>
                </a:extLst>
              </p:cNvPr>
              <p:cNvGrpSpPr/>
              <p:nvPr/>
            </p:nvGrpSpPr>
            <p:grpSpPr>
              <a:xfrm>
                <a:off x="10126451" y="192765"/>
                <a:ext cx="548640" cy="548640"/>
                <a:chOff x="10753659" y="196490"/>
                <a:chExt cx="548640" cy="548640"/>
              </a:xfrm>
            </p:grpSpPr>
            <p:sp>
              <p:nvSpPr>
                <p:cNvPr id="60" name="Oval 59">
                  <a:extLst>
                    <a:ext uri="{FF2B5EF4-FFF2-40B4-BE49-F238E27FC236}">
                      <a16:creationId xmlns:a16="http://schemas.microsoft.com/office/drawing/2014/main" id="{65268882-3630-AF54-7AE3-94A93924443C}"/>
                    </a:ext>
                  </a:extLst>
                </p:cNvPr>
                <p:cNvSpPr/>
                <p:nvPr/>
              </p:nvSpPr>
              <p:spPr bwMode="auto">
                <a:xfrm>
                  <a:off x="10753659"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1" name="Oval 60">
                  <a:extLst>
                    <a:ext uri="{FF2B5EF4-FFF2-40B4-BE49-F238E27FC236}">
                      <a16:creationId xmlns:a16="http://schemas.microsoft.com/office/drawing/2014/main" id="{BA220044-368D-7DFA-BD25-EEE1D1267F15}"/>
                    </a:ext>
                  </a:extLst>
                </p:cNvPr>
                <p:cNvSpPr>
                  <a:spLocks/>
                </p:cNvSpPr>
                <p:nvPr/>
              </p:nvSpPr>
              <p:spPr bwMode="auto">
                <a:xfrm>
                  <a:off x="10779997"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6" name="Group 55">
                <a:extLst>
                  <a:ext uri="{FF2B5EF4-FFF2-40B4-BE49-F238E27FC236}">
                    <a16:creationId xmlns:a16="http://schemas.microsoft.com/office/drawing/2014/main" id="{1F68101B-4F53-B1F9-E609-01A6686419FB}"/>
                  </a:ext>
                </a:extLst>
              </p:cNvPr>
              <p:cNvGrpSpPr/>
              <p:nvPr/>
            </p:nvGrpSpPr>
            <p:grpSpPr>
              <a:xfrm>
                <a:off x="10243674" y="318889"/>
                <a:ext cx="314209" cy="303840"/>
                <a:chOff x="3504064" y="4676412"/>
                <a:chExt cx="509193" cy="492392"/>
              </a:xfrm>
            </p:grpSpPr>
            <p:sp>
              <p:nvSpPr>
                <p:cNvPr id="57" name="Oval 56">
                  <a:extLst>
                    <a:ext uri="{FF2B5EF4-FFF2-40B4-BE49-F238E27FC236}">
                      <a16:creationId xmlns:a16="http://schemas.microsoft.com/office/drawing/2014/main" id="{B66CF5DC-30A2-8B27-FFFD-26806BED4698}"/>
                    </a:ext>
                  </a:extLst>
                </p:cNvPr>
                <p:cNvSpPr/>
                <p:nvPr/>
              </p:nvSpPr>
              <p:spPr bwMode="auto">
                <a:xfrm>
                  <a:off x="3504064"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8" name="Oval 57">
                  <a:extLst>
                    <a:ext uri="{FF2B5EF4-FFF2-40B4-BE49-F238E27FC236}">
                      <a16:creationId xmlns:a16="http://schemas.microsoft.com/office/drawing/2014/main" id="{31992689-B84E-B456-377C-13BC0139F726}"/>
                    </a:ext>
                  </a:extLst>
                </p:cNvPr>
                <p:cNvSpPr/>
                <p:nvPr/>
              </p:nvSpPr>
              <p:spPr bwMode="auto">
                <a:xfrm>
                  <a:off x="3671817"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9" name="Oval 58">
                  <a:extLst>
                    <a:ext uri="{FF2B5EF4-FFF2-40B4-BE49-F238E27FC236}">
                      <a16:creationId xmlns:a16="http://schemas.microsoft.com/office/drawing/2014/main" id="{1DC42ACD-4EFD-7990-D53D-44CE25BDF372}"/>
                    </a:ext>
                  </a:extLst>
                </p:cNvPr>
                <p:cNvSpPr/>
                <p:nvPr/>
              </p:nvSpPr>
              <p:spPr bwMode="auto">
                <a:xfrm>
                  <a:off x="3587940" y="4676412"/>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grpSp>
          <p:nvGrpSpPr>
            <p:cNvPr id="40" name="Group 39">
              <a:extLst>
                <a:ext uri="{FF2B5EF4-FFF2-40B4-BE49-F238E27FC236}">
                  <a16:creationId xmlns:a16="http://schemas.microsoft.com/office/drawing/2014/main" id="{8A2A2B91-3188-1344-9A58-87540FF39246}"/>
                </a:ext>
              </a:extLst>
            </p:cNvPr>
            <p:cNvGrpSpPr/>
            <p:nvPr/>
          </p:nvGrpSpPr>
          <p:grpSpPr>
            <a:xfrm>
              <a:off x="11380867" y="196490"/>
              <a:ext cx="548640" cy="548640"/>
              <a:chOff x="11380867" y="196490"/>
              <a:chExt cx="548640" cy="548640"/>
            </a:xfrm>
          </p:grpSpPr>
          <p:sp>
            <p:nvSpPr>
              <p:cNvPr id="41" name="Oval 40">
                <a:extLst>
                  <a:ext uri="{FF2B5EF4-FFF2-40B4-BE49-F238E27FC236}">
                    <a16:creationId xmlns:a16="http://schemas.microsoft.com/office/drawing/2014/main" id="{25DE4A76-902C-51E9-2F18-FD1B0DA3F1CA}"/>
                  </a:ext>
                </a:extLst>
              </p:cNvPr>
              <p:cNvSpPr/>
              <p:nvPr/>
            </p:nvSpPr>
            <p:spPr bwMode="auto">
              <a:xfrm>
                <a:off x="11380867" y="196490"/>
                <a:ext cx="548640" cy="548640"/>
              </a:xfrm>
              <a:prstGeom prst="ellipse">
                <a:avLst/>
              </a:prstGeom>
              <a:solidFill>
                <a:srgbClr val="1A2B46"/>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2" name="Oval 41">
                <a:extLst>
                  <a:ext uri="{FF2B5EF4-FFF2-40B4-BE49-F238E27FC236}">
                    <a16:creationId xmlns:a16="http://schemas.microsoft.com/office/drawing/2014/main" id="{1E0826C0-DAA3-391A-6B2F-230648694229}"/>
                  </a:ext>
                </a:extLst>
              </p:cNvPr>
              <p:cNvSpPr>
                <a:spLocks/>
              </p:cNvSpPr>
              <p:nvPr/>
            </p:nvSpPr>
            <p:spPr bwMode="auto">
              <a:xfrm>
                <a:off x="11407205"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43" name="Group 42">
                <a:extLst>
                  <a:ext uri="{FF2B5EF4-FFF2-40B4-BE49-F238E27FC236}">
                    <a16:creationId xmlns:a16="http://schemas.microsoft.com/office/drawing/2014/main" id="{39C257D8-61B9-DBE1-0160-6E8E8C602256}"/>
                  </a:ext>
                </a:extLst>
              </p:cNvPr>
              <p:cNvGrpSpPr/>
              <p:nvPr/>
            </p:nvGrpSpPr>
            <p:grpSpPr>
              <a:xfrm>
                <a:off x="11478807" y="317384"/>
                <a:ext cx="352760" cy="306952"/>
                <a:chOff x="10772223" y="7410567"/>
                <a:chExt cx="346174" cy="301219"/>
              </a:xfrm>
            </p:grpSpPr>
            <p:sp>
              <p:nvSpPr>
                <p:cNvPr id="44" name="Freeform: Shape 43">
                  <a:extLst>
                    <a:ext uri="{FF2B5EF4-FFF2-40B4-BE49-F238E27FC236}">
                      <a16:creationId xmlns:a16="http://schemas.microsoft.com/office/drawing/2014/main" id="{FC45A3B4-8A99-802C-A49B-BB4A3DCBBB59}"/>
                    </a:ext>
                  </a:extLst>
                </p:cNvPr>
                <p:cNvSpPr/>
                <p:nvPr/>
              </p:nvSpPr>
              <p:spPr>
                <a:xfrm>
                  <a:off x="10840877" y="7661402"/>
                  <a:ext cx="236157" cy="47232"/>
                </a:xfrm>
                <a:custGeom>
                  <a:avLst/>
                  <a:gdLst>
                    <a:gd name="connsiteX0" fmla="*/ 121141 w 259772"/>
                    <a:gd name="connsiteY0" fmla="*/ 17145 h 51954"/>
                    <a:gd name="connsiteX1" fmla="*/ 267306 w 259772"/>
                    <a:gd name="connsiteY1" fmla="*/ 0 h 51954"/>
                    <a:gd name="connsiteX2" fmla="*/ 267306 w 259772"/>
                    <a:gd name="connsiteY2" fmla="*/ 25718 h 51954"/>
                    <a:gd name="connsiteX3" fmla="*/ 238039 w 259772"/>
                    <a:gd name="connsiteY3" fmla="*/ 60008 h 51954"/>
                    <a:gd name="connsiteX4" fmla="*/ 33424 w 259772"/>
                    <a:gd name="connsiteY4" fmla="*/ 60008 h 51954"/>
                    <a:gd name="connsiteX5" fmla="*/ 0 w 259772"/>
                    <a:gd name="connsiteY5" fmla="*/ 25718 h 51954"/>
                    <a:gd name="connsiteX6" fmla="*/ 0 w 259772"/>
                    <a:gd name="connsiteY6" fmla="*/ 4330 h 51954"/>
                    <a:gd name="connsiteX7" fmla="*/ 121141 w 259772"/>
                    <a:gd name="connsiteY7" fmla="*/ 17145 h 51954"/>
                    <a:gd name="connsiteX8" fmla="*/ 121141 w 259772"/>
                    <a:gd name="connsiteY8" fmla="*/ 17145 h 51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772" h="51954">
                      <a:moveTo>
                        <a:pt x="121141" y="17145"/>
                      </a:moveTo>
                      <a:cubicBezTo>
                        <a:pt x="175433" y="17145"/>
                        <a:pt x="225569" y="12902"/>
                        <a:pt x="267306" y="0"/>
                      </a:cubicBezTo>
                      <a:cubicBezTo>
                        <a:pt x="267306" y="8573"/>
                        <a:pt x="267306" y="17145"/>
                        <a:pt x="267306" y="25718"/>
                      </a:cubicBezTo>
                      <a:cubicBezTo>
                        <a:pt x="267306" y="42863"/>
                        <a:pt x="254751" y="60008"/>
                        <a:pt x="238039" y="60008"/>
                      </a:cubicBezTo>
                      <a:cubicBezTo>
                        <a:pt x="238039" y="60008"/>
                        <a:pt x="238039" y="60008"/>
                        <a:pt x="33424" y="60008"/>
                      </a:cubicBezTo>
                      <a:cubicBezTo>
                        <a:pt x="16712" y="60008"/>
                        <a:pt x="0" y="42863"/>
                        <a:pt x="0" y="25718"/>
                      </a:cubicBezTo>
                      <a:cubicBezTo>
                        <a:pt x="0" y="25718"/>
                        <a:pt x="0" y="25718"/>
                        <a:pt x="0" y="4330"/>
                      </a:cubicBezTo>
                      <a:cubicBezTo>
                        <a:pt x="37580" y="12815"/>
                        <a:pt x="79404" y="17145"/>
                        <a:pt x="121141" y="17145"/>
                      </a:cubicBezTo>
                      <a:lnTo>
                        <a:pt x="121141" y="17145"/>
                      </a:lnTo>
                      <a:close/>
                    </a:path>
                  </a:pathLst>
                </a:custGeom>
                <a:solidFill>
                  <a:schemeClr val="accent1"/>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nvGrpSpPr>
                <p:cNvPr id="45" name="Group 44">
                  <a:extLst>
                    <a:ext uri="{FF2B5EF4-FFF2-40B4-BE49-F238E27FC236}">
                      <a16:creationId xmlns:a16="http://schemas.microsoft.com/office/drawing/2014/main" id="{404F6DE0-FD75-9989-E282-64868E17452A}"/>
                    </a:ext>
                  </a:extLst>
                </p:cNvPr>
                <p:cNvGrpSpPr/>
                <p:nvPr/>
              </p:nvGrpSpPr>
              <p:grpSpPr>
                <a:xfrm>
                  <a:off x="10772223" y="7410567"/>
                  <a:ext cx="346174" cy="301219"/>
                  <a:chOff x="10772223" y="1543167"/>
                  <a:chExt cx="346174" cy="301219"/>
                </a:xfrm>
              </p:grpSpPr>
              <p:sp>
                <p:nvSpPr>
                  <p:cNvPr id="46" name="Freeform: Shape 45">
                    <a:extLst>
                      <a:ext uri="{FF2B5EF4-FFF2-40B4-BE49-F238E27FC236}">
                        <a16:creationId xmlns:a16="http://schemas.microsoft.com/office/drawing/2014/main" id="{9BDE37F1-AD4F-F2A8-0AAF-707938F18EE5}"/>
                      </a:ext>
                    </a:extLst>
                  </p:cNvPr>
                  <p:cNvSpPr/>
                  <p:nvPr/>
                </p:nvSpPr>
                <p:spPr>
                  <a:xfrm rot="13310739">
                    <a:off x="10772223" y="1543167"/>
                    <a:ext cx="346174" cy="301219"/>
                  </a:xfrm>
                  <a:custGeom>
                    <a:avLst/>
                    <a:gdLst>
                      <a:gd name="connsiteX0" fmla="*/ 335526 w 346174"/>
                      <a:gd name="connsiteY0" fmla="*/ 221002 h 301219"/>
                      <a:gd name="connsiteX1" fmla="*/ 256301 w 346174"/>
                      <a:gd name="connsiteY1" fmla="*/ 291951 h 301219"/>
                      <a:gd name="connsiteX2" fmla="*/ 228767 w 346174"/>
                      <a:gd name="connsiteY2" fmla="*/ 300970 h 301219"/>
                      <a:gd name="connsiteX3" fmla="*/ 144718 w 346174"/>
                      <a:gd name="connsiteY3" fmla="*/ 292547 h 301219"/>
                      <a:gd name="connsiteX4" fmla="*/ 112227 w 346174"/>
                      <a:gd name="connsiteY4" fmla="*/ 290366 h 301219"/>
                      <a:gd name="connsiteX5" fmla="*/ 104454 w 346174"/>
                      <a:gd name="connsiteY5" fmla="*/ 281687 h 301219"/>
                      <a:gd name="connsiteX6" fmla="*/ 0 w 346174"/>
                      <a:gd name="connsiteY6" fmla="*/ 165049 h 301219"/>
                      <a:gd name="connsiteX7" fmla="*/ 88589 w 346174"/>
                      <a:gd name="connsiteY7" fmla="*/ 64791 h 301219"/>
                      <a:gd name="connsiteX8" fmla="*/ 178400 w 346174"/>
                      <a:gd name="connsiteY8" fmla="*/ 0 h 301219"/>
                      <a:gd name="connsiteX9" fmla="*/ 295826 w 346174"/>
                      <a:gd name="connsiteY9" fmla="*/ 131123 h 301219"/>
                      <a:gd name="connsiteX10" fmla="*/ 311423 w 346174"/>
                      <a:gd name="connsiteY10" fmla="*/ 148540 h 301219"/>
                      <a:gd name="connsiteX11" fmla="*/ 329593 w 346174"/>
                      <a:gd name="connsiteY11" fmla="*/ 168830 h 301219"/>
                      <a:gd name="connsiteX12" fmla="*/ 339992 w 346174"/>
                      <a:gd name="connsiteY12" fmla="*/ 180441 h 301219"/>
                      <a:gd name="connsiteX13" fmla="*/ 335526 w 346174"/>
                      <a:gd name="connsiteY13" fmla="*/ 221002 h 30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174" h="301219">
                        <a:moveTo>
                          <a:pt x="335526" y="221002"/>
                        </a:moveTo>
                        <a:cubicBezTo>
                          <a:pt x="335526" y="221002"/>
                          <a:pt x="335526" y="221002"/>
                          <a:pt x="256301" y="291951"/>
                        </a:cubicBezTo>
                        <a:cubicBezTo>
                          <a:pt x="247857" y="299513"/>
                          <a:pt x="244983" y="302087"/>
                          <a:pt x="228767" y="300970"/>
                        </a:cubicBezTo>
                        <a:cubicBezTo>
                          <a:pt x="228767" y="300970"/>
                          <a:pt x="228767" y="300970"/>
                          <a:pt x="144718" y="292547"/>
                        </a:cubicBezTo>
                        <a:lnTo>
                          <a:pt x="112227" y="290366"/>
                        </a:lnTo>
                        <a:cubicBezTo>
                          <a:pt x="107027" y="284560"/>
                          <a:pt x="104454" y="281687"/>
                          <a:pt x="104454" y="281687"/>
                        </a:cubicBezTo>
                        <a:cubicBezTo>
                          <a:pt x="104454" y="281687"/>
                          <a:pt x="49365" y="220171"/>
                          <a:pt x="0" y="165049"/>
                        </a:cubicBezTo>
                        <a:cubicBezTo>
                          <a:pt x="17436" y="138972"/>
                          <a:pt x="46132" y="102813"/>
                          <a:pt x="88589" y="64791"/>
                        </a:cubicBezTo>
                        <a:cubicBezTo>
                          <a:pt x="119728" y="36905"/>
                          <a:pt x="150565" y="14466"/>
                          <a:pt x="178400" y="0"/>
                        </a:cubicBezTo>
                        <a:cubicBezTo>
                          <a:pt x="186172" y="8679"/>
                          <a:pt x="269831" y="102096"/>
                          <a:pt x="295826" y="131123"/>
                        </a:cubicBezTo>
                        <a:lnTo>
                          <a:pt x="311423" y="148540"/>
                        </a:lnTo>
                        <a:cubicBezTo>
                          <a:pt x="321821" y="160151"/>
                          <a:pt x="329593" y="168830"/>
                          <a:pt x="329593" y="168830"/>
                        </a:cubicBezTo>
                        <a:cubicBezTo>
                          <a:pt x="332219" y="171762"/>
                          <a:pt x="337419" y="177568"/>
                          <a:pt x="339992" y="180441"/>
                        </a:cubicBezTo>
                        <a:cubicBezTo>
                          <a:pt x="350390" y="192052"/>
                          <a:pt x="346844" y="210867"/>
                          <a:pt x="335526" y="221002"/>
                        </a:cubicBezTo>
                        <a:close/>
                      </a:path>
                    </a:pathLst>
                  </a:custGeom>
                  <a:solidFill>
                    <a:schemeClr val="accent1"/>
                  </a:solidFill>
                  <a:ln w="8603"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47" name="Freeform: Shape 46">
                    <a:extLst>
                      <a:ext uri="{FF2B5EF4-FFF2-40B4-BE49-F238E27FC236}">
                        <a16:creationId xmlns:a16="http://schemas.microsoft.com/office/drawing/2014/main" id="{4DB306E4-7A1C-FAA5-C652-FD40A08F68D6}"/>
                      </a:ext>
                    </a:extLst>
                  </p:cNvPr>
                  <p:cNvSpPr/>
                  <p:nvPr/>
                </p:nvSpPr>
                <p:spPr>
                  <a:xfrm>
                    <a:off x="10892650" y="1664886"/>
                    <a:ext cx="141110" cy="110872"/>
                  </a:xfrm>
                  <a:custGeom>
                    <a:avLst/>
                    <a:gdLst>
                      <a:gd name="connsiteX0" fmla="*/ 106680 w 121227"/>
                      <a:gd name="connsiteY0" fmla="*/ 0 h 95250"/>
                      <a:gd name="connsiteX1" fmla="*/ 48751 w 121227"/>
                      <a:gd name="connsiteY1" fmla="*/ 64683 h 95250"/>
                      <a:gd name="connsiteX2" fmla="*/ 18271 w 121227"/>
                      <a:gd name="connsiteY2" fmla="*/ 35416 h 95250"/>
                      <a:gd name="connsiteX3" fmla="*/ 0 w 121227"/>
                      <a:gd name="connsiteY3" fmla="*/ 55418 h 95250"/>
                      <a:gd name="connsiteX4" fmla="*/ 48837 w 121227"/>
                      <a:gd name="connsiteY4" fmla="*/ 100013 h 95250"/>
                      <a:gd name="connsiteX5" fmla="*/ 125124 w 121227"/>
                      <a:gd name="connsiteY5" fmla="*/ 20003 h 95250"/>
                      <a:gd name="connsiteX6" fmla="*/ 106680 w 121227"/>
                      <a:gd name="connsiteY6" fmla="*/ 0 h 95250"/>
                      <a:gd name="connsiteX7" fmla="*/ 106680 w 121227"/>
                      <a:gd name="connsiteY7" fmla="*/ 0 h 95250"/>
                      <a:gd name="connsiteX8" fmla="*/ 106680 w 121227"/>
                      <a:gd name="connsiteY8"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227" h="95250">
                        <a:moveTo>
                          <a:pt x="106680" y="0"/>
                        </a:moveTo>
                        <a:cubicBezTo>
                          <a:pt x="106680" y="0"/>
                          <a:pt x="74641" y="35416"/>
                          <a:pt x="48751" y="64683"/>
                        </a:cubicBezTo>
                        <a:cubicBezTo>
                          <a:pt x="36541" y="53946"/>
                          <a:pt x="18271" y="35416"/>
                          <a:pt x="18271" y="35416"/>
                        </a:cubicBezTo>
                        <a:cubicBezTo>
                          <a:pt x="0" y="55418"/>
                          <a:pt x="0" y="55418"/>
                          <a:pt x="0" y="55418"/>
                        </a:cubicBezTo>
                        <a:cubicBezTo>
                          <a:pt x="48837" y="100013"/>
                          <a:pt x="48837" y="100013"/>
                          <a:pt x="48837" y="100013"/>
                        </a:cubicBezTo>
                        <a:cubicBezTo>
                          <a:pt x="125124" y="20003"/>
                          <a:pt x="125124" y="20003"/>
                          <a:pt x="125124" y="20003"/>
                        </a:cubicBezTo>
                        <a:cubicBezTo>
                          <a:pt x="106680" y="0"/>
                          <a:pt x="106680" y="0"/>
                          <a:pt x="106680" y="0"/>
                        </a:cubicBezTo>
                        <a:lnTo>
                          <a:pt x="106680" y="0"/>
                        </a:lnTo>
                        <a:lnTo>
                          <a:pt x="106680" y="0"/>
                        </a:lnTo>
                        <a:close/>
                      </a:path>
                    </a:pathLst>
                  </a:custGeom>
                  <a:solidFill>
                    <a:srgbClr val="50E6FF"/>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grpSp>
        </p:grpSp>
      </p:grpSp>
      <p:sp>
        <p:nvSpPr>
          <p:cNvPr id="2" name="Title 1">
            <a:extLst>
              <a:ext uri="{FF2B5EF4-FFF2-40B4-BE49-F238E27FC236}">
                <a16:creationId xmlns:a16="http://schemas.microsoft.com/office/drawing/2014/main" id="{A4D02AD8-CE55-5615-D17E-AB117C0B55F3}"/>
              </a:ext>
            </a:extLst>
          </p:cNvPr>
          <p:cNvSpPr txBox="1">
            <a:spLocks/>
          </p:cNvSpPr>
          <p:nvPr/>
        </p:nvSpPr>
        <p:spPr>
          <a:xfrm>
            <a:off x="15475" y="224772"/>
            <a:ext cx="2636285" cy="809669"/>
          </a:xfrm>
          <a:prstGeom prst="rect">
            <a:avLst/>
          </a:prstGeom>
        </p:spPr>
        <p:txBody>
          <a:bodyPr lIns="274320" tIns="182880"/>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0" normalizeH="0" baseline="0" noProof="0" dirty="0">
                <a:ln w="3175">
                  <a:noFill/>
                </a:ln>
                <a:solidFill>
                  <a:schemeClr val="tx2"/>
                </a:solidFill>
                <a:effectLst/>
                <a:uLnTx/>
                <a:uFillTx/>
                <a:ea typeface="+mn-ea"/>
                <a:cs typeface="Segoe UI" pitchFamily="34" charset="0"/>
              </a:rPr>
              <a:t>The commercial </a:t>
            </a:r>
            <a:r>
              <a:rPr lang="en-US" sz="1800" spc="0" dirty="0">
                <a:solidFill>
                  <a:schemeClr val="tx2"/>
                </a:solidFill>
              </a:rPr>
              <a:t>m</a:t>
            </a:r>
            <a:r>
              <a:rPr kumimoji="0" lang="en-US" sz="1800" b="0" i="0" u="none" strike="noStrike" kern="1200" cap="none" spc="0" normalizeH="0" baseline="0" noProof="0" dirty="0" err="1">
                <a:ln w="3175">
                  <a:noFill/>
                </a:ln>
                <a:solidFill>
                  <a:schemeClr val="tx2"/>
                </a:solidFill>
                <a:effectLst/>
                <a:uLnTx/>
                <a:uFillTx/>
                <a:ea typeface="+mn-ea"/>
                <a:cs typeface="Segoe UI" pitchFamily="34" charset="0"/>
              </a:rPr>
              <a:t>arketplace</a:t>
            </a:r>
            <a:endParaRPr kumimoji="0" lang="en-US" sz="1800" b="0" i="0" u="none" strike="noStrike" kern="1200" cap="none" spc="0" normalizeH="0" baseline="0" noProof="0" dirty="0">
              <a:ln w="3175">
                <a:noFill/>
              </a:ln>
              <a:solidFill>
                <a:schemeClr val="tx2"/>
              </a:solidFill>
              <a:effectLst/>
              <a:uLnTx/>
              <a:uFillTx/>
              <a:ea typeface="+mn-ea"/>
              <a:cs typeface="Segoe UI" pitchFamily="34" charset="0"/>
            </a:endParaRPr>
          </a:p>
        </p:txBody>
      </p:sp>
      <p:sp>
        <p:nvSpPr>
          <p:cNvPr id="3" name="Rectangle: Rounded Corners 2">
            <a:extLst>
              <a:ext uri="{FF2B5EF4-FFF2-40B4-BE49-F238E27FC236}">
                <a16:creationId xmlns:a16="http://schemas.microsoft.com/office/drawing/2014/main" id="{EA854F45-DBD8-BF04-037F-5AA0E10597C6}"/>
              </a:ext>
            </a:extLst>
          </p:cNvPr>
          <p:cNvSpPr/>
          <p:nvPr/>
        </p:nvSpPr>
        <p:spPr bwMode="auto">
          <a:xfrm>
            <a:off x="-279050" y="2684405"/>
            <a:ext cx="2651760" cy="365760"/>
          </a:xfrm>
          <a:prstGeom prst="roundRect">
            <a:avLst>
              <a:gd name="adj" fmla="val 50000"/>
            </a:avLst>
          </a:prstGeom>
          <a:solidFill>
            <a:srgbClr val="C73EC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0" rIns="9144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bg1"/>
              </a:solidFill>
              <a:effectLst/>
              <a:uLnTx/>
              <a:uFillTx/>
              <a:latin typeface="Segoe UI Semibold"/>
              <a:ea typeface="+mn-ea"/>
              <a:cs typeface="Segoe UI Semilight" panose="020B0402040204020203" pitchFamily="34" charset="0"/>
            </a:endParaRPr>
          </a:p>
        </p:txBody>
      </p:sp>
      <p:sp>
        <p:nvSpPr>
          <p:cNvPr id="5" name="Rectangle: Rounded Corners 4">
            <a:extLst>
              <a:ext uri="{FF2B5EF4-FFF2-40B4-BE49-F238E27FC236}">
                <a16:creationId xmlns:a16="http://schemas.microsoft.com/office/drawing/2014/main" id="{AC292E3C-7EE1-AF66-6247-48629B098CCC}"/>
              </a:ext>
            </a:extLst>
          </p:cNvPr>
          <p:cNvSpPr/>
          <p:nvPr/>
        </p:nvSpPr>
        <p:spPr bwMode="auto">
          <a:xfrm>
            <a:off x="0" y="180602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Setup</a:t>
            </a:r>
          </a:p>
        </p:txBody>
      </p:sp>
      <p:sp>
        <p:nvSpPr>
          <p:cNvPr id="6" name="Rectangle: Rounded Corners 5">
            <a:extLst>
              <a:ext uri="{FF2B5EF4-FFF2-40B4-BE49-F238E27FC236}">
                <a16:creationId xmlns:a16="http://schemas.microsoft.com/office/drawing/2014/main" id="{EF00EC1F-DD40-56FB-0A6C-35B561C4DA1B}"/>
              </a:ext>
            </a:extLst>
          </p:cNvPr>
          <p:cNvSpPr/>
          <p:nvPr/>
        </p:nvSpPr>
        <p:spPr bwMode="auto">
          <a:xfrm>
            <a:off x="0" y="2245217"/>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Properties</a:t>
            </a:r>
          </a:p>
        </p:txBody>
      </p:sp>
      <p:sp>
        <p:nvSpPr>
          <p:cNvPr id="8" name="Rectangle: Rounded Corners 7">
            <a:extLst>
              <a:ext uri="{FF2B5EF4-FFF2-40B4-BE49-F238E27FC236}">
                <a16:creationId xmlns:a16="http://schemas.microsoft.com/office/drawing/2014/main" id="{C6462D78-421C-AE09-5D8B-3D60B9B3A7AF}"/>
              </a:ext>
            </a:extLst>
          </p:cNvPr>
          <p:cNvSpPr/>
          <p:nvPr/>
        </p:nvSpPr>
        <p:spPr bwMode="auto">
          <a:xfrm>
            <a:off x="0" y="2684406"/>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j-lt"/>
                <a:ea typeface="+mn-ea"/>
                <a:cs typeface="Segoe UI Semilight" panose="020B0402040204020203" pitchFamily="34" charset="0"/>
              </a:rPr>
              <a:t>Offer Listing</a:t>
            </a:r>
          </a:p>
        </p:txBody>
      </p:sp>
      <p:sp>
        <p:nvSpPr>
          <p:cNvPr id="11" name="Rectangle: Rounded Corners 10">
            <a:extLst>
              <a:ext uri="{FF2B5EF4-FFF2-40B4-BE49-F238E27FC236}">
                <a16:creationId xmlns:a16="http://schemas.microsoft.com/office/drawing/2014/main" id="{D2A55167-3C5E-36D8-F0FE-E49341B209B8}"/>
              </a:ext>
            </a:extLst>
          </p:cNvPr>
          <p:cNvSpPr/>
          <p:nvPr/>
        </p:nvSpPr>
        <p:spPr bwMode="auto">
          <a:xfrm>
            <a:off x="0" y="312359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Pricing and Availability</a:t>
            </a:r>
          </a:p>
        </p:txBody>
      </p:sp>
      <p:sp>
        <p:nvSpPr>
          <p:cNvPr id="12" name="Rectangle: Rounded Corners 11">
            <a:extLst>
              <a:ext uri="{FF2B5EF4-FFF2-40B4-BE49-F238E27FC236}">
                <a16:creationId xmlns:a16="http://schemas.microsoft.com/office/drawing/2014/main" id="{A3A345A0-A5D1-FCD9-474C-F156FE288BA8}"/>
              </a:ext>
            </a:extLst>
          </p:cNvPr>
          <p:cNvSpPr/>
          <p:nvPr/>
        </p:nvSpPr>
        <p:spPr bwMode="auto">
          <a:xfrm>
            <a:off x="0" y="356278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2"/>
                </a:solidFill>
                <a:effectLst/>
                <a:uLnTx/>
                <a:uFillTx/>
                <a:latin typeface="+mj-lt"/>
                <a:ea typeface="+mn-ea"/>
                <a:cs typeface="Segoe UI Semilight" panose="020B0402040204020203" pitchFamily="34" charset="0"/>
              </a:rPr>
              <a:t>Co-sell with Microsoft </a:t>
            </a:r>
          </a:p>
        </p:txBody>
      </p:sp>
      <p:sp>
        <p:nvSpPr>
          <p:cNvPr id="13" name="Rectangle: Rounded Corners 12">
            <a:extLst>
              <a:ext uri="{FF2B5EF4-FFF2-40B4-BE49-F238E27FC236}">
                <a16:creationId xmlns:a16="http://schemas.microsoft.com/office/drawing/2014/main" id="{FBA3AAA8-08EF-488C-58B9-BCAD86D6BEC2}"/>
              </a:ext>
            </a:extLst>
          </p:cNvPr>
          <p:cNvSpPr/>
          <p:nvPr/>
        </p:nvSpPr>
        <p:spPr bwMode="auto">
          <a:xfrm>
            <a:off x="0" y="136683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Setup</a:t>
            </a:r>
          </a:p>
        </p:txBody>
      </p:sp>
      <p:cxnSp>
        <p:nvCxnSpPr>
          <p:cNvPr id="14" name="Straight Connector 13">
            <a:extLst>
              <a:ext uri="{FF2B5EF4-FFF2-40B4-BE49-F238E27FC236}">
                <a16:creationId xmlns:a16="http://schemas.microsoft.com/office/drawing/2014/main" id="{FA84B673-4E95-96FA-7BE8-8082519D79AA}"/>
              </a:ext>
            </a:extLst>
          </p:cNvPr>
          <p:cNvCxnSpPr/>
          <p:nvPr/>
        </p:nvCxnSpPr>
        <p:spPr>
          <a:xfrm>
            <a:off x="223520" y="1154149"/>
            <a:ext cx="2011680" cy="0"/>
          </a:xfrm>
          <a:prstGeom prst="line">
            <a:avLst/>
          </a:prstGeom>
          <a:noFill/>
          <a:ln w="25400" cap="rnd">
            <a:gradFill flip="none" rotWithShape="1">
              <a:gsLst>
                <a:gs pos="30000">
                  <a:srgbClr val="2DB4FF"/>
                </a:gs>
                <a:gs pos="35000">
                  <a:srgbClr val="2DB4FF"/>
                </a:gs>
                <a:gs pos="3000">
                  <a:srgbClr val="0078D4"/>
                </a:gs>
                <a:gs pos="52000">
                  <a:srgbClr val="818EFF"/>
                </a:gs>
                <a:gs pos="70000">
                  <a:srgbClr val="D660FF"/>
                </a:gs>
                <a:gs pos="97000">
                  <a:srgbClr val="FEA87A"/>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15" name="Slide Number Placeholder 14">
            <a:extLst>
              <a:ext uri="{FF2B5EF4-FFF2-40B4-BE49-F238E27FC236}">
                <a16:creationId xmlns:a16="http://schemas.microsoft.com/office/drawing/2014/main" id="{D84818F9-D331-4CFC-45EF-0E3A441D81F3}"/>
              </a:ext>
            </a:extLst>
          </p:cNvPr>
          <p:cNvSpPr>
            <a:spLocks noGrp="1"/>
          </p:cNvSpPr>
          <p:nvPr>
            <p:ph type="sldNum" sz="quarter" idx="11"/>
          </p:nvPr>
        </p:nvSpPr>
        <p:spPr/>
        <p:txBody>
          <a:bodyPr/>
          <a:lstStyle/>
          <a:p>
            <a:fld id="{5763EE98-C176-4152-A50F-E68840BAFA00}" type="slidenum">
              <a:rPr lang="en-US" smtClean="0"/>
              <a:pPr/>
              <a:t>33</a:t>
            </a:fld>
            <a:endParaRPr lang="en-US"/>
          </a:p>
        </p:txBody>
      </p:sp>
      <mc:AlternateContent xmlns:mc="http://schemas.openxmlformats.org/markup-compatibility/2006" xmlns:pslz="http://schemas.microsoft.com/office/powerpoint/2016/slidezoom">
        <mc:Choice Requires="pslz">
          <p:graphicFrame>
            <p:nvGraphicFramePr>
              <p:cNvPr id="24" name="Slide Zoom 23">
                <a:extLst>
                  <a:ext uri="{FF2B5EF4-FFF2-40B4-BE49-F238E27FC236}">
                    <a16:creationId xmlns:a16="http://schemas.microsoft.com/office/drawing/2014/main" id="{8B006C04-86EF-A74D-5CBC-0816B96B1670}"/>
                  </a:ext>
                </a:extLst>
              </p:cNvPr>
              <p:cNvGraphicFramePr>
                <a:graphicFrameLocks noChangeAspect="1"/>
              </p:cNvGraphicFramePr>
              <p:nvPr>
                <p:extLst>
                  <p:ext uri="{D42A27DB-BD31-4B8C-83A1-F6EECF244321}">
                    <p14:modId xmlns:p14="http://schemas.microsoft.com/office/powerpoint/2010/main" val="1257912635"/>
                  </p:ext>
                </p:extLst>
              </p:nvPr>
            </p:nvGraphicFramePr>
            <p:xfrm>
              <a:off x="3234646" y="3108850"/>
              <a:ext cx="1645920" cy="925830"/>
            </p:xfrm>
            <a:graphic>
              <a:graphicData uri="http://schemas.microsoft.com/office/powerpoint/2016/slidezoom">
                <pslz:sldZm>
                  <pslz:sldZmObj sldId="267" cId="402542813">
                    <pslz:zmPr id="{AFA3A168-9B07-4E1D-9EEF-9D830E834D6D}" returnToParent="0" transitionDur="1000">
                      <p166:blipFill xmlns:p166="http://schemas.microsoft.com/office/powerpoint/2016/6/main">
                        <a:blip r:embed="rId5"/>
                        <a:stretch>
                          <a:fillRect/>
                        </a:stretch>
                      </p166:blipFill>
                      <p166:spPr xmlns:p166="http://schemas.microsoft.com/office/powerpoint/2016/6/main">
                        <a:xfrm>
                          <a:off x="0" y="0"/>
                          <a:ext cx="1645920" cy="925830"/>
                        </a:xfrm>
                        <a:prstGeom prst="rect">
                          <a:avLst/>
                        </a:prstGeom>
                        <a:effectLst>
                          <a:outerShdw blurRad="50800" dist="38100" dir="2700000" algn="tl" rotWithShape="0">
                            <a:prstClr val="black">
                              <a:alpha val="40000"/>
                            </a:prstClr>
                          </a:outerShdw>
                        </a:effectLst>
                      </p166:spPr>
                    </pslz:zmPr>
                  </pslz:sldZmObj>
                </pslz:sldZm>
              </a:graphicData>
            </a:graphic>
          </p:graphicFrame>
        </mc:Choice>
        <mc:Fallback xmlns="">
          <p:pic>
            <p:nvPicPr>
              <p:cNvPr id="24" name="Slide Zoom 23">
                <a:extLst>
                  <a:ext uri="{FF2B5EF4-FFF2-40B4-BE49-F238E27FC236}">
                    <a16:creationId xmlns:a16="http://schemas.microsoft.com/office/drawing/2014/main" id="{8B006C04-86EF-A74D-5CBC-0816B96B1670}"/>
                  </a:ext>
                </a:extLst>
              </p:cNvPr>
              <p:cNvPicPr>
                <a:picLocks noGrp="1" noRot="1" noChangeAspect="1" noMove="1" noResize="1" noEditPoints="1" noAdjustHandles="1" noChangeArrowheads="1" noChangeShapeType="1"/>
              </p:cNvPicPr>
              <p:nvPr/>
            </p:nvPicPr>
            <p:blipFill>
              <a:blip r:embed="rId6"/>
              <a:stretch>
                <a:fillRect/>
              </a:stretch>
            </p:blipFill>
            <p:spPr>
              <a:xfrm>
                <a:off x="3234646" y="3108850"/>
                <a:ext cx="1645920" cy="925830"/>
              </a:xfrm>
              <a:prstGeom prst="rect">
                <a:avLst/>
              </a:prstGeom>
              <a:effectLst>
                <a:outerShdw blurRad="50800" dist="38100" dir="2700000" algn="tl" rotWithShape="0">
                  <a:prstClr val="black">
                    <a:alpha val="40000"/>
                  </a:prstClr>
                </a:outerShdw>
              </a:effectLst>
            </p:spPr>
          </p:pic>
        </mc:Fallback>
      </mc:AlternateContent>
      <mc:AlternateContent xmlns:mc="http://schemas.openxmlformats.org/markup-compatibility/2006" xmlns:pslz="http://schemas.microsoft.com/office/powerpoint/2016/slidezoom">
        <mc:Choice Requires="pslz">
          <p:graphicFrame>
            <p:nvGraphicFramePr>
              <p:cNvPr id="29" name="Slide Zoom 28">
                <a:extLst>
                  <a:ext uri="{FF2B5EF4-FFF2-40B4-BE49-F238E27FC236}">
                    <a16:creationId xmlns:a16="http://schemas.microsoft.com/office/drawing/2014/main" id="{5A559344-0029-C095-D0C4-79F926EEBF9B}"/>
                  </a:ext>
                </a:extLst>
              </p:cNvPr>
              <p:cNvGraphicFramePr>
                <a:graphicFrameLocks noChangeAspect="1"/>
              </p:cNvGraphicFramePr>
              <p:nvPr>
                <p:extLst>
                  <p:ext uri="{D42A27DB-BD31-4B8C-83A1-F6EECF244321}">
                    <p14:modId xmlns:p14="http://schemas.microsoft.com/office/powerpoint/2010/main" val="1727201870"/>
                  </p:ext>
                </p:extLst>
              </p:nvPr>
            </p:nvGraphicFramePr>
            <p:xfrm>
              <a:off x="4099154" y="3449690"/>
              <a:ext cx="1645920" cy="925830"/>
            </p:xfrm>
            <a:graphic>
              <a:graphicData uri="http://schemas.microsoft.com/office/powerpoint/2016/slidezoom">
                <pslz:sldZm>
                  <pslz:sldZmObj sldId="2147470435" cId="3823778636">
                    <pslz:zmPr id="{A19C1374-A4D3-4F34-93AB-702AC026C849}" returnToParent="0" transitionDur="1000">
                      <p166:blipFill xmlns:p166="http://schemas.microsoft.com/office/powerpoint/2016/6/main">
                        <a:blip r:embed="rId7"/>
                        <a:stretch>
                          <a:fillRect/>
                        </a:stretch>
                      </p166:blipFill>
                      <p166:spPr xmlns:p166="http://schemas.microsoft.com/office/powerpoint/2016/6/main">
                        <a:xfrm>
                          <a:off x="0" y="0"/>
                          <a:ext cx="1645920" cy="925830"/>
                        </a:xfrm>
                        <a:prstGeom prst="rect">
                          <a:avLst/>
                        </a:prstGeom>
                        <a:solidFill>
                          <a:schemeClr val="bg1"/>
                        </a:solidFill>
                        <a:effectLst>
                          <a:outerShdw blurRad="50800" dist="38100" dir="2700000" algn="tl" rotWithShape="0">
                            <a:prstClr val="black">
                              <a:alpha val="40000"/>
                            </a:prstClr>
                          </a:outerShdw>
                        </a:effectLst>
                      </p166:spPr>
                    </pslz:zmPr>
                  </pslz:sldZmObj>
                </pslz:sldZm>
              </a:graphicData>
            </a:graphic>
          </p:graphicFrame>
        </mc:Choice>
        <mc:Fallback xmlns="">
          <p:pic>
            <p:nvPicPr>
              <p:cNvPr id="29" name="Slide Zoom 28">
                <a:extLst>
                  <a:ext uri="{FF2B5EF4-FFF2-40B4-BE49-F238E27FC236}">
                    <a16:creationId xmlns:a16="http://schemas.microsoft.com/office/drawing/2014/main" id="{5A559344-0029-C095-D0C4-79F926EEBF9B}"/>
                  </a:ext>
                </a:extLst>
              </p:cNvPr>
              <p:cNvPicPr>
                <a:picLocks noGrp="1" noRot="1" noChangeAspect="1" noMove="1" noResize="1" noEditPoints="1" noAdjustHandles="1" noChangeArrowheads="1" noChangeShapeType="1"/>
              </p:cNvPicPr>
              <p:nvPr/>
            </p:nvPicPr>
            <p:blipFill>
              <a:blip r:embed="rId8"/>
              <a:stretch>
                <a:fillRect/>
              </a:stretch>
            </p:blipFill>
            <p:spPr>
              <a:xfrm>
                <a:off x="4099154" y="3449690"/>
                <a:ext cx="1645920" cy="925830"/>
              </a:xfrm>
              <a:prstGeom prst="rect">
                <a:avLst/>
              </a:prstGeom>
              <a:solidFill>
                <a:schemeClr val="bg1"/>
              </a:solidFill>
              <a:effectLst>
                <a:outerShdw blurRad="50800" dist="38100" dir="2700000" algn="tl" rotWithShape="0">
                  <a:prstClr val="black">
                    <a:alpha val="40000"/>
                  </a:prstClr>
                </a:outerShdw>
              </a:effectLst>
            </p:spPr>
          </p:pic>
        </mc:Fallback>
      </mc:AlternateContent>
    </p:spTree>
    <p:extLst>
      <p:ext uri="{BB962C8B-B14F-4D97-AF65-F5344CB8AC3E}">
        <p14:creationId xmlns:p14="http://schemas.microsoft.com/office/powerpoint/2010/main" val="3851079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38">
            <a:extLst>
              <a:ext uri="{FF2B5EF4-FFF2-40B4-BE49-F238E27FC236}">
                <a16:creationId xmlns:a16="http://schemas.microsoft.com/office/drawing/2014/main" id="{EECDD5CF-2D0F-4F1B-A160-12C815F23DB5}"/>
              </a:ext>
            </a:extLst>
          </p:cNvPr>
          <p:cNvSpPr>
            <a:spLocks noGrp="1"/>
          </p:cNvSpPr>
          <p:nvPr>
            <p:ph type="title"/>
          </p:nvPr>
        </p:nvSpPr>
        <p:spPr/>
        <p:txBody>
          <a:bodyPr/>
          <a:lstStyle/>
          <a:p>
            <a:pPr lvl="0"/>
            <a:r>
              <a:rPr lang="en-US" noProof="0"/>
              <a:t>Microsoft 365 Copilot offer</a:t>
            </a:r>
          </a:p>
        </p:txBody>
      </p:sp>
      <p:sp>
        <p:nvSpPr>
          <p:cNvPr id="4" name="TextBox 3">
            <a:extLst>
              <a:ext uri="{FF2B5EF4-FFF2-40B4-BE49-F238E27FC236}">
                <a16:creationId xmlns:a16="http://schemas.microsoft.com/office/drawing/2014/main" id="{70DF1697-7243-4863-8273-AFF16CCE2406}"/>
              </a:ext>
            </a:extLst>
          </p:cNvPr>
          <p:cNvSpPr txBox="1"/>
          <p:nvPr/>
        </p:nvSpPr>
        <p:spPr>
          <a:xfrm>
            <a:off x="3009900" y="1330867"/>
            <a:ext cx="8596882" cy="1154162"/>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71717"/>
                </a:solidFill>
                <a:effectLst/>
                <a:uLnTx/>
                <a:uFillTx/>
                <a:ea typeface="+mn-ea"/>
                <a:cs typeface="+mn-cs"/>
              </a:rPr>
              <a:t>You will also need to provide a </a:t>
            </a:r>
            <a:r>
              <a:rPr kumimoji="0" lang="en-US" sz="1400" b="1" i="0" u="none" strike="noStrike" kern="1200" cap="none" spc="0" normalizeH="0" baseline="0" noProof="0" dirty="0">
                <a:ln>
                  <a:noFill/>
                </a:ln>
                <a:solidFill>
                  <a:srgbClr val="171717"/>
                </a:solidFill>
                <a:effectLst/>
                <a:uLnTx/>
                <a:uFillTx/>
                <a:ea typeface="+mn-ea"/>
                <a:cs typeface="+mn-cs"/>
              </a:rPr>
              <a:t>Primary and Secondary </a:t>
            </a:r>
            <a:r>
              <a:rPr lang="en-US" sz="1400" b="1" dirty="0">
                <a:solidFill>
                  <a:srgbClr val="171717"/>
                </a:solidFill>
              </a:rPr>
              <a:t>C</a:t>
            </a:r>
            <a:r>
              <a:rPr kumimoji="0" lang="en-US" sz="1400" b="1" i="0" u="none" strike="noStrike" kern="1200" cap="none" spc="0" normalizeH="0" baseline="0" noProof="0" dirty="0" err="1">
                <a:ln>
                  <a:noFill/>
                </a:ln>
                <a:solidFill>
                  <a:srgbClr val="171717"/>
                </a:solidFill>
                <a:effectLst/>
                <a:uLnTx/>
                <a:uFillTx/>
                <a:ea typeface="+mn-ea"/>
                <a:cs typeface="+mn-cs"/>
              </a:rPr>
              <a:t>ontact</a:t>
            </a:r>
            <a:r>
              <a:rPr kumimoji="0" lang="en-US" sz="1400" b="1" i="0" u="none" strike="noStrike" kern="1200" cap="none" spc="0" normalizeH="0" baseline="0" noProof="0" dirty="0">
                <a:ln>
                  <a:noFill/>
                </a:ln>
                <a:solidFill>
                  <a:srgbClr val="171717"/>
                </a:solidFill>
                <a:effectLst/>
                <a:uLnTx/>
                <a:uFillTx/>
                <a:ea typeface="+mn-ea"/>
                <a:cs typeface="+mn-cs"/>
              </a:rPr>
              <a:t> </a:t>
            </a:r>
            <a:r>
              <a:rPr kumimoji="0" lang="en-US" sz="1400" b="0" i="0" u="none" strike="noStrike" kern="1200" cap="none" spc="0" normalizeH="0" baseline="0" noProof="0" dirty="0">
                <a:ln>
                  <a:noFill/>
                </a:ln>
                <a:solidFill>
                  <a:srgbClr val="171717"/>
                </a:solidFill>
                <a:effectLst/>
                <a:uLnTx/>
                <a:uFillTx/>
                <a:ea typeface="+mn-ea"/>
                <a:cs typeface="+mn-cs"/>
              </a:rPr>
              <a:t>to Microsoft. This information </a:t>
            </a:r>
            <a:r>
              <a:rPr kumimoji="0" lang="en-US" sz="1400" b="1" i="0" u="none" strike="noStrike" kern="1200" cap="none" spc="0" normalizeH="0" baseline="0" noProof="0" dirty="0">
                <a:ln>
                  <a:noFill/>
                </a:ln>
                <a:solidFill>
                  <a:srgbClr val="171717"/>
                </a:solidFill>
                <a:effectLst/>
                <a:uLnTx/>
                <a:uFillTx/>
                <a:ea typeface="+mn-ea"/>
                <a:cs typeface="+mn-cs"/>
              </a:rPr>
              <a:t>will not be visible </a:t>
            </a:r>
            <a:r>
              <a:rPr kumimoji="0" lang="en-US" sz="1400" b="0" i="0" u="none" strike="noStrike" kern="1200" cap="none" spc="0" normalizeH="0" baseline="0" noProof="0" dirty="0">
                <a:ln>
                  <a:noFill/>
                </a:ln>
                <a:solidFill>
                  <a:srgbClr val="171717"/>
                </a:solidFill>
                <a:effectLst/>
                <a:uLnTx/>
                <a:uFillTx/>
                <a:ea typeface="+mn-ea"/>
                <a:cs typeface="+mn-cs"/>
              </a:rPr>
              <a:t>to the customer on the commercial marketplace. </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171717"/>
                </a:solidFill>
                <a:effectLst/>
                <a:uLnTx/>
                <a:uFillTx/>
                <a:ea typeface="+mn-ea"/>
                <a:cs typeface="+mn-cs"/>
              </a:rPr>
              <a:t>Microsoft will reach out to the </a:t>
            </a:r>
            <a:r>
              <a:rPr kumimoji="0" lang="en-US" sz="1400" b="1" i="0" u="none" strike="noStrike" kern="1200" cap="none" spc="0" normalizeH="0" baseline="0" noProof="0" dirty="0">
                <a:ln>
                  <a:noFill/>
                </a:ln>
                <a:solidFill>
                  <a:srgbClr val="171717"/>
                </a:solidFill>
                <a:effectLst/>
                <a:uLnTx/>
                <a:uFillTx/>
                <a:ea typeface="+mn-ea"/>
                <a:cs typeface="+mn-cs"/>
              </a:rPr>
              <a:t>Primary Contact</a:t>
            </a:r>
            <a:r>
              <a:rPr kumimoji="0" lang="en-US" sz="1400" b="0" i="0" u="none" strike="noStrike" kern="1200" cap="none" spc="0" normalizeH="0" baseline="0" noProof="0" dirty="0">
                <a:ln>
                  <a:noFill/>
                </a:ln>
                <a:solidFill>
                  <a:srgbClr val="171717"/>
                </a:solidFill>
                <a:effectLst/>
                <a:uLnTx/>
                <a:uFillTx/>
                <a:ea typeface="+mn-ea"/>
                <a:cs typeface="+mn-cs"/>
              </a:rPr>
              <a:t> if a customer is not contacted within 48 hours of a lead submission. After this, if the </a:t>
            </a:r>
            <a:r>
              <a:rPr kumimoji="0" lang="en-US" sz="1400" b="1" i="0" u="none" strike="noStrike" kern="1200" cap="none" spc="0" normalizeH="0" baseline="0" noProof="0" dirty="0">
                <a:ln>
                  <a:noFill/>
                </a:ln>
                <a:solidFill>
                  <a:srgbClr val="171717"/>
                </a:solidFill>
                <a:effectLst/>
                <a:uLnTx/>
                <a:uFillTx/>
                <a:ea typeface="+mn-ea"/>
                <a:cs typeface="+mn-cs"/>
              </a:rPr>
              <a:t>Primary Contact</a:t>
            </a:r>
            <a:r>
              <a:rPr kumimoji="0" lang="en-US" sz="1400" b="0" i="0" u="none" strike="noStrike" kern="1200" cap="none" spc="0" normalizeH="0" baseline="0" noProof="0" dirty="0">
                <a:ln>
                  <a:noFill/>
                </a:ln>
                <a:solidFill>
                  <a:srgbClr val="171717"/>
                </a:solidFill>
                <a:effectLst/>
                <a:uLnTx/>
                <a:uFillTx/>
                <a:ea typeface="+mn-ea"/>
                <a:cs typeface="+mn-cs"/>
              </a:rPr>
              <a:t> is unresponsive for 24 hours, Microsoft will reach out to the </a:t>
            </a:r>
            <a:r>
              <a:rPr lang="en-US" sz="1400" b="1" dirty="0">
                <a:solidFill>
                  <a:srgbClr val="171717"/>
                </a:solidFill>
              </a:rPr>
              <a:t>S</a:t>
            </a:r>
            <a:r>
              <a:rPr kumimoji="0" lang="en-US" sz="1400" b="1" i="0" u="none" strike="noStrike" kern="1200" cap="none" spc="0" normalizeH="0" baseline="0" noProof="0" dirty="0" err="1">
                <a:ln>
                  <a:noFill/>
                </a:ln>
                <a:solidFill>
                  <a:srgbClr val="171717"/>
                </a:solidFill>
                <a:effectLst/>
                <a:uLnTx/>
                <a:uFillTx/>
                <a:ea typeface="+mn-ea"/>
                <a:cs typeface="+mn-cs"/>
              </a:rPr>
              <a:t>econdary</a:t>
            </a:r>
            <a:r>
              <a:rPr kumimoji="0" lang="en-US" sz="1400" b="1" i="0" u="none" strike="noStrike" kern="1200" cap="none" spc="0" normalizeH="0" baseline="0" noProof="0" dirty="0">
                <a:ln>
                  <a:noFill/>
                </a:ln>
                <a:solidFill>
                  <a:srgbClr val="171717"/>
                </a:solidFill>
                <a:effectLst/>
                <a:uLnTx/>
                <a:uFillTx/>
                <a:ea typeface="+mn-ea"/>
                <a:cs typeface="+mn-cs"/>
              </a:rPr>
              <a:t> Contact</a:t>
            </a:r>
            <a:r>
              <a:rPr kumimoji="0" lang="en-US" sz="1400" b="0" i="0" u="none" strike="noStrike" kern="1200" cap="none" spc="0" normalizeH="0" baseline="0" noProof="0" dirty="0">
                <a:ln>
                  <a:noFill/>
                </a:ln>
                <a:solidFill>
                  <a:srgbClr val="171717"/>
                </a:solidFill>
                <a:effectLst/>
                <a:uLnTx/>
                <a:uFillTx/>
                <a:ea typeface="+mn-ea"/>
                <a:cs typeface="+mn-cs"/>
              </a:rPr>
              <a:t>.</a:t>
            </a:r>
            <a:endParaRPr kumimoji="0" lang="en-US" sz="1400" b="1" i="0" u="none" strike="noStrike" kern="1200" cap="none" spc="0" normalizeH="0" baseline="0" noProof="0" dirty="0">
              <a:ln>
                <a:noFill/>
              </a:ln>
              <a:solidFill>
                <a:srgbClr val="171717"/>
              </a:solidFill>
              <a:effectLst/>
              <a:uLnTx/>
              <a:uFillTx/>
              <a:ea typeface="+mn-ea"/>
              <a:cs typeface="+mn-cs"/>
            </a:endParaRPr>
          </a:p>
        </p:txBody>
      </p:sp>
      <p:sp>
        <p:nvSpPr>
          <p:cNvPr id="5" name="TextBox 4">
            <a:extLst>
              <a:ext uri="{FF2B5EF4-FFF2-40B4-BE49-F238E27FC236}">
                <a16:creationId xmlns:a16="http://schemas.microsoft.com/office/drawing/2014/main" id="{BB8A26C5-F093-4383-8F90-01E69328C760}"/>
              </a:ext>
            </a:extLst>
          </p:cNvPr>
          <p:cNvSpPr txBox="1"/>
          <p:nvPr/>
        </p:nvSpPr>
        <p:spPr>
          <a:xfrm>
            <a:off x="2979236" y="2851327"/>
            <a:ext cx="2261125" cy="1077218"/>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5"/>
              <a:tabLst/>
              <a:defRPr/>
            </a:pPr>
            <a:r>
              <a:rPr kumimoji="0" lang="en-US" sz="1400" b="1" i="0" u="none" strike="noStrike" kern="1200" cap="none" spc="0" normalizeH="0" baseline="0" noProof="0">
                <a:ln>
                  <a:noFill/>
                </a:ln>
                <a:solidFill>
                  <a:srgbClr val="171717"/>
                </a:solidFill>
                <a:effectLst/>
                <a:uLnTx/>
                <a:uFillTx/>
                <a:ea typeface="+mn-ea"/>
                <a:cs typeface="+mn-cs"/>
              </a:rPr>
              <a:t>Primary Contact: </a:t>
            </a:r>
            <a:r>
              <a:rPr kumimoji="0" lang="en-US" sz="1400" b="0" i="0" u="none" strike="noStrike" kern="1200" cap="none" spc="0" normalizeH="0" baseline="0" noProof="0">
                <a:ln>
                  <a:noFill/>
                </a:ln>
                <a:solidFill>
                  <a:srgbClr val="171717"/>
                </a:solidFill>
                <a:effectLst/>
                <a:uLnTx/>
                <a:uFillTx/>
                <a:ea typeface="+mn-ea"/>
                <a:cs typeface="+mn-cs"/>
              </a:rPr>
              <a:t>Add the name and contact information of the person who will handle lead submissions.</a:t>
            </a:r>
          </a:p>
        </p:txBody>
      </p:sp>
      <p:sp>
        <p:nvSpPr>
          <p:cNvPr id="11" name="TextBox 10">
            <a:extLst>
              <a:ext uri="{FF2B5EF4-FFF2-40B4-BE49-F238E27FC236}">
                <a16:creationId xmlns:a16="http://schemas.microsoft.com/office/drawing/2014/main" id="{83C7AB4B-A0DF-4E5E-90CD-5F12242960D3}"/>
              </a:ext>
            </a:extLst>
          </p:cNvPr>
          <p:cNvSpPr txBox="1"/>
          <p:nvPr/>
        </p:nvSpPr>
        <p:spPr>
          <a:xfrm>
            <a:off x="3009899" y="4206175"/>
            <a:ext cx="2261125" cy="1292662"/>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6"/>
              <a:tabLst/>
              <a:defRPr/>
            </a:pPr>
            <a:r>
              <a:rPr kumimoji="0" lang="en-US" sz="1400" b="1" i="0" u="none" strike="noStrike" kern="1200" cap="none" spc="0" normalizeH="0" baseline="0" noProof="0">
                <a:ln>
                  <a:noFill/>
                </a:ln>
                <a:solidFill>
                  <a:srgbClr val="171717"/>
                </a:solidFill>
                <a:effectLst/>
                <a:uLnTx/>
                <a:uFillTx/>
                <a:ea typeface="+mn-ea"/>
                <a:cs typeface="+mn-cs"/>
              </a:rPr>
              <a:t>Secondary Contact: </a:t>
            </a:r>
            <a:r>
              <a:rPr kumimoji="0" lang="en-US" sz="1400" b="0" i="0" u="none" strike="noStrike" kern="1200" cap="none" spc="0" normalizeH="0" baseline="0" noProof="0">
                <a:ln>
                  <a:noFill/>
                </a:ln>
                <a:solidFill>
                  <a:srgbClr val="171717"/>
                </a:solidFill>
                <a:effectLst/>
                <a:uLnTx/>
                <a:uFillTx/>
                <a:ea typeface="+mn-ea"/>
                <a:cs typeface="+mn-cs"/>
              </a:rPr>
              <a:t>Add the name and contact information of a secondary person who can handle lead submissions.</a:t>
            </a:r>
            <a:endParaRPr kumimoji="0" lang="en-US" sz="1400" b="0" i="0" u="none" strike="noStrike" kern="1200" cap="none" spc="0" normalizeH="0" baseline="0" noProof="0">
              <a:ln>
                <a:noFill/>
              </a:ln>
              <a:solidFill>
                <a:srgbClr val="000000"/>
              </a:solidFill>
              <a:effectLst/>
              <a:highlight>
                <a:srgbClr val="FFFF00"/>
              </a:highlight>
              <a:uLnTx/>
              <a:uFillTx/>
              <a:ea typeface="+mn-ea"/>
              <a:cs typeface="+mn-cs"/>
            </a:endParaRPr>
          </a:p>
        </p:txBody>
      </p:sp>
      <p:sp>
        <p:nvSpPr>
          <p:cNvPr id="12" name="Freeform: Shape 11">
            <a:extLst>
              <a:ext uri="{FF2B5EF4-FFF2-40B4-BE49-F238E27FC236}">
                <a16:creationId xmlns:a16="http://schemas.microsoft.com/office/drawing/2014/main" id="{D28F67CD-5CA8-4415-AD96-1B6CCA1DA7DF}"/>
              </a:ext>
            </a:extLst>
          </p:cNvPr>
          <p:cNvSpPr/>
          <p:nvPr/>
        </p:nvSpPr>
        <p:spPr bwMode="auto">
          <a:xfrm>
            <a:off x="5271025" y="3165063"/>
            <a:ext cx="858732" cy="503667"/>
          </a:xfrm>
          <a:custGeom>
            <a:avLst/>
            <a:gdLst>
              <a:gd name="connsiteX0" fmla="*/ 0 w 800100"/>
              <a:gd name="connsiteY0" fmla="*/ 0 h 257175"/>
              <a:gd name="connsiteX1" fmla="*/ 328612 w 800100"/>
              <a:gd name="connsiteY1" fmla="*/ 0 h 257175"/>
              <a:gd name="connsiteX2" fmla="*/ 328612 w 800100"/>
              <a:gd name="connsiteY2" fmla="*/ 257175 h 257175"/>
              <a:gd name="connsiteX3" fmla="*/ 800100 w 800100"/>
              <a:gd name="connsiteY3" fmla="*/ 257175 h 257175"/>
            </a:gdLst>
            <a:ahLst/>
            <a:cxnLst>
              <a:cxn ang="0">
                <a:pos x="connsiteX0" y="connsiteY0"/>
              </a:cxn>
              <a:cxn ang="0">
                <a:pos x="connsiteX1" y="connsiteY1"/>
              </a:cxn>
              <a:cxn ang="0">
                <a:pos x="connsiteX2" y="connsiteY2"/>
              </a:cxn>
              <a:cxn ang="0">
                <a:pos x="connsiteX3" y="connsiteY3"/>
              </a:cxn>
            </a:cxnLst>
            <a:rect l="l" t="t" r="r" b="b"/>
            <a:pathLst>
              <a:path w="800100" h="257175">
                <a:moveTo>
                  <a:pt x="0" y="0"/>
                </a:moveTo>
                <a:lnTo>
                  <a:pt x="328612" y="0"/>
                </a:lnTo>
                <a:lnTo>
                  <a:pt x="328612" y="257175"/>
                </a:lnTo>
                <a:lnTo>
                  <a:pt x="800100" y="257175"/>
                </a:lnTo>
              </a:path>
            </a:pathLst>
          </a:custGeom>
          <a:noFill/>
          <a:ln w="22225" cap="rnd">
            <a:solidFill>
              <a:schemeClr val="tx2">
                <a:lumMod val="50000"/>
                <a:lumOff val="50000"/>
              </a:schemeClr>
            </a:solidFill>
            <a:prstDash val="sysDot"/>
            <a:headEnd type="none" w="med" len="med"/>
            <a:tailEnd type="triangle" w="lg" len="lg"/>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3" name="Freeform: Shape 12">
            <a:extLst>
              <a:ext uri="{FF2B5EF4-FFF2-40B4-BE49-F238E27FC236}">
                <a16:creationId xmlns:a16="http://schemas.microsoft.com/office/drawing/2014/main" id="{7DC79D7E-CE3C-47EA-ADA9-E4A7BAB4A99C}"/>
              </a:ext>
            </a:extLst>
          </p:cNvPr>
          <p:cNvSpPr/>
          <p:nvPr/>
        </p:nvSpPr>
        <p:spPr bwMode="auto">
          <a:xfrm>
            <a:off x="5240361" y="4571252"/>
            <a:ext cx="858732" cy="503667"/>
          </a:xfrm>
          <a:custGeom>
            <a:avLst/>
            <a:gdLst>
              <a:gd name="connsiteX0" fmla="*/ 0 w 800100"/>
              <a:gd name="connsiteY0" fmla="*/ 0 h 257175"/>
              <a:gd name="connsiteX1" fmla="*/ 328612 w 800100"/>
              <a:gd name="connsiteY1" fmla="*/ 0 h 257175"/>
              <a:gd name="connsiteX2" fmla="*/ 328612 w 800100"/>
              <a:gd name="connsiteY2" fmla="*/ 257175 h 257175"/>
              <a:gd name="connsiteX3" fmla="*/ 800100 w 800100"/>
              <a:gd name="connsiteY3" fmla="*/ 257175 h 257175"/>
            </a:gdLst>
            <a:ahLst/>
            <a:cxnLst>
              <a:cxn ang="0">
                <a:pos x="connsiteX0" y="connsiteY0"/>
              </a:cxn>
              <a:cxn ang="0">
                <a:pos x="connsiteX1" y="connsiteY1"/>
              </a:cxn>
              <a:cxn ang="0">
                <a:pos x="connsiteX2" y="connsiteY2"/>
              </a:cxn>
              <a:cxn ang="0">
                <a:pos x="connsiteX3" y="connsiteY3"/>
              </a:cxn>
            </a:cxnLst>
            <a:rect l="l" t="t" r="r" b="b"/>
            <a:pathLst>
              <a:path w="800100" h="257175">
                <a:moveTo>
                  <a:pt x="0" y="0"/>
                </a:moveTo>
                <a:lnTo>
                  <a:pt x="328612" y="0"/>
                </a:lnTo>
                <a:lnTo>
                  <a:pt x="328612" y="257175"/>
                </a:lnTo>
                <a:lnTo>
                  <a:pt x="800100" y="257175"/>
                </a:lnTo>
              </a:path>
            </a:pathLst>
          </a:custGeom>
          <a:noFill/>
          <a:ln w="22225" cap="rnd">
            <a:solidFill>
              <a:schemeClr val="tx2">
                <a:lumMod val="50000"/>
                <a:lumOff val="50000"/>
              </a:schemeClr>
            </a:solidFill>
            <a:prstDash val="sysDot"/>
            <a:headEnd type="none" w="med" len="med"/>
            <a:tailEnd type="triangle" w="lg" len="lg"/>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0" name="Picture 9">
            <a:extLst>
              <a:ext uri="{FF2B5EF4-FFF2-40B4-BE49-F238E27FC236}">
                <a16:creationId xmlns:a16="http://schemas.microsoft.com/office/drawing/2014/main" id="{38346B18-0111-4033-A3B3-93B901C2404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207125" y="3050165"/>
            <a:ext cx="5397777" cy="3143411"/>
          </a:xfrm>
          <a:prstGeom prst="rect">
            <a:avLst/>
          </a:prstGeom>
          <a:ln>
            <a:noFill/>
          </a:ln>
          <a:effectLst>
            <a:outerShdw blurRad="50800" dist="38100" dir="2700000" algn="tl" rotWithShape="0">
              <a:prstClr val="black">
                <a:alpha val="40000"/>
              </a:prstClr>
            </a:outerShdw>
          </a:effectLst>
        </p:spPr>
      </p:pic>
      <p:sp>
        <p:nvSpPr>
          <p:cNvPr id="7" name="Rectangle 6">
            <a:extLst>
              <a:ext uri="{FF2B5EF4-FFF2-40B4-BE49-F238E27FC236}">
                <a16:creationId xmlns:a16="http://schemas.microsoft.com/office/drawing/2014/main" id="{78102F24-9E55-4490-B46D-08B824E694AB}"/>
              </a:ext>
            </a:extLst>
          </p:cNvPr>
          <p:cNvSpPr/>
          <p:nvPr/>
        </p:nvSpPr>
        <p:spPr bwMode="auto">
          <a:xfrm>
            <a:off x="6176461" y="3295812"/>
            <a:ext cx="1898232" cy="809463"/>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19">
            <a:extLst>
              <a:ext uri="{FF2B5EF4-FFF2-40B4-BE49-F238E27FC236}">
                <a16:creationId xmlns:a16="http://schemas.microsoft.com/office/drawing/2014/main" id="{FAA3F1AD-DDA4-4033-B6F1-255A43F2A22B}"/>
              </a:ext>
            </a:extLst>
          </p:cNvPr>
          <p:cNvSpPr/>
          <p:nvPr/>
        </p:nvSpPr>
        <p:spPr bwMode="auto">
          <a:xfrm>
            <a:off x="6176460" y="4756566"/>
            <a:ext cx="1898232" cy="809463"/>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35" name="Group 34">
            <a:extLst>
              <a:ext uri="{FF2B5EF4-FFF2-40B4-BE49-F238E27FC236}">
                <a16:creationId xmlns:a16="http://schemas.microsoft.com/office/drawing/2014/main" id="{6E4BAFCD-7D4E-65B4-65A1-F93C2A1F126E}"/>
              </a:ext>
            </a:extLst>
          </p:cNvPr>
          <p:cNvGrpSpPr/>
          <p:nvPr/>
        </p:nvGrpSpPr>
        <p:grpSpPr>
          <a:xfrm>
            <a:off x="9800681" y="299796"/>
            <a:ext cx="1803056" cy="552365"/>
            <a:chOff x="10126451" y="192765"/>
            <a:chExt cx="1803056" cy="552365"/>
          </a:xfrm>
        </p:grpSpPr>
        <p:grpSp>
          <p:nvGrpSpPr>
            <p:cNvPr id="38" name="Group 37">
              <a:extLst>
                <a:ext uri="{FF2B5EF4-FFF2-40B4-BE49-F238E27FC236}">
                  <a16:creationId xmlns:a16="http://schemas.microsoft.com/office/drawing/2014/main" id="{2DAB3AC5-0F51-E2B8-2106-0CA102DC29D4}"/>
                </a:ext>
              </a:extLst>
            </p:cNvPr>
            <p:cNvGrpSpPr/>
            <p:nvPr/>
          </p:nvGrpSpPr>
          <p:grpSpPr>
            <a:xfrm>
              <a:off x="10752268" y="196490"/>
              <a:ext cx="548640" cy="548640"/>
              <a:chOff x="10752268" y="196490"/>
              <a:chExt cx="548640" cy="548640"/>
            </a:xfrm>
          </p:grpSpPr>
          <p:sp>
            <p:nvSpPr>
              <p:cNvPr id="60" name="Oval 59">
                <a:extLst>
                  <a:ext uri="{FF2B5EF4-FFF2-40B4-BE49-F238E27FC236}">
                    <a16:creationId xmlns:a16="http://schemas.microsoft.com/office/drawing/2014/main" id="{76CC1BE1-A4DE-6D0E-4FB4-D69CF9E1A764}"/>
                  </a:ext>
                </a:extLst>
              </p:cNvPr>
              <p:cNvSpPr/>
              <p:nvPr/>
            </p:nvSpPr>
            <p:spPr bwMode="auto">
              <a:xfrm>
                <a:off x="10752268"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61" name="gear" descr="gear, wrench, engineer">
                <a:extLst>
                  <a:ext uri="{FF2B5EF4-FFF2-40B4-BE49-F238E27FC236}">
                    <a16:creationId xmlns:a16="http://schemas.microsoft.com/office/drawing/2014/main" id="{A03EC8A2-DFBE-68ED-5640-699E1FBC8CF9}"/>
                  </a:ext>
                </a:extLst>
              </p:cNvPr>
              <p:cNvGrpSpPr/>
              <p:nvPr/>
            </p:nvGrpSpPr>
            <p:grpSpPr>
              <a:xfrm>
                <a:off x="10883844" y="326676"/>
                <a:ext cx="288269" cy="288268"/>
                <a:chOff x="3510968" y="2992337"/>
                <a:chExt cx="498751" cy="498751"/>
              </a:xfrm>
              <a:solidFill>
                <a:schemeClr val="bg1"/>
              </a:solidFill>
            </p:grpSpPr>
            <p:sp>
              <p:nvSpPr>
                <p:cNvPr id="63" name="Freeform: Shape 62">
                  <a:extLst>
                    <a:ext uri="{FF2B5EF4-FFF2-40B4-BE49-F238E27FC236}">
                      <a16:creationId xmlns:a16="http://schemas.microsoft.com/office/drawing/2014/main" id="{BE9B3A9A-EACE-010E-5C9C-B7321A99FA2B}"/>
                    </a:ext>
                  </a:extLst>
                </p:cNvPr>
                <p:cNvSpPr/>
                <p:nvPr/>
              </p:nvSpPr>
              <p:spPr>
                <a:xfrm>
                  <a:off x="3510968" y="2992337"/>
                  <a:ext cx="498751" cy="498751"/>
                </a:xfrm>
                <a:custGeom>
                  <a:avLst/>
                  <a:gdLst>
                    <a:gd name="connsiteX0" fmla="*/ 499635 w 498751"/>
                    <a:gd name="connsiteY0" fmla="*/ 277035 h 498751"/>
                    <a:gd name="connsiteX1" fmla="*/ 499635 w 498751"/>
                    <a:gd name="connsiteY1" fmla="*/ 224623 h 498751"/>
                    <a:gd name="connsiteX2" fmla="*/ 445560 w 498751"/>
                    <a:gd name="connsiteY2" fmla="*/ 224623 h 498751"/>
                    <a:gd name="connsiteX3" fmla="*/ 407060 w 498751"/>
                    <a:gd name="connsiteY3" fmla="*/ 131698 h 498751"/>
                    <a:gd name="connsiteX4" fmla="*/ 445298 w 498751"/>
                    <a:gd name="connsiteY4" fmla="*/ 93460 h 498751"/>
                    <a:gd name="connsiteX5" fmla="*/ 408285 w 498751"/>
                    <a:gd name="connsiteY5" fmla="*/ 56448 h 498751"/>
                    <a:gd name="connsiteX6" fmla="*/ 370048 w 498751"/>
                    <a:gd name="connsiteY6" fmla="*/ 94686 h 498751"/>
                    <a:gd name="connsiteX7" fmla="*/ 277123 w 498751"/>
                    <a:gd name="connsiteY7" fmla="*/ 56186 h 498751"/>
                    <a:gd name="connsiteX8" fmla="*/ 277123 w 498751"/>
                    <a:gd name="connsiteY8" fmla="*/ 2111 h 498751"/>
                    <a:gd name="connsiteX9" fmla="*/ 224710 w 498751"/>
                    <a:gd name="connsiteY9" fmla="*/ 2111 h 498751"/>
                    <a:gd name="connsiteX10" fmla="*/ 224710 w 498751"/>
                    <a:gd name="connsiteY10" fmla="*/ 56186 h 498751"/>
                    <a:gd name="connsiteX11" fmla="*/ 131785 w 498751"/>
                    <a:gd name="connsiteY11" fmla="*/ 94686 h 498751"/>
                    <a:gd name="connsiteX12" fmla="*/ 93548 w 498751"/>
                    <a:gd name="connsiteY12" fmla="*/ 56448 h 498751"/>
                    <a:gd name="connsiteX13" fmla="*/ 56536 w 498751"/>
                    <a:gd name="connsiteY13" fmla="*/ 93460 h 498751"/>
                    <a:gd name="connsiteX14" fmla="*/ 94773 w 498751"/>
                    <a:gd name="connsiteY14" fmla="*/ 131698 h 498751"/>
                    <a:gd name="connsiteX15" fmla="*/ 56273 w 498751"/>
                    <a:gd name="connsiteY15" fmla="*/ 224623 h 498751"/>
                    <a:gd name="connsiteX16" fmla="*/ 2111 w 498751"/>
                    <a:gd name="connsiteY16" fmla="*/ 224623 h 498751"/>
                    <a:gd name="connsiteX17" fmla="*/ 2111 w 498751"/>
                    <a:gd name="connsiteY17" fmla="*/ 277035 h 498751"/>
                    <a:gd name="connsiteX18" fmla="*/ 56186 w 498751"/>
                    <a:gd name="connsiteY18" fmla="*/ 277035 h 498751"/>
                    <a:gd name="connsiteX19" fmla="*/ 112010 w 498751"/>
                    <a:gd name="connsiteY19" fmla="*/ 389735 h 498751"/>
                    <a:gd name="connsiteX20" fmla="*/ 224710 w 498751"/>
                    <a:gd name="connsiteY20" fmla="*/ 445560 h 498751"/>
                    <a:gd name="connsiteX21" fmla="*/ 224710 w 498751"/>
                    <a:gd name="connsiteY21" fmla="*/ 499635 h 498751"/>
                    <a:gd name="connsiteX22" fmla="*/ 277123 w 498751"/>
                    <a:gd name="connsiteY22" fmla="*/ 499635 h 498751"/>
                    <a:gd name="connsiteX23" fmla="*/ 277123 w 498751"/>
                    <a:gd name="connsiteY23" fmla="*/ 445560 h 498751"/>
                    <a:gd name="connsiteX24" fmla="*/ 370048 w 498751"/>
                    <a:gd name="connsiteY24" fmla="*/ 407060 h 498751"/>
                    <a:gd name="connsiteX25" fmla="*/ 408285 w 498751"/>
                    <a:gd name="connsiteY25" fmla="*/ 445298 h 498751"/>
                    <a:gd name="connsiteX26" fmla="*/ 445298 w 498751"/>
                    <a:gd name="connsiteY26" fmla="*/ 408285 h 498751"/>
                    <a:gd name="connsiteX27" fmla="*/ 407060 w 498751"/>
                    <a:gd name="connsiteY27" fmla="*/ 370048 h 498751"/>
                    <a:gd name="connsiteX28" fmla="*/ 445560 w 498751"/>
                    <a:gd name="connsiteY28" fmla="*/ 277123 h 498751"/>
                    <a:gd name="connsiteX29" fmla="*/ 499635 w 498751"/>
                    <a:gd name="connsiteY29" fmla="*/ 277123 h 498751"/>
                    <a:gd name="connsiteX30" fmla="*/ 499635 w 498751"/>
                    <a:gd name="connsiteY30" fmla="*/ 277035 h 498751"/>
                    <a:gd name="connsiteX31" fmla="*/ 106848 w 498751"/>
                    <a:gd name="connsiteY31" fmla="*/ 250873 h 498751"/>
                    <a:gd name="connsiteX32" fmla="*/ 139573 w 498751"/>
                    <a:gd name="connsiteY32" fmla="*/ 159523 h 498751"/>
                    <a:gd name="connsiteX33" fmla="*/ 222786 w 498751"/>
                    <a:gd name="connsiteY33" fmla="*/ 109648 h 498751"/>
                    <a:gd name="connsiteX34" fmla="*/ 318773 w 498751"/>
                    <a:gd name="connsiteY34" fmla="*/ 123910 h 498751"/>
                    <a:gd name="connsiteX35" fmla="*/ 383960 w 498751"/>
                    <a:gd name="connsiteY35" fmla="*/ 195835 h 498751"/>
                    <a:gd name="connsiteX36" fmla="*/ 388685 w 498751"/>
                    <a:gd name="connsiteY36" fmla="*/ 292785 h 498751"/>
                    <a:gd name="connsiteX37" fmla="*/ 330848 w 498751"/>
                    <a:gd name="connsiteY37" fmla="*/ 370748 h 498751"/>
                    <a:gd name="connsiteX38" fmla="*/ 236698 w 498751"/>
                    <a:gd name="connsiteY38" fmla="*/ 394285 h 498751"/>
                    <a:gd name="connsiteX39" fmla="*/ 148936 w 498751"/>
                    <a:gd name="connsiteY39" fmla="*/ 352810 h 498751"/>
                    <a:gd name="connsiteX40" fmla="*/ 117610 w 498751"/>
                    <a:gd name="connsiteY40" fmla="*/ 306085 h 498751"/>
                    <a:gd name="connsiteX41" fmla="*/ 106848 w 498751"/>
                    <a:gd name="connsiteY41" fmla="*/ 250873 h 498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98751" h="498751">
                      <a:moveTo>
                        <a:pt x="499635" y="277035"/>
                      </a:moveTo>
                      <a:lnTo>
                        <a:pt x="499635" y="224623"/>
                      </a:lnTo>
                      <a:lnTo>
                        <a:pt x="445560" y="224623"/>
                      </a:lnTo>
                      <a:cubicBezTo>
                        <a:pt x="441098" y="190848"/>
                        <a:pt x="427798" y="158823"/>
                        <a:pt x="407060" y="131698"/>
                      </a:cubicBezTo>
                      <a:lnTo>
                        <a:pt x="445298" y="93460"/>
                      </a:lnTo>
                      <a:lnTo>
                        <a:pt x="408285" y="56448"/>
                      </a:lnTo>
                      <a:lnTo>
                        <a:pt x="370048" y="94686"/>
                      </a:lnTo>
                      <a:cubicBezTo>
                        <a:pt x="342923" y="73948"/>
                        <a:pt x="310898" y="60648"/>
                        <a:pt x="277123" y="56186"/>
                      </a:cubicBezTo>
                      <a:lnTo>
                        <a:pt x="277123" y="2111"/>
                      </a:lnTo>
                      <a:lnTo>
                        <a:pt x="224710" y="2111"/>
                      </a:lnTo>
                      <a:lnTo>
                        <a:pt x="224710" y="56186"/>
                      </a:lnTo>
                      <a:cubicBezTo>
                        <a:pt x="190935" y="60648"/>
                        <a:pt x="158911" y="73948"/>
                        <a:pt x="131785" y="94686"/>
                      </a:cubicBezTo>
                      <a:lnTo>
                        <a:pt x="93548" y="56448"/>
                      </a:lnTo>
                      <a:lnTo>
                        <a:pt x="56536" y="93460"/>
                      </a:lnTo>
                      <a:lnTo>
                        <a:pt x="94773" y="131698"/>
                      </a:lnTo>
                      <a:cubicBezTo>
                        <a:pt x="74036" y="158823"/>
                        <a:pt x="60736" y="190848"/>
                        <a:pt x="56273" y="224623"/>
                      </a:cubicBezTo>
                      <a:lnTo>
                        <a:pt x="2111" y="224623"/>
                      </a:lnTo>
                      <a:lnTo>
                        <a:pt x="2111" y="277035"/>
                      </a:lnTo>
                      <a:lnTo>
                        <a:pt x="56186" y="277035"/>
                      </a:lnTo>
                      <a:cubicBezTo>
                        <a:pt x="61961" y="319648"/>
                        <a:pt x="81561" y="359285"/>
                        <a:pt x="112010" y="389735"/>
                      </a:cubicBezTo>
                      <a:cubicBezTo>
                        <a:pt x="142461" y="420185"/>
                        <a:pt x="182011" y="439785"/>
                        <a:pt x="224710" y="445560"/>
                      </a:cubicBezTo>
                      <a:lnTo>
                        <a:pt x="224710" y="499635"/>
                      </a:lnTo>
                      <a:lnTo>
                        <a:pt x="277123" y="499635"/>
                      </a:lnTo>
                      <a:lnTo>
                        <a:pt x="277123" y="445560"/>
                      </a:lnTo>
                      <a:cubicBezTo>
                        <a:pt x="310898" y="441098"/>
                        <a:pt x="342923" y="427798"/>
                        <a:pt x="370048" y="407060"/>
                      </a:cubicBezTo>
                      <a:lnTo>
                        <a:pt x="408285" y="445298"/>
                      </a:lnTo>
                      <a:lnTo>
                        <a:pt x="445298" y="408285"/>
                      </a:lnTo>
                      <a:lnTo>
                        <a:pt x="407060" y="370048"/>
                      </a:lnTo>
                      <a:cubicBezTo>
                        <a:pt x="427798" y="342923"/>
                        <a:pt x="441098" y="310898"/>
                        <a:pt x="445560" y="277123"/>
                      </a:cubicBezTo>
                      <a:lnTo>
                        <a:pt x="499635" y="277123"/>
                      </a:lnTo>
                      <a:lnTo>
                        <a:pt x="499635" y="277035"/>
                      </a:lnTo>
                      <a:close/>
                      <a:moveTo>
                        <a:pt x="106848" y="250873"/>
                      </a:moveTo>
                      <a:cubicBezTo>
                        <a:pt x="106848" y="217535"/>
                        <a:pt x="118398" y="185248"/>
                        <a:pt x="139573" y="159523"/>
                      </a:cubicBezTo>
                      <a:cubicBezTo>
                        <a:pt x="160748" y="133798"/>
                        <a:pt x="190148" y="116123"/>
                        <a:pt x="222786" y="109648"/>
                      </a:cubicBezTo>
                      <a:cubicBezTo>
                        <a:pt x="255423" y="103173"/>
                        <a:pt x="289373" y="108161"/>
                        <a:pt x="318773" y="123910"/>
                      </a:cubicBezTo>
                      <a:cubicBezTo>
                        <a:pt x="348173" y="139573"/>
                        <a:pt x="371185" y="165035"/>
                        <a:pt x="383960" y="195835"/>
                      </a:cubicBezTo>
                      <a:cubicBezTo>
                        <a:pt x="396735" y="226635"/>
                        <a:pt x="398397" y="260848"/>
                        <a:pt x="388685" y="292785"/>
                      </a:cubicBezTo>
                      <a:cubicBezTo>
                        <a:pt x="378973" y="324635"/>
                        <a:pt x="358585" y="352197"/>
                        <a:pt x="330848" y="370748"/>
                      </a:cubicBezTo>
                      <a:cubicBezTo>
                        <a:pt x="303110" y="389298"/>
                        <a:pt x="269860" y="397610"/>
                        <a:pt x="236698" y="394285"/>
                      </a:cubicBezTo>
                      <a:cubicBezTo>
                        <a:pt x="203535" y="391048"/>
                        <a:pt x="172560" y="376347"/>
                        <a:pt x="148936" y="352810"/>
                      </a:cubicBezTo>
                      <a:cubicBezTo>
                        <a:pt x="135548" y="339510"/>
                        <a:pt x="124873" y="323585"/>
                        <a:pt x="117610" y="306085"/>
                      </a:cubicBezTo>
                      <a:cubicBezTo>
                        <a:pt x="110523" y="288498"/>
                        <a:pt x="106761" y="269773"/>
                        <a:pt x="106848" y="25087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64" name="Freeform: Shape 63">
                  <a:extLst>
                    <a:ext uri="{FF2B5EF4-FFF2-40B4-BE49-F238E27FC236}">
                      <a16:creationId xmlns:a16="http://schemas.microsoft.com/office/drawing/2014/main" id="{59BF0C31-3FA5-1DAB-E569-30D817596168}"/>
                    </a:ext>
                  </a:extLst>
                </p:cNvPr>
                <p:cNvSpPr/>
                <p:nvPr/>
              </p:nvSpPr>
              <p:spPr>
                <a:xfrm>
                  <a:off x="3525494" y="3127375"/>
                  <a:ext cx="348087" cy="348087"/>
                </a:xfrm>
                <a:custGeom>
                  <a:avLst/>
                  <a:gdLst>
                    <a:gd name="connsiteX0" fmla="*/ 286398 w 348086"/>
                    <a:gd name="connsiteY0" fmla="*/ 124333 h 348086"/>
                    <a:gd name="connsiteX1" fmla="*/ 226548 w 348086"/>
                    <a:gd name="connsiteY1" fmla="*/ 64483 h 348086"/>
                    <a:gd name="connsiteX2" fmla="*/ 280448 w 348086"/>
                    <a:gd name="connsiteY2" fmla="*/ 10583 h 348086"/>
                    <a:gd name="connsiteX3" fmla="*/ 216923 w 348086"/>
                    <a:gd name="connsiteY3" fmla="*/ 4108 h 348086"/>
                    <a:gd name="connsiteX4" fmla="*/ 160310 w 348086"/>
                    <a:gd name="connsiteY4" fmla="*/ 33683 h 348086"/>
                    <a:gd name="connsiteX5" fmla="*/ 129335 w 348086"/>
                    <a:gd name="connsiteY5" fmla="*/ 89508 h 348086"/>
                    <a:gd name="connsiteX6" fmla="*/ 134235 w 348086"/>
                    <a:gd name="connsiteY6" fmla="*/ 153121 h 348086"/>
                    <a:gd name="connsiteX7" fmla="*/ 15236 w 348086"/>
                    <a:gd name="connsiteY7" fmla="*/ 272121 h 348086"/>
                    <a:gd name="connsiteX8" fmla="*/ 2111 w 348086"/>
                    <a:gd name="connsiteY8" fmla="*/ 303883 h 348086"/>
                    <a:gd name="connsiteX9" fmla="*/ 15236 w 348086"/>
                    <a:gd name="connsiteY9" fmla="*/ 335645 h 348086"/>
                    <a:gd name="connsiteX10" fmla="*/ 46998 w 348086"/>
                    <a:gd name="connsiteY10" fmla="*/ 348770 h 348086"/>
                    <a:gd name="connsiteX11" fmla="*/ 78760 w 348086"/>
                    <a:gd name="connsiteY11" fmla="*/ 335645 h 348086"/>
                    <a:gd name="connsiteX12" fmla="*/ 197760 w 348086"/>
                    <a:gd name="connsiteY12" fmla="*/ 216645 h 348086"/>
                    <a:gd name="connsiteX13" fmla="*/ 261373 w 348086"/>
                    <a:gd name="connsiteY13" fmla="*/ 221546 h 348086"/>
                    <a:gd name="connsiteX14" fmla="*/ 317198 w 348086"/>
                    <a:gd name="connsiteY14" fmla="*/ 190571 h 348086"/>
                    <a:gd name="connsiteX15" fmla="*/ 346773 w 348086"/>
                    <a:gd name="connsiteY15" fmla="*/ 134045 h 348086"/>
                    <a:gd name="connsiteX16" fmla="*/ 340298 w 348086"/>
                    <a:gd name="connsiteY16" fmla="*/ 70521 h 348086"/>
                    <a:gd name="connsiteX17" fmla="*/ 286398 w 348086"/>
                    <a:gd name="connsiteY17" fmla="*/ 124333 h 348086"/>
                    <a:gd name="connsiteX18" fmla="*/ 63011 w 348086"/>
                    <a:gd name="connsiteY18" fmla="*/ 319633 h 348086"/>
                    <a:gd name="connsiteX19" fmla="*/ 51548 w 348086"/>
                    <a:gd name="connsiteY19" fmla="*/ 325758 h 348086"/>
                    <a:gd name="connsiteX20" fmla="*/ 38598 w 348086"/>
                    <a:gd name="connsiteY20" fmla="*/ 324445 h 348086"/>
                    <a:gd name="connsiteX21" fmla="*/ 28536 w 348086"/>
                    <a:gd name="connsiteY21" fmla="*/ 316220 h 348086"/>
                    <a:gd name="connsiteX22" fmla="*/ 24773 w 348086"/>
                    <a:gd name="connsiteY22" fmla="*/ 303795 h 348086"/>
                    <a:gd name="connsiteX23" fmla="*/ 28536 w 348086"/>
                    <a:gd name="connsiteY23" fmla="*/ 291371 h 348086"/>
                    <a:gd name="connsiteX24" fmla="*/ 38598 w 348086"/>
                    <a:gd name="connsiteY24" fmla="*/ 283146 h 348086"/>
                    <a:gd name="connsiteX25" fmla="*/ 51548 w 348086"/>
                    <a:gd name="connsiteY25" fmla="*/ 281833 h 348086"/>
                    <a:gd name="connsiteX26" fmla="*/ 63011 w 348086"/>
                    <a:gd name="connsiteY26" fmla="*/ 287958 h 348086"/>
                    <a:gd name="connsiteX27" fmla="*/ 69573 w 348086"/>
                    <a:gd name="connsiteY27" fmla="*/ 303795 h 348086"/>
                    <a:gd name="connsiteX28" fmla="*/ 63011 w 348086"/>
                    <a:gd name="connsiteY28" fmla="*/ 319633 h 348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48086" h="348086">
                      <a:moveTo>
                        <a:pt x="286398" y="124333"/>
                      </a:moveTo>
                      <a:lnTo>
                        <a:pt x="226548" y="64483"/>
                      </a:lnTo>
                      <a:lnTo>
                        <a:pt x="280448" y="10583"/>
                      </a:lnTo>
                      <a:cubicBezTo>
                        <a:pt x="260410" y="2271"/>
                        <a:pt x="238273" y="-4"/>
                        <a:pt x="216923" y="4108"/>
                      </a:cubicBezTo>
                      <a:cubicBezTo>
                        <a:pt x="195573" y="8221"/>
                        <a:pt x="175885" y="18458"/>
                        <a:pt x="160310" y="33683"/>
                      </a:cubicBezTo>
                      <a:cubicBezTo>
                        <a:pt x="144735" y="48821"/>
                        <a:pt x="133973" y="68246"/>
                        <a:pt x="129335" y="89508"/>
                      </a:cubicBezTo>
                      <a:cubicBezTo>
                        <a:pt x="124698" y="110771"/>
                        <a:pt x="126448" y="132908"/>
                        <a:pt x="134235" y="153121"/>
                      </a:cubicBezTo>
                      <a:lnTo>
                        <a:pt x="15236" y="272121"/>
                      </a:lnTo>
                      <a:cubicBezTo>
                        <a:pt x="6836" y="280520"/>
                        <a:pt x="2111" y="291983"/>
                        <a:pt x="2111" y="303883"/>
                      </a:cubicBezTo>
                      <a:cubicBezTo>
                        <a:pt x="2111" y="315783"/>
                        <a:pt x="6836" y="327158"/>
                        <a:pt x="15236" y="335645"/>
                      </a:cubicBezTo>
                      <a:cubicBezTo>
                        <a:pt x="23636" y="344046"/>
                        <a:pt x="35098" y="348770"/>
                        <a:pt x="46998" y="348770"/>
                      </a:cubicBezTo>
                      <a:cubicBezTo>
                        <a:pt x="58898" y="348770"/>
                        <a:pt x="70273" y="344046"/>
                        <a:pt x="78760" y="335645"/>
                      </a:cubicBezTo>
                      <a:lnTo>
                        <a:pt x="197760" y="216645"/>
                      </a:lnTo>
                      <a:cubicBezTo>
                        <a:pt x="218060" y="224520"/>
                        <a:pt x="240110" y="226183"/>
                        <a:pt x="261373" y="221546"/>
                      </a:cubicBezTo>
                      <a:cubicBezTo>
                        <a:pt x="282635" y="216908"/>
                        <a:pt x="301973" y="206146"/>
                        <a:pt x="317198" y="190571"/>
                      </a:cubicBezTo>
                      <a:cubicBezTo>
                        <a:pt x="332335" y="174996"/>
                        <a:pt x="342660" y="155308"/>
                        <a:pt x="346773" y="134045"/>
                      </a:cubicBezTo>
                      <a:cubicBezTo>
                        <a:pt x="350885" y="112696"/>
                        <a:pt x="348610" y="90646"/>
                        <a:pt x="340298" y="70521"/>
                      </a:cubicBezTo>
                      <a:lnTo>
                        <a:pt x="286398" y="124333"/>
                      </a:lnTo>
                      <a:close/>
                      <a:moveTo>
                        <a:pt x="63011" y="319633"/>
                      </a:moveTo>
                      <a:cubicBezTo>
                        <a:pt x="59861" y="322783"/>
                        <a:pt x="55835" y="324883"/>
                        <a:pt x="51548" y="325758"/>
                      </a:cubicBezTo>
                      <a:cubicBezTo>
                        <a:pt x="47173" y="326633"/>
                        <a:pt x="42710" y="326196"/>
                        <a:pt x="38598" y="324445"/>
                      </a:cubicBezTo>
                      <a:cubicBezTo>
                        <a:pt x="34486" y="322783"/>
                        <a:pt x="30986" y="319896"/>
                        <a:pt x="28536" y="316220"/>
                      </a:cubicBezTo>
                      <a:cubicBezTo>
                        <a:pt x="26086" y="312545"/>
                        <a:pt x="24773" y="308170"/>
                        <a:pt x="24773" y="303795"/>
                      </a:cubicBezTo>
                      <a:cubicBezTo>
                        <a:pt x="24773" y="299333"/>
                        <a:pt x="26086" y="295045"/>
                        <a:pt x="28536" y="291371"/>
                      </a:cubicBezTo>
                      <a:cubicBezTo>
                        <a:pt x="30986" y="287696"/>
                        <a:pt x="34486" y="284808"/>
                        <a:pt x="38598" y="283146"/>
                      </a:cubicBezTo>
                      <a:cubicBezTo>
                        <a:pt x="42710" y="281483"/>
                        <a:pt x="47173" y="281046"/>
                        <a:pt x="51548" y="281833"/>
                      </a:cubicBezTo>
                      <a:cubicBezTo>
                        <a:pt x="55923" y="282708"/>
                        <a:pt x="59861" y="284808"/>
                        <a:pt x="63011" y="287958"/>
                      </a:cubicBezTo>
                      <a:cubicBezTo>
                        <a:pt x="67211" y="292158"/>
                        <a:pt x="69573" y="297846"/>
                        <a:pt x="69573" y="303795"/>
                      </a:cubicBezTo>
                      <a:cubicBezTo>
                        <a:pt x="69573" y="309746"/>
                        <a:pt x="67211" y="315433"/>
                        <a:pt x="63011" y="31963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sp>
            <p:nvSpPr>
              <p:cNvPr id="62" name="Oval 61">
                <a:extLst>
                  <a:ext uri="{FF2B5EF4-FFF2-40B4-BE49-F238E27FC236}">
                    <a16:creationId xmlns:a16="http://schemas.microsoft.com/office/drawing/2014/main" id="{7904FFF3-99A1-FEA5-D1B5-8017F5199A46}"/>
                  </a:ext>
                </a:extLst>
              </p:cNvPr>
              <p:cNvSpPr>
                <a:spLocks/>
              </p:cNvSpPr>
              <p:nvPr/>
            </p:nvSpPr>
            <p:spPr bwMode="auto">
              <a:xfrm>
                <a:off x="10778606"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0" name="Group 39">
              <a:extLst>
                <a:ext uri="{FF2B5EF4-FFF2-40B4-BE49-F238E27FC236}">
                  <a16:creationId xmlns:a16="http://schemas.microsoft.com/office/drawing/2014/main" id="{8180D257-8689-AFE9-D427-BA1290AEDC81}"/>
                </a:ext>
              </a:extLst>
            </p:cNvPr>
            <p:cNvGrpSpPr/>
            <p:nvPr/>
          </p:nvGrpSpPr>
          <p:grpSpPr>
            <a:xfrm>
              <a:off x="10126451" y="192765"/>
              <a:ext cx="548640" cy="548640"/>
              <a:chOff x="10126451" y="192765"/>
              <a:chExt cx="548640" cy="548640"/>
            </a:xfrm>
          </p:grpSpPr>
          <p:grpSp>
            <p:nvGrpSpPr>
              <p:cNvPr id="53" name="Group 52">
                <a:extLst>
                  <a:ext uri="{FF2B5EF4-FFF2-40B4-BE49-F238E27FC236}">
                    <a16:creationId xmlns:a16="http://schemas.microsoft.com/office/drawing/2014/main" id="{DE05A4A7-0D38-BDE9-92D1-3E0BEA940F9B}"/>
                  </a:ext>
                </a:extLst>
              </p:cNvPr>
              <p:cNvGrpSpPr/>
              <p:nvPr/>
            </p:nvGrpSpPr>
            <p:grpSpPr>
              <a:xfrm>
                <a:off x="10126451" y="192765"/>
                <a:ext cx="548640" cy="548640"/>
                <a:chOff x="10753659" y="196490"/>
                <a:chExt cx="548640" cy="548640"/>
              </a:xfrm>
            </p:grpSpPr>
            <p:sp>
              <p:nvSpPr>
                <p:cNvPr id="58" name="Oval 57">
                  <a:extLst>
                    <a:ext uri="{FF2B5EF4-FFF2-40B4-BE49-F238E27FC236}">
                      <a16:creationId xmlns:a16="http://schemas.microsoft.com/office/drawing/2014/main" id="{D7FDEDC7-EBD5-A19D-3C70-E6CC1FBF78FA}"/>
                    </a:ext>
                  </a:extLst>
                </p:cNvPr>
                <p:cNvSpPr/>
                <p:nvPr/>
              </p:nvSpPr>
              <p:spPr bwMode="auto">
                <a:xfrm>
                  <a:off x="10753659"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9" name="Oval 58">
                  <a:extLst>
                    <a:ext uri="{FF2B5EF4-FFF2-40B4-BE49-F238E27FC236}">
                      <a16:creationId xmlns:a16="http://schemas.microsoft.com/office/drawing/2014/main" id="{A7A79B52-3E1F-F982-0BC3-4DCE501C60EA}"/>
                    </a:ext>
                  </a:extLst>
                </p:cNvPr>
                <p:cNvSpPr>
                  <a:spLocks/>
                </p:cNvSpPr>
                <p:nvPr/>
              </p:nvSpPr>
              <p:spPr bwMode="auto">
                <a:xfrm>
                  <a:off x="10779997"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4" name="Group 53">
                <a:extLst>
                  <a:ext uri="{FF2B5EF4-FFF2-40B4-BE49-F238E27FC236}">
                    <a16:creationId xmlns:a16="http://schemas.microsoft.com/office/drawing/2014/main" id="{39F58637-C99D-1A6D-3B2C-73433B987164}"/>
                  </a:ext>
                </a:extLst>
              </p:cNvPr>
              <p:cNvGrpSpPr/>
              <p:nvPr/>
            </p:nvGrpSpPr>
            <p:grpSpPr>
              <a:xfrm>
                <a:off x="10243674" y="318889"/>
                <a:ext cx="314209" cy="303840"/>
                <a:chOff x="3504064" y="4676412"/>
                <a:chExt cx="509193" cy="492392"/>
              </a:xfrm>
            </p:grpSpPr>
            <p:sp>
              <p:nvSpPr>
                <p:cNvPr id="55" name="Oval 54">
                  <a:extLst>
                    <a:ext uri="{FF2B5EF4-FFF2-40B4-BE49-F238E27FC236}">
                      <a16:creationId xmlns:a16="http://schemas.microsoft.com/office/drawing/2014/main" id="{B33D15D8-4AFD-FE70-407B-0D0550B2B1DB}"/>
                    </a:ext>
                  </a:extLst>
                </p:cNvPr>
                <p:cNvSpPr/>
                <p:nvPr/>
              </p:nvSpPr>
              <p:spPr bwMode="auto">
                <a:xfrm>
                  <a:off x="3504064"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6" name="Oval 55">
                  <a:extLst>
                    <a:ext uri="{FF2B5EF4-FFF2-40B4-BE49-F238E27FC236}">
                      <a16:creationId xmlns:a16="http://schemas.microsoft.com/office/drawing/2014/main" id="{5E2291D5-6DF3-FCE4-E803-F6168838A289}"/>
                    </a:ext>
                  </a:extLst>
                </p:cNvPr>
                <p:cNvSpPr/>
                <p:nvPr/>
              </p:nvSpPr>
              <p:spPr bwMode="auto">
                <a:xfrm>
                  <a:off x="3671817"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7" name="Oval 56">
                  <a:extLst>
                    <a:ext uri="{FF2B5EF4-FFF2-40B4-BE49-F238E27FC236}">
                      <a16:creationId xmlns:a16="http://schemas.microsoft.com/office/drawing/2014/main" id="{DF5DA538-5F7E-278B-C774-2700303905C0}"/>
                    </a:ext>
                  </a:extLst>
                </p:cNvPr>
                <p:cNvSpPr/>
                <p:nvPr/>
              </p:nvSpPr>
              <p:spPr bwMode="auto">
                <a:xfrm>
                  <a:off x="3587940" y="4676412"/>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grpSp>
          <p:nvGrpSpPr>
            <p:cNvPr id="41" name="Group 40">
              <a:extLst>
                <a:ext uri="{FF2B5EF4-FFF2-40B4-BE49-F238E27FC236}">
                  <a16:creationId xmlns:a16="http://schemas.microsoft.com/office/drawing/2014/main" id="{70B92494-7690-5515-D86C-FBB3F1606654}"/>
                </a:ext>
              </a:extLst>
            </p:cNvPr>
            <p:cNvGrpSpPr/>
            <p:nvPr/>
          </p:nvGrpSpPr>
          <p:grpSpPr>
            <a:xfrm>
              <a:off x="11380867" y="196490"/>
              <a:ext cx="548640" cy="548640"/>
              <a:chOff x="11380867" y="196490"/>
              <a:chExt cx="548640" cy="548640"/>
            </a:xfrm>
          </p:grpSpPr>
          <p:sp>
            <p:nvSpPr>
              <p:cNvPr id="42" name="Oval 41">
                <a:extLst>
                  <a:ext uri="{FF2B5EF4-FFF2-40B4-BE49-F238E27FC236}">
                    <a16:creationId xmlns:a16="http://schemas.microsoft.com/office/drawing/2014/main" id="{61712680-39A9-8F28-FB38-3DFF3B8D1717}"/>
                  </a:ext>
                </a:extLst>
              </p:cNvPr>
              <p:cNvSpPr/>
              <p:nvPr/>
            </p:nvSpPr>
            <p:spPr bwMode="auto">
              <a:xfrm>
                <a:off x="11380867" y="196490"/>
                <a:ext cx="548640" cy="548640"/>
              </a:xfrm>
              <a:prstGeom prst="ellipse">
                <a:avLst/>
              </a:prstGeom>
              <a:solidFill>
                <a:srgbClr val="1A2B46"/>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3" name="Oval 42">
                <a:extLst>
                  <a:ext uri="{FF2B5EF4-FFF2-40B4-BE49-F238E27FC236}">
                    <a16:creationId xmlns:a16="http://schemas.microsoft.com/office/drawing/2014/main" id="{5AE93B60-4CB7-890C-F0D6-14DD0859CAA4}"/>
                  </a:ext>
                </a:extLst>
              </p:cNvPr>
              <p:cNvSpPr>
                <a:spLocks/>
              </p:cNvSpPr>
              <p:nvPr/>
            </p:nvSpPr>
            <p:spPr bwMode="auto">
              <a:xfrm>
                <a:off x="11407205"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44" name="Group 43">
                <a:extLst>
                  <a:ext uri="{FF2B5EF4-FFF2-40B4-BE49-F238E27FC236}">
                    <a16:creationId xmlns:a16="http://schemas.microsoft.com/office/drawing/2014/main" id="{D764E2BC-C6AB-2297-5708-3C51810A7AF4}"/>
                  </a:ext>
                </a:extLst>
              </p:cNvPr>
              <p:cNvGrpSpPr/>
              <p:nvPr/>
            </p:nvGrpSpPr>
            <p:grpSpPr>
              <a:xfrm>
                <a:off x="11478807" y="317384"/>
                <a:ext cx="352760" cy="306952"/>
                <a:chOff x="10772223" y="7410567"/>
                <a:chExt cx="346174" cy="301219"/>
              </a:xfrm>
            </p:grpSpPr>
            <p:sp>
              <p:nvSpPr>
                <p:cNvPr id="45" name="Freeform: Shape 44">
                  <a:extLst>
                    <a:ext uri="{FF2B5EF4-FFF2-40B4-BE49-F238E27FC236}">
                      <a16:creationId xmlns:a16="http://schemas.microsoft.com/office/drawing/2014/main" id="{DAA9FA37-9AF2-8851-AC10-46394F004A20}"/>
                    </a:ext>
                  </a:extLst>
                </p:cNvPr>
                <p:cNvSpPr/>
                <p:nvPr/>
              </p:nvSpPr>
              <p:spPr>
                <a:xfrm>
                  <a:off x="10840877" y="7661402"/>
                  <a:ext cx="236157" cy="47232"/>
                </a:xfrm>
                <a:custGeom>
                  <a:avLst/>
                  <a:gdLst>
                    <a:gd name="connsiteX0" fmla="*/ 121141 w 259772"/>
                    <a:gd name="connsiteY0" fmla="*/ 17145 h 51954"/>
                    <a:gd name="connsiteX1" fmla="*/ 267306 w 259772"/>
                    <a:gd name="connsiteY1" fmla="*/ 0 h 51954"/>
                    <a:gd name="connsiteX2" fmla="*/ 267306 w 259772"/>
                    <a:gd name="connsiteY2" fmla="*/ 25718 h 51954"/>
                    <a:gd name="connsiteX3" fmla="*/ 238039 w 259772"/>
                    <a:gd name="connsiteY3" fmla="*/ 60008 h 51954"/>
                    <a:gd name="connsiteX4" fmla="*/ 33424 w 259772"/>
                    <a:gd name="connsiteY4" fmla="*/ 60008 h 51954"/>
                    <a:gd name="connsiteX5" fmla="*/ 0 w 259772"/>
                    <a:gd name="connsiteY5" fmla="*/ 25718 h 51954"/>
                    <a:gd name="connsiteX6" fmla="*/ 0 w 259772"/>
                    <a:gd name="connsiteY6" fmla="*/ 4330 h 51954"/>
                    <a:gd name="connsiteX7" fmla="*/ 121141 w 259772"/>
                    <a:gd name="connsiteY7" fmla="*/ 17145 h 51954"/>
                    <a:gd name="connsiteX8" fmla="*/ 121141 w 259772"/>
                    <a:gd name="connsiteY8" fmla="*/ 17145 h 51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772" h="51954">
                      <a:moveTo>
                        <a:pt x="121141" y="17145"/>
                      </a:moveTo>
                      <a:cubicBezTo>
                        <a:pt x="175433" y="17145"/>
                        <a:pt x="225569" y="12902"/>
                        <a:pt x="267306" y="0"/>
                      </a:cubicBezTo>
                      <a:cubicBezTo>
                        <a:pt x="267306" y="8573"/>
                        <a:pt x="267306" y="17145"/>
                        <a:pt x="267306" y="25718"/>
                      </a:cubicBezTo>
                      <a:cubicBezTo>
                        <a:pt x="267306" y="42863"/>
                        <a:pt x="254751" y="60008"/>
                        <a:pt x="238039" y="60008"/>
                      </a:cubicBezTo>
                      <a:cubicBezTo>
                        <a:pt x="238039" y="60008"/>
                        <a:pt x="238039" y="60008"/>
                        <a:pt x="33424" y="60008"/>
                      </a:cubicBezTo>
                      <a:cubicBezTo>
                        <a:pt x="16712" y="60008"/>
                        <a:pt x="0" y="42863"/>
                        <a:pt x="0" y="25718"/>
                      </a:cubicBezTo>
                      <a:cubicBezTo>
                        <a:pt x="0" y="25718"/>
                        <a:pt x="0" y="25718"/>
                        <a:pt x="0" y="4330"/>
                      </a:cubicBezTo>
                      <a:cubicBezTo>
                        <a:pt x="37580" y="12815"/>
                        <a:pt x="79404" y="17145"/>
                        <a:pt x="121141" y="17145"/>
                      </a:cubicBezTo>
                      <a:lnTo>
                        <a:pt x="121141" y="17145"/>
                      </a:lnTo>
                      <a:close/>
                    </a:path>
                  </a:pathLst>
                </a:custGeom>
                <a:solidFill>
                  <a:schemeClr val="accent1"/>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nvGrpSpPr>
                <p:cNvPr id="50" name="Group 49">
                  <a:extLst>
                    <a:ext uri="{FF2B5EF4-FFF2-40B4-BE49-F238E27FC236}">
                      <a16:creationId xmlns:a16="http://schemas.microsoft.com/office/drawing/2014/main" id="{8BF048C5-8B11-8EA7-10F1-1B72090D6C12}"/>
                    </a:ext>
                  </a:extLst>
                </p:cNvPr>
                <p:cNvGrpSpPr/>
                <p:nvPr/>
              </p:nvGrpSpPr>
              <p:grpSpPr>
                <a:xfrm>
                  <a:off x="10772223" y="7410567"/>
                  <a:ext cx="346174" cy="301219"/>
                  <a:chOff x="10772223" y="1543167"/>
                  <a:chExt cx="346174" cy="301219"/>
                </a:xfrm>
              </p:grpSpPr>
              <p:sp>
                <p:nvSpPr>
                  <p:cNvPr id="51" name="Freeform: Shape 50">
                    <a:extLst>
                      <a:ext uri="{FF2B5EF4-FFF2-40B4-BE49-F238E27FC236}">
                        <a16:creationId xmlns:a16="http://schemas.microsoft.com/office/drawing/2014/main" id="{106F5B91-2905-9A6F-6C42-BA38E175B4E8}"/>
                      </a:ext>
                    </a:extLst>
                  </p:cNvPr>
                  <p:cNvSpPr/>
                  <p:nvPr/>
                </p:nvSpPr>
                <p:spPr>
                  <a:xfrm rot="13310739">
                    <a:off x="10772223" y="1543167"/>
                    <a:ext cx="346174" cy="301219"/>
                  </a:xfrm>
                  <a:custGeom>
                    <a:avLst/>
                    <a:gdLst>
                      <a:gd name="connsiteX0" fmla="*/ 335526 w 346174"/>
                      <a:gd name="connsiteY0" fmla="*/ 221002 h 301219"/>
                      <a:gd name="connsiteX1" fmla="*/ 256301 w 346174"/>
                      <a:gd name="connsiteY1" fmla="*/ 291951 h 301219"/>
                      <a:gd name="connsiteX2" fmla="*/ 228767 w 346174"/>
                      <a:gd name="connsiteY2" fmla="*/ 300970 h 301219"/>
                      <a:gd name="connsiteX3" fmla="*/ 144718 w 346174"/>
                      <a:gd name="connsiteY3" fmla="*/ 292547 h 301219"/>
                      <a:gd name="connsiteX4" fmla="*/ 112227 w 346174"/>
                      <a:gd name="connsiteY4" fmla="*/ 290366 h 301219"/>
                      <a:gd name="connsiteX5" fmla="*/ 104454 w 346174"/>
                      <a:gd name="connsiteY5" fmla="*/ 281687 h 301219"/>
                      <a:gd name="connsiteX6" fmla="*/ 0 w 346174"/>
                      <a:gd name="connsiteY6" fmla="*/ 165049 h 301219"/>
                      <a:gd name="connsiteX7" fmla="*/ 88589 w 346174"/>
                      <a:gd name="connsiteY7" fmla="*/ 64791 h 301219"/>
                      <a:gd name="connsiteX8" fmla="*/ 178400 w 346174"/>
                      <a:gd name="connsiteY8" fmla="*/ 0 h 301219"/>
                      <a:gd name="connsiteX9" fmla="*/ 295826 w 346174"/>
                      <a:gd name="connsiteY9" fmla="*/ 131123 h 301219"/>
                      <a:gd name="connsiteX10" fmla="*/ 311423 w 346174"/>
                      <a:gd name="connsiteY10" fmla="*/ 148540 h 301219"/>
                      <a:gd name="connsiteX11" fmla="*/ 329593 w 346174"/>
                      <a:gd name="connsiteY11" fmla="*/ 168830 h 301219"/>
                      <a:gd name="connsiteX12" fmla="*/ 339992 w 346174"/>
                      <a:gd name="connsiteY12" fmla="*/ 180441 h 301219"/>
                      <a:gd name="connsiteX13" fmla="*/ 335526 w 346174"/>
                      <a:gd name="connsiteY13" fmla="*/ 221002 h 30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174" h="301219">
                        <a:moveTo>
                          <a:pt x="335526" y="221002"/>
                        </a:moveTo>
                        <a:cubicBezTo>
                          <a:pt x="335526" y="221002"/>
                          <a:pt x="335526" y="221002"/>
                          <a:pt x="256301" y="291951"/>
                        </a:cubicBezTo>
                        <a:cubicBezTo>
                          <a:pt x="247857" y="299513"/>
                          <a:pt x="244983" y="302087"/>
                          <a:pt x="228767" y="300970"/>
                        </a:cubicBezTo>
                        <a:cubicBezTo>
                          <a:pt x="228767" y="300970"/>
                          <a:pt x="228767" y="300970"/>
                          <a:pt x="144718" y="292547"/>
                        </a:cubicBezTo>
                        <a:lnTo>
                          <a:pt x="112227" y="290366"/>
                        </a:lnTo>
                        <a:cubicBezTo>
                          <a:pt x="107027" y="284560"/>
                          <a:pt x="104454" y="281687"/>
                          <a:pt x="104454" y="281687"/>
                        </a:cubicBezTo>
                        <a:cubicBezTo>
                          <a:pt x="104454" y="281687"/>
                          <a:pt x="49365" y="220171"/>
                          <a:pt x="0" y="165049"/>
                        </a:cubicBezTo>
                        <a:cubicBezTo>
                          <a:pt x="17436" y="138972"/>
                          <a:pt x="46132" y="102813"/>
                          <a:pt x="88589" y="64791"/>
                        </a:cubicBezTo>
                        <a:cubicBezTo>
                          <a:pt x="119728" y="36905"/>
                          <a:pt x="150565" y="14466"/>
                          <a:pt x="178400" y="0"/>
                        </a:cubicBezTo>
                        <a:cubicBezTo>
                          <a:pt x="186172" y="8679"/>
                          <a:pt x="269831" y="102096"/>
                          <a:pt x="295826" y="131123"/>
                        </a:cubicBezTo>
                        <a:lnTo>
                          <a:pt x="311423" y="148540"/>
                        </a:lnTo>
                        <a:cubicBezTo>
                          <a:pt x="321821" y="160151"/>
                          <a:pt x="329593" y="168830"/>
                          <a:pt x="329593" y="168830"/>
                        </a:cubicBezTo>
                        <a:cubicBezTo>
                          <a:pt x="332219" y="171762"/>
                          <a:pt x="337419" y="177568"/>
                          <a:pt x="339992" y="180441"/>
                        </a:cubicBezTo>
                        <a:cubicBezTo>
                          <a:pt x="350390" y="192052"/>
                          <a:pt x="346844" y="210867"/>
                          <a:pt x="335526" y="221002"/>
                        </a:cubicBezTo>
                        <a:close/>
                      </a:path>
                    </a:pathLst>
                  </a:custGeom>
                  <a:solidFill>
                    <a:schemeClr val="accent1"/>
                  </a:solidFill>
                  <a:ln w="8603"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52" name="Freeform: Shape 51">
                    <a:extLst>
                      <a:ext uri="{FF2B5EF4-FFF2-40B4-BE49-F238E27FC236}">
                        <a16:creationId xmlns:a16="http://schemas.microsoft.com/office/drawing/2014/main" id="{3F17A682-10DB-4A06-5BC0-9F26E0416ACB}"/>
                      </a:ext>
                    </a:extLst>
                  </p:cNvPr>
                  <p:cNvSpPr/>
                  <p:nvPr/>
                </p:nvSpPr>
                <p:spPr>
                  <a:xfrm>
                    <a:off x="10892650" y="1664886"/>
                    <a:ext cx="141110" cy="110872"/>
                  </a:xfrm>
                  <a:custGeom>
                    <a:avLst/>
                    <a:gdLst>
                      <a:gd name="connsiteX0" fmla="*/ 106680 w 121227"/>
                      <a:gd name="connsiteY0" fmla="*/ 0 h 95250"/>
                      <a:gd name="connsiteX1" fmla="*/ 48751 w 121227"/>
                      <a:gd name="connsiteY1" fmla="*/ 64683 h 95250"/>
                      <a:gd name="connsiteX2" fmla="*/ 18271 w 121227"/>
                      <a:gd name="connsiteY2" fmla="*/ 35416 h 95250"/>
                      <a:gd name="connsiteX3" fmla="*/ 0 w 121227"/>
                      <a:gd name="connsiteY3" fmla="*/ 55418 h 95250"/>
                      <a:gd name="connsiteX4" fmla="*/ 48837 w 121227"/>
                      <a:gd name="connsiteY4" fmla="*/ 100013 h 95250"/>
                      <a:gd name="connsiteX5" fmla="*/ 125124 w 121227"/>
                      <a:gd name="connsiteY5" fmla="*/ 20003 h 95250"/>
                      <a:gd name="connsiteX6" fmla="*/ 106680 w 121227"/>
                      <a:gd name="connsiteY6" fmla="*/ 0 h 95250"/>
                      <a:gd name="connsiteX7" fmla="*/ 106680 w 121227"/>
                      <a:gd name="connsiteY7" fmla="*/ 0 h 95250"/>
                      <a:gd name="connsiteX8" fmla="*/ 106680 w 121227"/>
                      <a:gd name="connsiteY8"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227" h="95250">
                        <a:moveTo>
                          <a:pt x="106680" y="0"/>
                        </a:moveTo>
                        <a:cubicBezTo>
                          <a:pt x="106680" y="0"/>
                          <a:pt x="74641" y="35416"/>
                          <a:pt x="48751" y="64683"/>
                        </a:cubicBezTo>
                        <a:cubicBezTo>
                          <a:pt x="36541" y="53946"/>
                          <a:pt x="18271" y="35416"/>
                          <a:pt x="18271" y="35416"/>
                        </a:cubicBezTo>
                        <a:cubicBezTo>
                          <a:pt x="0" y="55418"/>
                          <a:pt x="0" y="55418"/>
                          <a:pt x="0" y="55418"/>
                        </a:cubicBezTo>
                        <a:cubicBezTo>
                          <a:pt x="48837" y="100013"/>
                          <a:pt x="48837" y="100013"/>
                          <a:pt x="48837" y="100013"/>
                        </a:cubicBezTo>
                        <a:cubicBezTo>
                          <a:pt x="125124" y="20003"/>
                          <a:pt x="125124" y="20003"/>
                          <a:pt x="125124" y="20003"/>
                        </a:cubicBezTo>
                        <a:cubicBezTo>
                          <a:pt x="106680" y="0"/>
                          <a:pt x="106680" y="0"/>
                          <a:pt x="106680" y="0"/>
                        </a:cubicBezTo>
                        <a:lnTo>
                          <a:pt x="106680" y="0"/>
                        </a:lnTo>
                        <a:lnTo>
                          <a:pt x="106680" y="0"/>
                        </a:lnTo>
                        <a:close/>
                      </a:path>
                    </a:pathLst>
                  </a:custGeom>
                  <a:solidFill>
                    <a:srgbClr val="50E6FF"/>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grpSp>
        </p:grpSp>
      </p:grpSp>
      <p:sp>
        <p:nvSpPr>
          <p:cNvPr id="2" name="Title 1">
            <a:extLst>
              <a:ext uri="{FF2B5EF4-FFF2-40B4-BE49-F238E27FC236}">
                <a16:creationId xmlns:a16="http://schemas.microsoft.com/office/drawing/2014/main" id="{BC6DA4DF-FD7D-D0F7-D2FE-33EC054A2F41}"/>
              </a:ext>
            </a:extLst>
          </p:cNvPr>
          <p:cNvSpPr txBox="1">
            <a:spLocks/>
          </p:cNvSpPr>
          <p:nvPr/>
        </p:nvSpPr>
        <p:spPr>
          <a:xfrm>
            <a:off x="15475" y="224772"/>
            <a:ext cx="2636285" cy="809669"/>
          </a:xfrm>
          <a:prstGeom prst="rect">
            <a:avLst/>
          </a:prstGeom>
        </p:spPr>
        <p:txBody>
          <a:bodyPr lIns="274320" tIns="182880"/>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0" normalizeH="0" baseline="0" noProof="0" dirty="0">
                <a:ln w="3175">
                  <a:noFill/>
                </a:ln>
                <a:solidFill>
                  <a:schemeClr val="tx2"/>
                </a:solidFill>
                <a:effectLst/>
                <a:uLnTx/>
                <a:uFillTx/>
                <a:ea typeface="+mn-ea"/>
                <a:cs typeface="Segoe UI" pitchFamily="34" charset="0"/>
              </a:rPr>
              <a:t>The commercial </a:t>
            </a:r>
            <a:r>
              <a:rPr lang="en-US" sz="1800" spc="0" dirty="0">
                <a:solidFill>
                  <a:schemeClr val="tx2"/>
                </a:solidFill>
              </a:rPr>
              <a:t>m</a:t>
            </a:r>
            <a:r>
              <a:rPr kumimoji="0" lang="en-US" sz="1800" b="0" i="0" u="none" strike="noStrike" kern="1200" cap="none" spc="0" normalizeH="0" baseline="0" noProof="0" dirty="0" err="1">
                <a:ln w="3175">
                  <a:noFill/>
                </a:ln>
                <a:solidFill>
                  <a:schemeClr val="tx2"/>
                </a:solidFill>
                <a:effectLst/>
                <a:uLnTx/>
                <a:uFillTx/>
                <a:ea typeface="+mn-ea"/>
                <a:cs typeface="Segoe UI" pitchFamily="34" charset="0"/>
              </a:rPr>
              <a:t>arketplace</a:t>
            </a:r>
            <a:endParaRPr kumimoji="0" lang="en-US" sz="1800" b="0" i="0" u="none" strike="noStrike" kern="1200" cap="none" spc="0" normalizeH="0" baseline="0" noProof="0" dirty="0">
              <a:ln w="3175">
                <a:noFill/>
              </a:ln>
              <a:solidFill>
                <a:schemeClr val="tx2"/>
              </a:solidFill>
              <a:effectLst/>
              <a:uLnTx/>
              <a:uFillTx/>
              <a:ea typeface="+mn-ea"/>
              <a:cs typeface="Segoe UI" pitchFamily="34" charset="0"/>
            </a:endParaRPr>
          </a:p>
        </p:txBody>
      </p:sp>
      <p:sp>
        <p:nvSpPr>
          <p:cNvPr id="3" name="Rectangle: Rounded Corners 2">
            <a:extLst>
              <a:ext uri="{FF2B5EF4-FFF2-40B4-BE49-F238E27FC236}">
                <a16:creationId xmlns:a16="http://schemas.microsoft.com/office/drawing/2014/main" id="{0795E686-01BB-C3BC-A520-6CDCFC5B82E3}"/>
              </a:ext>
            </a:extLst>
          </p:cNvPr>
          <p:cNvSpPr/>
          <p:nvPr/>
        </p:nvSpPr>
        <p:spPr bwMode="auto">
          <a:xfrm>
            <a:off x="-279050" y="2684405"/>
            <a:ext cx="2651760" cy="365760"/>
          </a:xfrm>
          <a:prstGeom prst="roundRect">
            <a:avLst>
              <a:gd name="adj" fmla="val 50000"/>
            </a:avLst>
          </a:prstGeom>
          <a:solidFill>
            <a:srgbClr val="C73EC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0" rIns="9144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bg1"/>
              </a:solidFill>
              <a:effectLst/>
              <a:uLnTx/>
              <a:uFillTx/>
              <a:latin typeface="Segoe UI Semibold"/>
              <a:ea typeface="+mn-ea"/>
              <a:cs typeface="Segoe UI Semilight" panose="020B0402040204020203" pitchFamily="34" charset="0"/>
            </a:endParaRPr>
          </a:p>
        </p:txBody>
      </p:sp>
      <p:sp>
        <p:nvSpPr>
          <p:cNvPr id="6" name="Rectangle: Rounded Corners 5">
            <a:extLst>
              <a:ext uri="{FF2B5EF4-FFF2-40B4-BE49-F238E27FC236}">
                <a16:creationId xmlns:a16="http://schemas.microsoft.com/office/drawing/2014/main" id="{C4C07642-A090-4CC3-5ADA-EFC48D2658EA}"/>
              </a:ext>
            </a:extLst>
          </p:cNvPr>
          <p:cNvSpPr/>
          <p:nvPr/>
        </p:nvSpPr>
        <p:spPr bwMode="auto">
          <a:xfrm>
            <a:off x="0" y="180602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Setup</a:t>
            </a:r>
          </a:p>
        </p:txBody>
      </p:sp>
      <p:sp>
        <p:nvSpPr>
          <p:cNvPr id="8" name="Rectangle: Rounded Corners 7">
            <a:extLst>
              <a:ext uri="{FF2B5EF4-FFF2-40B4-BE49-F238E27FC236}">
                <a16:creationId xmlns:a16="http://schemas.microsoft.com/office/drawing/2014/main" id="{22C1841F-5038-4A6A-940E-023C1D4EE0F8}"/>
              </a:ext>
            </a:extLst>
          </p:cNvPr>
          <p:cNvSpPr/>
          <p:nvPr/>
        </p:nvSpPr>
        <p:spPr bwMode="auto">
          <a:xfrm>
            <a:off x="0" y="2245217"/>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Properties</a:t>
            </a:r>
          </a:p>
        </p:txBody>
      </p:sp>
      <p:sp>
        <p:nvSpPr>
          <p:cNvPr id="9" name="Rectangle: Rounded Corners 8">
            <a:extLst>
              <a:ext uri="{FF2B5EF4-FFF2-40B4-BE49-F238E27FC236}">
                <a16:creationId xmlns:a16="http://schemas.microsoft.com/office/drawing/2014/main" id="{34BD650D-2232-6E00-AB70-504B3E0BB102}"/>
              </a:ext>
            </a:extLst>
          </p:cNvPr>
          <p:cNvSpPr/>
          <p:nvPr/>
        </p:nvSpPr>
        <p:spPr bwMode="auto">
          <a:xfrm>
            <a:off x="0" y="2684406"/>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j-lt"/>
                <a:ea typeface="+mn-ea"/>
                <a:cs typeface="Segoe UI Semilight" panose="020B0402040204020203" pitchFamily="34" charset="0"/>
              </a:rPr>
              <a:t>Offer Listing</a:t>
            </a:r>
          </a:p>
        </p:txBody>
      </p:sp>
      <p:sp>
        <p:nvSpPr>
          <p:cNvPr id="14" name="Rectangle: Rounded Corners 13">
            <a:extLst>
              <a:ext uri="{FF2B5EF4-FFF2-40B4-BE49-F238E27FC236}">
                <a16:creationId xmlns:a16="http://schemas.microsoft.com/office/drawing/2014/main" id="{9681D21E-1546-BAF1-9969-E0EC4C69DF30}"/>
              </a:ext>
            </a:extLst>
          </p:cNvPr>
          <p:cNvSpPr/>
          <p:nvPr/>
        </p:nvSpPr>
        <p:spPr bwMode="auto">
          <a:xfrm>
            <a:off x="0" y="312359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Pricing and Availability</a:t>
            </a:r>
          </a:p>
        </p:txBody>
      </p:sp>
      <p:sp>
        <p:nvSpPr>
          <p:cNvPr id="15" name="Rectangle: Rounded Corners 14">
            <a:extLst>
              <a:ext uri="{FF2B5EF4-FFF2-40B4-BE49-F238E27FC236}">
                <a16:creationId xmlns:a16="http://schemas.microsoft.com/office/drawing/2014/main" id="{81BEAF9D-C6AD-0551-CDFB-CD3219778A60}"/>
              </a:ext>
            </a:extLst>
          </p:cNvPr>
          <p:cNvSpPr/>
          <p:nvPr/>
        </p:nvSpPr>
        <p:spPr bwMode="auto">
          <a:xfrm>
            <a:off x="0" y="356278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2"/>
                </a:solidFill>
                <a:effectLst/>
                <a:uLnTx/>
                <a:uFillTx/>
                <a:latin typeface="+mj-lt"/>
                <a:ea typeface="+mn-ea"/>
                <a:cs typeface="Segoe UI Semilight" panose="020B0402040204020203" pitchFamily="34" charset="0"/>
              </a:rPr>
              <a:t>Co-sell with Microsoft </a:t>
            </a:r>
          </a:p>
        </p:txBody>
      </p:sp>
      <p:sp>
        <p:nvSpPr>
          <p:cNvPr id="16" name="Rectangle: Rounded Corners 15">
            <a:extLst>
              <a:ext uri="{FF2B5EF4-FFF2-40B4-BE49-F238E27FC236}">
                <a16:creationId xmlns:a16="http://schemas.microsoft.com/office/drawing/2014/main" id="{979A31B7-FC17-251B-B69A-3DE1936598B3}"/>
              </a:ext>
            </a:extLst>
          </p:cNvPr>
          <p:cNvSpPr/>
          <p:nvPr/>
        </p:nvSpPr>
        <p:spPr bwMode="auto">
          <a:xfrm>
            <a:off x="0" y="136683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Setup</a:t>
            </a:r>
          </a:p>
        </p:txBody>
      </p:sp>
      <p:cxnSp>
        <p:nvCxnSpPr>
          <p:cNvPr id="17" name="Straight Connector 16">
            <a:extLst>
              <a:ext uri="{FF2B5EF4-FFF2-40B4-BE49-F238E27FC236}">
                <a16:creationId xmlns:a16="http://schemas.microsoft.com/office/drawing/2014/main" id="{D7A0F392-F6A8-9262-DAF4-9EE8E1FCF58F}"/>
              </a:ext>
            </a:extLst>
          </p:cNvPr>
          <p:cNvCxnSpPr/>
          <p:nvPr/>
        </p:nvCxnSpPr>
        <p:spPr>
          <a:xfrm>
            <a:off x="223520" y="1154149"/>
            <a:ext cx="2011680" cy="0"/>
          </a:xfrm>
          <a:prstGeom prst="line">
            <a:avLst/>
          </a:prstGeom>
          <a:noFill/>
          <a:ln w="25400" cap="rnd">
            <a:gradFill flip="none" rotWithShape="1">
              <a:gsLst>
                <a:gs pos="30000">
                  <a:srgbClr val="2DB4FF"/>
                </a:gs>
                <a:gs pos="35000">
                  <a:srgbClr val="2DB4FF"/>
                </a:gs>
                <a:gs pos="3000">
                  <a:srgbClr val="0078D4"/>
                </a:gs>
                <a:gs pos="52000">
                  <a:srgbClr val="818EFF"/>
                </a:gs>
                <a:gs pos="70000">
                  <a:srgbClr val="D660FF"/>
                </a:gs>
                <a:gs pos="97000">
                  <a:srgbClr val="FEA87A"/>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18" name="Slide Number Placeholder 17">
            <a:extLst>
              <a:ext uri="{FF2B5EF4-FFF2-40B4-BE49-F238E27FC236}">
                <a16:creationId xmlns:a16="http://schemas.microsoft.com/office/drawing/2014/main" id="{531BA94F-7D04-DEC3-6D4A-C2C6AEF0C086}"/>
              </a:ext>
            </a:extLst>
          </p:cNvPr>
          <p:cNvSpPr>
            <a:spLocks noGrp="1"/>
          </p:cNvSpPr>
          <p:nvPr>
            <p:ph type="sldNum" sz="quarter" idx="11"/>
          </p:nvPr>
        </p:nvSpPr>
        <p:spPr/>
        <p:txBody>
          <a:bodyPr/>
          <a:lstStyle/>
          <a:p>
            <a:fld id="{5763EE98-C176-4152-A50F-E68840BAFA00}" type="slidenum">
              <a:rPr lang="en-US" smtClean="0"/>
              <a:pPr/>
              <a:t>34</a:t>
            </a:fld>
            <a:endParaRPr lang="en-US"/>
          </a:p>
        </p:txBody>
      </p:sp>
    </p:spTree>
    <p:extLst>
      <p:ext uri="{BB962C8B-B14F-4D97-AF65-F5344CB8AC3E}">
        <p14:creationId xmlns:p14="http://schemas.microsoft.com/office/powerpoint/2010/main" val="1297851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38">
            <a:extLst>
              <a:ext uri="{FF2B5EF4-FFF2-40B4-BE49-F238E27FC236}">
                <a16:creationId xmlns:a16="http://schemas.microsoft.com/office/drawing/2014/main" id="{EECDD5CF-2D0F-4F1B-A160-12C815F23DB5}"/>
              </a:ext>
            </a:extLst>
          </p:cNvPr>
          <p:cNvSpPr>
            <a:spLocks noGrp="1"/>
          </p:cNvSpPr>
          <p:nvPr>
            <p:ph type="title"/>
          </p:nvPr>
        </p:nvSpPr>
        <p:spPr/>
        <p:txBody>
          <a:bodyPr/>
          <a:lstStyle/>
          <a:p>
            <a:pPr lvl="0"/>
            <a:r>
              <a:rPr lang="en-US" noProof="0"/>
              <a:t>Microsoft 365 Copilot offer</a:t>
            </a:r>
          </a:p>
        </p:txBody>
      </p:sp>
      <p:grpSp>
        <p:nvGrpSpPr>
          <p:cNvPr id="2" name="Group 1">
            <a:extLst>
              <a:ext uri="{FF2B5EF4-FFF2-40B4-BE49-F238E27FC236}">
                <a16:creationId xmlns:a16="http://schemas.microsoft.com/office/drawing/2014/main" id="{A5F11E13-0820-4CBD-8B6E-1FD1D83CDD4E}"/>
              </a:ext>
            </a:extLst>
          </p:cNvPr>
          <p:cNvGrpSpPr/>
          <p:nvPr/>
        </p:nvGrpSpPr>
        <p:grpSpPr>
          <a:xfrm>
            <a:off x="6223486" y="2023774"/>
            <a:ext cx="5385902" cy="3465706"/>
            <a:chOff x="3190832" y="2723572"/>
            <a:chExt cx="5385902" cy="3465706"/>
          </a:xfrm>
        </p:grpSpPr>
        <p:pic>
          <p:nvPicPr>
            <p:cNvPr id="5" name="Picture 4">
              <a:extLst>
                <a:ext uri="{FF2B5EF4-FFF2-40B4-BE49-F238E27FC236}">
                  <a16:creationId xmlns:a16="http://schemas.microsoft.com/office/drawing/2014/main" id="{877EB817-4983-4C2F-B0D1-8380CA701171}"/>
                </a:ext>
              </a:extLst>
            </p:cNvPr>
            <p:cNvPicPr>
              <a:picLocks noChangeAspect="1"/>
            </p:cNvPicPr>
            <p:nvPr/>
          </p:nvPicPr>
          <p:blipFill>
            <a:blip r:embed="rId3">
              <a:extLst>
                <a:ext uri="{28A0092B-C50C-407E-A947-70E740481C1C}">
                  <a14:useLocalDpi xmlns:a14="http://schemas.microsoft.com/office/drawing/2010/main" val="0"/>
                </a:ext>
              </a:extLst>
            </a:blip>
            <a:srcRect t="3" b="3"/>
            <a:stretch/>
          </p:blipFill>
          <p:spPr>
            <a:xfrm>
              <a:off x="3190832" y="2723572"/>
              <a:ext cx="5385902" cy="3465706"/>
            </a:xfrm>
            <a:prstGeom prst="rect">
              <a:avLst/>
            </a:prstGeom>
            <a:ln>
              <a:noFill/>
            </a:ln>
            <a:effectLst>
              <a:outerShdw blurRad="50800" dist="38100" dir="2700000" algn="tl" rotWithShape="0">
                <a:prstClr val="black">
                  <a:alpha val="40000"/>
                </a:prstClr>
              </a:outerShdw>
            </a:effectLst>
          </p:spPr>
        </p:pic>
        <p:sp>
          <p:nvSpPr>
            <p:cNvPr id="7" name="Rectangle 6">
              <a:extLst>
                <a:ext uri="{FF2B5EF4-FFF2-40B4-BE49-F238E27FC236}">
                  <a16:creationId xmlns:a16="http://schemas.microsoft.com/office/drawing/2014/main" id="{78102F24-9E55-4490-B46D-08B824E694AB}"/>
                </a:ext>
              </a:extLst>
            </p:cNvPr>
            <p:cNvSpPr/>
            <p:nvPr/>
          </p:nvSpPr>
          <p:spPr bwMode="auto">
            <a:xfrm>
              <a:off x="6232610" y="3417524"/>
              <a:ext cx="2276390" cy="246757"/>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19">
              <a:extLst>
                <a:ext uri="{FF2B5EF4-FFF2-40B4-BE49-F238E27FC236}">
                  <a16:creationId xmlns:a16="http://schemas.microsoft.com/office/drawing/2014/main" id="{FAA3F1AD-DDA4-4033-B6F1-255A43F2A22B}"/>
                </a:ext>
              </a:extLst>
            </p:cNvPr>
            <p:cNvSpPr/>
            <p:nvPr/>
          </p:nvSpPr>
          <p:spPr bwMode="auto">
            <a:xfrm>
              <a:off x="3237483" y="4934969"/>
              <a:ext cx="625389" cy="1083275"/>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8" name="TextBox 7">
            <a:extLst>
              <a:ext uri="{FF2B5EF4-FFF2-40B4-BE49-F238E27FC236}">
                <a16:creationId xmlns:a16="http://schemas.microsoft.com/office/drawing/2014/main" id="{CB66F7E1-1241-462B-BB6A-2BCA8E7D46E2}"/>
              </a:ext>
            </a:extLst>
          </p:cNvPr>
          <p:cNvSpPr txBox="1"/>
          <p:nvPr/>
        </p:nvSpPr>
        <p:spPr>
          <a:xfrm>
            <a:off x="3009899" y="1334919"/>
            <a:ext cx="2422365" cy="2154436"/>
          </a:xfrm>
          <a:prstGeom prst="rect">
            <a:avLst/>
          </a:prstGeom>
          <a:noFill/>
        </p:spPr>
        <p:txBody>
          <a:bodyPr wrap="square" lIns="0" tIns="0" rIns="0" bIns="0" anchor="t">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7"/>
              <a:tabLst/>
              <a:defRPr/>
            </a:pPr>
            <a:r>
              <a:rPr kumimoji="0" lang="en-US" sz="1400" b="1" i="0" u="none" strike="noStrike" kern="1200" cap="none" spc="0" normalizeH="0" baseline="0" noProof="0" dirty="0">
                <a:ln>
                  <a:noFill/>
                </a:ln>
                <a:solidFill>
                  <a:srgbClr val="171717"/>
                </a:solidFill>
                <a:effectLst/>
                <a:uLnTx/>
                <a:uFillTx/>
                <a:ea typeface="+mn-ea"/>
                <a:cs typeface="+mn-cs"/>
              </a:rPr>
              <a:t>Supporting documents: </a:t>
            </a:r>
            <a:r>
              <a:rPr kumimoji="0" lang="en-US" sz="1400" b="0" i="0" u="none" strike="noStrike" kern="1200" cap="none" spc="0" normalizeH="0" baseline="0" noProof="0" dirty="0">
                <a:ln>
                  <a:noFill/>
                </a:ln>
                <a:solidFill>
                  <a:srgbClr val="171717"/>
                </a:solidFill>
                <a:effectLst/>
                <a:uLnTx/>
                <a:uFillTx/>
                <a:ea typeface="+mn-ea"/>
                <a:cs typeface="+mn-cs"/>
              </a:rPr>
              <a:t>Uploading your customized </a:t>
            </a:r>
            <a:r>
              <a:rPr kumimoji="0" lang="en-US" sz="1400" b="0" i="0" u="none" strike="noStrike" kern="1200" cap="none" spc="0" normalizeH="0" baseline="0" noProof="0">
                <a:ln>
                  <a:noFill/>
                </a:ln>
                <a:solidFill>
                  <a:srgbClr val="171717"/>
                </a:solidFill>
                <a:effectLst/>
                <a:uLnTx/>
                <a:uFillTx/>
                <a:ea typeface="+mn-ea"/>
                <a:cs typeface="+mn-cs"/>
              </a:rPr>
              <a:t>one-pager</a:t>
            </a:r>
            <a:r>
              <a:rPr kumimoji="0" lang="en-US" sz="1400" b="0" i="0" u="none" strike="noStrike" kern="1200" cap="none" spc="0" normalizeH="0" baseline="0" noProof="0" dirty="0">
                <a:ln>
                  <a:noFill/>
                </a:ln>
                <a:solidFill>
                  <a:srgbClr val="171717"/>
                </a:solidFill>
                <a:effectLst/>
                <a:uLnTx/>
                <a:uFillTx/>
                <a:ea typeface="+mn-ea"/>
                <a:cs typeface="+mn-cs"/>
              </a:rPr>
              <a:t> meets this requirement. You can also upload up to two additional sales and marketing assets, such as white papers, brochures, checklists, or PowerPoint presentations. </a:t>
            </a:r>
            <a:endParaRPr kumimoji="0" lang="en-US" sz="1400" b="0" i="0" u="none" strike="noStrike" kern="1200" cap="none" spc="0" normalizeH="0" baseline="0" noProof="0" dirty="0">
              <a:ln>
                <a:noFill/>
              </a:ln>
              <a:solidFill>
                <a:srgbClr val="171717"/>
              </a:solidFill>
              <a:effectLst/>
              <a:highlight>
                <a:srgbClr val="FFFF00"/>
              </a:highlight>
              <a:uLnTx/>
              <a:uFillTx/>
              <a:ea typeface="+mn-ea"/>
              <a:cs typeface="+mn-cs"/>
            </a:endParaRPr>
          </a:p>
        </p:txBody>
      </p:sp>
      <p:sp>
        <p:nvSpPr>
          <p:cNvPr id="9" name="TextBox 8">
            <a:extLst>
              <a:ext uri="{FF2B5EF4-FFF2-40B4-BE49-F238E27FC236}">
                <a16:creationId xmlns:a16="http://schemas.microsoft.com/office/drawing/2014/main" id="{0395CD0B-5751-44B9-9E1D-1F79D39B29F0}"/>
              </a:ext>
            </a:extLst>
          </p:cNvPr>
          <p:cNvSpPr txBox="1"/>
          <p:nvPr/>
        </p:nvSpPr>
        <p:spPr>
          <a:xfrm>
            <a:off x="3003233" y="4206175"/>
            <a:ext cx="2007679" cy="430887"/>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8"/>
              <a:tabLst/>
              <a:defRPr/>
            </a:pPr>
            <a:r>
              <a:rPr kumimoji="0" lang="en-US" sz="1400" b="1" i="0" u="none" strike="noStrike" kern="1200" cap="none" spc="0" normalizeH="0" baseline="0" noProof="0">
                <a:ln>
                  <a:noFill/>
                </a:ln>
                <a:solidFill>
                  <a:srgbClr val="171717"/>
                </a:solidFill>
                <a:effectLst/>
                <a:uLnTx/>
                <a:uFillTx/>
                <a:ea typeface="+mn-ea"/>
                <a:cs typeface="+mn-cs"/>
              </a:rPr>
              <a:t>Marketplace media: </a:t>
            </a:r>
            <a:br>
              <a:rPr kumimoji="0" lang="en-US" sz="1400" b="1" i="0" u="none" strike="noStrike" kern="1200" cap="none" spc="0" normalizeH="0" baseline="0" noProof="0">
                <a:ln>
                  <a:noFill/>
                </a:ln>
                <a:solidFill>
                  <a:srgbClr val="171717"/>
                </a:solidFill>
                <a:effectLst/>
                <a:uLnTx/>
                <a:uFillTx/>
                <a:ea typeface="+mn-ea"/>
                <a:cs typeface="+mn-cs"/>
              </a:rPr>
            </a:br>
            <a:r>
              <a:rPr kumimoji="0" lang="en-US" sz="1400" b="0" i="0" u="none" strike="noStrike" kern="1200" cap="none" spc="0" normalizeH="0" baseline="0" noProof="0">
                <a:ln>
                  <a:noFill/>
                </a:ln>
                <a:solidFill>
                  <a:srgbClr val="171717"/>
                </a:solidFill>
                <a:effectLst/>
                <a:uLnTx/>
                <a:uFillTx/>
                <a:ea typeface="+mn-ea"/>
                <a:cs typeface="+mn-cs"/>
              </a:rPr>
              <a:t>Upload your logo.</a:t>
            </a:r>
            <a:endParaRPr kumimoji="0" lang="en-US" sz="1400" b="0" i="0" u="none" strike="noStrike" kern="1200" cap="none" spc="0" normalizeH="0" baseline="0" noProof="0">
              <a:ln>
                <a:noFill/>
              </a:ln>
              <a:solidFill>
                <a:srgbClr val="000000"/>
              </a:solidFill>
              <a:effectLst/>
              <a:highlight>
                <a:srgbClr val="FFFF00"/>
              </a:highlight>
              <a:uLnTx/>
              <a:uFillTx/>
              <a:ea typeface="+mn-ea"/>
              <a:cs typeface="+mn-cs"/>
            </a:endParaRPr>
          </a:p>
        </p:txBody>
      </p:sp>
      <p:sp>
        <p:nvSpPr>
          <p:cNvPr id="12" name="Freeform: Shape 11">
            <a:extLst>
              <a:ext uri="{FF2B5EF4-FFF2-40B4-BE49-F238E27FC236}">
                <a16:creationId xmlns:a16="http://schemas.microsoft.com/office/drawing/2014/main" id="{ADC51EFC-2297-48A7-AC6E-B1602BCC1021}"/>
              </a:ext>
            </a:extLst>
          </p:cNvPr>
          <p:cNvSpPr/>
          <p:nvPr/>
        </p:nvSpPr>
        <p:spPr bwMode="auto">
          <a:xfrm>
            <a:off x="5506872" y="2622829"/>
            <a:ext cx="3692412" cy="219387"/>
          </a:xfrm>
          <a:custGeom>
            <a:avLst/>
            <a:gdLst>
              <a:gd name="connsiteX0" fmla="*/ 0 w 800100"/>
              <a:gd name="connsiteY0" fmla="*/ 0 h 257175"/>
              <a:gd name="connsiteX1" fmla="*/ 328612 w 800100"/>
              <a:gd name="connsiteY1" fmla="*/ 0 h 257175"/>
              <a:gd name="connsiteX2" fmla="*/ 328612 w 800100"/>
              <a:gd name="connsiteY2" fmla="*/ 257175 h 257175"/>
              <a:gd name="connsiteX3" fmla="*/ 800100 w 800100"/>
              <a:gd name="connsiteY3" fmla="*/ 257175 h 257175"/>
            </a:gdLst>
            <a:ahLst/>
            <a:cxnLst>
              <a:cxn ang="0">
                <a:pos x="connsiteX0" y="connsiteY0"/>
              </a:cxn>
              <a:cxn ang="0">
                <a:pos x="connsiteX1" y="connsiteY1"/>
              </a:cxn>
              <a:cxn ang="0">
                <a:pos x="connsiteX2" y="connsiteY2"/>
              </a:cxn>
              <a:cxn ang="0">
                <a:pos x="connsiteX3" y="connsiteY3"/>
              </a:cxn>
            </a:cxnLst>
            <a:rect l="l" t="t" r="r" b="b"/>
            <a:pathLst>
              <a:path w="800100" h="257175">
                <a:moveTo>
                  <a:pt x="0" y="0"/>
                </a:moveTo>
                <a:lnTo>
                  <a:pt x="328612" y="0"/>
                </a:lnTo>
                <a:lnTo>
                  <a:pt x="328612" y="257175"/>
                </a:lnTo>
                <a:lnTo>
                  <a:pt x="800100" y="257175"/>
                </a:lnTo>
              </a:path>
            </a:pathLst>
          </a:custGeom>
          <a:noFill/>
          <a:ln w="22225" cap="rnd">
            <a:solidFill>
              <a:schemeClr val="tx2">
                <a:lumMod val="50000"/>
                <a:lumOff val="50000"/>
              </a:schemeClr>
            </a:solidFill>
            <a:prstDash val="sysDot"/>
            <a:headEnd type="none" w="med" len="med"/>
            <a:tailEnd type="triangle" w="lg" len="lg"/>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 name="Freeform: Shape 13">
            <a:extLst>
              <a:ext uri="{FF2B5EF4-FFF2-40B4-BE49-F238E27FC236}">
                <a16:creationId xmlns:a16="http://schemas.microsoft.com/office/drawing/2014/main" id="{2F26295F-BCAE-45C5-B36A-96D490E1ABEB}"/>
              </a:ext>
            </a:extLst>
          </p:cNvPr>
          <p:cNvSpPr/>
          <p:nvPr/>
        </p:nvSpPr>
        <p:spPr bwMode="auto">
          <a:xfrm>
            <a:off x="5165678" y="4394580"/>
            <a:ext cx="1038479" cy="339564"/>
          </a:xfrm>
          <a:custGeom>
            <a:avLst/>
            <a:gdLst>
              <a:gd name="connsiteX0" fmla="*/ 0 w 800100"/>
              <a:gd name="connsiteY0" fmla="*/ 0 h 257175"/>
              <a:gd name="connsiteX1" fmla="*/ 328612 w 800100"/>
              <a:gd name="connsiteY1" fmla="*/ 0 h 257175"/>
              <a:gd name="connsiteX2" fmla="*/ 328612 w 800100"/>
              <a:gd name="connsiteY2" fmla="*/ 257175 h 257175"/>
              <a:gd name="connsiteX3" fmla="*/ 800100 w 800100"/>
              <a:gd name="connsiteY3" fmla="*/ 257175 h 257175"/>
            </a:gdLst>
            <a:ahLst/>
            <a:cxnLst>
              <a:cxn ang="0">
                <a:pos x="connsiteX0" y="connsiteY0"/>
              </a:cxn>
              <a:cxn ang="0">
                <a:pos x="connsiteX1" y="connsiteY1"/>
              </a:cxn>
              <a:cxn ang="0">
                <a:pos x="connsiteX2" y="connsiteY2"/>
              </a:cxn>
              <a:cxn ang="0">
                <a:pos x="connsiteX3" y="connsiteY3"/>
              </a:cxn>
            </a:cxnLst>
            <a:rect l="l" t="t" r="r" b="b"/>
            <a:pathLst>
              <a:path w="800100" h="257175">
                <a:moveTo>
                  <a:pt x="0" y="0"/>
                </a:moveTo>
                <a:lnTo>
                  <a:pt x="328612" y="0"/>
                </a:lnTo>
                <a:lnTo>
                  <a:pt x="328612" y="257175"/>
                </a:lnTo>
                <a:lnTo>
                  <a:pt x="800100" y="257175"/>
                </a:lnTo>
              </a:path>
            </a:pathLst>
          </a:custGeom>
          <a:noFill/>
          <a:ln w="22225" cap="rnd">
            <a:solidFill>
              <a:schemeClr val="tx2">
                <a:lumMod val="50000"/>
                <a:lumOff val="50000"/>
              </a:schemeClr>
            </a:solidFill>
            <a:prstDash val="sysDot"/>
            <a:headEnd type="none" w="med" len="med"/>
            <a:tailEnd type="triangle" w="lg" len="lg"/>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40" name="Group 39">
            <a:extLst>
              <a:ext uri="{FF2B5EF4-FFF2-40B4-BE49-F238E27FC236}">
                <a16:creationId xmlns:a16="http://schemas.microsoft.com/office/drawing/2014/main" id="{073F4F4A-5360-4726-AA0C-A966C8A6B531}"/>
              </a:ext>
            </a:extLst>
          </p:cNvPr>
          <p:cNvGrpSpPr/>
          <p:nvPr/>
        </p:nvGrpSpPr>
        <p:grpSpPr>
          <a:xfrm>
            <a:off x="9800681" y="299796"/>
            <a:ext cx="1803056" cy="552365"/>
            <a:chOff x="10126451" y="192765"/>
            <a:chExt cx="1803056" cy="552365"/>
          </a:xfrm>
        </p:grpSpPr>
        <p:grpSp>
          <p:nvGrpSpPr>
            <p:cNvPr id="41" name="Group 40">
              <a:extLst>
                <a:ext uri="{FF2B5EF4-FFF2-40B4-BE49-F238E27FC236}">
                  <a16:creationId xmlns:a16="http://schemas.microsoft.com/office/drawing/2014/main" id="{85897E00-FD15-6448-EBD8-CE52A3839921}"/>
                </a:ext>
              </a:extLst>
            </p:cNvPr>
            <p:cNvGrpSpPr/>
            <p:nvPr/>
          </p:nvGrpSpPr>
          <p:grpSpPr>
            <a:xfrm>
              <a:off x="10752268" y="196490"/>
              <a:ext cx="548640" cy="548640"/>
              <a:chOff x="10752268" y="196490"/>
              <a:chExt cx="548640" cy="548640"/>
            </a:xfrm>
          </p:grpSpPr>
          <p:sp>
            <p:nvSpPr>
              <p:cNvPr id="63" name="Oval 62">
                <a:extLst>
                  <a:ext uri="{FF2B5EF4-FFF2-40B4-BE49-F238E27FC236}">
                    <a16:creationId xmlns:a16="http://schemas.microsoft.com/office/drawing/2014/main" id="{6F413721-9C44-51CC-FA6D-1514C39E2DD0}"/>
                  </a:ext>
                </a:extLst>
              </p:cNvPr>
              <p:cNvSpPr/>
              <p:nvPr/>
            </p:nvSpPr>
            <p:spPr bwMode="auto">
              <a:xfrm>
                <a:off x="10752268"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grpSp>
            <p:nvGrpSpPr>
              <p:cNvPr id="64" name="gear" descr="gear, wrench, engineer">
                <a:extLst>
                  <a:ext uri="{FF2B5EF4-FFF2-40B4-BE49-F238E27FC236}">
                    <a16:creationId xmlns:a16="http://schemas.microsoft.com/office/drawing/2014/main" id="{153FD276-1AE0-A739-8399-CBF99521FE90}"/>
                  </a:ext>
                </a:extLst>
              </p:cNvPr>
              <p:cNvGrpSpPr/>
              <p:nvPr/>
            </p:nvGrpSpPr>
            <p:grpSpPr>
              <a:xfrm>
                <a:off x="10883844" y="326676"/>
                <a:ext cx="288269" cy="288268"/>
                <a:chOff x="3510968" y="2992337"/>
                <a:chExt cx="498751" cy="498751"/>
              </a:xfrm>
              <a:solidFill>
                <a:schemeClr val="bg1"/>
              </a:solidFill>
            </p:grpSpPr>
            <p:sp>
              <p:nvSpPr>
                <p:cNvPr id="66" name="Freeform: Shape 65">
                  <a:extLst>
                    <a:ext uri="{FF2B5EF4-FFF2-40B4-BE49-F238E27FC236}">
                      <a16:creationId xmlns:a16="http://schemas.microsoft.com/office/drawing/2014/main" id="{6031C338-8EFB-A184-4A25-66EC6F6F5C4D}"/>
                    </a:ext>
                  </a:extLst>
                </p:cNvPr>
                <p:cNvSpPr/>
                <p:nvPr/>
              </p:nvSpPr>
              <p:spPr>
                <a:xfrm>
                  <a:off x="3510968" y="2992337"/>
                  <a:ext cx="498751" cy="498751"/>
                </a:xfrm>
                <a:custGeom>
                  <a:avLst/>
                  <a:gdLst>
                    <a:gd name="connsiteX0" fmla="*/ 499635 w 498751"/>
                    <a:gd name="connsiteY0" fmla="*/ 277035 h 498751"/>
                    <a:gd name="connsiteX1" fmla="*/ 499635 w 498751"/>
                    <a:gd name="connsiteY1" fmla="*/ 224623 h 498751"/>
                    <a:gd name="connsiteX2" fmla="*/ 445560 w 498751"/>
                    <a:gd name="connsiteY2" fmla="*/ 224623 h 498751"/>
                    <a:gd name="connsiteX3" fmla="*/ 407060 w 498751"/>
                    <a:gd name="connsiteY3" fmla="*/ 131698 h 498751"/>
                    <a:gd name="connsiteX4" fmla="*/ 445298 w 498751"/>
                    <a:gd name="connsiteY4" fmla="*/ 93460 h 498751"/>
                    <a:gd name="connsiteX5" fmla="*/ 408285 w 498751"/>
                    <a:gd name="connsiteY5" fmla="*/ 56448 h 498751"/>
                    <a:gd name="connsiteX6" fmla="*/ 370048 w 498751"/>
                    <a:gd name="connsiteY6" fmla="*/ 94686 h 498751"/>
                    <a:gd name="connsiteX7" fmla="*/ 277123 w 498751"/>
                    <a:gd name="connsiteY7" fmla="*/ 56186 h 498751"/>
                    <a:gd name="connsiteX8" fmla="*/ 277123 w 498751"/>
                    <a:gd name="connsiteY8" fmla="*/ 2111 h 498751"/>
                    <a:gd name="connsiteX9" fmla="*/ 224710 w 498751"/>
                    <a:gd name="connsiteY9" fmla="*/ 2111 h 498751"/>
                    <a:gd name="connsiteX10" fmla="*/ 224710 w 498751"/>
                    <a:gd name="connsiteY10" fmla="*/ 56186 h 498751"/>
                    <a:gd name="connsiteX11" fmla="*/ 131785 w 498751"/>
                    <a:gd name="connsiteY11" fmla="*/ 94686 h 498751"/>
                    <a:gd name="connsiteX12" fmla="*/ 93548 w 498751"/>
                    <a:gd name="connsiteY12" fmla="*/ 56448 h 498751"/>
                    <a:gd name="connsiteX13" fmla="*/ 56536 w 498751"/>
                    <a:gd name="connsiteY13" fmla="*/ 93460 h 498751"/>
                    <a:gd name="connsiteX14" fmla="*/ 94773 w 498751"/>
                    <a:gd name="connsiteY14" fmla="*/ 131698 h 498751"/>
                    <a:gd name="connsiteX15" fmla="*/ 56273 w 498751"/>
                    <a:gd name="connsiteY15" fmla="*/ 224623 h 498751"/>
                    <a:gd name="connsiteX16" fmla="*/ 2111 w 498751"/>
                    <a:gd name="connsiteY16" fmla="*/ 224623 h 498751"/>
                    <a:gd name="connsiteX17" fmla="*/ 2111 w 498751"/>
                    <a:gd name="connsiteY17" fmla="*/ 277035 h 498751"/>
                    <a:gd name="connsiteX18" fmla="*/ 56186 w 498751"/>
                    <a:gd name="connsiteY18" fmla="*/ 277035 h 498751"/>
                    <a:gd name="connsiteX19" fmla="*/ 112010 w 498751"/>
                    <a:gd name="connsiteY19" fmla="*/ 389735 h 498751"/>
                    <a:gd name="connsiteX20" fmla="*/ 224710 w 498751"/>
                    <a:gd name="connsiteY20" fmla="*/ 445560 h 498751"/>
                    <a:gd name="connsiteX21" fmla="*/ 224710 w 498751"/>
                    <a:gd name="connsiteY21" fmla="*/ 499635 h 498751"/>
                    <a:gd name="connsiteX22" fmla="*/ 277123 w 498751"/>
                    <a:gd name="connsiteY22" fmla="*/ 499635 h 498751"/>
                    <a:gd name="connsiteX23" fmla="*/ 277123 w 498751"/>
                    <a:gd name="connsiteY23" fmla="*/ 445560 h 498751"/>
                    <a:gd name="connsiteX24" fmla="*/ 370048 w 498751"/>
                    <a:gd name="connsiteY24" fmla="*/ 407060 h 498751"/>
                    <a:gd name="connsiteX25" fmla="*/ 408285 w 498751"/>
                    <a:gd name="connsiteY25" fmla="*/ 445298 h 498751"/>
                    <a:gd name="connsiteX26" fmla="*/ 445298 w 498751"/>
                    <a:gd name="connsiteY26" fmla="*/ 408285 h 498751"/>
                    <a:gd name="connsiteX27" fmla="*/ 407060 w 498751"/>
                    <a:gd name="connsiteY27" fmla="*/ 370048 h 498751"/>
                    <a:gd name="connsiteX28" fmla="*/ 445560 w 498751"/>
                    <a:gd name="connsiteY28" fmla="*/ 277123 h 498751"/>
                    <a:gd name="connsiteX29" fmla="*/ 499635 w 498751"/>
                    <a:gd name="connsiteY29" fmla="*/ 277123 h 498751"/>
                    <a:gd name="connsiteX30" fmla="*/ 499635 w 498751"/>
                    <a:gd name="connsiteY30" fmla="*/ 277035 h 498751"/>
                    <a:gd name="connsiteX31" fmla="*/ 106848 w 498751"/>
                    <a:gd name="connsiteY31" fmla="*/ 250873 h 498751"/>
                    <a:gd name="connsiteX32" fmla="*/ 139573 w 498751"/>
                    <a:gd name="connsiteY32" fmla="*/ 159523 h 498751"/>
                    <a:gd name="connsiteX33" fmla="*/ 222786 w 498751"/>
                    <a:gd name="connsiteY33" fmla="*/ 109648 h 498751"/>
                    <a:gd name="connsiteX34" fmla="*/ 318773 w 498751"/>
                    <a:gd name="connsiteY34" fmla="*/ 123910 h 498751"/>
                    <a:gd name="connsiteX35" fmla="*/ 383960 w 498751"/>
                    <a:gd name="connsiteY35" fmla="*/ 195835 h 498751"/>
                    <a:gd name="connsiteX36" fmla="*/ 388685 w 498751"/>
                    <a:gd name="connsiteY36" fmla="*/ 292785 h 498751"/>
                    <a:gd name="connsiteX37" fmla="*/ 330848 w 498751"/>
                    <a:gd name="connsiteY37" fmla="*/ 370748 h 498751"/>
                    <a:gd name="connsiteX38" fmla="*/ 236698 w 498751"/>
                    <a:gd name="connsiteY38" fmla="*/ 394285 h 498751"/>
                    <a:gd name="connsiteX39" fmla="*/ 148936 w 498751"/>
                    <a:gd name="connsiteY39" fmla="*/ 352810 h 498751"/>
                    <a:gd name="connsiteX40" fmla="*/ 117610 w 498751"/>
                    <a:gd name="connsiteY40" fmla="*/ 306085 h 498751"/>
                    <a:gd name="connsiteX41" fmla="*/ 106848 w 498751"/>
                    <a:gd name="connsiteY41" fmla="*/ 250873 h 498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98751" h="498751">
                      <a:moveTo>
                        <a:pt x="499635" y="277035"/>
                      </a:moveTo>
                      <a:lnTo>
                        <a:pt x="499635" y="224623"/>
                      </a:lnTo>
                      <a:lnTo>
                        <a:pt x="445560" y="224623"/>
                      </a:lnTo>
                      <a:cubicBezTo>
                        <a:pt x="441098" y="190848"/>
                        <a:pt x="427798" y="158823"/>
                        <a:pt x="407060" y="131698"/>
                      </a:cubicBezTo>
                      <a:lnTo>
                        <a:pt x="445298" y="93460"/>
                      </a:lnTo>
                      <a:lnTo>
                        <a:pt x="408285" y="56448"/>
                      </a:lnTo>
                      <a:lnTo>
                        <a:pt x="370048" y="94686"/>
                      </a:lnTo>
                      <a:cubicBezTo>
                        <a:pt x="342923" y="73948"/>
                        <a:pt x="310898" y="60648"/>
                        <a:pt x="277123" y="56186"/>
                      </a:cubicBezTo>
                      <a:lnTo>
                        <a:pt x="277123" y="2111"/>
                      </a:lnTo>
                      <a:lnTo>
                        <a:pt x="224710" y="2111"/>
                      </a:lnTo>
                      <a:lnTo>
                        <a:pt x="224710" y="56186"/>
                      </a:lnTo>
                      <a:cubicBezTo>
                        <a:pt x="190935" y="60648"/>
                        <a:pt x="158911" y="73948"/>
                        <a:pt x="131785" y="94686"/>
                      </a:cubicBezTo>
                      <a:lnTo>
                        <a:pt x="93548" y="56448"/>
                      </a:lnTo>
                      <a:lnTo>
                        <a:pt x="56536" y="93460"/>
                      </a:lnTo>
                      <a:lnTo>
                        <a:pt x="94773" y="131698"/>
                      </a:lnTo>
                      <a:cubicBezTo>
                        <a:pt x="74036" y="158823"/>
                        <a:pt x="60736" y="190848"/>
                        <a:pt x="56273" y="224623"/>
                      </a:cubicBezTo>
                      <a:lnTo>
                        <a:pt x="2111" y="224623"/>
                      </a:lnTo>
                      <a:lnTo>
                        <a:pt x="2111" y="277035"/>
                      </a:lnTo>
                      <a:lnTo>
                        <a:pt x="56186" y="277035"/>
                      </a:lnTo>
                      <a:cubicBezTo>
                        <a:pt x="61961" y="319648"/>
                        <a:pt x="81561" y="359285"/>
                        <a:pt x="112010" y="389735"/>
                      </a:cubicBezTo>
                      <a:cubicBezTo>
                        <a:pt x="142461" y="420185"/>
                        <a:pt x="182011" y="439785"/>
                        <a:pt x="224710" y="445560"/>
                      </a:cubicBezTo>
                      <a:lnTo>
                        <a:pt x="224710" y="499635"/>
                      </a:lnTo>
                      <a:lnTo>
                        <a:pt x="277123" y="499635"/>
                      </a:lnTo>
                      <a:lnTo>
                        <a:pt x="277123" y="445560"/>
                      </a:lnTo>
                      <a:cubicBezTo>
                        <a:pt x="310898" y="441098"/>
                        <a:pt x="342923" y="427798"/>
                        <a:pt x="370048" y="407060"/>
                      </a:cubicBezTo>
                      <a:lnTo>
                        <a:pt x="408285" y="445298"/>
                      </a:lnTo>
                      <a:lnTo>
                        <a:pt x="445298" y="408285"/>
                      </a:lnTo>
                      <a:lnTo>
                        <a:pt x="407060" y="370048"/>
                      </a:lnTo>
                      <a:cubicBezTo>
                        <a:pt x="427798" y="342923"/>
                        <a:pt x="441098" y="310898"/>
                        <a:pt x="445560" y="277123"/>
                      </a:cubicBezTo>
                      <a:lnTo>
                        <a:pt x="499635" y="277123"/>
                      </a:lnTo>
                      <a:lnTo>
                        <a:pt x="499635" y="277035"/>
                      </a:lnTo>
                      <a:close/>
                      <a:moveTo>
                        <a:pt x="106848" y="250873"/>
                      </a:moveTo>
                      <a:cubicBezTo>
                        <a:pt x="106848" y="217535"/>
                        <a:pt x="118398" y="185248"/>
                        <a:pt x="139573" y="159523"/>
                      </a:cubicBezTo>
                      <a:cubicBezTo>
                        <a:pt x="160748" y="133798"/>
                        <a:pt x="190148" y="116123"/>
                        <a:pt x="222786" y="109648"/>
                      </a:cubicBezTo>
                      <a:cubicBezTo>
                        <a:pt x="255423" y="103173"/>
                        <a:pt x="289373" y="108161"/>
                        <a:pt x="318773" y="123910"/>
                      </a:cubicBezTo>
                      <a:cubicBezTo>
                        <a:pt x="348173" y="139573"/>
                        <a:pt x="371185" y="165035"/>
                        <a:pt x="383960" y="195835"/>
                      </a:cubicBezTo>
                      <a:cubicBezTo>
                        <a:pt x="396735" y="226635"/>
                        <a:pt x="398397" y="260848"/>
                        <a:pt x="388685" y="292785"/>
                      </a:cubicBezTo>
                      <a:cubicBezTo>
                        <a:pt x="378973" y="324635"/>
                        <a:pt x="358585" y="352197"/>
                        <a:pt x="330848" y="370748"/>
                      </a:cubicBezTo>
                      <a:cubicBezTo>
                        <a:pt x="303110" y="389298"/>
                        <a:pt x="269860" y="397610"/>
                        <a:pt x="236698" y="394285"/>
                      </a:cubicBezTo>
                      <a:cubicBezTo>
                        <a:pt x="203535" y="391048"/>
                        <a:pt x="172560" y="376347"/>
                        <a:pt x="148936" y="352810"/>
                      </a:cubicBezTo>
                      <a:cubicBezTo>
                        <a:pt x="135548" y="339510"/>
                        <a:pt x="124873" y="323585"/>
                        <a:pt x="117610" y="306085"/>
                      </a:cubicBezTo>
                      <a:cubicBezTo>
                        <a:pt x="110523" y="288498"/>
                        <a:pt x="106761" y="269773"/>
                        <a:pt x="106848" y="25087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67" name="Freeform: Shape 66">
                  <a:extLst>
                    <a:ext uri="{FF2B5EF4-FFF2-40B4-BE49-F238E27FC236}">
                      <a16:creationId xmlns:a16="http://schemas.microsoft.com/office/drawing/2014/main" id="{7946DCB5-54C1-78CC-60F8-F3CC847251C4}"/>
                    </a:ext>
                  </a:extLst>
                </p:cNvPr>
                <p:cNvSpPr/>
                <p:nvPr/>
              </p:nvSpPr>
              <p:spPr>
                <a:xfrm>
                  <a:off x="3525494" y="3127375"/>
                  <a:ext cx="348087" cy="348087"/>
                </a:xfrm>
                <a:custGeom>
                  <a:avLst/>
                  <a:gdLst>
                    <a:gd name="connsiteX0" fmla="*/ 286398 w 348086"/>
                    <a:gd name="connsiteY0" fmla="*/ 124333 h 348086"/>
                    <a:gd name="connsiteX1" fmla="*/ 226548 w 348086"/>
                    <a:gd name="connsiteY1" fmla="*/ 64483 h 348086"/>
                    <a:gd name="connsiteX2" fmla="*/ 280448 w 348086"/>
                    <a:gd name="connsiteY2" fmla="*/ 10583 h 348086"/>
                    <a:gd name="connsiteX3" fmla="*/ 216923 w 348086"/>
                    <a:gd name="connsiteY3" fmla="*/ 4108 h 348086"/>
                    <a:gd name="connsiteX4" fmla="*/ 160310 w 348086"/>
                    <a:gd name="connsiteY4" fmla="*/ 33683 h 348086"/>
                    <a:gd name="connsiteX5" fmla="*/ 129335 w 348086"/>
                    <a:gd name="connsiteY5" fmla="*/ 89508 h 348086"/>
                    <a:gd name="connsiteX6" fmla="*/ 134235 w 348086"/>
                    <a:gd name="connsiteY6" fmla="*/ 153121 h 348086"/>
                    <a:gd name="connsiteX7" fmla="*/ 15236 w 348086"/>
                    <a:gd name="connsiteY7" fmla="*/ 272121 h 348086"/>
                    <a:gd name="connsiteX8" fmla="*/ 2111 w 348086"/>
                    <a:gd name="connsiteY8" fmla="*/ 303883 h 348086"/>
                    <a:gd name="connsiteX9" fmla="*/ 15236 w 348086"/>
                    <a:gd name="connsiteY9" fmla="*/ 335645 h 348086"/>
                    <a:gd name="connsiteX10" fmla="*/ 46998 w 348086"/>
                    <a:gd name="connsiteY10" fmla="*/ 348770 h 348086"/>
                    <a:gd name="connsiteX11" fmla="*/ 78760 w 348086"/>
                    <a:gd name="connsiteY11" fmla="*/ 335645 h 348086"/>
                    <a:gd name="connsiteX12" fmla="*/ 197760 w 348086"/>
                    <a:gd name="connsiteY12" fmla="*/ 216645 h 348086"/>
                    <a:gd name="connsiteX13" fmla="*/ 261373 w 348086"/>
                    <a:gd name="connsiteY13" fmla="*/ 221546 h 348086"/>
                    <a:gd name="connsiteX14" fmla="*/ 317198 w 348086"/>
                    <a:gd name="connsiteY14" fmla="*/ 190571 h 348086"/>
                    <a:gd name="connsiteX15" fmla="*/ 346773 w 348086"/>
                    <a:gd name="connsiteY15" fmla="*/ 134045 h 348086"/>
                    <a:gd name="connsiteX16" fmla="*/ 340298 w 348086"/>
                    <a:gd name="connsiteY16" fmla="*/ 70521 h 348086"/>
                    <a:gd name="connsiteX17" fmla="*/ 286398 w 348086"/>
                    <a:gd name="connsiteY17" fmla="*/ 124333 h 348086"/>
                    <a:gd name="connsiteX18" fmla="*/ 63011 w 348086"/>
                    <a:gd name="connsiteY18" fmla="*/ 319633 h 348086"/>
                    <a:gd name="connsiteX19" fmla="*/ 51548 w 348086"/>
                    <a:gd name="connsiteY19" fmla="*/ 325758 h 348086"/>
                    <a:gd name="connsiteX20" fmla="*/ 38598 w 348086"/>
                    <a:gd name="connsiteY20" fmla="*/ 324445 h 348086"/>
                    <a:gd name="connsiteX21" fmla="*/ 28536 w 348086"/>
                    <a:gd name="connsiteY21" fmla="*/ 316220 h 348086"/>
                    <a:gd name="connsiteX22" fmla="*/ 24773 w 348086"/>
                    <a:gd name="connsiteY22" fmla="*/ 303795 h 348086"/>
                    <a:gd name="connsiteX23" fmla="*/ 28536 w 348086"/>
                    <a:gd name="connsiteY23" fmla="*/ 291371 h 348086"/>
                    <a:gd name="connsiteX24" fmla="*/ 38598 w 348086"/>
                    <a:gd name="connsiteY24" fmla="*/ 283146 h 348086"/>
                    <a:gd name="connsiteX25" fmla="*/ 51548 w 348086"/>
                    <a:gd name="connsiteY25" fmla="*/ 281833 h 348086"/>
                    <a:gd name="connsiteX26" fmla="*/ 63011 w 348086"/>
                    <a:gd name="connsiteY26" fmla="*/ 287958 h 348086"/>
                    <a:gd name="connsiteX27" fmla="*/ 69573 w 348086"/>
                    <a:gd name="connsiteY27" fmla="*/ 303795 h 348086"/>
                    <a:gd name="connsiteX28" fmla="*/ 63011 w 348086"/>
                    <a:gd name="connsiteY28" fmla="*/ 319633 h 348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48086" h="348086">
                      <a:moveTo>
                        <a:pt x="286398" y="124333"/>
                      </a:moveTo>
                      <a:lnTo>
                        <a:pt x="226548" y="64483"/>
                      </a:lnTo>
                      <a:lnTo>
                        <a:pt x="280448" y="10583"/>
                      </a:lnTo>
                      <a:cubicBezTo>
                        <a:pt x="260410" y="2271"/>
                        <a:pt x="238273" y="-4"/>
                        <a:pt x="216923" y="4108"/>
                      </a:cubicBezTo>
                      <a:cubicBezTo>
                        <a:pt x="195573" y="8221"/>
                        <a:pt x="175885" y="18458"/>
                        <a:pt x="160310" y="33683"/>
                      </a:cubicBezTo>
                      <a:cubicBezTo>
                        <a:pt x="144735" y="48821"/>
                        <a:pt x="133973" y="68246"/>
                        <a:pt x="129335" y="89508"/>
                      </a:cubicBezTo>
                      <a:cubicBezTo>
                        <a:pt x="124698" y="110771"/>
                        <a:pt x="126448" y="132908"/>
                        <a:pt x="134235" y="153121"/>
                      </a:cubicBezTo>
                      <a:lnTo>
                        <a:pt x="15236" y="272121"/>
                      </a:lnTo>
                      <a:cubicBezTo>
                        <a:pt x="6836" y="280520"/>
                        <a:pt x="2111" y="291983"/>
                        <a:pt x="2111" y="303883"/>
                      </a:cubicBezTo>
                      <a:cubicBezTo>
                        <a:pt x="2111" y="315783"/>
                        <a:pt x="6836" y="327158"/>
                        <a:pt x="15236" y="335645"/>
                      </a:cubicBezTo>
                      <a:cubicBezTo>
                        <a:pt x="23636" y="344046"/>
                        <a:pt x="35098" y="348770"/>
                        <a:pt x="46998" y="348770"/>
                      </a:cubicBezTo>
                      <a:cubicBezTo>
                        <a:pt x="58898" y="348770"/>
                        <a:pt x="70273" y="344046"/>
                        <a:pt x="78760" y="335645"/>
                      </a:cubicBezTo>
                      <a:lnTo>
                        <a:pt x="197760" y="216645"/>
                      </a:lnTo>
                      <a:cubicBezTo>
                        <a:pt x="218060" y="224520"/>
                        <a:pt x="240110" y="226183"/>
                        <a:pt x="261373" y="221546"/>
                      </a:cubicBezTo>
                      <a:cubicBezTo>
                        <a:pt x="282635" y="216908"/>
                        <a:pt x="301973" y="206146"/>
                        <a:pt x="317198" y="190571"/>
                      </a:cubicBezTo>
                      <a:cubicBezTo>
                        <a:pt x="332335" y="174996"/>
                        <a:pt x="342660" y="155308"/>
                        <a:pt x="346773" y="134045"/>
                      </a:cubicBezTo>
                      <a:cubicBezTo>
                        <a:pt x="350885" y="112696"/>
                        <a:pt x="348610" y="90646"/>
                        <a:pt x="340298" y="70521"/>
                      </a:cubicBezTo>
                      <a:lnTo>
                        <a:pt x="286398" y="124333"/>
                      </a:lnTo>
                      <a:close/>
                      <a:moveTo>
                        <a:pt x="63011" y="319633"/>
                      </a:moveTo>
                      <a:cubicBezTo>
                        <a:pt x="59861" y="322783"/>
                        <a:pt x="55835" y="324883"/>
                        <a:pt x="51548" y="325758"/>
                      </a:cubicBezTo>
                      <a:cubicBezTo>
                        <a:pt x="47173" y="326633"/>
                        <a:pt x="42710" y="326196"/>
                        <a:pt x="38598" y="324445"/>
                      </a:cubicBezTo>
                      <a:cubicBezTo>
                        <a:pt x="34486" y="322783"/>
                        <a:pt x="30986" y="319896"/>
                        <a:pt x="28536" y="316220"/>
                      </a:cubicBezTo>
                      <a:cubicBezTo>
                        <a:pt x="26086" y="312545"/>
                        <a:pt x="24773" y="308170"/>
                        <a:pt x="24773" y="303795"/>
                      </a:cubicBezTo>
                      <a:cubicBezTo>
                        <a:pt x="24773" y="299333"/>
                        <a:pt x="26086" y="295045"/>
                        <a:pt x="28536" y="291371"/>
                      </a:cubicBezTo>
                      <a:cubicBezTo>
                        <a:pt x="30986" y="287696"/>
                        <a:pt x="34486" y="284808"/>
                        <a:pt x="38598" y="283146"/>
                      </a:cubicBezTo>
                      <a:cubicBezTo>
                        <a:pt x="42710" y="281483"/>
                        <a:pt x="47173" y="281046"/>
                        <a:pt x="51548" y="281833"/>
                      </a:cubicBezTo>
                      <a:cubicBezTo>
                        <a:pt x="55923" y="282708"/>
                        <a:pt x="59861" y="284808"/>
                        <a:pt x="63011" y="287958"/>
                      </a:cubicBezTo>
                      <a:cubicBezTo>
                        <a:pt x="67211" y="292158"/>
                        <a:pt x="69573" y="297846"/>
                        <a:pt x="69573" y="303795"/>
                      </a:cubicBezTo>
                      <a:cubicBezTo>
                        <a:pt x="69573" y="309746"/>
                        <a:pt x="67211" y="315433"/>
                        <a:pt x="63011" y="31963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sp>
            <p:nvSpPr>
              <p:cNvPr id="65" name="Oval 64">
                <a:extLst>
                  <a:ext uri="{FF2B5EF4-FFF2-40B4-BE49-F238E27FC236}">
                    <a16:creationId xmlns:a16="http://schemas.microsoft.com/office/drawing/2014/main" id="{AFEA728D-B5AA-76A8-45B2-E280A2770C2F}"/>
                  </a:ext>
                </a:extLst>
              </p:cNvPr>
              <p:cNvSpPr>
                <a:spLocks/>
              </p:cNvSpPr>
              <p:nvPr/>
            </p:nvSpPr>
            <p:spPr bwMode="auto">
              <a:xfrm>
                <a:off x="10778606"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2" name="Group 41">
              <a:extLst>
                <a:ext uri="{FF2B5EF4-FFF2-40B4-BE49-F238E27FC236}">
                  <a16:creationId xmlns:a16="http://schemas.microsoft.com/office/drawing/2014/main" id="{6E5A018E-E4AF-36F6-CF9A-3DCD2BA77CEB}"/>
                </a:ext>
              </a:extLst>
            </p:cNvPr>
            <p:cNvGrpSpPr/>
            <p:nvPr/>
          </p:nvGrpSpPr>
          <p:grpSpPr>
            <a:xfrm>
              <a:off x="10126451" y="192765"/>
              <a:ext cx="548640" cy="548640"/>
              <a:chOff x="10126451" y="192765"/>
              <a:chExt cx="548640" cy="548640"/>
            </a:xfrm>
          </p:grpSpPr>
          <p:grpSp>
            <p:nvGrpSpPr>
              <p:cNvPr id="56" name="Group 55">
                <a:extLst>
                  <a:ext uri="{FF2B5EF4-FFF2-40B4-BE49-F238E27FC236}">
                    <a16:creationId xmlns:a16="http://schemas.microsoft.com/office/drawing/2014/main" id="{F67E38A5-D9D8-023C-32FB-43D760B50138}"/>
                  </a:ext>
                </a:extLst>
              </p:cNvPr>
              <p:cNvGrpSpPr/>
              <p:nvPr/>
            </p:nvGrpSpPr>
            <p:grpSpPr>
              <a:xfrm>
                <a:off x="10126451" y="192765"/>
                <a:ext cx="548640" cy="548640"/>
                <a:chOff x="10753659" y="196490"/>
                <a:chExt cx="548640" cy="548640"/>
              </a:xfrm>
            </p:grpSpPr>
            <p:sp>
              <p:nvSpPr>
                <p:cNvPr id="61" name="Oval 60">
                  <a:extLst>
                    <a:ext uri="{FF2B5EF4-FFF2-40B4-BE49-F238E27FC236}">
                      <a16:creationId xmlns:a16="http://schemas.microsoft.com/office/drawing/2014/main" id="{25C47089-EBF8-A293-8AA5-A0CECCC7361D}"/>
                    </a:ext>
                  </a:extLst>
                </p:cNvPr>
                <p:cNvSpPr/>
                <p:nvPr/>
              </p:nvSpPr>
              <p:spPr bwMode="auto">
                <a:xfrm>
                  <a:off x="10753659"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62" name="Oval 61">
                  <a:extLst>
                    <a:ext uri="{FF2B5EF4-FFF2-40B4-BE49-F238E27FC236}">
                      <a16:creationId xmlns:a16="http://schemas.microsoft.com/office/drawing/2014/main" id="{30CAC6C1-856E-9C85-9A67-D03615507858}"/>
                    </a:ext>
                  </a:extLst>
                </p:cNvPr>
                <p:cNvSpPr>
                  <a:spLocks/>
                </p:cNvSpPr>
                <p:nvPr/>
              </p:nvSpPr>
              <p:spPr bwMode="auto">
                <a:xfrm>
                  <a:off x="10779997"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7" name="Group 56">
                <a:extLst>
                  <a:ext uri="{FF2B5EF4-FFF2-40B4-BE49-F238E27FC236}">
                    <a16:creationId xmlns:a16="http://schemas.microsoft.com/office/drawing/2014/main" id="{B3ED76A4-6BF4-D11B-8543-111DC5A67B0D}"/>
                  </a:ext>
                </a:extLst>
              </p:cNvPr>
              <p:cNvGrpSpPr/>
              <p:nvPr/>
            </p:nvGrpSpPr>
            <p:grpSpPr>
              <a:xfrm>
                <a:off x="10243674" y="318889"/>
                <a:ext cx="314209" cy="303840"/>
                <a:chOff x="3504064" y="4676412"/>
                <a:chExt cx="509193" cy="492392"/>
              </a:xfrm>
            </p:grpSpPr>
            <p:sp>
              <p:nvSpPr>
                <p:cNvPr id="58" name="Oval 57">
                  <a:extLst>
                    <a:ext uri="{FF2B5EF4-FFF2-40B4-BE49-F238E27FC236}">
                      <a16:creationId xmlns:a16="http://schemas.microsoft.com/office/drawing/2014/main" id="{DAF9D1CD-F8B1-1003-CF5D-3FB4F007ABE1}"/>
                    </a:ext>
                  </a:extLst>
                </p:cNvPr>
                <p:cNvSpPr/>
                <p:nvPr/>
              </p:nvSpPr>
              <p:spPr bwMode="auto">
                <a:xfrm>
                  <a:off x="3504064"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9" name="Oval 58">
                  <a:extLst>
                    <a:ext uri="{FF2B5EF4-FFF2-40B4-BE49-F238E27FC236}">
                      <a16:creationId xmlns:a16="http://schemas.microsoft.com/office/drawing/2014/main" id="{F24281FC-B102-B890-1709-79BE774960F1}"/>
                    </a:ext>
                  </a:extLst>
                </p:cNvPr>
                <p:cNvSpPr/>
                <p:nvPr/>
              </p:nvSpPr>
              <p:spPr bwMode="auto">
                <a:xfrm>
                  <a:off x="3671817"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0" name="Oval 59">
                  <a:extLst>
                    <a:ext uri="{FF2B5EF4-FFF2-40B4-BE49-F238E27FC236}">
                      <a16:creationId xmlns:a16="http://schemas.microsoft.com/office/drawing/2014/main" id="{2796D118-F909-7BAB-682E-E1358D2BC7BB}"/>
                    </a:ext>
                  </a:extLst>
                </p:cNvPr>
                <p:cNvSpPr/>
                <p:nvPr/>
              </p:nvSpPr>
              <p:spPr bwMode="auto">
                <a:xfrm>
                  <a:off x="3587940" y="4676412"/>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grpSp>
          <p:nvGrpSpPr>
            <p:cNvPr id="43" name="Group 42">
              <a:extLst>
                <a:ext uri="{FF2B5EF4-FFF2-40B4-BE49-F238E27FC236}">
                  <a16:creationId xmlns:a16="http://schemas.microsoft.com/office/drawing/2014/main" id="{1C960C2F-FC4A-74C6-8C76-F5E62DCAA756}"/>
                </a:ext>
              </a:extLst>
            </p:cNvPr>
            <p:cNvGrpSpPr/>
            <p:nvPr/>
          </p:nvGrpSpPr>
          <p:grpSpPr>
            <a:xfrm>
              <a:off x="11380867" y="196490"/>
              <a:ext cx="548640" cy="548640"/>
              <a:chOff x="11380867" y="196490"/>
              <a:chExt cx="548640" cy="548640"/>
            </a:xfrm>
          </p:grpSpPr>
          <p:sp>
            <p:nvSpPr>
              <p:cNvPr id="44" name="Oval 43">
                <a:extLst>
                  <a:ext uri="{FF2B5EF4-FFF2-40B4-BE49-F238E27FC236}">
                    <a16:creationId xmlns:a16="http://schemas.microsoft.com/office/drawing/2014/main" id="{FCDD1F6E-D8D6-B161-F61E-6DDD457ECD5A}"/>
                  </a:ext>
                </a:extLst>
              </p:cNvPr>
              <p:cNvSpPr/>
              <p:nvPr/>
            </p:nvSpPr>
            <p:spPr bwMode="auto">
              <a:xfrm>
                <a:off x="11380867" y="196490"/>
                <a:ext cx="548640" cy="548640"/>
              </a:xfrm>
              <a:prstGeom prst="ellipse">
                <a:avLst/>
              </a:prstGeom>
              <a:solidFill>
                <a:srgbClr val="1A2B46"/>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0" name="Oval 49">
                <a:extLst>
                  <a:ext uri="{FF2B5EF4-FFF2-40B4-BE49-F238E27FC236}">
                    <a16:creationId xmlns:a16="http://schemas.microsoft.com/office/drawing/2014/main" id="{8A6C30B8-15A3-3BED-86D6-2DC1F94ABDB6}"/>
                  </a:ext>
                </a:extLst>
              </p:cNvPr>
              <p:cNvSpPr>
                <a:spLocks/>
              </p:cNvSpPr>
              <p:nvPr/>
            </p:nvSpPr>
            <p:spPr bwMode="auto">
              <a:xfrm>
                <a:off x="11407205"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51" name="Group 50">
                <a:extLst>
                  <a:ext uri="{FF2B5EF4-FFF2-40B4-BE49-F238E27FC236}">
                    <a16:creationId xmlns:a16="http://schemas.microsoft.com/office/drawing/2014/main" id="{E3E6C3BE-2B61-BDB1-36A1-6579D2BC94DF}"/>
                  </a:ext>
                </a:extLst>
              </p:cNvPr>
              <p:cNvGrpSpPr/>
              <p:nvPr/>
            </p:nvGrpSpPr>
            <p:grpSpPr>
              <a:xfrm>
                <a:off x="11478807" y="317384"/>
                <a:ext cx="352760" cy="306952"/>
                <a:chOff x="10772223" y="7410567"/>
                <a:chExt cx="346174" cy="301219"/>
              </a:xfrm>
            </p:grpSpPr>
            <p:sp>
              <p:nvSpPr>
                <p:cNvPr id="52" name="Freeform: Shape 51">
                  <a:extLst>
                    <a:ext uri="{FF2B5EF4-FFF2-40B4-BE49-F238E27FC236}">
                      <a16:creationId xmlns:a16="http://schemas.microsoft.com/office/drawing/2014/main" id="{7FAB402B-CD86-CFFA-93A4-FC687B40CA9A}"/>
                    </a:ext>
                  </a:extLst>
                </p:cNvPr>
                <p:cNvSpPr/>
                <p:nvPr/>
              </p:nvSpPr>
              <p:spPr>
                <a:xfrm>
                  <a:off x="10840877" y="7661402"/>
                  <a:ext cx="236157" cy="47232"/>
                </a:xfrm>
                <a:custGeom>
                  <a:avLst/>
                  <a:gdLst>
                    <a:gd name="connsiteX0" fmla="*/ 121141 w 259772"/>
                    <a:gd name="connsiteY0" fmla="*/ 17145 h 51954"/>
                    <a:gd name="connsiteX1" fmla="*/ 267306 w 259772"/>
                    <a:gd name="connsiteY1" fmla="*/ 0 h 51954"/>
                    <a:gd name="connsiteX2" fmla="*/ 267306 w 259772"/>
                    <a:gd name="connsiteY2" fmla="*/ 25718 h 51954"/>
                    <a:gd name="connsiteX3" fmla="*/ 238039 w 259772"/>
                    <a:gd name="connsiteY3" fmla="*/ 60008 h 51954"/>
                    <a:gd name="connsiteX4" fmla="*/ 33424 w 259772"/>
                    <a:gd name="connsiteY4" fmla="*/ 60008 h 51954"/>
                    <a:gd name="connsiteX5" fmla="*/ 0 w 259772"/>
                    <a:gd name="connsiteY5" fmla="*/ 25718 h 51954"/>
                    <a:gd name="connsiteX6" fmla="*/ 0 w 259772"/>
                    <a:gd name="connsiteY6" fmla="*/ 4330 h 51954"/>
                    <a:gd name="connsiteX7" fmla="*/ 121141 w 259772"/>
                    <a:gd name="connsiteY7" fmla="*/ 17145 h 51954"/>
                    <a:gd name="connsiteX8" fmla="*/ 121141 w 259772"/>
                    <a:gd name="connsiteY8" fmla="*/ 17145 h 51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772" h="51954">
                      <a:moveTo>
                        <a:pt x="121141" y="17145"/>
                      </a:moveTo>
                      <a:cubicBezTo>
                        <a:pt x="175433" y="17145"/>
                        <a:pt x="225569" y="12902"/>
                        <a:pt x="267306" y="0"/>
                      </a:cubicBezTo>
                      <a:cubicBezTo>
                        <a:pt x="267306" y="8573"/>
                        <a:pt x="267306" y="17145"/>
                        <a:pt x="267306" y="25718"/>
                      </a:cubicBezTo>
                      <a:cubicBezTo>
                        <a:pt x="267306" y="42863"/>
                        <a:pt x="254751" y="60008"/>
                        <a:pt x="238039" y="60008"/>
                      </a:cubicBezTo>
                      <a:cubicBezTo>
                        <a:pt x="238039" y="60008"/>
                        <a:pt x="238039" y="60008"/>
                        <a:pt x="33424" y="60008"/>
                      </a:cubicBezTo>
                      <a:cubicBezTo>
                        <a:pt x="16712" y="60008"/>
                        <a:pt x="0" y="42863"/>
                        <a:pt x="0" y="25718"/>
                      </a:cubicBezTo>
                      <a:cubicBezTo>
                        <a:pt x="0" y="25718"/>
                        <a:pt x="0" y="25718"/>
                        <a:pt x="0" y="4330"/>
                      </a:cubicBezTo>
                      <a:cubicBezTo>
                        <a:pt x="37580" y="12815"/>
                        <a:pt x="79404" y="17145"/>
                        <a:pt x="121141" y="17145"/>
                      </a:cubicBezTo>
                      <a:lnTo>
                        <a:pt x="121141" y="17145"/>
                      </a:lnTo>
                      <a:close/>
                    </a:path>
                  </a:pathLst>
                </a:custGeom>
                <a:solidFill>
                  <a:schemeClr val="accent1"/>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nvGrpSpPr>
                <p:cNvPr id="53" name="Group 52">
                  <a:extLst>
                    <a:ext uri="{FF2B5EF4-FFF2-40B4-BE49-F238E27FC236}">
                      <a16:creationId xmlns:a16="http://schemas.microsoft.com/office/drawing/2014/main" id="{8EC14599-A71C-929E-3936-514A48DCF215}"/>
                    </a:ext>
                  </a:extLst>
                </p:cNvPr>
                <p:cNvGrpSpPr/>
                <p:nvPr/>
              </p:nvGrpSpPr>
              <p:grpSpPr>
                <a:xfrm>
                  <a:off x="10772223" y="7410567"/>
                  <a:ext cx="346174" cy="301219"/>
                  <a:chOff x="10772223" y="1543167"/>
                  <a:chExt cx="346174" cy="301219"/>
                </a:xfrm>
              </p:grpSpPr>
              <p:sp>
                <p:nvSpPr>
                  <p:cNvPr id="54" name="Freeform: Shape 53">
                    <a:extLst>
                      <a:ext uri="{FF2B5EF4-FFF2-40B4-BE49-F238E27FC236}">
                        <a16:creationId xmlns:a16="http://schemas.microsoft.com/office/drawing/2014/main" id="{A1C96AD0-52DD-0FF1-1CBF-ED63CC60EBB9}"/>
                      </a:ext>
                    </a:extLst>
                  </p:cNvPr>
                  <p:cNvSpPr/>
                  <p:nvPr/>
                </p:nvSpPr>
                <p:spPr>
                  <a:xfrm rot="13310739">
                    <a:off x="10772223" y="1543167"/>
                    <a:ext cx="346174" cy="301219"/>
                  </a:xfrm>
                  <a:custGeom>
                    <a:avLst/>
                    <a:gdLst>
                      <a:gd name="connsiteX0" fmla="*/ 335526 w 346174"/>
                      <a:gd name="connsiteY0" fmla="*/ 221002 h 301219"/>
                      <a:gd name="connsiteX1" fmla="*/ 256301 w 346174"/>
                      <a:gd name="connsiteY1" fmla="*/ 291951 h 301219"/>
                      <a:gd name="connsiteX2" fmla="*/ 228767 w 346174"/>
                      <a:gd name="connsiteY2" fmla="*/ 300970 h 301219"/>
                      <a:gd name="connsiteX3" fmla="*/ 144718 w 346174"/>
                      <a:gd name="connsiteY3" fmla="*/ 292547 h 301219"/>
                      <a:gd name="connsiteX4" fmla="*/ 112227 w 346174"/>
                      <a:gd name="connsiteY4" fmla="*/ 290366 h 301219"/>
                      <a:gd name="connsiteX5" fmla="*/ 104454 w 346174"/>
                      <a:gd name="connsiteY5" fmla="*/ 281687 h 301219"/>
                      <a:gd name="connsiteX6" fmla="*/ 0 w 346174"/>
                      <a:gd name="connsiteY6" fmla="*/ 165049 h 301219"/>
                      <a:gd name="connsiteX7" fmla="*/ 88589 w 346174"/>
                      <a:gd name="connsiteY7" fmla="*/ 64791 h 301219"/>
                      <a:gd name="connsiteX8" fmla="*/ 178400 w 346174"/>
                      <a:gd name="connsiteY8" fmla="*/ 0 h 301219"/>
                      <a:gd name="connsiteX9" fmla="*/ 295826 w 346174"/>
                      <a:gd name="connsiteY9" fmla="*/ 131123 h 301219"/>
                      <a:gd name="connsiteX10" fmla="*/ 311423 w 346174"/>
                      <a:gd name="connsiteY10" fmla="*/ 148540 h 301219"/>
                      <a:gd name="connsiteX11" fmla="*/ 329593 w 346174"/>
                      <a:gd name="connsiteY11" fmla="*/ 168830 h 301219"/>
                      <a:gd name="connsiteX12" fmla="*/ 339992 w 346174"/>
                      <a:gd name="connsiteY12" fmla="*/ 180441 h 301219"/>
                      <a:gd name="connsiteX13" fmla="*/ 335526 w 346174"/>
                      <a:gd name="connsiteY13" fmla="*/ 221002 h 30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174" h="301219">
                        <a:moveTo>
                          <a:pt x="335526" y="221002"/>
                        </a:moveTo>
                        <a:cubicBezTo>
                          <a:pt x="335526" y="221002"/>
                          <a:pt x="335526" y="221002"/>
                          <a:pt x="256301" y="291951"/>
                        </a:cubicBezTo>
                        <a:cubicBezTo>
                          <a:pt x="247857" y="299513"/>
                          <a:pt x="244983" y="302087"/>
                          <a:pt x="228767" y="300970"/>
                        </a:cubicBezTo>
                        <a:cubicBezTo>
                          <a:pt x="228767" y="300970"/>
                          <a:pt x="228767" y="300970"/>
                          <a:pt x="144718" y="292547"/>
                        </a:cubicBezTo>
                        <a:lnTo>
                          <a:pt x="112227" y="290366"/>
                        </a:lnTo>
                        <a:cubicBezTo>
                          <a:pt x="107027" y="284560"/>
                          <a:pt x="104454" y="281687"/>
                          <a:pt x="104454" y="281687"/>
                        </a:cubicBezTo>
                        <a:cubicBezTo>
                          <a:pt x="104454" y="281687"/>
                          <a:pt x="49365" y="220171"/>
                          <a:pt x="0" y="165049"/>
                        </a:cubicBezTo>
                        <a:cubicBezTo>
                          <a:pt x="17436" y="138972"/>
                          <a:pt x="46132" y="102813"/>
                          <a:pt x="88589" y="64791"/>
                        </a:cubicBezTo>
                        <a:cubicBezTo>
                          <a:pt x="119728" y="36905"/>
                          <a:pt x="150565" y="14466"/>
                          <a:pt x="178400" y="0"/>
                        </a:cubicBezTo>
                        <a:cubicBezTo>
                          <a:pt x="186172" y="8679"/>
                          <a:pt x="269831" y="102096"/>
                          <a:pt x="295826" y="131123"/>
                        </a:cubicBezTo>
                        <a:lnTo>
                          <a:pt x="311423" y="148540"/>
                        </a:lnTo>
                        <a:cubicBezTo>
                          <a:pt x="321821" y="160151"/>
                          <a:pt x="329593" y="168830"/>
                          <a:pt x="329593" y="168830"/>
                        </a:cubicBezTo>
                        <a:cubicBezTo>
                          <a:pt x="332219" y="171762"/>
                          <a:pt x="337419" y="177568"/>
                          <a:pt x="339992" y="180441"/>
                        </a:cubicBezTo>
                        <a:cubicBezTo>
                          <a:pt x="350390" y="192052"/>
                          <a:pt x="346844" y="210867"/>
                          <a:pt x="335526" y="221002"/>
                        </a:cubicBezTo>
                        <a:close/>
                      </a:path>
                    </a:pathLst>
                  </a:custGeom>
                  <a:solidFill>
                    <a:schemeClr val="accent1"/>
                  </a:solidFill>
                  <a:ln w="8603"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55" name="Freeform: Shape 54">
                    <a:extLst>
                      <a:ext uri="{FF2B5EF4-FFF2-40B4-BE49-F238E27FC236}">
                        <a16:creationId xmlns:a16="http://schemas.microsoft.com/office/drawing/2014/main" id="{5C33D918-B681-0FFD-883C-393C679F1A2D}"/>
                      </a:ext>
                    </a:extLst>
                  </p:cNvPr>
                  <p:cNvSpPr/>
                  <p:nvPr/>
                </p:nvSpPr>
                <p:spPr>
                  <a:xfrm>
                    <a:off x="10892650" y="1664886"/>
                    <a:ext cx="141110" cy="110872"/>
                  </a:xfrm>
                  <a:custGeom>
                    <a:avLst/>
                    <a:gdLst>
                      <a:gd name="connsiteX0" fmla="*/ 106680 w 121227"/>
                      <a:gd name="connsiteY0" fmla="*/ 0 h 95250"/>
                      <a:gd name="connsiteX1" fmla="*/ 48751 w 121227"/>
                      <a:gd name="connsiteY1" fmla="*/ 64683 h 95250"/>
                      <a:gd name="connsiteX2" fmla="*/ 18271 w 121227"/>
                      <a:gd name="connsiteY2" fmla="*/ 35416 h 95250"/>
                      <a:gd name="connsiteX3" fmla="*/ 0 w 121227"/>
                      <a:gd name="connsiteY3" fmla="*/ 55418 h 95250"/>
                      <a:gd name="connsiteX4" fmla="*/ 48837 w 121227"/>
                      <a:gd name="connsiteY4" fmla="*/ 100013 h 95250"/>
                      <a:gd name="connsiteX5" fmla="*/ 125124 w 121227"/>
                      <a:gd name="connsiteY5" fmla="*/ 20003 h 95250"/>
                      <a:gd name="connsiteX6" fmla="*/ 106680 w 121227"/>
                      <a:gd name="connsiteY6" fmla="*/ 0 h 95250"/>
                      <a:gd name="connsiteX7" fmla="*/ 106680 w 121227"/>
                      <a:gd name="connsiteY7" fmla="*/ 0 h 95250"/>
                      <a:gd name="connsiteX8" fmla="*/ 106680 w 121227"/>
                      <a:gd name="connsiteY8"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227" h="95250">
                        <a:moveTo>
                          <a:pt x="106680" y="0"/>
                        </a:moveTo>
                        <a:cubicBezTo>
                          <a:pt x="106680" y="0"/>
                          <a:pt x="74641" y="35416"/>
                          <a:pt x="48751" y="64683"/>
                        </a:cubicBezTo>
                        <a:cubicBezTo>
                          <a:pt x="36541" y="53946"/>
                          <a:pt x="18271" y="35416"/>
                          <a:pt x="18271" y="35416"/>
                        </a:cubicBezTo>
                        <a:cubicBezTo>
                          <a:pt x="0" y="55418"/>
                          <a:pt x="0" y="55418"/>
                          <a:pt x="0" y="55418"/>
                        </a:cubicBezTo>
                        <a:cubicBezTo>
                          <a:pt x="48837" y="100013"/>
                          <a:pt x="48837" y="100013"/>
                          <a:pt x="48837" y="100013"/>
                        </a:cubicBezTo>
                        <a:cubicBezTo>
                          <a:pt x="125124" y="20003"/>
                          <a:pt x="125124" y="20003"/>
                          <a:pt x="125124" y="20003"/>
                        </a:cubicBezTo>
                        <a:cubicBezTo>
                          <a:pt x="106680" y="0"/>
                          <a:pt x="106680" y="0"/>
                          <a:pt x="106680" y="0"/>
                        </a:cubicBezTo>
                        <a:lnTo>
                          <a:pt x="106680" y="0"/>
                        </a:lnTo>
                        <a:lnTo>
                          <a:pt x="106680" y="0"/>
                        </a:lnTo>
                        <a:close/>
                      </a:path>
                    </a:pathLst>
                  </a:custGeom>
                  <a:solidFill>
                    <a:srgbClr val="50E6FF"/>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grpSp>
        </p:grpSp>
      </p:grpSp>
      <p:sp>
        <p:nvSpPr>
          <p:cNvPr id="18" name="Title 1">
            <a:extLst>
              <a:ext uri="{FF2B5EF4-FFF2-40B4-BE49-F238E27FC236}">
                <a16:creationId xmlns:a16="http://schemas.microsoft.com/office/drawing/2014/main" id="{D2BE5931-7B4F-6744-041C-6E0DF631F6BE}"/>
              </a:ext>
            </a:extLst>
          </p:cNvPr>
          <p:cNvSpPr txBox="1">
            <a:spLocks/>
          </p:cNvSpPr>
          <p:nvPr/>
        </p:nvSpPr>
        <p:spPr>
          <a:xfrm>
            <a:off x="15475" y="224772"/>
            <a:ext cx="2636285" cy="809669"/>
          </a:xfrm>
          <a:prstGeom prst="rect">
            <a:avLst/>
          </a:prstGeom>
        </p:spPr>
        <p:txBody>
          <a:bodyPr lIns="274320" tIns="182880"/>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0" normalizeH="0" baseline="0" noProof="0" dirty="0">
                <a:ln w="3175">
                  <a:noFill/>
                </a:ln>
                <a:solidFill>
                  <a:schemeClr val="tx2"/>
                </a:solidFill>
                <a:effectLst/>
                <a:uLnTx/>
                <a:uFillTx/>
                <a:ea typeface="+mn-ea"/>
                <a:cs typeface="Segoe UI" pitchFamily="34" charset="0"/>
              </a:rPr>
              <a:t>The commercial </a:t>
            </a:r>
            <a:r>
              <a:rPr lang="en-US" sz="1800" spc="0" dirty="0">
                <a:solidFill>
                  <a:schemeClr val="tx2"/>
                </a:solidFill>
              </a:rPr>
              <a:t>m</a:t>
            </a:r>
            <a:r>
              <a:rPr kumimoji="0" lang="en-US" sz="1800" b="0" i="0" u="none" strike="noStrike" kern="1200" cap="none" spc="0" normalizeH="0" baseline="0" noProof="0" dirty="0" err="1">
                <a:ln w="3175">
                  <a:noFill/>
                </a:ln>
                <a:solidFill>
                  <a:schemeClr val="tx2"/>
                </a:solidFill>
                <a:effectLst/>
                <a:uLnTx/>
                <a:uFillTx/>
                <a:ea typeface="+mn-ea"/>
                <a:cs typeface="Segoe UI" pitchFamily="34" charset="0"/>
              </a:rPr>
              <a:t>arketplace</a:t>
            </a:r>
            <a:endParaRPr kumimoji="0" lang="en-US" sz="1800" b="0" i="0" u="none" strike="noStrike" kern="1200" cap="none" spc="0" normalizeH="0" baseline="0" noProof="0" dirty="0">
              <a:ln w="3175">
                <a:noFill/>
              </a:ln>
              <a:solidFill>
                <a:schemeClr val="tx2"/>
              </a:solidFill>
              <a:effectLst/>
              <a:uLnTx/>
              <a:uFillTx/>
              <a:ea typeface="+mn-ea"/>
              <a:cs typeface="Segoe UI" pitchFamily="34" charset="0"/>
            </a:endParaRPr>
          </a:p>
        </p:txBody>
      </p:sp>
      <p:sp>
        <p:nvSpPr>
          <p:cNvPr id="19" name="Rectangle: Rounded Corners 18">
            <a:extLst>
              <a:ext uri="{FF2B5EF4-FFF2-40B4-BE49-F238E27FC236}">
                <a16:creationId xmlns:a16="http://schemas.microsoft.com/office/drawing/2014/main" id="{A8B3BCC6-0834-508A-4E21-610AE88D17F3}"/>
              </a:ext>
            </a:extLst>
          </p:cNvPr>
          <p:cNvSpPr/>
          <p:nvPr/>
        </p:nvSpPr>
        <p:spPr bwMode="auto">
          <a:xfrm>
            <a:off x="-279050" y="2684405"/>
            <a:ext cx="2651760" cy="365760"/>
          </a:xfrm>
          <a:prstGeom prst="roundRect">
            <a:avLst>
              <a:gd name="adj" fmla="val 50000"/>
            </a:avLst>
          </a:prstGeom>
          <a:solidFill>
            <a:srgbClr val="C73EC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0" rIns="9144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bg1"/>
              </a:solidFill>
              <a:effectLst/>
              <a:uLnTx/>
              <a:uFillTx/>
              <a:latin typeface="Segoe UI Semibold"/>
              <a:ea typeface="+mn-ea"/>
              <a:cs typeface="Segoe UI Semilight" panose="020B0402040204020203" pitchFamily="34" charset="0"/>
            </a:endParaRPr>
          </a:p>
        </p:txBody>
      </p:sp>
      <p:sp>
        <p:nvSpPr>
          <p:cNvPr id="21" name="Rectangle: Rounded Corners 20">
            <a:extLst>
              <a:ext uri="{FF2B5EF4-FFF2-40B4-BE49-F238E27FC236}">
                <a16:creationId xmlns:a16="http://schemas.microsoft.com/office/drawing/2014/main" id="{840DE8FE-5F75-686E-AC0C-71238C95E3C2}"/>
              </a:ext>
            </a:extLst>
          </p:cNvPr>
          <p:cNvSpPr/>
          <p:nvPr/>
        </p:nvSpPr>
        <p:spPr bwMode="auto">
          <a:xfrm>
            <a:off x="0" y="180602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Setup</a:t>
            </a:r>
          </a:p>
        </p:txBody>
      </p:sp>
      <p:sp>
        <p:nvSpPr>
          <p:cNvPr id="22" name="Rectangle: Rounded Corners 21">
            <a:extLst>
              <a:ext uri="{FF2B5EF4-FFF2-40B4-BE49-F238E27FC236}">
                <a16:creationId xmlns:a16="http://schemas.microsoft.com/office/drawing/2014/main" id="{9591C9D9-8FA8-A19D-893D-21346B690E42}"/>
              </a:ext>
            </a:extLst>
          </p:cNvPr>
          <p:cNvSpPr/>
          <p:nvPr/>
        </p:nvSpPr>
        <p:spPr bwMode="auto">
          <a:xfrm>
            <a:off x="0" y="2245217"/>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Properties</a:t>
            </a:r>
          </a:p>
        </p:txBody>
      </p:sp>
      <p:sp>
        <p:nvSpPr>
          <p:cNvPr id="23" name="Rectangle: Rounded Corners 22">
            <a:extLst>
              <a:ext uri="{FF2B5EF4-FFF2-40B4-BE49-F238E27FC236}">
                <a16:creationId xmlns:a16="http://schemas.microsoft.com/office/drawing/2014/main" id="{1E527BC5-F3E5-93A4-3A8B-E6555DF45488}"/>
              </a:ext>
            </a:extLst>
          </p:cNvPr>
          <p:cNvSpPr/>
          <p:nvPr/>
        </p:nvSpPr>
        <p:spPr bwMode="auto">
          <a:xfrm>
            <a:off x="0" y="2684406"/>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j-lt"/>
                <a:ea typeface="+mn-ea"/>
                <a:cs typeface="Segoe UI Semilight" panose="020B0402040204020203" pitchFamily="34" charset="0"/>
              </a:rPr>
              <a:t>Offer Listing</a:t>
            </a:r>
          </a:p>
        </p:txBody>
      </p:sp>
      <p:sp>
        <p:nvSpPr>
          <p:cNvPr id="24" name="Rectangle: Rounded Corners 23">
            <a:extLst>
              <a:ext uri="{FF2B5EF4-FFF2-40B4-BE49-F238E27FC236}">
                <a16:creationId xmlns:a16="http://schemas.microsoft.com/office/drawing/2014/main" id="{FEE60A44-9576-01CD-5E75-1CBAF80DCEF7}"/>
              </a:ext>
            </a:extLst>
          </p:cNvPr>
          <p:cNvSpPr/>
          <p:nvPr/>
        </p:nvSpPr>
        <p:spPr bwMode="auto">
          <a:xfrm>
            <a:off x="0" y="312359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Pricing and Availability</a:t>
            </a:r>
          </a:p>
        </p:txBody>
      </p:sp>
      <p:sp>
        <p:nvSpPr>
          <p:cNvPr id="25" name="Rectangle: Rounded Corners 24">
            <a:extLst>
              <a:ext uri="{FF2B5EF4-FFF2-40B4-BE49-F238E27FC236}">
                <a16:creationId xmlns:a16="http://schemas.microsoft.com/office/drawing/2014/main" id="{22BF60DC-ABA6-4441-ED80-17881350337D}"/>
              </a:ext>
            </a:extLst>
          </p:cNvPr>
          <p:cNvSpPr/>
          <p:nvPr/>
        </p:nvSpPr>
        <p:spPr bwMode="auto">
          <a:xfrm>
            <a:off x="0" y="356278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2"/>
                </a:solidFill>
                <a:effectLst/>
                <a:uLnTx/>
                <a:uFillTx/>
                <a:latin typeface="+mj-lt"/>
                <a:ea typeface="+mn-ea"/>
                <a:cs typeface="Segoe UI Semilight" panose="020B0402040204020203" pitchFamily="34" charset="0"/>
              </a:rPr>
              <a:t>Co-sell with Microsoft </a:t>
            </a:r>
          </a:p>
        </p:txBody>
      </p:sp>
      <p:sp>
        <p:nvSpPr>
          <p:cNvPr id="26" name="Rectangle: Rounded Corners 25">
            <a:extLst>
              <a:ext uri="{FF2B5EF4-FFF2-40B4-BE49-F238E27FC236}">
                <a16:creationId xmlns:a16="http://schemas.microsoft.com/office/drawing/2014/main" id="{57D539D0-AD40-23B5-24F1-68F05654F25D}"/>
              </a:ext>
            </a:extLst>
          </p:cNvPr>
          <p:cNvSpPr/>
          <p:nvPr/>
        </p:nvSpPr>
        <p:spPr bwMode="auto">
          <a:xfrm>
            <a:off x="0" y="136683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Setup</a:t>
            </a:r>
          </a:p>
        </p:txBody>
      </p:sp>
      <p:cxnSp>
        <p:nvCxnSpPr>
          <p:cNvPr id="27" name="Straight Connector 26">
            <a:extLst>
              <a:ext uri="{FF2B5EF4-FFF2-40B4-BE49-F238E27FC236}">
                <a16:creationId xmlns:a16="http://schemas.microsoft.com/office/drawing/2014/main" id="{105D0423-AC84-CD31-CA9B-F8E9D17D0FFD}"/>
              </a:ext>
            </a:extLst>
          </p:cNvPr>
          <p:cNvCxnSpPr/>
          <p:nvPr/>
        </p:nvCxnSpPr>
        <p:spPr>
          <a:xfrm>
            <a:off x="223520" y="1154149"/>
            <a:ext cx="2011680" cy="0"/>
          </a:xfrm>
          <a:prstGeom prst="line">
            <a:avLst/>
          </a:prstGeom>
          <a:noFill/>
          <a:ln w="25400" cap="rnd">
            <a:gradFill flip="none" rotWithShape="1">
              <a:gsLst>
                <a:gs pos="30000">
                  <a:srgbClr val="2DB4FF"/>
                </a:gs>
                <a:gs pos="35000">
                  <a:srgbClr val="2DB4FF"/>
                </a:gs>
                <a:gs pos="3000">
                  <a:srgbClr val="0078D4"/>
                </a:gs>
                <a:gs pos="52000">
                  <a:srgbClr val="818EFF"/>
                </a:gs>
                <a:gs pos="70000">
                  <a:srgbClr val="D660FF"/>
                </a:gs>
                <a:gs pos="97000">
                  <a:srgbClr val="FEA87A"/>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28" name="Slide Number Placeholder 27">
            <a:extLst>
              <a:ext uri="{FF2B5EF4-FFF2-40B4-BE49-F238E27FC236}">
                <a16:creationId xmlns:a16="http://schemas.microsoft.com/office/drawing/2014/main" id="{81AAFA85-CB22-E28A-040E-20AB4C3FAC55}"/>
              </a:ext>
            </a:extLst>
          </p:cNvPr>
          <p:cNvSpPr>
            <a:spLocks noGrp="1"/>
          </p:cNvSpPr>
          <p:nvPr>
            <p:ph type="sldNum" sz="quarter" idx="11"/>
          </p:nvPr>
        </p:nvSpPr>
        <p:spPr/>
        <p:txBody>
          <a:bodyPr/>
          <a:lstStyle/>
          <a:p>
            <a:fld id="{5763EE98-C176-4152-A50F-E68840BAFA00}" type="slidenum">
              <a:rPr lang="en-US" smtClean="0"/>
              <a:pPr/>
              <a:t>35</a:t>
            </a:fld>
            <a:endParaRPr lang="en-US"/>
          </a:p>
        </p:txBody>
      </p:sp>
    </p:spTree>
    <p:extLst>
      <p:ext uri="{BB962C8B-B14F-4D97-AF65-F5344CB8AC3E}">
        <p14:creationId xmlns:p14="http://schemas.microsoft.com/office/powerpoint/2010/main" val="118339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Picture 40">
            <a:extLst>
              <a:ext uri="{FF2B5EF4-FFF2-40B4-BE49-F238E27FC236}">
                <a16:creationId xmlns:a16="http://schemas.microsoft.com/office/drawing/2014/main" id="{31EF68E4-AA5C-A309-DACD-552F6C498C60}"/>
              </a:ext>
            </a:extLst>
          </p:cNvPr>
          <p:cNvPicPr>
            <a:picLocks noChangeAspect="1"/>
          </p:cNvPicPr>
          <p:nvPr/>
        </p:nvPicPr>
        <p:blipFill>
          <a:blip r:embed="rId3"/>
          <a:stretch>
            <a:fillRect/>
          </a:stretch>
        </p:blipFill>
        <p:spPr>
          <a:xfrm>
            <a:off x="3202441" y="2096108"/>
            <a:ext cx="1998219" cy="1143517"/>
          </a:xfrm>
          <a:prstGeom prst="rect">
            <a:avLst/>
          </a:prstGeom>
          <a:effectLst>
            <a:outerShdw blurRad="50800" dist="38100" dir="13500000" algn="br" rotWithShape="0">
              <a:prstClr val="black">
                <a:alpha val="40000"/>
              </a:prstClr>
            </a:outerShdw>
          </a:effectLst>
        </p:spPr>
      </p:pic>
      <p:sp>
        <p:nvSpPr>
          <p:cNvPr id="39" name="Title 38">
            <a:extLst>
              <a:ext uri="{FF2B5EF4-FFF2-40B4-BE49-F238E27FC236}">
                <a16:creationId xmlns:a16="http://schemas.microsoft.com/office/drawing/2014/main" id="{EECDD5CF-2D0F-4F1B-A160-12C815F23DB5}"/>
              </a:ext>
            </a:extLst>
          </p:cNvPr>
          <p:cNvSpPr>
            <a:spLocks noGrp="1"/>
          </p:cNvSpPr>
          <p:nvPr>
            <p:ph type="title"/>
          </p:nvPr>
        </p:nvSpPr>
        <p:spPr/>
        <p:txBody>
          <a:bodyPr/>
          <a:lstStyle/>
          <a:p>
            <a:pPr lvl="0"/>
            <a:r>
              <a:rPr lang="en-US" noProof="0"/>
              <a:t>Microsoft 365 Copilot offer</a:t>
            </a:r>
          </a:p>
        </p:txBody>
      </p:sp>
      <p:sp>
        <p:nvSpPr>
          <p:cNvPr id="4" name="TextBox 3">
            <a:extLst>
              <a:ext uri="{FF2B5EF4-FFF2-40B4-BE49-F238E27FC236}">
                <a16:creationId xmlns:a16="http://schemas.microsoft.com/office/drawing/2014/main" id="{70DF1697-7243-4863-8273-AFF16CCE2406}"/>
              </a:ext>
            </a:extLst>
          </p:cNvPr>
          <p:cNvSpPr txBox="1"/>
          <p:nvPr/>
        </p:nvSpPr>
        <p:spPr>
          <a:xfrm>
            <a:off x="3017227" y="1326419"/>
            <a:ext cx="2630121" cy="646331"/>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
                <a:srgbClr val="000000"/>
              </a:buClr>
              <a:buSzTx/>
              <a:buFont typeface="+mj-lt"/>
              <a:buAutoNum type="arabicPeriod" startAt="9"/>
              <a:tabLst>
                <a:tab pos="228600" algn="l"/>
              </a:tabLst>
              <a:defRPr/>
            </a:pPr>
            <a:r>
              <a:rPr kumimoji="0" lang="en-US" sz="1400" b="1" i="0" u="none" strike="noStrike" kern="1200" cap="none" spc="0" normalizeH="0" baseline="0" noProof="0" dirty="0">
                <a:ln>
                  <a:noFill/>
                </a:ln>
                <a:solidFill>
                  <a:srgbClr val="000000"/>
                </a:solidFill>
                <a:effectLst/>
                <a:uLnTx/>
                <a:uFillTx/>
                <a:ea typeface="+mn-ea"/>
                <a:cs typeface="+mn-cs"/>
              </a:rPr>
              <a:t>Promotional Images:</a:t>
            </a:r>
            <a:r>
              <a:rPr kumimoji="0" lang="en-US" sz="1400" b="0" i="0" u="none" strike="noStrike" kern="1200" cap="none" spc="0" normalizeH="0" baseline="0" noProof="0" dirty="0">
                <a:ln>
                  <a:noFill/>
                </a:ln>
                <a:solidFill>
                  <a:srgbClr val="000000"/>
                </a:solidFill>
                <a:effectLst/>
                <a:uLnTx/>
                <a:uFillTx/>
                <a:ea typeface="+mn-ea"/>
                <a:cs typeface="+mn-cs"/>
              </a:rPr>
              <a:t> Upload up to </a:t>
            </a:r>
            <a:r>
              <a:rPr kumimoji="0" lang="en-US" sz="1400" b="1" i="0" u="none" strike="noStrike" kern="1200" cap="none" spc="0" normalizeH="0" baseline="0" noProof="0" dirty="0">
                <a:ln>
                  <a:noFill/>
                </a:ln>
                <a:solidFill>
                  <a:srgbClr val="000000"/>
                </a:solidFill>
                <a:effectLst/>
                <a:uLnTx/>
                <a:uFillTx/>
                <a:ea typeface="+mn-ea"/>
                <a:cs typeface="+mn-cs"/>
              </a:rPr>
              <a:t>five images. </a:t>
            </a:r>
            <a:r>
              <a:rPr kumimoji="0" lang="en-US" sz="1400" b="0" i="0" u="none" strike="noStrike" kern="1200" cap="none" spc="0" normalizeH="0" baseline="0" noProof="0" dirty="0">
                <a:ln>
                  <a:noFill/>
                </a:ln>
                <a:solidFill>
                  <a:srgbClr val="000000"/>
                </a:solidFill>
                <a:effectLst/>
                <a:uLnTx/>
                <a:uFillTx/>
                <a:ea typeface="+mn-ea"/>
                <a:cs typeface="+mn-cs"/>
              </a:rPr>
              <a:t> </a:t>
            </a:r>
            <a:br>
              <a:rPr kumimoji="0" lang="en-US" sz="1400" b="0" i="0" u="none" strike="noStrike" kern="1200" cap="none" spc="0" normalizeH="0" baseline="0" noProof="0" dirty="0">
                <a:ln>
                  <a:noFill/>
                </a:ln>
                <a:solidFill>
                  <a:srgbClr val="000000"/>
                </a:solidFill>
                <a:effectLst/>
                <a:uLnTx/>
                <a:uFillTx/>
                <a:ea typeface="+mn-ea"/>
                <a:cs typeface="+mn-cs"/>
              </a:rPr>
            </a:br>
            <a:r>
              <a:rPr kumimoji="0" lang="en-US" sz="1400" b="0" i="0" u="none" strike="noStrike" kern="1200" cap="none" spc="0" normalizeH="0" baseline="0" noProof="0" dirty="0">
                <a:ln>
                  <a:noFill/>
                </a:ln>
                <a:solidFill>
                  <a:srgbClr val="000000"/>
                </a:solidFill>
                <a:effectLst/>
                <a:uLnTx/>
                <a:uFillTx/>
                <a:ea typeface="+mn-ea"/>
                <a:cs typeface="+mn-cs"/>
              </a:rPr>
              <a:t>See samples below.</a:t>
            </a:r>
            <a:endParaRPr kumimoji="0" lang="en-US" sz="1400" b="1" i="0" u="none" strike="noStrike" kern="1200" cap="none" spc="0" normalizeH="0" baseline="0" noProof="0" dirty="0">
              <a:ln>
                <a:noFill/>
              </a:ln>
              <a:solidFill>
                <a:srgbClr val="000000"/>
              </a:solidFill>
              <a:effectLst/>
              <a:uLnTx/>
              <a:uFillTx/>
              <a:ea typeface="+mn-ea"/>
              <a:cs typeface="+mn-cs"/>
            </a:endParaRPr>
          </a:p>
        </p:txBody>
      </p:sp>
      <p:sp>
        <p:nvSpPr>
          <p:cNvPr id="24" name="TextBox 23">
            <a:extLst>
              <a:ext uri="{FF2B5EF4-FFF2-40B4-BE49-F238E27FC236}">
                <a16:creationId xmlns:a16="http://schemas.microsoft.com/office/drawing/2014/main" id="{5B9D376D-6FDE-4C4F-B517-52AC65138563}"/>
              </a:ext>
            </a:extLst>
          </p:cNvPr>
          <p:cNvSpPr txBox="1"/>
          <p:nvPr/>
        </p:nvSpPr>
        <p:spPr>
          <a:xfrm>
            <a:off x="3017227" y="3893653"/>
            <a:ext cx="2630121" cy="646331"/>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10"/>
              <a:tabLst/>
              <a:defRPr/>
            </a:pPr>
            <a:r>
              <a:rPr kumimoji="0" lang="en-US" sz="1400" b="1" i="0" u="none" strike="noStrike" kern="1200" cap="none" spc="0" normalizeH="0" baseline="0" noProof="0">
                <a:ln>
                  <a:noFill/>
                </a:ln>
                <a:solidFill>
                  <a:srgbClr val="171717"/>
                </a:solidFill>
                <a:effectLst/>
                <a:uLnTx/>
                <a:uFillTx/>
                <a:ea typeface="+mn-ea"/>
                <a:cs typeface="+mn-cs"/>
              </a:rPr>
              <a:t>Videos:</a:t>
            </a:r>
            <a:r>
              <a:rPr kumimoji="0" lang="en-US" sz="1400" b="0" i="0" u="none" strike="noStrike" kern="1200" cap="none" spc="0" normalizeH="0" baseline="0" noProof="0">
                <a:ln>
                  <a:noFill/>
                </a:ln>
                <a:solidFill>
                  <a:srgbClr val="171717"/>
                </a:solidFill>
                <a:effectLst/>
                <a:uLnTx/>
                <a:uFillTx/>
                <a:ea typeface="+mn-ea"/>
                <a:cs typeface="+mn-cs"/>
              </a:rPr>
              <a:t> If available, upload up to </a:t>
            </a:r>
            <a:r>
              <a:rPr kumimoji="0" lang="en-US" sz="1400" b="1" i="0" u="none" strike="noStrike" kern="1200" cap="none" spc="0" normalizeH="0" baseline="0" noProof="0">
                <a:ln>
                  <a:noFill/>
                </a:ln>
                <a:solidFill>
                  <a:srgbClr val="171717"/>
                </a:solidFill>
                <a:effectLst/>
                <a:uLnTx/>
                <a:uFillTx/>
                <a:ea typeface="+mn-ea"/>
                <a:cs typeface="+mn-cs"/>
              </a:rPr>
              <a:t>four videos</a:t>
            </a:r>
            <a:r>
              <a:rPr kumimoji="0" lang="en-US" sz="1400" b="0" i="0" u="none" strike="noStrike" kern="1200" cap="none" spc="0" normalizeH="0" baseline="0" noProof="0">
                <a:ln>
                  <a:noFill/>
                </a:ln>
                <a:solidFill>
                  <a:srgbClr val="171717"/>
                </a:solidFill>
                <a:effectLst/>
                <a:uLnTx/>
                <a:uFillTx/>
                <a:ea typeface="+mn-ea"/>
                <a:cs typeface="+mn-cs"/>
              </a:rPr>
              <a:t> that are externally accessible. </a:t>
            </a:r>
            <a:endParaRPr kumimoji="0" lang="en-US" sz="1400" b="1" i="0" u="none" strike="noStrike" kern="1200" cap="none" spc="0" normalizeH="0" baseline="0" noProof="0">
              <a:ln>
                <a:noFill/>
              </a:ln>
              <a:solidFill>
                <a:srgbClr val="171717"/>
              </a:solidFill>
              <a:effectLst/>
              <a:uLnTx/>
              <a:uFillTx/>
              <a:ea typeface="+mn-ea"/>
              <a:cs typeface="+mn-cs"/>
            </a:endParaRPr>
          </a:p>
        </p:txBody>
      </p:sp>
      <p:grpSp>
        <p:nvGrpSpPr>
          <p:cNvPr id="5" name="Group 4">
            <a:extLst>
              <a:ext uri="{FF2B5EF4-FFF2-40B4-BE49-F238E27FC236}">
                <a16:creationId xmlns:a16="http://schemas.microsoft.com/office/drawing/2014/main" id="{301A24BD-24C9-0B96-E93E-894C8BB2F504}"/>
              </a:ext>
            </a:extLst>
          </p:cNvPr>
          <p:cNvGrpSpPr/>
          <p:nvPr/>
        </p:nvGrpSpPr>
        <p:grpSpPr>
          <a:xfrm>
            <a:off x="7347320" y="2006622"/>
            <a:ext cx="4273180" cy="3383483"/>
            <a:chOff x="7416323" y="2155934"/>
            <a:chExt cx="3884709" cy="3075894"/>
          </a:xfrm>
        </p:grpSpPr>
        <p:pic>
          <p:nvPicPr>
            <p:cNvPr id="8" name="Picture 7">
              <a:extLst>
                <a:ext uri="{FF2B5EF4-FFF2-40B4-BE49-F238E27FC236}">
                  <a16:creationId xmlns:a16="http://schemas.microsoft.com/office/drawing/2014/main" id="{80C84DCF-59C7-454A-A72D-9C3886D13F20}"/>
                </a:ext>
              </a:extLst>
            </p:cNvPr>
            <p:cNvPicPr>
              <a:picLocks noChangeAspect="1"/>
            </p:cNvPicPr>
            <p:nvPr/>
          </p:nvPicPr>
          <p:blipFill rotWithShape="1">
            <a:blip r:embed="rId4"/>
            <a:srcRect r="57370"/>
            <a:stretch/>
          </p:blipFill>
          <p:spPr>
            <a:xfrm>
              <a:off x="7416323" y="2155934"/>
              <a:ext cx="3884709" cy="3073558"/>
            </a:xfrm>
            <a:prstGeom prst="rect">
              <a:avLst/>
            </a:prstGeom>
            <a:ln>
              <a:noFill/>
            </a:ln>
            <a:effectLst>
              <a:outerShdw blurRad="50800" dist="38100" dir="2700000" algn="tl" rotWithShape="0">
                <a:prstClr val="black">
                  <a:alpha val="40000"/>
                </a:prstClr>
              </a:outerShdw>
            </a:effectLst>
          </p:spPr>
        </p:pic>
        <p:sp>
          <p:nvSpPr>
            <p:cNvPr id="7" name="Rectangle 6">
              <a:extLst>
                <a:ext uri="{FF2B5EF4-FFF2-40B4-BE49-F238E27FC236}">
                  <a16:creationId xmlns:a16="http://schemas.microsoft.com/office/drawing/2014/main" id="{78102F24-9E55-4490-B46D-08B824E694AB}"/>
                </a:ext>
              </a:extLst>
            </p:cNvPr>
            <p:cNvSpPr/>
            <p:nvPr/>
          </p:nvSpPr>
          <p:spPr bwMode="auto">
            <a:xfrm>
              <a:off x="7462045" y="2554707"/>
              <a:ext cx="1991650" cy="1400004"/>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19">
              <a:extLst>
                <a:ext uri="{FF2B5EF4-FFF2-40B4-BE49-F238E27FC236}">
                  <a16:creationId xmlns:a16="http://schemas.microsoft.com/office/drawing/2014/main" id="{FAA3F1AD-DDA4-4033-B6F1-255A43F2A22B}"/>
                </a:ext>
              </a:extLst>
            </p:cNvPr>
            <p:cNvSpPr/>
            <p:nvPr/>
          </p:nvSpPr>
          <p:spPr bwMode="auto">
            <a:xfrm>
              <a:off x="7462047" y="4681141"/>
              <a:ext cx="694155" cy="254000"/>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2" name="Rectangle 31">
              <a:extLst>
                <a:ext uri="{FF2B5EF4-FFF2-40B4-BE49-F238E27FC236}">
                  <a16:creationId xmlns:a16="http://schemas.microsoft.com/office/drawing/2014/main" id="{744669D1-8FFC-4F66-AE27-3E6B5F1B9190}"/>
                </a:ext>
              </a:extLst>
            </p:cNvPr>
            <p:cNvSpPr/>
            <p:nvPr/>
          </p:nvSpPr>
          <p:spPr bwMode="auto">
            <a:xfrm>
              <a:off x="7462046" y="4977828"/>
              <a:ext cx="833134" cy="254000"/>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5" name="TextBox 34">
            <a:extLst>
              <a:ext uri="{FF2B5EF4-FFF2-40B4-BE49-F238E27FC236}">
                <a16:creationId xmlns:a16="http://schemas.microsoft.com/office/drawing/2014/main" id="{8EAD730F-7FF0-4CCC-A221-92538AB13DB5}"/>
              </a:ext>
            </a:extLst>
          </p:cNvPr>
          <p:cNvSpPr txBox="1"/>
          <p:nvPr/>
        </p:nvSpPr>
        <p:spPr>
          <a:xfrm>
            <a:off x="3003233" y="4978568"/>
            <a:ext cx="1765788" cy="21544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11"/>
              <a:tabLst/>
              <a:defRPr/>
            </a:pPr>
            <a:r>
              <a:rPr kumimoji="0" lang="en-US" sz="1400" b="1" i="0" u="none" strike="noStrike" kern="1200" cap="none" spc="0" normalizeH="0" baseline="0" noProof="0" dirty="0">
                <a:ln>
                  <a:noFill/>
                </a:ln>
                <a:solidFill>
                  <a:srgbClr val="171717"/>
                </a:solidFill>
                <a:effectLst/>
                <a:uLnTx/>
                <a:uFillTx/>
                <a:ea typeface="+mn-ea"/>
                <a:cs typeface="+mn-cs"/>
              </a:rPr>
              <a:t>​</a:t>
            </a:r>
            <a:r>
              <a:rPr kumimoji="0" lang="en-US" sz="1400" i="0" u="none" strike="noStrike" kern="1200" cap="none" spc="0" normalizeH="0" baseline="0" noProof="0" dirty="0">
                <a:ln>
                  <a:noFill/>
                </a:ln>
                <a:solidFill>
                  <a:srgbClr val="171717"/>
                </a:solidFill>
                <a:effectLst/>
                <a:uLnTx/>
                <a:uFillTx/>
                <a:ea typeface="+mn-ea"/>
                <a:cs typeface="+mn-cs"/>
              </a:rPr>
              <a:t>Select </a:t>
            </a:r>
            <a:r>
              <a:rPr kumimoji="0" lang="en-US" sz="1400" b="1" i="0" u="none" strike="noStrike" kern="1200" cap="none" spc="0" normalizeH="0" baseline="0" noProof="0" dirty="0">
                <a:ln>
                  <a:noFill/>
                </a:ln>
                <a:solidFill>
                  <a:srgbClr val="171717"/>
                </a:solidFill>
                <a:effectLst/>
                <a:uLnTx/>
                <a:uFillTx/>
                <a:ea typeface="+mn-ea"/>
                <a:cs typeface="+mn-cs"/>
              </a:rPr>
              <a:t>Save draft</a:t>
            </a:r>
          </a:p>
        </p:txBody>
      </p:sp>
      <p:cxnSp>
        <p:nvCxnSpPr>
          <p:cNvPr id="40" name="Connector: Elbow 39">
            <a:extLst>
              <a:ext uri="{FF2B5EF4-FFF2-40B4-BE49-F238E27FC236}">
                <a16:creationId xmlns:a16="http://schemas.microsoft.com/office/drawing/2014/main" id="{5E39D0BD-90E4-42B4-A11F-4048A5C5DF96}"/>
              </a:ext>
            </a:extLst>
          </p:cNvPr>
          <p:cNvCxnSpPr>
            <a:cxnSpLocks/>
          </p:cNvCxnSpPr>
          <p:nvPr/>
        </p:nvCxnSpPr>
        <p:spPr>
          <a:xfrm>
            <a:off x="4844681" y="5110705"/>
            <a:ext cx="2465757" cy="137570"/>
          </a:xfrm>
          <a:prstGeom prst="bentConnector3">
            <a:avLst>
              <a:gd name="adj1" fmla="val 50000"/>
            </a:avLst>
          </a:prstGeom>
          <a:ln w="22225" cap="rnd">
            <a:solidFill>
              <a:schemeClr val="tx2">
                <a:lumMod val="50000"/>
                <a:lumOff val="50000"/>
              </a:schemeClr>
            </a:solidFill>
            <a:prstDash val="sysDot"/>
            <a:headEnd type="none"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9300DF25-E6E1-4B82-8528-0D688EDA59B2}"/>
              </a:ext>
            </a:extLst>
          </p:cNvPr>
          <p:cNvCxnSpPr>
            <a:cxnSpLocks/>
          </p:cNvCxnSpPr>
          <p:nvPr/>
        </p:nvCxnSpPr>
        <p:spPr>
          <a:xfrm>
            <a:off x="5697644" y="4216819"/>
            <a:ext cx="1612794" cy="693319"/>
          </a:xfrm>
          <a:prstGeom prst="bentConnector3">
            <a:avLst>
              <a:gd name="adj1" fmla="val 50000"/>
            </a:avLst>
          </a:prstGeom>
          <a:ln w="22225" cap="rnd">
            <a:solidFill>
              <a:schemeClr val="tx2">
                <a:lumMod val="50000"/>
                <a:lumOff val="50000"/>
              </a:schemeClr>
            </a:solidFill>
            <a:prstDash val="sysDot"/>
            <a:headEnd type="none" w="lg" len="med"/>
            <a:tailEnd type="triangle" w="lg" len="lg"/>
          </a:ln>
        </p:spPr>
        <p:style>
          <a:lnRef idx="1">
            <a:schemeClr val="accent1"/>
          </a:lnRef>
          <a:fillRef idx="0">
            <a:schemeClr val="accent1"/>
          </a:fillRef>
          <a:effectRef idx="0">
            <a:schemeClr val="accent1"/>
          </a:effectRef>
          <a:fontRef idx="minor">
            <a:schemeClr val="tx1"/>
          </a:fontRef>
        </p:style>
      </p:cxnSp>
      <p:sp>
        <p:nvSpPr>
          <p:cNvPr id="11" name="Freeform: Shape 10">
            <a:extLst>
              <a:ext uri="{FF2B5EF4-FFF2-40B4-BE49-F238E27FC236}">
                <a16:creationId xmlns:a16="http://schemas.microsoft.com/office/drawing/2014/main" id="{D08CE519-335D-4BC0-B324-8C1E8736157D}"/>
              </a:ext>
            </a:extLst>
          </p:cNvPr>
          <p:cNvSpPr/>
          <p:nvPr/>
        </p:nvSpPr>
        <p:spPr bwMode="auto">
          <a:xfrm>
            <a:off x="5735958" y="1855017"/>
            <a:ext cx="1611362" cy="1273993"/>
          </a:xfrm>
          <a:custGeom>
            <a:avLst/>
            <a:gdLst>
              <a:gd name="connsiteX0" fmla="*/ 0 w 800100"/>
              <a:gd name="connsiteY0" fmla="*/ 0 h 257175"/>
              <a:gd name="connsiteX1" fmla="*/ 328612 w 800100"/>
              <a:gd name="connsiteY1" fmla="*/ 0 h 257175"/>
              <a:gd name="connsiteX2" fmla="*/ 328612 w 800100"/>
              <a:gd name="connsiteY2" fmla="*/ 257175 h 257175"/>
              <a:gd name="connsiteX3" fmla="*/ 800100 w 800100"/>
              <a:gd name="connsiteY3" fmla="*/ 257175 h 257175"/>
            </a:gdLst>
            <a:ahLst/>
            <a:cxnLst>
              <a:cxn ang="0">
                <a:pos x="connsiteX0" y="connsiteY0"/>
              </a:cxn>
              <a:cxn ang="0">
                <a:pos x="connsiteX1" y="connsiteY1"/>
              </a:cxn>
              <a:cxn ang="0">
                <a:pos x="connsiteX2" y="connsiteY2"/>
              </a:cxn>
              <a:cxn ang="0">
                <a:pos x="connsiteX3" y="connsiteY3"/>
              </a:cxn>
            </a:cxnLst>
            <a:rect l="l" t="t" r="r" b="b"/>
            <a:pathLst>
              <a:path w="800100" h="257175">
                <a:moveTo>
                  <a:pt x="0" y="0"/>
                </a:moveTo>
                <a:lnTo>
                  <a:pt x="328612" y="0"/>
                </a:lnTo>
                <a:lnTo>
                  <a:pt x="328612" y="257175"/>
                </a:lnTo>
                <a:lnTo>
                  <a:pt x="800100" y="257175"/>
                </a:lnTo>
              </a:path>
            </a:pathLst>
          </a:custGeom>
          <a:noFill/>
          <a:ln w="22225" cap="rnd">
            <a:solidFill>
              <a:schemeClr val="tx2">
                <a:lumMod val="50000"/>
                <a:lumOff val="50000"/>
              </a:schemeClr>
            </a:solidFill>
            <a:prstDash val="sysDot"/>
            <a:headEnd type="none" w="med" len="med"/>
            <a:tailEnd type="triangle" w="lg" len="lg"/>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31" name="Picture 30">
            <a:extLst>
              <a:ext uri="{FF2B5EF4-FFF2-40B4-BE49-F238E27FC236}">
                <a16:creationId xmlns:a16="http://schemas.microsoft.com/office/drawing/2014/main" id="{D0A57E77-F748-595F-9E07-09E82CEAA09A}"/>
              </a:ext>
            </a:extLst>
          </p:cNvPr>
          <p:cNvPicPr>
            <a:picLocks noChangeAspect="1"/>
          </p:cNvPicPr>
          <p:nvPr/>
        </p:nvPicPr>
        <p:blipFill>
          <a:blip r:embed="rId5"/>
          <a:stretch>
            <a:fillRect/>
          </a:stretch>
        </p:blipFill>
        <p:spPr>
          <a:xfrm>
            <a:off x="4113372" y="2511622"/>
            <a:ext cx="1991508" cy="1122388"/>
          </a:xfrm>
          <a:prstGeom prst="rect">
            <a:avLst/>
          </a:prstGeom>
          <a:effectLst>
            <a:outerShdw blurRad="50800" dist="38100" dir="13500000" algn="br" rotWithShape="0">
              <a:prstClr val="black">
                <a:alpha val="40000"/>
              </a:prstClr>
            </a:outerShdw>
          </a:effectLst>
        </p:spPr>
      </p:pic>
      <p:grpSp>
        <p:nvGrpSpPr>
          <p:cNvPr id="10" name="Group 9">
            <a:extLst>
              <a:ext uri="{FF2B5EF4-FFF2-40B4-BE49-F238E27FC236}">
                <a16:creationId xmlns:a16="http://schemas.microsoft.com/office/drawing/2014/main" id="{E42074A1-0E9B-61ED-0C1A-4E84A5AC9BB3}"/>
              </a:ext>
            </a:extLst>
          </p:cNvPr>
          <p:cNvGrpSpPr/>
          <p:nvPr/>
        </p:nvGrpSpPr>
        <p:grpSpPr>
          <a:xfrm>
            <a:off x="9800681" y="299796"/>
            <a:ext cx="1803056" cy="552365"/>
            <a:chOff x="10126451" y="192765"/>
            <a:chExt cx="1803056" cy="552365"/>
          </a:xfrm>
        </p:grpSpPr>
        <p:grpSp>
          <p:nvGrpSpPr>
            <p:cNvPr id="15" name="Group 14">
              <a:extLst>
                <a:ext uri="{FF2B5EF4-FFF2-40B4-BE49-F238E27FC236}">
                  <a16:creationId xmlns:a16="http://schemas.microsoft.com/office/drawing/2014/main" id="{1A78904C-FCCB-8373-9434-9ADF82EB70DA}"/>
                </a:ext>
              </a:extLst>
            </p:cNvPr>
            <p:cNvGrpSpPr/>
            <p:nvPr/>
          </p:nvGrpSpPr>
          <p:grpSpPr>
            <a:xfrm>
              <a:off x="10752268" y="196490"/>
              <a:ext cx="548640" cy="548640"/>
              <a:chOff x="10752268" y="196490"/>
              <a:chExt cx="548640" cy="548640"/>
            </a:xfrm>
          </p:grpSpPr>
          <p:sp>
            <p:nvSpPr>
              <p:cNvPr id="64" name="Oval 63">
                <a:extLst>
                  <a:ext uri="{FF2B5EF4-FFF2-40B4-BE49-F238E27FC236}">
                    <a16:creationId xmlns:a16="http://schemas.microsoft.com/office/drawing/2014/main" id="{92C8137C-8089-DB43-65B3-A15D1B5A4D5E}"/>
                  </a:ext>
                </a:extLst>
              </p:cNvPr>
              <p:cNvSpPr/>
              <p:nvPr/>
            </p:nvSpPr>
            <p:spPr bwMode="auto">
              <a:xfrm>
                <a:off x="10752268"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grpSp>
            <p:nvGrpSpPr>
              <p:cNvPr id="65" name="gear" descr="gear, wrench, engineer">
                <a:extLst>
                  <a:ext uri="{FF2B5EF4-FFF2-40B4-BE49-F238E27FC236}">
                    <a16:creationId xmlns:a16="http://schemas.microsoft.com/office/drawing/2014/main" id="{D7C4C4F7-6B75-4C11-314E-72EC82AEBB3F}"/>
                  </a:ext>
                </a:extLst>
              </p:cNvPr>
              <p:cNvGrpSpPr/>
              <p:nvPr/>
            </p:nvGrpSpPr>
            <p:grpSpPr>
              <a:xfrm>
                <a:off x="10883844" y="326676"/>
                <a:ext cx="288269" cy="288268"/>
                <a:chOff x="3510968" y="2992337"/>
                <a:chExt cx="498751" cy="498751"/>
              </a:xfrm>
              <a:solidFill>
                <a:schemeClr val="bg1"/>
              </a:solidFill>
            </p:grpSpPr>
            <p:sp>
              <p:nvSpPr>
                <p:cNvPr id="67" name="Freeform: Shape 66">
                  <a:extLst>
                    <a:ext uri="{FF2B5EF4-FFF2-40B4-BE49-F238E27FC236}">
                      <a16:creationId xmlns:a16="http://schemas.microsoft.com/office/drawing/2014/main" id="{9DC5F2DA-DCB5-D8ED-D99F-434B92A14C2E}"/>
                    </a:ext>
                  </a:extLst>
                </p:cNvPr>
                <p:cNvSpPr/>
                <p:nvPr/>
              </p:nvSpPr>
              <p:spPr>
                <a:xfrm>
                  <a:off x="3510968" y="2992337"/>
                  <a:ext cx="498751" cy="498751"/>
                </a:xfrm>
                <a:custGeom>
                  <a:avLst/>
                  <a:gdLst>
                    <a:gd name="connsiteX0" fmla="*/ 499635 w 498751"/>
                    <a:gd name="connsiteY0" fmla="*/ 277035 h 498751"/>
                    <a:gd name="connsiteX1" fmla="*/ 499635 w 498751"/>
                    <a:gd name="connsiteY1" fmla="*/ 224623 h 498751"/>
                    <a:gd name="connsiteX2" fmla="*/ 445560 w 498751"/>
                    <a:gd name="connsiteY2" fmla="*/ 224623 h 498751"/>
                    <a:gd name="connsiteX3" fmla="*/ 407060 w 498751"/>
                    <a:gd name="connsiteY3" fmla="*/ 131698 h 498751"/>
                    <a:gd name="connsiteX4" fmla="*/ 445298 w 498751"/>
                    <a:gd name="connsiteY4" fmla="*/ 93460 h 498751"/>
                    <a:gd name="connsiteX5" fmla="*/ 408285 w 498751"/>
                    <a:gd name="connsiteY5" fmla="*/ 56448 h 498751"/>
                    <a:gd name="connsiteX6" fmla="*/ 370048 w 498751"/>
                    <a:gd name="connsiteY6" fmla="*/ 94686 h 498751"/>
                    <a:gd name="connsiteX7" fmla="*/ 277123 w 498751"/>
                    <a:gd name="connsiteY7" fmla="*/ 56186 h 498751"/>
                    <a:gd name="connsiteX8" fmla="*/ 277123 w 498751"/>
                    <a:gd name="connsiteY8" fmla="*/ 2111 h 498751"/>
                    <a:gd name="connsiteX9" fmla="*/ 224710 w 498751"/>
                    <a:gd name="connsiteY9" fmla="*/ 2111 h 498751"/>
                    <a:gd name="connsiteX10" fmla="*/ 224710 w 498751"/>
                    <a:gd name="connsiteY10" fmla="*/ 56186 h 498751"/>
                    <a:gd name="connsiteX11" fmla="*/ 131785 w 498751"/>
                    <a:gd name="connsiteY11" fmla="*/ 94686 h 498751"/>
                    <a:gd name="connsiteX12" fmla="*/ 93548 w 498751"/>
                    <a:gd name="connsiteY12" fmla="*/ 56448 h 498751"/>
                    <a:gd name="connsiteX13" fmla="*/ 56536 w 498751"/>
                    <a:gd name="connsiteY13" fmla="*/ 93460 h 498751"/>
                    <a:gd name="connsiteX14" fmla="*/ 94773 w 498751"/>
                    <a:gd name="connsiteY14" fmla="*/ 131698 h 498751"/>
                    <a:gd name="connsiteX15" fmla="*/ 56273 w 498751"/>
                    <a:gd name="connsiteY15" fmla="*/ 224623 h 498751"/>
                    <a:gd name="connsiteX16" fmla="*/ 2111 w 498751"/>
                    <a:gd name="connsiteY16" fmla="*/ 224623 h 498751"/>
                    <a:gd name="connsiteX17" fmla="*/ 2111 w 498751"/>
                    <a:gd name="connsiteY17" fmla="*/ 277035 h 498751"/>
                    <a:gd name="connsiteX18" fmla="*/ 56186 w 498751"/>
                    <a:gd name="connsiteY18" fmla="*/ 277035 h 498751"/>
                    <a:gd name="connsiteX19" fmla="*/ 112010 w 498751"/>
                    <a:gd name="connsiteY19" fmla="*/ 389735 h 498751"/>
                    <a:gd name="connsiteX20" fmla="*/ 224710 w 498751"/>
                    <a:gd name="connsiteY20" fmla="*/ 445560 h 498751"/>
                    <a:gd name="connsiteX21" fmla="*/ 224710 w 498751"/>
                    <a:gd name="connsiteY21" fmla="*/ 499635 h 498751"/>
                    <a:gd name="connsiteX22" fmla="*/ 277123 w 498751"/>
                    <a:gd name="connsiteY22" fmla="*/ 499635 h 498751"/>
                    <a:gd name="connsiteX23" fmla="*/ 277123 w 498751"/>
                    <a:gd name="connsiteY23" fmla="*/ 445560 h 498751"/>
                    <a:gd name="connsiteX24" fmla="*/ 370048 w 498751"/>
                    <a:gd name="connsiteY24" fmla="*/ 407060 h 498751"/>
                    <a:gd name="connsiteX25" fmla="*/ 408285 w 498751"/>
                    <a:gd name="connsiteY25" fmla="*/ 445298 h 498751"/>
                    <a:gd name="connsiteX26" fmla="*/ 445298 w 498751"/>
                    <a:gd name="connsiteY26" fmla="*/ 408285 h 498751"/>
                    <a:gd name="connsiteX27" fmla="*/ 407060 w 498751"/>
                    <a:gd name="connsiteY27" fmla="*/ 370048 h 498751"/>
                    <a:gd name="connsiteX28" fmla="*/ 445560 w 498751"/>
                    <a:gd name="connsiteY28" fmla="*/ 277123 h 498751"/>
                    <a:gd name="connsiteX29" fmla="*/ 499635 w 498751"/>
                    <a:gd name="connsiteY29" fmla="*/ 277123 h 498751"/>
                    <a:gd name="connsiteX30" fmla="*/ 499635 w 498751"/>
                    <a:gd name="connsiteY30" fmla="*/ 277035 h 498751"/>
                    <a:gd name="connsiteX31" fmla="*/ 106848 w 498751"/>
                    <a:gd name="connsiteY31" fmla="*/ 250873 h 498751"/>
                    <a:gd name="connsiteX32" fmla="*/ 139573 w 498751"/>
                    <a:gd name="connsiteY32" fmla="*/ 159523 h 498751"/>
                    <a:gd name="connsiteX33" fmla="*/ 222786 w 498751"/>
                    <a:gd name="connsiteY33" fmla="*/ 109648 h 498751"/>
                    <a:gd name="connsiteX34" fmla="*/ 318773 w 498751"/>
                    <a:gd name="connsiteY34" fmla="*/ 123910 h 498751"/>
                    <a:gd name="connsiteX35" fmla="*/ 383960 w 498751"/>
                    <a:gd name="connsiteY35" fmla="*/ 195835 h 498751"/>
                    <a:gd name="connsiteX36" fmla="*/ 388685 w 498751"/>
                    <a:gd name="connsiteY36" fmla="*/ 292785 h 498751"/>
                    <a:gd name="connsiteX37" fmla="*/ 330848 w 498751"/>
                    <a:gd name="connsiteY37" fmla="*/ 370748 h 498751"/>
                    <a:gd name="connsiteX38" fmla="*/ 236698 w 498751"/>
                    <a:gd name="connsiteY38" fmla="*/ 394285 h 498751"/>
                    <a:gd name="connsiteX39" fmla="*/ 148936 w 498751"/>
                    <a:gd name="connsiteY39" fmla="*/ 352810 h 498751"/>
                    <a:gd name="connsiteX40" fmla="*/ 117610 w 498751"/>
                    <a:gd name="connsiteY40" fmla="*/ 306085 h 498751"/>
                    <a:gd name="connsiteX41" fmla="*/ 106848 w 498751"/>
                    <a:gd name="connsiteY41" fmla="*/ 250873 h 498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98751" h="498751">
                      <a:moveTo>
                        <a:pt x="499635" y="277035"/>
                      </a:moveTo>
                      <a:lnTo>
                        <a:pt x="499635" y="224623"/>
                      </a:lnTo>
                      <a:lnTo>
                        <a:pt x="445560" y="224623"/>
                      </a:lnTo>
                      <a:cubicBezTo>
                        <a:pt x="441098" y="190848"/>
                        <a:pt x="427798" y="158823"/>
                        <a:pt x="407060" y="131698"/>
                      </a:cubicBezTo>
                      <a:lnTo>
                        <a:pt x="445298" y="93460"/>
                      </a:lnTo>
                      <a:lnTo>
                        <a:pt x="408285" y="56448"/>
                      </a:lnTo>
                      <a:lnTo>
                        <a:pt x="370048" y="94686"/>
                      </a:lnTo>
                      <a:cubicBezTo>
                        <a:pt x="342923" y="73948"/>
                        <a:pt x="310898" y="60648"/>
                        <a:pt x="277123" y="56186"/>
                      </a:cubicBezTo>
                      <a:lnTo>
                        <a:pt x="277123" y="2111"/>
                      </a:lnTo>
                      <a:lnTo>
                        <a:pt x="224710" y="2111"/>
                      </a:lnTo>
                      <a:lnTo>
                        <a:pt x="224710" y="56186"/>
                      </a:lnTo>
                      <a:cubicBezTo>
                        <a:pt x="190935" y="60648"/>
                        <a:pt x="158911" y="73948"/>
                        <a:pt x="131785" y="94686"/>
                      </a:cubicBezTo>
                      <a:lnTo>
                        <a:pt x="93548" y="56448"/>
                      </a:lnTo>
                      <a:lnTo>
                        <a:pt x="56536" y="93460"/>
                      </a:lnTo>
                      <a:lnTo>
                        <a:pt x="94773" y="131698"/>
                      </a:lnTo>
                      <a:cubicBezTo>
                        <a:pt x="74036" y="158823"/>
                        <a:pt x="60736" y="190848"/>
                        <a:pt x="56273" y="224623"/>
                      </a:cubicBezTo>
                      <a:lnTo>
                        <a:pt x="2111" y="224623"/>
                      </a:lnTo>
                      <a:lnTo>
                        <a:pt x="2111" y="277035"/>
                      </a:lnTo>
                      <a:lnTo>
                        <a:pt x="56186" y="277035"/>
                      </a:lnTo>
                      <a:cubicBezTo>
                        <a:pt x="61961" y="319648"/>
                        <a:pt x="81561" y="359285"/>
                        <a:pt x="112010" y="389735"/>
                      </a:cubicBezTo>
                      <a:cubicBezTo>
                        <a:pt x="142461" y="420185"/>
                        <a:pt x="182011" y="439785"/>
                        <a:pt x="224710" y="445560"/>
                      </a:cubicBezTo>
                      <a:lnTo>
                        <a:pt x="224710" y="499635"/>
                      </a:lnTo>
                      <a:lnTo>
                        <a:pt x="277123" y="499635"/>
                      </a:lnTo>
                      <a:lnTo>
                        <a:pt x="277123" y="445560"/>
                      </a:lnTo>
                      <a:cubicBezTo>
                        <a:pt x="310898" y="441098"/>
                        <a:pt x="342923" y="427798"/>
                        <a:pt x="370048" y="407060"/>
                      </a:cubicBezTo>
                      <a:lnTo>
                        <a:pt x="408285" y="445298"/>
                      </a:lnTo>
                      <a:lnTo>
                        <a:pt x="445298" y="408285"/>
                      </a:lnTo>
                      <a:lnTo>
                        <a:pt x="407060" y="370048"/>
                      </a:lnTo>
                      <a:cubicBezTo>
                        <a:pt x="427798" y="342923"/>
                        <a:pt x="441098" y="310898"/>
                        <a:pt x="445560" y="277123"/>
                      </a:cubicBezTo>
                      <a:lnTo>
                        <a:pt x="499635" y="277123"/>
                      </a:lnTo>
                      <a:lnTo>
                        <a:pt x="499635" y="277035"/>
                      </a:lnTo>
                      <a:close/>
                      <a:moveTo>
                        <a:pt x="106848" y="250873"/>
                      </a:moveTo>
                      <a:cubicBezTo>
                        <a:pt x="106848" y="217535"/>
                        <a:pt x="118398" y="185248"/>
                        <a:pt x="139573" y="159523"/>
                      </a:cubicBezTo>
                      <a:cubicBezTo>
                        <a:pt x="160748" y="133798"/>
                        <a:pt x="190148" y="116123"/>
                        <a:pt x="222786" y="109648"/>
                      </a:cubicBezTo>
                      <a:cubicBezTo>
                        <a:pt x="255423" y="103173"/>
                        <a:pt x="289373" y="108161"/>
                        <a:pt x="318773" y="123910"/>
                      </a:cubicBezTo>
                      <a:cubicBezTo>
                        <a:pt x="348173" y="139573"/>
                        <a:pt x="371185" y="165035"/>
                        <a:pt x="383960" y="195835"/>
                      </a:cubicBezTo>
                      <a:cubicBezTo>
                        <a:pt x="396735" y="226635"/>
                        <a:pt x="398397" y="260848"/>
                        <a:pt x="388685" y="292785"/>
                      </a:cubicBezTo>
                      <a:cubicBezTo>
                        <a:pt x="378973" y="324635"/>
                        <a:pt x="358585" y="352197"/>
                        <a:pt x="330848" y="370748"/>
                      </a:cubicBezTo>
                      <a:cubicBezTo>
                        <a:pt x="303110" y="389298"/>
                        <a:pt x="269860" y="397610"/>
                        <a:pt x="236698" y="394285"/>
                      </a:cubicBezTo>
                      <a:cubicBezTo>
                        <a:pt x="203535" y="391048"/>
                        <a:pt x="172560" y="376347"/>
                        <a:pt x="148936" y="352810"/>
                      </a:cubicBezTo>
                      <a:cubicBezTo>
                        <a:pt x="135548" y="339510"/>
                        <a:pt x="124873" y="323585"/>
                        <a:pt x="117610" y="306085"/>
                      </a:cubicBezTo>
                      <a:cubicBezTo>
                        <a:pt x="110523" y="288498"/>
                        <a:pt x="106761" y="269773"/>
                        <a:pt x="106848" y="25087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68" name="Freeform: Shape 67">
                  <a:extLst>
                    <a:ext uri="{FF2B5EF4-FFF2-40B4-BE49-F238E27FC236}">
                      <a16:creationId xmlns:a16="http://schemas.microsoft.com/office/drawing/2014/main" id="{09FAA32A-0C6F-A0D9-923E-EEDB70C81957}"/>
                    </a:ext>
                  </a:extLst>
                </p:cNvPr>
                <p:cNvSpPr/>
                <p:nvPr/>
              </p:nvSpPr>
              <p:spPr>
                <a:xfrm>
                  <a:off x="3525494" y="3127375"/>
                  <a:ext cx="348087" cy="348087"/>
                </a:xfrm>
                <a:custGeom>
                  <a:avLst/>
                  <a:gdLst>
                    <a:gd name="connsiteX0" fmla="*/ 286398 w 348086"/>
                    <a:gd name="connsiteY0" fmla="*/ 124333 h 348086"/>
                    <a:gd name="connsiteX1" fmla="*/ 226548 w 348086"/>
                    <a:gd name="connsiteY1" fmla="*/ 64483 h 348086"/>
                    <a:gd name="connsiteX2" fmla="*/ 280448 w 348086"/>
                    <a:gd name="connsiteY2" fmla="*/ 10583 h 348086"/>
                    <a:gd name="connsiteX3" fmla="*/ 216923 w 348086"/>
                    <a:gd name="connsiteY3" fmla="*/ 4108 h 348086"/>
                    <a:gd name="connsiteX4" fmla="*/ 160310 w 348086"/>
                    <a:gd name="connsiteY4" fmla="*/ 33683 h 348086"/>
                    <a:gd name="connsiteX5" fmla="*/ 129335 w 348086"/>
                    <a:gd name="connsiteY5" fmla="*/ 89508 h 348086"/>
                    <a:gd name="connsiteX6" fmla="*/ 134235 w 348086"/>
                    <a:gd name="connsiteY6" fmla="*/ 153121 h 348086"/>
                    <a:gd name="connsiteX7" fmla="*/ 15236 w 348086"/>
                    <a:gd name="connsiteY7" fmla="*/ 272121 h 348086"/>
                    <a:gd name="connsiteX8" fmla="*/ 2111 w 348086"/>
                    <a:gd name="connsiteY8" fmla="*/ 303883 h 348086"/>
                    <a:gd name="connsiteX9" fmla="*/ 15236 w 348086"/>
                    <a:gd name="connsiteY9" fmla="*/ 335645 h 348086"/>
                    <a:gd name="connsiteX10" fmla="*/ 46998 w 348086"/>
                    <a:gd name="connsiteY10" fmla="*/ 348770 h 348086"/>
                    <a:gd name="connsiteX11" fmla="*/ 78760 w 348086"/>
                    <a:gd name="connsiteY11" fmla="*/ 335645 h 348086"/>
                    <a:gd name="connsiteX12" fmla="*/ 197760 w 348086"/>
                    <a:gd name="connsiteY12" fmla="*/ 216645 h 348086"/>
                    <a:gd name="connsiteX13" fmla="*/ 261373 w 348086"/>
                    <a:gd name="connsiteY13" fmla="*/ 221546 h 348086"/>
                    <a:gd name="connsiteX14" fmla="*/ 317198 w 348086"/>
                    <a:gd name="connsiteY14" fmla="*/ 190571 h 348086"/>
                    <a:gd name="connsiteX15" fmla="*/ 346773 w 348086"/>
                    <a:gd name="connsiteY15" fmla="*/ 134045 h 348086"/>
                    <a:gd name="connsiteX16" fmla="*/ 340298 w 348086"/>
                    <a:gd name="connsiteY16" fmla="*/ 70521 h 348086"/>
                    <a:gd name="connsiteX17" fmla="*/ 286398 w 348086"/>
                    <a:gd name="connsiteY17" fmla="*/ 124333 h 348086"/>
                    <a:gd name="connsiteX18" fmla="*/ 63011 w 348086"/>
                    <a:gd name="connsiteY18" fmla="*/ 319633 h 348086"/>
                    <a:gd name="connsiteX19" fmla="*/ 51548 w 348086"/>
                    <a:gd name="connsiteY19" fmla="*/ 325758 h 348086"/>
                    <a:gd name="connsiteX20" fmla="*/ 38598 w 348086"/>
                    <a:gd name="connsiteY20" fmla="*/ 324445 h 348086"/>
                    <a:gd name="connsiteX21" fmla="*/ 28536 w 348086"/>
                    <a:gd name="connsiteY21" fmla="*/ 316220 h 348086"/>
                    <a:gd name="connsiteX22" fmla="*/ 24773 w 348086"/>
                    <a:gd name="connsiteY22" fmla="*/ 303795 h 348086"/>
                    <a:gd name="connsiteX23" fmla="*/ 28536 w 348086"/>
                    <a:gd name="connsiteY23" fmla="*/ 291371 h 348086"/>
                    <a:gd name="connsiteX24" fmla="*/ 38598 w 348086"/>
                    <a:gd name="connsiteY24" fmla="*/ 283146 h 348086"/>
                    <a:gd name="connsiteX25" fmla="*/ 51548 w 348086"/>
                    <a:gd name="connsiteY25" fmla="*/ 281833 h 348086"/>
                    <a:gd name="connsiteX26" fmla="*/ 63011 w 348086"/>
                    <a:gd name="connsiteY26" fmla="*/ 287958 h 348086"/>
                    <a:gd name="connsiteX27" fmla="*/ 69573 w 348086"/>
                    <a:gd name="connsiteY27" fmla="*/ 303795 h 348086"/>
                    <a:gd name="connsiteX28" fmla="*/ 63011 w 348086"/>
                    <a:gd name="connsiteY28" fmla="*/ 319633 h 348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48086" h="348086">
                      <a:moveTo>
                        <a:pt x="286398" y="124333"/>
                      </a:moveTo>
                      <a:lnTo>
                        <a:pt x="226548" y="64483"/>
                      </a:lnTo>
                      <a:lnTo>
                        <a:pt x="280448" y="10583"/>
                      </a:lnTo>
                      <a:cubicBezTo>
                        <a:pt x="260410" y="2271"/>
                        <a:pt x="238273" y="-4"/>
                        <a:pt x="216923" y="4108"/>
                      </a:cubicBezTo>
                      <a:cubicBezTo>
                        <a:pt x="195573" y="8221"/>
                        <a:pt x="175885" y="18458"/>
                        <a:pt x="160310" y="33683"/>
                      </a:cubicBezTo>
                      <a:cubicBezTo>
                        <a:pt x="144735" y="48821"/>
                        <a:pt x="133973" y="68246"/>
                        <a:pt x="129335" y="89508"/>
                      </a:cubicBezTo>
                      <a:cubicBezTo>
                        <a:pt x="124698" y="110771"/>
                        <a:pt x="126448" y="132908"/>
                        <a:pt x="134235" y="153121"/>
                      </a:cubicBezTo>
                      <a:lnTo>
                        <a:pt x="15236" y="272121"/>
                      </a:lnTo>
                      <a:cubicBezTo>
                        <a:pt x="6836" y="280520"/>
                        <a:pt x="2111" y="291983"/>
                        <a:pt x="2111" y="303883"/>
                      </a:cubicBezTo>
                      <a:cubicBezTo>
                        <a:pt x="2111" y="315783"/>
                        <a:pt x="6836" y="327158"/>
                        <a:pt x="15236" y="335645"/>
                      </a:cubicBezTo>
                      <a:cubicBezTo>
                        <a:pt x="23636" y="344046"/>
                        <a:pt x="35098" y="348770"/>
                        <a:pt x="46998" y="348770"/>
                      </a:cubicBezTo>
                      <a:cubicBezTo>
                        <a:pt x="58898" y="348770"/>
                        <a:pt x="70273" y="344046"/>
                        <a:pt x="78760" y="335645"/>
                      </a:cubicBezTo>
                      <a:lnTo>
                        <a:pt x="197760" y="216645"/>
                      </a:lnTo>
                      <a:cubicBezTo>
                        <a:pt x="218060" y="224520"/>
                        <a:pt x="240110" y="226183"/>
                        <a:pt x="261373" y="221546"/>
                      </a:cubicBezTo>
                      <a:cubicBezTo>
                        <a:pt x="282635" y="216908"/>
                        <a:pt x="301973" y="206146"/>
                        <a:pt x="317198" y="190571"/>
                      </a:cubicBezTo>
                      <a:cubicBezTo>
                        <a:pt x="332335" y="174996"/>
                        <a:pt x="342660" y="155308"/>
                        <a:pt x="346773" y="134045"/>
                      </a:cubicBezTo>
                      <a:cubicBezTo>
                        <a:pt x="350885" y="112696"/>
                        <a:pt x="348610" y="90646"/>
                        <a:pt x="340298" y="70521"/>
                      </a:cubicBezTo>
                      <a:lnTo>
                        <a:pt x="286398" y="124333"/>
                      </a:lnTo>
                      <a:close/>
                      <a:moveTo>
                        <a:pt x="63011" y="319633"/>
                      </a:moveTo>
                      <a:cubicBezTo>
                        <a:pt x="59861" y="322783"/>
                        <a:pt x="55835" y="324883"/>
                        <a:pt x="51548" y="325758"/>
                      </a:cubicBezTo>
                      <a:cubicBezTo>
                        <a:pt x="47173" y="326633"/>
                        <a:pt x="42710" y="326196"/>
                        <a:pt x="38598" y="324445"/>
                      </a:cubicBezTo>
                      <a:cubicBezTo>
                        <a:pt x="34486" y="322783"/>
                        <a:pt x="30986" y="319896"/>
                        <a:pt x="28536" y="316220"/>
                      </a:cubicBezTo>
                      <a:cubicBezTo>
                        <a:pt x="26086" y="312545"/>
                        <a:pt x="24773" y="308170"/>
                        <a:pt x="24773" y="303795"/>
                      </a:cubicBezTo>
                      <a:cubicBezTo>
                        <a:pt x="24773" y="299333"/>
                        <a:pt x="26086" y="295045"/>
                        <a:pt x="28536" y="291371"/>
                      </a:cubicBezTo>
                      <a:cubicBezTo>
                        <a:pt x="30986" y="287696"/>
                        <a:pt x="34486" y="284808"/>
                        <a:pt x="38598" y="283146"/>
                      </a:cubicBezTo>
                      <a:cubicBezTo>
                        <a:pt x="42710" y="281483"/>
                        <a:pt x="47173" y="281046"/>
                        <a:pt x="51548" y="281833"/>
                      </a:cubicBezTo>
                      <a:cubicBezTo>
                        <a:pt x="55923" y="282708"/>
                        <a:pt x="59861" y="284808"/>
                        <a:pt x="63011" y="287958"/>
                      </a:cubicBezTo>
                      <a:cubicBezTo>
                        <a:pt x="67211" y="292158"/>
                        <a:pt x="69573" y="297846"/>
                        <a:pt x="69573" y="303795"/>
                      </a:cubicBezTo>
                      <a:cubicBezTo>
                        <a:pt x="69573" y="309746"/>
                        <a:pt x="67211" y="315433"/>
                        <a:pt x="63011" y="31963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sp>
            <p:nvSpPr>
              <p:cNvPr id="66" name="Oval 65">
                <a:extLst>
                  <a:ext uri="{FF2B5EF4-FFF2-40B4-BE49-F238E27FC236}">
                    <a16:creationId xmlns:a16="http://schemas.microsoft.com/office/drawing/2014/main" id="{02283A1F-0739-2E12-2C7C-7D5813AD5562}"/>
                  </a:ext>
                </a:extLst>
              </p:cNvPr>
              <p:cNvSpPr>
                <a:spLocks/>
              </p:cNvSpPr>
              <p:nvPr/>
            </p:nvSpPr>
            <p:spPr bwMode="auto">
              <a:xfrm>
                <a:off x="10778606"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22" name="Group 21">
              <a:extLst>
                <a:ext uri="{FF2B5EF4-FFF2-40B4-BE49-F238E27FC236}">
                  <a16:creationId xmlns:a16="http://schemas.microsoft.com/office/drawing/2014/main" id="{FBCE3B42-97F3-6CF3-4975-56A3E7EC57C6}"/>
                </a:ext>
              </a:extLst>
            </p:cNvPr>
            <p:cNvGrpSpPr/>
            <p:nvPr/>
          </p:nvGrpSpPr>
          <p:grpSpPr>
            <a:xfrm>
              <a:off x="10126451" y="192765"/>
              <a:ext cx="548640" cy="548640"/>
              <a:chOff x="10126451" y="192765"/>
              <a:chExt cx="548640" cy="548640"/>
            </a:xfrm>
          </p:grpSpPr>
          <p:grpSp>
            <p:nvGrpSpPr>
              <p:cNvPr id="46" name="Group 45">
                <a:extLst>
                  <a:ext uri="{FF2B5EF4-FFF2-40B4-BE49-F238E27FC236}">
                    <a16:creationId xmlns:a16="http://schemas.microsoft.com/office/drawing/2014/main" id="{F75DE26A-1AF8-413B-7459-BA8BDD9182A3}"/>
                  </a:ext>
                </a:extLst>
              </p:cNvPr>
              <p:cNvGrpSpPr/>
              <p:nvPr/>
            </p:nvGrpSpPr>
            <p:grpSpPr>
              <a:xfrm>
                <a:off x="10126451" y="192765"/>
                <a:ext cx="548640" cy="548640"/>
                <a:chOff x="10753659" y="196490"/>
                <a:chExt cx="548640" cy="548640"/>
              </a:xfrm>
            </p:grpSpPr>
            <p:sp>
              <p:nvSpPr>
                <p:cNvPr id="62" name="Oval 61">
                  <a:extLst>
                    <a:ext uri="{FF2B5EF4-FFF2-40B4-BE49-F238E27FC236}">
                      <a16:creationId xmlns:a16="http://schemas.microsoft.com/office/drawing/2014/main" id="{95F95BA7-984D-AEF1-98E3-174D18814C2A}"/>
                    </a:ext>
                  </a:extLst>
                </p:cNvPr>
                <p:cNvSpPr/>
                <p:nvPr/>
              </p:nvSpPr>
              <p:spPr bwMode="auto">
                <a:xfrm>
                  <a:off x="10753659"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63" name="Oval 62">
                  <a:extLst>
                    <a:ext uri="{FF2B5EF4-FFF2-40B4-BE49-F238E27FC236}">
                      <a16:creationId xmlns:a16="http://schemas.microsoft.com/office/drawing/2014/main" id="{225300FA-D89F-1996-F549-E76D706316EA}"/>
                    </a:ext>
                  </a:extLst>
                </p:cNvPr>
                <p:cNvSpPr>
                  <a:spLocks/>
                </p:cNvSpPr>
                <p:nvPr/>
              </p:nvSpPr>
              <p:spPr bwMode="auto">
                <a:xfrm>
                  <a:off x="10779997"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7" name="Group 46">
                <a:extLst>
                  <a:ext uri="{FF2B5EF4-FFF2-40B4-BE49-F238E27FC236}">
                    <a16:creationId xmlns:a16="http://schemas.microsoft.com/office/drawing/2014/main" id="{93333662-6812-A863-5D7D-44BAB646DD49}"/>
                  </a:ext>
                </a:extLst>
              </p:cNvPr>
              <p:cNvGrpSpPr/>
              <p:nvPr/>
            </p:nvGrpSpPr>
            <p:grpSpPr>
              <a:xfrm>
                <a:off x="10243674" y="318889"/>
                <a:ext cx="314209" cy="303840"/>
                <a:chOff x="3504064" y="4676412"/>
                <a:chExt cx="509193" cy="492392"/>
              </a:xfrm>
            </p:grpSpPr>
            <p:sp>
              <p:nvSpPr>
                <p:cNvPr id="59" name="Oval 58">
                  <a:extLst>
                    <a:ext uri="{FF2B5EF4-FFF2-40B4-BE49-F238E27FC236}">
                      <a16:creationId xmlns:a16="http://schemas.microsoft.com/office/drawing/2014/main" id="{6F3DC2DA-FC0A-8637-E87E-29323964512D}"/>
                    </a:ext>
                  </a:extLst>
                </p:cNvPr>
                <p:cNvSpPr/>
                <p:nvPr/>
              </p:nvSpPr>
              <p:spPr bwMode="auto">
                <a:xfrm>
                  <a:off x="3504064"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0" name="Oval 59">
                  <a:extLst>
                    <a:ext uri="{FF2B5EF4-FFF2-40B4-BE49-F238E27FC236}">
                      <a16:creationId xmlns:a16="http://schemas.microsoft.com/office/drawing/2014/main" id="{CBF3AA89-152D-C016-110D-9D3F41986667}"/>
                    </a:ext>
                  </a:extLst>
                </p:cNvPr>
                <p:cNvSpPr/>
                <p:nvPr/>
              </p:nvSpPr>
              <p:spPr bwMode="auto">
                <a:xfrm>
                  <a:off x="3671817"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1" name="Oval 60">
                  <a:extLst>
                    <a:ext uri="{FF2B5EF4-FFF2-40B4-BE49-F238E27FC236}">
                      <a16:creationId xmlns:a16="http://schemas.microsoft.com/office/drawing/2014/main" id="{6009C8CF-1790-4FC1-8929-33151341D458}"/>
                    </a:ext>
                  </a:extLst>
                </p:cNvPr>
                <p:cNvSpPr/>
                <p:nvPr/>
              </p:nvSpPr>
              <p:spPr bwMode="auto">
                <a:xfrm>
                  <a:off x="3587940" y="4676412"/>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grpSp>
          <p:nvGrpSpPr>
            <p:cNvPr id="28" name="Group 27">
              <a:extLst>
                <a:ext uri="{FF2B5EF4-FFF2-40B4-BE49-F238E27FC236}">
                  <a16:creationId xmlns:a16="http://schemas.microsoft.com/office/drawing/2014/main" id="{33199DC9-907C-E17A-B815-8B4FB691752F}"/>
                </a:ext>
              </a:extLst>
            </p:cNvPr>
            <p:cNvGrpSpPr/>
            <p:nvPr/>
          </p:nvGrpSpPr>
          <p:grpSpPr>
            <a:xfrm>
              <a:off x="11380867" y="196490"/>
              <a:ext cx="548640" cy="548640"/>
              <a:chOff x="11380867" y="196490"/>
              <a:chExt cx="548640" cy="548640"/>
            </a:xfrm>
          </p:grpSpPr>
          <p:sp>
            <p:nvSpPr>
              <p:cNvPr id="29" name="Oval 28">
                <a:extLst>
                  <a:ext uri="{FF2B5EF4-FFF2-40B4-BE49-F238E27FC236}">
                    <a16:creationId xmlns:a16="http://schemas.microsoft.com/office/drawing/2014/main" id="{BF79BE30-8E7D-9D91-8B16-71205AE56634}"/>
                  </a:ext>
                </a:extLst>
              </p:cNvPr>
              <p:cNvSpPr/>
              <p:nvPr/>
            </p:nvSpPr>
            <p:spPr bwMode="auto">
              <a:xfrm>
                <a:off x="11380867" y="196490"/>
                <a:ext cx="548640" cy="548640"/>
              </a:xfrm>
              <a:prstGeom prst="ellipse">
                <a:avLst/>
              </a:prstGeom>
              <a:solidFill>
                <a:srgbClr val="1A2B46"/>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0" name="Oval 29">
                <a:extLst>
                  <a:ext uri="{FF2B5EF4-FFF2-40B4-BE49-F238E27FC236}">
                    <a16:creationId xmlns:a16="http://schemas.microsoft.com/office/drawing/2014/main" id="{A9CE8F06-4A04-F914-273E-197A8C92E891}"/>
                  </a:ext>
                </a:extLst>
              </p:cNvPr>
              <p:cNvSpPr>
                <a:spLocks/>
              </p:cNvSpPr>
              <p:nvPr/>
            </p:nvSpPr>
            <p:spPr bwMode="auto">
              <a:xfrm>
                <a:off x="11407205"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37" name="Group 36">
                <a:extLst>
                  <a:ext uri="{FF2B5EF4-FFF2-40B4-BE49-F238E27FC236}">
                    <a16:creationId xmlns:a16="http://schemas.microsoft.com/office/drawing/2014/main" id="{749B1512-11FF-74F2-6748-D79B1D2C7680}"/>
                  </a:ext>
                </a:extLst>
              </p:cNvPr>
              <p:cNvGrpSpPr/>
              <p:nvPr/>
            </p:nvGrpSpPr>
            <p:grpSpPr>
              <a:xfrm>
                <a:off x="11478807" y="317384"/>
                <a:ext cx="352760" cy="306952"/>
                <a:chOff x="10772223" y="7410567"/>
                <a:chExt cx="346174" cy="301219"/>
              </a:xfrm>
            </p:grpSpPr>
            <p:sp>
              <p:nvSpPr>
                <p:cNvPr id="42" name="Freeform: Shape 41">
                  <a:extLst>
                    <a:ext uri="{FF2B5EF4-FFF2-40B4-BE49-F238E27FC236}">
                      <a16:creationId xmlns:a16="http://schemas.microsoft.com/office/drawing/2014/main" id="{22AE568F-3B13-4EC8-3A83-1A492CC054DB}"/>
                    </a:ext>
                  </a:extLst>
                </p:cNvPr>
                <p:cNvSpPr/>
                <p:nvPr/>
              </p:nvSpPr>
              <p:spPr>
                <a:xfrm>
                  <a:off x="10840877" y="7661402"/>
                  <a:ext cx="236157" cy="47232"/>
                </a:xfrm>
                <a:custGeom>
                  <a:avLst/>
                  <a:gdLst>
                    <a:gd name="connsiteX0" fmla="*/ 121141 w 259772"/>
                    <a:gd name="connsiteY0" fmla="*/ 17145 h 51954"/>
                    <a:gd name="connsiteX1" fmla="*/ 267306 w 259772"/>
                    <a:gd name="connsiteY1" fmla="*/ 0 h 51954"/>
                    <a:gd name="connsiteX2" fmla="*/ 267306 w 259772"/>
                    <a:gd name="connsiteY2" fmla="*/ 25718 h 51954"/>
                    <a:gd name="connsiteX3" fmla="*/ 238039 w 259772"/>
                    <a:gd name="connsiteY3" fmla="*/ 60008 h 51954"/>
                    <a:gd name="connsiteX4" fmla="*/ 33424 w 259772"/>
                    <a:gd name="connsiteY4" fmla="*/ 60008 h 51954"/>
                    <a:gd name="connsiteX5" fmla="*/ 0 w 259772"/>
                    <a:gd name="connsiteY5" fmla="*/ 25718 h 51954"/>
                    <a:gd name="connsiteX6" fmla="*/ 0 w 259772"/>
                    <a:gd name="connsiteY6" fmla="*/ 4330 h 51954"/>
                    <a:gd name="connsiteX7" fmla="*/ 121141 w 259772"/>
                    <a:gd name="connsiteY7" fmla="*/ 17145 h 51954"/>
                    <a:gd name="connsiteX8" fmla="*/ 121141 w 259772"/>
                    <a:gd name="connsiteY8" fmla="*/ 17145 h 51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772" h="51954">
                      <a:moveTo>
                        <a:pt x="121141" y="17145"/>
                      </a:moveTo>
                      <a:cubicBezTo>
                        <a:pt x="175433" y="17145"/>
                        <a:pt x="225569" y="12902"/>
                        <a:pt x="267306" y="0"/>
                      </a:cubicBezTo>
                      <a:cubicBezTo>
                        <a:pt x="267306" y="8573"/>
                        <a:pt x="267306" y="17145"/>
                        <a:pt x="267306" y="25718"/>
                      </a:cubicBezTo>
                      <a:cubicBezTo>
                        <a:pt x="267306" y="42863"/>
                        <a:pt x="254751" y="60008"/>
                        <a:pt x="238039" y="60008"/>
                      </a:cubicBezTo>
                      <a:cubicBezTo>
                        <a:pt x="238039" y="60008"/>
                        <a:pt x="238039" y="60008"/>
                        <a:pt x="33424" y="60008"/>
                      </a:cubicBezTo>
                      <a:cubicBezTo>
                        <a:pt x="16712" y="60008"/>
                        <a:pt x="0" y="42863"/>
                        <a:pt x="0" y="25718"/>
                      </a:cubicBezTo>
                      <a:cubicBezTo>
                        <a:pt x="0" y="25718"/>
                        <a:pt x="0" y="25718"/>
                        <a:pt x="0" y="4330"/>
                      </a:cubicBezTo>
                      <a:cubicBezTo>
                        <a:pt x="37580" y="12815"/>
                        <a:pt x="79404" y="17145"/>
                        <a:pt x="121141" y="17145"/>
                      </a:cubicBezTo>
                      <a:lnTo>
                        <a:pt x="121141" y="17145"/>
                      </a:lnTo>
                      <a:close/>
                    </a:path>
                  </a:pathLst>
                </a:custGeom>
                <a:solidFill>
                  <a:schemeClr val="accent1"/>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nvGrpSpPr>
                <p:cNvPr id="43" name="Group 42">
                  <a:extLst>
                    <a:ext uri="{FF2B5EF4-FFF2-40B4-BE49-F238E27FC236}">
                      <a16:creationId xmlns:a16="http://schemas.microsoft.com/office/drawing/2014/main" id="{422B079A-CB96-A3BB-8617-E90960791DFE}"/>
                    </a:ext>
                  </a:extLst>
                </p:cNvPr>
                <p:cNvGrpSpPr/>
                <p:nvPr/>
              </p:nvGrpSpPr>
              <p:grpSpPr>
                <a:xfrm>
                  <a:off x="10772223" y="7410567"/>
                  <a:ext cx="346174" cy="301219"/>
                  <a:chOff x="10772223" y="1543167"/>
                  <a:chExt cx="346174" cy="301219"/>
                </a:xfrm>
              </p:grpSpPr>
              <p:sp>
                <p:nvSpPr>
                  <p:cNvPr id="44" name="Freeform: Shape 43">
                    <a:extLst>
                      <a:ext uri="{FF2B5EF4-FFF2-40B4-BE49-F238E27FC236}">
                        <a16:creationId xmlns:a16="http://schemas.microsoft.com/office/drawing/2014/main" id="{172A367D-101F-9C77-539F-043D7E3BA21E}"/>
                      </a:ext>
                    </a:extLst>
                  </p:cNvPr>
                  <p:cNvSpPr/>
                  <p:nvPr/>
                </p:nvSpPr>
                <p:spPr>
                  <a:xfrm rot="13310739">
                    <a:off x="10772223" y="1543167"/>
                    <a:ext cx="346174" cy="301219"/>
                  </a:xfrm>
                  <a:custGeom>
                    <a:avLst/>
                    <a:gdLst>
                      <a:gd name="connsiteX0" fmla="*/ 335526 w 346174"/>
                      <a:gd name="connsiteY0" fmla="*/ 221002 h 301219"/>
                      <a:gd name="connsiteX1" fmla="*/ 256301 w 346174"/>
                      <a:gd name="connsiteY1" fmla="*/ 291951 h 301219"/>
                      <a:gd name="connsiteX2" fmla="*/ 228767 w 346174"/>
                      <a:gd name="connsiteY2" fmla="*/ 300970 h 301219"/>
                      <a:gd name="connsiteX3" fmla="*/ 144718 w 346174"/>
                      <a:gd name="connsiteY3" fmla="*/ 292547 h 301219"/>
                      <a:gd name="connsiteX4" fmla="*/ 112227 w 346174"/>
                      <a:gd name="connsiteY4" fmla="*/ 290366 h 301219"/>
                      <a:gd name="connsiteX5" fmla="*/ 104454 w 346174"/>
                      <a:gd name="connsiteY5" fmla="*/ 281687 h 301219"/>
                      <a:gd name="connsiteX6" fmla="*/ 0 w 346174"/>
                      <a:gd name="connsiteY6" fmla="*/ 165049 h 301219"/>
                      <a:gd name="connsiteX7" fmla="*/ 88589 w 346174"/>
                      <a:gd name="connsiteY7" fmla="*/ 64791 h 301219"/>
                      <a:gd name="connsiteX8" fmla="*/ 178400 w 346174"/>
                      <a:gd name="connsiteY8" fmla="*/ 0 h 301219"/>
                      <a:gd name="connsiteX9" fmla="*/ 295826 w 346174"/>
                      <a:gd name="connsiteY9" fmla="*/ 131123 h 301219"/>
                      <a:gd name="connsiteX10" fmla="*/ 311423 w 346174"/>
                      <a:gd name="connsiteY10" fmla="*/ 148540 h 301219"/>
                      <a:gd name="connsiteX11" fmla="*/ 329593 w 346174"/>
                      <a:gd name="connsiteY11" fmla="*/ 168830 h 301219"/>
                      <a:gd name="connsiteX12" fmla="*/ 339992 w 346174"/>
                      <a:gd name="connsiteY12" fmla="*/ 180441 h 301219"/>
                      <a:gd name="connsiteX13" fmla="*/ 335526 w 346174"/>
                      <a:gd name="connsiteY13" fmla="*/ 221002 h 30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174" h="301219">
                        <a:moveTo>
                          <a:pt x="335526" y="221002"/>
                        </a:moveTo>
                        <a:cubicBezTo>
                          <a:pt x="335526" y="221002"/>
                          <a:pt x="335526" y="221002"/>
                          <a:pt x="256301" y="291951"/>
                        </a:cubicBezTo>
                        <a:cubicBezTo>
                          <a:pt x="247857" y="299513"/>
                          <a:pt x="244983" y="302087"/>
                          <a:pt x="228767" y="300970"/>
                        </a:cubicBezTo>
                        <a:cubicBezTo>
                          <a:pt x="228767" y="300970"/>
                          <a:pt x="228767" y="300970"/>
                          <a:pt x="144718" y="292547"/>
                        </a:cubicBezTo>
                        <a:lnTo>
                          <a:pt x="112227" y="290366"/>
                        </a:lnTo>
                        <a:cubicBezTo>
                          <a:pt x="107027" y="284560"/>
                          <a:pt x="104454" y="281687"/>
                          <a:pt x="104454" y="281687"/>
                        </a:cubicBezTo>
                        <a:cubicBezTo>
                          <a:pt x="104454" y="281687"/>
                          <a:pt x="49365" y="220171"/>
                          <a:pt x="0" y="165049"/>
                        </a:cubicBezTo>
                        <a:cubicBezTo>
                          <a:pt x="17436" y="138972"/>
                          <a:pt x="46132" y="102813"/>
                          <a:pt x="88589" y="64791"/>
                        </a:cubicBezTo>
                        <a:cubicBezTo>
                          <a:pt x="119728" y="36905"/>
                          <a:pt x="150565" y="14466"/>
                          <a:pt x="178400" y="0"/>
                        </a:cubicBezTo>
                        <a:cubicBezTo>
                          <a:pt x="186172" y="8679"/>
                          <a:pt x="269831" y="102096"/>
                          <a:pt x="295826" y="131123"/>
                        </a:cubicBezTo>
                        <a:lnTo>
                          <a:pt x="311423" y="148540"/>
                        </a:lnTo>
                        <a:cubicBezTo>
                          <a:pt x="321821" y="160151"/>
                          <a:pt x="329593" y="168830"/>
                          <a:pt x="329593" y="168830"/>
                        </a:cubicBezTo>
                        <a:cubicBezTo>
                          <a:pt x="332219" y="171762"/>
                          <a:pt x="337419" y="177568"/>
                          <a:pt x="339992" y="180441"/>
                        </a:cubicBezTo>
                        <a:cubicBezTo>
                          <a:pt x="350390" y="192052"/>
                          <a:pt x="346844" y="210867"/>
                          <a:pt x="335526" y="221002"/>
                        </a:cubicBezTo>
                        <a:close/>
                      </a:path>
                    </a:pathLst>
                  </a:custGeom>
                  <a:solidFill>
                    <a:schemeClr val="accent1"/>
                  </a:solidFill>
                  <a:ln w="8603"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45" name="Freeform: Shape 44">
                    <a:extLst>
                      <a:ext uri="{FF2B5EF4-FFF2-40B4-BE49-F238E27FC236}">
                        <a16:creationId xmlns:a16="http://schemas.microsoft.com/office/drawing/2014/main" id="{49F5A2DA-B9D0-86F4-3599-E95FD8473546}"/>
                      </a:ext>
                    </a:extLst>
                  </p:cNvPr>
                  <p:cNvSpPr/>
                  <p:nvPr/>
                </p:nvSpPr>
                <p:spPr>
                  <a:xfrm>
                    <a:off x="10892650" y="1664886"/>
                    <a:ext cx="141110" cy="110872"/>
                  </a:xfrm>
                  <a:custGeom>
                    <a:avLst/>
                    <a:gdLst>
                      <a:gd name="connsiteX0" fmla="*/ 106680 w 121227"/>
                      <a:gd name="connsiteY0" fmla="*/ 0 h 95250"/>
                      <a:gd name="connsiteX1" fmla="*/ 48751 w 121227"/>
                      <a:gd name="connsiteY1" fmla="*/ 64683 h 95250"/>
                      <a:gd name="connsiteX2" fmla="*/ 18271 w 121227"/>
                      <a:gd name="connsiteY2" fmla="*/ 35416 h 95250"/>
                      <a:gd name="connsiteX3" fmla="*/ 0 w 121227"/>
                      <a:gd name="connsiteY3" fmla="*/ 55418 h 95250"/>
                      <a:gd name="connsiteX4" fmla="*/ 48837 w 121227"/>
                      <a:gd name="connsiteY4" fmla="*/ 100013 h 95250"/>
                      <a:gd name="connsiteX5" fmla="*/ 125124 w 121227"/>
                      <a:gd name="connsiteY5" fmla="*/ 20003 h 95250"/>
                      <a:gd name="connsiteX6" fmla="*/ 106680 w 121227"/>
                      <a:gd name="connsiteY6" fmla="*/ 0 h 95250"/>
                      <a:gd name="connsiteX7" fmla="*/ 106680 w 121227"/>
                      <a:gd name="connsiteY7" fmla="*/ 0 h 95250"/>
                      <a:gd name="connsiteX8" fmla="*/ 106680 w 121227"/>
                      <a:gd name="connsiteY8"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227" h="95250">
                        <a:moveTo>
                          <a:pt x="106680" y="0"/>
                        </a:moveTo>
                        <a:cubicBezTo>
                          <a:pt x="106680" y="0"/>
                          <a:pt x="74641" y="35416"/>
                          <a:pt x="48751" y="64683"/>
                        </a:cubicBezTo>
                        <a:cubicBezTo>
                          <a:pt x="36541" y="53946"/>
                          <a:pt x="18271" y="35416"/>
                          <a:pt x="18271" y="35416"/>
                        </a:cubicBezTo>
                        <a:cubicBezTo>
                          <a:pt x="0" y="55418"/>
                          <a:pt x="0" y="55418"/>
                          <a:pt x="0" y="55418"/>
                        </a:cubicBezTo>
                        <a:cubicBezTo>
                          <a:pt x="48837" y="100013"/>
                          <a:pt x="48837" y="100013"/>
                          <a:pt x="48837" y="100013"/>
                        </a:cubicBezTo>
                        <a:cubicBezTo>
                          <a:pt x="125124" y="20003"/>
                          <a:pt x="125124" y="20003"/>
                          <a:pt x="125124" y="20003"/>
                        </a:cubicBezTo>
                        <a:cubicBezTo>
                          <a:pt x="106680" y="0"/>
                          <a:pt x="106680" y="0"/>
                          <a:pt x="106680" y="0"/>
                        </a:cubicBezTo>
                        <a:lnTo>
                          <a:pt x="106680" y="0"/>
                        </a:lnTo>
                        <a:lnTo>
                          <a:pt x="106680" y="0"/>
                        </a:lnTo>
                        <a:close/>
                      </a:path>
                    </a:pathLst>
                  </a:custGeom>
                  <a:solidFill>
                    <a:srgbClr val="50E6FF"/>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grpSp>
        </p:grpSp>
      </p:grpSp>
      <p:sp>
        <p:nvSpPr>
          <p:cNvPr id="69" name="Title 1">
            <a:extLst>
              <a:ext uri="{FF2B5EF4-FFF2-40B4-BE49-F238E27FC236}">
                <a16:creationId xmlns:a16="http://schemas.microsoft.com/office/drawing/2014/main" id="{907F4ED9-DEFF-7178-31DC-92B1267CD2E0}"/>
              </a:ext>
            </a:extLst>
          </p:cNvPr>
          <p:cNvSpPr txBox="1">
            <a:spLocks/>
          </p:cNvSpPr>
          <p:nvPr/>
        </p:nvSpPr>
        <p:spPr>
          <a:xfrm>
            <a:off x="15475" y="224772"/>
            <a:ext cx="2636285" cy="809669"/>
          </a:xfrm>
          <a:prstGeom prst="rect">
            <a:avLst/>
          </a:prstGeom>
        </p:spPr>
        <p:txBody>
          <a:bodyPr lIns="274320" tIns="182880"/>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0" normalizeH="0" baseline="0" noProof="0" dirty="0">
                <a:ln w="3175">
                  <a:noFill/>
                </a:ln>
                <a:solidFill>
                  <a:schemeClr val="tx2"/>
                </a:solidFill>
                <a:effectLst/>
                <a:uLnTx/>
                <a:uFillTx/>
                <a:ea typeface="+mn-ea"/>
                <a:cs typeface="Segoe UI" pitchFamily="34" charset="0"/>
              </a:rPr>
              <a:t>The commercial </a:t>
            </a:r>
            <a:r>
              <a:rPr lang="en-US" sz="1800" spc="0" dirty="0">
                <a:solidFill>
                  <a:schemeClr val="tx2"/>
                </a:solidFill>
              </a:rPr>
              <a:t>m</a:t>
            </a:r>
            <a:r>
              <a:rPr kumimoji="0" lang="en-US" sz="1800" b="0" i="0" u="none" strike="noStrike" kern="1200" cap="none" spc="0" normalizeH="0" baseline="0" noProof="0" dirty="0" err="1">
                <a:ln w="3175">
                  <a:noFill/>
                </a:ln>
                <a:solidFill>
                  <a:schemeClr val="tx2"/>
                </a:solidFill>
                <a:effectLst/>
                <a:uLnTx/>
                <a:uFillTx/>
                <a:ea typeface="+mn-ea"/>
                <a:cs typeface="Segoe UI" pitchFamily="34" charset="0"/>
              </a:rPr>
              <a:t>arketplace</a:t>
            </a:r>
            <a:endParaRPr kumimoji="0" lang="en-US" sz="1800" b="0" i="0" u="none" strike="noStrike" kern="1200" cap="none" spc="0" normalizeH="0" baseline="0" noProof="0" dirty="0">
              <a:ln w="3175">
                <a:noFill/>
              </a:ln>
              <a:solidFill>
                <a:schemeClr val="tx2"/>
              </a:solidFill>
              <a:effectLst/>
              <a:uLnTx/>
              <a:uFillTx/>
              <a:ea typeface="+mn-ea"/>
              <a:cs typeface="Segoe UI" pitchFamily="34" charset="0"/>
            </a:endParaRPr>
          </a:p>
        </p:txBody>
      </p:sp>
      <p:sp>
        <p:nvSpPr>
          <p:cNvPr id="71" name="Rectangle: Rounded Corners 70">
            <a:extLst>
              <a:ext uri="{FF2B5EF4-FFF2-40B4-BE49-F238E27FC236}">
                <a16:creationId xmlns:a16="http://schemas.microsoft.com/office/drawing/2014/main" id="{C22BF24E-344C-9BCC-4E62-F58253FAE293}"/>
              </a:ext>
            </a:extLst>
          </p:cNvPr>
          <p:cNvSpPr/>
          <p:nvPr/>
        </p:nvSpPr>
        <p:spPr bwMode="auto">
          <a:xfrm>
            <a:off x="-279050" y="2684405"/>
            <a:ext cx="2651760" cy="365760"/>
          </a:xfrm>
          <a:prstGeom prst="roundRect">
            <a:avLst>
              <a:gd name="adj" fmla="val 50000"/>
            </a:avLst>
          </a:prstGeom>
          <a:solidFill>
            <a:srgbClr val="C73EC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0" rIns="9144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bg1"/>
              </a:solidFill>
              <a:effectLst/>
              <a:uLnTx/>
              <a:uFillTx/>
              <a:latin typeface="Segoe UI Semibold"/>
              <a:ea typeface="+mn-ea"/>
              <a:cs typeface="Segoe UI Semilight" panose="020B0402040204020203" pitchFamily="34" charset="0"/>
            </a:endParaRPr>
          </a:p>
        </p:txBody>
      </p:sp>
      <p:sp>
        <p:nvSpPr>
          <p:cNvPr id="72" name="Rectangle: Rounded Corners 71">
            <a:extLst>
              <a:ext uri="{FF2B5EF4-FFF2-40B4-BE49-F238E27FC236}">
                <a16:creationId xmlns:a16="http://schemas.microsoft.com/office/drawing/2014/main" id="{75159D49-3879-43A5-0446-40344EF7C52D}"/>
              </a:ext>
            </a:extLst>
          </p:cNvPr>
          <p:cNvSpPr/>
          <p:nvPr/>
        </p:nvSpPr>
        <p:spPr bwMode="auto">
          <a:xfrm>
            <a:off x="0" y="180602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Setup</a:t>
            </a:r>
          </a:p>
        </p:txBody>
      </p:sp>
      <p:sp>
        <p:nvSpPr>
          <p:cNvPr id="73" name="Rectangle: Rounded Corners 72">
            <a:extLst>
              <a:ext uri="{FF2B5EF4-FFF2-40B4-BE49-F238E27FC236}">
                <a16:creationId xmlns:a16="http://schemas.microsoft.com/office/drawing/2014/main" id="{D494A0CE-FCFA-0831-E048-D628A5F1C603}"/>
              </a:ext>
            </a:extLst>
          </p:cNvPr>
          <p:cNvSpPr/>
          <p:nvPr/>
        </p:nvSpPr>
        <p:spPr bwMode="auto">
          <a:xfrm>
            <a:off x="0" y="2245217"/>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Properties</a:t>
            </a:r>
          </a:p>
        </p:txBody>
      </p:sp>
      <p:sp>
        <p:nvSpPr>
          <p:cNvPr id="74" name="Rectangle: Rounded Corners 73">
            <a:extLst>
              <a:ext uri="{FF2B5EF4-FFF2-40B4-BE49-F238E27FC236}">
                <a16:creationId xmlns:a16="http://schemas.microsoft.com/office/drawing/2014/main" id="{55A7CB2E-CFA5-C7AE-C431-70F57770F7C7}"/>
              </a:ext>
            </a:extLst>
          </p:cNvPr>
          <p:cNvSpPr/>
          <p:nvPr/>
        </p:nvSpPr>
        <p:spPr bwMode="auto">
          <a:xfrm>
            <a:off x="0" y="2684406"/>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j-lt"/>
                <a:ea typeface="+mn-ea"/>
                <a:cs typeface="Segoe UI Semilight" panose="020B0402040204020203" pitchFamily="34" charset="0"/>
              </a:rPr>
              <a:t>Offer Listing</a:t>
            </a:r>
          </a:p>
        </p:txBody>
      </p:sp>
      <p:sp>
        <p:nvSpPr>
          <p:cNvPr id="75" name="Rectangle: Rounded Corners 74">
            <a:extLst>
              <a:ext uri="{FF2B5EF4-FFF2-40B4-BE49-F238E27FC236}">
                <a16:creationId xmlns:a16="http://schemas.microsoft.com/office/drawing/2014/main" id="{F814FBC3-11AA-4FF9-1C29-7AD139E56172}"/>
              </a:ext>
            </a:extLst>
          </p:cNvPr>
          <p:cNvSpPr/>
          <p:nvPr/>
        </p:nvSpPr>
        <p:spPr bwMode="auto">
          <a:xfrm>
            <a:off x="0" y="312359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Pricing and Availability</a:t>
            </a:r>
          </a:p>
        </p:txBody>
      </p:sp>
      <p:sp>
        <p:nvSpPr>
          <p:cNvPr id="76" name="Rectangle: Rounded Corners 75">
            <a:extLst>
              <a:ext uri="{FF2B5EF4-FFF2-40B4-BE49-F238E27FC236}">
                <a16:creationId xmlns:a16="http://schemas.microsoft.com/office/drawing/2014/main" id="{291746B8-55E8-893A-043E-A611E48D55C3}"/>
              </a:ext>
            </a:extLst>
          </p:cNvPr>
          <p:cNvSpPr/>
          <p:nvPr/>
        </p:nvSpPr>
        <p:spPr bwMode="auto">
          <a:xfrm>
            <a:off x="0" y="356278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2"/>
                </a:solidFill>
                <a:effectLst/>
                <a:uLnTx/>
                <a:uFillTx/>
                <a:latin typeface="+mj-lt"/>
                <a:ea typeface="+mn-ea"/>
                <a:cs typeface="Segoe UI Semilight" panose="020B0402040204020203" pitchFamily="34" charset="0"/>
              </a:rPr>
              <a:t>Co-sell with Microsoft </a:t>
            </a:r>
          </a:p>
        </p:txBody>
      </p:sp>
      <p:sp>
        <p:nvSpPr>
          <p:cNvPr id="77" name="Rectangle: Rounded Corners 76">
            <a:extLst>
              <a:ext uri="{FF2B5EF4-FFF2-40B4-BE49-F238E27FC236}">
                <a16:creationId xmlns:a16="http://schemas.microsoft.com/office/drawing/2014/main" id="{20C51BA2-959A-30CC-C75D-2D0D7863A07B}"/>
              </a:ext>
            </a:extLst>
          </p:cNvPr>
          <p:cNvSpPr/>
          <p:nvPr/>
        </p:nvSpPr>
        <p:spPr bwMode="auto">
          <a:xfrm>
            <a:off x="0" y="136683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Setup</a:t>
            </a:r>
          </a:p>
        </p:txBody>
      </p:sp>
      <p:cxnSp>
        <p:nvCxnSpPr>
          <p:cNvPr id="21" name="Straight Connector 20">
            <a:extLst>
              <a:ext uri="{FF2B5EF4-FFF2-40B4-BE49-F238E27FC236}">
                <a16:creationId xmlns:a16="http://schemas.microsoft.com/office/drawing/2014/main" id="{F1A056E8-368F-FF85-EE71-A3256821AFC4}"/>
              </a:ext>
            </a:extLst>
          </p:cNvPr>
          <p:cNvCxnSpPr/>
          <p:nvPr/>
        </p:nvCxnSpPr>
        <p:spPr>
          <a:xfrm>
            <a:off x="223520" y="1154149"/>
            <a:ext cx="2011680" cy="0"/>
          </a:xfrm>
          <a:prstGeom prst="line">
            <a:avLst/>
          </a:prstGeom>
          <a:noFill/>
          <a:ln w="25400" cap="rnd">
            <a:gradFill flip="none" rotWithShape="1">
              <a:gsLst>
                <a:gs pos="30000">
                  <a:srgbClr val="2DB4FF"/>
                </a:gs>
                <a:gs pos="35000">
                  <a:srgbClr val="2DB4FF"/>
                </a:gs>
                <a:gs pos="3000">
                  <a:srgbClr val="0078D4"/>
                </a:gs>
                <a:gs pos="52000">
                  <a:srgbClr val="818EFF"/>
                </a:gs>
                <a:gs pos="70000">
                  <a:srgbClr val="D660FF"/>
                </a:gs>
                <a:gs pos="97000">
                  <a:srgbClr val="FEA87A"/>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23" name="Slide Number Placeholder 22">
            <a:extLst>
              <a:ext uri="{FF2B5EF4-FFF2-40B4-BE49-F238E27FC236}">
                <a16:creationId xmlns:a16="http://schemas.microsoft.com/office/drawing/2014/main" id="{6BCCF237-B2AC-5321-8B48-5254D8DCFF43}"/>
              </a:ext>
            </a:extLst>
          </p:cNvPr>
          <p:cNvSpPr>
            <a:spLocks noGrp="1"/>
          </p:cNvSpPr>
          <p:nvPr>
            <p:ph type="sldNum" sz="quarter" idx="11"/>
          </p:nvPr>
        </p:nvSpPr>
        <p:spPr/>
        <p:txBody>
          <a:bodyPr/>
          <a:lstStyle/>
          <a:p>
            <a:fld id="{5763EE98-C176-4152-A50F-E68840BAFA00}" type="slidenum">
              <a:rPr lang="en-US" smtClean="0"/>
              <a:pPr/>
              <a:t>36</a:t>
            </a:fld>
            <a:endParaRPr lang="en-US"/>
          </a:p>
        </p:txBody>
      </p:sp>
    </p:spTree>
    <p:extLst>
      <p:ext uri="{BB962C8B-B14F-4D97-AF65-F5344CB8AC3E}">
        <p14:creationId xmlns:p14="http://schemas.microsoft.com/office/powerpoint/2010/main" val="1979382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38">
            <a:extLst>
              <a:ext uri="{FF2B5EF4-FFF2-40B4-BE49-F238E27FC236}">
                <a16:creationId xmlns:a16="http://schemas.microsoft.com/office/drawing/2014/main" id="{EECDD5CF-2D0F-4F1B-A160-12C815F23DB5}"/>
              </a:ext>
            </a:extLst>
          </p:cNvPr>
          <p:cNvSpPr>
            <a:spLocks noGrp="1"/>
          </p:cNvSpPr>
          <p:nvPr>
            <p:ph type="title"/>
          </p:nvPr>
        </p:nvSpPr>
        <p:spPr/>
        <p:txBody>
          <a:bodyPr/>
          <a:lstStyle/>
          <a:p>
            <a:pPr lvl="0"/>
            <a:r>
              <a:rPr lang="en-US" noProof="0"/>
              <a:t>Microsoft 365 Copilot offer</a:t>
            </a:r>
          </a:p>
        </p:txBody>
      </p:sp>
      <p:grpSp>
        <p:nvGrpSpPr>
          <p:cNvPr id="16" name="Group 15">
            <a:extLst>
              <a:ext uri="{FF2B5EF4-FFF2-40B4-BE49-F238E27FC236}">
                <a16:creationId xmlns:a16="http://schemas.microsoft.com/office/drawing/2014/main" id="{6DF37EDD-782A-442F-B8DF-752629B8017C}"/>
              </a:ext>
            </a:extLst>
          </p:cNvPr>
          <p:cNvGrpSpPr/>
          <p:nvPr/>
        </p:nvGrpSpPr>
        <p:grpSpPr>
          <a:xfrm>
            <a:off x="5371294" y="3091946"/>
            <a:ext cx="3024660" cy="1362145"/>
            <a:chOff x="4336986" y="3191338"/>
            <a:chExt cx="2749691" cy="1238314"/>
          </a:xfrm>
        </p:grpSpPr>
        <p:pic>
          <p:nvPicPr>
            <p:cNvPr id="4" name="Picture 3">
              <a:extLst>
                <a:ext uri="{FF2B5EF4-FFF2-40B4-BE49-F238E27FC236}">
                  <a16:creationId xmlns:a16="http://schemas.microsoft.com/office/drawing/2014/main" id="{D9C88F3C-CCAF-4151-82C8-7E0B476C066A}"/>
                </a:ext>
              </a:extLst>
            </p:cNvPr>
            <p:cNvPicPr>
              <a:picLocks noChangeAspect="1"/>
            </p:cNvPicPr>
            <p:nvPr/>
          </p:nvPicPr>
          <p:blipFill>
            <a:blip r:embed="rId3"/>
            <a:stretch>
              <a:fillRect/>
            </a:stretch>
          </p:blipFill>
          <p:spPr>
            <a:xfrm>
              <a:off x="4336986" y="3191338"/>
              <a:ext cx="2749691" cy="1238314"/>
            </a:xfrm>
            <a:prstGeom prst="rect">
              <a:avLst/>
            </a:prstGeom>
            <a:ln w="9525">
              <a:noFill/>
            </a:ln>
            <a:effectLst>
              <a:outerShdw blurRad="50800" dist="38100" dir="2700000" algn="tl" rotWithShape="0">
                <a:prstClr val="black">
                  <a:alpha val="40000"/>
                </a:prstClr>
              </a:outerShdw>
            </a:effectLst>
          </p:spPr>
        </p:pic>
        <p:sp>
          <p:nvSpPr>
            <p:cNvPr id="14" name="Rectangle 13">
              <a:extLst>
                <a:ext uri="{FF2B5EF4-FFF2-40B4-BE49-F238E27FC236}">
                  <a16:creationId xmlns:a16="http://schemas.microsoft.com/office/drawing/2014/main" id="{ACD990F1-9812-4E1A-A559-4BB505A6DF85}"/>
                </a:ext>
              </a:extLst>
            </p:cNvPr>
            <p:cNvSpPr/>
            <p:nvPr/>
          </p:nvSpPr>
          <p:spPr bwMode="auto">
            <a:xfrm>
              <a:off x="4402353" y="3627296"/>
              <a:ext cx="1062922" cy="235630"/>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0" name="Rectangle 39">
              <a:extLst>
                <a:ext uri="{FF2B5EF4-FFF2-40B4-BE49-F238E27FC236}">
                  <a16:creationId xmlns:a16="http://schemas.microsoft.com/office/drawing/2014/main" id="{171439DF-9C5B-487E-8D55-A7A12C04F9B9}"/>
                </a:ext>
              </a:extLst>
            </p:cNvPr>
            <p:cNvSpPr/>
            <p:nvPr/>
          </p:nvSpPr>
          <p:spPr bwMode="auto">
            <a:xfrm>
              <a:off x="4402352" y="4138347"/>
              <a:ext cx="1358367" cy="235630"/>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20" name="Isosceles Triangle 19">
            <a:extLst>
              <a:ext uri="{FF2B5EF4-FFF2-40B4-BE49-F238E27FC236}">
                <a16:creationId xmlns:a16="http://schemas.microsoft.com/office/drawing/2014/main" id="{E5EE75E9-85B7-4DCB-BB32-77D5C96586D2}"/>
              </a:ext>
            </a:extLst>
          </p:cNvPr>
          <p:cNvSpPr/>
          <p:nvPr/>
        </p:nvSpPr>
        <p:spPr bwMode="auto">
          <a:xfrm rot="16200000">
            <a:off x="6431595" y="4365546"/>
            <a:ext cx="2689852" cy="1688014"/>
          </a:xfrm>
          <a:prstGeom prst="triangle">
            <a:avLst>
              <a:gd name="adj" fmla="val 89805"/>
            </a:avLst>
          </a:prstGeom>
          <a:gradFill flip="none" rotWithShape="1">
            <a:gsLst>
              <a:gs pos="0">
                <a:schemeClr val="bg1"/>
              </a:gs>
              <a:gs pos="100000">
                <a:srgbClr val="C73ECC"/>
              </a:gs>
            </a:gsLst>
            <a:lin ang="16200000" scaled="1"/>
            <a:tileRect/>
          </a:gra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3" name="TextBox 22">
            <a:extLst>
              <a:ext uri="{FF2B5EF4-FFF2-40B4-BE49-F238E27FC236}">
                <a16:creationId xmlns:a16="http://schemas.microsoft.com/office/drawing/2014/main" id="{85A7AD87-2A17-428D-9BC9-17183C8FAA67}"/>
              </a:ext>
            </a:extLst>
          </p:cNvPr>
          <p:cNvSpPr txBox="1"/>
          <p:nvPr/>
        </p:nvSpPr>
        <p:spPr>
          <a:xfrm>
            <a:off x="3009899" y="1359139"/>
            <a:ext cx="3084085" cy="646331"/>
          </a:xfrm>
          <a:prstGeom prst="rect">
            <a:avLst/>
          </a:prstGeom>
          <a:noFill/>
        </p:spPr>
        <p:txBody>
          <a:bodyPr wrap="square" lIns="0" tIns="0" rIns="0" bIns="0">
            <a:spAutoFit/>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1" i="0" u="none" strike="noStrike" kern="1200" cap="none" spc="0" normalizeH="0" baseline="0" noProof="0" dirty="0">
                <a:ln>
                  <a:noFill/>
                </a:ln>
                <a:solidFill>
                  <a:srgbClr val="171717"/>
                </a:solidFill>
                <a:effectLst/>
                <a:uLnTx/>
                <a:uFillTx/>
                <a:ea typeface="+mn-ea"/>
                <a:cs typeface="+mn-cs"/>
              </a:rPr>
              <a:t>Edit markets: </a:t>
            </a:r>
            <a:r>
              <a:rPr kumimoji="0" lang="en-US" sz="1400" b="0" i="0" u="none" strike="noStrike" kern="1200" cap="none" spc="0" normalizeH="0" baseline="0" noProof="0" dirty="0">
                <a:ln>
                  <a:noFill/>
                </a:ln>
                <a:solidFill>
                  <a:srgbClr val="171717"/>
                </a:solidFill>
                <a:effectLst/>
                <a:uLnTx/>
                <a:uFillTx/>
                <a:ea typeface="+mn-ea"/>
                <a:cs typeface="+mn-cs"/>
              </a:rPr>
              <a:t>Here you will select the markets where your solution can be deployed. </a:t>
            </a:r>
          </a:p>
        </p:txBody>
      </p:sp>
      <p:sp>
        <p:nvSpPr>
          <p:cNvPr id="43" name="TextBox 42">
            <a:extLst>
              <a:ext uri="{FF2B5EF4-FFF2-40B4-BE49-F238E27FC236}">
                <a16:creationId xmlns:a16="http://schemas.microsoft.com/office/drawing/2014/main" id="{48D5E2BF-17AE-44D5-AAD2-32132B7D0ABF}"/>
              </a:ext>
            </a:extLst>
          </p:cNvPr>
          <p:cNvSpPr txBox="1"/>
          <p:nvPr/>
        </p:nvSpPr>
        <p:spPr>
          <a:xfrm>
            <a:off x="3009899" y="5471251"/>
            <a:ext cx="3084085" cy="861774"/>
          </a:xfrm>
          <a:prstGeom prst="rect">
            <a:avLst/>
          </a:prstGeom>
          <a:noFill/>
        </p:spPr>
        <p:txBody>
          <a:bodyPr wrap="square" lIns="0" tIns="0" rIns="0" bIns="0">
            <a:spAutoFit/>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startAt="2"/>
              <a:tabLst/>
              <a:defRPr/>
            </a:pPr>
            <a:r>
              <a:rPr kumimoji="0" lang="en-US" sz="1400" b="1" i="0" u="none" strike="noStrike" kern="1200" cap="none" spc="0" normalizeH="0" baseline="0" noProof="0">
                <a:ln>
                  <a:noFill/>
                </a:ln>
                <a:solidFill>
                  <a:srgbClr val="171717"/>
                </a:solidFill>
                <a:effectLst/>
                <a:uLnTx/>
                <a:uFillTx/>
                <a:ea typeface="+mn-ea"/>
                <a:cs typeface="+mn-cs"/>
              </a:rPr>
              <a:t>Edit sub-geographies: </a:t>
            </a:r>
            <a:r>
              <a:rPr kumimoji="0" lang="en-US" sz="1400" b="0" i="0" u="none" strike="noStrike" kern="1200" cap="none" spc="0" normalizeH="0" baseline="0" noProof="0">
                <a:ln>
                  <a:noFill/>
                </a:ln>
                <a:solidFill>
                  <a:srgbClr val="171717"/>
                </a:solidFill>
                <a:effectLst/>
                <a:uLnTx/>
                <a:uFillTx/>
                <a:ea typeface="+mn-ea"/>
                <a:cs typeface="+mn-cs"/>
              </a:rPr>
              <a:t>Here you will select the sub-markets within each country where your solution can be deployed. </a:t>
            </a:r>
          </a:p>
        </p:txBody>
      </p:sp>
      <p:sp>
        <p:nvSpPr>
          <p:cNvPr id="13" name="Freeform: Shape 12">
            <a:extLst>
              <a:ext uri="{FF2B5EF4-FFF2-40B4-BE49-F238E27FC236}">
                <a16:creationId xmlns:a16="http://schemas.microsoft.com/office/drawing/2014/main" id="{8C111C30-833F-48EB-A758-AFCFF71ECA20}"/>
              </a:ext>
            </a:extLst>
          </p:cNvPr>
          <p:cNvSpPr/>
          <p:nvPr/>
        </p:nvSpPr>
        <p:spPr bwMode="auto">
          <a:xfrm rot="5400000" flipV="1">
            <a:off x="4160159" y="1882581"/>
            <a:ext cx="1532963" cy="1881518"/>
          </a:xfrm>
          <a:custGeom>
            <a:avLst/>
            <a:gdLst>
              <a:gd name="connsiteX0" fmla="*/ 0 w 800100"/>
              <a:gd name="connsiteY0" fmla="*/ 0 h 257175"/>
              <a:gd name="connsiteX1" fmla="*/ 328612 w 800100"/>
              <a:gd name="connsiteY1" fmla="*/ 0 h 257175"/>
              <a:gd name="connsiteX2" fmla="*/ 328612 w 800100"/>
              <a:gd name="connsiteY2" fmla="*/ 257175 h 257175"/>
              <a:gd name="connsiteX3" fmla="*/ 800100 w 800100"/>
              <a:gd name="connsiteY3" fmla="*/ 257175 h 257175"/>
            </a:gdLst>
            <a:ahLst/>
            <a:cxnLst>
              <a:cxn ang="0">
                <a:pos x="connsiteX0" y="connsiteY0"/>
              </a:cxn>
              <a:cxn ang="0">
                <a:pos x="connsiteX1" y="connsiteY1"/>
              </a:cxn>
              <a:cxn ang="0">
                <a:pos x="connsiteX2" y="connsiteY2"/>
              </a:cxn>
              <a:cxn ang="0">
                <a:pos x="connsiteX3" y="connsiteY3"/>
              </a:cxn>
            </a:cxnLst>
            <a:rect l="l" t="t" r="r" b="b"/>
            <a:pathLst>
              <a:path w="800100" h="257175">
                <a:moveTo>
                  <a:pt x="0" y="0"/>
                </a:moveTo>
                <a:lnTo>
                  <a:pt x="328612" y="0"/>
                </a:lnTo>
                <a:lnTo>
                  <a:pt x="328612" y="257175"/>
                </a:lnTo>
                <a:lnTo>
                  <a:pt x="800100" y="257175"/>
                </a:lnTo>
              </a:path>
            </a:pathLst>
          </a:custGeom>
          <a:noFill/>
          <a:ln w="22225" cap="rnd">
            <a:solidFill>
              <a:schemeClr val="tx2">
                <a:lumMod val="50000"/>
                <a:lumOff val="50000"/>
              </a:schemeClr>
            </a:solidFill>
            <a:prstDash val="sysDot"/>
            <a:headEnd type="none" w="med" len="med"/>
            <a:tailEnd type="triangle" w="lg" len="lg"/>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1" name="Freeform: Shape 30">
            <a:extLst>
              <a:ext uri="{FF2B5EF4-FFF2-40B4-BE49-F238E27FC236}">
                <a16:creationId xmlns:a16="http://schemas.microsoft.com/office/drawing/2014/main" id="{A6D11FDB-B52B-4FB4-8C31-E1A48A7E423A}"/>
              </a:ext>
            </a:extLst>
          </p:cNvPr>
          <p:cNvSpPr/>
          <p:nvPr/>
        </p:nvSpPr>
        <p:spPr bwMode="auto">
          <a:xfrm rot="16200000">
            <a:off x="4387550" y="3934831"/>
            <a:ext cx="1078182" cy="1881520"/>
          </a:xfrm>
          <a:custGeom>
            <a:avLst/>
            <a:gdLst>
              <a:gd name="connsiteX0" fmla="*/ 0 w 800100"/>
              <a:gd name="connsiteY0" fmla="*/ 0 h 257175"/>
              <a:gd name="connsiteX1" fmla="*/ 328612 w 800100"/>
              <a:gd name="connsiteY1" fmla="*/ 0 h 257175"/>
              <a:gd name="connsiteX2" fmla="*/ 328612 w 800100"/>
              <a:gd name="connsiteY2" fmla="*/ 257175 h 257175"/>
              <a:gd name="connsiteX3" fmla="*/ 800100 w 800100"/>
              <a:gd name="connsiteY3" fmla="*/ 257175 h 257175"/>
            </a:gdLst>
            <a:ahLst/>
            <a:cxnLst>
              <a:cxn ang="0">
                <a:pos x="connsiteX0" y="connsiteY0"/>
              </a:cxn>
              <a:cxn ang="0">
                <a:pos x="connsiteX1" y="connsiteY1"/>
              </a:cxn>
              <a:cxn ang="0">
                <a:pos x="connsiteX2" y="connsiteY2"/>
              </a:cxn>
              <a:cxn ang="0">
                <a:pos x="connsiteX3" y="connsiteY3"/>
              </a:cxn>
            </a:cxnLst>
            <a:rect l="l" t="t" r="r" b="b"/>
            <a:pathLst>
              <a:path w="800100" h="257175">
                <a:moveTo>
                  <a:pt x="0" y="0"/>
                </a:moveTo>
                <a:lnTo>
                  <a:pt x="328612" y="0"/>
                </a:lnTo>
                <a:lnTo>
                  <a:pt x="328612" y="257175"/>
                </a:lnTo>
                <a:lnTo>
                  <a:pt x="800100" y="257175"/>
                </a:lnTo>
              </a:path>
            </a:pathLst>
          </a:custGeom>
          <a:noFill/>
          <a:ln w="22225" cap="rnd">
            <a:solidFill>
              <a:schemeClr val="tx2">
                <a:lumMod val="50000"/>
                <a:lumOff val="50000"/>
              </a:schemeClr>
            </a:solidFill>
            <a:prstDash val="sysDot"/>
            <a:headEnd type="none" w="med" len="med"/>
            <a:tailEnd type="triangle" w="lg" len="lg"/>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8" name="Isosceles Triangle 27">
            <a:extLst>
              <a:ext uri="{FF2B5EF4-FFF2-40B4-BE49-F238E27FC236}">
                <a16:creationId xmlns:a16="http://schemas.microsoft.com/office/drawing/2014/main" id="{F958953B-1A3D-449C-94B2-66D6D0EBEEBA}"/>
              </a:ext>
            </a:extLst>
          </p:cNvPr>
          <p:cNvSpPr/>
          <p:nvPr/>
        </p:nvSpPr>
        <p:spPr bwMode="auto">
          <a:xfrm rot="16200000">
            <a:off x="6282792" y="1485337"/>
            <a:ext cx="2672373" cy="1963813"/>
          </a:xfrm>
          <a:prstGeom prst="triangle">
            <a:avLst>
              <a:gd name="adj" fmla="val 4328"/>
            </a:avLst>
          </a:prstGeom>
          <a:gradFill flip="none" rotWithShape="1">
            <a:gsLst>
              <a:gs pos="0">
                <a:schemeClr val="bg1"/>
              </a:gs>
              <a:gs pos="100000">
                <a:srgbClr val="C73ECC"/>
              </a:gs>
            </a:gsLst>
            <a:lin ang="16200000" scaled="1"/>
            <a:tileRect/>
          </a:gra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15" name="Group 14">
            <a:extLst>
              <a:ext uri="{FF2B5EF4-FFF2-40B4-BE49-F238E27FC236}">
                <a16:creationId xmlns:a16="http://schemas.microsoft.com/office/drawing/2014/main" id="{3D93F211-5911-456D-8B9C-6AFD6E575346}"/>
              </a:ext>
            </a:extLst>
          </p:cNvPr>
          <p:cNvGrpSpPr/>
          <p:nvPr/>
        </p:nvGrpSpPr>
        <p:grpSpPr>
          <a:xfrm>
            <a:off x="8600882" y="1134930"/>
            <a:ext cx="2639444" cy="5419549"/>
            <a:chOff x="7527620" y="1134930"/>
            <a:chExt cx="2639444" cy="5419549"/>
          </a:xfrm>
        </p:grpSpPr>
        <p:pic>
          <p:nvPicPr>
            <p:cNvPr id="8" name="Picture 7">
              <a:extLst>
                <a:ext uri="{FF2B5EF4-FFF2-40B4-BE49-F238E27FC236}">
                  <a16:creationId xmlns:a16="http://schemas.microsoft.com/office/drawing/2014/main" id="{DC1C8A0E-89B8-4D6A-BAA0-405937F724EC}"/>
                </a:ext>
              </a:extLst>
            </p:cNvPr>
            <p:cNvPicPr>
              <a:picLocks noChangeAspect="1"/>
            </p:cNvPicPr>
            <p:nvPr/>
          </p:nvPicPr>
          <p:blipFill rotWithShape="1">
            <a:blip r:embed="rId4"/>
            <a:srcRect r="35152"/>
            <a:stretch/>
          </p:blipFill>
          <p:spPr>
            <a:xfrm>
              <a:off x="7547266" y="3864627"/>
              <a:ext cx="2619798" cy="2689852"/>
            </a:xfrm>
            <a:prstGeom prst="rect">
              <a:avLst/>
            </a:prstGeom>
            <a:ln>
              <a:noFill/>
            </a:ln>
            <a:effectLst>
              <a:outerShdw blurRad="50800" dist="38100" dir="2700000" algn="tl" rotWithShape="0">
                <a:prstClr val="black">
                  <a:alpha val="40000"/>
                </a:prstClr>
              </a:outerShdw>
            </a:effectLst>
          </p:spPr>
        </p:pic>
        <p:pic>
          <p:nvPicPr>
            <p:cNvPr id="12" name="Picture 11">
              <a:extLst>
                <a:ext uri="{FF2B5EF4-FFF2-40B4-BE49-F238E27FC236}">
                  <a16:creationId xmlns:a16="http://schemas.microsoft.com/office/drawing/2014/main" id="{BDC3FB31-9CF3-4687-BC5E-E416F782651B}"/>
                </a:ext>
              </a:extLst>
            </p:cNvPr>
            <p:cNvPicPr>
              <a:picLocks noChangeAspect="1"/>
            </p:cNvPicPr>
            <p:nvPr/>
          </p:nvPicPr>
          <p:blipFill rotWithShape="1">
            <a:blip r:embed="rId5"/>
            <a:srcRect r="35294"/>
            <a:stretch/>
          </p:blipFill>
          <p:spPr>
            <a:xfrm>
              <a:off x="7527620" y="1134930"/>
              <a:ext cx="2639443" cy="2672375"/>
            </a:xfrm>
            <a:prstGeom prst="rect">
              <a:avLst/>
            </a:prstGeom>
            <a:ln>
              <a:noFill/>
            </a:ln>
            <a:effectLst>
              <a:outerShdw blurRad="50800" dist="38100" dir="2700000" algn="tl" rotWithShape="0">
                <a:prstClr val="black">
                  <a:alpha val="40000"/>
                </a:prstClr>
              </a:outerShdw>
            </a:effectLst>
          </p:spPr>
        </p:pic>
      </p:grpSp>
      <p:grpSp>
        <p:nvGrpSpPr>
          <p:cNvPr id="26" name="Group 25">
            <a:extLst>
              <a:ext uri="{FF2B5EF4-FFF2-40B4-BE49-F238E27FC236}">
                <a16:creationId xmlns:a16="http://schemas.microsoft.com/office/drawing/2014/main" id="{95624676-1FCA-48D9-3014-BB3C658A2F4F}"/>
              </a:ext>
            </a:extLst>
          </p:cNvPr>
          <p:cNvGrpSpPr/>
          <p:nvPr/>
        </p:nvGrpSpPr>
        <p:grpSpPr>
          <a:xfrm>
            <a:off x="9800681" y="299796"/>
            <a:ext cx="1803056" cy="552365"/>
            <a:chOff x="10126451" y="192765"/>
            <a:chExt cx="1803056" cy="552365"/>
          </a:xfrm>
        </p:grpSpPr>
        <p:grpSp>
          <p:nvGrpSpPr>
            <p:cNvPr id="27" name="Group 26">
              <a:extLst>
                <a:ext uri="{FF2B5EF4-FFF2-40B4-BE49-F238E27FC236}">
                  <a16:creationId xmlns:a16="http://schemas.microsoft.com/office/drawing/2014/main" id="{DD09CDAA-CC5C-E73A-6936-7D7FCB033738}"/>
                </a:ext>
              </a:extLst>
            </p:cNvPr>
            <p:cNvGrpSpPr/>
            <p:nvPr/>
          </p:nvGrpSpPr>
          <p:grpSpPr>
            <a:xfrm>
              <a:off x="10752268" y="196490"/>
              <a:ext cx="548640" cy="548640"/>
              <a:chOff x="10752268" y="196490"/>
              <a:chExt cx="548640" cy="548640"/>
            </a:xfrm>
          </p:grpSpPr>
          <p:sp>
            <p:nvSpPr>
              <p:cNvPr id="64" name="Oval 63">
                <a:extLst>
                  <a:ext uri="{FF2B5EF4-FFF2-40B4-BE49-F238E27FC236}">
                    <a16:creationId xmlns:a16="http://schemas.microsoft.com/office/drawing/2014/main" id="{2E6C2C5E-3F65-AB1C-A22E-C0FD0D8B33C6}"/>
                  </a:ext>
                </a:extLst>
              </p:cNvPr>
              <p:cNvSpPr/>
              <p:nvPr/>
            </p:nvSpPr>
            <p:spPr bwMode="auto">
              <a:xfrm>
                <a:off x="10752268"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grpSp>
            <p:nvGrpSpPr>
              <p:cNvPr id="65" name="gear" descr="gear, wrench, engineer">
                <a:extLst>
                  <a:ext uri="{FF2B5EF4-FFF2-40B4-BE49-F238E27FC236}">
                    <a16:creationId xmlns:a16="http://schemas.microsoft.com/office/drawing/2014/main" id="{EE3ACF47-DA7F-BB2F-28EE-7F3D8DC45411}"/>
                  </a:ext>
                </a:extLst>
              </p:cNvPr>
              <p:cNvGrpSpPr/>
              <p:nvPr/>
            </p:nvGrpSpPr>
            <p:grpSpPr>
              <a:xfrm>
                <a:off x="10883844" y="326676"/>
                <a:ext cx="288269" cy="288268"/>
                <a:chOff x="3510968" y="2992337"/>
                <a:chExt cx="498751" cy="498751"/>
              </a:xfrm>
              <a:solidFill>
                <a:schemeClr val="bg1"/>
              </a:solidFill>
            </p:grpSpPr>
            <p:sp>
              <p:nvSpPr>
                <p:cNvPr id="67" name="Freeform: Shape 66">
                  <a:extLst>
                    <a:ext uri="{FF2B5EF4-FFF2-40B4-BE49-F238E27FC236}">
                      <a16:creationId xmlns:a16="http://schemas.microsoft.com/office/drawing/2014/main" id="{7EE9F829-2FAF-3B7B-0DDE-C4017FB147F5}"/>
                    </a:ext>
                  </a:extLst>
                </p:cNvPr>
                <p:cNvSpPr/>
                <p:nvPr/>
              </p:nvSpPr>
              <p:spPr>
                <a:xfrm>
                  <a:off x="3510968" y="2992337"/>
                  <a:ext cx="498751" cy="498751"/>
                </a:xfrm>
                <a:custGeom>
                  <a:avLst/>
                  <a:gdLst>
                    <a:gd name="connsiteX0" fmla="*/ 499635 w 498751"/>
                    <a:gd name="connsiteY0" fmla="*/ 277035 h 498751"/>
                    <a:gd name="connsiteX1" fmla="*/ 499635 w 498751"/>
                    <a:gd name="connsiteY1" fmla="*/ 224623 h 498751"/>
                    <a:gd name="connsiteX2" fmla="*/ 445560 w 498751"/>
                    <a:gd name="connsiteY2" fmla="*/ 224623 h 498751"/>
                    <a:gd name="connsiteX3" fmla="*/ 407060 w 498751"/>
                    <a:gd name="connsiteY3" fmla="*/ 131698 h 498751"/>
                    <a:gd name="connsiteX4" fmla="*/ 445298 w 498751"/>
                    <a:gd name="connsiteY4" fmla="*/ 93460 h 498751"/>
                    <a:gd name="connsiteX5" fmla="*/ 408285 w 498751"/>
                    <a:gd name="connsiteY5" fmla="*/ 56448 h 498751"/>
                    <a:gd name="connsiteX6" fmla="*/ 370048 w 498751"/>
                    <a:gd name="connsiteY6" fmla="*/ 94686 h 498751"/>
                    <a:gd name="connsiteX7" fmla="*/ 277123 w 498751"/>
                    <a:gd name="connsiteY7" fmla="*/ 56186 h 498751"/>
                    <a:gd name="connsiteX8" fmla="*/ 277123 w 498751"/>
                    <a:gd name="connsiteY8" fmla="*/ 2111 h 498751"/>
                    <a:gd name="connsiteX9" fmla="*/ 224710 w 498751"/>
                    <a:gd name="connsiteY9" fmla="*/ 2111 h 498751"/>
                    <a:gd name="connsiteX10" fmla="*/ 224710 w 498751"/>
                    <a:gd name="connsiteY10" fmla="*/ 56186 h 498751"/>
                    <a:gd name="connsiteX11" fmla="*/ 131785 w 498751"/>
                    <a:gd name="connsiteY11" fmla="*/ 94686 h 498751"/>
                    <a:gd name="connsiteX12" fmla="*/ 93548 w 498751"/>
                    <a:gd name="connsiteY12" fmla="*/ 56448 h 498751"/>
                    <a:gd name="connsiteX13" fmla="*/ 56536 w 498751"/>
                    <a:gd name="connsiteY13" fmla="*/ 93460 h 498751"/>
                    <a:gd name="connsiteX14" fmla="*/ 94773 w 498751"/>
                    <a:gd name="connsiteY14" fmla="*/ 131698 h 498751"/>
                    <a:gd name="connsiteX15" fmla="*/ 56273 w 498751"/>
                    <a:gd name="connsiteY15" fmla="*/ 224623 h 498751"/>
                    <a:gd name="connsiteX16" fmla="*/ 2111 w 498751"/>
                    <a:gd name="connsiteY16" fmla="*/ 224623 h 498751"/>
                    <a:gd name="connsiteX17" fmla="*/ 2111 w 498751"/>
                    <a:gd name="connsiteY17" fmla="*/ 277035 h 498751"/>
                    <a:gd name="connsiteX18" fmla="*/ 56186 w 498751"/>
                    <a:gd name="connsiteY18" fmla="*/ 277035 h 498751"/>
                    <a:gd name="connsiteX19" fmla="*/ 112010 w 498751"/>
                    <a:gd name="connsiteY19" fmla="*/ 389735 h 498751"/>
                    <a:gd name="connsiteX20" fmla="*/ 224710 w 498751"/>
                    <a:gd name="connsiteY20" fmla="*/ 445560 h 498751"/>
                    <a:gd name="connsiteX21" fmla="*/ 224710 w 498751"/>
                    <a:gd name="connsiteY21" fmla="*/ 499635 h 498751"/>
                    <a:gd name="connsiteX22" fmla="*/ 277123 w 498751"/>
                    <a:gd name="connsiteY22" fmla="*/ 499635 h 498751"/>
                    <a:gd name="connsiteX23" fmla="*/ 277123 w 498751"/>
                    <a:gd name="connsiteY23" fmla="*/ 445560 h 498751"/>
                    <a:gd name="connsiteX24" fmla="*/ 370048 w 498751"/>
                    <a:gd name="connsiteY24" fmla="*/ 407060 h 498751"/>
                    <a:gd name="connsiteX25" fmla="*/ 408285 w 498751"/>
                    <a:gd name="connsiteY25" fmla="*/ 445298 h 498751"/>
                    <a:gd name="connsiteX26" fmla="*/ 445298 w 498751"/>
                    <a:gd name="connsiteY26" fmla="*/ 408285 h 498751"/>
                    <a:gd name="connsiteX27" fmla="*/ 407060 w 498751"/>
                    <a:gd name="connsiteY27" fmla="*/ 370048 h 498751"/>
                    <a:gd name="connsiteX28" fmla="*/ 445560 w 498751"/>
                    <a:gd name="connsiteY28" fmla="*/ 277123 h 498751"/>
                    <a:gd name="connsiteX29" fmla="*/ 499635 w 498751"/>
                    <a:gd name="connsiteY29" fmla="*/ 277123 h 498751"/>
                    <a:gd name="connsiteX30" fmla="*/ 499635 w 498751"/>
                    <a:gd name="connsiteY30" fmla="*/ 277035 h 498751"/>
                    <a:gd name="connsiteX31" fmla="*/ 106848 w 498751"/>
                    <a:gd name="connsiteY31" fmla="*/ 250873 h 498751"/>
                    <a:gd name="connsiteX32" fmla="*/ 139573 w 498751"/>
                    <a:gd name="connsiteY32" fmla="*/ 159523 h 498751"/>
                    <a:gd name="connsiteX33" fmla="*/ 222786 w 498751"/>
                    <a:gd name="connsiteY33" fmla="*/ 109648 h 498751"/>
                    <a:gd name="connsiteX34" fmla="*/ 318773 w 498751"/>
                    <a:gd name="connsiteY34" fmla="*/ 123910 h 498751"/>
                    <a:gd name="connsiteX35" fmla="*/ 383960 w 498751"/>
                    <a:gd name="connsiteY35" fmla="*/ 195835 h 498751"/>
                    <a:gd name="connsiteX36" fmla="*/ 388685 w 498751"/>
                    <a:gd name="connsiteY36" fmla="*/ 292785 h 498751"/>
                    <a:gd name="connsiteX37" fmla="*/ 330848 w 498751"/>
                    <a:gd name="connsiteY37" fmla="*/ 370748 h 498751"/>
                    <a:gd name="connsiteX38" fmla="*/ 236698 w 498751"/>
                    <a:gd name="connsiteY38" fmla="*/ 394285 h 498751"/>
                    <a:gd name="connsiteX39" fmla="*/ 148936 w 498751"/>
                    <a:gd name="connsiteY39" fmla="*/ 352810 h 498751"/>
                    <a:gd name="connsiteX40" fmla="*/ 117610 w 498751"/>
                    <a:gd name="connsiteY40" fmla="*/ 306085 h 498751"/>
                    <a:gd name="connsiteX41" fmla="*/ 106848 w 498751"/>
                    <a:gd name="connsiteY41" fmla="*/ 250873 h 498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98751" h="498751">
                      <a:moveTo>
                        <a:pt x="499635" y="277035"/>
                      </a:moveTo>
                      <a:lnTo>
                        <a:pt x="499635" y="224623"/>
                      </a:lnTo>
                      <a:lnTo>
                        <a:pt x="445560" y="224623"/>
                      </a:lnTo>
                      <a:cubicBezTo>
                        <a:pt x="441098" y="190848"/>
                        <a:pt x="427798" y="158823"/>
                        <a:pt x="407060" y="131698"/>
                      </a:cubicBezTo>
                      <a:lnTo>
                        <a:pt x="445298" y="93460"/>
                      </a:lnTo>
                      <a:lnTo>
                        <a:pt x="408285" y="56448"/>
                      </a:lnTo>
                      <a:lnTo>
                        <a:pt x="370048" y="94686"/>
                      </a:lnTo>
                      <a:cubicBezTo>
                        <a:pt x="342923" y="73948"/>
                        <a:pt x="310898" y="60648"/>
                        <a:pt x="277123" y="56186"/>
                      </a:cubicBezTo>
                      <a:lnTo>
                        <a:pt x="277123" y="2111"/>
                      </a:lnTo>
                      <a:lnTo>
                        <a:pt x="224710" y="2111"/>
                      </a:lnTo>
                      <a:lnTo>
                        <a:pt x="224710" y="56186"/>
                      </a:lnTo>
                      <a:cubicBezTo>
                        <a:pt x="190935" y="60648"/>
                        <a:pt x="158911" y="73948"/>
                        <a:pt x="131785" y="94686"/>
                      </a:cubicBezTo>
                      <a:lnTo>
                        <a:pt x="93548" y="56448"/>
                      </a:lnTo>
                      <a:lnTo>
                        <a:pt x="56536" y="93460"/>
                      </a:lnTo>
                      <a:lnTo>
                        <a:pt x="94773" y="131698"/>
                      </a:lnTo>
                      <a:cubicBezTo>
                        <a:pt x="74036" y="158823"/>
                        <a:pt x="60736" y="190848"/>
                        <a:pt x="56273" y="224623"/>
                      </a:cubicBezTo>
                      <a:lnTo>
                        <a:pt x="2111" y="224623"/>
                      </a:lnTo>
                      <a:lnTo>
                        <a:pt x="2111" y="277035"/>
                      </a:lnTo>
                      <a:lnTo>
                        <a:pt x="56186" y="277035"/>
                      </a:lnTo>
                      <a:cubicBezTo>
                        <a:pt x="61961" y="319648"/>
                        <a:pt x="81561" y="359285"/>
                        <a:pt x="112010" y="389735"/>
                      </a:cubicBezTo>
                      <a:cubicBezTo>
                        <a:pt x="142461" y="420185"/>
                        <a:pt x="182011" y="439785"/>
                        <a:pt x="224710" y="445560"/>
                      </a:cubicBezTo>
                      <a:lnTo>
                        <a:pt x="224710" y="499635"/>
                      </a:lnTo>
                      <a:lnTo>
                        <a:pt x="277123" y="499635"/>
                      </a:lnTo>
                      <a:lnTo>
                        <a:pt x="277123" y="445560"/>
                      </a:lnTo>
                      <a:cubicBezTo>
                        <a:pt x="310898" y="441098"/>
                        <a:pt x="342923" y="427798"/>
                        <a:pt x="370048" y="407060"/>
                      </a:cubicBezTo>
                      <a:lnTo>
                        <a:pt x="408285" y="445298"/>
                      </a:lnTo>
                      <a:lnTo>
                        <a:pt x="445298" y="408285"/>
                      </a:lnTo>
                      <a:lnTo>
                        <a:pt x="407060" y="370048"/>
                      </a:lnTo>
                      <a:cubicBezTo>
                        <a:pt x="427798" y="342923"/>
                        <a:pt x="441098" y="310898"/>
                        <a:pt x="445560" y="277123"/>
                      </a:cubicBezTo>
                      <a:lnTo>
                        <a:pt x="499635" y="277123"/>
                      </a:lnTo>
                      <a:lnTo>
                        <a:pt x="499635" y="277035"/>
                      </a:lnTo>
                      <a:close/>
                      <a:moveTo>
                        <a:pt x="106848" y="250873"/>
                      </a:moveTo>
                      <a:cubicBezTo>
                        <a:pt x="106848" y="217535"/>
                        <a:pt x="118398" y="185248"/>
                        <a:pt x="139573" y="159523"/>
                      </a:cubicBezTo>
                      <a:cubicBezTo>
                        <a:pt x="160748" y="133798"/>
                        <a:pt x="190148" y="116123"/>
                        <a:pt x="222786" y="109648"/>
                      </a:cubicBezTo>
                      <a:cubicBezTo>
                        <a:pt x="255423" y="103173"/>
                        <a:pt x="289373" y="108161"/>
                        <a:pt x="318773" y="123910"/>
                      </a:cubicBezTo>
                      <a:cubicBezTo>
                        <a:pt x="348173" y="139573"/>
                        <a:pt x="371185" y="165035"/>
                        <a:pt x="383960" y="195835"/>
                      </a:cubicBezTo>
                      <a:cubicBezTo>
                        <a:pt x="396735" y="226635"/>
                        <a:pt x="398397" y="260848"/>
                        <a:pt x="388685" y="292785"/>
                      </a:cubicBezTo>
                      <a:cubicBezTo>
                        <a:pt x="378973" y="324635"/>
                        <a:pt x="358585" y="352197"/>
                        <a:pt x="330848" y="370748"/>
                      </a:cubicBezTo>
                      <a:cubicBezTo>
                        <a:pt x="303110" y="389298"/>
                        <a:pt x="269860" y="397610"/>
                        <a:pt x="236698" y="394285"/>
                      </a:cubicBezTo>
                      <a:cubicBezTo>
                        <a:pt x="203535" y="391048"/>
                        <a:pt x="172560" y="376347"/>
                        <a:pt x="148936" y="352810"/>
                      </a:cubicBezTo>
                      <a:cubicBezTo>
                        <a:pt x="135548" y="339510"/>
                        <a:pt x="124873" y="323585"/>
                        <a:pt x="117610" y="306085"/>
                      </a:cubicBezTo>
                      <a:cubicBezTo>
                        <a:pt x="110523" y="288498"/>
                        <a:pt x="106761" y="269773"/>
                        <a:pt x="106848" y="25087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68" name="Freeform: Shape 67">
                  <a:extLst>
                    <a:ext uri="{FF2B5EF4-FFF2-40B4-BE49-F238E27FC236}">
                      <a16:creationId xmlns:a16="http://schemas.microsoft.com/office/drawing/2014/main" id="{006EFD70-6282-6F30-7042-DD544D728AF6}"/>
                    </a:ext>
                  </a:extLst>
                </p:cNvPr>
                <p:cNvSpPr/>
                <p:nvPr/>
              </p:nvSpPr>
              <p:spPr>
                <a:xfrm>
                  <a:off x="3525494" y="3127375"/>
                  <a:ext cx="348087" cy="348087"/>
                </a:xfrm>
                <a:custGeom>
                  <a:avLst/>
                  <a:gdLst>
                    <a:gd name="connsiteX0" fmla="*/ 286398 w 348086"/>
                    <a:gd name="connsiteY0" fmla="*/ 124333 h 348086"/>
                    <a:gd name="connsiteX1" fmla="*/ 226548 w 348086"/>
                    <a:gd name="connsiteY1" fmla="*/ 64483 h 348086"/>
                    <a:gd name="connsiteX2" fmla="*/ 280448 w 348086"/>
                    <a:gd name="connsiteY2" fmla="*/ 10583 h 348086"/>
                    <a:gd name="connsiteX3" fmla="*/ 216923 w 348086"/>
                    <a:gd name="connsiteY3" fmla="*/ 4108 h 348086"/>
                    <a:gd name="connsiteX4" fmla="*/ 160310 w 348086"/>
                    <a:gd name="connsiteY4" fmla="*/ 33683 h 348086"/>
                    <a:gd name="connsiteX5" fmla="*/ 129335 w 348086"/>
                    <a:gd name="connsiteY5" fmla="*/ 89508 h 348086"/>
                    <a:gd name="connsiteX6" fmla="*/ 134235 w 348086"/>
                    <a:gd name="connsiteY6" fmla="*/ 153121 h 348086"/>
                    <a:gd name="connsiteX7" fmla="*/ 15236 w 348086"/>
                    <a:gd name="connsiteY7" fmla="*/ 272121 h 348086"/>
                    <a:gd name="connsiteX8" fmla="*/ 2111 w 348086"/>
                    <a:gd name="connsiteY8" fmla="*/ 303883 h 348086"/>
                    <a:gd name="connsiteX9" fmla="*/ 15236 w 348086"/>
                    <a:gd name="connsiteY9" fmla="*/ 335645 h 348086"/>
                    <a:gd name="connsiteX10" fmla="*/ 46998 w 348086"/>
                    <a:gd name="connsiteY10" fmla="*/ 348770 h 348086"/>
                    <a:gd name="connsiteX11" fmla="*/ 78760 w 348086"/>
                    <a:gd name="connsiteY11" fmla="*/ 335645 h 348086"/>
                    <a:gd name="connsiteX12" fmla="*/ 197760 w 348086"/>
                    <a:gd name="connsiteY12" fmla="*/ 216645 h 348086"/>
                    <a:gd name="connsiteX13" fmla="*/ 261373 w 348086"/>
                    <a:gd name="connsiteY13" fmla="*/ 221546 h 348086"/>
                    <a:gd name="connsiteX14" fmla="*/ 317198 w 348086"/>
                    <a:gd name="connsiteY14" fmla="*/ 190571 h 348086"/>
                    <a:gd name="connsiteX15" fmla="*/ 346773 w 348086"/>
                    <a:gd name="connsiteY15" fmla="*/ 134045 h 348086"/>
                    <a:gd name="connsiteX16" fmla="*/ 340298 w 348086"/>
                    <a:gd name="connsiteY16" fmla="*/ 70521 h 348086"/>
                    <a:gd name="connsiteX17" fmla="*/ 286398 w 348086"/>
                    <a:gd name="connsiteY17" fmla="*/ 124333 h 348086"/>
                    <a:gd name="connsiteX18" fmla="*/ 63011 w 348086"/>
                    <a:gd name="connsiteY18" fmla="*/ 319633 h 348086"/>
                    <a:gd name="connsiteX19" fmla="*/ 51548 w 348086"/>
                    <a:gd name="connsiteY19" fmla="*/ 325758 h 348086"/>
                    <a:gd name="connsiteX20" fmla="*/ 38598 w 348086"/>
                    <a:gd name="connsiteY20" fmla="*/ 324445 h 348086"/>
                    <a:gd name="connsiteX21" fmla="*/ 28536 w 348086"/>
                    <a:gd name="connsiteY21" fmla="*/ 316220 h 348086"/>
                    <a:gd name="connsiteX22" fmla="*/ 24773 w 348086"/>
                    <a:gd name="connsiteY22" fmla="*/ 303795 h 348086"/>
                    <a:gd name="connsiteX23" fmla="*/ 28536 w 348086"/>
                    <a:gd name="connsiteY23" fmla="*/ 291371 h 348086"/>
                    <a:gd name="connsiteX24" fmla="*/ 38598 w 348086"/>
                    <a:gd name="connsiteY24" fmla="*/ 283146 h 348086"/>
                    <a:gd name="connsiteX25" fmla="*/ 51548 w 348086"/>
                    <a:gd name="connsiteY25" fmla="*/ 281833 h 348086"/>
                    <a:gd name="connsiteX26" fmla="*/ 63011 w 348086"/>
                    <a:gd name="connsiteY26" fmla="*/ 287958 h 348086"/>
                    <a:gd name="connsiteX27" fmla="*/ 69573 w 348086"/>
                    <a:gd name="connsiteY27" fmla="*/ 303795 h 348086"/>
                    <a:gd name="connsiteX28" fmla="*/ 63011 w 348086"/>
                    <a:gd name="connsiteY28" fmla="*/ 319633 h 348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48086" h="348086">
                      <a:moveTo>
                        <a:pt x="286398" y="124333"/>
                      </a:moveTo>
                      <a:lnTo>
                        <a:pt x="226548" y="64483"/>
                      </a:lnTo>
                      <a:lnTo>
                        <a:pt x="280448" y="10583"/>
                      </a:lnTo>
                      <a:cubicBezTo>
                        <a:pt x="260410" y="2271"/>
                        <a:pt x="238273" y="-4"/>
                        <a:pt x="216923" y="4108"/>
                      </a:cubicBezTo>
                      <a:cubicBezTo>
                        <a:pt x="195573" y="8221"/>
                        <a:pt x="175885" y="18458"/>
                        <a:pt x="160310" y="33683"/>
                      </a:cubicBezTo>
                      <a:cubicBezTo>
                        <a:pt x="144735" y="48821"/>
                        <a:pt x="133973" y="68246"/>
                        <a:pt x="129335" y="89508"/>
                      </a:cubicBezTo>
                      <a:cubicBezTo>
                        <a:pt x="124698" y="110771"/>
                        <a:pt x="126448" y="132908"/>
                        <a:pt x="134235" y="153121"/>
                      </a:cubicBezTo>
                      <a:lnTo>
                        <a:pt x="15236" y="272121"/>
                      </a:lnTo>
                      <a:cubicBezTo>
                        <a:pt x="6836" y="280520"/>
                        <a:pt x="2111" y="291983"/>
                        <a:pt x="2111" y="303883"/>
                      </a:cubicBezTo>
                      <a:cubicBezTo>
                        <a:pt x="2111" y="315783"/>
                        <a:pt x="6836" y="327158"/>
                        <a:pt x="15236" y="335645"/>
                      </a:cubicBezTo>
                      <a:cubicBezTo>
                        <a:pt x="23636" y="344046"/>
                        <a:pt x="35098" y="348770"/>
                        <a:pt x="46998" y="348770"/>
                      </a:cubicBezTo>
                      <a:cubicBezTo>
                        <a:pt x="58898" y="348770"/>
                        <a:pt x="70273" y="344046"/>
                        <a:pt x="78760" y="335645"/>
                      </a:cubicBezTo>
                      <a:lnTo>
                        <a:pt x="197760" y="216645"/>
                      </a:lnTo>
                      <a:cubicBezTo>
                        <a:pt x="218060" y="224520"/>
                        <a:pt x="240110" y="226183"/>
                        <a:pt x="261373" y="221546"/>
                      </a:cubicBezTo>
                      <a:cubicBezTo>
                        <a:pt x="282635" y="216908"/>
                        <a:pt x="301973" y="206146"/>
                        <a:pt x="317198" y="190571"/>
                      </a:cubicBezTo>
                      <a:cubicBezTo>
                        <a:pt x="332335" y="174996"/>
                        <a:pt x="342660" y="155308"/>
                        <a:pt x="346773" y="134045"/>
                      </a:cubicBezTo>
                      <a:cubicBezTo>
                        <a:pt x="350885" y="112696"/>
                        <a:pt x="348610" y="90646"/>
                        <a:pt x="340298" y="70521"/>
                      </a:cubicBezTo>
                      <a:lnTo>
                        <a:pt x="286398" y="124333"/>
                      </a:lnTo>
                      <a:close/>
                      <a:moveTo>
                        <a:pt x="63011" y="319633"/>
                      </a:moveTo>
                      <a:cubicBezTo>
                        <a:pt x="59861" y="322783"/>
                        <a:pt x="55835" y="324883"/>
                        <a:pt x="51548" y="325758"/>
                      </a:cubicBezTo>
                      <a:cubicBezTo>
                        <a:pt x="47173" y="326633"/>
                        <a:pt x="42710" y="326196"/>
                        <a:pt x="38598" y="324445"/>
                      </a:cubicBezTo>
                      <a:cubicBezTo>
                        <a:pt x="34486" y="322783"/>
                        <a:pt x="30986" y="319896"/>
                        <a:pt x="28536" y="316220"/>
                      </a:cubicBezTo>
                      <a:cubicBezTo>
                        <a:pt x="26086" y="312545"/>
                        <a:pt x="24773" y="308170"/>
                        <a:pt x="24773" y="303795"/>
                      </a:cubicBezTo>
                      <a:cubicBezTo>
                        <a:pt x="24773" y="299333"/>
                        <a:pt x="26086" y="295045"/>
                        <a:pt x="28536" y="291371"/>
                      </a:cubicBezTo>
                      <a:cubicBezTo>
                        <a:pt x="30986" y="287696"/>
                        <a:pt x="34486" y="284808"/>
                        <a:pt x="38598" y="283146"/>
                      </a:cubicBezTo>
                      <a:cubicBezTo>
                        <a:pt x="42710" y="281483"/>
                        <a:pt x="47173" y="281046"/>
                        <a:pt x="51548" y="281833"/>
                      </a:cubicBezTo>
                      <a:cubicBezTo>
                        <a:pt x="55923" y="282708"/>
                        <a:pt x="59861" y="284808"/>
                        <a:pt x="63011" y="287958"/>
                      </a:cubicBezTo>
                      <a:cubicBezTo>
                        <a:pt x="67211" y="292158"/>
                        <a:pt x="69573" y="297846"/>
                        <a:pt x="69573" y="303795"/>
                      </a:cubicBezTo>
                      <a:cubicBezTo>
                        <a:pt x="69573" y="309746"/>
                        <a:pt x="67211" y="315433"/>
                        <a:pt x="63011" y="31963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sp>
            <p:nvSpPr>
              <p:cNvPr id="66" name="Oval 65">
                <a:extLst>
                  <a:ext uri="{FF2B5EF4-FFF2-40B4-BE49-F238E27FC236}">
                    <a16:creationId xmlns:a16="http://schemas.microsoft.com/office/drawing/2014/main" id="{A3A0031E-8F56-A11E-195C-F5ED802FA3D4}"/>
                  </a:ext>
                </a:extLst>
              </p:cNvPr>
              <p:cNvSpPr>
                <a:spLocks/>
              </p:cNvSpPr>
              <p:nvPr/>
            </p:nvSpPr>
            <p:spPr bwMode="auto">
              <a:xfrm>
                <a:off x="10778606"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29" name="Group 28">
              <a:extLst>
                <a:ext uri="{FF2B5EF4-FFF2-40B4-BE49-F238E27FC236}">
                  <a16:creationId xmlns:a16="http://schemas.microsoft.com/office/drawing/2014/main" id="{7995AE35-7379-8BB9-EA1E-89370B1DA46C}"/>
                </a:ext>
              </a:extLst>
            </p:cNvPr>
            <p:cNvGrpSpPr/>
            <p:nvPr/>
          </p:nvGrpSpPr>
          <p:grpSpPr>
            <a:xfrm>
              <a:off x="10126451" y="192765"/>
              <a:ext cx="548640" cy="548640"/>
              <a:chOff x="10126451" y="192765"/>
              <a:chExt cx="548640" cy="548640"/>
            </a:xfrm>
          </p:grpSpPr>
          <p:grpSp>
            <p:nvGrpSpPr>
              <p:cNvPr id="46" name="Group 45">
                <a:extLst>
                  <a:ext uri="{FF2B5EF4-FFF2-40B4-BE49-F238E27FC236}">
                    <a16:creationId xmlns:a16="http://schemas.microsoft.com/office/drawing/2014/main" id="{794BBBBE-2B5E-9B86-BBE7-368645195380}"/>
                  </a:ext>
                </a:extLst>
              </p:cNvPr>
              <p:cNvGrpSpPr/>
              <p:nvPr/>
            </p:nvGrpSpPr>
            <p:grpSpPr>
              <a:xfrm>
                <a:off x="10126451" y="192765"/>
                <a:ext cx="548640" cy="548640"/>
                <a:chOff x="10753659" y="196490"/>
                <a:chExt cx="548640" cy="548640"/>
              </a:xfrm>
            </p:grpSpPr>
            <p:sp>
              <p:nvSpPr>
                <p:cNvPr id="62" name="Oval 61">
                  <a:extLst>
                    <a:ext uri="{FF2B5EF4-FFF2-40B4-BE49-F238E27FC236}">
                      <a16:creationId xmlns:a16="http://schemas.microsoft.com/office/drawing/2014/main" id="{669EFBC0-8E08-69D9-4805-744E205830F0}"/>
                    </a:ext>
                  </a:extLst>
                </p:cNvPr>
                <p:cNvSpPr/>
                <p:nvPr/>
              </p:nvSpPr>
              <p:spPr bwMode="auto">
                <a:xfrm>
                  <a:off x="10753659"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3" name="Oval 62">
                  <a:extLst>
                    <a:ext uri="{FF2B5EF4-FFF2-40B4-BE49-F238E27FC236}">
                      <a16:creationId xmlns:a16="http://schemas.microsoft.com/office/drawing/2014/main" id="{2BAFCB64-2ED3-3408-FAA8-F7F361AD9A7B}"/>
                    </a:ext>
                  </a:extLst>
                </p:cNvPr>
                <p:cNvSpPr>
                  <a:spLocks/>
                </p:cNvSpPr>
                <p:nvPr/>
              </p:nvSpPr>
              <p:spPr bwMode="auto">
                <a:xfrm>
                  <a:off x="10779997"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7" name="Group 46">
                <a:extLst>
                  <a:ext uri="{FF2B5EF4-FFF2-40B4-BE49-F238E27FC236}">
                    <a16:creationId xmlns:a16="http://schemas.microsoft.com/office/drawing/2014/main" id="{8DAAF1DC-F401-0E44-050F-6EBE40C7F52A}"/>
                  </a:ext>
                </a:extLst>
              </p:cNvPr>
              <p:cNvGrpSpPr/>
              <p:nvPr/>
            </p:nvGrpSpPr>
            <p:grpSpPr>
              <a:xfrm>
                <a:off x="10243674" y="318889"/>
                <a:ext cx="314209" cy="303840"/>
                <a:chOff x="3504064" y="4676412"/>
                <a:chExt cx="509193" cy="492392"/>
              </a:xfrm>
            </p:grpSpPr>
            <p:sp>
              <p:nvSpPr>
                <p:cNvPr id="59" name="Oval 58">
                  <a:extLst>
                    <a:ext uri="{FF2B5EF4-FFF2-40B4-BE49-F238E27FC236}">
                      <a16:creationId xmlns:a16="http://schemas.microsoft.com/office/drawing/2014/main" id="{1A686DFB-F2D9-90F4-D5A2-BA07BEA52700}"/>
                    </a:ext>
                  </a:extLst>
                </p:cNvPr>
                <p:cNvSpPr/>
                <p:nvPr/>
              </p:nvSpPr>
              <p:spPr bwMode="auto">
                <a:xfrm>
                  <a:off x="3504064"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0" name="Oval 59">
                  <a:extLst>
                    <a:ext uri="{FF2B5EF4-FFF2-40B4-BE49-F238E27FC236}">
                      <a16:creationId xmlns:a16="http://schemas.microsoft.com/office/drawing/2014/main" id="{F42B05CF-A6BF-A46B-7B02-6681031896F2}"/>
                    </a:ext>
                  </a:extLst>
                </p:cNvPr>
                <p:cNvSpPr/>
                <p:nvPr/>
              </p:nvSpPr>
              <p:spPr bwMode="auto">
                <a:xfrm>
                  <a:off x="3671817"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1" name="Oval 60">
                  <a:extLst>
                    <a:ext uri="{FF2B5EF4-FFF2-40B4-BE49-F238E27FC236}">
                      <a16:creationId xmlns:a16="http://schemas.microsoft.com/office/drawing/2014/main" id="{AA573758-7FCB-DFE5-128D-E4B103AC7C5B}"/>
                    </a:ext>
                  </a:extLst>
                </p:cNvPr>
                <p:cNvSpPr/>
                <p:nvPr/>
              </p:nvSpPr>
              <p:spPr bwMode="auto">
                <a:xfrm>
                  <a:off x="3587940" y="4676412"/>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grpSp>
          <p:nvGrpSpPr>
            <p:cNvPr id="30" name="Group 29">
              <a:extLst>
                <a:ext uri="{FF2B5EF4-FFF2-40B4-BE49-F238E27FC236}">
                  <a16:creationId xmlns:a16="http://schemas.microsoft.com/office/drawing/2014/main" id="{68E88E16-8FD9-3AAD-E428-F0259BB22BAF}"/>
                </a:ext>
              </a:extLst>
            </p:cNvPr>
            <p:cNvGrpSpPr/>
            <p:nvPr/>
          </p:nvGrpSpPr>
          <p:grpSpPr>
            <a:xfrm>
              <a:off x="11380867" y="196490"/>
              <a:ext cx="548640" cy="548640"/>
              <a:chOff x="11380867" y="196490"/>
              <a:chExt cx="548640" cy="548640"/>
            </a:xfrm>
          </p:grpSpPr>
          <p:sp>
            <p:nvSpPr>
              <p:cNvPr id="32" name="Oval 31">
                <a:extLst>
                  <a:ext uri="{FF2B5EF4-FFF2-40B4-BE49-F238E27FC236}">
                    <a16:creationId xmlns:a16="http://schemas.microsoft.com/office/drawing/2014/main" id="{21B6A7A9-9AA8-DB28-EDEC-E9D22CAA803C}"/>
                  </a:ext>
                </a:extLst>
              </p:cNvPr>
              <p:cNvSpPr/>
              <p:nvPr/>
            </p:nvSpPr>
            <p:spPr bwMode="auto">
              <a:xfrm>
                <a:off x="11380867" y="196490"/>
                <a:ext cx="548640" cy="548640"/>
              </a:xfrm>
              <a:prstGeom prst="ellipse">
                <a:avLst/>
              </a:prstGeom>
              <a:solidFill>
                <a:srgbClr val="1A2B46"/>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5" name="Oval 34">
                <a:extLst>
                  <a:ext uri="{FF2B5EF4-FFF2-40B4-BE49-F238E27FC236}">
                    <a16:creationId xmlns:a16="http://schemas.microsoft.com/office/drawing/2014/main" id="{544513BE-DA3A-2C84-7A8B-AF5831018CD6}"/>
                  </a:ext>
                </a:extLst>
              </p:cNvPr>
              <p:cNvSpPr>
                <a:spLocks/>
              </p:cNvSpPr>
              <p:nvPr/>
            </p:nvSpPr>
            <p:spPr bwMode="auto">
              <a:xfrm>
                <a:off x="11407205"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38" name="Group 37">
                <a:extLst>
                  <a:ext uri="{FF2B5EF4-FFF2-40B4-BE49-F238E27FC236}">
                    <a16:creationId xmlns:a16="http://schemas.microsoft.com/office/drawing/2014/main" id="{6EE19F39-26FD-14AA-6CA6-7C6D4DE87E30}"/>
                  </a:ext>
                </a:extLst>
              </p:cNvPr>
              <p:cNvGrpSpPr/>
              <p:nvPr/>
            </p:nvGrpSpPr>
            <p:grpSpPr>
              <a:xfrm>
                <a:off x="11478807" y="317384"/>
                <a:ext cx="352760" cy="306952"/>
                <a:chOff x="10772223" y="7410567"/>
                <a:chExt cx="346174" cy="301219"/>
              </a:xfrm>
            </p:grpSpPr>
            <p:sp>
              <p:nvSpPr>
                <p:cNvPr id="41" name="Freeform: Shape 40">
                  <a:extLst>
                    <a:ext uri="{FF2B5EF4-FFF2-40B4-BE49-F238E27FC236}">
                      <a16:creationId xmlns:a16="http://schemas.microsoft.com/office/drawing/2014/main" id="{0742AF15-A35C-4A9A-FD2C-6A9251EBCDC7}"/>
                    </a:ext>
                  </a:extLst>
                </p:cNvPr>
                <p:cNvSpPr/>
                <p:nvPr/>
              </p:nvSpPr>
              <p:spPr>
                <a:xfrm>
                  <a:off x="10840877" y="7661402"/>
                  <a:ext cx="236157" cy="47232"/>
                </a:xfrm>
                <a:custGeom>
                  <a:avLst/>
                  <a:gdLst>
                    <a:gd name="connsiteX0" fmla="*/ 121141 w 259772"/>
                    <a:gd name="connsiteY0" fmla="*/ 17145 h 51954"/>
                    <a:gd name="connsiteX1" fmla="*/ 267306 w 259772"/>
                    <a:gd name="connsiteY1" fmla="*/ 0 h 51954"/>
                    <a:gd name="connsiteX2" fmla="*/ 267306 w 259772"/>
                    <a:gd name="connsiteY2" fmla="*/ 25718 h 51954"/>
                    <a:gd name="connsiteX3" fmla="*/ 238039 w 259772"/>
                    <a:gd name="connsiteY3" fmla="*/ 60008 h 51954"/>
                    <a:gd name="connsiteX4" fmla="*/ 33424 w 259772"/>
                    <a:gd name="connsiteY4" fmla="*/ 60008 h 51954"/>
                    <a:gd name="connsiteX5" fmla="*/ 0 w 259772"/>
                    <a:gd name="connsiteY5" fmla="*/ 25718 h 51954"/>
                    <a:gd name="connsiteX6" fmla="*/ 0 w 259772"/>
                    <a:gd name="connsiteY6" fmla="*/ 4330 h 51954"/>
                    <a:gd name="connsiteX7" fmla="*/ 121141 w 259772"/>
                    <a:gd name="connsiteY7" fmla="*/ 17145 h 51954"/>
                    <a:gd name="connsiteX8" fmla="*/ 121141 w 259772"/>
                    <a:gd name="connsiteY8" fmla="*/ 17145 h 51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772" h="51954">
                      <a:moveTo>
                        <a:pt x="121141" y="17145"/>
                      </a:moveTo>
                      <a:cubicBezTo>
                        <a:pt x="175433" y="17145"/>
                        <a:pt x="225569" y="12902"/>
                        <a:pt x="267306" y="0"/>
                      </a:cubicBezTo>
                      <a:cubicBezTo>
                        <a:pt x="267306" y="8573"/>
                        <a:pt x="267306" y="17145"/>
                        <a:pt x="267306" y="25718"/>
                      </a:cubicBezTo>
                      <a:cubicBezTo>
                        <a:pt x="267306" y="42863"/>
                        <a:pt x="254751" y="60008"/>
                        <a:pt x="238039" y="60008"/>
                      </a:cubicBezTo>
                      <a:cubicBezTo>
                        <a:pt x="238039" y="60008"/>
                        <a:pt x="238039" y="60008"/>
                        <a:pt x="33424" y="60008"/>
                      </a:cubicBezTo>
                      <a:cubicBezTo>
                        <a:pt x="16712" y="60008"/>
                        <a:pt x="0" y="42863"/>
                        <a:pt x="0" y="25718"/>
                      </a:cubicBezTo>
                      <a:cubicBezTo>
                        <a:pt x="0" y="25718"/>
                        <a:pt x="0" y="25718"/>
                        <a:pt x="0" y="4330"/>
                      </a:cubicBezTo>
                      <a:cubicBezTo>
                        <a:pt x="37580" y="12815"/>
                        <a:pt x="79404" y="17145"/>
                        <a:pt x="121141" y="17145"/>
                      </a:cubicBezTo>
                      <a:lnTo>
                        <a:pt x="121141" y="17145"/>
                      </a:lnTo>
                      <a:close/>
                    </a:path>
                  </a:pathLst>
                </a:custGeom>
                <a:solidFill>
                  <a:schemeClr val="accent1"/>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nvGrpSpPr>
                <p:cNvPr id="42" name="Group 41">
                  <a:extLst>
                    <a:ext uri="{FF2B5EF4-FFF2-40B4-BE49-F238E27FC236}">
                      <a16:creationId xmlns:a16="http://schemas.microsoft.com/office/drawing/2014/main" id="{3FC6B6D1-F0AC-4FB6-5D86-A784C67D879F}"/>
                    </a:ext>
                  </a:extLst>
                </p:cNvPr>
                <p:cNvGrpSpPr/>
                <p:nvPr/>
              </p:nvGrpSpPr>
              <p:grpSpPr>
                <a:xfrm>
                  <a:off x="10772223" y="7410567"/>
                  <a:ext cx="346174" cy="301219"/>
                  <a:chOff x="10772223" y="1543167"/>
                  <a:chExt cx="346174" cy="301219"/>
                </a:xfrm>
              </p:grpSpPr>
              <p:sp>
                <p:nvSpPr>
                  <p:cNvPr id="44" name="Freeform: Shape 43">
                    <a:extLst>
                      <a:ext uri="{FF2B5EF4-FFF2-40B4-BE49-F238E27FC236}">
                        <a16:creationId xmlns:a16="http://schemas.microsoft.com/office/drawing/2014/main" id="{13DD3950-8314-DC27-D69E-130A8BA92987}"/>
                      </a:ext>
                    </a:extLst>
                  </p:cNvPr>
                  <p:cNvSpPr/>
                  <p:nvPr/>
                </p:nvSpPr>
                <p:spPr>
                  <a:xfrm rot="13310739">
                    <a:off x="10772223" y="1543167"/>
                    <a:ext cx="346174" cy="301219"/>
                  </a:xfrm>
                  <a:custGeom>
                    <a:avLst/>
                    <a:gdLst>
                      <a:gd name="connsiteX0" fmla="*/ 335526 w 346174"/>
                      <a:gd name="connsiteY0" fmla="*/ 221002 h 301219"/>
                      <a:gd name="connsiteX1" fmla="*/ 256301 w 346174"/>
                      <a:gd name="connsiteY1" fmla="*/ 291951 h 301219"/>
                      <a:gd name="connsiteX2" fmla="*/ 228767 w 346174"/>
                      <a:gd name="connsiteY2" fmla="*/ 300970 h 301219"/>
                      <a:gd name="connsiteX3" fmla="*/ 144718 w 346174"/>
                      <a:gd name="connsiteY3" fmla="*/ 292547 h 301219"/>
                      <a:gd name="connsiteX4" fmla="*/ 112227 w 346174"/>
                      <a:gd name="connsiteY4" fmla="*/ 290366 h 301219"/>
                      <a:gd name="connsiteX5" fmla="*/ 104454 w 346174"/>
                      <a:gd name="connsiteY5" fmla="*/ 281687 h 301219"/>
                      <a:gd name="connsiteX6" fmla="*/ 0 w 346174"/>
                      <a:gd name="connsiteY6" fmla="*/ 165049 h 301219"/>
                      <a:gd name="connsiteX7" fmla="*/ 88589 w 346174"/>
                      <a:gd name="connsiteY7" fmla="*/ 64791 h 301219"/>
                      <a:gd name="connsiteX8" fmla="*/ 178400 w 346174"/>
                      <a:gd name="connsiteY8" fmla="*/ 0 h 301219"/>
                      <a:gd name="connsiteX9" fmla="*/ 295826 w 346174"/>
                      <a:gd name="connsiteY9" fmla="*/ 131123 h 301219"/>
                      <a:gd name="connsiteX10" fmla="*/ 311423 w 346174"/>
                      <a:gd name="connsiteY10" fmla="*/ 148540 h 301219"/>
                      <a:gd name="connsiteX11" fmla="*/ 329593 w 346174"/>
                      <a:gd name="connsiteY11" fmla="*/ 168830 h 301219"/>
                      <a:gd name="connsiteX12" fmla="*/ 339992 w 346174"/>
                      <a:gd name="connsiteY12" fmla="*/ 180441 h 301219"/>
                      <a:gd name="connsiteX13" fmla="*/ 335526 w 346174"/>
                      <a:gd name="connsiteY13" fmla="*/ 221002 h 30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174" h="301219">
                        <a:moveTo>
                          <a:pt x="335526" y="221002"/>
                        </a:moveTo>
                        <a:cubicBezTo>
                          <a:pt x="335526" y="221002"/>
                          <a:pt x="335526" y="221002"/>
                          <a:pt x="256301" y="291951"/>
                        </a:cubicBezTo>
                        <a:cubicBezTo>
                          <a:pt x="247857" y="299513"/>
                          <a:pt x="244983" y="302087"/>
                          <a:pt x="228767" y="300970"/>
                        </a:cubicBezTo>
                        <a:cubicBezTo>
                          <a:pt x="228767" y="300970"/>
                          <a:pt x="228767" y="300970"/>
                          <a:pt x="144718" y="292547"/>
                        </a:cubicBezTo>
                        <a:lnTo>
                          <a:pt x="112227" y="290366"/>
                        </a:lnTo>
                        <a:cubicBezTo>
                          <a:pt x="107027" y="284560"/>
                          <a:pt x="104454" y="281687"/>
                          <a:pt x="104454" y="281687"/>
                        </a:cubicBezTo>
                        <a:cubicBezTo>
                          <a:pt x="104454" y="281687"/>
                          <a:pt x="49365" y="220171"/>
                          <a:pt x="0" y="165049"/>
                        </a:cubicBezTo>
                        <a:cubicBezTo>
                          <a:pt x="17436" y="138972"/>
                          <a:pt x="46132" y="102813"/>
                          <a:pt x="88589" y="64791"/>
                        </a:cubicBezTo>
                        <a:cubicBezTo>
                          <a:pt x="119728" y="36905"/>
                          <a:pt x="150565" y="14466"/>
                          <a:pt x="178400" y="0"/>
                        </a:cubicBezTo>
                        <a:cubicBezTo>
                          <a:pt x="186172" y="8679"/>
                          <a:pt x="269831" y="102096"/>
                          <a:pt x="295826" y="131123"/>
                        </a:cubicBezTo>
                        <a:lnTo>
                          <a:pt x="311423" y="148540"/>
                        </a:lnTo>
                        <a:cubicBezTo>
                          <a:pt x="321821" y="160151"/>
                          <a:pt x="329593" y="168830"/>
                          <a:pt x="329593" y="168830"/>
                        </a:cubicBezTo>
                        <a:cubicBezTo>
                          <a:pt x="332219" y="171762"/>
                          <a:pt x="337419" y="177568"/>
                          <a:pt x="339992" y="180441"/>
                        </a:cubicBezTo>
                        <a:cubicBezTo>
                          <a:pt x="350390" y="192052"/>
                          <a:pt x="346844" y="210867"/>
                          <a:pt x="335526" y="221002"/>
                        </a:cubicBezTo>
                        <a:close/>
                      </a:path>
                    </a:pathLst>
                  </a:custGeom>
                  <a:solidFill>
                    <a:schemeClr val="accent1"/>
                  </a:solidFill>
                  <a:ln w="8603"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45" name="Freeform: Shape 44">
                    <a:extLst>
                      <a:ext uri="{FF2B5EF4-FFF2-40B4-BE49-F238E27FC236}">
                        <a16:creationId xmlns:a16="http://schemas.microsoft.com/office/drawing/2014/main" id="{2EF421FA-0B8E-E220-AD48-DE386DD5461B}"/>
                      </a:ext>
                    </a:extLst>
                  </p:cNvPr>
                  <p:cNvSpPr/>
                  <p:nvPr/>
                </p:nvSpPr>
                <p:spPr>
                  <a:xfrm>
                    <a:off x="10892650" y="1664886"/>
                    <a:ext cx="141110" cy="110872"/>
                  </a:xfrm>
                  <a:custGeom>
                    <a:avLst/>
                    <a:gdLst>
                      <a:gd name="connsiteX0" fmla="*/ 106680 w 121227"/>
                      <a:gd name="connsiteY0" fmla="*/ 0 h 95250"/>
                      <a:gd name="connsiteX1" fmla="*/ 48751 w 121227"/>
                      <a:gd name="connsiteY1" fmla="*/ 64683 h 95250"/>
                      <a:gd name="connsiteX2" fmla="*/ 18271 w 121227"/>
                      <a:gd name="connsiteY2" fmla="*/ 35416 h 95250"/>
                      <a:gd name="connsiteX3" fmla="*/ 0 w 121227"/>
                      <a:gd name="connsiteY3" fmla="*/ 55418 h 95250"/>
                      <a:gd name="connsiteX4" fmla="*/ 48837 w 121227"/>
                      <a:gd name="connsiteY4" fmla="*/ 100013 h 95250"/>
                      <a:gd name="connsiteX5" fmla="*/ 125124 w 121227"/>
                      <a:gd name="connsiteY5" fmla="*/ 20003 h 95250"/>
                      <a:gd name="connsiteX6" fmla="*/ 106680 w 121227"/>
                      <a:gd name="connsiteY6" fmla="*/ 0 h 95250"/>
                      <a:gd name="connsiteX7" fmla="*/ 106680 w 121227"/>
                      <a:gd name="connsiteY7" fmla="*/ 0 h 95250"/>
                      <a:gd name="connsiteX8" fmla="*/ 106680 w 121227"/>
                      <a:gd name="connsiteY8"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227" h="95250">
                        <a:moveTo>
                          <a:pt x="106680" y="0"/>
                        </a:moveTo>
                        <a:cubicBezTo>
                          <a:pt x="106680" y="0"/>
                          <a:pt x="74641" y="35416"/>
                          <a:pt x="48751" y="64683"/>
                        </a:cubicBezTo>
                        <a:cubicBezTo>
                          <a:pt x="36541" y="53946"/>
                          <a:pt x="18271" y="35416"/>
                          <a:pt x="18271" y="35416"/>
                        </a:cubicBezTo>
                        <a:cubicBezTo>
                          <a:pt x="0" y="55418"/>
                          <a:pt x="0" y="55418"/>
                          <a:pt x="0" y="55418"/>
                        </a:cubicBezTo>
                        <a:cubicBezTo>
                          <a:pt x="48837" y="100013"/>
                          <a:pt x="48837" y="100013"/>
                          <a:pt x="48837" y="100013"/>
                        </a:cubicBezTo>
                        <a:cubicBezTo>
                          <a:pt x="125124" y="20003"/>
                          <a:pt x="125124" y="20003"/>
                          <a:pt x="125124" y="20003"/>
                        </a:cubicBezTo>
                        <a:cubicBezTo>
                          <a:pt x="106680" y="0"/>
                          <a:pt x="106680" y="0"/>
                          <a:pt x="106680" y="0"/>
                        </a:cubicBezTo>
                        <a:lnTo>
                          <a:pt x="106680" y="0"/>
                        </a:lnTo>
                        <a:lnTo>
                          <a:pt x="106680" y="0"/>
                        </a:lnTo>
                        <a:close/>
                      </a:path>
                    </a:pathLst>
                  </a:custGeom>
                  <a:solidFill>
                    <a:srgbClr val="50E6FF"/>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grpSp>
        </p:grpSp>
      </p:grpSp>
      <p:sp>
        <p:nvSpPr>
          <p:cNvPr id="2" name="Rectangle: Rounded Corners 1">
            <a:extLst>
              <a:ext uri="{FF2B5EF4-FFF2-40B4-BE49-F238E27FC236}">
                <a16:creationId xmlns:a16="http://schemas.microsoft.com/office/drawing/2014/main" id="{DE5F2B14-1632-32FA-BEA4-AD266A21F9E9}"/>
              </a:ext>
            </a:extLst>
          </p:cNvPr>
          <p:cNvSpPr/>
          <p:nvPr/>
        </p:nvSpPr>
        <p:spPr bwMode="auto">
          <a:xfrm>
            <a:off x="-279050" y="3127520"/>
            <a:ext cx="2651760" cy="365760"/>
          </a:xfrm>
          <a:prstGeom prst="roundRect">
            <a:avLst>
              <a:gd name="adj" fmla="val 50000"/>
            </a:avLst>
          </a:prstGeom>
          <a:solidFill>
            <a:srgbClr val="C73EC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0" rIns="9144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bg1"/>
              </a:solidFill>
              <a:effectLst/>
              <a:uLnTx/>
              <a:uFillTx/>
              <a:latin typeface="Segoe UI Semibold"/>
              <a:ea typeface="+mn-ea"/>
              <a:cs typeface="Segoe UI Semilight" panose="020B0402040204020203" pitchFamily="34" charset="0"/>
            </a:endParaRPr>
          </a:p>
        </p:txBody>
      </p:sp>
      <p:sp>
        <p:nvSpPr>
          <p:cNvPr id="3" name="Rectangle: Rounded Corners 2">
            <a:extLst>
              <a:ext uri="{FF2B5EF4-FFF2-40B4-BE49-F238E27FC236}">
                <a16:creationId xmlns:a16="http://schemas.microsoft.com/office/drawing/2014/main" id="{BBB22718-44FC-73E7-F6DE-43F466945255}"/>
              </a:ext>
            </a:extLst>
          </p:cNvPr>
          <p:cNvSpPr/>
          <p:nvPr/>
        </p:nvSpPr>
        <p:spPr bwMode="auto">
          <a:xfrm>
            <a:off x="0" y="356278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2"/>
                </a:solidFill>
                <a:effectLst/>
                <a:uLnTx/>
                <a:uFillTx/>
                <a:latin typeface="Segoe UI Semibold"/>
                <a:ea typeface="+mn-ea"/>
                <a:cs typeface="Segoe UI Semilight" panose="020B0402040204020203" pitchFamily="34" charset="0"/>
              </a:rPr>
              <a:t>Co-sell with Microsoft </a:t>
            </a:r>
          </a:p>
        </p:txBody>
      </p:sp>
      <p:sp>
        <p:nvSpPr>
          <p:cNvPr id="5" name="Title 1">
            <a:extLst>
              <a:ext uri="{FF2B5EF4-FFF2-40B4-BE49-F238E27FC236}">
                <a16:creationId xmlns:a16="http://schemas.microsoft.com/office/drawing/2014/main" id="{C1DDC3AF-360A-71F0-AEF5-4A0C96204E31}"/>
              </a:ext>
            </a:extLst>
          </p:cNvPr>
          <p:cNvSpPr txBox="1">
            <a:spLocks/>
          </p:cNvSpPr>
          <p:nvPr/>
        </p:nvSpPr>
        <p:spPr>
          <a:xfrm>
            <a:off x="15475" y="224772"/>
            <a:ext cx="2636285" cy="809669"/>
          </a:xfrm>
          <a:prstGeom prst="rect">
            <a:avLst/>
          </a:prstGeom>
        </p:spPr>
        <p:txBody>
          <a:bodyPr lIns="274320" tIns="182880"/>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0" normalizeH="0" baseline="0" noProof="0">
                <a:ln w="3175">
                  <a:noFill/>
                </a:ln>
                <a:solidFill>
                  <a:schemeClr val="tx2"/>
                </a:solidFill>
                <a:effectLst/>
                <a:uLnTx/>
                <a:uFillTx/>
                <a:ea typeface="+mn-ea"/>
                <a:cs typeface="Segoe UI" pitchFamily="34" charset="0"/>
              </a:rPr>
              <a:t>The commercial </a:t>
            </a:r>
            <a:r>
              <a:rPr lang="en-US" sz="1800" spc="0">
                <a:solidFill>
                  <a:schemeClr val="tx2"/>
                </a:solidFill>
              </a:rPr>
              <a:t>m</a:t>
            </a:r>
            <a:r>
              <a:rPr kumimoji="0" lang="en-US" sz="1800" b="0" i="0" u="none" strike="noStrike" kern="1200" cap="none" spc="0" normalizeH="0" baseline="0" noProof="0" err="1">
                <a:ln w="3175">
                  <a:noFill/>
                </a:ln>
                <a:solidFill>
                  <a:schemeClr val="tx2"/>
                </a:solidFill>
                <a:effectLst/>
                <a:uLnTx/>
                <a:uFillTx/>
                <a:ea typeface="+mn-ea"/>
                <a:cs typeface="Segoe UI" pitchFamily="34" charset="0"/>
              </a:rPr>
              <a:t>arketplace</a:t>
            </a:r>
            <a:endParaRPr kumimoji="0" lang="en-US" sz="1800" b="0" i="0" u="none" strike="noStrike" kern="1200" cap="none" spc="0" normalizeH="0" baseline="0" noProof="0">
              <a:ln w="3175">
                <a:noFill/>
              </a:ln>
              <a:solidFill>
                <a:schemeClr val="tx2"/>
              </a:solidFill>
              <a:effectLst/>
              <a:uLnTx/>
              <a:uFillTx/>
              <a:ea typeface="+mn-ea"/>
              <a:cs typeface="Segoe UI" pitchFamily="34" charset="0"/>
            </a:endParaRPr>
          </a:p>
        </p:txBody>
      </p:sp>
      <p:sp>
        <p:nvSpPr>
          <p:cNvPr id="6" name="Rectangle: Rounded Corners 5">
            <a:extLst>
              <a:ext uri="{FF2B5EF4-FFF2-40B4-BE49-F238E27FC236}">
                <a16:creationId xmlns:a16="http://schemas.microsoft.com/office/drawing/2014/main" id="{B38E0E58-FFF2-62FA-71E6-D0166414D325}"/>
              </a:ext>
            </a:extLst>
          </p:cNvPr>
          <p:cNvSpPr/>
          <p:nvPr/>
        </p:nvSpPr>
        <p:spPr bwMode="auto">
          <a:xfrm>
            <a:off x="0" y="180602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Setup</a:t>
            </a:r>
          </a:p>
        </p:txBody>
      </p:sp>
      <p:sp>
        <p:nvSpPr>
          <p:cNvPr id="7" name="Rectangle: Rounded Corners 6">
            <a:extLst>
              <a:ext uri="{FF2B5EF4-FFF2-40B4-BE49-F238E27FC236}">
                <a16:creationId xmlns:a16="http://schemas.microsoft.com/office/drawing/2014/main" id="{F950D7B0-4ACC-F688-2B54-EE3D5770870E}"/>
              </a:ext>
            </a:extLst>
          </p:cNvPr>
          <p:cNvSpPr/>
          <p:nvPr/>
        </p:nvSpPr>
        <p:spPr bwMode="auto">
          <a:xfrm>
            <a:off x="0" y="2245217"/>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Properties</a:t>
            </a:r>
          </a:p>
        </p:txBody>
      </p:sp>
      <p:sp>
        <p:nvSpPr>
          <p:cNvPr id="9" name="Rectangle: Rounded Corners 8">
            <a:extLst>
              <a:ext uri="{FF2B5EF4-FFF2-40B4-BE49-F238E27FC236}">
                <a16:creationId xmlns:a16="http://schemas.microsoft.com/office/drawing/2014/main" id="{B91F5D38-2F69-A986-EA55-B78E43F3EB59}"/>
              </a:ext>
            </a:extLst>
          </p:cNvPr>
          <p:cNvSpPr/>
          <p:nvPr/>
        </p:nvSpPr>
        <p:spPr bwMode="auto">
          <a:xfrm>
            <a:off x="0" y="2684406"/>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Listing</a:t>
            </a:r>
          </a:p>
        </p:txBody>
      </p:sp>
      <p:sp>
        <p:nvSpPr>
          <p:cNvPr id="10" name="Rectangle: Rounded Corners 9">
            <a:extLst>
              <a:ext uri="{FF2B5EF4-FFF2-40B4-BE49-F238E27FC236}">
                <a16:creationId xmlns:a16="http://schemas.microsoft.com/office/drawing/2014/main" id="{48265C5D-B150-6038-8561-CB2A37CE1313}"/>
              </a:ext>
            </a:extLst>
          </p:cNvPr>
          <p:cNvSpPr/>
          <p:nvPr/>
        </p:nvSpPr>
        <p:spPr bwMode="auto">
          <a:xfrm>
            <a:off x="0" y="136683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Setup</a:t>
            </a:r>
          </a:p>
        </p:txBody>
      </p:sp>
      <p:cxnSp>
        <p:nvCxnSpPr>
          <p:cNvPr id="11" name="Straight Connector 10">
            <a:extLst>
              <a:ext uri="{FF2B5EF4-FFF2-40B4-BE49-F238E27FC236}">
                <a16:creationId xmlns:a16="http://schemas.microsoft.com/office/drawing/2014/main" id="{3DEB89B3-B531-B317-C177-7B11359A63B5}"/>
              </a:ext>
            </a:extLst>
          </p:cNvPr>
          <p:cNvCxnSpPr/>
          <p:nvPr/>
        </p:nvCxnSpPr>
        <p:spPr>
          <a:xfrm>
            <a:off x="223520" y="1154149"/>
            <a:ext cx="2011680" cy="0"/>
          </a:xfrm>
          <a:prstGeom prst="line">
            <a:avLst/>
          </a:prstGeom>
          <a:noFill/>
          <a:ln w="25400" cap="rnd">
            <a:gradFill flip="none" rotWithShape="1">
              <a:gsLst>
                <a:gs pos="30000">
                  <a:srgbClr val="2DB4FF"/>
                </a:gs>
                <a:gs pos="35000">
                  <a:srgbClr val="2DB4FF"/>
                </a:gs>
                <a:gs pos="3000">
                  <a:srgbClr val="0078D4"/>
                </a:gs>
                <a:gs pos="52000">
                  <a:srgbClr val="818EFF"/>
                </a:gs>
                <a:gs pos="70000">
                  <a:srgbClr val="D660FF"/>
                </a:gs>
                <a:gs pos="97000">
                  <a:srgbClr val="FEA87A"/>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17" name="Rectangle: Rounded Corners 16">
            <a:extLst>
              <a:ext uri="{FF2B5EF4-FFF2-40B4-BE49-F238E27FC236}">
                <a16:creationId xmlns:a16="http://schemas.microsoft.com/office/drawing/2014/main" id="{8D70CDAC-998F-2C4F-704B-A8772E499D25}"/>
              </a:ext>
            </a:extLst>
          </p:cNvPr>
          <p:cNvSpPr/>
          <p:nvPr/>
        </p:nvSpPr>
        <p:spPr bwMode="auto">
          <a:xfrm>
            <a:off x="0" y="312359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Segoe UI Semibold"/>
                <a:ea typeface="+mn-ea"/>
                <a:cs typeface="Segoe UI Semilight" panose="020B0402040204020203" pitchFamily="34" charset="0"/>
              </a:rPr>
              <a:t>Pricing and Availability</a:t>
            </a:r>
          </a:p>
        </p:txBody>
      </p:sp>
      <p:sp>
        <p:nvSpPr>
          <p:cNvPr id="18" name="Slide Number Placeholder 17">
            <a:extLst>
              <a:ext uri="{FF2B5EF4-FFF2-40B4-BE49-F238E27FC236}">
                <a16:creationId xmlns:a16="http://schemas.microsoft.com/office/drawing/2014/main" id="{EE86070F-0E17-A379-80B1-610C77E53805}"/>
              </a:ext>
            </a:extLst>
          </p:cNvPr>
          <p:cNvSpPr>
            <a:spLocks noGrp="1"/>
          </p:cNvSpPr>
          <p:nvPr>
            <p:ph type="sldNum" sz="quarter" idx="11"/>
          </p:nvPr>
        </p:nvSpPr>
        <p:spPr/>
        <p:txBody>
          <a:bodyPr/>
          <a:lstStyle/>
          <a:p>
            <a:fld id="{5763EE98-C176-4152-A50F-E68840BAFA00}" type="slidenum">
              <a:rPr lang="en-US" smtClean="0"/>
              <a:pPr/>
              <a:t>37</a:t>
            </a:fld>
            <a:endParaRPr lang="en-US"/>
          </a:p>
        </p:txBody>
      </p:sp>
    </p:spTree>
    <p:extLst>
      <p:ext uri="{BB962C8B-B14F-4D97-AF65-F5344CB8AC3E}">
        <p14:creationId xmlns:p14="http://schemas.microsoft.com/office/powerpoint/2010/main" val="152970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38">
            <a:extLst>
              <a:ext uri="{FF2B5EF4-FFF2-40B4-BE49-F238E27FC236}">
                <a16:creationId xmlns:a16="http://schemas.microsoft.com/office/drawing/2014/main" id="{EECDD5CF-2D0F-4F1B-A160-12C815F23DB5}"/>
              </a:ext>
            </a:extLst>
          </p:cNvPr>
          <p:cNvSpPr>
            <a:spLocks noGrp="1"/>
          </p:cNvSpPr>
          <p:nvPr>
            <p:ph type="title"/>
          </p:nvPr>
        </p:nvSpPr>
        <p:spPr/>
        <p:txBody>
          <a:bodyPr/>
          <a:lstStyle/>
          <a:p>
            <a:pPr lvl="0"/>
            <a:r>
              <a:rPr lang="en-US" noProof="0"/>
              <a:t>Microsoft 365 Copilot offer</a:t>
            </a:r>
          </a:p>
        </p:txBody>
      </p:sp>
      <p:grpSp>
        <p:nvGrpSpPr>
          <p:cNvPr id="5" name="Group 4">
            <a:extLst>
              <a:ext uri="{FF2B5EF4-FFF2-40B4-BE49-F238E27FC236}">
                <a16:creationId xmlns:a16="http://schemas.microsoft.com/office/drawing/2014/main" id="{1E2B3E74-BE0E-9101-EF9D-4EEA92AD1450}"/>
              </a:ext>
            </a:extLst>
          </p:cNvPr>
          <p:cNvGrpSpPr/>
          <p:nvPr/>
        </p:nvGrpSpPr>
        <p:grpSpPr>
          <a:xfrm>
            <a:off x="8731354" y="1347359"/>
            <a:ext cx="2889146" cy="4341400"/>
            <a:chOff x="8670313" y="1724092"/>
            <a:chExt cx="2387724" cy="3587934"/>
          </a:xfrm>
        </p:grpSpPr>
        <p:pic>
          <p:nvPicPr>
            <p:cNvPr id="7" name="Picture 6">
              <a:extLst>
                <a:ext uri="{FF2B5EF4-FFF2-40B4-BE49-F238E27FC236}">
                  <a16:creationId xmlns:a16="http://schemas.microsoft.com/office/drawing/2014/main" id="{9B57BD30-A75C-425E-BD59-2BEBEE4E0E5C}"/>
                </a:ext>
              </a:extLst>
            </p:cNvPr>
            <p:cNvPicPr>
              <a:picLocks noChangeAspect="1"/>
            </p:cNvPicPr>
            <p:nvPr/>
          </p:nvPicPr>
          <p:blipFill>
            <a:blip r:embed="rId3"/>
            <a:stretch>
              <a:fillRect/>
            </a:stretch>
          </p:blipFill>
          <p:spPr>
            <a:xfrm>
              <a:off x="8670313" y="1724092"/>
              <a:ext cx="2387723" cy="3587934"/>
            </a:xfrm>
            <a:prstGeom prst="rect">
              <a:avLst/>
            </a:prstGeom>
            <a:ln>
              <a:noFill/>
            </a:ln>
            <a:effectLst>
              <a:outerShdw blurRad="50800" dist="38100" dir="2700000" algn="tl" rotWithShape="0">
                <a:prstClr val="black">
                  <a:alpha val="40000"/>
                </a:prstClr>
              </a:outerShdw>
            </a:effectLst>
          </p:spPr>
        </p:pic>
        <p:sp>
          <p:nvSpPr>
            <p:cNvPr id="14" name="Rectangle 13">
              <a:extLst>
                <a:ext uri="{FF2B5EF4-FFF2-40B4-BE49-F238E27FC236}">
                  <a16:creationId xmlns:a16="http://schemas.microsoft.com/office/drawing/2014/main" id="{ACD990F1-9812-4E1A-A559-4BB505A6DF85}"/>
                </a:ext>
              </a:extLst>
            </p:cNvPr>
            <p:cNvSpPr/>
            <p:nvPr/>
          </p:nvSpPr>
          <p:spPr bwMode="auto">
            <a:xfrm>
              <a:off x="8670313" y="2185391"/>
              <a:ext cx="2387724" cy="589730"/>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0" name="Rectangle 39">
              <a:extLst>
                <a:ext uri="{FF2B5EF4-FFF2-40B4-BE49-F238E27FC236}">
                  <a16:creationId xmlns:a16="http://schemas.microsoft.com/office/drawing/2014/main" id="{171439DF-9C5B-487E-8D55-A7A12C04F9B9}"/>
                </a:ext>
              </a:extLst>
            </p:cNvPr>
            <p:cNvSpPr/>
            <p:nvPr/>
          </p:nvSpPr>
          <p:spPr bwMode="auto">
            <a:xfrm>
              <a:off x="8679443" y="3215962"/>
              <a:ext cx="1380219" cy="492222"/>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4" name="Rectangle 23">
              <a:extLst>
                <a:ext uri="{FF2B5EF4-FFF2-40B4-BE49-F238E27FC236}">
                  <a16:creationId xmlns:a16="http://schemas.microsoft.com/office/drawing/2014/main" id="{87666015-2243-468A-AF40-652C696343E3}"/>
                </a:ext>
              </a:extLst>
            </p:cNvPr>
            <p:cNvSpPr/>
            <p:nvPr/>
          </p:nvSpPr>
          <p:spPr bwMode="auto">
            <a:xfrm>
              <a:off x="8676968" y="3822076"/>
              <a:ext cx="1653281" cy="875151"/>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4" name="Rectangle 43">
              <a:extLst>
                <a:ext uri="{FF2B5EF4-FFF2-40B4-BE49-F238E27FC236}">
                  <a16:creationId xmlns:a16="http://schemas.microsoft.com/office/drawing/2014/main" id="{D34D64BF-49B7-4A2F-8EE9-124BE3315496}"/>
                </a:ext>
              </a:extLst>
            </p:cNvPr>
            <p:cNvSpPr/>
            <p:nvPr/>
          </p:nvSpPr>
          <p:spPr bwMode="auto">
            <a:xfrm>
              <a:off x="8691951" y="4995863"/>
              <a:ext cx="784289" cy="253625"/>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17" name="TextBox 16">
            <a:extLst>
              <a:ext uri="{FF2B5EF4-FFF2-40B4-BE49-F238E27FC236}">
                <a16:creationId xmlns:a16="http://schemas.microsoft.com/office/drawing/2014/main" id="{D4B329DE-4DB6-4559-AB38-81804A7279CE}"/>
              </a:ext>
            </a:extLst>
          </p:cNvPr>
          <p:cNvSpPr txBox="1"/>
          <p:nvPr/>
        </p:nvSpPr>
        <p:spPr>
          <a:xfrm>
            <a:off x="3009899" y="1334554"/>
            <a:ext cx="3358405" cy="1508105"/>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
                <a:srgbClr val="000000"/>
              </a:buClr>
              <a:buSzTx/>
              <a:buFont typeface="+mj-lt"/>
              <a:buAutoNum type="arabicPeriod" startAt="3"/>
              <a:tabLst/>
              <a:defRPr/>
            </a:pPr>
            <a:r>
              <a:rPr kumimoji="0" lang="en-US" sz="1400" b="1" i="0" u="none" strike="noStrike" kern="1200" cap="none" spc="0" normalizeH="0" baseline="0" noProof="0" dirty="0">
                <a:ln>
                  <a:noFill/>
                </a:ln>
                <a:solidFill>
                  <a:srgbClr val="171717"/>
                </a:solidFill>
                <a:effectLst/>
                <a:uLnTx/>
                <a:uFillTx/>
                <a:ea typeface="+mn-ea"/>
                <a:cs typeface="+mn-cs"/>
              </a:rPr>
              <a:t>Hide Key: </a:t>
            </a:r>
            <a:r>
              <a:rPr kumimoji="0" lang="en-US" sz="1400" b="0" i="0" u="none" strike="noStrike" kern="1200" cap="none" spc="0" normalizeH="0" baseline="0" noProof="0" dirty="0">
                <a:ln>
                  <a:noFill/>
                </a:ln>
                <a:solidFill>
                  <a:srgbClr val="171717"/>
                </a:solidFill>
                <a:effectLst/>
                <a:uLnTx/>
                <a:uFillTx/>
                <a:ea typeface="+mn-ea"/>
                <a:cs typeface="+mn-cs"/>
              </a:rPr>
              <a:t>Choose a combination of numbers or use the auto-generated key. This key is used to preview your offer before publishing on the commercial marketplace. It can be used as a final “check” to ensure that your offer is ready to be published. </a:t>
            </a:r>
          </a:p>
        </p:txBody>
      </p:sp>
      <p:sp>
        <p:nvSpPr>
          <p:cNvPr id="13" name="Freeform: Shape 12">
            <a:extLst>
              <a:ext uri="{FF2B5EF4-FFF2-40B4-BE49-F238E27FC236}">
                <a16:creationId xmlns:a16="http://schemas.microsoft.com/office/drawing/2014/main" id="{8C111C30-833F-48EB-A758-AFCFF71ECA20}"/>
              </a:ext>
            </a:extLst>
          </p:cNvPr>
          <p:cNvSpPr/>
          <p:nvPr/>
        </p:nvSpPr>
        <p:spPr bwMode="auto">
          <a:xfrm>
            <a:off x="6368304" y="1937488"/>
            <a:ext cx="2302008" cy="376504"/>
          </a:xfrm>
          <a:custGeom>
            <a:avLst/>
            <a:gdLst>
              <a:gd name="connsiteX0" fmla="*/ 0 w 800100"/>
              <a:gd name="connsiteY0" fmla="*/ 0 h 257175"/>
              <a:gd name="connsiteX1" fmla="*/ 328612 w 800100"/>
              <a:gd name="connsiteY1" fmla="*/ 0 h 257175"/>
              <a:gd name="connsiteX2" fmla="*/ 328612 w 800100"/>
              <a:gd name="connsiteY2" fmla="*/ 257175 h 257175"/>
              <a:gd name="connsiteX3" fmla="*/ 800100 w 800100"/>
              <a:gd name="connsiteY3" fmla="*/ 257175 h 257175"/>
            </a:gdLst>
            <a:ahLst/>
            <a:cxnLst>
              <a:cxn ang="0">
                <a:pos x="connsiteX0" y="connsiteY0"/>
              </a:cxn>
              <a:cxn ang="0">
                <a:pos x="connsiteX1" y="connsiteY1"/>
              </a:cxn>
              <a:cxn ang="0">
                <a:pos x="connsiteX2" y="connsiteY2"/>
              </a:cxn>
              <a:cxn ang="0">
                <a:pos x="connsiteX3" y="connsiteY3"/>
              </a:cxn>
            </a:cxnLst>
            <a:rect l="l" t="t" r="r" b="b"/>
            <a:pathLst>
              <a:path w="800100" h="257175">
                <a:moveTo>
                  <a:pt x="0" y="0"/>
                </a:moveTo>
                <a:lnTo>
                  <a:pt x="328612" y="0"/>
                </a:lnTo>
                <a:lnTo>
                  <a:pt x="328612" y="257175"/>
                </a:lnTo>
                <a:lnTo>
                  <a:pt x="800100" y="257175"/>
                </a:lnTo>
              </a:path>
            </a:pathLst>
          </a:custGeom>
          <a:noFill/>
          <a:ln w="22225" cap="rnd">
            <a:solidFill>
              <a:schemeClr val="tx2">
                <a:lumMod val="50000"/>
                <a:lumOff val="50000"/>
              </a:schemeClr>
            </a:solidFill>
            <a:prstDash val="sysDot"/>
            <a:headEnd type="none" w="med" len="med"/>
            <a:tailEnd type="triangle" w="lg" len="lg"/>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8" name="TextBox 37">
            <a:extLst>
              <a:ext uri="{FF2B5EF4-FFF2-40B4-BE49-F238E27FC236}">
                <a16:creationId xmlns:a16="http://schemas.microsoft.com/office/drawing/2014/main" id="{90A24B2B-2674-48B5-AB2F-CE9060268CFF}"/>
              </a:ext>
            </a:extLst>
          </p:cNvPr>
          <p:cNvSpPr txBox="1"/>
          <p:nvPr/>
        </p:nvSpPr>
        <p:spPr>
          <a:xfrm>
            <a:off x="3038206" y="3241362"/>
            <a:ext cx="3751055" cy="21544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4"/>
              <a:tabLst/>
              <a:defRPr/>
            </a:pPr>
            <a:r>
              <a:rPr kumimoji="0" lang="en-US" sz="1400" b="1" i="0" u="none" strike="noStrike" kern="1200" cap="none" spc="0" normalizeH="0" baseline="0" noProof="0">
                <a:ln>
                  <a:noFill/>
                </a:ln>
                <a:solidFill>
                  <a:srgbClr val="171717"/>
                </a:solidFill>
                <a:effectLst/>
                <a:uLnTx/>
                <a:uFillTx/>
                <a:ea typeface="+mn-ea"/>
                <a:cs typeface="+mn-cs"/>
              </a:rPr>
              <a:t>Pricing: </a:t>
            </a:r>
            <a:r>
              <a:rPr kumimoji="0" lang="en-US" sz="1400" b="0" i="0" u="none" strike="noStrike" kern="1200" cap="none" spc="0" normalizeH="0" baseline="0" noProof="0">
                <a:ln>
                  <a:noFill/>
                </a:ln>
                <a:solidFill>
                  <a:srgbClr val="171717"/>
                </a:solidFill>
                <a:effectLst/>
                <a:uLnTx/>
                <a:uFillTx/>
                <a:ea typeface="+mn-ea"/>
                <a:cs typeface="+mn-cs"/>
              </a:rPr>
              <a:t>Select </a:t>
            </a:r>
            <a:r>
              <a:rPr kumimoji="0" lang="en-US" sz="1400" b="1" i="0" u="none" strike="noStrike" kern="1200" cap="none" spc="0" normalizeH="0" baseline="0" noProof="0">
                <a:ln>
                  <a:noFill/>
                </a:ln>
                <a:solidFill>
                  <a:srgbClr val="171717"/>
                </a:solidFill>
                <a:effectLst/>
                <a:uLnTx/>
                <a:uFillTx/>
                <a:ea typeface="+mn-ea"/>
                <a:cs typeface="+mn-cs"/>
              </a:rPr>
              <a:t>Paid</a:t>
            </a:r>
            <a:r>
              <a:rPr kumimoji="0" lang="en-US" sz="1400" b="0" i="0" u="none" strike="noStrike" kern="1200" cap="none" spc="0" normalizeH="0" baseline="0" noProof="0">
                <a:ln>
                  <a:noFill/>
                </a:ln>
                <a:solidFill>
                  <a:srgbClr val="171717"/>
                </a:solidFill>
                <a:effectLst/>
                <a:uLnTx/>
                <a:uFillTx/>
                <a:ea typeface="+mn-ea"/>
                <a:cs typeface="+mn-cs"/>
              </a:rPr>
              <a:t> </a:t>
            </a:r>
          </a:p>
        </p:txBody>
      </p:sp>
      <p:cxnSp>
        <p:nvCxnSpPr>
          <p:cNvPr id="21" name="Connector: Elbow 20">
            <a:extLst>
              <a:ext uri="{FF2B5EF4-FFF2-40B4-BE49-F238E27FC236}">
                <a16:creationId xmlns:a16="http://schemas.microsoft.com/office/drawing/2014/main" id="{048293C2-1085-4BF3-84E4-ED25538BB037}"/>
              </a:ext>
            </a:extLst>
          </p:cNvPr>
          <p:cNvCxnSpPr>
            <a:cxnSpLocks/>
            <a:stCxn id="51" idx="3"/>
            <a:endCxn id="24" idx="1"/>
          </p:cNvCxnSpPr>
          <p:nvPr/>
        </p:nvCxnSpPr>
        <p:spPr>
          <a:xfrm flipV="1">
            <a:off x="6368305" y="4415387"/>
            <a:ext cx="2371102" cy="409618"/>
          </a:xfrm>
          <a:prstGeom prst="bentConnector3">
            <a:avLst>
              <a:gd name="adj1" fmla="val 50000"/>
            </a:avLst>
          </a:prstGeom>
          <a:ln w="22225" cap="rnd">
            <a:solidFill>
              <a:schemeClr val="tx2">
                <a:lumMod val="50000"/>
                <a:lumOff val="50000"/>
              </a:schemeClr>
            </a:solidFill>
            <a:prstDash val="sysDot"/>
            <a:headEnd type="none" w="lg" len="med"/>
            <a:tailEnd type="triangle" w="lg" len="lg"/>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1BA77B77-7EF4-46F1-8CFA-88FCFEE8AF95}"/>
              </a:ext>
            </a:extLst>
          </p:cNvPr>
          <p:cNvSpPr txBox="1"/>
          <p:nvPr/>
        </p:nvSpPr>
        <p:spPr>
          <a:xfrm>
            <a:off x="3009899" y="5923024"/>
            <a:ext cx="1790701" cy="21544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6"/>
              <a:tabLst/>
              <a:defRPr/>
            </a:pPr>
            <a:r>
              <a:rPr kumimoji="0" lang="en-US" sz="1400" b="1" i="0" u="none" strike="noStrike" kern="1200" cap="none" spc="0" normalizeH="0" baseline="0" noProof="0" dirty="0">
                <a:ln>
                  <a:noFill/>
                </a:ln>
                <a:solidFill>
                  <a:srgbClr val="171717"/>
                </a:solidFill>
                <a:effectLst/>
                <a:uLnTx/>
                <a:uFillTx/>
                <a:ea typeface="+mn-ea"/>
                <a:cs typeface="+mn-cs"/>
              </a:rPr>
              <a:t>​</a:t>
            </a:r>
            <a:r>
              <a:rPr kumimoji="0" lang="en-US" sz="1400" i="0" u="none" strike="noStrike" kern="1200" cap="none" spc="0" normalizeH="0" baseline="0" noProof="0" dirty="0">
                <a:ln>
                  <a:noFill/>
                </a:ln>
                <a:solidFill>
                  <a:srgbClr val="171717"/>
                </a:solidFill>
                <a:effectLst/>
                <a:uLnTx/>
                <a:uFillTx/>
                <a:ea typeface="+mn-ea"/>
                <a:cs typeface="+mn-cs"/>
              </a:rPr>
              <a:t>Select </a:t>
            </a:r>
            <a:r>
              <a:rPr kumimoji="0" lang="en-US" sz="1400" b="1" i="0" u="none" strike="noStrike" kern="1200" cap="none" spc="0" normalizeH="0" baseline="0" noProof="0" dirty="0">
                <a:ln>
                  <a:noFill/>
                </a:ln>
                <a:solidFill>
                  <a:srgbClr val="171717"/>
                </a:solidFill>
                <a:effectLst/>
                <a:uLnTx/>
                <a:uFillTx/>
                <a:ea typeface="+mn-ea"/>
                <a:cs typeface="+mn-cs"/>
              </a:rPr>
              <a:t>Save draft</a:t>
            </a:r>
            <a:endParaRPr kumimoji="0" lang="en-US" sz="1400" b="0" i="0" u="none" strike="noStrike" kern="1200" cap="none" spc="0" normalizeH="0" baseline="0" noProof="0" dirty="0">
              <a:ln>
                <a:noFill/>
              </a:ln>
              <a:solidFill>
                <a:srgbClr val="171717"/>
              </a:solidFill>
              <a:effectLst/>
              <a:uLnTx/>
              <a:uFillTx/>
              <a:ea typeface="+mn-ea"/>
              <a:cs typeface="+mn-cs"/>
            </a:endParaRPr>
          </a:p>
        </p:txBody>
      </p:sp>
      <p:sp>
        <p:nvSpPr>
          <p:cNvPr id="51" name="TextBox 50">
            <a:extLst>
              <a:ext uri="{FF2B5EF4-FFF2-40B4-BE49-F238E27FC236}">
                <a16:creationId xmlns:a16="http://schemas.microsoft.com/office/drawing/2014/main" id="{CCAC068A-320D-4AD1-AA8F-9A90378A8033}"/>
              </a:ext>
            </a:extLst>
          </p:cNvPr>
          <p:cNvSpPr txBox="1"/>
          <p:nvPr/>
        </p:nvSpPr>
        <p:spPr>
          <a:xfrm>
            <a:off x="3003233" y="4070952"/>
            <a:ext cx="3365072" cy="1508105"/>
          </a:xfrm>
          <a:prstGeom prst="rect">
            <a:avLst/>
          </a:prstGeom>
          <a:noFill/>
        </p:spPr>
        <p:txBody>
          <a:bodyPr wrap="square" lIns="0" tIns="0" rIns="0" bIns="0" anchor="t">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5"/>
              <a:tabLst>
                <a:tab pos="228600" algn="l"/>
              </a:tabLst>
              <a:defRPr/>
            </a:pPr>
            <a:r>
              <a:rPr kumimoji="0" lang="en-US" sz="1400" b="1" i="0" u="none" strike="noStrike" kern="1200" cap="none" spc="0" normalizeH="0" baseline="0" noProof="0">
                <a:ln>
                  <a:noFill/>
                </a:ln>
                <a:solidFill>
                  <a:srgbClr val="171717"/>
                </a:solidFill>
                <a:effectLst/>
                <a:uLnTx/>
                <a:uFillTx/>
                <a:ea typeface="+mn-ea"/>
                <a:cs typeface="Segoe UI"/>
              </a:rPr>
              <a:t>Price and currency:</a:t>
            </a:r>
            <a:r>
              <a:rPr kumimoji="0" lang="en-US" sz="1400" b="1" i="0" u="none" strike="noStrike" kern="1200" cap="none" spc="0" normalizeH="0" baseline="0" noProof="0">
                <a:ln>
                  <a:noFill/>
                </a:ln>
                <a:solidFill>
                  <a:srgbClr val="0078D4"/>
                </a:solidFill>
                <a:effectLst/>
                <a:uLnTx/>
                <a:uFillTx/>
                <a:ea typeface="+mn-ea"/>
                <a:cs typeface="Segoe UI"/>
              </a:rPr>
              <a:t>*</a:t>
            </a:r>
            <a:r>
              <a:rPr kumimoji="0" lang="en-US" sz="1400" b="1" i="0" u="none" strike="noStrike" kern="1200" cap="none" spc="0" normalizeH="0" baseline="0" noProof="0">
                <a:ln>
                  <a:noFill/>
                </a:ln>
                <a:solidFill>
                  <a:srgbClr val="171717"/>
                </a:solidFill>
                <a:effectLst/>
                <a:uLnTx/>
                <a:uFillTx/>
                <a:ea typeface="+mn-ea"/>
                <a:cs typeface="Segoe UI"/>
              </a:rPr>
              <a:t> </a:t>
            </a:r>
            <a:r>
              <a:rPr kumimoji="0" lang="en-US" sz="1400" b="0" i="0" u="none" strike="noStrike" kern="1200" cap="none" spc="0" normalizeH="0" baseline="0" noProof="0">
                <a:ln>
                  <a:noFill/>
                </a:ln>
                <a:solidFill>
                  <a:srgbClr val="171717"/>
                </a:solidFill>
                <a:effectLst/>
                <a:uLnTx/>
                <a:uFillTx/>
                <a:ea typeface="+mn-ea"/>
                <a:cs typeface="Segoe UI"/>
              </a:rPr>
              <a:t>We recommend </a:t>
            </a:r>
            <a:r>
              <a:rPr lang="en-US" sz="1400">
                <a:solidFill>
                  <a:srgbClr val="171717"/>
                </a:solidFill>
                <a:cs typeface="Segoe UI"/>
              </a:rPr>
              <a:t>that you choose</a:t>
            </a:r>
            <a:r>
              <a:rPr kumimoji="0" lang="en-US" sz="1400" b="0" i="0" u="none" strike="noStrike" kern="1200" cap="none" spc="0" normalizeH="0" baseline="0" noProof="0">
                <a:ln>
                  <a:noFill/>
                </a:ln>
                <a:solidFill>
                  <a:srgbClr val="171717"/>
                </a:solidFill>
                <a:effectLst/>
                <a:uLnTx/>
                <a:uFillTx/>
                <a:ea typeface="+mn-ea"/>
                <a:cs typeface="Segoe UI"/>
              </a:rPr>
              <a:t> </a:t>
            </a:r>
            <a:r>
              <a:rPr kumimoji="0" lang="en-US" sz="1400" b="1" i="0" u="none" strike="noStrike" kern="1200" cap="none" spc="0" normalizeH="0" baseline="0" noProof="0">
                <a:ln>
                  <a:noFill/>
                </a:ln>
                <a:solidFill>
                  <a:srgbClr val="171717"/>
                </a:solidFill>
                <a:effectLst/>
                <a:uLnTx/>
                <a:uFillTx/>
                <a:ea typeface="+mn-ea"/>
                <a:cs typeface="Segoe UI"/>
              </a:rPr>
              <a:t>Estimated </a:t>
            </a:r>
            <a:r>
              <a:rPr kumimoji="0" lang="en-US" sz="1400" b="0" i="0" u="none" strike="noStrike" kern="1200" cap="none" spc="0" normalizeH="0" baseline="0" noProof="0">
                <a:ln>
                  <a:noFill/>
                </a:ln>
                <a:solidFill>
                  <a:srgbClr val="171717"/>
                </a:solidFill>
                <a:effectLst/>
                <a:uLnTx/>
                <a:uFillTx/>
                <a:ea typeface="+mn-ea"/>
                <a:cs typeface="Segoe UI"/>
              </a:rPr>
              <a:t>with a </a:t>
            </a:r>
            <a:r>
              <a:rPr kumimoji="0" lang="en-US" sz="1400" b="1" i="0" u="none" strike="noStrike" kern="1200" cap="none" spc="0" normalizeH="0" baseline="0" noProof="0">
                <a:ln>
                  <a:noFill/>
                </a:ln>
                <a:solidFill>
                  <a:srgbClr val="171717"/>
                </a:solidFill>
                <a:effectLst/>
                <a:uLnTx/>
                <a:uFillTx/>
                <a:ea typeface="+mn-ea"/>
                <a:cs typeface="Segoe UI"/>
              </a:rPr>
              <a:t>value of 1 (one). </a:t>
            </a:r>
            <a:r>
              <a:rPr kumimoji="0" lang="en-US" sz="1400" b="0" i="0" u="none" strike="noStrike" kern="1200" cap="none" spc="0" normalizeH="0" baseline="0" noProof="0">
                <a:ln>
                  <a:noFill/>
                </a:ln>
                <a:solidFill>
                  <a:srgbClr val="171717"/>
                </a:solidFill>
                <a:effectLst/>
                <a:uLnTx/>
                <a:uFillTx/>
                <a:ea typeface="+mn-ea"/>
                <a:cs typeface="Segoe UI"/>
              </a:rPr>
              <a:t>Alternatively, you could </a:t>
            </a:r>
            <a:r>
              <a:rPr kumimoji="0" lang="en-US" sz="1400" b="0" i="0" u="none" strike="noStrike" kern="1200" cap="none" spc="0" normalizeH="0" baseline="0" noProof="0">
                <a:ln>
                  <a:noFill/>
                </a:ln>
                <a:solidFill>
                  <a:srgbClr val="000000"/>
                </a:solidFill>
                <a:effectLst/>
                <a:uLnTx/>
                <a:uFillTx/>
                <a:ea typeface="+mn-ea"/>
                <a:cs typeface="Calibri"/>
              </a:rPr>
              <a:t>provide an estimated price that can help customers directionally determine if an offer fits in their budget.</a:t>
            </a:r>
            <a:endParaRPr kumimoji="0" lang="en-US" sz="1400" b="0" i="0" u="none" strike="noStrike" kern="1200" cap="none" spc="0" normalizeH="0" baseline="0" noProof="0">
              <a:ln>
                <a:noFill/>
              </a:ln>
              <a:solidFill>
                <a:srgbClr val="171717"/>
              </a:solidFill>
              <a:effectLst/>
              <a:uLnTx/>
              <a:uFillTx/>
              <a:ea typeface="+mn-ea"/>
              <a:cs typeface="Segoe UI"/>
            </a:endParaRPr>
          </a:p>
        </p:txBody>
      </p:sp>
      <p:cxnSp>
        <p:nvCxnSpPr>
          <p:cNvPr id="12" name="Connector: Elbow 11">
            <a:extLst>
              <a:ext uri="{FF2B5EF4-FFF2-40B4-BE49-F238E27FC236}">
                <a16:creationId xmlns:a16="http://schemas.microsoft.com/office/drawing/2014/main" id="{BD22C924-63AB-4801-BA8E-42E374C1F25C}"/>
              </a:ext>
            </a:extLst>
          </p:cNvPr>
          <p:cNvCxnSpPr>
            <a:cxnSpLocks/>
            <a:stCxn id="42" idx="3"/>
            <a:endCxn id="44" idx="2"/>
          </p:cNvCxnSpPr>
          <p:nvPr/>
        </p:nvCxnSpPr>
        <p:spPr>
          <a:xfrm flipV="1">
            <a:off x="4800600" y="5613088"/>
            <a:ext cx="4431431" cy="417658"/>
          </a:xfrm>
          <a:prstGeom prst="bentConnector2">
            <a:avLst/>
          </a:prstGeom>
          <a:ln w="22225" cap="rnd">
            <a:solidFill>
              <a:schemeClr val="tx2">
                <a:lumMod val="50000"/>
                <a:lumOff val="50000"/>
              </a:schemeClr>
            </a:solidFill>
            <a:prstDash val="sysDot"/>
            <a:headEnd type="none" w="lg" len="med"/>
            <a:tailEnd type="triangle" w="lg" len="lg"/>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1B818D8-3290-4662-BF35-9DCA0D403098}"/>
              </a:ext>
            </a:extLst>
          </p:cNvPr>
          <p:cNvSpPr txBox="1"/>
          <p:nvPr/>
        </p:nvSpPr>
        <p:spPr>
          <a:xfrm>
            <a:off x="3009901" y="6313773"/>
            <a:ext cx="6139416"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58738" marR="0" lvl="0" indent="-58738"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ea typeface="+mn-ea"/>
                <a:cs typeface="+mn-cs"/>
              </a:rPr>
              <a:t>*</a:t>
            </a:r>
            <a:r>
              <a:rPr kumimoji="0" lang="en-US" sz="900" b="0" i="0" u="none" strike="noStrike" kern="1200" cap="none" spc="0" normalizeH="0" baseline="0" noProof="0" dirty="0">
                <a:ln>
                  <a:noFill/>
                </a:ln>
                <a:solidFill>
                  <a:srgbClr val="000000"/>
                </a:solidFill>
                <a:effectLst/>
                <a:uLnTx/>
                <a:uFillTx/>
                <a:ea typeface="+mn-ea"/>
                <a:cs typeface="+mn-cs"/>
              </a:rPr>
              <a:t>Recommend $1 since the terms, conditions, and pricing typically vary and are custom to each engagement. You should also include the exact phrase “</a:t>
            </a:r>
            <a:r>
              <a:rPr kumimoji="0" lang="en-US" sz="900" b="0" i="0" u="none" strike="noStrike" kern="1200" cap="none" spc="0" normalizeH="0" baseline="0" noProof="0" dirty="0">
                <a:ln>
                  <a:noFill/>
                </a:ln>
                <a:solidFill>
                  <a:prstClr val="black"/>
                </a:solidFill>
                <a:effectLst/>
                <a:uLnTx/>
                <a:uFillTx/>
                <a:ea typeface="+mn-ea"/>
                <a:cs typeface="Segoe UI" panose="020B0502040204020203" pitchFamily="34" charset="0"/>
              </a:rPr>
              <a:t>terms, conditions, and pricing are custom to each engagement” in the solution description. </a:t>
            </a:r>
            <a:endParaRPr kumimoji="0" lang="en-US" sz="900" b="0" i="0" u="none" strike="noStrike" kern="1200" cap="none" spc="0" normalizeH="0" baseline="0" noProof="0" dirty="0">
              <a:ln>
                <a:noFill/>
              </a:ln>
              <a:solidFill>
                <a:srgbClr val="000000"/>
              </a:solidFill>
              <a:effectLst/>
              <a:uLnTx/>
              <a:uFillTx/>
              <a:ea typeface="+mn-ea"/>
              <a:cs typeface="+mn-cs"/>
            </a:endParaRPr>
          </a:p>
        </p:txBody>
      </p:sp>
      <p:grpSp>
        <p:nvGrpSpPr>
          <p:cNvPr id="26" name="Group 25">
            <a:extLst>
              <a:ext uri="{FF2B5EF4-FFF2-40B4-BE49-F238E27FC236}">
                <a16:creationId xmlns:a16="http://schemas.microsoft.com/office/drawing/2014/main" id="{DECBF869-5236-38E3-90C2-4B63E4E45BBF}"/>
              </a:ext>
            </a:extLst>
          </p:cNvPr>
          <p:cNvGrpSpPr/>
          <p:nvPr/>
        </p:nvGrpSpPr>
        <p:grpSpPr>
          <a:xfrm>
            <a:off x="9800681" y="299796"/>
            <a:ext cx="1803056" cy="552365"/>
            <a:chOff x="10126451" y="192765"/>
            <a:chExt cx="1803056" cy="552365"/>
          </a:xfrm>
        </p:grpSpPr>
        <p:grpSp>
          <p:nvGrpSpPr>
            <p:cNvPr id="27" name="Group 26">
              <a:extLst>
                <a:ext uri="{FF2B5EF4-FFF2-40B4-BE49-F238E27FC236}">
                  <a16:creationId xmlns:a16="http://schemas.microsoft.com/office/drawing/2014/main" id="{17A44005-E6B5-675B-C3A1-AAC07E92544F}"/>
                </a:ext>
              </a:extLst>
            </p:cNvPr>
            <p:cNvGrpSpPr/>
            <p:nvPr/>
          </p:nvGrpSpPr>
          <p:grpSpPr>
            <a:xfrm>
              <a:off x="10752268" y="196490"/>
              <a:ext cx="548640" cy="548640"/>
              <a:chOff x="10752268" y="196490"/>
              <a:chExt cx="548640" cy="548640"/>
            </a:xfrm>
          </p:grpSpPr>
          <p:sp>
            <p:nvSpPr>
              <p:cNvPr id="66" name="Oval 65">
                <a:extLst>
                  <a:ext uri="{FF2B5EF4-FFF2-40B4-BE49-F238E27FC236}">
                    <a16:creationId xmlns:a16="http://schemas.microsoft.com/office/drawing/2014/main" id="{91218D57-4A04-A4E2-56E7-D3FE29487CB6}"/>
                  </a:ext>
                </a:extLst>
              </p:cNvPr>
              <p:cNvSpPr/>
              <p:nvPr/>
            </p:nvSpPr>
            <p:spPr bwMode="auto">
              <a:xfrm>
                <a:off x="10752268"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67" name="gear" descr="gear, wrench, engineer">
                <a:extLst>
                  <a:ext uri="{FF2B5EF4-FFF2-40B4-BE49-F238E27FC236}">
                    <a16:creationId xmlns:a16="http://schemas.microsoft.com/office/drawing/2014/main" id="{FD34E85E-F6AC-4517-C4BA-DEC83C5C9C34}"/>
                  </a:ext>
                </a:extLst>
              </p:cNvPr>
              <p:cNvGrpSpPr/>
              <p:nvPr/>
            </p:nvGrpSpPr>
            <p:grpSpPr>
              <a:xfrm>
                <a:off x="10883844" y="326676"/>
                <a:ext cx="288269" cy="288268"/>
                <a:chOff x="3510968" y="2992337"/>
                <a:chExt cx="498751" cy="498751"/>
              </a:xfrm>
              <a:solidFill>
                <a:schemeClr val="bg1"/>
              </a:solidFill>
            </p:grpSpPr>
            <p:sp>
              <p:nvSpPr>
                <p:cNvPr id="69" name="Freeform: Shape 68">
                  <a:extLst>
                    <a:ext uri="{FF2B5EF4-FFF2-40B4-BE49-F238E27FC236}">
                      <a16:creationId xmlns:a16="http://schemas.microsoft.com/office/drawing/2014/main" id="{D16BC28B-0A78-10A2-5F37-C3FAED5C02C6}"/>
                    </a:ext>
                  </a:extLst>
                </p:cNvPr>
                <p:cNvSpPr/>
                <p:nvPr/>
              </p:nvSpPr>
              <p:spPr>
                <a:xfrm>
                  <a:off x="3510968" y="2992337"/>
                  <a:ext cx="498751" cy="498751"/>
                </a:xfrm>
                <a:custGeom>
                  <a:avLst/>
                  <a:gdLst>
                    <a:gd name="connsiteX0" fmla="*/ 499635 w 498751"/>
                    <a:gd name="connsiteY0" fmla="*/ 277035 h 498751"/>
                    <a:gd name="connsiteX1" fmla="*/ 499635 w 498751"/>
                    <a:gd name="connsiteY1" fmla="*/ 224623 h 498751"/>
                    <a:gd name="connsiteX2" fmla="*/ 445560 w 498751"/>
                    <a:gd name="connsiteY2" fmla="*/ 224623 h 498751"/>
                    <a:gd name="connsiteX3" fmla="*/ 407060 w 498751"/>
                    <a:gd name="connsiteY3" fmla="*/ 131698 h 498751"/>
                    <a:gd name="connsiteX4" fmla="*/ 445298 w 498751"/>
                    <a:gd name="connsiteY4" fmla="*/ 93460 h 498751"/>
                    <a:gd name="connsiteX5" fmla="*/ 408285 w 498751"/>
                    <a:gd name="connsiteY5" fmla="*/ 56448 h 498751"/>
                    <a:gd name="connsiteX6" fmla="*/ 370048 w 498751"/>
                    <a:gd name="connsiteY6" fmla="*/ 94686 h 498751"/>
                    <a:gd name="connsiteX7" fmla="*/ 277123 w 498751"/>
                    <a:gd name="connsiteY7" fmla="*/ 56186 h 498751"/>
                    <a:gd name="connsiteX8" fmla="*/ 277123 w 498751"/>
                    <a:gd name="connsiteY8" fmla="*/ 2111 h 498751"/>
                    <a:gd name="connsiteX9" fmla="*/ 224710 w 498751"/>
                    <a:gd name="connsiteY9" fmla="*/ 2111 h 498751"/>
                    <a:gd name="connsiteX10" fmla="*/ 224710 w 498751"/>
                    <a:gd name="connsiteY10" fmla="*/ 56186 h 498751"/>
                    <a:gd name="connsiteX11" fmla="*/ 131785 w 498751"/>
                    <a:gd name="connsiteY11" fmla="*/ 94686 h 498751"/>
                    <a:gd name="connsiteX12" fmla="*/ 93548 w 498751"/>
                    <a:gd name="connsiteY12" fmla="*/ 56448 h 498751"/>
                    <a:gd name="connsiteX13" fmla="*/ 56536 w 498751"/>
                    <a:gd name="connsiteY13" fmla="*/ 93460 h 498751"/>
                    <a:gd name="connsiteX14" fmla="*/ 94773 w 498751"/>
                    <a:gd name="connsiteY14" fmla="*/ 131698 h 498751"/>
                    <a:gd name="connsiteX15" fmla="*/ 56273 w 498751"/>
                    <a:gd name="connsiteY15" fmla="*/ 224623 h 498751"/>
                    <a:gd name="connsiteX16" fmla="*/ 2111 w 498751"/>
                    <a:gd name="connsiteY16" fmla="*/ 224623 h 498751"/>
                    <a:gd name="connsiteX17" fmla="*/ 2111 w 498751"/>
                    <a:gd name="connsiteY17" fmla="*/ 277035 h 498751"/>
                    <a:gd name="connsiteX18" fmla="*/ 56186 w 498751"/>
                    <a:gd name="connsiteY18" fmla="*/ 277035 h 498751"/>
                    <a:gd name="connsiteX19" fmla="*/ 112010 w 498751"/>
                    <a:gd name="connsiteY19" fmla="*/ 389735 h 498751"/>
                    <a:gd name="connsiteX20" fmla="*/ 224710 w 498751"/>
                    <a:gd name="connsiteY20" fmla="*/ 445560 h 498751"/>
                    <a:gd name="connsiteX21" fmla="*/ 224710 w 498751"/>
                    <a:gd name="connsiteY21" fmla="*/ 499635 h 498751"/>
                    <a:gd name="connsiteX22" fmla="*/ 277123 w 498751"/>
                    <a:gd name="connsiteY22" fmla="*/ 499635 h 498751"/>
                    <a:gd name="connsiteX23" fmla="*/ 277123 w 498751"/>
                    <a:gd name="connsiteY23" fmla="*/ 445560 h 498751"/>
                    <a:gd name="connsiteX24" fmla="*/ 370048 w 498751"/>
                    <a:gd name="connsiteY24" fmla="*/ 407060 h 498751"/>
                    <a:gd name="connsiteX25" fmla="*/ 408285 w 498751"/>
                    <a:gd name="connsiteY25" fmla="*/ 445298 h 498751"/>
                    <a:gd name="connsiteX26" fmla="*/ 445298 w 498751"/>
                    <a:gd name="connsiteY26" fmla="*/ 408285 h 498751"/>
                    <a:gd name="connsiteX27" fmla="*/ 407060 w 498751"/>
                    <a:gd name="connsiteY27" fmla="*/ 370048 h 498751"/>
                    <a:gd name="connsiteX28" fmla="*/ 445560 w 498751"/>
                    <a:gd name="connsiteY28" fmla="*/ 277123 h 498751"/>
                    <a:gd name="connsiteX29" fmla="*/ 499635 w 498751"/>
                    <a:gd name="connsiteY29" fmla="*/ 277123 h 498751"/>
                    <a:gd name="connsiteX30" fmla="*/ 499635 w 498751"/>
                    <a:gd name="connsiteY30" fmla="*/ 277035 h 498751"/>
                    <a:gd name="connsiteX31" fmla="*/ 106848 w 498751"/>
                    <a:gd name="connsiteY31" fmla="*/ 250873 h 498751"/>
                    <a:gd name="connsiteX32" fmla="*/ 139573 w 498751"/>
                    <a:gd name="connsiteY32" fmla="*/ 159523 h 498751"/>
                    <a:gd name="connsiteX33" fmla="*/ 222786 w 498751"/>
                    <a:gd name="connsiteY33" fmla="*/ 109648 h 498751"/>
                    <a:gd name="connsiteX34" fmla="*/ 318773 w 498751"/>
                    <a:gd name="connsiteY34" fmla="*/ 123910 h 498751"/>
                    <a:gd name="connsiteX35" fmla="*/ 383960 w 498751"/>
                    <a:gd name="connsiteY35" fmla="*/ 195835 h 498751"/>
                    <a:gd name="connsiteX36" fmla="*/ 388685 w 498751"/>
                    <a:gd name="connsiteY36" fmla="*/ 292785 h 498751"/>
                    <a:gd name="connsiteX37" fmla="*/ 330848 w 498751"/>
                    <a:gd name="connsiteY37" fmla="*/ 370748 h 498751"/>
                    <a:gd name="connsiteX38" fmla="*/ 236698 w 498751"/>
                    <a:gd name="connsiteY38" fmla="*/ 394285 h 498751"/>
                    <a:gd name="connsiteX39" fmla="*/ 148936 w 498751"/>
                    <a:gd name="connsiteY39" fmla="*/ 352810 h 498751"/>
                    <a:gd name="connsiteX40" fmla="*/ 117610 w 498751"/>
                    <a:gd name="connsiteY40" fmla="*/ 306085 h 498751"/>
                    <a:gd name="connsiteX41" fmla="*/ 106848 w 498751"/>
                    <a:gd name="connsiteY41" fmla="*/ 250873 h 498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98751" h="498751">
                      <a:moveTo>
                        <a:pt x="499635" y="277035"/>
                      </a:moveTo>
                      <a:lnTo>
                        <a:pt x="499635" y="224623"/>
                      </a:lnTo>
                      <a:lnTo>
                        <a:pt x="445560" y="224623"/>
                      </a:lnTo>
                      <a:cubicBezTo>
                        <a:pt x="441098" y="190848"/>
                        <a:pt x="427798" y="158823"/>
                        <a:pt x="407060" y="131698"/>
                      </a:cubicBezTo>
                      <a:lnTo>
                        <a:pt x="445298" y="93460"/>
                      </a:lnTo>
                      <a:lnTo>
                        <a:pt x="408285" y="56448"/>
                      </a:lnTo>
                      <a:lnTo>
                        <a:pt x="370048" y="94686"/>
                      </a:lnTo>
                      <a:cubicBezTo>
                        <a:pt x="342923" y="73948"/>
                        <a:pt x="310898" y="60648"/>
                        <a:pt x="277123" y="56186"/>
                      </a:cubicBezTo>
                      <a:lnTo>
                        <a:pt x="277123" y="2111"/>
                      </a:lnTo>
                      <a:lnTo>
                        <a:pt x="224710" y="2111"/>
                      </a:lnTo>
                      <a:lnTo>
                        <a:pt x="224710" y="56186"/>
                      </a:lnTo>
                      <a:cubicBezTo>
                        <a:pt x="190935" y="60648"/>
                        <a:pt x="158911" y="73948"/>
                        <a:pt x="131785" y="94686"/>
                      </a:cubicBezTo>
                      <a:lnTo>
                        <a:pt x="93548" y="56448"/>
                      </a:lnTo>
                      <a:lnTo>
                        <a:pt x="56536" y="93460"/>
                      </a:lnTo>
                      <a:lnTo>
                        <a:pt x="94773" y="131698"/>
                      </a:lnTo>
                      <a:cubicBezTo>
                        <a:pt x="74036" y="158823"/>
                        <a:pt x="60736" y="190848"/>
                        <a:pt x="56273" y="224623"/>
                      </a:cubicBezTo>
                      <a:lnTo>
                        <a:pt x="2111" y="224623"/>
                      </a:lnTo>
                      <a:lnTo>
                        <a:pt x="2111" y="277035"/>
                      </a:lnTo>
                      <a:lnTo>
                        <a:pt x="56186" y="277035"/>
                      </a:lnTo>
                      <a:cubicBezTo>
                        <a:pt x="61961" y="319648"/>
                        <a:pt x="81561" y="359285"/>
                        <a:pt x="112010" y="389735"/>
                      </a:cubicBezTo>
                      <a:cubicBezTo>
                        <a:pt x="142461" y="420185"/>
                        <a:pt x="182011" y="439785"/>
                        <a:pt x="224710" y="445560"/>
                      </a:cubicBezTo>
                      <a:lnTo>
                        <a:pt x="224710" y="499635"/>
                      </a:lnTo>
                      <a:lnTo>
                        <a:pt x="277123" y="499635"/>
                      </a:lnTo>
                      <a:lnTo>
                        <a:pt x="277123" y="445560"/>
                      </a:lnTo>
                      <a:cubicBezTo>
                        <a:pt x="310898" y="441098"/>
                        <a:pt x="342923" y="427798"/>
                        <a:pt x="370048" y="407060"/>
                      </a:cubicBezTo>
                      <a:lnTo>
                        <a:pt x="408285" y="445298"/>
                      </a:lnTo>
                      <a:lnTo>
                        <a:pt x="445298" y="408285"/>
                      </a:lnTo>
                      <a:lnTo>
                        <a:pt x="407060" y="370048"/>
                      </a:lnTo>
                      <a:cubicBezTo>
                        <a:pt x="427798" y="342923"/>
                        <a:pt x="441098" y="310898"/>
                        <a:pt x="445560" y="277123"/>
                      </a:cubicBezTo>
                      <a:lnTo>
                        <a:pt x="499635" y="277123"/>
                      </a:lnTo>
                      <a:lnTo>
                        <a:pt x="499635" y="277035"/>
                      </a:lnTo>
                      <a:close/>
                      <a:moveTo>
                        <a:pt x="106848" y="250873"/>
                      </a:moveTo>
                      <a:cubicBezTo>
                        <a:pt x="106848" y="217535"/>
                        <a:pt x="118398" y="185248"/>
                        <a:pt x="139573" y="159523"/>
                      </a:cubicBezTo>
                      <a:cubicBezTo>
                        <a:pt x="160748" y="133798"/>
                        <a:pt x="190148" y="116123"/>
                        <a:pt x="222786" y="109648"/>
                      </a:cubicBezTo>
                      <a:cubicBezTo>
                        <a:pt x="255423" y="103173"/>
                        <a:pt x="289373" y="108161"/>
                        <a:pt x="318773" y="123910"/>
                      </a:cubicBezTo>
                      <a:cubicBezTo>
                        <a:pt x="348173" y="139573"/>
                        <a:pt x="371185" y="165035"/>
                        <a:pt x="383960" y="195835"/>
                      </a:cubicBezTo>
                      <a:cubicBezTo>
                        <a:pt x="396735" y="226635"/>
                        <a:pt x="398397" y="260848"/>
                        <a:pt x="388685" y="292785"/>
                      </a:cubicBezTo>
                      <a:cubicBezTo>
                        <a:pt x="378973" y="324635"/>
                        <a:pt x="358585" y="352197"/>
                        <a:pt x="330848" y="370748"/>
                      </a:cubicBezTo>
                      <a:cubicBezTo>
                        <a:pt x="303110" y="389298"/>
                        <a:pt x="269860" y="397610"/>
                        <a:pt x="236698" y="394285"/>
                      </a:cubicBezTo>
                      <a:cubicBezTo>
                        <a:pt x="203535" y="391048"/>
                        <a:pt x="172560" y="376347"/>
                        <a:pt x="148936" y="352810"/>
                      </a:cubicBezTo>
                      <a:cubicBezTo>
                        <a:pt x="135548" y="339510"/>
                        <a:pt x="124873" y="323585"/>
                        <a:pt x="117610" y="306085"/>
                      </a:cubicBezTo>
                      <a:cubicBezTo>
                        <a:pt x="110523" y="288498"/>
                        <a:pt x="106761" y="269773"/>
                        <a:pt x="106848" y="25087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70" name="Freeform: Shape 69">
                  <a:extLst>
                    <a:ext uri="{FF2B5EF4-FFF2-40B4-BE49-F238E27FC236}">
                      <a16:creationId xmlns:a16="http://schemas.microsoft.com/office/drawing/2014/main" id="{86BCB82C-D438-35A5-5121-A0D4CE294FE1}"/>
                    </a:ext>
                  </a:extLst>
                </p:cNvPr>
                <p:cNvSpPr/>
                <p:nvPr/>
              </p:nvSpPr>
              <p:spPr>
                <a:xfrm>
                  <a:off x="3525494" y="3127375"/>
                  <a:ext cx="348087" cy="348087"/>
                </a:xfrm>
                <a:custGeom>
                  <a:avLst/>
                  <a:gdLst>
                    <a:gd name="connsiteX0" fmla="*/ 286398 w 348086"/>
                    <a:gd name="connsiteY0" fmla="*/ 124333 h 348086"/>
                    <a:gd name="connsiteX1" fmla="*/ 226548 w 348086"/>
                    <a:gd name="connsiteY1" fmla="*/ 64483 h 348086"/>
                    <a:gd name="connsiteX2" fmla="*/ 280448 w 348086"/>
                    <a:gd name="connsiteY2" fmla="*/ 10583 h 348086"/>
                    <a:gd name="connsiteX3" fmla="*/ 216923 w 348086"/>
                    <a:gd name="connsiteY3" fmla="*/ 4108 h 348086"/>
                    <a:gd name="connsiteX4" fmla="*/ 160310 w 348086"/>
                    <a:gd name="connsiteY4" fmla="*/ 33683 h 348086"/>
                    <a:gd name="connsiteX5" fmla="*/ 129335 w 348086"/>
                    <a:gd name="connsiteY5" fmla="*/ 89508 h 348086"/>
                    <a:gd name="connsiteX6" fmla="*/ 134235 w 348086"/>
                    <a:gd name="connsiteY6" fmla="*/ 153121 h 348086"/>
                    <a:gd name="connsiteX7" fmla="*/ 15236 w 348086"/>
                    <a:gd name="connsiteY7" fmla="*/ 272121 h 348086"/>
                    <a:gd name="connsiteX8" fmla="*/ 2111 w 348086"/>
                    <a:gd name="connsiteY8" fmla="*/ 303883 h 348086"/>
                    <a:gd name="connsiteX9" fmla="*/ 15236 w 348086"/>
                    <a:gd name="connsiteY9" fmla="*/ 335645 h 348086"/>
                    <a:gd name="connsiteX10" fmla="*/ 46998 w 348086"/>
                    <a:gd name="connsiteY10" fmla="*/ 348770 h 348086"/>
                    <a:gd name="connsiteX11" fmla="*/ 78760 w 348086"/>
                    <a:gd name="connsiteY11" fmla="*/ 335645 h 348086"/>
                    <a:gd name="connsiteX12" fmla="*/ 197760 w 348086"/>
                    <a:gd name="connsiteY12" fmla="*/ 216645 h 348086"/>
                    <a:gd name="connsiteX13" fmla="*/ 261373 w 348086"/>
                    <a:gd name="connsiteY13" fmla="*/ 221546 h 348086"/>
                    <a:gd name="connsiteX14" fmla="*/ 317198 w 348086"/>
                    <a:gd name="connsiteY14" fmla="*/ 190571 h 348086"/>
                    <a:gd name="connsiteX15" fmla="*/ 346773 w 348086"/>
                    <a:gd name="connsiteY15" fmla="*/ 134045 h 348086"/>
                    <a:gd name="connsiteX16" fmla="*/ 340298 w 348086"/>
                    <a:gd name="connsiteY16" fmla="*/ 70521 h 348086"/>
                    <a:gd name="connsiteX17" fmla="*/ 286398 w 348086"/>
                    <a:gd name="connsiteY17" fmla="*/ 124333 h 348086"/>
                    <a:gd name="connsiteX18" fmla="*/ 63011 w 348086"/>
                    <a:gd name="connsiteY18" fmla="*/ 319633 h 348086"/>
                    <a:gd name="connsiteX19" fmla="*/ 51548 w 348086"/>
                    <a:gd name="connsiteY19" fmla="*/ 325758 h 348086"/>
                    <a:gd name="connsiteX20" fmla="*/ 38598 w 348086"/>
                    <a:gd name="connsiteY20" fmla="*/ 324445 h 348086"/>
                    <a:gd name="connsiteX21" fmla="*/ 28536 w 348086"/>
                    <a:gd name="connsiteY21" fmla="*/ 316220 h 348086"/>
                    <a:gd name="connsiteX22" fmla="*/ 24773 w 348086"/>
                    <a:gd name="connsiteY22" fmla="*/ 303795 h 348086"/>
                    <a:gd name="connsiteX23" fmla="*/ 28536 w 348086"/>
                    <a:gd name="connsiteY23" fmla="*/ 291371 h 348086"/>
                    <a:gd name="connsiteX24" fmla="*/ 38598 w 348086"/>
                    <a:gd name="connsiteY24" fmla="*/ 283146 h 348086"/>
                    <a:gd name="connsiteX25" fmla="*/ 51548 w 348086"/>
                    <a:gd name="connsiteY25" fmla="*/ 281833 h 348086"/>
                    <a:gd name="connsiteX26" fmla="*/ 63011 w 348086"/>
                    <a:gd name="connsiteY26" fmla="*/ 287958 h 348086"/>
                    <a:gd name="connsiteX27" fmla="*/ 69573 w 348086"/>
                    <a:gd name="connsiteY27" fmla="*/ 303795 h 348086"/>
                    <a:gd name="connsiteX28" fmla="*/ 63011 w 348086"/>
                    <a:gd name="connsiteY28" fmla="*/ 319633 h 348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48086" h="348086">
                      <a:moveTo>
                        <a:pt x="286398" y="124333"/>
                      </a:moveTo>
                      <a:lnTo>
                        <a:pt x="226548" y="64483"/>
                      </a:lnTo>
                      <a:lnTo>
                        <a:pt x="280448" y="10583"/>
                      </a:lnTo>
                      <a:cubicBezTo>
                        <a:pt x="260410" y="2271"/>
                        <a:pt x="238273" y="-4"/>
                        <a:pt x="216923" y="4108"/>
                      </a:cubicBezTo>
                      <a:cubicBezTo>
                        <a:pt x="195573" y="8221"/>
                        <a:pt x="175885" y="18458"/>
                        <a:pt x="160310" y="33683"/>
                      </a:cubicBezTo>
                      <a:cubicBezTo>
                        <a:pt x="144735" y="48821"/>
                        <a:pt x="133973" y="68246"/>
                        <a:pt x="129335" y="89508"/>
                      </a:cubicBezTo>
                      <a:cubicBezTo>
                        <a:pt x="124698" y="110771"/>
                        <a:pt x="126448" y="132908"/>
                        <a:pt x="134235" y="153121"/>
                      </a:cubicBezTo>
                      <a:lnTo>
                        <a:pt x="15236" y="272121"/>
                      </a:lnTo>
                      <a:cubicBezTo>
                        <a:pt x="6836" y="280520"/>
                        <a:pt x="2111" y="291983"/>
                        <a:pt x="2111" y="303883"/>
                      </a:cubicBezTo>
                      <a:cubicBezTo>
                        <a:pt x="2111" y="315783"/>
                        <a:pt x="6836" y="327158"/>
                        <a:pt x="15236" y="335645"/>
                      </a:cubicBezTo>
                      <a:cubicBezTo>
                        <a:pt x="23636" y="344046"/>
                        <a:pt x="35098" y="348770"/>
                        <a:pt x="46998" y="348770"/>
                      </a:cubicBezTo>
                      <a:cubicBezTo>
                        <a:pt x="58898" y="348770"/>
                        <a:pt x="70273" y="344046"/>
                        <a:pt x="78760" y="335645"/>
                      </a:cubicBezTo>
                      <a:lnTo>
                        <a:pt x="197760" y="216645"/>
                      </a:lnTo>
                      <a:cubicBezTo>
                        <a:pt x="218060" y="224520"/>
                        <a:pt x="240110" y="226183"/>
                        <a:pt x="261373" y="221546"/>
                      </a:cubicBezTo>
                      <a:cubicBezTo>
                        <a:pt x="282635" y="216908"/>
                        <a:pt x="301973" y="206146"/>
                        <a:pt x="317198" y="190571"/>
                      </a:cubicBezTo>
                      <a:cubicBezTo>
                        <a:pt x="332335" y="174996"/>
                        <a:pt x="342660" y="155308"/>
                        <a:pt x="346773" y="134045"/>
                      </a:cubicBezTo>
                      <a:cubicBezTo>
                        <a:pt x="350885" y="112696"/>
                        <a:pt x="348610" y="90646"/>
                        <a:pt x="340298" y="70521"/>
                      </a:cubicBezTo>
                      <a:lnTo>
                        <a:pt x="286398" y="124333"/>
                      </a:lnTo>
                      <a:close/>
                      <a:moveTo>
                        <a:pt x="63011" y="319633"/>
                      </a:moveTo>
                      <a:cubicBezTo>
                        <a:pt x="59861" y="322783"/>
                        <a:pt x="55835" y="324883"/>
                        <a:pt x="51548" y="325758"/>
                      </a:cubicBezTo>
                      <a:cubicBezTo>
                        <a:pt x="47173" y="326633"/>
                        <a:pt x="42710" y="326196"/>
                        <a:pt x="38598" y="324445"/>
                      </a:cubicBezTo>
                      <a:cubicBezTo>
                        <a:pt x="34486" y="322783"/>
                        <a:pt x="30986" y="319896"/>
                        <a:pt x="28536" y="316220"/>
                      </a:cubicBezTo>
                      <a:cubicBezTo>
                        <a:pt x="26086" y="312545"/>
                        <a:pt x="24773" y="308170"/>
                        <a:pt x="24773" y="303795"/>
                      </a:cubicBezTo>
                      <a:cubicBezTo>
                        <a:pt x="24773" y="299333"/>
                        <a:pt x="26086" y="295045"/>
                        <a:pt x="28536" y="291371"/>
                      </a:cubicBezTo>
                      <a:cubicBezTo>
                        <a:pt x="30986" y="287696"/>
                        <a:pt x="34486" y="284808"/>
                        <a:pt x="38598" y="283146"/>
                      </a:cubicBezTo>
                      <a:cubicBezTo>
                        <a:pt x="42710" y="281483"/>
                        <a:pt x="47173" y="281046"/>
                        <a:pt x="51548" y="281833"/>
                      </a:cubicBezTo>
                      <a:cubicBezTo>
                        <a:pt x="55923" y="282708"/>
                        <a:pt x="59861" y="284808"/>
                        <a:pt x="63011" y="287958"/>
                      </a:cubicBezTo>
                      <a:cubicBezTo>
                        <a:pt x="67211" y="292158"/>
                        <a:pt x="69573" y="297846"/>
                        <a:pt x="69573" y="303795"/>
                      </a:cubicBezTo>
                      <a:cubicBezTo>
                        <a:pt x="69573" y="309746"/>
                        <a:pt x="67211" y="315433"/>
                        <a:pt x="63011" y="31963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sp>
            <p:nvSpPr>
              <p:cNvPr id="68" name="Oval 67">
                <a:extLst>
                  <a:ext uri="{FF2B5EF4-FFF2-40B4-BE49-F238E27FC236}">
                    <a16:creationId xmlns:a16="http://schemas.microsoft.com/office/drawing/2014/main" id="{33986C68-D3D2-5A26-FFFE-2E1C77F43F65}"/>
                  </a:ext>
                </a:extLst>
              </p:cNvPr>
              <p:cNvSpPr>
                <a:spLocks/>
              </p:cNvSpPr>
              <p:nvPr/>
            </p:nvSpPr>
            <p:spPr bwMode="auto">
              <a:xfrm>
                <a:off x="10778606"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28" name="Group 27">
              <a:extLst>
                <a:ext uri="{FF2B5EF4-FFF2-40B4-BE49-F238E27FC236}">
                  <a16:creationId xmlns:a16="http://schemas.microsoft.com/office/drawing/2014/main" id="{87E358C2-6B77-7C0C-E3F4-10E4BADBD129}"/>
                </a:ext>
              </a:extLst>
            </p:cNvPr>
            <p:cNvGrpSpPr/>
            <p:nvPr/>
          </p:nvGrpSpPr>
          <p:grpSpPr>
            <a:xfrm>
              <a:off x="10126451" y="192765"/>
              <a:ext cx="548640" cy="548640"/>
              <a:chOff x="10126451" y="192765"/>
              <a:chExt cx="548640" cy="548640"/>
            </a:xfrm>
          </p:grpSpPr>
          <p:grpSp>
            <p:nvGrpSpPr>
              <p:cNvPr id="48" name="Group 47">
                <a:extLst>
                  <a:ext uri="{FF2B5EF4-FFF2-40B4-BE49-F238E27FC236}">
                    <a16:creationId xmlns:a16="http://schemas.microsoft.com/office/drawing/2014/main" id="{5F5071C9-2970-3A36-BF89-F4A586A60801}"/>
                  </a:ext>
                </a:extLst>
              </p:cNvPr>
              <p:cNvGrpSpPr/>
              <p:nvPr/>
            </p:nvGrpSpPr>
            <p:grpSpPr>
              <a:xfrm>
                <a:off x="10126451" y="192765"/>
                <a:ext cx="548640" cy="548640"/>
                <a:chOff x="10753659" y="196490"/>
                <a:chExt cx="548640" cy="548640"/>
              </a:xfrm>
            </p:grpSpPr>
            <p:sp>
              <p:nvSpPr>
                <p:cNvPr id="64" name="Oval 63">
                  <a:extLst>
                    <a:ext uri="{FF2B5EF4-FFF2-40B4-BE49-F238E27FC236}">
                      <a16:creationId xmlns:a16="http://schemas.microsoft.com/office/drawing/2014/main" id="{7C6795F9-5430-3FA0-DA44-929A84B85DC7}"/>
                    </a:ext>
                  </a:extLst>
                </p:cNvPr>
                <p:cNvSpPr/>
                <p:nvPr/>
              </p:nvSpPr>
              <p:spPr bwMode="auto">
                <a:xfrm>
                  <a:off x="10753659"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5" name="Oval 64">
                  <a:extLst>
                    <a:ext uri="{FF2B5EF4-FFF2-40B4-BE49-F238E27FC236}">
                      <a16:creationId xmlns:a16="http://schemas.microsoft.com/office/drawing/2014/main" id="{45E5087D-C16F-5368-7FB9-DF2EBDE9A2C2}"/>
                    </a:ext>
                  </a:extLst>
                </p:cNvPr>
                <p:cNvSpPr>
                  <a:spLocks/>
                </p:cNvSpPr>
                <p:nvPr/>
              </p:nvSpPr>
              <p:spPr bwMode="auto">
                <a:xfrm>
                  <a:off x="10779997"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9" name="Group 48">
                <a:extLst>
                  <a:ext uri="{FF2B5EF4-FFF2-40B4-BE49-F238E27FC236}">
                    <a16:creationId xmlns:a16="http://schemas.microsoft.com/office/drawing/2014/main" id="{BC70655C-72DF-CB36-39FD-A6909E57BD50}"/>
                  </a:ext>
                </a:extLst>
              </p:cNvPr>
              <p:cNvGrpSpPr/>
              <p:nvPr/>
            </p:nvGrpSpPr>
            <p:grpSpPr>
              <a:xfrm>
                <a:off x="10243674" y="318889"/>
                <a:ext cx="314209" cy="303840"/>
                <a:chOff x="3504064" y="4676412"/>
                <a:chExt cx="509193" cy="492392"/>
              </a:xfrm>
            </p:grpSpPr>
            <p:sp>
              <p:nvSpPr>
                <p:cNvPr id="50" name="Oval 49">
                  <a:extLst>
                    <a:ext uri="{FF2B5EF4-FFF2-40B4-BE49-F238E27FC236}">
                      <a16:creationId xmlns:a16="http://schemas.microsoft.com/office/drawing/2014/main" id="{20EB3583-C91F-FA96-7AF6-82032B45CF6A}"/>
                    </a:ext>
                  </a:extLst>
                </p:cNvPr>
                <p:cNvSpPr/>
                <p:nvPr/>
              </p:nvSpPr>
              <p:spPr bwMode="auto">
                <a:xfrm>
                  <a:off x="3504064"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2" name="Oval 61">
                  <a:extLst>
                    <a:ext uri="{FF2B5EF4-FFF2-40B4-BE49-F238E27FC236}">
                      <a16:creationId xmlns:a16="http://schemas.microsoft.com/office/drawing/2014/main" id="{9DD211A8-1C4B-23C3-AA02-F28BF64D3C23}"/>
                    </a:ext>
                  </a:extLst>
                </p:cNvPr>
                <p:cNvSpPr/>
                <p:nvPr/>
              </p:nvSpPr>
              <p:spPr bwMode="auto">
                <a:xfrm>
                  <a:off x="3671817"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3" name="Oval 62">
                  <a:extLst>
                    <a:ext uri="{FF2B5EF4-FFF2-40B4-BE49-F238E27FC236}">
                      <a16:creationId xmlns:a16="http://schemas.microsoft.com/office/drawing/2014/main" id="{6C16D077-B95C-87B5-4F14-6704A98E0DA5}"/>
                    </a:ext>
                  </a:extLst>
                </p:cNvPr>
                <p:cNvSpPr/>
                <p:nvPr/>
              </p:nvSpPr>
              <p:spPr bwMode="auto">
                <a:xfrm>
                  <a:off x="3587940" y="4676412"/>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grpSp>
          <p:nvGrpSpPr>
            <p:cNvPr id="29" name="Group 28">
              <a:extLst>
                <a:ext uri="{FF2B5EF4-FFF2-40B4-BE49-F238E27FC236}">
                  <a16:creationId xmlns:a16="http://schemas.microsoft.com/office/drawing/2014/main" id="{10074F93-2E7D-232C-62E5-EE1018991075}"/>
                </a:ext>
              </a:extLst>
            </p:cNvPr>
            <p:cNvGrpSpPr/>
            <p:nvPr/>
          </p:nvGrpSpPr>
          <p:grpSpPr>
            <a:xfrm>
              <a:off x="11380867" y="196490"/>
              <a:ext cx="548640" cy="548640"/>
              <a:chOff x="11380867" y="196490"/>
              <a:chExt cx="548640" cy="548640"/>
            </a:xfrm>
          </p:grpSpPr>
          <p:sp>
            <p:nvSpPr>
              <p:cNvPr id="30" name="Oval 29">
                <a:extLst>
                  <a:ext uri="{FF2B5EF4-FFF2-40B4-BE49-F238E27FC236}">
                    <a16:creationId xmlns:a16="http://schemas.microsoft.com/office/drawing/2014/main" id="{B9C41061-06CC-DEBF-8ED0-44C1B0F29E69}"/>
                  </a:ext>
                </a:extLst>
              </p:cNvPr>
              <p:cNvSpPr/>
              <p:nvPr/>
            </p:nvSpPr>
            <p:spPr bwMode="auto">
              <a:xfrm>
                <a:off x="11380867" y="196490"/>
                <a:ext cx="548640" cy="548640"/>
              </a:xfrm>
              <a:prstGeom prst="ellipse">
                <a:avLst/>
              </a:prstGeom>
              <a:solidFill>
                <a:srgbClr val="1A2B46"/>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2" name="Oval 31">
                <a:extLst>
                  <a:ext uri="{FF2B5EF4-FFF2-40B4-BE49-F238E27FC236}">
                    <a16:creationId xmlns:a16="http://schemas.microsoft.com/office/drawing/2014/main" id="{362B63F3-2F1D-8B78-FAB5-0CEE34A95347}"/>
                  </a:ext>
                </a:extLst>
              </p:cNvPr>
              <p:cNvSpPr>
                <a:spLocks/>
              </p:cNvSpPr>
              <p:nvPr/>
            </p:nvSpPr>
            <p:spPr bwMode="auto">
              <a:xfrm>
                <a:off x="11407205"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35" name="Group 34">
                <a:extLst>
                  <a:ext uri="{FF2B5EF4-FFF2-40B4-BE49-F238E27FC236}">
                    <a16:creationId xmlns:a16="http://schemas.microsoft.com/office/drawing/2014/main" id="{FD9CBC03-B859-4B26-9CAD-EFB5B1AA4496}"/>
                  </a:ext>
                </a:extLst>
              </p:cNvPr>
              <p:cNvGrpSpPr/>
              <p:nvPr/>
            </p:nvGrpSpPr>
            <p:grpSpPr>
              <a:xfrm>
                <a:off x="11478807" y="317384"/>
                <a:ext cx="352760" cy="306952"/>
                <a:chOff x="10772223" y="7410567"/>
                <a:chExt cx="346174" cy="301219"/>
              </a:xfrm>
            </p:grpSpPr>
            <p:sp>
              <p:nvSpPr>
                <p:cNvPr id="41" name="Freeform: Shape 40">
                  <a:extLst>
                    <a:ext uri="{FF2B5EF4-FFF2-40B4-BE49-F238E27FC236}">
                      <a16:creationId xmlns:a16="http://schemas.microsoft.com/office/drawing/2014/main" id="{BBE65F96-AC04-7315-52C0-27109F62D5F2}"/>
                    </a:ext>
                  </a:extLst>
                </p:cNvPr>
                <p:cNvSpPr/>
                <p:nvPr/>
              </p:nvSpPr>
              <p:spPr>
                <a:xfrm>
                  <a:off x="10840877" y="7661402"/>
                  <a:ext cx="236157" cy="47232"/>
                </a:xfrm>
                <a:custGeom>
                  <a:avLst/>
                  <a:gdLst>
                    <a:gd name="connsiteX0" fmla="*/ 121141 w 259772"/>
                    <a:gd name="connsiteY0" fmla="*/ 17145 h 51954"/>
                    <a:gd name="connsiteX1" fmla="*/ 267306 w 259772"/>
                    <a:gd name="connsiteY1" fmla="*/ 0 h 51954"/>
                    <a:gd name="connsiteX2" fmla="*/ 267306 w 259772"/>
                    <a:gd name="connsiteY2" fmla="*/ 25718 h 51954"/>
                    <a:gd name="connsiteX3" fmla="*/ 238039 w 259772"/>
                    <a:gd name="connsiteY3" fmla="*/ 60008 h 51954"/>
                    <a:gd name="connsiteX4" fmla="*/ 33424 w 259772"/>
                    <a:gd name="connsiteY4" fmla="*/ 60008 h 51954"/>
                    <a:gd name="connsiteX5" fmla="*/ 0 w 259772"/>
                    <a:gd name="connsiteY5" fmla="*/ 25718 h 51954"/>
                    <a:gd name="connsiteX6" fmla="*/ 0 w 259772"/>
                    <a:gd name="connsiteY6" fmla="*/ 4330 h 51954"/>
                    <a:gd name="connsiteX7" fmla="*/ 121141 w 259772"/>
                    <a:gd name="connsiteY7" fmla="*/ 17145 h 51954"/>
                    <a:gd name="connsiteX8" fmla="*/ 121141 w 259772"/>
                    <a:gd name="connsiteY8" fmla="*/ 17145 h 51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772" h="51954">
                      <a:moveTo>
                        <a:pt x="121141" y="17145"/>
                      </a:moveTo>
                      <a:cubicBezTo>
                        <a:pt x="175433" y="17145"/>
                        <a:pt x="225569" y="12902"/>
                        <a:pt x="267306" y="0"/>
                      </a:cubicBezTo>
                      <a:cubicBezTo>
                        <a:pt x="267306" y="8573"/>
                        <a:pt x="267306" y="17145"/>
                        <a:pt x="267306" y="25718"/>
                      </a:cubicBezTo>
                      <a:cubicBezTo>
                        <a:pt x="267306" y="42863"/>
                        <a:pt x="254751" y="60008"/>
                        <a:pt x="238039" y="60008"/>
                      </a:cubicBezTo>
                      <a:cubicBezTo>
                        <a:pt x="238039" y="60008"/>
                        <a:pt x="238039" y="60008"/>
                        <a:pt x="33424" y="60008"/>
                      </a:cubicBezTo>
                      <a:cubicBezTo>
                        <a:pt x="16712" y="60008"/>
                        <a:pt x="0" y="42863"/>
                        <a:pt x="0" y="25718"/>
                      </a:cubicBezTo>
                      <a:cubicBezTo>
                        <a:pt x="0" y="25718"/>
                        <a:pt x="0" y="25718"/>
                        <a:pt x="0" y="4330"/>
                      </a:cubicBezTo>
                      <a:cubicBezTo>
                        <a:pt x="37580" y="12815"/>
                        <a:pt x="79404" y="17145"/>
                        <a:pt x="121141" y="17145"/>
                      </a:cubicBezTo>
                      <a:lnTo>
                        <a:pt x="121141" y="17145"/>
                      </a:lnTo>
                      <a:close/>
                    </a:path>
                  </a:pathLst>
                </a:custGeom>
                <a:solidFill>
                  <a:schemeClr val="accent1"/>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nvGrpSpPr>
                <p:cNvPr id="45" name="Group 44">
                  <a:extLst>
                    <a:ext uri="{FF2B5EF4-FFF2-40B4-BE49-F238E27FC236}">
                      <a16:creationId xmlns:a16="http://schemas.microsoft.com/office/drawing/2014/main" id="{B7C68346-AD87-F473-6516-5BCC0E949DB1}"/>
                    </a:ext>
                  </a:extLst>
                </p:cNvPr>
                <p:cNvGrpSpPr/>
                <p:nvPr/>
              </p:nvGrpSpPr>
              <p:grpSpPr>
                <a:xfrm>
                  <a:off x="10772223" y="7410567"/>
                  <a:ext cx="346174" cy="301219"/>
                  <a:chOff x="10772223" y="1543167"/>
                  <a:chExt cx="346174" cy="301219"/>
                </a:xfrm>
              </p:grpSpPr>
              <p:sp>
                <p:nvSpPr>
                  <p:cNvPr id="46" name="Freeform: Shape 45">
                    <a:extLst>
                      <a:ext uri="{FF2B5EF4-FFF2-40B4-BE49-F238E27FC236}">
                        <a16:creationId xmlns:a16="http://schemas.microsoft.com/office/drawing/2014/main" id="{DA2D3F66-62F3-BCAD-EE3D-90F61C9FA6FE}"/>
                      </a:ext>
                    </a:extLst>
                  </p:cNvPr>
                  <p:cNvSpPr/>
                  <p:nvPr/>
                </p:nvSpPr>
                <p:spPr>
                  <a:xfrm rot="13310739">
                    <a:off x="10772223" y="1543167"/>
                    <a:ext cx="346174" cy="301219"/>
                  </a:xfrm>
                  <a:custGeom>
                    <a:avLst/>
                    <a:gdLst>
                      <a:gd name="connsiteX0" fmla="*/ 335526 w 346174"/>
                      <a:gd name="connsiteY0" fmla="*/ 221002 h 301219"/>
                      <a:gd name="connsiteX1" fmla="*/ 256301 w 346174"/>
                      <a:gd name="connsiteY1" fmla="*/ 291951 h 301219"/>
                      <a:gd name="connsiteX2" fmla="*/ 228767 w 346174"/>
                      <a:gd name="connsiteY2" fmla="*/ 300970 h 301219"/>
                      <a:gd name="connsiteX3" fmla="*/ 144718 w 346174"/>
                      <a:gd name="connsiteY3" fmla="*/ 292547 h 301219"/>
                      <a:gd name="connsiteX4" fmla="*/ 112227 w 346174"/>
                      <a:gd name="connsiteY4" fmla="*/ 290366 h 301219"/>
                      <a:gd name="connsiteX5" fmla="*/ 104454 w 346174"/>
                      <a:gd name="connsiteY5" fmla="*/ 281687 h 301219"/>
                      <a:gd name="connsiteX6" fmla="*/ 0 w 346174"/>
                      <a:gd name="connsiteY6" fmla="*/ 165049 h 301219"/>
                      <a:gd name="connsiteX7" fmla="*/ 88589 w 346174"/>
                      <a:gd name="connsiteY7" fmla="*/ 64791 h 301219"/>
                      <a:gd name="connsiteX8" fmla="*/ 178400 w 346174"/>
                      <a:gd name="connsiteY8" fmla="*/ 0 h 301219"/>
                      <a:gd name="connsiteX9" fmla="*/ 295826 w 346174"/>
                      <a:gd name="connsiteY9" fmla="*/ 131123 h 301219"/>
                      <a:gd name="connsiteX10" fmla="*/ 311423 w 346174"/>
                      <a:gd name="connsiteY10" fmla="*/ 148540 h 301219"/>
                      <a:gd name="connsiteX11" fmla="*/ 329593 w 346174"/>
                      <a:gd name="connsiteY11" fmla="*/ 168830 h 301219"/>
                      <a:gd name="connsiteX12" fmla="*/ 339992 w 346174"/>
                      <a:gd name="connsiteY12" fmla="*/ 180441 h 301219"/>
                      <a:gd name="connsiteX13" fmla="*/ 335526 w 346174"/>
                      <a:gd name="connsiteY13" fmla="*/ 221002 h 30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174" h="301219">
                        <a:moveTo>
                          <a:pt x="335526" y="221002"/>
                        </a:moveTo>
                        <a:cubicBezTo>
                          <a:pt x="335526" y="221002"/>
                          <a:pt x="335526" y="221002"/>
                          <a:pt x="256301" y="291951"/>
                        </a:cubicBezTo>
                        <a:cubicBezTo>
                          <a:pt x="247857" y="299513"/>
                          <a:pt x="244983" y="302087"/>
                          <a:pt x="228767" y="300970"/>
                        </a:cubicBezTo>
                        <a:cubicBezTo>
                          <a:pt x="228767" y="300970"/>
                          <a:pt x="228767" y="300970"/>
                          <a:pt x="144718" y="292547"/>
                        </a:cubicBezTo>
                        <a:lnTo>
                          <a:pt x="112227" y="290366"/>
                        </a:lnTo>
                        <a:cubicBezTo>
                          <a:pt x="107027" y="284560"/>
                          <a:pt x="104454" y="281687"/>
                          <a:pt x="104454" y="281687"/>
                        </a:cubicBezTo>
                        <a:cubicBezTo>
                          <a:pt x="104454" y="281687"/>
                          <a:pt x="49365" y="220171"/>
                          <a:pt x="0" y="165049"/>
                        </a:cubicBezTo>
                        <a:cubicBezTo>
                          <a:pt x="17436" y="138972"/>
                          <a:pt x="46132" y="102813"/>
                          <a:pt x="88589" y="64791"/>
                        </a:cubicBezTo>
                        <a:cubicBezTo>
                          <a:pt x="119728" y="36905"/>
                          <a:pt x="150565" y="14466"/>
                          <a:pt x="178400" y="0"/>
                        </a:cubicBezTo>
                        <a:cubicBezTo>
                          <a:pt x="186172" y="8679"/>
                          <a:pt x="269831" y="102096"/>
                          <a:pt x="295826" y="131123"/>
                        </a:cubicBezTo>
                        <a:lnTo>
                          <a:pt x="311423" y="148540"/>
                        </a:lnTo>
                        <a:cubicBezTo>
                          <a:pt x="321821" y="160151"/>
                          <a:pt x="329593" y="168830"/>
                          <a:pt x="329593" y="168830"/>
                        </a:cubicBezTo>
                        <a:cubicBezTo>
                          <a:pt x="332219" y="171762"/>
                          <a:pt x="337419" y="177568"/>
                          <a:pt x="339992" y="180441"/>
                        </a:cubicBezTo>
                        <a:cubicBezTo>
                          <a:pt x="350390" y="192052"/>
                          <a:pt x="346844" y="210867"/>
                          <a:pt x="335526" y="221002"/>
                        </a:cubicBezTo>
                        <a:close/>
                      </a:path>
                    </a:pathLst>
                  </a:custGeom>
                  <a:solidFill>
                    <a:schemeClr val="accent1"/>
                  </a:solidFill>
                  <a:ln w="8603"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47" name="Freeform: Shape 46">
                    <a:extLst>
                      <a:ext uri="{FF2B5EF4-FFF2-40B4-BE49-F238E27FC236}">
                        <a16:creationId xmlns:a16="http://schemas.microsoft.com/office/drawing/2014/main" id="{91470055-3BB5-9809-0DF1-43264DAF4A07}"/>
                      </a:ext>
                    </a:extLst>
                  </p:cNvPr>
                  <p:cNvSpPr/>
                  <p:nvPr/>
                </p:nvSpPr>
                <p:spPr>
                  <a:xfrm>
                    <a:off x="10892650" y="1664886"/>
                    <a:ext cx="141110" cy="110872"/>
                  </a:xfrm>
                  <a:custGeom>
                    <a:avLst/>
                    <a:gdLst>
                      <a:gd name="connsiteX0" fmla="*/ 106680 w 121227"/>
                      <a:gd name="connsiteY0" fmla="*/ 0 h 95250"/>
                      <a:gd name="connsiteX1" fmla="*/ 48751 w 121227"/>
                      <a:gd name="connsiteY1" fmla="*/ 64683 h 95250"/>
                      <a:gd name="connsiteX2" fmla="*/ 18271 w 121227"/>
                      <a:gd name="connsiteY2" fmla="*/ 35416 h 95250"/>
                      <a:gd name="connsiteX3" fmla="*/ 0 w 121227"/>
                      <a:gd name="connsiteY3" fmla="*/ 55418 h 95250"/>
                      <a:gd name="connsiteX4" fmla="*/ 48837 w 121227"/>
                      <a:gd name="connsiteY4" fmla="*/ 100013 h 95250"/>
                      <a:gd name="connsiteX5" fmla="*/ 125124 w 121227"/>
                      <a:gd name="connsiteY5" fmla="*/ 20003 h 95250"/>
                      <a:gd name="connsiteX6" fmla="*/ 106680 w 121227"/>
                      <a:gd name="connsiteY6" fmla="*/ 0 h 95250"/>
                      <a:gd name="connsiteX7" fmla="*/ 106680 w 121227"/>
                      <a:gd name="connsiteY7" fmla="*/ 0 h 95250"/>
                      <a:gd name="connsiteX8" fmla="*/ 106680 w 121227"/>
                      <a:gd name="connsiteY8"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227" h="95250">
                        <a:moveTo>
                          <a:pt x="106680" y="0"/>
                        </a:moveTo>
                        <a:cubicBezTo>
                          <a:pt x="106680" y="0"/>
                          <a:pt x="74641" y="35416"/>
                          <a:pt x="48751" y="64683"/>
                        </a:cubicBezTo>
                        <a:cubicBezTo>
                          <a:pt x="36541" y="53946"/>
                          <a:pt x="18271" y="35416"/>
                          <a:pt x="18271" y="35416"/>
                        </a:cubicBezTo>
                        <a:cubicBezTo>
                          <a:pt x="0" y="55418"/>
                          <a:pt x="0" y="55418"/>
                          <a:pt x="0" y="55418"/>
                        </a:cubicBezTo>
                        <a:cubicBezTo>
                          <a:pt x="48837" y="100013"/>
                          <a:pt x="48837" y="100013"/>
                          <a:pt x="48837" y="100013"/>
                        </a:cubicBezTo>
                        <a:cubicBezTo>
                          <a:pt x="125124" y="20003"/>
                          <a:pt x="125124" y="20003"/>
                          <a:pt x="125124" y="20003"/>
                        </a:cubicBezTo>
                        <a:cubicBezTo>
                          <a:pt x="106680" y="0"/>
                          <a:pt x="106680" y="0"/>
                          <a:pt x="106680" y="0"/>
                        </a:cubicBezTo>
                        <a:lnTo>
                          <a:pt x="106680" y="0"/>
                        </a:lnTo>
                        <a:lnTo>
                          <a:pt x="106680" y="0"/>
                        </a:lnTo>
                        <a:close/>
                      </a:path>
                    </a:pathLst>
                  </a:custGeom>
                  <a:solidFill>
                    <a:srgbClr val="50E6FF"/>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grpSp>
        </p:grpSp>
      </p:grpSp>
      <p:sp>
        <p:nvSpPr>
          <p:cNvPr id="82" name="Rectangle: Rounded Corners 81">
            <a:extLst>
              <a:ext uri="{FF2B5EF4-FFF2-40B4-BE49-F238E27FC236}">
                <a16:creationId xmlns:a16="http://schemas.microsoft.com/office/drawing/2014/main" id="{F0F0242E-DA13-C3A3-51C1-5A1C0605113B}"/>
              </a:ext>
            </a:extLst>
          </p:cNvPr>
          <p:cNvSpPr/>
          <p:nvPr/>
        </p:nvSpPr>
        <p:spPr bwMode="auto">
          <a:xfrm>
            <a:off x="-279050" y="3127520"/>
            <a:ext cx="2651760" cy="365760"/>
          </a:xfrm>
          <a:prstGeom prst="roundRect">
            <a:avLst>
              <a:gd name="adj" fmla="val 50000"/>
            </a:avLst>
          </a:prstGeom>
          <a:solidFill>
            <a:srgbClr val="C73EC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0" rIns="9144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bg1"/>
              </a:solidFill>
              <a:effectLst/>
              <a:uLnTx/>
              <a:uFillTx/>
              <a:latin typeface="Segoe UI Semibold"/>
              <a:ea typeface="+mn-ea"/>
              <a:cs typeface="Segoe UI Semilight" panose="020B0402040204020203" pitchFamily="34" charset="0"/>
            </a:endParaRPr>
          </a:p>
        </p:txBody>
      </p:sp>
      <p:sp>
        <p:nvSpPr>
          <p:cNvPr id="86" name="Rectangle: Rounded Corners 85">
            <a:extLst>
              <a:ext uri="{FF2B5EF4-FFF2-40B4-BE49-F238E27FC236}">
                <a16:creationId xmlns:a16="http://schemas.microsoft.com/office/drawing/2014/main" id="{C62635D3-E788-735D-8A84-670881884083}"/>
              </a:ext>
            </a:extLst>
          </p:cNvPr>
          <p:cNvSpPr/>
          <p:nvPr/>
        </p:nvSpPr>
        <p:spPr bwMode="auto">
          <a:xfrm>
            <a:off x="0" y="312359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Segoe UI Semibold"/>
                <a:ea typeface="+mn-ea"/>
                <a:cs typeface="Segoe UI Semilight" panose="020B0402040204020203" pitchFamily="34" charset="0"/>
              </a:rPr>
              <a:t>Pricing and Availability</a:t>
            </a:r>
          </a:p>
        </p:txBody>
      </p:sp>
      <p:sp>
        <p:nvSpPr>
          <p:cNvPr id="87" name="Rectangle: Rounded Corners 86">
            <a:extLst>
              <a:ext uri="{FF2B5EF4-FFF2-40B4-BE49-F238E27FC236}">
                <a16:creationId xmlns:a16="http://schemas.microsoft.com/office/drawing/2014/main" id="{C26276E3-2579-D94C-06E2-3CEB8B8D8147}"/>
              </a:ext>
            </a:extLst>
          </p:cNvPr>
          <p:cNvSpPr/>
          <p:nvPr/>
        </p:nvSpPr>
        <p:spPr bwMode="auto">
          <a:xfrm>
            <a:off x="0" y="356278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2"/>
                </a:solidFill>
                <a:effectLst/>
                <a:uLnTx/>
                <a:uFillTx/>
                <a:latin typeface="Segoe UI Semibold"/>
                <a:ea typeface="+mn-ea"/>
                <a:cs typeface="Segoe UI Semilight" panose="020B0402040204020203" pitchFamily="34" charset="0"/>
              </a:rPr>
              <a:t>Co-sell with Microsoft </a:t>
            </a:r>
          </a:p>
        </p:txBody>
      </p:sp>
      <p:cxnSp>
        <p:nvCxnSpPr>
          <p:cNvPr id="91" name="Connector: Elbow 90">
            <a:extLst>
              <a:ext uri="{FF2B5EF4-FFF2-40B4-BE49-F238E27FC236}">
                <a16:creationId xmlns:a16="http://schemas.microsoft.com/office/drawing/2014/main" id="{164E2C9A-C4CA-C32D-DEAA-851B201B4961}"/>
              </a:ext>
            </a:extLst>
          </p:cNvPr>
          <p:cNvCxnSpPr>
            <a:cxnSpLocks/>
            <a:endCxn id="40" idx="1"/>
          </p:cNvCxnSpPr>
          <p:nvPr/>
        </p:nvCxnSpPr>
        <p:spPr>
          <a:xfrm>
            <a:off x="5107705" y="3328410"/>
            <a:ext cx="3634696" cy="121907"/>
          </a:xfrm>
          <a:prstGeom prst="bentConnector3">
            <a:avLst>
              <a:gd name="adj1" fmla="val 50000"/>
            </a:avLst>
          </a:prstGeom>
          <a:ln w="22225" cap="rnd">
            <a:solidFill>
              <a:schemeClr val="tx2">
                <a:lumMod val="50000"/>
                <a:lumOff val="50000"/>
              </a:schemeClr>
            </a:solidFill>
            <a:prstDash val="sysDot"/>
            <a:headEnd type="none" w="lg" len="med"/>
            <a:tailEnd type="triangle" w="lg" len="lg"/>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7753C90-47E6-CF61-E1AB-D67836CA3CED}"/>
              </a:ext>
            </a:extLst>
          </p:cNvPr>
          <p:cNvSpPr txBox="1">
            <a:spLocks/>
          </p:cNvSpPr>
          <p:nvPr/>
        </p:nvSpPr>
        <p:spPr>
          <a:xfrm>
            <a:off x="15475" y="224772"/>
            <a:ext cx="2636285" cy="809669"/>
          </a:xfrm>
          <a:prstGeom prst="rect">
            <a:avLst/>
          </a:prstGeom>
        </p:spPr>
        <p:txBody>
          <a:bodyPr lIns="274320" tIns="182880"/>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0" normalizeH="0" baseline="0" noProof="0">
                <a:ln w="3175">
                  <a:noFill/>
                </a:ln>
                <a:solidFill>
                  <a:schemeClr val="tx2"/>
                </a:solidFill>
                <a:effectLst/>
                <a:uLnTx/>
                <a:uFillTx/>
                <a:ea typeface="+mn-ea"/>
                <a:cs typeface="Segoe UI" pitchFamily="34" charset="0"/>
              </a:rPr>
              <a:t>The commercial </a:t>
            </a:r>
            <a:r>
              <a:rPr lang="en-US" sz="1800" spc="0">
                <a:solidFill>
                  <a:schemeClr val="tx2"/>
                </a:solidFill>
              </a:rPr>
              <a:t>m</a:t>
            </a:r>
            <a:r>
              <a:rPr kumimoji="0" lang="en-US" sz="1800" b="0" i="0" u="none" strike="noStrike" kern="1200" cap="none" spc="0" normalizeH="0" baseline="0" noProof="0" err="1">
                <a:ln w="3175">
                  <a:noFill/>
                </a:ln>
                <a:solidFill>
                  <a:schemeClr val="tx2"/>
                </a:solidFill>
                <a:effectLst/>
                <a:uLnTx/>
                <a:uFillTx/>
                <a:ea typeface="+mn-ea"/>
                <a:cs typeface="Segoe UI" pitchFamily="34" charset="0"/>
              </a:rPr>
              <a:t>arketplace</a:t>
            </a:r>
            <a:endParaRPr kumimoji="0" lang="en-US" sz="1800" b="0" i="0" u="none" strike="noStrike" kern="1200" cap="none" spc="0" normalizeH="0" baseline="0" noProof="0">
              <a:ln w="3175">
                <a:noFill/>
              </a:ln>
              <a:solidFill>
                <a:schemeClr val="tx2"/>
              </a:solidFill>
              <a:effectLst/>
              <a:uLnTx/>
              <a:uFillTx/>
              <a:ea typeface="+mn-ea"/>
              <a:cs typeface="Segoe UI" pitchFamily="34" charset="0"/>
            </a:endParaRPr>
          </a:p>
        </p:txBody>
      </p:sp>
      <p:sp>
        <p:nvSpPr>
          <p:cNvPr id="4" name="Rectangle: Rounded Corners 3">
            <a:extLst>
              <a:ext uri="{FF2B5EF4-FFF2-40B4-BE49-F238E27FC236}">
                <a16:creationId xmlns:a16="http://schemas.microsoft.com/office/drawing/2014/main" id="{652FCD23-12DC-ED49-1983-AE2502F50C88}"/>
              </a:ext>
            </a:extLst>
          </p:cNvPr>
          <p:cNvSpPr/>
          <p:nvPr/>
        </p:nvSpPr>
        <p:spPr bwMode="auto">
          <a:xfrm>
            <a:off x="0" y="180602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Setup</a:t>
            </a:r>
          </a:p>
        </p:txBody>
      </p:sp>
      <p:sp>
        <p:nvSpPr>
          <p:cNvPr id="6" name="Rectangle: Rounded Corners 5">
            <a:extLst>
              <a:ext uri="{FF2B5EF4-FFF2-40B4-BE49-F238E27FC236}">
                <a16:creationId xmlns:a16="http://schemas.microsoft.com/office/drawing/2014/main" id="{A9984DBC-B30A-2BBC-987F-D20E7258A1A5}"/>
              </a:ext>
            </a:extLst>
          </p:cNvPr>
          <p:cNvSpPr/>
          <p:nvPr/>
        </p:nvSpPr>
        <p:spPr bwMode="auto">
          <a:xfrm>
            <a:off x="0" y="2245217"/>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Properties</a:t>
            </a:r>
          </a:p>
        </p:txBody>
      </p:sp>
      <p:sp>
        <p:nvSpPr>
          <p:cNvPr id="8" name="Rectangle: Rounded Corners 7">
            <a:extLst>
              <a:ext uri="{FF2B5EF4-FFF2-40B4-BE49-F238E27FC236}">
                <a16:creationId xmlns:a16="http://schemas.microsoft.com/office/drawing/2014/main" id="{FE957DBB-A1BD-4AD7-CB3D-3D5D07969D1A}"/>
              </a:ext>
            </a:extLst>
          </p:cNvPr>
          <p:cNvSpPr/>
          <p:nvPr/>
        </p:nvSpPr>
        <p:spPr bwMode="auto">
          <a:xfrm>
            <a:off x="0" y="2684406"/>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Listing</a:t>
            </a:r>
          </a:p>
        </p:txBody>
      </p:sp>
      <p:sp>
        <p:nvSpPr>
          <p:cNvPr id="10" name="Rectangle: Rounded Corners 9">
            <a:extLst>
              <a:ext uri="{FF2B5EF4-FFF2-40B4-BE49-F238E27FC236}">
                <a16:creationId xmlns:a16="http://schemas.microsoft.com/office/drawing/2014/main" id="{9C4470F9-4EB9-88A8-1A87-4C9FEB2F4DE0}"/>
              </a:ext>
            </a:extLst>
          </p:cNvPr>
          <p:cNvSpPr/>
          <p:nvPr/>
        </p:nvSpPr>
        <p:spPr bwMode="auto">
          <a:xfrm>
            <a:off x="0" y="136683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Setup</a:t>
            </a:r>
          </a:p>
        </p:txBody>
      </p:sp>
      <p:cxnSp>
        <p:nvCxnSpPr>
          <p:cNvPr id="11" name="Straight Connector 10">
            <a:extLst>
              <a:ext uri="{FF2B5EF4-FFF2-40B4-BE49-F238E27FC236}">
                <a16:creationId xmlns:a16="http://schemas.microsoft.com/office/drawing/2014/main" id="{5E58746F-62BA-F5A3-95A4-0C0604035728}"/>
              </a:ext>
            </a:extLst>
          </p:cNvPr>
          <p:cNvCxnSpPr/>
          <p:nvPr/>
        </p:nvCxnSpPr>
        <p:spPr>
          <a:xfrm>
            <a:off x="223520" y="1154149"/>
            <a:ext cx="2011680" cy="0"/>
          </a:xfrm>
          <a:prstGeom prst="line">
            <a:avLst/>
          </a:prstGeom>
          <a:noFill/>
          <a:ln w="25400" cap="rnd">
            <a:gradFill flip="none" rotWithShape="1">
              <a:gsLst>
                <a:gs pos="30000">
                  <a:srgbClr val="2DB4FF"/>
                </a:gs>
                <a:gs pos="35000">
                  <a:srgbClr val="2DB4FF"/>
                </a:gs>
                <a:gs pos="3000">
                  <a:srgbClr val="0078D4"/>
                </a:gs>
                <a:gs pos="52000">
                  <a:srgbClr val="818EFF"/>
                </a:gs>
                <a:gs pos="70000">
                  <a:srgbClr val="D660FF"/>
                </a:gs>
                <a:gs pos="97000">
                  <a:srgbClr val="FEA87A"/>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15" name="Slide Number Placeholder 14">
            <a:extLst>
              <a:ext uri="{FF2B5EF4-FFF2-40B4-BE49-F238E27FC236}">
                <a16:creationId xmlns:a16="http://schemas.microsoft.com/office/drawing/2014/main" id="{B3FE49CC-38D3-F4AC-4139-4D765A3B8B8F}"/>
              </a:ext>
            </a:extLst>
          </p:cNvPr>
          <p:cNvSpPr>
            <a:spLocks noGrp="1"/>
          </p:cNvSpPr>
          <p:nvPr>
            <p:ph type="sldNum" sz="quarter" idx="11"/>
          </p:nvPr>
        </p:nvSpPr>
        <p:spPr/>
        <p:txBody>
          <a:bodyPr/>
          <a:lstStyle/>
          <a:p>
            <a:fld id="{5763EE98-C176-4152-A50F-E68840BAFA00}" type="slidenum">
              <a:rPr lang="en-US" smtClean="0"/>
              <a:pPr/>
              <a:t>38</a:t>
            </a:fld>
            <a:endParaRPr lang="en-US"/>
          </a:p>
        </p:txBody>
      </p:sp>
    </p:spTree>
    <p:extLst>
      <p:ext uri="{BB962C8B-B14F-4D97-AF65-F5344CB8AC3E}">
        <p14:creationId xmlns:p14="http://schemas.microsoft.com/office/powerpoint/2010/main" val="2312964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38">
            <a:extLst>
              <a:ext uri="{FF2B5EF4-FFF2-40B4-BE49-F238E27FC236}">
                <a16:creationId xmlns:a16="http://schemas.microsoft.com/office/drawing/2014/main" id="{EECDD5CF-2D0F-4F1B-A160-12C815F23DB5}"/>
              </a:ext>
            </a:extLst>
          </p:cNvPr>
          <p:cNvSpPr>
            <a:spLocks noGrp="1"/>
          </p:cNvSpPr>
          <p:nvPr>
            <p:ph type="title"/>
          </p:nvPr>
        </p:nvSpPr>
        <p:spPr/>
        <p:txBody>
          <a:bodyPr/>
          <a:lstStyle/>
          <a:p>
            <a:pPr lvl="0"/>
            <a:r>
              <a:rPr lang="en-US" noProof="0"/>
              <a:t>Microsoft 365 Copilot offer</a:t>
            </a:r>
          </a:p>
        </p:txBody>
      </p:sp>
      <p:sp>
        <p:nvSpPr>
          <p:cNvPr id="29" name="TextBox 28">
            <a:extLst>
              <a:ext uri="{FF2B5EF4-FFF2-40B4-BE49-F238E27FC236}">
                <a16:creationId xmlns:a16="http://schemas.microsoft.com/office/drawing/2014/main" id="{E8C22AE2-1DDC-4B1F-8F87-40AF3A142B95}"/>
              </a:ext>
            </a:extLst>
          </p:cNvPr>
          <p:cNvSpPr txBox="1"/>
          <p:nvPr/>
        </p:nvSpPr>
        <p:spPr>
          <a:xfrm>
            <a:off x="3009900" y="1325406"/>
            <a:ext cx="8749412"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71717"/>
                </a:solidFill>
                <a:effectLst/>
                <a:uLnTx/>
                <a:uFillTx/>
                <a:ea typeface="+mn-ea"/>
                <a:cs typeface="+mn-cs"/>
              </a:rPr>
              <a:t>Please follow the </a:t>
            </a:r>
            <a:r>
              <a:rPr kumimoji="0" lang="en-US" sz="1600" b="1" i="0" u="none" strike="noStrike" kern="1200" cap="none" spc="0" normalizeH="0" baseline="0" noProof="0" dirty="0">
                <a:ln>
                  <a:noFill/>
                </a:ln>
                <a:solidFill>
                  <a:srgbClr val="171717"/>
                </a:solidFill>
                <a:effectLst/>
                <a:uLnTx/>
                <a:uFillTx/>
                <a:ea typeface="+mn-ea"/>
                <a:cs typeface="+mn-cs"/>
              </a:rPr>
              <a:t>Go to the co-sell solutions</a:t>
            </a:r>
            <a:r>
              <a:rPr kumimoji="0" lang="en-US" sz="1600" b="0" i="0" u="none" strike="noStrike" kern="1200" cap="none" spc="0" normalizeH="0" baseline="0" noProof="0" dirty="0">
                <a:ln>
                  <a:noFill/>
                </a:ln>
                <a:solidFill>
                  <a:srgbClr val="171717"/>
                </a:solidFill>
                <a:effectLst/>
                <a:uLnTx/>
                <a:uFillTx/>
                <a:ea typeface="+mn-ea"/>
                <a:cs typeface="+mn-cs"/>
              </a:rPr>
              <a:t> list link that will redirect you to a list of offers. Find and select your offer to add </a:t>
            </a:r>
            <a:r>
              <a:rPr lang="en-US" sz="1600" dirty="0">
                <a:solidFill>
                  <a:srgbClr val="171717"/>
                </a:solidFill>
              </a:rPr>
              <a:t>c</a:t>
            </a:r>
            <a:r>
              <a:rPr kumimoji="0" lang="en-US" sz="1600" b="0" i="0" u="none" strike="noStrike" kern="1200" cap="none" spc="0" normalizeH="0" baseline="0" noProof="0" dirty="0">
                <a:ln>
                  <a:noFill/>
                </a:ln>
                <a:solidFill>
                  <a:srgbClr val="171717"/>
                </a:solidFill>
                <a:effectLst/>
                <a:uLnTx/>
                <a:uFillTx/>
                <a:ea typeface="+mn-ea"/>
                <a:cs typeface="+mn-cs"/>
              </a:rPr>
              <a:t>o-sell information in each section, listing, document, and contact.</a:t>
            </a:r>
          </a:p>
        </p:txBody>
      </p:sp>
      <p:pic>
        <p:nvPicPr>
          <p:cNvPr id="30" name="Picture 29">
            <a:extLst>
              <a:ext uri="{FF2B5EF4-FFF2-40B4-BE49-F238E27FC236}">
                <a16:creationId xmlns:a16="http://schemas.microsoft.com/office/drawing/2014/main" id="{83EB7E5F-765F-44AA-854A-CD60637C0DFA}"/>
              </a:ext>
            </a:extLst>
          </p:cNvPr>
          <p:cNvPicPr>
            <a:picLocks noChangeAspect="1"/>
          </p:cNvPicPr>
          <p:nvPr/>
        </p:nvPicPr>
        <p:blipFill>
          <a:blip r:embed="rId3"/>
          <a:stretch>
            <a:fillRect/>
          </a:stretch>
        </p:blipFill>
        <p:spPr>
          <a:xfrm>
            <a:off x="3009900" y="2152668"/>
            <a:ext cx="4254719" cy="2006703"/>
          </a:xfrm>
          <a:prstGeom prst="rect">
            <a:avLst/>
          </a:prstGeom>
          <a:ln>
            <a:noFill/>
          </a:ln>
          <a:effectLst>
            <a:outerShdw blurRad="50800" dist="38100" dir="2700000" algn="tl" rotWithShape="0">
              <a:prstClr val="black">
                <a:alpha val="40000"/>
              </a:prstClr>
            </a:outerShdw>
          </a:effectLst>
        </p:spPr>
      </p:pic>
      <p:sp>
        <p:nvSpPr>
          <p:cNvPr id="31" name="Rectangle 30">
            <a:extLst>
              <a:ext uri="{FF2B5EF4-FFF2-40B4-BE49-F238E27FC236}">
                <a16:creationId xmlns:a16="http://schemas.microsoft.com/office/drawing/2014/main" id="{08E24847-84DE-480C-BF76-AD63EFEF1EB6}"/>
              </a:ext>
            </a:extLst>
          </p:cNvPr>
          <p:cNvSpPr/>
          <p:nvPr/>
        </p:nvSpPr>
        <p:spPr bwMode="auto">
          <a:xfrm>
            <a:off x="3009900" y="3839751"/>
            <a:ext cx="1479660" cy="319620"/>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4" name="Picture 33">
            <a:extLst>
              <a:ext uri="{FF2B5EF4-FFF2-40B4-BE49-F238E27FC236}">
                <a16:creationId xmlns:a16="http://schemas.microsoft.com/office/drawing/2014/main" id="{110382CF-E8C2-467F-8726-3E59C6452B4E}"/>
              </a:ext>
            </a:extLst>
          </p:cNvPr>
          <p:cNvPicPr>
            <a:picLocks noChangeAspect="1"/>
          </p:cNvPicPr>
          <p:nvPr/>
        </p:nvPicPr>
        <p:blipFill>
          <a:blip r:embed="rId4"/>
          <a:stretch>
            <a:fillRect/>
          </a:stretch>
        </p:blipFill>
        <p:spPr>
          <a:xfrm>
            <a:off x="8098588" y="2462450"/>
            <a:ext cx="3529370" cy="2200667"/>
          </a:xfrm>
          <a:prstGeom prst="rect">
            <a:avLst/>
          </a:prstGeom>
          <a:ln>
            <a:noFill/>
          </a:ln>
          <a:effectLst>
            <a:outerShdw blurRad="50800" dist="38100" dir="2700000" algn="tl" rotWithShape="0">
              <a:prstClr val="black">
                <a:alpha val="40000"/>
              </a:prstClr>
            </a:outerShdw>
          </a:effectLst>
        </p:spPr>
      </p:pic>
      <p:pic>
        <p:nvPicPr>
          <p:cNvPr id="35" name="Picture 34">
            <a:extLst>
              <a:ext uri="{FF2B5EF4-FFF2-40B4-BE49-F238E27FC236}">
                <a16:creationId xmlns:a16="http://schemas.microsoft.com/office/drawing/2014/main" id="{675300B2-2CEC-422B-9C68-991166131FE6}"/>
              </a:ext>
            </a:extLst>
          </p:cNvPr>
          <p:cNvPicPr>
            <a:picLocks noChangeAspect="1"/>
          </p:cNvPicPr>
          <p:nvPr/>
        </p:nvPicPr>
        <p:blipFill rotWithShape="1">
          <a:blip r:embed="rId5"/>
          <a:srcRect l="1348" r="4862"/>
          <a:stretch/>
        </p:blipFill>
        <p:spPr>
          <a:xfrm>
            <a:off x="3009900" y="4968149"/>
            <a:ext cx="5086350" cy="1295759"/>
          </a:xfrm>
          <a:prstGeom prst="rect">
            <a:avLst/>
          </a:prstGeom>
          <a:ln>
            <a:noFill/>
          </a:ln>
          <a:effectLst>
            <a:outerShdw blurRad="50800" dist="38100" dir="2700000" algn="tl" rotWithShape="0">
              <a:prstClr val="black">
                <a:alpha val="40000"/>
              </a:prstClr>
            </a:outerShdw>
          </a:effectLst>
        </p:spPr>
      </p:pic>
      <p:cxnSp>
        <p:nvCxnSpPr>
          <p:cNvPr id="36" name="Connector: Elbow 35">
            <a:extLst>
              <a:ext uri="{FF2B5EF4-FFF2-40B4-BE49-F238E27FC236}">
                <a16:creationId xmlns:a16="http://schemas.microsoft.com/office/drawing/2014/main" id="{DB6D2CCA-540B-44AF-8061-CC63C1957D87}"/>
              </a:ext>
            </a:extLst>
          </p:cNvPr>
          <p:cNvCxnSpPr>
            <a:cxnSpLocks/>
            <a:stCxn id="38" idx="3"/>
            <a:endCxn id="34" idx="2"/>
          </p:cNvCxnSpPr>
          <p:nvPr/>
        </p:nvCxnSpPr>
        <p:spPr>
          <a:xfrm flipV="1">
            <a:off x="8096250" y="4663117"/>
            <a:ext cx="1767023" cy="1087946"/>
          </a:xfrm>
          <a:prstGeom prst="bentConnector2">
            <a:avLst/>
          </a:prstGeom>
          <a:ln w="22225" cap="rnd">
            <a:solidFill>
              <a:schemeClr val="tx2">
                <a:lumMod val="50000"/>
                <a:lumOff val="50000"/>
              </a:schemeClr>
            </a:solidFill>
            <a:prstDash val="sysDot"/>
            <a:headEnd type="none"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28E5A7B1-42D1-4119-B633-6C8606B79502}"/>
              </a:ext>
            </a:extLst>
          </p:cNvPr>
          <p:cNvCxnSpPr>
            <a:cxnSpLocks/>
            <a:stCxn id="31" idx="2"/>
            <a:endCxn id="35" idx="0"/>
          </p:cNvCxnSpPr>
          <p:nvPr/>
        </p:nvCxnSpPr>
        <p:spPr>
          <a:xfrm rot="16200000" flipH="1">
            <a:off x="4247013" y="3662087"/>
            <a:ext cx="808778" cy="1803345"/>
          </a:xfrm>
          <a:prstGeom prst="bentConnector3">
            <a:avLst>
              <a:gd name="adj1" fmla="val 50000"/>
            </a:avLst>
          </a:prstGeom>
          <a:ln w="22225" cap="rnd">
            <a:solidFill>
              <a:schemeClr val="tx2">
                <a:lumMod val="50000"/>
                <a:lumOff val="50000"/>
              </a:schemeClr>
            </a:solidFill>
            <a:prstDash val="sysDot"/>
            <a:headEnd type="none" w="lg" len="med"/>
            <a:tailEnd type="triangle" w="lg" len="lg"/>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DD55CA2B-233D-492B-8CC4-94EDAC339498}"/>
              </a:ext>
            </a:extLst>
          </p:cNvPr>
          <p:cNvSpPr/>
          <p:nvPr/>
        </p:nvSpPr>
        <p:spPr bwMode="auto">
          <a:xfrm>
            <a:off x="3009900" y="5616029"/>
            <a:ext cx="5086350" cy="270068"/>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17" name="Group 16">
            <a:extLst>
              <a:ext uri="{FF2B5EF4-FFF2-40B4-BE49-F238E27FC236}">
                <a16:creationId xmlns:a16="http://schemas.microsoft.com/office/drawing/2014/main" id="{AC84AF16-D659-F87A-D09B-E655983E1637}"/>
              </a:ext>
            </a:extLst>
          </p:cNvPr>
          <p:cNvGrpSpPr/>
          <p:nvPr/>
        </p:nvGrpSpPr>
        <p:grpSpPr>
          <a:xfrm>
            <a:off x="9800681" y="299796"/>
            <a:ext cx="1803056" cy="552365"/>
            <a:chOff x="10126451" y="192765"/>
            <a:chExt cx="1803056" cy="552365"/>
          </a:xfrm>
        </p:grpSpPr>
        <p:grpSp>
          <p:nvGrpSpPr>
            <p:cNvPr id="18" name="Group 17">
              <a:extLst>
                <a:ext uri="{FF2B5EF4-FFF2-40B4-BE49-F238E27FC236}">
                  <a16:creationId xmlns:a16="http://schemas.microsoft.com/office/drawing/2014/main" id="{EB52C50C-8600-CF64-0B1A-5AAA9362DDEB}"/>
                </a:ext>
              </a:extLst>
            </p:cNvPr>
            <p:cNvGrpSpPr/>
            <p:nvPr/>
          </p:nvGrpSpPr>
          <p:grpSpPr>
            <a:xfrm>
              <a:off x="10752268" y="196490"/>
              <a:ext cx="548640" cy="548640"/>
              <a:chOff x="10752268" y="196490"/>
              <a:chExt cx="548640" cy="548640"/>
            </a:xfrm>
          </p:grpSpPr>
          <p:sp>
            <p:nvSpPr>
              <p:cNvPr id="59" name="Oval 58">
                <a:extLst>
                  <a:ext uri="{FF2B5EF4-FFF2-40B4-BE49-F238E27FC236}">
                    <a16:creationId xmlns:a16="http://schemas.microsoft.com/office/drawing/2014/main" id="{04ED0D00-CA5B-EA95-BA94-CE76EB83E0E2}"/>
                  </a:ext>
                </a:extLst>
              </p:cNvPr>
              <p:cNvSpPr/>
              <p:nvPr/>
            </p:nvSpPr>
            <p:spPr bwMode="auto">
              <a:xfrm>
                <a:off x="10752268"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60" name="gear" descr="gear, wrench, engineer">
                <a:extLst>
                  <a:ext uri="{FF2B5EF4-FFF2-40B4-BE49-F238E27FC236}">
                    <a16:creationId xmlns:a16="http://schemas.microsoft.com/office/drawing/2014/main" id="{07F27E7A-74BA-562E-70B4-0C17FE87D0E9}"/>
                  </a:ext>
                </a:extLst>
              </p:cNvPr>
              <p:cNvGrpSpPr/>
              <p:nvPr/>
            </p:nvGrpSpPr>
            <p:grpSpPr>
              <a:xfrm>
                <a:off x="10883844" y="326676"/>
                <a:ext cx="288269" cy="288268"/>
                <a:chOff x="3510968" y="2992337"/>
                <a:chExt cx="498751" cy="498751"/>
              </a:xfrm>
              <a:solidFill>
                <a:schemeClr val="bg1"/>
              </a:solidFill>
            </p:grpSpPr>
            <p:sp>
              <p:nvSpPr>
                <p:cNvPr id="62" name="Freeform: Shape 61">
                  <a:extLst>
                    <a:ext uri="{FF2B5EF4-FFF2-40B4-BE49-F238E27FC236}">
                      <a16:creationId xmlns:a16="http://schemas.microsoft.com/office/drawing/2014/main" id="{E369157F-4967-2015-1F96-F5996D99B37D}"/>
                    </a:ext>
                  </a:extLst>
                </p:cNvPr>
                <p:cNvSpPr/>
                <p:nvPr/>
              </p:nvSpPr>
              <p:spPr>
                <a:xfrm>
                  <a:off x="3510968" y="2992337"/>
                  <a:ext cx="498751" cy="498751"/>
                </a:xfrm>
                <a:custGeom>
                  <a:avLst/>
                  <a:gdLst>
                    <a:gd name="connsiteX0" fmla="*/ 499635 w 498751"/>
                    <a:gd name="connsiteY0" fmla="*/ 277035 h 498751"/>
                    <a:gd name="connsiteX1" fmla="*/ 499635 w 498751"/>
                    <a:gd name="connsiteY1" fmla="*/ 224623 h 498751"/>
                    <a:gd name="connsiteX2" fmla="*/ 445560 w 498751"/>
                    <a:gd name="connsiteY2" fmla="*/ 224623 h 498751"/>
                    <a:gd name="connsiteX3" fmla="*/ 407060 w 498751"/>
                    <a:gd name="connsiteY3" fmla="*/ 131698 h 498751"/>
                    <a:gd name="connsiteX4" fmla="*/ 445298 w 498751"/>
                    <a:gd name="connsiteY4" fmla="*/ 93460 h 498751"/>
                    <a:gd name="connsiteX5" fmla="*/ 408285 w 498751"/>
                    <a:gd name="connsiteY5" fmla="*/ 56448 h 498751"/>
                    <a:gd name="connsiteX6" fmla="*/ 370048 w 498751"/>
                    <a:gd name="connsiteY6" fmla="*/ 94686 h 498751"/>
                    <a:gd name="connsiteX7" fmla="*/ 277123 w 498751"/>
                    <a:gd name="connsiteY7" fmla="*/ 56186 h 498751"/>
                    <a:gd name="connsiteX8" fmla="*/ 277123 w 498751"/>
                    <a:gd name="connsiteY8" fmla="*/ 2111 h 498751"/>
                    <a:gd name="connsiteX9" fmla="*/ 224710 w 498751"/>
                    <a:gd name="connsiteY9" fmla="*/ 2111 h 498751"/>
                    <a:gd name="connsiteX10" fmla="*/ 224710 w 498751"/>
                    <a:gd name="connsiteY10" fmla="*/ 56186 h 498751"/>
                    <a:gd name="connsiteX11" fmla="*/ 131785 w 498751"/>
                    <a:gd name="connsiteY11" fmla="*/ 94686 h 498751"/>
                    <a:gd name="connsiteX12" fmla="*/ 93548 w 498751"/>
                    <a:gd name="connsiteY12" fmla="*/ 56448 h 498751"/>
                    <a:gd name="connsiteX13" fmla="*/ 56536 w 498751"/>
                    <a:gd name="connsiteY13" fmla="*/ 93460 h 498751"/>
                    <a:gd name="connsiteX14" fmla="*/ 94773 w 498751"/>
                    <a:gd name="connsiteY14" fmla="*/ 131698 h 498751"/>
                    <a:gd name="connsiteX15" fmla="*/ 56273 w 498751"/>
                    <a:gd name="connsiteY15" fmla="*/ 224623 h 498751"/>
                    <a:gd name="connsiteX16" fmla="*/ 2111 w 498751"/>
                    <a:gd name="connsiteY16" fmla="*/ 224623 h 498751"/>
                    <a:gd name="connsiteX17" fmla="*/ 2111 w 498751"/>
                    <a:gd name="connsiteY17" fmla="*/ 277035 h 498751"/>
                    <a:gd name="connsiteX18" fmla="*/ 56186 w 498751"/>
                    <a:gd name="connsiteY18" fmla="*/ 277035 h 498751"/>
                    <a:gd name="connsiteX19" fmla="*/ 112010 w 498751"/>
                    <a:gd name="connsiteY19" fmla="*/ 389735 h 498751"/>
                    <a:gd name="connsiteX20" fmla="*/ 224710 w 498751"/>
                    <a:gd name="connsiteY20" fmla="*/ 445560 h 498751"/>
                    <a:gd name="connsiteX21" fmla="*/ 224710 w 498751"/>
                    <a:gd name="connsiteY21" fmla="*/ 499635 h 498751"/>
                    <a:gd name="connsiteX22" fmla="*/ 277123 w 498751"/>
                    <a:gd name="connsiteY22" fmla="*/ 499635 h 498751"/>
                    <a:gd name="connsiteX23" fmla="*/ 277123 w 498751"/>
                    <a:gd name="connsiteY23" fmla="*/ 445560 h 498751"/>
                    <a:gd name="connsiteX24" fmla="*/ 370048 w 498751"/>
                    <a:gd name="connsiteY24" fmla="*/ 407060 h 498751"/>
                    <a:gd name="connsiteX25" fmla="*/ 408285 w 498751"/>
                    <a:gd name="connsiteY25" fmla="*/ 445298 h 498751"/>
                    <a:gd name="connsiteX26" fmla="*/ 445298 w 498751"/>
                    <a:gd name="connsiteY26" fmla="*/ 408285 h 498751"/>
                    <a:gd name="connsiteX27" fmla="*/ 407060 w 498751"/>
                    <a:gd name="connsiteY27" fmla="*/ 370048 h 498751"/>
                    <a:gd name="connsiteX28" fmla="*/ 445560 w 498751"/>
                    <a:gd name="connsiteY28" fmla="*/ 277123 h 498751"/>
                    <a:gd name="connsiteX29" fmla="*/ 499635 w 498751"/>
                    <a:gd name="connsiteY29" fmla="*/ 277123 h 498751"/>
                    <a:gd name="connsiteX30" fmla="*/ 499635 w 498751"/>
                    <a:gd name="connsiteY30" fmla="*/ 277035 h 498751"/>
                    <a:gd name="connsiteX31" fmla="*/ 106848 w 498751"/>
                    <a:gd name="connsiteY31" fmla="*/ 250873 h 498751"/>
                    <a:gd name="connsiteX32" fmla="*/ 139573 w 498751"/>
                    <a:gd name="connsiteY32" fmla="*/ 159523 h 498751"/>
                    <a:gd name="connsiteX33" fmla="*/ 222786 w 498751"/>
                    <a:gd name="connsiteY33" fmla="*/ 109648 h 498751"/>
                    <a:gd name="connsiteX34" fmla="*/ 318773 w 498751"/>
                    <a:gd name="connsiteY34" fmla="*/ 123910 h 498751"/>
                    <a:gd name="connsiteX35" fmla="*/ 383960 w 498751"/>
                    <a:gd name="connsiteY35" fmla="*/ 195835 h 498751"/>
                    <a:gd name="connsiteX36" fmla="*/ 388685 w 498751"/>
                    <a:gd name="connsiteY36" fmla="*/ 292785 h 498751"/>
                    <a:gd name="connsiteX37" fmla="*/ 330848 w 498751"/>
                    <a:gd name="connsiteY37" fmla="*/ 370748 h 498751"/>
                    <a:gd name="connsiteX38" fmla="*/ 236698 w 498751"/>
                    <a:gd name="connsiteY38" fmla="*/ 394285 h 498751"/>
                    <a:gd name="connsiteX39" fmla="*/ 148936 w 498751"/>
                    <a:gd name="connsiteY39" fmla="*/ 352810 h 498751"/>
                    <a:gd name="connsiteX40" fmla="*/ 117610 w 498751"/>
                    <a:gd name="connsiteY40" fmla="*/ 306085 h 498751"/>
                    <a:gd name="connsiteX41" fmla="*/ 106848 w 498751"/>
                    <a:gd name="connsiteY41" fmla="*/ 250873 h 498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98751" h="498751">
                      <a:moveTo>
                        <a:pt x="499635" y="277035"/>
                      </a:moveTo>
                      <a:lnTo>
                        <a:pt x="499635" y="224623"/>
                      </a:lnTo>
                      <a:lnTo>
                        <a:pt x="445560" y="224623"/>
                      </a:lnTo>
                      <a:cubicBezTo>
                        <a:pt x="441098" y="190848"/>
                        <a:pt x="427798" y="158823"/>
                        <a:pt x="407060" y="131698"/>
                      </a:cubicBezTo>
                      <a:lnTo>
                        <a:pt x="445298" y="93460"/>
                      </a:lnTo>
                      <a:lnTo>
                        <a:pt x="408285" y="56448"/>
                      </a:lnTo>
                      <a:lnTo>
                        <a:pt x="370048" y="94686"/>
                      </a:lnTo>
                      <a:cubicBezTo>
                        <a:pt x="342923" y="73948"/>
                        <a:pt x="310898" y="60648"/>
                        <a:pt x="277123" y="56186"/>
                      </a:cubicBezTo>
                      <a:lnTo>
                        <a:pt x="277123" y="2111"/>
                      </a:lnTo>
                      <a:lnTo>
                        <a:pt x="224710" y="2111"/>
                      </a:lnTo>
                      <a:lnTo>
                        <a:pt x="224710" y="56186"/>
                      </a:lnTo>
                      <a:cubicBezTo>
                        <a:pt x="190935" y="60648"/>
                        <a:pt x="158911" y="73948"/>
                        <a:pt x="131785" y="94686"/>
                      </a:cubicBezTo>
                      <a:lnTo>
                        <a:pt x="93548" y="56448"/>
                      </a:lnTo>
                      <a:lnTo>
                        <a:pt x="56536" y="93460"/>
                      </a:lnTo>
                      <a:lnTo>
                        <a:pt x="94773" y="131698"/>
                      </a:lnTo>
                      <a:cubicBezTo>
                        <a:pt x="74036" y="158823"/>
                        <a:pt x="60736" y="190848"/>
                        <a:pt x="56273" y="224623"/>
                      </a:cubicBezTo>
                      <a:lnTo>
                        <a:pt x="2111" y="224623"/>
                      </a:lnTo>
                      <a:lnTo>
                        <a:pt x="2111" y="277035"/>
                      </a:lnTo>
                      <a:lnTo>
                        <a:pt x="56186" y="277035"/>
                      </a:lnTo>
                      <a:cubicBezTo>
                        <a:pt x="61961" y="319648"/>
                        <a:pt x="81561" y="359285"/>
                        <a:pt x="112010" y="389735"/>
                      </a:cubicBezTo>
                      <a:cubicBezTo>
                        <a:pt x="142461" y="420185"/>
                        <a:pt x="182011" y="439785"/>
                        <a:pt x="224710" y="445560"/>
                      </a:cubicBezTo>
                      <a:lnTo>
                        <a:pt x="224710" y="499635"/>
                      </a:lnTo>
                      <a:lnTo>
                        <a:pt x="277123" y="499635"/>
                      </a:lnTo>
                      <a:lnTo>
                        <a:pt x="277123" y="445560"/>
                      </a:lnTo>
                      <a:cubicBezTo>
                        <a:pt x="310898" y="441098"/>
                        <a:pt x="342923" y="427798"/>
                        <a:pt x="370048" y="407060"/>
                      </a:cubicBezTo>
                      <a:lnTo>
                        <a:pt x="408285" y="445298"/>
                      </a:lnTo>
                      <a:lnTo>
                        <a:pt x="445298" y="408285"/>
                      </a:lnTo>
                      <a:lnTo>
                        <a:pt x="407060" y="370048"/>
                      </a:lnTo>
                      <a:cubicBezTo>
                        <a:pt x="427798" y="342923"/>
                        <a:pt x="441098" y="310898"/>
                        <a:pt x="445560" y="277123"/>
                      </a:cubicBezTo>
                      <a:lnTo>
                        <a:pt x="499635" y="277123"/>
                      </a:lnTo>
                      <a:lnTo>
                        <a:pt x="499635" y="277035"/>
                      </a:lnTo>
                      <a:close/>
                      <a:moveTo>
                        <a:pt x="106848" y="250873"/>
                      </a:moveTo>
                      <a:cubicBezTo>
                        <a:pt x="106848" y="217535"/>
                        <a:pt x="118398" y="185248"/>
                        <a:pt x="139573" y="159523"/>
                      </a:cubicBezTo>
                      <a:cubicBezTo>
                        <a:pt x="160748" y="133798"/>
                        <a:pt x="190148" y="116123"/>
                        <a:pt x="222786" y="109648"/>
                      </a:cubicBezTo>
                      <a:cubicBezTo>
                        <a:pt x="255423" y="103173"/>
                        <a:pt x="289373" y="108161"/>
                        <a:pt x="318773" y="123910"/>
                      </a:cubicBezTo>
                      <a:cubicBezTo>
                        <a:pt x="348173" y="139573"/>
                        <a:pt x="371185" y="165035"/>
                        <a:pt x="383960" y="195835"/>
                      </a:cubicBezTo>
                      <a:cubicBezTo>
                        <a:pt x="396735" y="226635"/>
                        <a:pt x="398397" y="260848"/>
                        <a:pt x="388685" y="292785"/>
                      </a:cubicBezTo>
                      <a:cubicBezTo>
                        <a:pt x="378973" y="324635"/>
                        <a:pt x="358585" y="352197"/>
                        <a:pt x="330848" y="370748"/>
                      </a:cubicBezTo>
                      <a:cubicBezTo>
                        <a:pt x="303110" y="389298"/>
                        <a:pt x="269860" y="397610"/>
                        <a:pt x="236698" y="394285"/>
                      </a:cubicBezTo>
                      <a:cubicBezTo>
                        <a:pt x="203535" y="391048"/>
                        <a:pt x="172560" y="376347"/>
                        <a:pt x="148936" y="352810"/>
                      </a:cubicBezTo>
                      <a:cubicBezTo>
                        <a:pt x="135548" y="339510"/>
                        <a:pt x="124873" y="323585"/>
                        <a:pt x="117610" y="306085"/>
                      </a:cubicBezTo>
                      <a:cubicBezTo>
                        <a:pt x="110523" y="288498"/>
                        <a:pt x="106761" y="269773"/>
                        <a:pt x="106848" y="25087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63" name="Freeform: Shape 62">
                  <a:extLst>
                    <a:ext uri="{FF2B5EF4-FFF2-40B4-BE49-F238E27FC236}">
                      <a16:creationId xmlns:a16="http://schemas.microsoft.com/office/drawing/2014/main" id="{FA34585D-5ADA-4DC5-2F09-B118C87CB6B9}"/>
                    </a:ext>
                  </a:extLst>
                </p:cNvPr>
                <p:cNvSpPr/>
                <p:nvPr/>
              </p:nvSpPr>
              <p:spPr>
                <a:xfrm>
                  <a:off x="3525494" y="3127375"/>
                  <a:ext cx="348087" cy="348087"/>
                </a:xfrm>
                <a:custGeom>
                  <a:avLst/>
                  <a:gdLst>
                    <a:gd name="connsiteX0" fmla="*/ 286398 w 348086"/>
                    <a:gd name="connsiteY0" fmla="*/ 124333 h 348086"/>
                    <a:gd name="connsiteX1" fmla="*/ 226548 w 348086"/>
                    <a:gd name="connsiteY1" fmla="*/ 64483 h 348086"/>
                    <a:gd name="connsiteX2" fmla="*/ 280448 w 348086"/>
                    <a:gd name="connsiteY2" fmla="*/ 10583 h 348086"/>
                    <a:gd name="connsiteX3" fmla="*/ 216923 w 348086"/>
                    <a:gd name="connsiteY3" fmla="*/ 4108 h 348086"/>
                    <a:gd name="connsiteX4" fmla="*/ 160310 w 348086"/>
                    <a:gd name="connsiteY4" fmla="*/ 33683 h 348086"/>
                    <a:gd name="connsiteX5" fmla="*/ 129335 w 348086"/>
                    <a:gd name="connsiteY5" fmla="*/ 89508 h 348086"/>
                    <a:gd name="connsiteX6" fmla="*/ 134235 w 348086"/>
                    <a:gd name="connsiteY6" fmla="*/ 153121 h 348086"/>
                    <a:gd name="connsiteX7" fmla="*/ 15236 w 348086"/>
                    <a:gd name="connsiteY7" fmla="*/ 272121 h 348086"/>
                    <a:gd name="connsiteX8" fmla="*/ 2111 w 348086"/>
                    <a:gd name="connsiteY8" fmla="*/ 303883 h 348086"/>
                    <a:gd name="connsiteX9" fmla="*/ 15236 w 348086"/>
                    <a:gd name="connsiteY9" fmla="*/ 335645 h 348086"/>
                    <a:gd name="connsiteX10" fmla="*/ 46998 w 348086"/>
                    <a:gd name="connsiteY10" fmla="*/ 348770 h 348086"/>
                    <a:gd name="connsiteX11" fmla="*/ 78760 w 348086"/>
                    <a:gd name="connsiteY11" fmla="*/ 335645 h 348086"/>
                    <a:gd name="connsiteX12" fmla="*/ 197760 w 348086"/>
                    <a:gd name="connsiteY12" fmla="*/ 216645 h 348086"/>
                    <a:gd name="connsiteX13" fmla="*/ 261373 w 348086"/>
                    <a:gd name="connsiteY13" fmla="*/ 221546 h 348086"/>
                    <a:gd name="connsiteX14" fmla="*/ 317198 w 348086"/>
                    <a:gd name="connsiteY14" fmla="*/ 190571 h 348086"/>
                    <a:gd name="connsiteX15" fmla="*/ 346773 w 348086"/>
                    <a:gd name="connsiteY15" fmla="*/ 134045 h 348086"/>
                    <a:gd name="connsiteX16" fmla="*/ 340298 w 348086"/>
                    <a:gd name="connsiteY16" fmla="*/ 70521 h 348086"/>
                    <a:gd name="connsiteX17" fmla="*/ 286398 w 348086"/>
                    <a:gd name="connsiteY17" fmla="*/ 124333 h 348086"/>
                    <a:gd name="connsiteX18" fmla="*/ 63011 w 348086"/>
                    <a:gd name="connsiteY18" fmla="*/ 319633 h 348086"/>
                    <a:gd name="connsiteX19" fmla="*/ 51548 w 348086"/>
                    <a:gd name="connsiteY19" fmla="*/ 325758 h 348086"/>
                    <a:gd name="connsiteX20" fmla="*/ 38598 w 348086"/>
                    <a:gd name="connsiteY20" fmla="*/ 324445 h 348086"/>
                    <a:gd name="connsiteX21" fmla="*/ 28536 w 348086"/>
                    <a:gd name="connsiteY21" fmla="*/ 316220 h 348086"/>
                    <a:gd name="connsiteX22" fmla="*/ 24773 w 348086"/>
                    <a:gd name="connsiteY22" fmla="*/ 303795 h 348086"/>
                    <a:gd name="connsiteX23" fmla="*/ 28536 w 348086"/>
                    <a:gd name="connsiteY23" fmla="*/ 291371 h 348086"/>
                    <a:gd name="connsiteX24" fmla="*/ 38598 w 348086"/>
                    <a:gd name="connsiteY24" fmla="*/ 283146 h 348086"/>
                    <a:gd name="connsiteX25" fmla="*/ 51548 w 348086"/>
                    <a:gd name="connsiteY25" fmla="*/ 281833 h 348086"/>
                    <a:gd name="connsiteX26" fmla="*/ 63011 w 348086"/>
                    <a:gd name="connsiteY26" fmla="*/ 287958 h 348086"/>
                    <a:gd name="connsiteX27" fmla="*/ 69573 w 348086"/>
                    <a:gd name="connsiteY27" fmla="*/ 303795 h 348086"/>
                    <a:gd name="connsiteX28" fmla="*/ 63011 w 348086"/>
                    <a:gd name="connsiteY28" fmla="*/ 319633 h 348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48086" h="348086">
                      <a:moveTo>
                        <a:pt x="286398" y="124333"/>
                      </a:moveTo>
                      <a:lnTo>
                        <a:pt x="226548" y="64483"/>
                      </a:lnTo>
                      <a:lnTo>
                        <a:pt x="280448" y="10583"/>
                      </a:lnTo>
                      <a:cubicBezTo>
                        <a:pt x="260410" y="2271"/>
                        <a:pt x="238273" y="-4"/>
                        <a:pt x="216923" y="4108"/>
                      </a:cubicBezTo>
                      <a:cubicBezTo>
                        <a:pt x="195573" y="8221"/>
                        <a:pt x="175885" y="18458"/>
                        <a:pt x="160310" y="33683"/>
                      </a:cubicBezTo>
                      <a:cubicBezTo>
                        <a:pt x="144735" y="48821"/>
                        <a:pt x="133973" y="68246"/>
                        <a:pt x="129335" y="89508"/>
                      </a:cubicBezTo>
                      <a:cubicBezTo>
                        <a:pt x="124698" y="110771"/>
                        <a:pt x="126448" y="132908"/>
                        <a:pt x="134235" y="153121"/>
                      </a:cubicBezTo>
                      <a:lnTo>
                        <a:pt x="15236" y="272121"/>
                      </a:lnTo>
                      <a:cubicBezTo>
                        <a:pt x="6836" y="280520"/>
                        <a:pt x="2111" y="291983"/>
                        <a:pt x="2111" y="303883"/>
                      </a:cubicBezTo>
                      <a:cubicBezTo>
                        <a:pt x="2111" y="315783"/>
                        <a:pt x="6836" y="327158"/>
                        <a:pt x="15236" y="335645"/>
                      </a:cubicBezTo>
                      <a:cubicBezTo>
                        <a:pt x="23636" y="344046"/>
                        <a:pt x="35098" y="348770"/>
                        <a:pt x="46998" y="348770"/>
                      </a:cubicBezTo>
                      <a:cubicBezTo>
                        <a:pt x="58898" y="348770"/>
                        <a:pt x="70273" y="344046"/>
                        <a:pt x="78760" y="335645"/>
                      </a:cubicBezTo>
                      <a:lnTo>
                        <a:pt x="197760" y="216645"/>
                      </a:lnTo>
                      <a:cubicBezTo>
                        <a:pt x="218060" y="224520"/>
                        <a:pt x="240110" y="226183"/>
                        <a:pt x="261373" y="221546"/>
                      </a:cubicBezTo>
                      <a:cubicBezTo>
                        <a:pt x="282635" y="216908"/>
                        <a:pt x="301973" y="206146"/>
                        <a:pt x="317198" y="190571"/>
                      </a:cubicBezTo>
                      <a:cubicBezTo>
                        <a:pt x="332335" y="174996"/>
                        <a:pt x="342660" y="155308"/>
                        <a:pt x="346773" y="134045"/>
                      </a:cubicBezTo>
                      <a:cubicBezTo>
                        <a:pt x="350885" y="112696"/>
                        <a:pt x="348610" y="90646"/>
                        <a:pt x="340298" y="70521"/>
                      </a:cubicBezTo>
                      <a:lnTo>
                        <a:pt x="286398" y="124333"/>
                      </a:lnTo>
                      <a:close/>
                      <a:moveTo>
                        <a:pt x="63011" y="319633"/>
                      </a:moveTo>
                      <a:cubicBezTo>
                        <a:pt x="59861" y="322783"/>
                        <a:pt x="55835" y="324883"/>
                        <a:pt x="51548" y="325758"/>
                      </a:cubicBezTo>
                      <a:cubicBezTo>
                        <a:pt x="47173" y="326633"/>
                        <a:pt x="42710" y="326196"/>
                        <a:pt x="38598" y="324445"/>
                      </a:cubicBezTo>
                      <a:cubicBezTo>
                        <a:pt x="34486" y="322783"/>
                        <a:pt x="30986" y="319896"/>
                        <a:pt x="28536" y="316220"/>
                      </a:cubicBezTo>
                      <a:cubicBezTo>
                        <a:pt x="26086" y="312545"/>
                        <a:pt x="24773" y="308170"/>
                        <a:pt x="24773" y="303795"/>
                      </a:cubicBezTo>
                      <a:cubicBezTo>
                        <a:pt x="24773" y="299333"/>
                        <a:pt x="26086" y="295045"/>
                        <a:pt x="28536" y="291371"/>
                      </a:cubicBezTo>
                      <a:cubicBezTo>
                        <a:pt x="30986" y="287696"/>
                        <a:pt x="34486" y="284808"/>
                        <a:pt x="38598" y="283146"/>
                      </a:cubicBezTo>
                      <a:cubicBezTo>
                        <a:pt x="42710" y="281483"/>
                        <a:pt x="47173" y="281046"/>
                        <a:pt x="51548" y="281833"/>
                      </a:cubicBezTo>
                      <a:cubicBezTo>
                        <a:pt x="55923" y="282708"/>
                        <a:pt x="59861" y="284808"/>
                        <a:pt x="63011" y="287958"/>
                      </a:cubicBezTo>
                      <a:cubicBezTo>
                        <a:pt x="67211" y="292158"/>
                        <a:pt x="69573" y="297846"/>
                        <a:pt x="69573" y="303795"/>
                      </a:cubicBezTo>
                      <a:cubicBezTo>
                        <a:pt x="69573" y="309746"/>
                        <a:pt x="67211" y="315433"/>
                        <a:pt x="63011" y="31963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sp>
            <p:nvSpPr>
              <p:cNvPr id="61" name="Oval 60">
                <a:extLst>
                  <a:ext uri="{FF2B5EF4-FFF2-40B4-BE49-F238E27FC236}">
                    <a16:creationId xmlns:a16="http://schemas.microsoft.com/office/drawing/2014/main" id="{A11523E5-C046-76D8-D625-212D58000244}"/>
                  </a:ext>
                </a:extLst>
              </p:cNvPr>
              <p:cNvSpPr>
                <a:spLocks/>
              </p:cNvSpPr>
              <p:nvPr/>
            </p:nvSpPr>
            <p:spPr bwMode="auto">
              <a:xfrm>
                <a:off x="10778606"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20" name="Group 19">
              <a:extLst>
                <a:ext uri="{FF2B5EF4-FFF2-40B4-BE49-F238E27FC236}">
                  <a16:creationId xmlns:a16="http://schemas.microsoft.com/office/drawing/2014/main" id="{A89324F8-FAF4-CB0C-52ED-564A7482C66F}"/>
                </a:ext>
              </a:extLst>
            </p:cNvPr>
            <p:cNvGrpSpPr/>
            <p:nvPr/>
          </p:nvGrpSpPr>
          <p:grpSpPr>
            <a:xfrm>
              <a:off x="10126451" y="192765"/>
              <a:ext cx="548640" cy="548640"/>
              <a:chOff x="10126451" y="192765"/>
              <a:chExt cx="548640" cy="548640"/>
            </a:xfrm>
          </p:grpSpPr>
          <p:grpSp>
            <p:nvGrpSpPr>
              <p:cNvPr id="32" name="Group 31">
                <a:extLst>
                  <a:ext uri="{FF2B5EF4-FFF2-40B4-BE49-F238E27FC236}">
                    <a16:creationId xmlns:a16="http://schemas.microsoft.com/office/drawing/2014/main" id="{1793857F-B91B-EA28-DE96-9693338F4722}"/>
                  </a:ext>
                </a:extLst>
              </p:cNvPr>
              <p:cNvGrpSpPr/>
              <p:nvPr/>
            </p:nvGrpSpPr>
            <p:grpSpPr>
              <a:xfrm>
                <a:off x="10126451" y="192765"/>
                <a:ext cx="548640" cy="548640"/>
                <a:chOff x="10753659" y="196490"/>
                <a:chExt cx="548640" cy="548640"/>
              </a:xfrm>
            </p:grpSpPr>
            <p:sp>
              <p:nvSpPr>
                <p:cNvPr id="57" name="Oval 56">
                  <a:extLst>
                    <a:ext uri="{FF2B5EF4-FFF2-40B4-BE49-F238E27FC236}">
                      <a16:creationId xmlns:a16="http://schemas.microsoft.com/office/drawing/2014/main" id="{E1C100CA-23F1-0B3D-2484-ABD0A4E758BE}"/>
                    </a:ext>
                  </a:extLst>
                </p:cNvPr>
                <p:cNvSpPr/>
                <p:nvPr/>
              </p:nvSpPr>
              <p:spPr bwMode="auto">
                <a:xfrm>
                  <a:off x="10753659"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8" name="Oval 57">
                  <a:extLst>
                    <a:ext uri="{FF2B5EF4-FFF2-40B4-BE49-F238E27FC236}">
                      <a16:creationId xmlns:a16="http://schemas.microsoft.com/office/drawing/2014/main" id="{F3EE1BCB-3C6A-9051-87F8-2FE5AE19778B}"/>
                    </a:ext>
                  </a:extLst>
                </p:cNvPr>
                <p:cNvSpPr>
                  <a:spLocks/>
                </p:cNvSpPr>
                <p:nvPr/>
              </p:nvSpPr>
              <p:spPr bwMode="auto">
                <a:xfrm>
                  <a:off x="10779997"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33" name="Group 32">
                <a:extLst>
                  <a:ext uri="{FF2B5EF4-FFF2-40B4-BE49-F238E27FC236}">
                    <a16:creationId xmlns:a16="http://schemas.microsoft.com/office/drawing/2014/main" id="{8C9F7CD8-6755-213C-7467-532CC9743222}"/>
                  </a:ext>
                </a:extLst>
              </p:cNvPr>
              <p:cNvGrpSpPr/>
              <p:nvPr/>
            </p:nvGrpSpPr>
            <p:grpSpPr>
              <a:xfrm>
                <a:off x="10243674" y="318889"/>
                <a:ext cx="314209" cy="303840"/>
                <a:chOff x="3504064" y="4676412"/>
                <a:chExt cx="509193" cy="492392"/>
              </a:xfrm>
            </p:grpSpPr>
            <p:sp>
              <p:nvSpPr>
                <p:cNvPr id="40" name="Oval 39">
                  <a:extLst>
                    <a:ext uri="{FF2B5EF4-FFF2-40B4-BE49-F238E27FC236}">
                      <a16:creationId xmlns:a16="http://schemas.microsoft.com/office/drawing/2014/main" id="{E2ECD1E6-E138-E6BA-E24E-CB084CC56BD8}"/>
                    </a:ext>
                  </a:extLst>
                </p:cNvPr>
                <p:cNvSpPr/>
                <p:nvPr/>
              </p:nvSpPr>
              <p:spPr bwMode="auto">
                <a:xfrm>
                  <a:off x="3504064"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5" name="Oval 54">
                  <a:extLst>
                    <a:ext uri="{FF2B5EF4-FFF2-40B4-BE49-F238E27FC236}">
                      <a16:creationId xmlns:a16="http://schemas.microsoft.com/office/drawing/2014/main" id="{9D5D0CC5-F900-B559-6CF5-FDA392787657}"/>
                    </a:ext>
                  </a:extLst>
                </p:cNvPr>
                <p:cNvSpPr/>
                <p:nvPr/>
              </p:nvSpPr>
              <p:spPr bwMode="auto">
                <a:xfrm>
                  <a:off x="3671817"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6" name="Oval 55">
                  <a:extLst>
                    <a:ext uri="{FF2B5EF4-FFF2-40B4-BE49-F238E27FC236}">
                      <a16:creationId xmlns:a16="http://schemas.microsoft.com/office/drawing/2014/main" id="{C5AF7BD3-400C-CA54-9436-51FAABD54C9A}"/>
                    </a:ext>
                  </a:extLst>
                </p:cNvPr>
                <p:cNvSpPr/>
                <p:nvPr/>
              </p:nvSpPr>
              <p:spPr bwMode="auto">
                <a:xfrm>
                  <a:off x="3587940" y="4676412"/>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grpSp>
          <p:nvGrpSpPr>
            <p:cNvPr id="21" name="Group 20">
              <a:extLst>
                <a:ext uri="{FF2B5EF4-FFF2-40B4-BE49-F238E27FC236}">
                  <a16:creationId xmlns:a16="http://schemas.microsoft.com/office/drawing/2014/main" id="{F43ACD3C-02A3-1E1B-DBC8-82D342172652}"/>
                </a:ext>
              </a:extLst>
            </p:cNvPr>
            <p:cNvGrpSpPr/>
            <p:nvPr/>
          </p:nvGrpSpPr>
          <p:grpSpPr>
            <a:xfrm>
              <a:off x="11380867" y="196490"/>
              <a:ext cx="548640" cy="548640"/>
              <a:chOff x="11380867" y="196490"/>
              <a:chExt cx="548640" cy="548640"/>
            </a:xfrm>
          </p:grpSpPr>
          <p:sp>
            <p:nvSpPr>
              <p:cNvPr id="22" name="Oval 21">
                <a:extLst>
                  <a:ext uri="{FF2B5EF4-FFF2-40B4-BE49-F238E27FC236}">
                    <a16:creationId xmlns:a16="http://schemas.microsoft.com/office/drawing/2014/main" id="{E13423A8-F51B-F5A2-B87A-50A867CE68B5}"/>
                  </a:ext>
                </a:extLst>
              </p:cNvPr>
              <p:cNvSpPr/>
              <p:nvPr/>
            </p:nvSpPr>
            <p:spPr bwMode="auto">
              <a:xfrm>
                <a:off x="11380867" y="196490"/>
                <a:ext cx="548640" cy="548640"/>
              </a:xfrm>
              <a:prstGeom prst="ellipse">
                <a:avLst/>
              </a:prstGeom>
              <a:solidFill>
                <a:srgbClr val="1A2B46"/>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3" name="Oval 22">
                <a:extLst>
                  <a:ext uri="{FF2B5EF4-FFF2-40B4-BE49-F238E27FC236}">
                    <a16:creationId xmlns:a16="http://schemas.microsoft.com/office/drawing/2014/main" id="{2524BC40-E491-3DF1-B44F-651155D35A68}"/>
                  </a:ext>
                </a:extLst>
              </p:cNvPr>
              <p:cNvSpPr>
                <a:spLocks/>
              </p:cNvSpPr>
              <p:nvPr/>
            </p:nvSpPr>
            <p:spPr bwMode="auto">
              <a:xfrm>
                <a:off x="11407205"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24" name="Group 23">
                <a:extLst>
                  <a:ext uri="{FF2B5EF4-FFF2-40B4-BE49-F238E27FC236}">
                    <a16:creationId xmlns:a16="http://schemas.microsoft.com/office/drawing/2014/main" id="{C9BBE207-A4EF-CFE2-2932-FB000DE5F57E}"/>
                  </a:ext>
                </a:extLst>
              </p:cNvPr>
              <p:cNvGrpSpPr/>
              <p:nvPr/>
            </p:nvGrpSpPr>
            <p:grpSpPr>
              <a:xfrm>
                <a:off x="11478807" y="317384"/>
                <a:ext cx="352760" cy="306952"/>
                <a:chOff x="10772223" y="7410567"/>
                <a:chExt cx="346174" cy="301219"/>
              </a:xfrm>
            </p:grpSpPr>
            <p:sp>
              <p:nvSpPr>
                <p:cNvPr id="25" name="Freeform: Shape 24">
                  <a:extLst>
                    <a:ext uri="{FF2B5EF4-FFF2-40B4-BE49-F238E27FC236}">
                      <a16:creationId xmlns:a16="http://schemas.microsoft.com/office/drawing/2014/main" id="{9566B753-E6EE-36E5-7945-917D831CBDE3}"/>
                    </a:ext>
                  </a:extLst>
                </p:cNvPr>
                <p:cNvSpPr/>
                <p:nvPr/>
              </p:nvSpPr>
              <p:spPr>
                <a:xfrm>
                  <a:off x="10840877" y="7661402"/>
                  <a:ext cx="236157" cy="47232"/>
                </a:xfrm>
                <a:custGeom>
                  <a:avLst/>
                  <a:gdLst>
                    <a:gd name="connsiteX0" fmla="*/ 121141 w 259772"/>
                    <a:gd name="connsiteY0" fmla="*/ 17145 h 51954"/>
                    <a:gd name="connsiteX1" fmla="*/ 267306 w 259772"/>
                    <a:gd name="connsiteY1" fmla="*/ 0 h 51954"/>
                    <a:gd name="connsiteX2" fmla="*/ 267306 w 259772"/>
                    <a:gd name="connsiteY2" fmla="*/ 25718 h 51954"/>
                    <a:gd name="connsiteX3" fmla="*/ 238039 w 259772"/>
                    <a:gd name="connsiteY3" fmla="*/ 60008 h 51954"/>
                    <a:gd name="connsiteX4" fmla="*/ 33424 w 259772"/>
                    <a:gd name="connsiteY4" fmla="*/ 60008 h 51954"/>
                    <a:gd name="connsiteX5" fmla="*/ 0 w 259772"/>
                    <a:gd name="connsiteY5" fmla="*/ 25718 h 51954"/>
                    <a:gd name="connsiteX6" fmla="*/ 0 w 259772"/>
                    <a:gd name="connsiteY6" fmla="*/ 4330 h 51954"/>
                    <a:gd name="connsiteX7" fmla="*/ 121141 w 259772"/>
                    <a:gd name="connsiteY7" fmla="*/ 17145 h 51954"/>
                    <a:gd name="connsiteX8" fmla="*/ 121141 w 259772"/>
                    <a:gd name="connsiteY8" fmla="*/ 17145 h 51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772" h="51954">
                      <a:moveTo>
                        <a:pt x="121141" y="17145"/>
                      </a:moveTo>
                      <a:cubicBezTo>
                        <a:pt x="175433" y="17145"/>
                        <a:pt x="225569" y="12902"/>
                        <a:pt x="267306" y="0"/>
                      </a:cubicBezTo>
                      <a:cubicBezTo>
                        <a:pt x="267306" y="8573"/>
                        <a:pt x="267306" y="17145"/>
                        <a:pt x="267306" y="25718"/>
                      </a:cubicBezTo>
                      <a:cubicBezTo>
                        <a:pt x="267306" y="42863"/>
                        <a:pt x="254751" y="60008"/>
                        <a:pt x="238039" y="60008"/>
                      </a:cubicBezTo>
                      <a:cubicBezTo>
                        <a:pt x="238039" y="60008"/>
                        <a:pt x="238039" y="60008"/>
                        <a:pt x="33424" y="60008"/>
                      </a:cubicBezTo>
                      <a:cubicBezTo>
                        <a:pt x="16712" y="60008"/>
                        <a:pt x="0" y="42863"/>
                        <a:pt x="0" y="25718"/>
                      </a:cubicBezTo>
                      <a:cubicBezTo>
                        <a:pt x="0" y="25718"/>
                        <a:pt x="0" y="25718"/>
                        <a:pt x="0" y="4330"/>
                      </a:cubicBezTo>
                      <a:cubicBezTo>
                        <a:pt x="37580" y="12815"/>
                        <a:pt x="79404" y="17145"/>
                        <a:pt x="121141" y="17145"/>
                      </a:cubicBezTo>
                      <a:lnTo>
                        <a:pt x="121141" y="17145"/>
                      </a:lnTo>
                      <a:close/>
                    </a:path>
                  </a:pathLst>
                </a:custGeom>
                <a:solidFill>
                  <a:schemeClr val="accent1"/>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nvGrpSpPr>
                <p:cNvPr id="26" name="Group 25">
                  <a:extLst>
                    <a:ext uri="{FF2B5EF4-FFF2-40B4-BE49-F238E27FC236}">
                      <a16:creationId xmlns:a16="http://schemas.microsoft.com/office/drawing/2014/main" id="{75AA2D74-4E8A-14F9-4B81-E82E657E5538}"/>
                    </a:ext>
                  </a:extLst>
                </p:cNvPr>
                <p:cNvGrpSpPr/>
                <p:nvPr/>
              </p:nvGrpSpPr>
              <p:grpSpPr>
                <a:xfrm>
                  <a:off x="10772223" y="7410567"/>
                  <a:ext cx="346174" cy="301219"/>
                  <a:chOff x="10772223" y="1543167"/>
                  <a:chExt cx="346174" cy="301219"/>
                </a:xfrm>
              </p:grpSpPr>
              <p:sp>
                <p:nvSpPr>
                  <p:cNvPr id="27" name="Freeform: Shape 26">
                    <a:extLst>
                      <a:ext uri="{FF2B5EF4-FFF2-40B4-BE49-F238E27FC236}">
                        <a16:creationId xmlns:a16="http://schemas.microsoft.com/office/drawing/2014/main" id="{6B29E0BC-09CB-6CC5-8B2B-7AD0930989FD}"/>
                      </a:ext>
                    </a:extLst>
                  </p:cNvPr>
                  <p:cNvSpPr/>
                  <p:nvPr/>
                </p:nvSpPr>
                <p:spPr>
                  <a:xfrm rot="13310739">
                    <a:off x="10772223" y="1543167"/>
                    <a:ext cx="346174" cy="301219"/>
                  </a:xfrm>
                  <a:custGeom>
                    <a:avLst/>
                    <a:gdLst>
                      <a:gd name="connsiteX0" fmla="*/ 335526 w 346174"/>
                      <a:gd name="connsiteY0" fmla="*/ 221002 h 301219"/>
                      <a:gd name="connsiteX1" fmla="*/ 256301 w 346174"/>
                      <a:gd name="connsiteY1" fmla="*/ 291951 h 301219"/>
                      <a:gd name="connsiteX2" fmla="*/ 228767 w 346174"/>
                      <a:gd name="connsiteY2" fmla="*/ 300970 h 301219"/>
                      <a:gd name="connsiteX3" fmla="*/ 144718 w 346174"/>
                      <a:gd name="connsiteY3" fmla="*/ 292547 h 301219"/>
                      <a:gd name="connsiteX4" fmla="*/ 112227 w 346174"/>
                      <a:gd name="connsiteY4" fmla="*/ 290366 h 301219"/>
                      <a:gd name="connsiteX5" fmla="*/ 104454 w 346174"/>
                      <a:gd name="connsiteY5" fmla="*/ 281687 h 301219"/>
                      <a:gd name="connsiteX6" fmla="*/ 0 w 346174"/>
                      <a:gd name="connsiteY6" fmla="*/ 165049 h 301219"/>
                      <a:gd name="connsiteX7" fmla="*/ 88589 w 346174"/>
                      <a:gd name="connsiteY7" fmla="*/ 64791 h 301219"/>
                      <a:gd name="connsiteX8" fmla="*/ 178400 w 346174"/>
                      <a:gd name="connsiteY8" fmla="*/ 0 h 301219"/>
                      <a:gd name="connsiteX9" fmla="*/ 295826 w 346174"/>
                      <a:gd name="connsiteY9" fmla="*/ 131123 h 301219"/>
                      <a:gd name="connsiteX10" fmla="*/ 311423 w 346174"/>
                      <a:gd name="connsiteY10" fmla="*/ 148540 h 301219"/>
                      <a:gd name="connsiteX11" fmla="*/ 329593 w 346174"/>
                      <a:gd name="connsiteY11" fmla="*/ 168830 h 301219"/>
                      <a:gd name="connsiteX12" fmla="*/ 339992 w 346174"/>
                      <a:gd name="connsiteY12" fmla="*/ 180441 h 301219"/>
                      <a:gd name="connsiteX13" fmla="*/ 335526 w 346174"/>
                      <a:gd name="connsiteY13" fmla="*/ 221002 h 30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174" h="301219">
                        <a:moveTo>
                          <a:pt x="335526" y="221002"/>
                        </a:moveTo>
                        <a:cubicBezTo>
                          <a:pt x="335526" y="221002"/>
                          <a:pt x="335526" y="221002"/>
                          <a:pt x="256301" y="291951"/>
                        </a:cubicBezTo>
                        <a:cubicBezTo>
                          <a:pt x="247857" y="299513"/>
                          <a:pt x="244983" y="302087"/>
                          <a:pt x="228767" y="300970"/>
                        </a:cubicBezTo>
                        <a:cubicBezTo>
                          <a:pt x="228767" y="300970"/>
                          <a:pt x="228767" y="300970"/>
                          <a:pt x="144718" y="292547"/>
                        </a:cubicBezTo>
                        <a:lnTo>
                          <a:pt x="112227" y="290366"/>
                        </a:lnTo>
                        <a:cubicBezTo>
                          <a:pt x="107027" y="284560"/>
                          <a:pt x="104454" y="281687"/>
                          <a:pt x="104454" y="281687"/>
                        </a:cubicBezTo>
                        <a:cubicBezTo>
                          <a:pt x="104454" y="281687"/>
                          <a:pt x="49365" y="220171"/>
                          <a:pt x="0" y="165049"/>
                        </a:cubicBezTo>
                        <a:cubicBezTo>
                          <a:pt x="17436" y="138972"/>
                          <a:pt x="46132" y="102813"/>
                          <a:pt x="88589" y="64791"/>
                        </a:cubicBezTo>
                        <a:cubicBezTo>
                          <a:pt x="119728" y="36905"/>
                          <a:pt x="150565" y="14466"/>
                          <a:pt x="178400" y="0"/>
                        </a:cubicBezTo>
                        <a:cubicBezTo>
                          <a:pt x="186172" y="8679"/>
                          <a:pt x="269831" y="102096"/>
                          <a:pt x="295826" y="131123"/>
                        </a:cubicBezTo>
                        <a:lnTo>
                          <a:pt x="311423" y="148540"/>
                        </a:lnTo>
                        <a:cubicBezTo>
                          <a:pt x="321821" y="160151"/>
                          <a:pt x="329593" y="168830"/>
                          <a:pt x="329593" y="168830"/>
                        </a:cubicBezTo>
                        <a:cubicBezTo>
                          <a:pt x="332219" y="171762"/>
                          <a:pt x="337419" y="177568"/>
                          <a:pt x="339992" y="180441"/>
                        </a:cubicBezTo>
                        <a:cubicBezTo>
                          <a:pt x="350390" y="192052"/>
                          <a:pt x="346844" y="210867"/>
                          <a:pt x="335526" y="221002"/>
                        </a:cubicBezTo>
                        <a:close/>
                      </a:path>
                    </a:pathLst>
                  </a:custGeom>
                  <a:solidFill>
                    <a:schemeClr val="accent1"/>
                  </a:solidFill>
                  <a:ln w="8603"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28" name="Freeform: Shape 27">
                    <a:extLst>
                      <a:ext uri="{FF2B5EF4-FFF2-40B4-BE49-F238E27FC236}">
                        <a16:creationId xmlns:a16="http://schemas.microsoft.com/office/drawing/2014/main" id="{22825465-8DE7-161E-A869-64EBB8D25092}"/>
                      </a:ext>
                    </a:extLst>
                  </p:cNvPr>
                  <p:cNvSpPr/>
                  <p:nvPr/>
                </p:nvSpPr>
                <p:spPr>
                  <a:xfrm>
                    <a:off x="10892650" y="1664886"/>
                    <a:ext cx="141110" cy="110872"/>
                  </a:xfrm>
                  <a:custGeom>
                    <a:avLst/>
                    <a:gdLst>
                      <a:gd name="connsiteX0" fmla="*/ 106680 w 121227"/>
                      <a:gd name="connsiteY0" fmla="*/ 0 h 95250"/>
                      <a:gd name="connsiteX1" fmla="*/ 48751 w 121227"/>
                      <a:gd name="connsiteY1" fmla="*/ 64683 h 95250"/>
                      <a:gd name="connsiteX2" fmla="*/ 18271 w 121227"/>
                      <a:gd name="connsiteY2" fmla="*/ 35416 h 95250"/>
                      <a:gd name="connsiteX3" fmla="*/ 0 w 121227"/>
                      <a:gd name="connsiteY3" fmla="*/ 55418 h 95250"/>
                      <a:gd name="connsiteX4" fmla="*/ 48837 w 121227"/>
                      <a:gd name="connsiteY4" fmla="*/ 100013 h 95250"/>
                      <a:gd name="connsiteX5" fmla="*/ 125124 w 121227"/>
                      <a:gd name="connsiteY5" fmla="*/ 20003 h 95250"/>
                      <a:gd name="connsiteX6" fmla="*/ 106680 w 121227"/>
                      <a:gd name="connsiteY6" fmla="*/ 0 h 95250"/>
                      <a:gd name="connsiteX7" fmla="*/ 106680 w 121227"/>
                      <a:gd name="connsiteY7" fmla="*/ 0 h 95250"/>
                      <a:gd name="connsiteX8" fmla="*/ 106680 w 121227"/>
                      <a:gd name="connsiteY8"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227" h="95250">
                        <a:moveTo>
                          <a:pt x="106680" y="0"/>
                        </a:moveTo>
                        <a:cubicBezTo>
                          <a:pt x="106680" y="0"/>
                          <a:pt x="74641" y="35416"/>
                          <a:pt x="48751" y="64683"/>
                        </a:cubicBezTo>
                        <a:cubicBezTo>
                          <a:pt x="36541" y="53946"/>
                          <a:pt x="18271" y="35416"/>
                          <a:pt x="18271" y="35416"/>
                        </a:cubicBezTo>
                        <a:cubicBezTo>
                          <a:pt x="0" y="55418"/>
                          <a:pt x="0" y="55418"/>
                          <a:pt x="0" y="55418"/>
                        </a:cubicBezTo>
                        <a:cubicBezTo>
                          <a:pt x="48837" y="100013"/>
                          <a:pt x="48837" y="100013"/>
                          <a:pt x="48837" y="100013"/>
                        </a:cubicBezTo>
                        <a:cubicBezTo>
                          <a:pt x="125124" y="20003"/>
                          <a:pt x="125124" y="20003"/>
                          <a:pt x="125124" y="20003"/>
                        </a:cubicBezTo>
                        <a:cubicBezTo>
                          <a:pt x="106680" y="0"/>
                          <a:pt x="106680" y="0"/>
                          <a:pt x="106680" y="0"/>
                        </a:cubicBezTo>
                        <a:lnTo>
                          <a:pt x="106680" y="0"/>
                        </a:lnTo>
                        <a:lnTo>
                          <a:pt x="106680" y="0"/>
                        </a:lnTo>
                        <a:close/>
                      </a:path>
                    </a:pathLst>
                  </a:custGeom>
                  <a:solidFill>
                    <a:srgbClr val="50E6FF"/>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grpSp>
        </p:grpSp>
      </p:grpSp>
      <p:sp>
        <p:nvSpPr>
          <p:cNvPr id="2" name="Title 1">
            <a:extLst>
              <a:ext uri="{FF2B5EF4-FFF2-40B4-BE49-F238E27FC236}">
                <a16:creationId xmlns:a16="http://schemas.microsoft.com/office/drawing/2014/main" id="{8E973A63-2971-60DF-F755-D9E497D84E28}"/>
              </a:ext>
            </a:extLst>
          </p:cNvPr>
          <p:cNvSpPr txBox="1">
            <a:spLocks/>
          </p:cNvSpPr>
          <p:nvPr/>
        </p:nvSpPr>
        <p:spPr>
          <a:xfrm>
            <a:off x="15475" y="224772"/>
            <a:ext cx="2636285" cy="809669"/>
          </a:xfrm>
          <a:prstGeom prst="rect">
            <a:avLst/>
          </a:prstGeom>
        </p:spPr>
        <p:txBody>
          <a:bodyPr lIns="274320" tIns="182880"/>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0" normalizeH="0" baseline="0" noProof="0">
                <a:ln w="3175">
                  <a:noFill/>
                </a:ln>
                <a:solidFill>
                  <a:schemeClr val="tx2"/>
                </a:solidFill>
                <a:effectLst/>
                <a:uLnTx/>
                <a:uFillTx/>
                <a:ea typeface="+mn-ea"/>
                <a:cs typeface="Segoe UI" pitchFamily="34" charset="0"/>
              </a:rPr>
              <a:t>The commercial </a:t>
            </a:r>
            <a:r>
              <a:rPr lang="en-US" sz="1800" spc="0">
                <a:solidFill>
                  <a:schemeClr val="tx2"/>
                </a:solidFill>
              </a:rPr>
              <a:t>m</a:t>
            </a:r>
            <a:r>
              <a:rPr kumimoji="0" lang="en-US" sz="1800" b="0" i="0" u="none" strike="noStrike" kern="1200" cap="none" spc="0" normalizeH="0" baseline="0" noProof="0" err="1">
                <a:ln w="3175">
                  <a:noFill/>
                </a:ln>
                <a:solidFill>
                  <a:schemeClr val="tx2"/>
                </a:solidFill>
                <a:effectLst/>
                <a:uLnTx/>
                <a:uFillTx/>
                <a:ea typeface="+mn-ea"/>
                <a:cs typeface="Segoe UI" pitchFamily="34" charset="0"/>
              </a:rPr>
              <a:t>arketplace</a:t>
            </a:r>
            <a:endParaRPr kumimoji="0" lang="en-US" sz="1800" b="0" i="0" u="none" strike="noStrike" kern="1200" cap="none" spc="0" normalizeH="0" baseline="0" noProof="0">
              <a:ln w="3175">
                <a:noFill/>
              </a:ln>
              <a:solidFill>
                <a:schemeClr val="tx2"/>
              </a:solidFill>
              <a:effectLst/>
              <a:uLnTx/>
              <a:uFillTx/>
              <a:ea typeface="+mn-ea"/>
              <a:cs typeface="Segoe UI" pitchFamily="34" charset="0"/>
            </a:endParaRPr>
          </a:p>
        </p:txBody>
      </p:sp>
      <p:sp>
        <p:nvSpPr>
          <p:cNvPr id="4" name="Rectangle: Rounded Corners 3">
            <a:extLst>
              <a:ext uri="{FF2B5EF4-FFF2-40B4-BE49-F238E27FC236}">
                <a16:creationId xmlns:a16="http://schemas.microsoft.com/office/drawing/2014/main" id="{C8746E79-FFB2-8732-097F-B0CDA972A493}"/>
              </a:ext>
            </a:extLst>
          </p:cNvPr>
          <p:cNvSpPr/>
          <p:nvPr/>
        </p:nvSpPr>
        <p:spPr bwMode="auto">
          <a:xfrm>
            <a:off x="-279050" y="3562784"/>
            <a:ext cx="2651760" cy="365760"/>
          </a:xfrm>
          <a:prstGeom prst="roundRect">
            <a:avLst>
              <a:gd name="adj" fmla="val 50000"/>
            </a:avLst>
          </a:prstGeom>
          <a:solidFill>
            <a:srgbClr val="C73EC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0" rIns="9144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bg1"/>
              </a:solidFill>
              <a:effectLst/>
              <a:uLnTx/>
              <a:uFillTx/>
              <a:latin typeface="Segoe UI Semibold"/>
              <a:ea typeface="+mn-ea"/>
              <a:cs typeface="Segoe UI Semilight" panose="020B0402040204020203" pitchFamily="34" charset="0"/>
            </a:endParaRPr>
          </a:p>
        </p:txBody>
      </p:sp>
      <p:sp>
        <p:nvSpPr>
          <p:cNvPr id="5" name="Rectangle: Rounded Corners 4">
            <a:extLst>
              <a:ext uri="{FF2B5EF4-FFF2-40B4-BE49-F238E27FC236}">
                <a16:creationId xmlns:a16="http://schemas.microsoft.com/office/drawing/2014/main" id="{C67282E0-0361-BA70-70CE-B1AD506E8D75}"/>
              </a:ext>
            </a:extLst>
          </p:cNvPr>
          <p:cNvSpPr/>
          <p:nvPr/>
        </p:nvSpPr>
        <p:spPr bwMode="auto">
          <a:xfrm>
            <a:off x="0" y="180602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Setup</a:t>
            </a:r>
          </a:p>
        </p:txBody>
      </p:sp>
      <p:sp>
        <p:nvSpPr>
          <p:cNvPr id="6" name="Rectangle: Rounded Corners 5">
            <a:extLst>
              <a:ext uri="{FF2B5EF4-FFF2-40B4-BE49-F238E27FC236}">
                <a16:creationId xmlns:a16="http://schemas.microsoft.com/office/drawing/2014/main" id="{74122A7F-E465-ED28-65CD-F48015957F08}"/>
              </a:ext>
            </a:extLst>
          </p:cNvPr>
          <p:cNvSpPr/>
          <p:nvPr/>
        </p:nvSpPr>
        <p:spPr bwMode="auto">
          <a:xfrm>
            <a:off x="0" y="2245217"/>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Properties</a:t>
            </a:r>
          </a:p>
        </p:txBody>
      </p:sp>
      <p:sp>
        <p:nvSpPr>
          <p:cNvPr id="7" name="Rectangle: Rounded Corners 6">
            <a:extLst>
              <a:ext uri="{FF2B5EF4-FFF2-40B4-BE49-F238E27FC236}">
                <a16:creationId xmlns:a16="http://schemas.microsoft.com/office/drawing/2014/main" id="{07658929-252F-EC2C-B825-6F53A7721A04}"/>
              </a:ext>
            </a:extLst>
          </p:cNvPr>
          <p:cNvSpPr/>
          <p:nvPr/>
        </p:nvSpPr>
        <p:spPr bwMode="auto">
          <a:xfrm>
            <a:off x="0" y="2684406"/>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Listing</a:t>
            </a:r>
          </a:p>
        </p:txBody>
      </p:sp>
      <p:sp>
        <p:nvSpPr>
          <p:cNvPr id="8" name="Rectangle: Rounded Corners 7">
            <a:extLst>
              <a:ext uri="{FF2B5EF4-FFF2-40B4-BE49-F238E27FC236}">
                <a16:creationId xmlns:a16="http://schemas.microsoft.com/office/drawing/2014/main" id="{23417553-0D40-B702-E5D4-109E5B7402F6}"/>
              </a:ext>
            </a:extLst>
          </p:cNvPr>
          <p:cNvSpPr/>
          <p:nvPr/>
        </p:nvSpPr>
        <p:spPr bwMode="auto">
          <a:xfrm>
            <a:off x="0" y="312359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2"/>
                </a:solidFill>
                <a:effectLst/>
                <a:uLnTx/>
                <a:uFillTx/>
                <a:latin typeface="+mj-lt"/>
                <a:ea typeface="+mn-ea"/>
                <a:cs typeface="Segoe UI Semilight" panose="020B0402040204020203" pitchFamily="34" charset="0"/>
              </a:rPr>
              <a:t>Pricing and Availability</a:t>
            </a:r>
          </a:p>
        </p:txBody>
      </p:sp>
      <p:sp>
        <p:nvSpPr>
          <p:cNvPr id="9" name="Rectangle: Rounded Corners 8">
            <a:extLst>
              <a:ext uri="{FF2B5EF4-FFF2-40B4-BE49-F238E27FC236}">
                <a16:creationId xmlns:a16="http://schemas.microsoft.com/office/drawing/2014/main" id="{7A7AFD8B-ACE1-8AA8-0E05-8DE4B5A20630}"/>
              </a:ext>
            </a:extLst>
          </p:cNvPr>
          <p:cNvSpPr/>
          <p:nvPr/>
        </p:nvSpPr>
        <p:spPr bwMode="auto">
          <a:xfrm>
            <a:off x="0" y="356278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j-lt"/>
                <a:ea typeface="+mn-ea"/>
                <a:cs typeface="Segoe UI Semilight" panose="020B0402040204020203" pitchFamily="34" charset="0"/>
              </a:rPr>
              <a:t>Co-sell with Microsoft </a:t>
            </a:r>
          </a:p>
        </p:txBody>
      </p:sp>
      <p:sp>
        <p:nvSpPr>
          <p:cNvPr id="10" name="Rectangle: Rounded Corners 9">
            <a:extLst>
              <a:ext uri="{FF2B5EF4-FFF2-40B4-BE49-F238E27FC236}">
                <a16:creationId xmlns:a16="http://schemas.microsoft.com/office/drawing/2014/main" id="{A76FAA4A-5E8D-D43D-9D74-EC7E399883F0}"/>
              </a:ext>
            </a:extLst>
          </p:cNvPr>
          <p:cNvSpPr/>
          <p:nvPr/>
        </p:nvSpPr>
        <p:spPr bwMode="auto">
          <a:xfrm>
            <a:off x="0" y="136683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Setup</a:t>
            </a:r>
          </a:p>
        </p:txBody>
      </p:sp>
      <p:cxnSp>
        <p:nvCxnSpPr>
          <p:cNvPr id="11" name="Straight Connector 10">
            <a:extLst>
              <a:ext uri="{FF2B5EF4-FFF2-40B4-BE49-F238E27FC236}">
                <a16:creationId xmlns:a16="http://schemas.microsoft.com/office/drawing/2014/main" id="{43167EB5-435C-948D-12B8-72077D3B9508}"/>
              </a:ext>
            </a:extLst>
          </p:cNvPr>
          <p:cNvCxnSpPr/>
          <p:nvPr/>
        </p:nvCxnSpPr>
        <p:spPr>
          <a:xfrm>
            <a:off x="223520" y="1154149"/>
            <a:ext cx="2011680" cy="0"/>
          </a:xfrm>
          <a:prstGeom prst="line">
            <a:avLst/>
          </a:prstGeom>
          <a:noFill/>
          <a:ln w="25400" cap="rnd">
            <a:gradFill flip="none" rotWithShape="1">
              <a:gsLst>
                <a:gs pos="30000">
                  <a:srgbClr val="2DB4FF"/>
                </a:gs>
                <a:gs pos="35000">
                  <a:srgbClr val="2DB4FF"/>
                </a:gs>
                <a:gs pos="3000">
                  <a:srgbClr val="0078D4"/>
                </a:gs>
                <a:gs pos="52000">
                  <a:srgbClr val="818EFF"/>
                </a:gs>
                <a:gs pos="70000">
                  <a:srgbClr val="D660FF"/>
                </a:gs>
                <a:gs pos="97000">
                  <a:srgbClr val="FEA87A"/>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14" name="Slide Number Placeholder 13">
            <a:extLst>
              <a:ext uri="{FF2B5EF4-FFF2-40B4-BE49-F238E27FC236}">
                <a16:creationId xmlns:a16="http://schemas.microsoft.com/office/drawing/2014/main" id="{2EEDCC5D-2ECD-3A58-712D-EC224AFBB009}"/>
              </a:ext>
            </a:extLst>
          </p:cNvPr>
          <p:cNvSpPr>
            <a:spLocks noGrp="1"/>
          </p:cNvSpPr>
          <p:nvPr>
            <p:ph type="sldNum" sz="quarter" idx="11"/>
          </p:nvPr>
        </p:nvSpPr>
        <p:spPr/>
        <p:txBody>
          <a:bodyPr/>
          <a:lstStyle/>
          <a:p>
            <a:fld id="{5763EE98-C176-4152-A50F-E68840BAFA00}" type="slidenum">
              <a:rPr lang="en-US" smtClean="0"/>
              <a:pPr/>
              <a:t>39</a:t>
            </a:fld>
            <a:endParaRPr lang="en-US"/>
          </a:p>
        </p:txBody>
      </p:sp>
    </p:spTree>
    <p:extLst>
      <p:ext uri="{BB962C8B-B14F-4D97-AF65-F5344CB8AC3E}">
        <p14:creationId xmlns:p14="http://schemas.microsoft.com/office/powerpoint/2010/main" val="688212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 name="Picture 97">
            <a:extLst>
              <a:ext uri="{FF2B5EF4-FFF2-40B4-BE49-F238E27FC236}">
                <a16:creationId xmlns:a16="http://schemas.microsoft.com/office/drawing/2014/main" id="{55801DE9-B016-7262-7EE1-902E1980F26E}"/>
              </a:ext>
            </a:extLst>
          </p:cNvPr>
          <p:cNvPicPr>
            <a:picLocks noChangeAspect="1"/>
          </p:cNvPicPr>
          <p:nvPr/>
        </p:nvPicPr>
        <p:blipFill>
          <a:blip r:embed="rId3"/>
          <a:stretch>
            <a:fillRect/>
          </a:stretch>
        </p:blipFill>
        <p:spPr>
          <a:xfrm>
            <a:off x="9969662" y="5767692"/>
            <a:ext cx="1657435" cy="482625"/>
          </a:xfrm>
          <a:prstGeom prst="rect">
            <a:avLst/>
          </a:prstGeom>
          <a:ln>
            <a:noFill/>
          </a:ln>
          <a:effectLst>
            <a:outerShdw blurRad="50800" dist="38100" dir="2700000" algn="tl" rotWithShape="0">
              <a:prstClr val="black">
                <a:alpha val="40000"/>
              </a:prstClr>
            </a:outerShdw>
          </a:effectLst>
        </p:spPr>
      </p:pic>
      <p:pic>
        <p:nvPicPr>
          <p:cNvPr id="48" name="Picture 47">
            <a:extLst>
              <a:ext uri="{FF2B5EF4-FFF2-40B4-BE49-F238E27FC236}">
                <a16:creationId xmlns:a16="http://schemas.microsoft.com/office/drawing/2014/main" id="{2965F7C8-D5AD-43C7-A5FF-201BDC525640}"/>
              </a:ext>
            </a:extLst>
          </p:cNvPr>
          <p:cNvPicPr>
            <a:picLocks noChangeAspect="1"/>
          </p:cNvPicPr>
          <p:nvPr/>
        </p:nvPicPr>
        <p:blipFill rotWithShape="1">
          <a:blip r:embed="rId4"/>
          <a:srcRect b="22778"/>
          <a:stretch/>
        </p:blipFill>
        <p:spPr>
          <a:xfrm>
            <a:off x="6866247" y="1526202"/>
            <a:ext cx="4067698" cy="3116308"/>
          </a:xfrm>
          <a:prstGeom prst="rect">
            <a:avLst/>
          </a:prstGeom>
          <a:ln>
            <a:noFill/>
          </a:ln>
          <a:effectLst>
            <a:outerShdw blurRad="50800" dist="38100" dir="2700000" algn="tl" rotWithShape="0">
              <a:prstClr val="black">
                <a:alpha val="40000"/>
              </a:prstClr>
            </a:outerShdw>
          </a:effectLst>
        </p:spPr>
      </p:pic>
      <p:sp>
        <p:nvSpPr>
          <p:cNvPr id="50" name="Isosceles Triangle 49">
            <a:extLst>
              <a:ext uri="{FF2B5EF4-FFF2-40B4-BE49-F238E27FC236}">
                <a16:creationId xmlns:a16="http://schemas.microsoft.com/office/drawing/2014/main" id="{2C6ACE74-4928-4252-9A17-A5CD9F15E522}"/>
              </a:ext>
            </a:extLst>
          </p:cNvPr>
          <p:cNvSpPr/>
          <p:nvPr/>
        </p:nvSpPr>
        <p:spPr bwMode="auto">
          <a:xfrm rot="16200000">
            <a:off x="8426657" y="1859313"/>
            <a:ext cx="886625" cy="1576013"/>
          </a:xfrm>
          <a:prstGeom prst="triangle">
            <a:avLst>
              <a:gd name="adj" fmla="val 0"/>
            </a:avLst>
          </a:prstGeom>
          <a:gradFill flip="none" rotWithShape="1">
            <a:gsLst>
              <a:gs pos="0">
                <a:schemeClr val="bg1"/>
              </a:gs>
              <a:gs pos="100000">
                <a:srgbClr val="C73ECC"/>
              </a:gs>
            </a:gsLst>
            <a:lin ang="16200000" scaled="1"/>
            <a:tileRect/>
          </a:gradFill>
          <a:ln>
            <a:noFill/>
            <a:headEnd type="none" w="med" len="med"/>
            <a:tailEnd type="none" w="med" len="med"/>
          </a:ln>
          <a:effectLst>
            <a:outerShdw blurRad="50800" dist="38100" dir="8100000" algn="t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9" name="Picture 48">
            <a:extLst>
              <a:ext uri="{FF2B5EF4-FFF2-40B4-BE49-F238E27FC236}">
                <a16:creationId xmlns:a16="http://schemas.microsoft.com/office/drawing/2014/main" id="{167E774E-899D-437E-9C05-6527A6B36117}"/>
              </a:ext>
            </a:extLst>
          </p:cNvPr>
          <p:cNvPicPr>
            <a:picLocks noChangeAspect="1"/>
          </p:cNvPicPr>
          <p:nvPr/>
        </p:nvPicPr>
        <p:blipFill rotWithShape="1">
          <a:blip r:embed="rId5"/>
          <a:srcRect t="33072" r="42138" b="-763"/>
          <a:stretch/>
        </p:blipFill>
        <p:spPr>
          <a:xfrm>
            <a:off x="9607594" y="2232744"/>
            <a:ext cx="1050877" cy="838232"/>
          </a:xfrm>
          <a:prstGeom prst="rect">
            <a:avLst/>
          </a:prstGeom>
          <a:ln w="25400">
            <a:solidFill>
              <a:srgbClr val="C73ECC"/>
            </a:solidFill>
          </a:ln>
          <a:effectLst>
            <a:outerShdw blurRad="50800" dist="38100" dir="2700000" algn="tl" rotWithShape="0">
              <a:prstClr val="black">
                <a:alpha val="40000"/>
              </a:prstClr>
            </a:outerShdw>
          </a:effectLst>
        </p:spPr>
      </p:pic>
      <p:sp>
        <p:nvSpPr>
          <p:cNvPr id="51" name="Rectangle 50">
            <a:extLst>
              <a:ext uri="{FF2B5EF4-FFF2-40B4-BE49-F238E27FC236}">
                <a16:creationId xmlns:a16="http://schemas.microsoft.com/office/drawing/2014/main" id="{9AFD82DA-FBCA-4B76-AE4B-38BE031D9199}"/>
              </a:ext>
            </a:extLst>
          </p:cNvPr>
          <p:cNvSpPr/>
          <p:nvPr/>
        </p:nvSpPr>
        <p:spPr bwMode="auto">
          <a:xfrm>
            <a:off x="6896099" y="2483165"/>
            <a:ext cx="800851" cy="257175"/>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2" name="Rectangle 51">
            <a:extLst>
              <a:ext uri="{FF2B5EF4-FFF2-40B4-BE49-F238E27FC236}">
                <a16:creationId xmlns:a16="http://schemas.microsoft.com/office/drawing/2014/main" id="{790F5101-D447-4115-8F53-A5BA50BBABD0}"/>
              </a:ext>
            </a:extLst>
          </p:cNvPr>
          <p:cNvSpPr/>
          <p:nvPr/>
        </p:nvSpPr>
        <p:spPr bwMode="auto">
          <a:xfrm>
            <a:off x="6896099" y="3003277"/>
            <a:ext cx="1185864" cy="565440"/>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3" name="Rectangle 52">
            <a:extLst>
              <a:ext uri="{FF2B5EF4-FFF2-40B4-BE49-F238E27FC236}">
                <a16:creationId xmlns:a16="http://schemas.microsoft.com/office/drawing/2014/main" id="{922862C3-5F04-4EFC-B7A3-2775305A3F00}"/>
              </a:ext>
            </a:extLst>
          </p:cNvPr>
          <p:cNvSpPr/>
          <p:nvPr/>
        </p:nvSpPr>
        <p:spPr bwMode="auto">
          <a:xfrm>
            <a:off x="6896099" y="4002270"/>
            <a:ext cx="963614" cy="565440"/>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9" name="Title 38">
            <a:extLst>
              <a:ext uri="{FF2B5EF4-FFF2-40B4-BE49-F238E27FC236}">
                <a16:creationId xmlns:a16="http://schemas.microsoft.com/office/drawing/2014/main" id="{EECDD5CF-2D0F-4F1B-A160-12C815F23DB5}"/>
              </a:ext>
            </a:extLst>
          </p:cNvPr>
          <p:cNvSpPr>
            <a:spLocks noGrp="1"/>
          </p:cNvSpPr>
          <p:nvPr>
            <p:ph type="title"/>
          </p:nvPr>
        </p:nvSpPr>
        <p:spPr/>
        <p:txBody>
          <a:bodyPr/>
          <a:lstStyle/>
          <a:p>
            <a:pPr lvl="0"/>
            <a:r>
              <a:rPr lang="en-US" noProof="0"/>
              <a:t>Microsoft 365 Copilot offer</a:t>
            </a:r>
          </a:p>
        </p:txBody>
      </p:sp>
      <p:sp>
        <p:nvSpPr>
          <p:cNvPr id="13" name="TextBox 12">
            <a:extLst>
              <a:ext uri="{FF2B5EF4-FFF2-40B4-BE49-F238E27FC236}">
                <a16:creationId xmlns:a16="http://schemas.microsoft.com/office/drawing/2014/main" id="{AFD9D64C-72B6-420C-9772-EAE9B7EC02E3}"/>
              </a:ext>
            </a:extLst>
          </p:cNvPr>
          <p:cNvSpPr txBox="1">
            <a:spLocks/>
          </p:cNvSpPr>
          <p:nvPr/>
        </p:nvSpPr>
        <p:spPr>
          <a:xfrm>
            <a:off x="3009899" y="2709488"/>
            <a:ext cx="2099983" cy="430887"/>
          </a:xfrm>
          <a:prstGeom prst="rect">
            <a:avLst/>
          </a:prstGeom>
          <a:noFill/>
          <a:ln>
            <a:noFill/>
          </a:ln>
        </p:spPr>
        <p:txBody>
          <a:bodyPr wrap="square" lIns="0" tIns="0" rIns="0" bIns="0" rtlCol="0" anchor="t" anchorCtr="0">
            <a:spAutoFit/>
          </a:bodyPr>
          <a:lstStyle/>
          <a:p>
            <a:pPr marL="228600" marR="0" lvl="0" indent="-228600" algn="l" defTabSz="932472" rtl="0" eaLnBrk="1" fontAlgn="base" latinLnBrk="0" hangingPunct="1">
              <a:lnSpc>
                <a:spcPct val="100000"/>
              </a:lnSpc>
              <a:spcBef>
                <a:spcPts val="600"/>
              </a:spcBef>
              <a:spcAft>
                <a:spcPts val="1200"/>
              </a:spcAft>
              <a:buClr>
                <a:srgbClr val="000000"/>
              </a:buClr>
              <a:buSzPct val="100000"/>
              <a:buFont typeface="+mj-lt"/>
              <a:buAutoNum type="arabicPeriod" startAt="2"/>
              <a:tabLst/>
              <a:defRPr/>
            </a:pPr>
            <a:r>
              <a:rPr kumimoji="0" lang="en-US" sz="1400" b="1" i="0" u="none" strike="noStrike" kern="1200" cap="none" spc="0" normalizeH="0" baseline="0" noProof="0">
                <a:ln>
                  <a:noFill/>
                </a:ln>
                <a:solidFill>
                  <a:srgbClr val="000000"/>
                </a:solidFill>
                <a:effectLst/>
                <a:uLnTx/>
                <a:uFillTx/>
                <a:ea typeface="+mn-ea"/>
                <a:cs typeface="Segoe UI" pitchFamily="34" charset="0"/>
              </a:rPr>
              <a:t>Solution type:</a:t>
            </a:r>
            <a:r>
              <a:rPr kumimoji="0" lang="en-US" sz="1400" b="0" i="0" u="none" strike="noStrike" kern="1200" cap="none" spc="0" normalizeH="0" baseline="0" noProof="0">
                <a:ln>
                  <a:noFill/>
                </a:ln>
                <a:solidFill>
                  <a:srgbClr val="000000"/>
                </a:solidFill>
                <a:effectLst/>
                <a:uLnTx/>
                <a:uFillTx/>
                <a:ea typeface="+mn-ea"/>
                <a:cs typeface="Segoe UI" pitchFamily="34" charset="0"/>
              </a:rPr>
              <a:t> Select </a:t>
            </a:r>
            <a:r>
              <a:rPr kumimoji="0" lang="en-US" sz="1400" b="1" i="0" u="none" strike="noStrike" kern="1200" cap="none" spc="0" normalizeH="0" baseline="0" noProof="0">
                <a:ln>
                  <a:noFill/>
                </a:ln>
                <a:solidFill>
                  <a:srgbClr val="000000"/>
                </a:solidFill>
                <a:effectLst/>
                <a:uLnTx/>
                <a:uFillTx/>
                <a:ea typeface="+mn-ea"/>
                <a:cs typeface="Segoe UI" pitchFamily="34" charset="0"/>
              </a:rPr>
              <a:t>Service</a:t>
            </a:r>
          </a:p>
        </p:txBody>
      </p:sp>
      <p:sp>
        <p:nvSpPr>
          <p:cNvPr id="14" name="TextBox 13">
            <a:extLst>
              <a:ext uri="{FF2B5EF4-FFF2-40B4-BE49-F238E27FC236}">
                <a16:creationId xmlns:a16="http://schemas.microsoft.com/office/drawing/2014/main" id="{42B74B3F-40A0-41F8-9432-012A3F505B09}"/>
              </a:ext>
            </a:extLst>
          </p:cNvPr>
          <p:cNvSpPr txBox="1"/>
          <p:nvPr/>
        </p:nvSpPr>
        <p:spPr>
          <a:xfrm>
            <a:off x="3009899" y="1526201"/>
            <a:ext cx="2535445" cy="646331"/>
          </a:xfrm>
          <a:prstGeom prst="rect">
            <a:avLst/>
          </a:prstGeom>
          <a:noFill/>
        </p:spPr>
        <p:txBody>
          <a:bodyPr wrap="square" lIns="0" tIns="0" rIns="0" bIns="0">
            <a:spAutoFit/>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1" i="0" u="none" strike="noStrike" kern="1200" cap="none" spc="0" normalizeH="0" baseline="0" noProof="0" dirty="0">
                <a:ln>
                  <a:noFill/>
                </a:ln>
                <a:solidFill>
                  <a:srgbClr val="171717"/>
                </a:solidFill>
                <a:effectLst/>
                <a:uLnTx/>
                <a:uFillTx/>
                <a:ea typeface="+mn-ea"/>
                <a:cs typeface="+mn-cs"/>
              </a:rPr>
              <a:t>Listing: </a:t>
            </a:r>
            <a:r>
              <a:rPr kumimoji="0" lang="en-US" sz="1400" b="0" i="0" u="none" strike="noStrike" kern="1200" cap="none" spc="0" normalizeH="0" baseline="0" noProof="0" dirty="0">
                <a:ln>
                  <a:noFill/>
                </a:ln>
                <a:solidFill>
                  <a:srgbClr val="171717"/>
                </a:solidFill>
                <a:effectLst/>
                <a:uLnTx/>
                <a:uFillTx/>
                <a:ea typeface="+mn-ea"/>
                <a:cs typeface="+mn-cs"/>
              </a:rPr>
              <a:t>Select all the Microsoft platforms that your solution is compatible with</a:t>
            </a:r>
          </a:p>
        </p:txBody>
      </p:sp>
      <p:sp>
        <p:nvSpPr>
          <p:cNvPr id="28" name="Rectangle: Rounded Corners 27">
            <a:extLst>
              <a:ext uri="{FF2B5EF4-FFF2-40B4-BE49-F238E27FC236}">
                <a16:creationId xmlns:a16="http://schemas.microsoft.com/office/drawing/2014/main" id="{278123A3-8D0D-4B25-9658-F66EF71F83D3}"/>
              </a:ext>
            </a:extLst>
          </p:cNvPr>
          <p:cNvSpPr/>
          <p:nvPr/>
        </p:nvSpPr>
        <p:spPr bwMode="auto">
          <a:xfrm>
            <a:off x="117782" y="4100757"/>
            <a:ext cx="2580740" cy="1562760"/>
          </a:xfrm>
          <a:prstGeom prst="roundRect">
            <a:avLst>
              <a:gd name="adj" fmla="val 4994"/>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29" name="Picture 28">
            <a:extLst>
              <a:ext uri="{FF2B5EF4-FFF2-40B4-BE49-F238E27FC236}">
                <a16:creationId xmlns:a16="http://schemas.microsoft.com/office/drawing/2014/main" id="{A437D2D1-3D09-4354-B32D-91A7CA5EE43A}"/>
              </a:ext>
            </a:extLst>
          </p:cNvPr>
          <p:cNvPicPr>
            <a:picLocks noChangeAspect="1"/>
          </p:cNvPicPr>
          <p:nvPr/>
        </p:nvPicPr>
        <p:blipFill>
          <a:blip r:embed="rId6"/>
          <a:stretch>
            <a:fillRect/>
          </a:stretch>
        </p:blipFill>
        <p:spPr>
          <a:xfrm>
            <a:off x="292859" y="4201324"/>
            <a:ext cx="2330962" cy="1453424"/>
          </a:xfrm>
          <a:prstGeom prst="rect">
            <a:avLst/>
          </a:prstGeom>
          <a:effectLst/>
        </p:spPr>
      </p:pic>
      <p:sp>
        <p:nvSpPr>
          <p:cNvPr id="27" name="Rectangle 26">
            <a:extLst>
              <a:ext uri="{FF2B5EF4-FFF2-40B4-BE49-F238E27FC236}">
                <a16:creationId xmlns:a16="http://schemas.microsoft.com/office/drawing/2014/main" id="{31DD1AC2-136F-4222-A3FE-55D67A1A1C49}"/>
              </a:ext>
            </a:extLst>
          </p:cNvPr>
          <p:cNvSpPr/>
          <p:nvPr/>
        </p:nvSpPr>
        <p:spPr bwMode="auto">
          <a:xfrm>
            <a:off x="223520" y="4510968"/>
            <a:ext cx="2400301" cy="346967"/>
          </a:xfrm>
          <a:prstGeom prst="rect">
            <a:avLst/>
          </a:prstGeom>
          <a:noFill/>
          <a:ln w="381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1" name="TextBox 30">
            <a:extLst>
              <a:ext uri="{FF2B5EF4-FFF2-40B4-BE49-F238E27FC236}">
                <a16:creationId xmlns:a16="http://schemas.microsoft.com/office/drawing/2014/main" id="{317812AD-AF23-4A3D-9902-1280546C1F07}"/>
              </a:ext>
            </a:extLst>
          </p:cNvPr>
          <p:cNvSpPr txBox="1">
            <a:spLocks/>
          </p:cNvSpPr>
          <p:nvPr/>
        </p:nvSpPr>
        <p:spPr>
          <a:xfrm>
            <a:off x="3009899" y="3892775"/>
            <a:ext cx="2099983" cy="430887"/>
          </a:xfrm>
          <a:prstGeom prst="rect">
            <a:avLst/>
          </a:prstGeom>
          <a:noFill/>
          <a:ln>
            <a:noFill/>
          </a:ln>
        </p:spPr>
        <p:txBody>
          <a:bodyPr wrap="square" lIns="0" tIns="0" rIns="0" bIns="0" rtlCol="0" anchor="t" anchorCtr="0">
            <a:spAutoFit/>
          </a:bodyPr>
          <a:lstStyle/>
          <a:p>
            <a:pPr marL="228600" marR="0" lvl="0" indent="-228600" algn="l" defTabSz="932472" rtl="0" eaLnBrk="1" fontAlgn="base" latinLnBrk="0" hangingPunct="1">
              <a:lnSpc>
                <a:spcPct val="100000"/>
              </a:lnSpc>
              <a:spcBef>
                <a:spcPts val="600"/>
              </a:spcBef>
              <a:spcAft>
                <a:spcPts val="1200"/>
              </a:spcAft>
              <a:buClr>
                <a:srgbClr val="000000"/>
              </a:buClr>
              <a:buSzPct val="100000"/>
              <a:buFont typeface="+mj-lt"/>
              <a:buAutoNum type="arabicPeriod" startAt="3"/>
              <a:tabLst/>
              <a:defRPr/>
            </a:pPr>
            <a:r>
              <a:rPr kumimoji="0" lang="en-US" sz="1400" b="1" i="0" u="none" strike="noStrike" kern="1200" cap="none" spc="0" normalizeH="0" baseline="0" noProof="0">
                <a:ln>
                  <a:noFill/>
                </a:ln>
                <a:solidFill>
                  <a:srgbClr val="000000"/>
                </a:solidFill>
                <a:effectLst/>
                <a:uLnTx/>
                <a:uFillTx/>
                <a:ea typeface="+mn-ea"/>
                <a:cs typeface="Segoe UI" pitchFamily="34" charset="0"/>
              </a:rPr>
              <a:t>Solution area:</a:t>
            </a:r>
            <a:r>
              <a:rPr kumimoji="0" lang="en-US" sz="1400" b="0" i="0" u="none" strike="noStrike" kern="1200" cap="none" spc="0" normalizeH="0" baseline="0" noProof="0">
                <a:ln>
                  <a:noFill/>
                </a:ln>
                <a:solidFill>
                  <a:srgbClr val="000000"/>
                </a:solidFill>
                <a:effectLst/>
                <a:uLnTx/>
                <a:uFillTx/>
                <a:ea typeface="+mn-ea"/>
                <a:cs typeface="Segoe UI" pitchFamily="34" charset="0"/>
              </a:rPr>
              <a:t> Select </a:t>
            </a:r>
            <a:r>
              <a:rPr kumimoji="0" lang="en-US" sz="1400" b="1" i="0" u="none" strike="noStrike" kern="1200" cap="none" spc="0" normalizeH="0" baseline="0" noProof="0">
                <a:ln>
                  <a:noFill/>
                </a:ln>
                <a:solidFill>
                  <a:srgbClr val="000000"/>
                </a:solidFill>
                <a:effectLst/>
                <a:uLnTx/>
                <a:uFillTx/>
                <a:ea typeface="+mn-ea"/>
                <a:cs typeface="Segoe UI" pitchFamily="34" charset="0"/>
              </a:rPr>
              <a:t>Modern Work</a:t>
            </a:r>
          </a:p>
        </p:txBody>
      </p:sp>
      <p:sp>
        <p:nvSpPr>
          <p:cNvPr id="32" name="TextBox 31">
            <a:extLst>
              <a:ext uri="{FF2B5EF4-FFF2-40B4-BE49-F238E27FC236}">
                <a16:creationId xmlns:a16="http://schemas.microsoft.com/office/drawing/2014/main" id="{E6A03DA9-DF7E-4BEC-8A74-0C9872D4C4AF}"/>
              </a:ext>
            </a:extLst>
          </p:cNvPr>
          <p:cNvSpPr txBox="1">
            <a:spLocks/>
          </p:cNvSpPr>
          <p:nvPr/>
        </p:nvSpPr>
        <p:spPr>
          <a:xfrm>
            <a:off x="3003233" y="5076062"/>
            <a:ext cx="1415029" cy="215444"/>
          </a:xfrm>
          <a:prstGeom prst="rect">
            <a:avLst/>
          </a:prstGeom>
          <a:noFill/>
          <a:ln>
            <a:noFill/>
          </a:ln>
        </p:spPr>
        <p:txBody>
          <a:bodyPr wrap="square" lIns="0" tIns="0" rIns="0" bIns="0" rtlCol="0" anchor="t" anchorCtr="0">
            <a:spAutoFit/>
          </a:bodyPr>
          <a:lstStyle/>
          <a:p>
            <a:pPr marL="230188" marR="0" lvl="0" indent="-230188" algn="l" defTabSz="932472" rtl="0" eaLnBrk="1" fontAlgn="base" latinLnBrk="0" hangingPunct="1">
              <a:lnSpc>
                <a:spcPct val="100000"/>
              </a:lnSpc>
              <a:spcBef>
                <a:spcPts val="600"/>
              </a:spcBef>
              <a:spcAft>
                <a:spcPts val="1200"/>
              </a:spcAft>
              <a:buClr>
                <a:srgbClr val="000000"/>
              </a:buClr>
              <a:buSzPct val="100000"/>
              <a:buFont typeface="+mj-lt"/>
              <a:buAutoNum type="arabicPeriod" startAt="4"/>
              <a:tabLst/>
              <a:defRPr/>
            </a:pPr>
            <a:r>
              <a:rPr kumimoji="0" lang="en-US" sz="1400" b="1" i="0" u="none" strike="noStrike" kern="1200" cap="none" spc="0" normalizeH="0" baseline="0" noProof="0" dirty="0">
                <a:ln>
                  <a:noFill/>
                </a:ln>
                <a:solidFill>
                  <a:srgbClr val="000000"/>
                </a:solidFill>
                <a:effectLst/>
                <a:uLnTx/>
                <a:uFillTx/>
                <a:ea typeface="+mn-ea"/>
                <a:cs typeface="Segoe UI" pitchFamily="34" charset="0"/>
              </a:rPr>
              <a:t>​</a:t>
            </a:r>
            <a:r>
              <a:rPr kumimoji="0" lang="en-US" sz="1400" i="0" u="none" strike="noStrike" kern="1200" cap="none" spc="0" normalizeH="0" baseline="0" noProof="0" dirty="0">
                <a:ln>
                  <a:noFill/>
                </a:ln>
                <a:solidFill>
                  <a:srgbClr val="000000"/>
                </a:solidFill>
                <a:effectLst/>
                <a:uLnTx/>
                <a:uFillTx/>
                <a:ea typeface="+mn-ea"/>
                <a:cs typeface="Segoe UI" pitchFamily="34" charset="0"/>
              </a:rPr>
              <a:t>Select </a:t>
            </a:r>
            <a:r>
              <a:rPr kumimoji="0" lang="en-US" sz="1400" b="1" i="0" u="none" strike="noStrike" kern="1200" cap="none" spc="0" normalizeH="0" baseline="0" noProof="0" dirty="0">
                <a:ln>
                  <a:noFill/>
                </a:ln>
                <a:solidFill>
                  <a:srgbClr val="000000"/>
                </a:solidFill>
                <a:effectLst/>
                <a:uLnTx/>
                <a:uFillTx/>
                <a:ea typeface="+mn-ea"/>
                <a:cs typeface="Segoe UI" pitchFamily="34" charset="0"/>
              </a:rPr>
              <a:t>Save</a:t>
            </a:r>
            <a:endParaRPr kumimoji="0" lang="en-US" sz="1400" b="0" i="0" u="none" strike="noStrike" kern="1200" cap="none" spc="0" normalizeH="0" baseline="0" noProof="0" dirty="0">
              <a:ln>
                <a:noFill/>
              </a:ln>
              <a:solidFill>
                <a:srgbClr val="000000"/>
              </a:solidFill>
              <a:effectLst/>
              <a:uLnTx/>
              <a:uFillTx/>
              <a:ea typeface="+mn-ea"/>
              <a:cs typeface="Segoe UI" pitchFamily="34" charset="0"/>
            </a:endParaRPr>
          </a:p>
        </p:txBody>
      </p:sp>
      <p:cxnSp>
        <p:nvCxnSpPr>
          <p:cNvPr id="40" name="Connector: Elbow 39">
            <a:extLst>
              <a:ext uri="{FF2B5EF4-FFF2-40B4-BE49-F238E27FC236}">
                <a16:creationId xmlns:a16="http://schemas.microsoft.com/office/drawing/2014/main" id="{93669623-46E6-4346-AF94-01603EDA34E1}"/>
              </a:ext>
            </a:extLst>
          </p:cNvPr>
          <p:cNvCxnSpPr>
            <a:cxnSpLocks/>
          </p:cNvCxnSpPr>
          <p:nvPr/>
        </p:nvCxnSpPr>
        <p:spPr>
          <a:xfrm>
            <a:off x="5761318" y="1806028"/>
            <a:ext cx="1134781" cy="805725"/>
          </a:xfrm>
          <a:prstGeom prst="bentConnector3">
            <a:avLst>
              <a:gd name="adj1" fmla="val 50000"/>
            </a:avLst>
          </a:prstGeom>
          <a:ln w="22225" cap="rnd">
            <a:solidFill>
              <a:schemeClr val="tx2">
                <a:lumMod val="50000"/>
                <a:lumOff val="50000"/>
              </a:schemeClr>
            </a:solidFill>
            <a:prstDash val="sysDot"/>
            <a:headEnd type="none"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7019679D-7C4B-4E05-B907-4A9398E27357}"/>
              </a:ext>
            </a:extLst>
          </p:cNvPr>
          <p:cNvCxnSpPr>
            <a:cxnSpLocks/>
            <a:stCxn id="13" idx="3"/>
          </p:cNvCxnSpPr>
          <p:nvPr/>
        </p:nvCxnSpPr>
        <p:spPr>
          <a:xfrm>
            <a:off x="5109882" y="2924932"/>
            <a:ext cx="1786217" cy="361065"/>
          </a:xfrm>
          <a:prstGeom prst="bentConnector3">
            <a:avLst>
              <a:gd name="adj1" fmla="val 50000"/>
            </a:avLst>
          </a:prstGeom>
          <a:ln w="22225" cap="rnd">
            <a:solidFill>
              <a:schemeClr val="tx2">
                <a:lumMod val="50000"/>
                <a:lumOff val="50000"/>
              </a:schemeClr>
            </a:solidFill>
            <a:prstDash val="sysDot"/>
            <a:headEnd type="none"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B316191A-4B78-4D5A-A1EB-A9A63A5C71D1}"/>
              </a:ext>
            </a:extLst>
          </p:cNvPr>
          <p:cNvCxnSpPr>
            <a:cxnSpLocks/>
            <a:stCxn id="31" idx="3"/>
          </p:cNvCxnSpPr>
          <p:nvPr/>
        </p:nvCxnSpPr>
        <p:spPr>
          <a:xfrm>
            <a:off x="5109882" y="4108219"/>
            <a:ext cx="1786217" cy="138546"/>
          </a:xfrm>
          <a:prstGeom prst="bentConnector3">
            <a:avLst>
              <a:gd name="adj1" fmla="val 50000"/>
            </a:avLst>
          </a:prstGeom>
          <a:ln w="22225" cap="rnd">
            <a:solidFill>
              <a:schemeClr val="tx2">
                <a:lumMod val="50000"/>
                <a:lumOff val="50000"/>
              </a:schemeClr>
            </a:solidFill>
            <a:prstDash val="sysDot"/>
            <a:headEnd type="none"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973450FA-B6AA-4908-85C4-D01839C60214}"/>
              </a:ext>
            </a:extLst>
          </p:cNvPr>
          <p:cNvCxnSpPr>
            <a:cxnSpLocks/>
            <a:stCxn id="32" idx="3"/>
            <a:endCxn id="35" idx="1"/>
          </p:cNvCxnSpPr>
          <p:nvPr/>
        </p:nvCxnSpPr>
        <p:spPr>
          <a:xfrm>
            <a:off x="4418262" y="5183784"/>
            <a:ext cx="5589149" cy="909004"/>
          </a:xfrm>
          <a:prstGeom prst="bentConnector3">
            <a:avLst>
              <a:gd name="adj1" fmla="val 50000"/>
            </a:avLst>
          </a:prstGeom>
          <a:ln w="22225" cap="rnd">
            <a:solidFill>
              <a:schemeClr val="tx2">
                <a:lumMod val="50000"/>
                <a:lumOff val="50000"/>
              </a:schemeClr>
            </a:solidFill>
            <a:prstDash val="sysDot"/>
            <a:headEnd type="none" w="lg" len="med"/>
            <a:tailEnd type="triangle" w="lg" len="lg"/>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520EA405-10E6-7A6C-B25D-7C40BFC8C299}"/>
              </a:ext>
            </a:extLst>
          </p:cNvPr>
          <p:cNvGrpSpPr/>
          <p:nvPr/>
        </p:nvGrpSpPr>
        <p:grpSpPr>
          <a:xfrm>
            <a:off x="9800681" y="299796"/>
            <a:ext cx="1803056" cy="552365"/>
            <a:chOff x="10126451" y="192765"/>
            <a:chExt cx="1803056" cy="552365"/>
          </a:xfrm>
        </p:grpSpPr>
        <p:grpSp>
          <p:nvGrpSpPr>
            <p:cNvPr id="23" name="Group 22">
              <a:extLst>
                <a:ext uri="{FF2B5EF4-FFF2-40B4-BE49-F238E27FC236}">
                  <a16:creationId xmlns:a16="http://schemas.microsoft.com/office/drawing/2014/main" id="{88C0C862-ADBD-F162-D51A-4961709DDF7B}"/>
                </a:ext>
              </a:extLst>
            </p:cNvPr>
            <p:cNvGrpSpPr/>
            <p:nvPr/>
          </p:nvGrpSpPr>
          <p:grpSpPr>
            <a:xfrm>
              <a:off x="10752268" y="196490"/>
              <a:ext cx="548640" cy="548640"/>
              <a:chOff x="10752268" y="196490"/>
              <a:chExt cx="548640" cy="548640"/>
            </a:xfrm>
          </p:grpSpPr>
          <p:sp>
            <p:nvSpPr>
              <p:cNvPr id="72" name="Oval 71">
                <a:extLst>
                  <a:ext uri="{FF2B5EF4-FFF2-40B4-BE49-F238E27FC236}">
                    <a16:creationId xmlns:a16="http://schemas.microsoft.com/office/drawing/2014/main" id="{FCE2F09B-A6B7-FCCB-6295-2B6E27E8B07C}"/>
                  </a:ext>
                </a:extLst>
              </p:cNvPr>
              <p:cNvSpPr/>
              <p:nvPr/>
            </p:nvSpPr>
            <p:spPr bwMode="auto">
              <a:xfrm>
                <a:off x="10752268"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73" name="gear" descr="gear, wrench, engineer">
                <a:extLst>
                  <a:ext uri="{FF2B5EF4-FFF2-40B4-BE49-F238E27FC236}">
                    <a16:creationId xmlns:a16="http://schemas.microsoft.com/office/drawing/2014/main" id="{83BCEF1C-3F10-9B74-B36D-85AC413A0E35}"/>
                  </a:ext>
                </a:extLst>
              </p:cNvPr>
              <p:cNvGrpSpPr/>
              <p:nvPr/>
            </p:nvGrpSpPr>
            <p:grpSpPr>
              <a:xfrm>
                <a:off x="10883844" y="326676"/>
                <a:ext cx="288269" cy="288268"/>
                <a:chOff x="3510968" y="2992337"/>
                <a:chExt cx="498751" cy="498751"/>
              </a:xfrm>
              <a:solidFill>
                <a:schemeClr val="bg1"/>
              </a:solidFill>
            </p:grpSpPr>
            <p:sp>
              <p:nvSpPr>
                <p:cNvPr id="75" name="Freeform: Shape 74">
                  <a:extLst>
                    <a:ext uri="{FF2B5EF4-FFF2-40B4-BE49-F238E27FC236}">
                      <a16:creationId xmlns:a16="http://schemas.microsoft.com/office/drawing/2014/main" id="{424C68CB-6190-11BD-0E49-4526E0429D6B}"/>
                    </a:ext>
                  </a:extLst>
                </p:cNvPr>
                <p:cNvSpPr/>
                <p:nvPr/>
              </p:nvSpPr>
              <p:spPr>
                <a:xfrm>
                  <a:off x="3510968" y="2992337"/>
                  <a:ext cx="498751" cy="498751"/>
                </a:xfrm>
                <a:custGeom>
                  <a:avLst/>
                  <a:gdLst>
                    <a:gd name="connsiteX0" fmla="*/ 499635 w 498751"/>
                    <a:gd name="connsiteY0" fmla="*/ 277035 h 498751"/>
                    <a:gd name="connsiteX1" fmla="*/ 499635 w 498751"/>
                    <a:gd name="connsiteY1" fmla="*/ 224623 h 498751"/>
                    <a:gd name="connsiteX2" fmla="*/ 445560 w 498751"/>
                    <a:gd name="connsiteY2" fmla="*/ 224623 h 498751"/>
                    <a:gd name="connsiteX3" fmla="*/ 407060 w 498751"/>
                    <a:gd name="connsiteY3" fmla="*/ 131698 h 498751"/>
                    <a:gd name="connsiteX4" fmla="*/ 445298 w 498751"/>
                    <a:gd name="connsiteY4" fmla="*/ 93460 h 498751"/>
                    <a:gd name="connsiteX5" fmla="*/ 408285 w 498751"/>
                    <a:gd name="connsiteY5" fmla="*/ 56448 h 498751"/>
                    <a:gd name="connsiteX6" fmla="*/ 370048 w 498751"/>
                    <a:gd name="connsiteY6" fmla="*/ 94686 h 498751"/>
                    <a:gd name="connsiteX7" fmla="*/ 277123 w 498751"/>
                    <a:gd name="connsiteY7" fmla="*/ 56186 h 498751"/>
                    <a:gd name="connsiteX8" fmla="*/ 277123 w 498751"/>
                    <a:gd name="connsiteY8" fmla="*/ 2111 h 498751"/>
                    <a:gd name="connsiteX9" fmla="*/ 224710 w 498751"/>
                    <a:gd name="connsiteY9" fmla="*/ 2111 h 498751"/>
                    <a:gd name="connsiteX10" fmla="*/ 224710 w 498751"/>
                    <a:gd name="connsiteY10" fmla="*/ 56186 h 498751"/>
                    <a:gd name="connsiteX11" fmla="*/ 131785 w 498751"/>
                    <a:gd name="connsiteY11" fmla="*/ 94686 h 498751"/>
                    <a:gd name="connsiteX12" fmla="*/ 93548 w 498751"/>
                    <a:gd name="connsiteY12" fmla="*/ 56448 h 498751"/>
                    <a:gd name="connsiteX13" fmla="*/ 56536 w 498751"/>
                    <a:gd name="connsiteY13" fmla="*/ 93460 h 498751"/>
                    <a:gd name="connsiteX14" fmla="*/ 94773 w 498751"/>
                    <a:gd name="connsiteY14" fmla="*/ 131698 h 498751"/>
                    <a:gd name="connsiteX15" fmla="*/ 56273 w 498751"/>
                    <a:gd name="connsiteY15" fmla="*/ 224623 h 498751"/>
                    <a:gd name="connsiteX16" fmla="*/ 2111 w 498751"/>
                    <a:gd name="connsiteY16" fmla="*/ 224623 h 498751"/>
                    <a:gd name="connsiteX17" fmla="*/ 2111 w 498751"/>
                    <a:gd name="connsiteY17" fmla="*/ 277035 h 498751"/>
                    <a:gd name="connsiteX18" fmla="*/ 56186 w 498751"/>
                    <a:gd name="connsiteY18" fmla="*/ 277035 h 498751"/>
                    <a:gd name="connsiteX19" fmla="*/ 112010 w 498751"/>
                    <a:gd name="connsiteY19" fmla="*/ 389735 h 498751"/>
                    <a:gd name="connsiteX20" fmla="*/ 224710 w 498751"/>
                    <a:gd name="connsiteY20" fmla="*/ 445560 h 498751"/>
                    <a:gd name="connsiteX21" fmla="*/ 224710 w 498751"/>
                    <a:gd name="connsiteY21" fmla="*/ 499635 h 498751"/>
                    <a:gd name="connsiteX22" fmla="*/ 277123 w 498751"/>
                    <a:gd name="connsiteY22" fmla="*/ 499635 h 498751"/>
                    <a:gd name="connsiteX23" fmla="*/ 277123 w 498751"/>
                    <a:gd name="connsiteY23" fmla="*/ 445560 h 498751"/>
                    <a:gd name="connsiteX24" fmla="*/ 370048 w 498751"/>
                    <a:gd name="connsiteY24" fmla="*/ 407060 h 498751"/>
                    <a:gd name="connsiteX25" fmla="*/ 408285 w 498751"/>
                    <a:gd name="connsiteY25" fmla="*/ 445298 h 498751"/>
                    <a:gd name="connsiteX26" fmla="*/ 445298 w 498751"/>
                    <a:gd name="connsiteY26" fmla="*/ 408285 h 498751"/>
                    <a:gd name="connsiteX27" fmla="*/ 407060 w 498751"/>
                    <a:gd name="connsiteY27" fmla="*/ 370048 h 498751"/>
                    <a:gd name="connsiteX28" fmla="*/ 445560 w 498751"/>
                    <a:gd name="connsiteY28" fmla="*/ 277123 h 498751"/>
                    <a:gd name="connsiteX29" fmla="*/ 499635 w 498751"/>
                    <a:gd name="connsiteY29" fmla="*/ 277123 h 498751"/>
                    <a:gd name="connsiteX30" fmla="*/ 499635 w 498751"/>
                    <a:gd name="connsiteY30" fmla="*/ 277035 h 498751"/>
                    <a:gd name="connsiteX31" fmla="*/ 106848 w 498751"/>
                    <a:gd name="connsiteY31" fmla="*/ 250873 h 498751"/>
                    <a:gd name="connsiteX32" fmla="*/ 139573 w 498751"/>
                    <a:gd name="connsiteY32" fmla="*/ 159523 h 498751"/>
                    <a:gd name="connsiteX33" fmla="*/ 222786 w 498751"/>
                    <a:gd name="connsiteY33" fmla="*/ 109648 h 498751"/>
                    <a:gd name="connsiteX34" fmla="*/ 318773 w 498751"/>
                    <a:gd name="connsiteY34" fmla="*/ 123910 h 498751"/>
                    <a:gd name="connsiteX35" fmla="*/ 383960 w 498751"/>
                    <a:gd name="connsiteY35" fmla="*/ 195835 h 498751"/>
                    <a:gd name="connsiteX36" fmla="*/ 388685 w 498751"/>
                    <a:gd name="connsiteY36" fmla="*/ 292785 h 498751"/>
                    <a:gd name="connsiteX37" fmla="*/ 330848 w 498751"/>
                    <a:gd name="connsiteY37" fmla="*/ 370748 h 498751"/>
                    <a:gd name="connsiteX38" fmla="*/ 236698 w 498751"/>
                    <a:gd name="connsiteY38" fmla="*/ 394285 h 498751"/>
                    <a:gd name="connsiteX39" fmla="*/ 148936 w 498751"/>
                    <a:gd name="connsiteY39" fmla="*/ 352810 h 498751"/>
                    <a:gd name="connsiteX40" fmla="*/ 117610 w 498751"/>
                    <a:gd name="connsiteY40" fmla="*/ 306085 h 498751"/>
                    <a:gd name="connsiteX41" fmla="*/ 106848 w 498751"/>
                    <a:gd name="connsiteY41" fmla="*/ 250873 h 498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98751" h="498751">
                      <a:moveTo>
                        <a:pt x="499635" y="277035"/>
                      </a:moveTo>
                      <a:lnTo>
                        <a:pt x="499635" y="224623"/>
                      </a:lnTo>
                      <a:lnTo>
                        <a:pt x="445560" y="224623"/>
                      </a:lnTo>
                      <a:cubicBezTo>
                        <a:pt x="441098" y="190848"/>
                        <a:pt x="427798" y="158823"/>
                        <a:pt x="407060" y="131698"/>
                      </a:cubicBezTo>
                      <a:lnTo>
                        <a:pt x="445298" y="93460"/>
                      </a:lnTo>
                      <a:lnTo>
                        <a:pt x="408285" y="56448"/>
                      </a:lnTo>
                      <a:lnTo>
                        <a:pt x="370048" y="94686"/>
                      </a:lnTo>
                      <a:cubicBezTo>
                        <a:pt x="342923" y="73948"/>
                        <a:pt x="310898" y="60648"/>
                        <a:pt x="277123" y="56186"/>
                      </a:cubicBezTo>
                      <a:lnTo>
                        <a:pt x="277123" y="2111"/>
                      </a:lnTo>
                      <a:lnTo>
                        <a:pt x="224710" y="2111"/>
                      </a:lnTo>
                      <a:lnTo>
                        <a:pt x="224710" y="56186"/>
                      </a:lnTo>
                      <a:cubicBezTo>
                        <a:pt x="190935" y="60648"/>
                        <a:pt x="158911" y="73948"/>
                        <a:pt x="131785" y="94686"/>
                      </a:cubicBezTo>
                      <a:lnTo>
                        <a:pt x="93548" y="56448"/>
                      </a:lnTo>
                      <a:lnTo>
                        <a:pt x="56536" y="93460"/>
                      </a:lnTo>
                      <a:lnTo>
                        <a:pt x="94773" y="131698"/>
                      </a:lnTo>
                      <a:cubicBezTo>
                        <a:pt x="74036" y="158823"/>
                        <a:pt x="60736" y="190848"/>
                        <a:pt x="56273" y="224623"/>
                      </a:cubicBezTo>
                      <a:lnTo>
                        <a:pt x="2111" y="224623"/>
                      </a:lnTo>
                      <a:lnTo>
                        <a:pt x="2111" y="277035"/>
                      </a:lnTo>
                      <a:lnTo>
                        <a:pt x="56186" y="277035"/>
                      </a:lnTo>
                      <a:cubicBezTo>
                        <a:pt x="61961" y="319648"/>
                        <a:pt x="81561" y="359285"/>
                        <a:pt x="112010" y="389735"/>
                      </a:cubicBezTo>
                      <a:cubicBezTo>
                        <a:pt x="142461" y="420185"/>
                        <a:pt x="182011" y="439785"/>
                        <a:pt x="224710" y="445560"/>
                      </a:cubicBezTo>
                      <a:lnTo>
                        <a:pt x="224710" y="499635"/>
                      </a:lnTo>
                      <a:lnTo>
                        <a:pt x="277123" y="499635"/>
                      </a:lnTo>
                      <a:lnTo>
                        <a:pt x="277123" y="445560"/>
                      </a:lnTo>
                      <a:cubicBezTo>
                        <a:pt x="310898" y="441098"/>
                        <a:pt x="342923" y="427798"/>
                        <a:pt x="370048" y="407060"/>
                      </a:cubicBezTo>
                      <a:lnTo>
                        <a:pt x="408285" y="445298"/>
                      </a:lnTo>
                      <a:lnTo>
                        <a:pt x="445298" y="408285"/>
                      </a:lnTo>
                      <a:lnTo>
                        <a:pt x="407060" y="370048"/>
                      </a:lnTo>
                      <a:cubicBezTo>
                        <a:pt x="427798" y="342923"/>
                        <a:pt x="441098" y="310898"/>
                        <a:pt x="445560" y="277123"/>
                      </a:cubicBezTo>
                      <a:lnTo>
                        <a:pt x="499635" y="277123"/>
                      </a:lnTo>
                      <a:lnTo>
                        <a:pt x="499635" y="277035"/>
                      </a:lnTo>
                      <a:close/>
                      <a:moveTo>
                        <a:pt x="106848" y="250873"/>
                      </a:moveTo>
                      <a:cubicBezTo>
                        <a:pt x="106848" y="217535"/>
                        <a:pt x="118398" y="185248"/>
                        <a:pt x="139573" y="159523"/>
                      </a:cubicBezTo>
                      <a:cubicBezTo>
                        <a:pt x="160748" y="133798"/>
                        <a:pt x="190148" y="116123"/>
                        <a:pt x="222786" y="109648"/>
                      </a:cubicBezTo>
                      <a:cubicBezTo>
                        <a:pt x="255423" y="103173"/>
                        <a:pt x="289373" y="108161"/>
                        <a:pt x="318773" y="123910"/>
                      </a:cubicBezTo>
                      <a:cubicBezTo>
                        <a:pt x="348173" y="139573"/>
                        <a:pt x="371185" y="165035"/>
                        <a:pt x="383960" y="195835"/>
                      </a:cubicBezTo>
                      <a:cubicBezTo>
                        <a:pt x="396735" y="226635"/>
                        <a:pt x="398397" y="260848"/>
                        <a:pt x="388685" y="292785"/>
                      </a:cubicBezTo>
                      <a:cubicBezTo>
                        <a:pt x="378973" y="324635"/>
                        <a:pt x="358585" y="352197"/>
                        <a:pt x="330848" y="370748"/>
                      </a:cubicBezTo>
                      <a:cubicBezTo>
                        <a:pt x="303110" y="389298"/>
                        <a:pt x="269860" y="397610"/>
                        <a:pt x="236698" y="394285"/>
                      </a:cubicBezTo>
                      <a:cubicBezTo>
                        <a:pt x="203535" y="391048"/>
                        <a:pt x="172560" y="376347"/>
                        <a:pt x="148936" y="352810"/>
                      </a:cubicBezTo>
                      <a:cubicBezTo>
                        <a:pt x="135548" y="339510"/>
                        <a:pt x="124873" y="323585"/>
                        <a:pt x="117610" y="306085"/>
                      </a:cubicBezTo>
                      <a:cubicBezTo>
                        <a:pt x="110523" y="288498"/>
                        <a:pt x="106761" y="269773"/>
                        <a:pt x="106848" y="25087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76" name="Freeform: Shape 75">
                  <a:extLst>
                    <a:ext uri="{FF2B5EF4-FFF2-40B4-BE49-F238E27FC236}">
                      <a16:creationId xmlns:a16="http://schemas.microsoft.com/office/drawing/2014/main" id="{C9FAA88E-DA98-2FD7-ED9D-DD6CCB97A587}"/>
                    </a:ext>
                  </a:extLst>
                </p:cNvPr>
                <p:cNvSpPr/>
                <p:nvPr/>
              </p:nvSpPr>
              <p:spPr>
                <a:xfrm>
                  <a:off x="3525494" y="3127375"/>
                  <a:ext cx="348087" cy="348087"/>
                </a:xfrm>
                <a:custGeom>
                  <a:avLst/>
                  <a:gdLst>
                    <a:gd name="connsiteX0" fmla="*/ 286398 w 348086"/>
                    <a:gd name="connsiteY0" fmla="*/ 124333 h 348086"/>
                    <a:gd name="connsiteX1" fmla="*/ 226548 w 348086"/>
                    <a:gd name="connsiteY1" fmla="*/ 64483 h 348086"/>
                    <a:gd name="connsiteX2" fmla="*/ 280448 w 348086"/>
                    <a:gd name="connsiteY2" fmla="*/ 10583 h 348086"/>
                    <a:gd name="connsiteX3" fmla="*/ 216923 w 348086"/>
                    <a:gd name="connsiteY3" fmla="*/ 4108 h 348086"/>
                    <a:gd name="connsiteX4" fmla="*/ 160310 w 348086"/>
                    <a:gd name="connsiteY4" fmla="*/ 33683 h 348086"/>
                    <a:gd name="connsiteX5" fmla="*/ 129335 w 348086"/>
                    <a:gd name="connsiteY5" fmla="*/ 89508 h 348086"/>
                    <a:gd name="connsiteX6" fmla="*/ 134235 w 348086"/>
                    <a:gd name="connsiteY6" fmla="*/ 153121 h 348086"/>
                    <a:gd name="connsiteX7" fmla="*/ 15236 w 348086"/>
                    <a:gd name="connsiteY7" fmla="*/ 272121 h 348086"/>
                    <a:gd name="connsiteX8" fmla="*/ 2111 w 348086"/>
                    <a:gd name="connsiteY8" fmla="*/ 303883 h 348086"/>
                    <a:gd name="connsiteX9" fmla="*/ 15236 w 348086"/>
                    <a:gd name="connsiteY9" fmla="*/ 335645 h 348086"/>
                    <a:gd name="connsiteX10" fmla="*/ 46998 w 348086"/>
                    <a:gd name="connsiteY10" fmla="*/ 348770 h 348086"/>
                    <a:gd name="connsiteX11" fmla="*/ 78760 w 348086"/>
                    <a:gd name="connsiteY11" fmla="*/ 335645 h 348086"/>
                    <a:gd name="connsiteX12" fmla="*/ 197760 w 348086"/>
                    <a:gd name="connsiteY12" fmla="*/ 216645 h 348086"/>
                    <a:gd name="connsiteX13" fmla="*/ 261373 w 348086"/>
                    <a:gd name="connsiteY13" fmla="*/ 221546 h 348086"/>
                    <a:gd name="connsiteX14" fmla="*/ 317198 w 348086"/>
                    <a:gd name="connsiteY14" fmla="*/ 190571 h 348086"/>
                    <a:gd name="connsiteX15" fmla="*/ 346773 w 348086"/>
                    <a:gd name="connsiteY15" fmla="*/ 134045 h 348086"/>
                    <a:gd name="connsiteX16" fmla="*/ 340298 w 348086"/>
                    <a:gd name="connsiteY16" fmla="*/ 70521 h 348086"/>
                    <a:gd name="connsiteX17" fmla="*/ 286398 w 348086"/>
                    <a:gd name="connsiteY17" fmla="*/ 124333 h 348086"/>
                    <a:gd name="connsiteX18" fmla="*/ 63011 w 348086"/>
                    <a:gd name="connsiteY18" fmla="*/ 319633 h 348086"/>
                    <a:gd name="connsiteX19" fmla="*/ 51548 w 348086"/>
                    <a:gd name="connsiteY19" fmla="*/ 325758 h 348086"/>
                    <a:gd name="connsiteX20" fmla="*/ 38598 w 348086"/>
                    <a:gd name="connsiteY20" fmla="*/ 324445 h 348086"/>
                    <a:gd name="connsiteX21" fmla="*/ 28536 w 348086"/>
                    <a:gd name="connsiteY21" fmla="*/ 316220 h 348086"/>
                    <a:gd name="connsiteX22" fmla="*/ 24773 w 348086"/>
                    <a:gd name="connsiteY22" fmla="*/ 303795 h 348086"/>
                    <a:gd name="connsiteX23" fmla="*/ 28536 w 348086"/>
                    <a:gd name="connsiteY23" fmla="*/ 291371 h 348086"/>
                    <a:gd name="connsiteX24" fmla="*/ 38598 w 348086"/>
                    <a:gd name="connsiteY24" fmla="*/ 283146 h 348086"/>
                    <a:gd name="connsiteX25" fmla="*/ 51548 w 348086"/>
                    <a:gd name="connsiteY25" fmla="*/ 281833 h 348086"/>
                    <a:gd name="connsiteX26" fmla="*/ 63011 w 348086"/>
                    <a:gd name="connsiteY26" fmla="*/ 287958 h 348086"/>
                    <a:gd name="connsiteX27" fmla="*/ 69573 w 348086"/>
                    <a:gd name="connsiteY27" fmla="*/ 303795 h 348086"/>
                    <a:gd name="connsiteX28" fmla="*/ 63011 w 348086"/>
                    <a:gd name="connsiteY28" fmla="*/ 319633 h 348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48086" h="348086">
                      <a:moveTo>
                        <a:pt x="286398" y="124333"/>
                      </a:moveTo>
                      <a:lnTo>
                        <a:pt x="226548" y="64483"/>
                      </a:lnTo>
                      <a:lnTo>
                        <a:pt x="280448" y="10583"/>
                      </a:lnTo>
                      <a:cubicBezTo>
                        <a:pt x="260410" y="2271"/>
                        <a:pt x="238273" y="-4"/>
                        <a:pt x="216923" y="4108"/>
                      </a:cubicBezTo>
                      <a:cubicBezTo>
                        <a:pt x="195573" y="8221"/>
                        <a:pt x="175885" y="18458"/>
                        <a:pt x="160310" y="33683"/>
                      </a:cubicBezTo>
                      <a:cubicBezTo>
                        <a:pt x="144735" y="48821"/>
                        <a:pt x="133973" y="68246"/>
                        <a:pt x="129335" y="89508"/>
                      </a:cubicBezTo>
                      <a:cubicBezTo>
                        <a:pt x="124698" y="110771"/>
                        <a:pt x="126448" y="132908"/>
                        <a:pt x="134235" y="153121"/>
                      </a:cubicBezTo>
                      <a:lnTo>
                        <a:pt x="15236" y="272121"/>
                      </a:lnTo>
                      <a:cubicBezTo>
                        <a:pt x="6836" y="280520"/>
                        <a:pt x="2111" y="291983"/>
                        <a:pt x="2111" y="303883"/>
                      </a:cubicBezTo>
                      <a:cubicBezTo>
                        <a:pt x="2111" y="315783"/>
                        <a:pt x="6836" y="327158"/>
                        <a:pt x="15236" y="335645"/>
                      </a:cubicBezTo>
                      <a:cubicBezTo>
                        <a:pt x="23636" y="344046"/>
                        <a:pt x="35098" y="348770"/>
                        <a:pt x="46998" y="348770"/>
                      </a:cubicBezTo>
                      <a:cubicBezTo>
                        <a:pt x="58898" y="348770"/>
                        <a:pt x="70273" y="344046"/>
                        <a:pt x="78760" y="335645"/>
                      </a:cubicBezTo>
                      <a:lnTo>
                        <a:pt x="197760" y="216645"/>
                      </a:lnTo>
                      <a:cubicBezTo>
                        <a:pt x="218060" y="224520"/>
                        <a:pt x="240110" y="226183"/>
                        <a:pt x="261373" y="221546"/>
                      </a:cubicBezTo>
                      <a:cubicBezTo>
                        <a:pt x="282635" y="216908"/>
                        <a:pt x="301973" y="206146"/>
                        <a:pt x="317198" y="190571"/>
                      </a:cubicBezTo>
                      <a:cubicBezTo>
                        <a:pt x="332335" y="174996"/>
                        <a:pt x="342660" y="155308"/>
                        <a:pt x="346773" y="134045"/>
                      </a:cubicBezTo>
                      <a:cubicBezTo>
                        <a:pt x="350885" y="112696"/>
                        <a:pt x="348610" y="90646"/>
                        <a:pt x="340298" y="70521"/>
                      </a:cubicBezTo>
                      <a:lnTo>
                        <a:pt x="286398" y="124333"/>
                      </a:lnTo>
                      <a:close/>
                      <a:moveTo>
                        <a:pt x="63011" y="319633"/>
                      </a:moveTo>
                      <a:cubicBezTo>
                        <a:pt x="59861" y="322783"/>
                        <a:pt x="55835" y="324883"/>
                        <a:pt x="51548" y="325758"/>
                      </a:cubicBezTo>
                      <a:cubicBezTo>
                        <a:pt x="47173" y="326633"/>
                        <a:pt x="42710" y="326196"/>
                        <a:pt x="38598" y="324445"/>
                      </a:cubicBezTo>
                      <a:cubicBezTo>
                        <a:pt x="34486" y="322783"/>
                        <a:pt x="30986" y="319896"/>
                        <a:pt x="28536" y="316220"/>
                      </a:cubicBezTo>
                      <a:cubicBezTo>
                        <a:pt x="26086" y="312545"/>
                        <a:pt x="24773" y="308170"/>
                        <a:pt x="24773" y="303795"/>
                      </a:cubicBezTo>
                      <a:cubicBezTo>
                        <a:pt x="24773" y="299333"/>
                        <a:pt x="26086" y="295045"/>
                        <a:pt x="28536" y="291371"/>
                      </a:cubicBezTo>
                      <a:cubicBezTo>
                        <a:pt x="30986" y="287696"/>
                        <a:pt x="34486" y="284808"/>
                        <a:pt x="38598" y="283146"/>
                      </a:cubicBezTo>
                      <a:cubicBezTo>
                        <a:pt x="42710" y="281483"/>
                        <a:pt x="47173" y="281046"/>
                        <a:pt x="51548" y="281833"/>
                      </a:cubicBezTo>
                      <a:cubicBezTo>
                        <a:pt x="55923" y="282708"/>
                        <a:pt x="59861" y="284808"/>
                        <a:pt x="63011" y="287958"/>
                      </a:cubicBezTo>
                      <a:cubicBezTo>
                        <a:pt x="67211" y="292158"/>
                        <a:pt x="69573" y="297846"/>
                        <a:pt x="69573" y="303795"/>
                      </a:cubicBezTo>
                      <a:cubicBezTo>
                        <a:pt x="69573" y="309746"/>
                        <a:pt x="67211" y="315433"/>
                        <a:pt x="63011" y="31963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sp>
            <p:nvSpPr>
              <p:cNvPr id="74" name="Oval 73">
                <a:extLst>
                  <a:ext uri="{FF2B5EF4-FFF2-40B4-BE49-F238E27FC236}">
                    <a16:creationId xmlns:a16="http://schemas.microsoft.com/office/drawing/2014/main" id="{475FF6CB-2E68-5E26-ECF9-42A281D22636}"/>
                  </a:ext>
                </a:extLst>
              </p:cNvPr>
              <p:cNvSpPr>
                <a:spLocks/>
              </p:cNvSpPr>
              <p:nvPr/>
            </p:nvSpPr>
            <p:spPr bwMode="auto">
              <a:xfrm>
                <a:off x="10778606"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24" name="Group 23">
              <a:extLst>
                <a:ext uri="{FF2B5EF4-FFF2-40B4-BE49-F238E27FC236}">
                  <a16:creationId xmlns:a16="http://schemas.microsoft.com/office/drawing/2014/main" id="{703419F6-0E69-C128-19BC-BF56EAC6552B}"/>
                </a:ext>
              </a:extLst>
            </p:cNvPr>
            <p:cNvGrpSpPr/>
            <p:nvPr/>
          </p:nvGrpSpPr>
          <p:grpSpPr>
            <a:xfrm>
              <a:off x="10126451" y="192765"/>
              <a:ext cx="548640" cy="548640"/>
              <a:chOff x="10126451" y="192765"/>
              <a:chExt cx="548640" cy="548640"/>
            </a:xfrm>
          </p:grpSpPr>
          <p:grpSp>
            <p:nvGrpSpPr>
              <p:cNvPr id="45" name="Group 44">
                <a:extLst>
                  <a:ext uri="{FF2B5EF4-FFF2-40B4-BE49-F238E27FC236}">
                    <a16:creationId xmlns:a16="http://schemas.microsoft.com/office/drawing/2014/main" id="{C19710EB-8396-4D46-F3EB-10C3C08C77DE}"/>
                  </a:ext>
                </a:extLst>
              </p:cNvPr>
              <p:cNvGrpSpPr/>
              <p:nvPr/>
            </p:nvGrpSpPr>
            <p:grpSpPr>
              <a:xfrm>
                <a:off x="10126451" y="192765"/>
                <a:ext cx="548640" cy="548640"/>
                <a:chOff x="10753659" y="196490"/>
                <a:chExt cx="548640" cy="548640"/>
              </a:xfrm>
            </p:grpSpPr>
            <p:sp>
              <p:nvSpPr>
                <p:cNvPr id="70" name="Oval 69">
                  <a:extLst>
                    <a:ext uri="{FF2B5EF4-FFF2-40B4-BE49-F238E27FC236}">
                      <a16:creationId xmlns:a16="http://schemas.microsoft.com/office/drawing/2014/main" id="{B4230DD8-A992-6542-155A-15296BC948EC}"/>
                    </a:ext>
                  </a:extLst>
                </p:cNvPr>
                <p:cNvSpPr/>
                <p:nvPr/>
              </p:nvSpPr>
              <p:spPr bwMode="auto">
                <a:xfrm>
                  <a:off x="10753659"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71" name="Oval 70">
                  <a:extLst>
                    <a:ext uri="{FF2B5EF4-FFF2-40B4-BE49-F238E27FC236}">
                      <a16:creationId xmlns:a16="http://schemas.microsoft.com/office/drawing/2014/main" id="{001B3B49-EDC8-F273-34D7-1C0FC1C4881E}"/>
                    </a:ext>
                  </a:extLst>
                </p:cNvPr>
                <p:cNvSpPr>
                  <a:spLocks/>
                </p:cNvSpPr>
                <p:nvPr/>
              </p:nvSpPr>
              <p:spPr bwMode="auto">
                <a:xfrm>
                  <a:off x="10779997"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6" name="Group 45">
                <a:extLst>
                  <a:ext uri="{FF2B5EF4-FFF2-40B4-BE49-F238E27FC236}">
                    <a16:creationId xmlns:a16="http://schemas.microsoft.com/office/drawing/2014/main" id="{0DF845CF-B608-C164-402D-713ED345523A}"/>
                  </a:ext>
                </a:extLst>
              </p:cNvPr>
              <p:cNvGrpSpPr/>
              <p:nvPr/>
            </p:nvGrpSpPr>
            <p:grpSpPr>
              <a:xfrm>
                <a:off x="10243674" y="318889"/>
                <a:ext cx="314209" cy="303840"/>
                <a:chOff x="3504064" y="4676412"/>
                <a:chExt cx="509193" cy="492392"/>
              </a:xfrm>
            </p:grpSpPr>
            <p:sp>
              <p:nvSpPr>
                <p:cNvPr id="47" name="Oval 46">
                  <a:extLst>
                    <a:ext uri="{FF2B5EF4-FFF2-40B4-BE49-F238E27FC236}">
                      <a16:creationId xmlns:a16="http://schemas.microsoft.com/office/drawing/2014/main" id="{859BA571-E548-CBF3-B793-AFFAFF1304D7}"/>
                    </a:ext>
                  </a:extLst>
                </p:cNvPr>
                <p:cNvSpPr/>
                <p:nvPr/>
              </p:nvSpPr>
              <p:spPr bwMode="auto">
                <a:xfrm>
                  <a:off x="3504064"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4" name="Oval 53">
                  <a:extLst>
                    <a:ext uri="{FF2B5EF4-FFF2-40B4-BE49-F238E27FC236}">
                      <a16:creationId xmlns:a16="http://schemas.microsoft.com/office/drawing/2014/main" id="{1BF85B8E-06F0-D261-BD82-87D1E4983A7A}"/>
                    </a:ext>
                  </a:extLst>
                </p:cNvPr>
                <p:cNvSpPr/>
                <p:nvPr/>
              </p:nvSpPr>
              <p:spPr bwMode="auto">
                <a:xfrm>
                  <a:off x="3671817"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9" name="Oval 68">
                  <a:extLst>
                    <a:ext uri="{FF2B5EF4-FFF2-40B4-BE49-F238E27FC236}">
                      <a16:creationId xmlns:a16="http://schemas.microsoft.com/office/drawing/2014/main" id="{8D8E1544-6DD1-0394-553B-D72EF3324961}"/>
                    </a:ext>
                  </a:extLst>
                </p:cNvPr>
                <p:cNvSpPr/>
                <p:nvPr/>
              </p:nvSpPr>
              <p:spPr bwMode="auto">
                <a:xfrm>
                  <a:off x="3587940" y="4676412"/>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grpSp>
          <p:nvGrpSpPr>
            <p:cNvPr id="25" name="Group 24">
              <a:extLst>
                <a:ext uri="{FF2B5EF4-FFF2-40B4-BE49-F238E27FC236}">
                  <a16:creationId xmlns:a16="http://schemas.microsoft.com/office/drawing/2014/main" id="{E4DB636E-3927-3AA1-8399-DE3E9BE7936A}"/>
                </a:ext>
              </a:extLst>
            </p:cNvPr>
            <p:cNvGrpSpPr/>
            <p:nvPr/>
          </p:nvGrpSpPr>
          <p:grpSpPr>
            <a:xfrm>
              <a:off x="11380867" y="196490"/>
              <a:ext cx="548640" cy="548640"/>
              <a:chOff x="11380867" y="196490"/>
              <a:chExt cx="548640" cy="548640"/>
            </a:xfrm>
          </p:grpSpPr>
          <p:sp>
            <p:nvSpPr>
              <p:cNvPr id="26" name="Oval 25">
                <a:extLst>
                  <a:ext uri="{FF2B5EF4-FFF2-40B4-BE49-F238E27FC236}">
                    <a16:creationId xmlns:a16="http://schemas.microsoft.com/office/drawing/2014/main" id="{CAAA3E4D-2AE9-5992-2463-19A704455226}"/>
                  </a:ext>
                </a:extLst>
              </p:cNvPr>
              <p:cNvSpPr/>
              <p:nvPr/>
            </p:nvSpPr>
            <p:spPr bwMode="auto">
              <a:xfrm>
                <a:off x="11380867" y="196490"/>
                <a:ext cx="548640" cy="548640"/>
              </a:xfrm>
              <a:prstGeom prst="ellipse">
                <a:avLst/>
              </a:prstGeom>
              <a:solidFill>
                <a:srgbClr val="1A2B46"/>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0" name="Oval 29">
                <a:extLst>
                  <a:ext uri="{FF2B5EF4-FFF2-40B4-BE49-F238E27FC236}">
                    <a16:creationId xmlns:a16="http://schemas.microsoft.com/office/drawing/2014/main" id="{07540662-2D7E-083A-E491-E919024A2B15}"/>
                  </a:ext>
                </a:extLst>
              </p:cNvPr>
              <p:cNvSpPr>
                <a:spLocks/>
              </p:cNvSpPr>
              <p:nvPr/>
            </p:nvSpPr>
            <p:spPr bwMode="auto">
              <a:xfrm>
                <a:off x="11407205"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33" name="Group 32">
                <a:extLst>
                  <a:ext uri="{FF2B5EF4-FFF2-40B4-BE49-F238E27FC236}">
                    <a16:creationId xmlns:a16="http://schemas.microsoft.com/office/drawing/2014/main" id="{90F58F50-510C-EF68-61F6-8ECE9C2BE018}"/>
                  </a:ext>
                </a:extLst>
              </p:cNvPr>
              <p:cNvGrpSpPr/>
              <p:nvPr/>
            </p:nvGrpSpPr>
            <p:grpSpPr>
              <a:xfrm>
                <a:off x="11478807" y="317384"/>
                <a:ext cx="352760" cy="306952"/>
                <a:chOff x="10772223" y="7410567"/>
                <a:chExt cx="346174" cy="301219"/>
              </a:xfrm>
            </p:grpSpPr>
            <p:sp>
              <p:nvSpPr>
                <p:cNvPr id="34" name="Freeform: Shape 33">
                  <a:extLst>
                    <a:ext uri="{FF2B5EF4-FFF2-40B4-BE49-F238E27FC236}">
                      <a16:creationId xmlns:a16="http://schemas.microsoft.com/office/drawing/2014/main" id="{DC15D8BE-8EA7-3E05-FDE8-A1F7946CA997}"/>
                    </a:ext>
                  </a:extLst>
                </p:cNvPr>
                <p:cNvSpPr/>
                <p:nvPr/>
              </p:nvSpPr>
              <p:spPr>
                <a:xfrm>
                  <a:off x="10840877" y="7661402"/>
                  <a:ext cx="236157" cy="47232"/>
                </a:xfrm>
                <a:custGeom>
                  <a:avLst/>
                  <a:gdLst>
                    <a:gd name="connsiteX0" fmla="*/ 121141 w 259772"/>
                    <a:gd name="connsiteY0" fmla="*/ 17145 h 51954"/>
                    <a:gd name="connsiteX1" fmla="*/ 267306 w 259772"/>
                    <a:gd name="connsiteY1" fmla="*/ 0 h 51954"/>
                    <a:gd name="connsiteX2" fmla="*/ 267306 w 259772"/>
                    <a:gd name="connsiteY2" fmla="*/ 25718 h 51954"/>
                    <a:gd name="connsiteX3" fmla="*/ 238039 w 259772"/>
                    <a:gd name="connsiteY3" fmla="*/ 60008 h 51954"/>
                    <a:gd name="connsiteX4" fmla="*/ 33424 w 259772"/>
                    <a:gd name="connsiteY4" fmla="*/ 60008 h 51954"/>
                    <a:gd name="connsiteX5" fmla="*/ 0 w 259772"/>
                    <a:gd name="connsiteY5" fmla="*/ 25718 h 51954"/>
                    <a:gd name="connsiteX6" fmla="*/ 0 w 259772"/>
                    <a:gd name="connsiteY6" fmla="*/ 4330 h 51954"/>
                    <a:gd name="connsiteX7" fmla="*/ 121141 w 259772"/>
                    <a:gd name="connsiteY7" fmla="*/ 17145 h 51954"/>
                    <a:gd name="connsiteX8" fmla="*/ 121141 w 259772"/>
                    <a:gd name="connsiteY8" fmla="*/ 17145 h 51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772" h="51954">
                      <a:moveTo>
                        <a:pt x="121141" y="17145"/>
                      </a:moveTo>
                      <a:cubicBezTo>
                        <a:pt x="175433" y="17145"/>
                        <a:pt x="225569" y="12902"/>
                        <a:pt x="267306" y="0"/>
                      </a:cubicBezTo>
                      <a:cubicBezTo>
                        <a:pt x="267306" y="8573"/>
                        <a:pt x="267306" y="17145"/>
                        <a:pt x="267306" y="25718"/>
                      </a:cubicBezTo>
                      <a:cubicBezTo>
                        <a:pt x="267306" y="42863"/>
                        <a:pt x="254751" y="60008"/>
                        <a:pt x="238039" y="60008"/>
                      </a:cubicBezTo>
                      <a:cubicBezTo>
                        <a:pt x="238039" y="60008"/>
                        <a:pt x="238039" y="60008"/>
                        <a:pt x="33424" y="60008"/>
                      </a:cubicBezTo>
                      <a:cubicBezTo>
                        <a:pt x="16712" y="60008"/>
                        <a:pt x="0" y="42863"/>
                        <a:pt x="0" y="25718"/>
                      </a:cubicBezTo>
                      <a:cubicBezTo>
                        <a:pt x="0" y="25718"/>
                        <a:pt x="0" y="25718"/>
                        <a:pt x="0" y="4330"/>
                      </a:cubicBezTo>
                      <a:cubicBezTo>
                        <a:pt x="37580" y="12815"/>
                        <a:pt x="79404" y="17145"/>
                        <a:pt x="121141" y="17145"/>
                      </a:cubicBezTo>
                      <a:lnTo>
                        <a:pt x="121141" y="17145"/>
                      </a:lnTo>
                      <a:close/>
                    </a:path>
                  </a:pathLst>
                </a:custGeom>
                <a:solidFill>
                  <a:schemeClr val="accent1"/>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nvGrpSpPr>
                <p:cNvPr id="36" name="Group 35">
                  <a:extLst>
                    <a:ext uri="{FF2B5EF4-FFF2-40B4-BE49-F238E27FC236}">
                      <a16:creationId xmlns:a16="http://schemas.microsoft.com/office/drawing/2014/main" id="{7F9893FA-D8AA-D866-C939-9C39A8BBBC68}"/>
                    </a:ext>
                  </a:extLst>
                </p:cNvPr>
                <p:cNvGrpSpPr/>
                <p:nvPr/>
              </p:nvGrpSpPr>
              <p:grpSpPr>
                <a:xfrm>
                  <a:off x="10772223" y="7410567"/>
                  <a:ext cx="346174" cy="301219"/>
                  <a:chOff x="10772223" y="1543167"/>
                  <a:chExt cx="346174" cy="301219"/>
                </a:xfrm>
              </p:grpSpPr>
              <p:sp>
                <p:nvSpPr>
                  <p:cNvPr id="38" name="Freeform: Shape 37">
                    <a:extLst>
                      <a:ext uri="{FF2B5EF4-FFF2-40B4-BE49-F238E27FC236}">
                        <a16:creationId xmlns:a16="http://schemas.microsoft.com/office/drawing/2014/main" id="{B71DFDB0-D5ED-E1BA-2B5F-83914087570C}"/>
                      </a:ext>
                    </a:extLst>
                  </p:cNvPr>
                  <p:cNvSpPr/>
                  <p:nvPr/>
                </p:nvSpPr>
                <p:spPr>
                  <a:xfrm rot="13310739">
                    <a:off x="10772223" y="1543167"/>
                    <a:ext cx="346174" cy="301219"/>
                  </a:xfrm>
                  <a:custGeom>
                    <a:avLst/>
                    <a:gdLst>
                      <a:gd name="connsiteX0" fmla="*/ 335526 w 346174"/>
                      <a:gd name="connsiteY0" fmla="*/ 221002 h 301219"/>
                      <a:gd name="connsiteX1" fmla="*/ 256301 w 346174"/>
                      <a:gd name="connsiteY1" fmla="*/ 291951 h 301219"/>
                      <a:gd name="connsiteX2" fmla="*/ 228767 w 346174"/>
                      <a:gd name="connsiteY2" fmla="*/ 300970 h 301219"/>
                      <a:gd name="connsiteX3" fmla="*/ 144718 w 346174"/>
                      <a:gd name="connsiteY3" fmla="*/ 292547 h 301219"/>
                      <a:gd name="connsiteX4" fmla="*/ 112227 w 346174"/>
                      <a:gd name="connsiteY4" fmla="*/ 290366 h 301219"/>
                      <a:gd name="connsiteX5" fmla="*/ 104454 w 346174"/>
                      <a:gd name="connsiteY5" fmla="*/ 281687 h 301219"/>
                      <a:gd name="connsiteX6" fmla="*/ 0 w 346174"/>
                      <a:gd name="connsiteY6" fmla="*/ 165049 h 301219"/>
                      <a:gd name="connsiteX7" fmla="*/ 88589 w 346174"/>
                      <a:gd name="connsiteY7" fmla="*/ 64791 h 301219"/>
                      <a:gd name="connsiteX8" fmla="*/ 178400 w 346174"/>
                      <a:gd name="connsiteY8" fmla="*/ 0 h 301219"/>
                      <a:gd name="connsiteX9" fmla="*/ 295826 w 346174"/>
                      <a:gd name="connsiteY9" fmla="*/ 131123 h 301219"/>
                      <a:gd name="connsiteX10" fmla="*/ 311423 w 346174"/>
                      <a:gd name="connsiteY10" fmla="*/ 148540 h 301219"/>
                      <a:gd name="connsiteX11" fmla="*/ 329593 w 346174"/>
                      <a:gd name="connsiteY11" fmla="*/ 168830 h 301219"/>
                      <a:gd name="connsiteX12" fmla="*/ 339992 w 346174"/>
                      <a:gd name="connsiteY12" fmla="*/ 180441 h 301219"/>
                      <a:gd name="connsiteX13" fmla="*/ 335526 w 346174"/>
                      <a:gd name="connsiteY13" fmla="*/ 221002 h 30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174" h="301219">
                        <a:moveTo>
                          <a:pt x="335526" y="221002"/>
                        </a:moveTo>
                        <a:cubicBezTo>
                          <a:pt x="335526" y="221002"/>
                          <a:pt x="335526" y="221002"/>
                          <a:pt x="256301" y="291951"/>
                        </a:cubicBezTo>
                        <a:cubicBezTo>
                          <a:pt x="247857" y="299513"/>
                          <a:pt x="244983" y="302087"/>
                          <a:pt x="228767" y="300970"/>
                        </a:cubicBezTo>
                        <a:cubicBezTo>
                          <a:pt x="228767" y="300970"/>
                          <a:pt x="228767" y="300970"/>
                          <a:pt x="144718" y="292547"/>
                        </a:cubicBezTo>
                        <a:lnTo>
                          <a:pt x="112227" y="290366"/>
                        </a:lnTo>
                        <a:cubicBezTo>
                          <a:pt x="107027" y="284560"/>
                          <a:pt x="104454" y="281687"/>
                          <a:pt x="104454" y="281687"/>
                        </a:cubicBezTo>
                        <a:cubicBezTo>
                          <a:pt x="104454" y="281687"/>
                          <a:pt x="49365" y="220171"/>
                          <a:pt x="0" y="165049"/>
                        </a:cubicBezTo>
                        <a:cubicBezTo>
                          <a:pt x="17436" y="138972"/>
                          <a:pt x="46132" y="102813"/>
                          <a:pt x="88589" y="64791"/>
                        </a:cubicBezTo>
                        <a:cubicBezTo>
                          <a:pt x="119728" y="36905"/>
                          <a:pt x="150565" y="14466"/>
                          <a:pt x="178400" y="0"/>
                        </a:cubicBezTo>
                        <a:cubicBezTo>
                          <a:pt x="186172" y="8679"/>
                          <a:pt x="269831" y="102096"/>
                          <a:pt x="295826" y="131123"/>
                        </a:cubicBezTo>
                        <a:lnTo>
                          <a:pt x="311423" y="148540"/>
                        </a:lnTo>
                        <a:cubicBezTo>
                          <a:pt x="321821" y="160151"/>
                          <a:pt x="329593" y="168830"/>
                          <a:pt x="329593" y="168830"/>
                        </a:cubicBezTo>
                        <a:cubicBezTo>
                          <a:pt x="332219" y="171762"/>
                          <a:pt x="337419" y="177568"/>
                          <a:pt x="339992" y="180441"/>
                        </a:cubicBezTo>
                        <a:cubicBezTo>
                          <a:pt x="350390" y="192052"/>
                          <a:pt x="346844" y="210867"/>
                          <a:pt x="335526" y="221002"/>
                        </a:cubicBezTo>
                        <a:close/>
                      </a:path>
                    </a:pathLst>
                  </a:custGeom>
                  <a:solidFill>
                    <a:schemeClr val="accent1"/>
                  </a:solidFill>
                  <a:ln w="8603"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44" name="Freeform: Shape 43">
                    <a:extLst>
                      <a:ext uri="{FF2B5EF4-FFF2-40B4-BE49-F238E27FC236}">
                        <a16:creationId xmlns:a16="http://schemas.microsoft.com/office/drawing/2014/main" id="{4AC58366-EDEC-4B41-7CC0-E86F0339B33A}"/>
                      </a:ext>
                    </a:extLst>
                  </p:cNvPr>
                  <p:cNvSpPr/>
                  <p:nvPr/>
                </p:nvSpPr>
                <p:spPr>
                  <a:xfrm>
                    <a:off x="10892650" y="1664886"/>
                    <a:ext cx="141110" cy="110872"/>
                  </a:xfrm>
                  <a:custGeom>
                    <a:avLst/>
                    <a:gdLst>
                      <a:gd name="connsiteX0" fmla="*/ 106680 w 121227"/>
                      <a:gd name="connsiteY0" fmla="*/ 0 h 95250"/>
                      <a:gd name="connsiteX1" fmla="*/ 48751 w 121227"/>
                      <a:gd name="connsiteY1" fmla="*/ 64683 h 95250"/>
                      <a:gd name="connsiteX2" fmla="*/ 18271 w 121227"/>
                      <a:gd name="connsiteY2" fmla="*/ 35416 h 95250"/>
                      <a:gd name="connsiteX3" fmla="*/ 0 w 121227"/>
                      <a:gd name="connsiteY3" fmla="*/ 55418 h 95250"/>
                      <a:gd name="connsiteX4" fmla="*/ 48837 w 121227"/>
                      <a:gd name="connsiteY4" fmla="*/ 100013 h 95250"/>
                      <a:gd name="connsiteX5" fmla="*/ 125124 w 121227"/>
                      <a:gd name="connsiteY5" fmla="*/ 20003 h 95250"/>
                      <a:gd name="connsiteX6" fmla="*/ 106680 w 121227"/>
                      <a:gd name="connsiteY6" fmla="*/ 0 h 95250"/>
                      <a:gd name="connsiteX7" fmla="*/ 106680 w 121227"/>
                      <a:gd name="connsiteY7" fmla="*/ 0 h 95250"/>
                      <a:gd name="connsiteX8" fmla="*/ 106680 w 121227"/>
                      <a:gd name="connsiteY8"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227" h="95250">
                        <a:moveTo>
                          <a:pt x="106680" y="0"/>
                        </a:moveTo>
                        <a:cubicBezTo>
                          <a:pt x="106680" y="0"/>
                          <a:pt x="74641" y="35416"/>
                          <a:pt x="48751" y="64683"/>
                        </a:cubicBezTo>
                        <a:cubicBezTo>
                          <a:pt x="36541" y="53946"/>
                          <a:pt x="18271" y="35416"/>
                          <a:pt x="18271" y="35416"/>
                        </a:cubicBezTo>
                        <a:cubicBezTo>
                          <a:pt x="0" y="55418"/>
                          <a:pt x="0" y="55418"/>
                          <a:pt x="0" y="55418"/>
                        </a:cubicBezTo>
                        <a:cubicBezTo>
                          <a:pt x="48837" y="100013"/>
                          <a:pt x="48837" y="100013"/>
                          <a:pt x="48837" y="100013"/>
                        </a:cubicBezTo>
                        <a:cubicBezTo>
                          <a:pt x="125124" y="20003"/>
                          <a:pt x="125124" y="20003"/>
                          <a:pt x="125124" y="20003"/>
                        </a:cubicBezTo>
                        <a:cubicBezTo>
                          <a:pt x="106680" y="0"/>
                          <a:pt x="106680" y="0"/>
                          <a:pt x="106680" y="0"/>
                        </a:cubicBezTo>
                        <a:lnTo>
                          <a:pt x="106680" y="0"/>
                        </a:lnTo>
                        <a:lnTo>
                          <a:pt x="106680" y="0"/>
                        </a:lnTo>
                        <a:close/>
                      </a:path>
                    </a:pathLst>
                  </a:custGeom>
                  <a:solidFill>
                    <a:srgbClr val="50E6FF"/>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grpSp>
        </p:grpSp>
      </p:grpSp>
      <p:sp>
        <p:nvSpPr>
          <p:cNvPr id="35" name="Rectangle 34">
            <a:extLst>
              <a:ext uri="{FF2B5EF4-FFF2-40B4-BE49-F238E27FC236}">
                <a16:creationId xmlns:a16="http://schemas.microsoft.com/office/drawing/2014/main" id="{13573548-6786-493A-AC89-DEC0457FD8DF}"/>
              </a:ext>
            </a:extLst>
          </p:cNvPr>
          <p:cNvSpPr/>
          <p:nvPr/>
        </p:nvSpPr>
        <p:spPr bwMode="auto">
          <a:xfrm>
            <a:off x="10007411" y="5916537"/>
            <a:ext cx="789589" cy="352501"/>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 name="Title 1">
            <a:extLst>
              <a:ext uri="{FF2B5EF4-FFF2-40B4-BE49-F238E27FC236}">
                <a16:creationId xmlns:a16="http://schemas.microsoft.com/office/drawing/2014/main" id="{318C39BA-9AB8-9AAC-5299-B42C26C030A6}"/>
              </a:ext>
            </a:extLst>
          </p:cNvPr>
          <p:cNvSpPr txBox="1">
            <a:spLocks/>
          </p:cNvSpPr>
          <p:nvPr/>
        </p:nvSpPr>
        <p:spPr>
          <a:xfrm>
            <a:off x="15475" y="224772"/>
            <a:ext cx="2636285" cy="809669"/>
          </a:xfrm>
          <a:prstGeom prst="rect">
            <a:avLst/>
          </a:prstGeom>
        </p:spPr>
        <p:txBody>
          <a:bodyPr lIns="274320" tIns="182880"/>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0" normalizeH="0" baseline="0" noProof="0">
                <a:ln w="3175">
                  <a:noFill/>
                </a:ln>
                <a:solidFill>
                  <a:schemeClr val="tx2"/>
                </a:solidFill>
                <a:effectLst/>
                <a:uLnTx/>
                <a:uFillTx/>
                <a:ea typeface="+mn-ea"/>
                <a:cs typeface="Segoe UI" pitchFamily="34" charset="0"/>
              </a:rPr>
              <a:t>The commercial </a:t>
            </a:r>
            <a:r>
              <a:rPr lang="en-US" sz="1800" spc="0">
                <a:solidFill>
                  <a:schemeClr val="tx2"/>
                </a:solidFill>
              </a:rPr>
              <a:t>m</a:t>
            </a:r>
            <a:r>
              <a:rPr kumimoji="0" lang="en-US" sz="1800" b="0" i="0" u="none" strike="noStrike" kern="1200" cap="none" spc="0" normalizeH="0" baseline="0" noProof="0" err="1">
                <a:ln w="3175">
                  <a:noFill/>
                </a:ln>
                <a:solidFill>
                  <a:schemeClr val="tx2"/>
                </a:solidFill>
                <a:effectLst/>
                <a:uLnTx/>
                <a:uFillTx/>
                <a:ea typeface="+mn-ea"/>
                <a:cs typeface="Segoe UI" pitchFamily="34" charset="0"/>
              </a:rPr>
              <a:t>arketplace</a:t>
            </a:r>
            <a:endParaRPr kumimoji="0" lang="en-US" sz="1800" b="0" i="0" u="none" strike="noStrike" kern="1200" cap="none" spc="0" normalizeH="0" baseline="0" noProof="0">
              <a:ln w="3175">
                <a:noFill/>
              </a:ln>
              <a:solidFill>
                <a:schemeClr val="tx2"/>
              </a:solidFill>
              <a:effectLst/>
              <a:uLnTx/>
              <a:uFillTx/>
              <a:ea typeface="+mn-ea"/>
              <a:cs typeface="Segoe UI" pitchFamily="34" charset="0"/>
            </a:endParaRPr>
          </a:p>
        </p:txBody>
      </p:sp>
      <p:sp>
        <p:nvSpPr>
          <p:cNvPr id="5" name="Rectangle: Rounded Corners 4">
            <a:extLst>
              <a:ext uri="{FF2B5EF4-FFF2-40B4-BE49-F238E27FC236}">
                <a16:creationId xmlns:a16="http://schemas.microsoft.com/office/drawing/2014/main" id="{CDE54E7A-9E54-004E-208B-E6EE87F88D78}"/>
              </a:ext>
            </a:extLst>
          </p:cNvPr>
          <p:cNvSpPr/>
          <p:nvPr/>
        </p:nvSpPr>
        <p:spPr bwMode="auto">
          <a:xfrm>
            <a:off x="-279050" y="3562784"/>
            <a:ext cx="2651760" cy="365760"/>
          </a:xfrm>
          <a:prstGeom prst="roundRect">
            <a:avLst>
              <a:gd name="adj" fmla="val 50000"/>
            </a:avLst>
          </a:prstGeom>
          <a:solidFill>
            <a:srgbClr val="C73EC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0" rIns="9144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bg1"/>
              </a:solidFill>
              <a:effectLst/>
              <a:uLnTx/>
              <a:uFillTx/>
              <a:latin typeface="Segoe UI Semibold"/>
              <a:ea typeface="+mn-ea"/>
              <a:cs typeface="Segoe UI Semilight" panose="020B0402040204020203" pitchFamily="34" charset="0"/>
            </a:endParaRPr>
          </a:p>
        </p:txBody>
      </p:sp>
      <p:sp>
        <p:nvSpPr>
          <p:cNvPr id="6" name="Rectangle: Rounded Corners 5">
            <a:extLst>
              <a:ext uri="{FF2B5EF4-FFF2-40B4-BE49-F238E27FC236}">
                <a16:creationId xmlns:a16="http://schemas.microsoft.com/office/drawing/2014/main" id="{CA04B51A-17C6-9BAC-120A-6A90F39186B4}"/>
              </a:ext>
            </a:extLst>
          </p:cNvPr>
          <p:cNvSpPr/>
          <p:nvPr/>
        </p:nvSpPr>
        <p:spPr bwMode="auto">
          <a:xfrm>
            <a:off x="0" y="180602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Setup</a:t>
            </a:r>
          </a:p>
        </p:txBody>
      </p:sp>
      <p:sp>
        <p:nvSpPr>
          <p:cNvPr id="7" name="Rectangle: Rounded Corners 6">
            <a:extLst>
              <a:ext uri="{FF2B5EF4-FFF2-40B4-BE49-F238E27FC236}">
                <a16:creationId xmlns:a16="http://schemas.microsoft.com/office/drawing/2014/main" id="{3BAE80C1-787A-1833-F6D5-2067947EF4B8}"/>
              </a:ext>
            </a:extLst>
          </p:cNvPr>
          <p:cNvSpPr/>
          <p:nvPr/>
        </p:nvSpPr>
        <p:spPr bwMode="auto">
          <a:xfrm>
            <a:off x="0" y="2245217"/>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Properties</a:t>
            </a:r>
          </a:p>
        </p:txBody>
      </p:sp>
      <p:sp>
        <p:nvSpPr>
          <p:cNvPr id="8" name="Rectangle: Rounded Corners 7">
            <a:extLst>
              <a:ext uri="{FF2B5EF4-FFF2-40B4-BE49-F238E27FC236}">
                <a16:creationId xmlns:a16="http://schemas.microsoft.com/office/drawing/2014/main" id="{BE5A194C-F7B6-CBEE-7D1E-9CC4B4344718}"/>
              </a:ext>
            </a:extLst>
          </p:cNvPr>
          <p:cNvSpPr/>
          <p:nvPr/>
        </p:nvSpPr>
        <p:spPr bwMode="auto">
          <a:xfrm>
            <a:off x="0" y="2684406"/>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Listing</a:t>
            </a:r>
          </a:p>
        </p:txBody>
      </p:sp>
      <p:sp>
        <p:nvSpPr>
          <p:cNvPr id="9" name="Rectangle: Rounded Corners 8">
            <a:extLst>
              <a:ext uri="{FF2B5EF4-FFF2-40B4-BE49-F238E27FC236}">
                <a16:creationId xmlns:a16="http://schemas.microsoft.com/office/drawing/2014/main" id="{F63E226F-D2C0-372E-7DFD-5A085320697F}"/>
              </a:ext>
            </a:extLst>
          </p:cNvPr>
          <p:cNvSpPr/>
          <p:nvPr/>
        </p:nvSpPr>
        <p:spPr bwMode="auto">
          <a:xfrm>
            <a:off x="0" y="312359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Pricing and Availability</a:t>
            </a:r>
          </a:p>
        </p:txBody>
      </p:sp>
      <p:sp>
        <p:nvSpPr>
          <p:cNvPr id="10" name="Rectangle: Rounded Corners 9">
            <a:extLst>
              <a:ext uri="{FF2B5EF4-FFF2-40B4-BE49-F238E27FC236}">
                <a16:creationId xmlns:a16="http://schemas.microsoft.com/office/drawing/2014/main" id="{1C0C46FC-6E3C-959F-9B25-7F4766D984A2}"/>
              </a:ext>
            </a:extLst>
          </p:cNvPr>
          <p:cNvSpPr/>
          <p:nvPr/>
        </p:nvSpPr>
        <p:spPr bwMode="auto">
          <a:xfrm>
            <a:off x="0" y="356278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j-lt"/>
                <a:ea typeface="+mn-ea"/>
                <a:cs typeface="Segoe UI Semilight" panose="020B0402040204020203" pitchFamily="34" charset="0"/>
              </a:rPr>
              <a:t>Co-sell with Microsoft </a:t>
            </a:r>
          </a:p>
        </p:txBody>
      </p:sp>
      <p:sp>
        <p:nvSpPr>
          <p:cNvPr id="11" name="Rectangle: Rounded Corners 10">
            <a:extLst>
              <a:ext uri="{FF2B5EF4-FFF2-40B4-BE49-F238E27FC236}">
                <a16:creationId xmlns:a16="http://schemas.microsoft.com/office/drawing/2014/main" id="{48A935E9-1528-9992-8158-04D73AF08860}"/>
              </a:ext>
            </a:extLst>
          </p:cNvPr>
          <p:cNvSpPr/>
          <p:nvPr/>
        </p:nvSpPr>
        <p:spPr bwMode="auto">
          <a:xfrm>
            <a:off x="0" y="136683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Setup</a:t>
            </a:r>
          </a:p>
        </p:txBody>
      </p:sp>
      <p:cxnSp>
        <p:nvCxnSpPr>
          <p:cNvPr id="12" name="Straight Connector 11">
            <a:extLst>
              <a:ext uri="{FF2B5EF4-FFF2-40B4-BE49-F238E27FC236}">
                <a16:creationId xmlns:a16="http://schemas.microsoft.com/office/drawing/2014/main" id="{4FD454F0-784B-854D-3B58-2CF4A4218BD3}"/>
              </a:ext>
            </a:extLst>
          </p:cNvPr>
          <p:cNvCxnSpPr/>
          <p:nvPr/>
        </p:nvCxnSpPr>
        <p:spPr>
          <a:xfrm>
            <a:off x="223520" y="1154149"/>
            <a:ext cx="2011680" cy="0"/>
          </a:xfrm>
          <a:prstGeom prst="line">
            <a:avLst/>
          </a:prstGeom>
          <a:noFill/>
          <a:ln w="25400" cap="rnd">
            <a:gradFill flip="none" rotWithShape="1">
              <a:gsLst>
                <a:gs pos="30000">
                  <a:srgbClr val="2DB4FF"/>
                </a:gs>
                <a:gs pos="35000">
                  <a:srgbClr val="2DB4FF"/>
                </a:gs>
                <a:gs pos="3000">
                  <a:srgbClr val="0078D4"/>
                </a:gs>
                <a:gs pos="52000">
                  <a:srgbClr val="818EFF"/>
                </a:gs>
                <a:gs pos="70000">
                  <a:srgbClr val="D660FF"/>
                </a:gs>
                <a:gs pos="97000">
                  <a:srgbClr val="FEA87A"/>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16" name="Slide Number Placeholder 15">
            <a:extLst>
              <a:ext uri="{FF2B5EF4-FFF2-40B4-BE49-F238E27FC236}">
                <a16:creationId xmlns:a16="http://schemas.microsoft.com/office/drawing/2014/main" id="{31EEED7B-1B68-7B8D-A8AA-2A9558D92183}"/>
              </a:ext>
            </a:extLst>
          </p:cNvPr>
          <p:cNvSpPr>
            <a:spLocks noGrp="1"/>
          </p:cNvSpPr>
          <p:nvPr>
            <p:ph type="sldNum" sz="quarter" idx="11"/>
          </p:nvPr>
        </p:nvSpPr>
        <p:spPr/>
        <p:txBody>
          <a:bodyPr/>
          <a:lstStyle/>
          <a:p>
            <a:fld id="{5763EE98-C176-4152-A50F-E68840BAFA00}" type="slidenum">
              <a:rPr lang="en-US" smtClean="0"/>
              <a:pPr/>
              <a:t>40</a:t>
            </a:fld>
            <a:endParaRPr lang="en-US"/>
          </a:p>
        </p:txBody>
      </p:sp>
    </p:spTree>
    <p:extLst>
      <p:ext uri="{BB962C8B-B14F-4D97-AF65-F5344CB8AC3E}">
        <p14:creationId xmlns:p14="http://schemas.microsoft.com/office/powerpoint/2010/main" val="159722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 name="Picture 85">
            <a:extLst>
              <a:ext uri="{FF2B5EF4-FFF2-40B4-BE49-F238E27FC236}">
                <a16:creationId xmlns:a16="http://schemas.microsoft.com/office/drawing/2014/main" id="{FD53D157-EAE6-E35F-575D-352227D04953}"/>
              </a:ext>
            </a:extLst>
          </p:cNvPr>
          <p:cNvPicPr>
            <a:picLocks noChangeAspect="1"/>
          </p:cNvPicPr>
          <p:nvPr/>
        </p:nvPicPr>
        <p:blipFill>
          <a:blip r:embed="rId3"/>
          <a:stretch>
            <a:fillRect/>
          </a:stretch>
        </p:blipFill>
        <p:spPr>
          <a:xfrm>
            <a:off x="9946302" y="5767692"/>
            <a:ext cx="1657435" cy="482625"/>
          </a:xfrm>
          <a:prstGeom prst="rect">
            <a:avLst/>
          </a:prstGeom>
          <a:ln>
            <a:noFill/>
          </a:ln>
          <a:effectLst>
            <a:outerShdw blurRad="50800" dist="38100" dir="2700000" algn="tl" rotWithShape="0">
              <a:prstClr val="black">
                <a:alpha val="40000"/>
              </a:prstClr>
            </a:outerShdw>
          </a:effectLst>
        </p:spPr>
      </p:pic>
      <p:sp>
        <p:nvSpPr>
          <p:cNvPr id="39" name="Title 38">
            <a:extLst>
              <a:ext uri="{FF2B5EF4-FFF2-40B4-BE49-F238E27FC236}">
                <a16:creationId xmlns:a16="http://schemas.microsoft.com/office/drawing/2014/main" id="{EECDD5CF-2D0F-4F1B-A160-12C815F23DB5}"/>
              </a:ext>
            </a:extLst>
          </p:cNvPr>
          <p:cNvSpPr>
            <a:spLocks noGrp="1"/>
          </p:cNvSpPr>
          <p:nvPr>
            <p:ph type="title"/>
          </p:nvPr>
        </p:nvSpPr>
        <p:spPr/>
        <p:txBody>
          <a:bodyPr/>
          <a:lstStyle/>
          <a:p>
            <a:pPr lvl="0"/>
            <a:r>
              <a:rPr lang="en-US" noProof="0"/>
              <a:t>Microsoft 365 Copilot offer</a:t>
            </a:r>
          </a:p>
        </p:txBody>
      </p:sp>
      <p:pic>
        <p:nvPicPr>
          <p:cNvPr id="15" name="Picture 14">
            <a:extLst>
              <a:ext uri="{FF2B5EF4-FFF2-40B4-BE49-F238E27FC236}">
                <a16:creationId xmlns:a16="http://schemas.microsoft.com/office/drawing/2014/main" id="{B5F8A192-5B42-49A8-B512-A47AAB237D1B}"/>
              </a:ext>
            </a:extLst>
          </p:cNvPr>
          <p:cNvPicPr>
            <a:picLocks noChangeAspect="1"/>
          </p:cNvPicPr>
          <p:nvPr/>
        </p:nvPicPr>
        <p:blipFill>
          <a:blip r:embed="rId4"/>
          <a:stretch>
            <a:fillRect/>
          </a:stretch>
        </p:blipFill>
        <p:spPr>
          <a:xfrm>
            <a:off x="7848072" y="1398181"/>
            <a:ext cx="3068105" cy="4185501"/>
          </a:xfrm>
          <a:prstGeom prst="rect">
            <a:avLst/>
          </a:prstGeom>
          <a:ln>
            <a:noFill/>
          </a:ln>
          <a:effectLst>
            <a:outerShdw blurRad="50800" dist="38100" dir="2700000" algn="tl" rotWithShape="0">
              <a:prstClr val="black">
                <a:alpha val="40000"/>
              </a:prstClr>
            </a:outerShdw>
          </a:effectLst>
        </p:spPr>
      </p:pic>
      <p:sp>
        <p:nvSpPr>
          <p:cNvPr id="31" name="TextBox 30">
            <a:extLst>
              <a:ext uri="{FF2B5EF4-FFF2-40B4-BE49-F238E27FC236}">
                <a16:creationId xmlns:a16="http://schemas.microsoft.com/office/drawing/2014/main" id="{6B20FB43-FD5B-4DD5-9D1A-D3C685E99C72}"/>
              </a:ext>
            </a:extLst>
          </p:cNvPr>
          <p:cNvSpPr txBox="1">
            <a:spLocks/>
          </p:cNvSpPr>
          <p:nvPr/>
        </p:nvSpPr>
        <p:spPr>
          <a:xfrm>
            <a:off x="3009899" y="2844600"/>
            <a:ext cx="2713939" cy="646331"/>
          </a:xfrm>
          <a:prstGeom prst="rect">
            <a:avLst/>
          </a:prstGeom>
          <a:noFill/>
          <a:ln>
            <a:noFill/>
          </a:ln>
        </p:spPr>
        <p:txBody>
          <a:bodyPr wrap="square" lIns="0" tIns="0" rIns="0" bIns="0" rtlCol="0" anchor="t" anchorCtr="0">
            <a:spAutoFit/>
          </a:bodyPr>
          <a:lstStyle/>
          <a:p>
            <a:pPr marL="342900" marR="0" lvl="0" indent="-342900" algn="l" defTabSz="932472" rtl="0" eaLnBrk="1" fontAlgn="base" latinLnBrk="0" hangingPunct="1">
              <a:lnSpc>
                <a:spcPct val="100000"/>
              </a:lnSpc>
              <a:spcBef>
                <a:spcPts val="600"/>
              </a:spcBef>
              <a:spcAft>
                <a:spcPts val="1200"/>
              </a:spcAft>
              <a:buClr>
                <a:srgbClr val="000000"/>
              </a:buClr>
              <a:buSzPct val="100000"/>
              <a:buFont typeface="+mj-lt"/>
              <a:buAutoNum type="arabicPeriod" startAt="6"/>
              <a:tabLst/>
              <a:defRPr/>
            </a:pPr>
            <a:r>
              <a:rPr kumimoji="0" lang="en-US" sz="1400" b="1" i="0" u="none" strike="noStrike" kern="1200" cap="none" spc="0" normalizeH="0" baseline="0" noProof="0" dirty="0">
                <a:ln>
                  <a:noFill/>
                </a:ln>
                <a:solidFill>
                  <a:srgbClr val="000000"/>
                </a:solidFill>
                <a:effectLst/>
                <a:uLnTx/>
                <a:uFillTx/>
                <a:ea typeface="+mn-ea"/>
                <a:cs typeface="Segoe UI" pitchFamily="34" charset="0"/>
              </a:rPr>
              <a:t>Solution presentation deck:</a:t>
            </a:r>
            <a:r>
              <a:rPr kumimoji="0" lang="en-US" sz="1400" b="0" i="0" u="none" strike="noStrike" kern="1200" cap="none" spc="0" normalizeH="0" baseline="0" noProof="0" dirty="0">
                <a:ln>
                  <a:noFill/>
                </a:ln>
                <a:solidFill>
                  <a:srgbClr val="000000"/>
                </a:solidFill>
                <a:effectLst/>
                <a:uLnTx/>
                <a:uFillTx/>
                <a:ea typeface="+mn-ea"/>
                <a:cs typeface="Segoe UI" pitchFamily="34" charset="0"/>
              </a:rPr>
              <a:t> Upload your customized </a:t>
            </a:r>
            <a:r>
              <a:rPr kumimoji="0" lang="en-US" sz="1400" b="0" i="0" u="none" strike="noStrike" kern="1200" cap="none" spc="0" normalizeH="0" baseline="0" noProof="0" dirty="0">
                <a:ln>
                  <a:noFill/>
                </a:ln>
                <a:solidFill>
                  <a:srgbClr val="000000"/>
                </a:solidFill>
                <a:effectLst/>
                <a:uLnTx/>
                <a:uFillTx/>
                <a:ea typeface="+mn-ea"/>
                <a:cs typeface="Segoe UI" pitchFamily="34" charset="0"/>
                <a:hlinkClick r:id="rId5"/>
              </a:rPr>
              <a:t>pitch deck</a:t>
            </a:r>
            <a:r>
              <a:rPr kumimoji="0" lang="en-US" sz="1400" b="0" i="0" u="none" strike="noStrike" kern="1200" cap="none" spc="0" normalizeH="0" baseline="0" noProof="0" dirty="0">
                <a:ln>
                  <a:noFill/>
                </a:ln>
                <a:solidFill>
                  <a:srgbClr val="000000"/>
                </a:solidFill>
                <a:effectLst/>
                <a:uLnTx/>
                <a:uFillTx/>
                <a:ea typeface="+mn-ea"/>
                <a:cs typeface="Segoe UI" pitchFamily="34" charset="0"/>
              </a:rPr>
              <a:t>.*</a:t>
            </a:r>
            <a:endParaRPr kumimoji="0" lang="en-US" sz="1400" b="1" i="0" u="none" strike="noStrike" kern="1200" cap="none" spc="0" normalizeH="0" baseline="0" noProof="0" dirty="0">
              <a:ln>
                <a:noFill/>
              </a:ln>
              <a:solidFill>
                <a:srgbClr val="000000"/>
              </a:solidFill>
              <a:effectLst/>
              <a:uLnTx/>
              <a:uFillTx/>
              <a:ea typeface="+mn-ea"/>
              <a:cs typeface="Segoe UI" pitchFamily="34" charset="0"/>
            </a:endParaRPr>
          </a:p>
        </p:txBody>
      </p:sp>
      <p:sp>
        <p:nvSpPr>
          <p:cNvPr id="37" name="TextBox 36">
            <a:extLst>
              <a:ext uri="{FF2B5EF4-FFF2-40B4-BE49-F238E27FC236}">
                <a16:creationId xmlns:a16="http://schemas.microsoft.com/office/drawing/2014/main" id="{2644BCC3-B604-4CC7-B054-2E7CFA500303}"/>
              </a:ext>
            </a:extLst>
          </p:cNvPr>
          <p:cNvSpPr txBox="1">
            <a:spLocks/>
          </p:cNvSpPr>
          <p:nvPr/>
        </p:nvSpPr>
        <p:spPr>
          <a:xfrm>
            <a:off x="3009900" y="1320215"/>
            <a:ext cx="2531092" cy="646331"/>
          </a:xfrm>
          <a:prstGeom prst="rect">
            <a:avLst/>
          </a:prstGeom>
          <a:noFill/>
          <a:ln>
            <a:noFill/>
          </a:ln>
        </p:spPr>
        <p:txBody>
          <a:bodyPr wrap="square" lIns="0" tIns="0" rIns="0" bIns="0" rtlCol="0" anchor="t" anchorCtr="0">
            <a:spAutoFit/>
          </a:bodyPr>
          <a:lstStyle/>
          <a:p>
            <a:pPr marL="342900" marR="0" lvl="0" indent="-342900" algn="l" defTabSz="932472" rtl="0" eaLnBrk="1" fontAlgn="base" latinLnBrk="0" hangingPunct="1">
              <a:lnSpc>
                <a:spcPct val="100000"/>
              </a:lnSpc>
              <a:spcBef>
                <a:spcPts val="600"/>
              </a:spcBef>
              <a:spcAft>
                <a:spcPts val="1200"/>
              </a:spcAft>
              <a:buClr>
                <a:srgbClr val="000000"/>
              </a:buClr>
              <a:buSzPct val="100000"/>
              <a:buFont typeface="+mj-lt"/>
              <a:buAutoNum type="arabicPeriod" startAt="5"/>
              <a:tabLst/>
              <a:defRPr/>
            </a:pPr>
            <a:r>
              <a:rPr kumimoji="0" lang="en-US" sz="1400" b="1" i="0" u="none" strike="noStrike" kern="1200" cap="none" spc="0" normalizeH="0" baseline="0" noProof="0" dirty="0">
                <a:ln>
                  <a:noFill/>
                </a:ln>
                <a:solidFill>
                  <a:srgbClr val="000000"/>
                </a:solidFill>
                <a:effectLst/>
                <a:uLnTx/>
                <a:uFillTx/>
                <a:ea typeface="+mn-ea"/>
                <a:cs typeface="Segoe UI" pitchFamily="34" charset="0"/>
              </a:rPr>
              <a:t>Solution/offer one-pager:</a:t>
            </a:r>
            <a:r>
              <a:rPr kumimoji="0" lang="en-US" sz="1400" b="0" i="0" u="none" strike="noStrike" kern="1200" cap="none" spc="0" normalizeH="0" baseline="0" noProof="0" dirty="0">
                <a:ln>
                  <a:noFill/>
                </a:ln>
                <a:solidFill>
                  <a:srgbClr val="000000"/>
                </a:solidFill>
                <a:effectLst/>
                <a:uLnTx/>
                <a:uFillTx/>
                <a:ea typeface="+mn-ea"/>
                <a:cs typeface="Segoe UI" pitchFamily="34" charset="0"/>
              </a:rPr>
              <a:t> </a:t>
            </a:r>
            <a:r>
              <a:rPr kumimoji="0" lang="en-US" sz="1400" b="0" i="0" u="none" strike="noStrike" kern="1200" cap="none" spc="0" normalizeH="0" baseline="0" noProof="0" dirty="0">
                <a:ln>
                  <a:noFill/>
                </a:ln>
                <a:solidFill>
                  <a:srgbClr val="171717"/>
                </a:solidFill>
                <a:effectLst/>
                <a:uLnTx/>
                <a:uFillTx/>
                <a:ea typeface="+mn-ea"/>
                <a:cs typeface="+mn-cs"/>
              </a:rPr>
              <a:t>Upload your customized </a:t>
            </a:r>
            <a:r>
              <a:rPr kumimoji="0" lang="en-US" sz="1400" b="0" i="0" u="none" strike="noStrike" kern="1200" cap="none" spc="0" normalizeH="0" baseline="0" noProof="0" dirty="0">
                <a:ln>
                  <a:noFill/>
                </a:ln>
                <a:solidFill>
                  <a:srgbClr val="171717"/>
                </a:solidFill>
                <a:effectLst/>
                <a:uLnTx/>
                <a:uFillTx/>
                <a:ea typeface="+mn-ea"/>
                <a:cs typeface="+mn-cs"/>
                <a:hlinkClick r:id="rId6"/>
              </a:rPr>
              <a:t>one-pager</a:t>
            </a:r>
            <a:r>
              <a:rPr kumimoji="0" lang="en-US" sz="1400" b="0" i="0" u="none" strike="noStrike" kern="1200" cap="none" spc="0" normalizeH="0" baseline="0" noProof="0" dirty="0">
                <a:ln>
                  <a:noFill/>
                </a:ln>
                <a:solidFill>
                  <a:srgbClr val="171717"/>
                </a:solidFill>
                <a:effectLst/>
                <a:uLnTx/>
                <a:uFillTx/>
                <a:ea typeface="+mn-ea"/>
                <a:cs typeface="+mn-cs"/>
              </a:rPr>
              <a:t>.*</a:t>
            </a:r>
            <a:r>
              <a:rPr kumimoji="0" lang="en-US" sz="1400" b="0" i="0" u="none" strike="noStrike" kern="1200" cap="none" spc="0" normalizeH="0" baseline="0" noProof="0" dirty="0">
                <a:ln>
                  <a:noFill/>
                </a:ln>
                <a:solidFill>
                  <a:srgbClr val="171717"/>
                </a:solidFill>
                <a:effectLst/>
                <a:uLnTx/>
                <a:uFillTx/>
                <a:ea typeface="+mn-ea"/>
                <a:cs typeface="+mn-cs"/>
                <a:hlinkClick r:id="rId7"/>
              </a:rPr>
              <a:t> </a:t>
            </a:r>
            <a:endParaRPr kumimoji="0" lang="en-US" sz="1400" b="0" i="0" u="none" strike="noStrike" kern="1200" cap="none" spc="0" normalizeH="0" baseline="0" noProof="0" dirty="0">
              <a:ln>
                <a:noFill/>
              </a:ln>
              <a:solidFill>
                <a:srgbClr val="000000"/>
              </a:solidFill>
              <a:effectLst/>
              <a:uLnTx/>
              <a:uFillTx/>
              <a:ea typeface="+mn-ea"/>
              <a:cs typeface="Segoe UI" pitchFamily="34" charset="0"/>
            </a:endParaRPr>
          </a:p>
        </p:txBody>
      </p:sp>
      <p:sp>
        <p:nvSpPr>
          <p:cNvPr id="38" name="TextBox 37">
            <a:extLst>
              <a:ext uri="{FF2B5EF4-FFF2-40B4-BE49-F238E27FC236}">
                <a16:creationId xmlns:a16="http://schemas.microsoft.com/office/drawing/2014/main" id="{28C75E7B-76DD-4A65-8A24-9689341FC5ED}"/>
              </a:ext>
            </a:extLst>
          </p:cNvPr>
          <p:cNvSpPr txBox="1">
            <a:spLocks/>
          </p:cNvSpPr>
          <p:nvPr/>
        </p:nvSpPr>
        <p:spPr>
          <a:xfrm>
            <a:off x="3009899" y="4445942"/>
            <a:ext cx="1334029" cy="215444"/>
          </a:xfrm>
          <a:prstGeom prst="rect">
            <a:avLst/>
          </a:prstGeom>
          <a:noFill/>
          <a:ln>
            <a:noFill/>
          </a:ln>
        </p:spPr>
        <p:txBody>
          <a:bodyPr wrap="square" lIns="0" tIns="0" rIns="0" bIns="0" rtlCol="0" anchor="t" anchorCtr="0">
            <a:spAutoFit/>
          </a:bodyPr>
          <a:lstStyle/>
          <a:p>
            <a:pPr marL="342900" marR="0" lvl="0" indent="-342900" algn="l" defTabSz="932472" rtl="0" eaLnBrk="1" fontAlgn="base" latinLnBrk="0" hangingPunct="1">
              <a:lnSpc>
                <a:spcPct val="100000"/>
              </a:lnSpc>
              <a:spcBef>
                <a:spcPts val="600"/>
              </a:spcBef>
              <a:spcAft>
                <a:spcPts val="1200"/>
              </a:spcAft>
              <a:buClr>
                <a:srgbClr val="000000"/>
              </a:buClr>
              <a:buSzPct val="100000"/>
              <a:buFont typeface="+mj-lt"/>
              <a:buAutoNum type="arabicPeriod" startAt="7"/>
              <a:tabLst/>
              <a:defRPr/>
            </a:pPr>
            <a:r>
              <a:rPr kumimoji="0" lang="en-US" sz="1400" b="1" i="0" u="none" strike="noStrike" kern="1200" cap="none" spc="0" normalizeH="0" baseline="0" noProof="0" dirty="0">
                <a:ln>
                  <a:noFill/>
                </a:ln>
                <a:solidFill>
                  <a:srgbClr val="000000"/>
                </a:solidFill>
                <a:effectLst/>
                <a:uLnTx/>
                <a:uFillTx/>
                <a:ea typeface="+mn-ea"/>
                <a:cs typeface="Segoe UI" pitchFamily="34" charset="0"/>
              </a:rPr>
              <a:t>​</a:t>
            </a:r>
            <a:r>
              <a:rPr kumimoji="0" lang="en-US" sz="1400" i="0" u="none" strike="noStrike" kern="1200" cap="none" spc="0" normalizeH="0" baseline="0" noProof="0" dirty="0">
                <a:ln>
                  <a:noFill/>
                </a:ln>
                <a:solidFill>
                  <a:srgbClr val="000000"/>
                </a:solidFill>
                <a:effectLst/>
                <a:uLnTx/>
                <a:uFillTx/>
                <a:ea typeface="+mn-ea"/>
                <a:cs typeface="Segoe UI" pitchFamily="34" charset="0"/>
              </a:rPr>
              <a:t>Select</a:t>
            </a:r>
            <a:r>
              <a:rPr kumimoji="0" lang="en-US" sz="1400" b="1" i="0" u="none" strike="noStrike" kern="1200" cap="none" spc="0" normalizeH="0" baseline="0" noProof="0" dirty="0">
                <a:ln>
                  <a:noFill/>
                </a:ln>
                <a:solidFill>
                  <a:srgbClr val="000000"/>
                </a:solidFill>
                <a:effectLst/>
                <a:uLnTx/>
                <a:uFillTx/>
                <a:ea typeface="+mn-ea"/>
                <a:cs typeface="Segoe UI" pitchFamily="34" charset="0"/>
              </a:rPr>
              <a:t> Save</a:t>
            </a:r>
            <a:endParaRPr kumimoji="0" lang="en-US" sz="1400" b="1" i="0" u="none" strike="noStrike" kern="1200" cap="none" spc="0" normalizeH="0" baseline="0" noProof="0" dirty="0">
              <a:ln>
                <a:noFill/>
              </a:ln>
              <a:solidFill>
                <a:srgbClr val="000000"/>
              </a:solidFill>
              <a:effectLst/>
              <a:highlight>
                <a:srgbClr val="FFFF00"/>
              </a:highlight>
              <a:uLnTx/>
              <a:uFillTx/>
              <a:ea typeface="+mn-ea"/>
              <a:cs typeface="Segoe UI" pitchFamily="34" charset="0"/>
            </a:endParaRPr>
          </a:p>
        </p:txBody>
      </p:sp>
      <p:sp>
        <p:nvSpPr>
          <p:cNvPr id="40" name="Rectangle 39">
            <a:extLst>
              <a:ext uri="{FF2B5EF4-FFF2-40B4-BE49-F238E27FC236}">
                <a16:creationId xmlns:a16="http://schemas.microsoft.com/office/drawing/2014/main" id="{BCF49CF3-CE61-4C21-B45F-B687185875ED}"/>
              </a:ext>
            </a:extLst>
          </p:cNvPr>
          <p:cNvSpPr/>
          <p:nvPr/>
        </p:nvSpPr>
        <p:spPr bwMode="auto">
          <a:xfrm>
            <a:off x="7848071" y="2988236"/>
            <a:ext cx="2280526" cy="640790"/>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1" name="Rectangle 40">
            <a:extLst>
              <a:ext uri="{FF2B5EF4-FFF2-40B4-BE49-F238E27FC236}">
                <a16:creationId xmlns:a16="http://schemas.microsoft.com/office/drawing/2014/main" id="{532633B6-8989-4E04-890C-08BF49761484}"/>
              </a:ext>
            </a:extLst>
          </p:cNvPr>
          <p:cNvSpPr/>
          <p:nvPr/>
        </p:nvSpPr>
        <p:spPr bwMode="auto">
          <a:xfrm>
            <a:off x="7848071" y="2171789"/>
            <a:ext cx="2280526" cy="582772"/>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2" name="Freeform: Shape 41">
            <a:extLst>
              <a:ext uri="{FF2B5EF4-FFF2-40B4-BE49-F238E27FC236}">
                <a16:creationId xmlns:a16="http://schemas.microsoft.com/office/drawing/2014/main" id="{73F395C2-9383-4EC3-B16A-0682C5577177}"/>
              </a:ext>
            </a:extLst>
          </p:cNvPr>
          <p:cNvSpPr/>
          <p:nvPr/>
        </p:nvSpPr>
        <p:spPr bwMode="auto">
          <a:xfrm>
            <a:off x="5723839" y="1435608"/>
            <a:ext cx="2124231" cy="1055879"/>
          </a:xfrm>
          <a:custGeom>
            <a:avLst/>
            <a:gdLst>
              <a:gd name="connsiteX0" fmla="*/ 0 w 800100"/>
              <a:gd name="connsiteY0" fmla="*/ 0 h 257175"/>
              <a:gd name="connsiteX1" fmla="*/ 328612 w 800100"/>
              <a:gd name="connsiteY1" fmla="*/ 0 h 257175"/>
              <a:gd name="connsiteX2" fmla="*/ 328612 w 800100"/>
              <a:gd name="connsiteY2" fmla="*/ 257175 h 257175"/>
              <a:gd name="connsiteX3" fmla="*/ 800100 w 800100"/>
              <a:gd name="connsiteY3" fmla="*/ 257175 h 257175"/>
            </a:gdLst>
            <a:ahLst/>
            <a:cxnLst>
              <a:cxn ang="0">
                <a:pos x="connsiteX0" y="connsiteY0"/>
              </a:cxn>
              <a:cxn ang="0">
                <a:pos x="connsiteX1" y="connsiteY1"/>
              </a:cxn>
              <a:cxn ang="0">
                <a:pos x="connsiteX2" y="connsiteY2"/>
              </a:cxn>
              <a:cxn ang="0">
                <a:pos x="connsiteX3" y="connsiteY3"/>
              </a:cxn>
            </a:cxnLst>
            <a:rect l="l" t="t" r="r" b="b"/>
            <a:pathLst>
              <a:path w="800100" h="257175">
                <a:moveTo>
                  <a:pt x="0" y="0"/>
                </a:moveTo>
                <a:lnTo>
                  <a:pt x="328612" y="0"/>
                </a:lnTo>
                <a:lnTo>
                  <a:pt x="328612" y="257175"/>
                </a:lnTo>
                <a:lnTo>
                  <a:pt x="800100" y="257175"/>
                </a:lnTo>
              </a:path>
            </a:pathLst>
          </a:custGeom>
          <a:ln w="22225" cap="rnd">
            <a:solidFill>
              <a:schemeClr val="tx2">
                <a:lumMod val="50000"/>
                <a:lumOff val="50000"/>
              </a:schemeClr>
            </a:solidFill>
            <a:prstDash val="sysDot"/>
            <a:headEnd type="none" w="lg" len="med"/>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cxnSp>
        <p:nvCxnSpPr>
          <p:cNvPr id="43" name="Connector: Elbow 42">
            <a:extLst>
              <a:ext uri="{FF2B5EF4-FFF2-40B4-BE49-F238E27FC236}">
                <a16:creationId xmlns:a16="http://schemas.microsoft.com/office/drawing/2014/main" id="{44021AF7-805B-4EB8-9153-B8D3027C62ED}"/>
              </a:ext>
            </a:extLst>
          </p:cNvPr>
          <p:cNvCxnSpPr>
            <a:cxnSpLocks/>
            <a:endCxn id="40" idx="1"/>
          </p:cNvCxnSpPr>
          <p:nvPr/>
        </p:nvCxnSpPr>
        <p:spPr>
          <a:xfrm>
            <a:off x="5860473" y="3193473"/>
            <a:ext cx="1987598" cy="115158"/>
          </a:xfrm>
          <a:prstGeom prst="bentConnector3">
            <a:avLst>
              <a:gd name="adj1" fmla="val 50000"/>
            </a:avLst>
          </a:prstGeom>
          <a:ln w="22225" cap="rnd">
            <a:solidFill>
              <a:schemeClr val="tx2">
                <a:lumMod val="50000"/>
                <a:lumOff val="50000"/>
              </a:schemeClr>
            </a:solidFill>
            <a:prstDash val="sysDot"/>
            <a:headEnd type="none"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921B9774-5905-422F-A799-06AA6452AA05}"/>
              </a:ext>
            </a:extLst>
          </p:cNvPr>
          <p:cNvCxnSpPr>
            <a:cxnSpLocks/>
            <a:stCxn id="38" idx="3"/>
            <a:endCxn id="34" idx="1"/>
          </p:cNvCxnSpPr>
          <p:nvPr/>
        </p:nvCxnSpPr>
        <p:spPr>
          <a:xfrm>
            <a:off x="4343928" y="4553664"/>
            <a:ext cx="5643874" cy="1522474"/>
          </a:xfrm>
          <a:prstGeom prst="bentConnector3">
            <a:avLst>
              <a:gd name="adj1" fmla="val 50000"/>
            </a:avLst>
          </a:prstGeom>
          <a:ln w="22225" cap="rnd">
            <a:solidFill>
              <a:schemeClr val="tx2">
                <a:lumMod val="50000"/>
                <a:lumOff val="50000"/>
              </a:schemeClr>
            </a:solidFill>
            <a:prstDash val="sysDot"/>
            <a:headEnd type="none" w="lg" len="med"/>
            <a:tailEnd type="triangle" w="lg" len="lg"/>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D31D56C4-466F-4E51-9763-4CF4F0D44269}"/>
              </a:ext>
            </a:extLst>
          </p:cNvPr>
          <p:cNvSpPr txBox="1">
            <a:spLocks/>
          </p:cNvSpPr>
          <p:nvPr/>
        </p:nvSpPr>
        <p:spPr>
          <a:xfrm>
            <a:off x="3003233" y="6321989"/>
            <a:ext cx="3910522" cy="276999"/>
          </a:xfrm>
          <a:prstGeom prst="rect">
            <a:avLst/>
          </a:prstGeom>
          <a:noFill/>
          <a:ln>
            <a:noFill/>
          </a:ln>
        </p:spPr>
        <p:txBody>
          <a:bodyPr wrap="square" lIns="0" tIns="0" rIns="0" bIns="0" rtlCol="0" anchor="t" anchorCtr="0">
            <a:spAutoFit/>
          </a:bodyPr>
          <a:lstStyle/>
          <a:p>
            <a:pPr marL="58738" marR="0" lvl="0" indent="-58738" algn="l" defTabSz="932472" rtl="0" eaLnBrk="1" fontAlgn="base" latinLnBrk="0" hangingPunct="1">
              <a:lnSpc>
                <a:spcPct val="100000"/>
              </a:lnSpc>
              <a:spcBef>
                <a:spcPts val="600"/>
              </a:spcBef>
              <a:spcAft>
                <a:spcPts val="1200"/>
              </a:spcAft>
              <a:buClr>
                <a:srgbClr val="000000"/>
              </a:buClr>
              <a:buSzPct val="100000"/>
              <a:buFontTx/>
              <a:buNone/>
              <a:tabLst/>
              <a:defRPr/>
            </a:pPr>
            <a:r>
              <a:rPr kumimoji="0" lang="en-US" sz="900" b="0" i="0" u="none" strike="noStrike" kern="1200" cap="none" spc="0" normalizeH="0" baseline="0" noProof="0" dirty="0">
                <a:ln>
                  <a:noFill/>
                </a:ln>
                <a:solidFill>
                  <a:srgbClr val="000000"/>
                </a:solidFill>
                <a:effectLst/>
                <a:uLnTx/>
                <a:uFillTx/>
                <a:ea typeface="+mn-ea"/>
                <a:cs typeface="Segoe UI" pitchFamily="34" charset="0"/>
              </a:rPr>
              <a:t>*Please add documentation to the other fields as you have it available. However, this is not required to be co-sell prioritized.</a:t>
            </a:r>
          </a:p>
        </p:txBody>
      </p:sp>
      <p:grpSp>
        <p:nvGrpSpPr>
          <p:cNvPr id="20" name="Group 19">
            <a:extLst>
              <a:ext uri="{FF2B5EF4-FFF2-40B4-BE49-F238E27FC236}">
                <a16:creationId xmlns:a16="http://schemas.microsoft.com/office/drawing/2014/main" id="{0C152B8E-B44A-85A2-120A-FAFA4D58C8BA}"/>
              </a:ext>
            </a:extLst>
          </p:cNvPr>
          <p:cNvGrpSpPr/>
          <p:nvPr/>
        </p:nvGrpSpPr>
        <p:grpSpPr>
          <a:xfrm>
            <a:off x="9800681" y="299796"/>
            <a:ext cx="1803056" cy="552365"/>
            <a:chOff x="10126451" y="192765"/>
            <a:chExt cx="1803056" cy="552365"/>
          </a:xfrm>
        </p:grpSpPr>
        <p:grpSp>
          <p:nvGrpSpPr>
            <p:cNvPr id="21" name="Group 20">
              <a:extLst>
                <a:ext uri="{FF2B5EF4-FFF2-40B4-BE49-F238E27FC236}">
                  <a16:creationId xmlns:a16="http://schemas.microsoft.com/office/drawing/2014/main" id="{85AEF5EA-5FDD-E286-5BD6-FA588E4B3D98}"/>
                </a:ext>
              </a:extLst>
            </p:cNvPr>
            <p:cNvGrpSpPr/>
            <p:nvPr/>
          </p:nvGrpSpPr>
          <p:grpSpPr>
            <a:xfrm>
              <a:off x="10752268" y="196490"/>
              <a:ext cx="548640" cy="548640"/>
              <a:chOff x="10752268" y="196490"/>
              <a:chExt cx="548640" cy="548640"/>
            </a:xfrm>
          </p:grpSpPr>
          <p:sp>
            <p:nvSpPr>
              <p:cNvPr id="69" name="Oval 68">
                <a:extLst>
                  <a:ext uri="{FF2B5EF4-FFF2-40B4-BE49-F238E27FC236}">
                    <a16:creationId xmlns:a16="http://schemas.microsoft.com/office/drawing/2014/main" id="{3072F016-515A-806E-34A8-B5D689F8BAB7}"/>
                  </a:ext>
                </a:extLst>
              </p:cNvPr>
              <p:cNvSpPr/>
              <p:nvPr/>
            </p:nvSpPr>
            <p:spPr bwMode="auto">
              <a:xfrm>
                <a:off x="10752268"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70" name="gear" descr="gear, wrench, engineer">
                <a:extLst>
                  <a:ext uri="{FF2B5EF4-FFF2-40B4-BE49-F238E27FC236}">
                    <a16:creationId xmlns:a16="http://schemas.microsoft.com/office/drawing/2014/main" id="{CCAF293B-A5D0-E632-B5D2-881E57A0C057}"/>
                  </a:ext>
                </a:extLst>
              </p:cNvPr>
              <p:cNvGrpSpPr/>
              <p:nvPr/>
            </p:nvGrpSpPr>
            <p:grpSpPr>
              <a:xfrm>
                <a:off x="10883844" y="326676"/>
                <a:ext cx="288269" cy="288268"/>
                <a:chOff x="3510968" y="2992337"/>
                <a:chExt cx="498751" cy="498751"/>
              </a:xfrm>
              <a:solidFill>
                <a:schemeClr val="bg1"/>
              </a:solidFill>
            </p:grpSpPr>
            <p:sp>
              <p:nvSpPr>
                <p:cNvPr id="72" name="Freeform: Shape 71">
                  <a:extLst>
                    <a:ext uri="{FF2B5EF4-FFF2-40B4-BE49-F238E27FC236}">
                      <a16:creationId xmlns:a16="http://schemas.microsoft.com/office/drawing/2014/main" id="{C34E0873-8006-7321-54D0-78B7AD98B61A}"/>
                    </a:ext>
                  </a:extLst>
                </p:cNvPr>
                <p:cNvSpPr/>
                <p:nvPr/>
              </p:nvSpPr>
              <p:spPr>
                <a:xfrm>
                  <a:off x="3510968" y="2992337"/>
                  <a:ext cx="498751" cy="498751"/>
                </a:xfrm>
                <a:custGeom>
                  <a:avLst/>
                  <a:gdLst>
                    <a:gd name="connsiteX0" fmla="*/ 499635 w 498751"/>
                    <a:gd name="connsiteY0" fmla="*/ 277035 h 498751"/>
                    <a:gd name="connsiteX1" fmla="*/ 499635 w 498751"/>
                    <a:gd name="connsiteY1" fmla="*/ 224623 h 498751"/>
                    <a:gd name="connsiteX2" fmla="*/ 445560 w 498751"/>
                    <a:gd name="connsiteY2" fmla="*/ 224623 h 498751"/>
                    <a:gd name="connsiteX3" fmla="*/ 407060 w 498751"/>
                    <a:gd name="connsiteY3" fmla="*/ 131698 h 498751"/>
                    <a:gd name="connsiteX4" fmla="*/ 445298 w 498751"/>
                    <a:gd name="connsiteY4" fmla="*/ 93460 h 498751"/>
                    <a:gd name="connsiteX5" fmla="*/ 408285 w 498751"/>
                    <a:gd name="connsiteY5" fmla="*/ 56448 h 498751"/>
                    <a:gd name="connsiteX6" fmla="*/ 370048 w 498751"/>
                    <a:gd name="connsiteY6" fmla="*/ 94686 h 498751"/>
                    <a:gd name="connsiteX7" fmla="*/ 277123 w 498751"/>
                    <a:gd name="connsiteY7" fmla="*/ 56186 h 498751"/>
                    <a:gd name="connsiteX8" fmla="*/ 277123 w 498751"/>
                    <a:gd name="connsiteY8" fmla="*/ 2111 h 498751"/>
                    <a:gd name="connsiteX9" fmla="*/ 224710 w 498751"/>
                    <a:gd name="connsiteY9" fmla="*/ 2111 h 498751"/>
                    <a:gd name="connsiteX10" fmla="*/ 224710 w 498751"/>
                    <a:gd name="connsiteY10" fmla="*/ 56186 h 498751"/>
                    <a:gd name="connsiteX11" fmla="*/ 131785 w 498751"/>
                    <a:gd name="connsiteY11" fmla="*/ 94686 h 498751"/>
                    <a:gd name="connsiteX12" fmla="*/ 93548 w 498751"/>
                    <a:gd name="connsiteY12" fmla="*/ 56448 h 498751"/>
                    <a:gd name="connsiteX13" fmla="*/ 56536 w 498751"/>
                    <a:gd name="connsiteY13" fmla="*/ 93460 h 498751"/>
                    <a:gd name="connsiteX14" fmla="*/ 94773 w 498751"/>
                    <a:gd name="connsiteY14" fmla="*/ 131698 h 498751"/>
                    <a:gd name="connsiteX15" fmla="*/ 56273 w 498751"/>
                    <a:gd name="connsiteY15" fmla="*/ 224623 h 498751"/>
                    <a:gd name="connsiteX16" fmla="*/ 2111 w 498751"/>
                    <a:gd name="connsiteY16" fmla="*/ 224623 h 498751"/>
                    <a:gd name="connsiteX17" fmla="*/ 2111 w 498751"/>
                    <a:gd name="connsiteY17" fmla="*/ 277035 h 498751"/>
                    <a:gd name="connsiteX18" fmla="*/ 56186 w 498751"/>
                    <a:gd name="connsiteY18" fmla="*/ 277035 h 498751"/>
                    <a:gd name="connsiteX19" fmla="*/ 112010 w 498751"/>
                    <a:gd name="connsiteY19" fmla="*/ 389735 h 498751"/>
                    <a:gd name="connsiteX20" fmla="*/ 224710 w 498751"/>
                    <a:gd name="connsiteY20" fmla="*/ 445560 h 498751"/>
                    <a:gd name="connsiteX21" fmla="*/ 224710 w 498751"/>
                    <a:gd name="connsiteY21" fmla="*/ 499635 h 498751"/>
                    <a:gd name="connsiteX22" fmla="*/ 277123 w 498751"/>
                    <a:gd name="connsiteY22" fmla="*/ 499635 h 498751"/>
                    <a:gd name="connsiteX23" fmla="*/ 277123 w 498751"/>
                    <a:gd name="connsiteY23" fmla="*/ 445560 h 498751"/>
                    <a:gd name="connsiteX24" fmla="*/ 370048 w 498751"/>
                    <a:gd name="connsiteY24" fmla="*/ 407060 h 498751"/>
                    <a:gd name="connsiteX25" fmla="*/ 408285 w 498751"/>
                    <a:gd name="connsiteY25" fmla="*/ 445298 h 498751"/>
                    <a:gd name="connsiteX26" fmla="*/ 445298 w 498751"/>
                    <a:gd name="connsiteY26" fmla="*/ 408285 h 498751"/>
                    <a:gd name="connsiteX27" fmla="*/ 407060 w 498751"/>
                    <a:gd name="connsiteY27" fmla="*/ 370048 h 498751"/>
                    <a:gd name="connsiteX28" fmla="*/ 445560 w 498751"/>
                    <a:gd name="connsiteY28" fmla="*/ 277123 h 498751"/>
                    <a:gd name="connsiteX29" fmla="*/ 499635 w 498751"/>
                    <a:gd name="connsiteY29" fmla="*/ 277123 h 498751"/>
                    <a:gd name="connsiteX30" fmla="*/ 499635 w 498751"/>
                    <a:gd name="connsiteY30" fmla="*/ 277035 h 498751"/>
                    <a:gd name="connsiteX31" fmla="*/ 106848 w 498751"/>
                    <a:gd name="connsiteY31" fmla="*/ 250873 h 498751"/>
                    <a:gd name="connsiteX32" fmla="*/ 139573 w 498751"/>
                    <a:gd name="connsiteY32" fmla="*/ 159523 h 498751"/>
                    <a:gd name="connsiteX33" fmla="*/ 222786 w 498751"/>
                    <a:gd name="connsiteY33" fmla="*/ 109648 h 498751"/>
                    <a:gd name="connsiteX34" fmla="*/ 318773 w 498751"/>
                    <a:gd name="connsiteY34" fmla="*/ 123910 h 498751"/>
                    <a:gd name="connsiteX35" fmla="*/ 383960 w 498751"/>
                    <a:gd name="connsiteY35" fmla="*/ 195835 h 498751"/>
                    <a:gd name="connsiteX36" fmla="*/ 388685 w 498751"/>
                    <a:gd name="connsiteY36" fmla="*/ 292785 h 498751"/>
                    <a:gd name="connsiteX37" fmla="*/ 330848 w 498751"/>
                    <a:gd name="connsiteY37" fmla="*/ 370748 h 498751"/>
                    <a:gd name="connsiteX38" fmla="*/ 236698 w 498751"/>
                    <a:gd name="connsiteY38" fmla="*/ 394285 h 498751"/>
                    <a:gd name="connsiteX39" fmla="*/ 148936 w 498751"/>
                    <a:gd name="connsiteY39" fmla="*/ 352810 h 498751"/>
                    <a:gd name="connsiteX40" fmla="*/ 117610 w 498751"/>
                    <a:gd name="connsiteY40" fmla="*/ 306085 h 498751"/>
                    <a:gd name="connsiteX41" fmla="*/ 106848 w 498751"/>
                    <a:gd name="connsiteY41" fmla="*/ 250873 h 498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98751" h="498751">
                      <a:moveTo>
                        <a:pt x="499635" y="277035"/>
                      </a:moveTo>
                      <a:lnTo>
                        <a:pt x="499635" y="224623"/>
                      </a:lnTo>
                      <a:lnTo>
                        <a:pt x="445560" y="224623"/>
                      </a:lnTo>
                      <a:cubicBezTo>
                        <a:pt x="441098" y="190848"/>
                        <a:pt x="427798" y="158823"/>
                        <a:pt x="407060" y="131698"/>
                      </a:cubicBezTo>
                      <a:lnTo>
                        <a:pt x="445298" y="93460"/>
                      </a:lnTo>
                      <a:lnTo>
                        <a:pt x="408285" y="56448"/>
                      </a:lnTo>
                      <a:lnTo>
                        <a:pt x="370048" y="94686"/>
                      </a:lnTo>
                      <a:cubicBezTo>
                        <a:pt x="342923" y="73948"/>
                        <a:pt x="310898" y="60648"/>
                        <a:pt x="277123" y="56186"/>
                      </a:cubicBezTo>
                      <a:lnTo>
                        <a:pt x="277123" y="2111"/>
                      </a:lnTo>
                      <a:lnTo>
                        <a:pt x="224710" y="2111"/>
                      </a:lnTo>
                      <a:lnTo>
                        <a:pt x="224710" y="56186"/>
                      </a:lnTo>
                      <a:cubicBezTo>
                        <a:pt x="190935" y="60648"/>
                        <a:pt x="158911" y="73948"/>
                        <a:pt x="131785" y="94686"/>
                      </a:cubicBezTo>
                      <a:lnTo>
                        <a:pt x="93548" y="56448"/>
                      </a:lnTo>
                      <a:lnTo>
                        <a:pt x="56536" y="93460"/>
                      </a:lnTo>
                      <a:lnTo>
                        <a:pt x="94773" y="131698"/>
                      </a:lnTo>
                      <a:cubicBezTo>
                        <a:pt x="74036" y="158823"/>
                        <a:pt x="60736" y="190848"/>
                        <a:pt x="56273" y="224623"/>
                      </a:cubicBezTo>
                      <a:lnTo>
                        <a:pt x="2111" y="224623"/>
                      </a:lnTo>
                      <a:lnTo>
                        <a:pt x="2111" y="277035"/>
                      </a:lnTo>
                      <a:lnTo>
                        <a:pt x="56186" y="277035"/>
                      </a:lnTo>
                      <a:cubicBezTo>
                        <a:pt x="61961" y="319648"/>
                        <a:pt x="81561" y="359285"/>
                        <a:pt x="112010" y="389735"/>
                      </a:cubicBezTo>
                      <a:cubicBezTo>
                        <a:pt x="142461" y="420185"/>
                        <a:pt x="182011" y="439785"/>
                        <a:pt x="224710" y="445560"/>
                      </a:cubicBezTo>
                      <a:lnTo>
                        <a:pt x="224710" y="499635"/>
                      </a:lnTo>
                      <a:lnTo>
                        <a:pt x="277123" y="499635"/>
                      </a:lnTo>
                      <a:lnTo>
                        <a:pt x="277123" y="445560"/>
                      </a:lnTo>
                      <a:cubicBezTo>
                        <a:pt x="310898" y="441098"/>
                        <a:pt x="342923" y="427798"/>
                        <a:pt x="370048" y="407060"/>
                      </a:cubicBezTo>
                      <a:lnTo>
                        <a:pt x="408285" y="445298"/>
                      </a:lnTo>
                      <a:lnTo>
                        <a:pt x="445298" y="408285"/>
                      </a:lnTo>
                      <a:lnTo>
                        <a:pt x="407060" y="370048"/>
                      </a:lnTo>
                      <a:cubicBezTo>
                        <a:pt x="427798" y="342923"/>
                        <a:pt x="441098" y="310898"/>
                        <a:pt x="445560" y="277123"/>
                      </a:cubicBezTo>
                      <a:lnTo>
                        <a:pt x="499635" y="277123"/>
                      </a:lnTo>
                      <a:lnTo>
                        <a:pt x="499635" y="277035"/>
                      </a:lnTo>
                      <a:close/>
                      <a:moveTo>
                        <a:pt x="106848" y="250873"/>
                      </a:moveTo>
                      <a:cubicBezTo>
                        <a:pt x="106848" y="217535"/>
                        <a:pt x="118398" y="185248"/>
                        <a:pt x="139573" y="159523"/>
                      </a:cubicBezTo>
                      <a:cubicBezTo>
                        <a:pt x="160748" y="133798"/>
                        <a:pt x="190148" y="116123"/>
                        <a:pt x="222786" y="109648"/>
                      </a:cubicBezTo>
                      <a:cubicBezTo>
                        <a:pt x="255423" y="103173"/>
                        <a:pt x="289373" y="108161"/>
                        <a:pt x="318773" y="123910"/>
                      </a:cubicBezTo>
                      <a:cubicBezTo>
                        <a:pt x="348173" y="139573"/>
                        <a:pt x="371185" y="165035"/>
                        <a:pt x="383960" y="195835"/>
                      </a:cubicBezTo>
                      <a:cubicBezTo>
                        <a:pt x="396735" y="226635"/>
                        <a:pt x="398397" y="260848"/>
                        <a:pt x="388685" y="292785"/>
                      </a:cubicBezTo>
                      <a:cubicBezTo>
                        <a:pt x="378973" y="324635"/>
                        <a:pt x="358585" y="352197"/>
                        <a:pt x="330848" y="370748"/>
                      </a:cubicBezTo>
                      <a:cubicBezTo>
                        <a:pt x="303110" y="389298"/>
                        <a:pt x="269860" y="397610"/>
                        <a:pt x="236698" y="394285"/>
                      </a:cubicBezTo>
                      <a:cubicBezTo>
                        <a:pt x="203535" y="391048"/>
                        <a:pt x="172560" y="376347"/>
                        <a:pt x="148936" y="352810"/>
                      </a:cubicBezTo>
                      <a:cubicBezTo>
                        <a:pt x="135548" y="339510"/>
                        <a:pt x="124873" y="323585"/>
                        <a:pt x="117610" y="306085"/>
                      </a:cubicBezTo>
                      <a:cubicBezTo>
                        <a:pt x="110523" y="288498"/>
                        <a:pt x="106761" y="269773"/>
                        <a:pt x="106848" y="25087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73" name="Freeform: Shape 72">
                  <a:extLst>
                    <a:ext uri="{FF2B5EF4-FFF2-40B4-BE49-F238E27FC236}">
                      <a16:creationId xmlns:a16="http://schemas.microsoft.com/office/drawing/2014/main" id="{8D8117CB-2916-CA56-5662-6A8CCA79B53B}"/>
                    </a:ext>
                  </a:extLst>
                </p:cNvPr>
                <p:cNvSpPr/>
                <p:nvPr/>
              </p:nvSpPr>
              <p:spPr>
                <a:xfrm>
                  <a:off x="3525494" y="3127375"/>
                  <a:ext cx="348087" cy="348087"/>
                </a:xfrm>
                <a:custGeom>
                  <a:avLst/>
                  <a:gdLst>
                    <a:gd name="connsiteX0" fmla="*/ 286398 w 348086"/>
                    <a:gd name="connsiteY0" fmla="*/ 124333 h 348086"/>
                    <a:gd name="connsiteX1" fmla="*/ 226548 w 348086"/>
                    <a:gd name="connsiteY1" fmla="*/ 64483 h 348086"/>
                    <a:gd name="connsiteX2" fmla="*/ 280448 w 348086"/>
                    <a:gd name="connsiteY2" fmla="*/ 10583 h 348086"/>
                    <a:gd name="connsiteX3" fmla="*/ 216923 w 348086"/>
                    <a:gd name="connsiteY3" fmla="*/ 4108 h 348086"/>
                    <a:gd name="connsiteX4" fmla="*/ 160310 w 348086"/>
                    <a:gd name="connsiteY4" fmla="*/ 33683 h 348086"/>
                    <a:gd name="connsiteX5" fmla="*/ 129335 w 348086"/>
                    <a:gd name="connsiteY5" fmla="*/ 89508 h 348086"/>
                    <a:gd name="connsiteX6" fmla="*/ 134235 w 348086"/>
                    <a:gd name="connsiteY6" fmla="*/ 153121 h 348086"/>
                    <a:gd name="connsiteX7" fmla="*/ 15236 w 348086"/>
                    <a:gd name="connsiteY7" fmla="*/ 272121 h 348086"/>
                    <a:gd name="connsiteX8" fmla="*/ 2111 w 348086"/>
                    <a:gd name="connsiteY8" fmla="*/ 303883 h 348086"/>
                    <a:gd name="connsiteX9" fmla="*/ 15236 w 348086"/>
                    <a:gd name="connsiteY9" fmla="*/ 335645 h 348086"/>
                    <a:gd name="connsiteX10" fmla="*/ 46998 w 348086"/>
                    <a:gd name="connsiteY10" fmla="*/ 348770 h 348086"/>
                    <a:gd name="connsiteX11" fmla="*/ 78760 w 348086"/>
                    <a:gd name="connsiteY11" fmla="*/ 335645 h 348086"/>
                    <a:gd name="connsiteX12" fmla="*/ 197760 w 348086"/>
                    <a:gd name="connsiteY12" fmla="*/ 216645 h 348086"/>
                    <a:gd name="connsiteX13" fmla="*/ 261373 w 348086"/>
                    <a:gd name="connsiteY13" fmla="*/ 221546 h 348086"/>
                    <a:gd name="connsiteX14" fmla="*/ 317198 w 348086"/>
                    <a:gd name="connsiteY14" fmla="*/ 190571 h 348086"/>
                    <a:gd name="connsiteX15" fmla="*/ 346773 w 348086"/>
                    <a:gd name="connsiteY15" fmla="*/ 134045 h 348086"/>
                    <a:gd name="connsiteX16" fmla="*/ 340298 w 348086"/>
                    <a:gd name="connsiteY16" fmla="*/ 70521 h 348086"/>
                    <a:gd name="connsiteX17" fmla="*/ 286398 w 348086"/>
                    <a:gd name="connsiteY17" fmla="*/ 124333 h 348086"/>
                    <a:gd name="connsiteX18" fmla="*/ 63011 w 348086"/>
                    <a:gd name="connsiteY18" fmla="*/ 319633 h 348086"/>
                    <a:gd name="connsiteX19" fmla="*/ 51548 w 348086"/>
                    <a:gd name="connsiteY19" fmla="*/ 325758 h 348086"/>
                    <a:gd name="connsiteX20" fmla="*/ 38598 w 348086"/>
                    <a:gd name="connsiteY20" fmla="*/ 324445 h 348086"/>
                    <a:gd name="connsiteX21" fmla="*/ 28536 w 348086"/>
                    <a:gd name="connsiteY21" fmla="*/ 316220 h 348086"/>
                    <a:gd name="connsiteX22" fmla="*/ 24773 w 348086"/>
                    <a:gd name="connsiteY22" fmla="*/ 303795 h 348086"/>
                    <a:gd name="connsiteX23" fmla="*/ 28536 w 348086"/>
                    <a:gd name="connsiteY23" fmla="*/ 291371 h 348086"/>
                    <a:gd name="connsiteX24" fmla="*/ 38598 w 348086"/>
                    <a:gd name="connsiteY24" fmla="*/ 283146 h 348086"/>
                    <a:gd name="connsiteX25" fmla="*/ 51548 w 348086"/>
                    <a:gd name="connsiteY25" fmla="*/ 281833 h 348086"/>
                    <a:gd name="connsiteX26" fmla="*/ 63011 w 348086"/>
                    <a:gd name="connsiteY26" fmla="*/ 287958 h 348086"/>
                    <a:gd name="connsiteX27" fmla="*/ 69573 w 348086"/>
                    <a:gd name="connsiteY27" fmla="*/ 303795 h 348086"/>
                    <a:gd name="connsiteX28" fmla="*/ 63011 w 348086"/>
                    <a:gd name="connsiteY28" fmla="*/ 319633 h 348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48086" h="348086">
                      <a:moveTo>
                        <a:pt x="286398" y="124333"/>
                      </a:moveTo>
                      <a:lnTo>
                        <a:pt x="226548" y="64483"/>
                      </a:lnTo>
                      <a:lnTo>
                        <a:pt x="280448" y="10583"/>
                      </a:lnTo>
                      <a:cubicBezTo>
                        <a:pt x="260410" y="2271"/>
                        <a:pt x="238273" y="-4"/>
                        <a:pt x="216923" y="4108"/>
                      </a:cubicBezTo>
                      <a:cubicBezTo>
                        <a:pt x="195573" y="8221"/>
                        <a:pt x="175885" y="18458"/>
                        <a:pt x="160310" y="33683"/>
                      </a:cubicBezTo>
                      <a:cubicBezTo>
                        <a:pt x="144735" y="48821"/>
                        <a:pt x="133973" y="68246"/>
                        <a:pt x="129335" y="89508"/>
                      </a:cubicBezTo>
                      <a:cubicBezTo>
                        <a:pt x="124698" y="110771"/>
                        <a:pt x="126448" y="132908"/>
                        <a:pt x="134235" y="153121"/>
                      </a:cubicBezTo>
                      <a:lnTo>
                        <a:pt x="15236" y="272121"/>
                      </a:lnTo>
                      <a:cubicBezTo>
                        <a:pt x="6836" y="280520"/>
                        <a:pt x="2111" y="291983"/>
                        <a:pt x="2111" y="303883"/>
                      </a:cubicBezTo>
                      <a:cubicBezTo>
                        <a:pt x="2111" y="315783"/>
                        <a:pt x="6836" y="327158"/>
                        <a:pt x="15236" y="335645"/>
                      </a:cubicBezTo>
                      <a:cubicBezTo>
                        <a:pt x="23636" y="344046"/>
                        <a:pt x="35098" y="348770"/>
                        <a:pt x="46998" y="348770"/>
                      </a:cubicBezTo>
                      <a:cubicBezTo>
                        <a:pt x="58898" y="348770"/>
                        <a:pt x="70273" y="344046"/>
                        <a:pt x="78760" y="335645"/>
                      </a:cubicBezTo>
                      <a:lnTo>
                        <a:pt x="197760" y="216645"/>
                      </a:lnTo>
                      <a:cubicBezTo>
                        <a:pt x="218060" y="224520"/>
                        <a:pt x="240110" y="226183"/>
                        <a:pt x="261373" y="221546"/>
                      </a:cubicBezTo>
                      <a:cubicBezTo>
                        <a:pt x="282635" y="216908"/>
                        <a:pt x="301973" y="206146"/>
                        <a:pt x="317198" y="190571"/>
                      </a:cubicBezTo>
                      <a:cubicBezTo>
                        <a:pt x="332335" y="174996"/>
                        <a:pt x="342660" y="155308"/>
                        <a:pt x="346773" y="134045"/>
                      </a:cubicBezTo>
                      <a:cubicBezTo>
                        <a:pt x="350885" y="112696"/>
                        <a:pt x="348610" y="90646"/>
                        <a:pt x="340298" y="70521"/>
                      </a:cubicBezTo>
                      <a:lnTo>
                        <a:pt x="286398" y="124333"/>
                      </a:lnTo>
                      <a:close/>
                      <a:moveTo>
                        <a:pt x="63011" y="319633"/>
                      </a:moveTo>
                      <a:cubicBezTo>
                        <a:pt x="59861" y="322783"/>
                        <a:pt x="55835" y="324883"/>
                        <a:pt x="51548" y="325758"/>
                      </a:cubicBezTo>
                      <a:cubicBezTo>
                        <a:pt x="47173" y="326633"/>
                        <a:pt x="42710" y="326196"/>
                        <a:pt x="38598" y="324445"/>
                      </a:cubicBezTo>
                      <a:cubicBezTo>
                        <a:pt x="34486" y="322783"/>
                        <a:pt x="30986" y="319896"/>
                        <a:pt x="28536" y="316220"/>
                      </a:cubicBezTo>
                      <a:cubicBezTo>
                        <a:pt x="26086" y="312545"/>
                        <a:pt x="24773" y="308170"/>
                        <a:pt x="24773" y="303795"/>
                      </a:cubicBezTo>
                      <a:cubicBezTo>
                        <a:pt x="24773" y="299333"/>
                        <a:pt x="26086" y="295045"/>
                        <a:pt x="28536" y="291371"/>
                      </a:cubicBezTo>
                      <a:cubicBezTo>
                        <a:pt x="30986" y="287696"/>
                        <a:pt x="34486" y="284808"/>
                        <a:pt x="38598" y="283146"/>
                      </a:cubicBezTo>
                      <a:cubicBezTo>
                        <a:pt x="42710" y="281483"/>
                        <a:pt x="47173" y="281046"/>
                        <a:pt x="51548" y="281833"/>
                      </a:cubicBezTo>
                      <a:cubicBezTo>
                        <a:pt x="55923" y="282708"/>
                        <a:pt x="59861" y="284808"/>
                        <a:pt x="63011" y="287958"/>
                      </a:cubicBezTo>
                      <a:cubicBezTo>
                        <a:pt x="67211" y="292158"/>
                        <a:pt x="69573" y="297846"/>
                        <a:pt x="69573" y="303795"/>
                      </a:cubicBezTo>
                      <a:cubicBezTo>
                        <a:pt x="69573" y="309746"/>
                        <a:pt x="67211" y="315433"/>
                        <a:pt x="63011" y="31963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sp>
            <p:nvSpPr>
              <p:cNvPr id="71" name="Oval 70">
                <a:extLst>
                  <a:ext uri="{FF2B5EF4-FFF2-40B4-BE49-F238E27FC236}">
                    <a16:creationId xmlns:a16="http://schemas.microsoft.com/office/drawing/2014/main" id="{190CBA8A-11C2-380C-B822-E34230135C54}"/>
                  </a:ext>
                </a:extLst>
              </p:cNvPr>
              <p:cNvSpPr>
                <a:spLocks/>
              </p:cNvSpPr>
              <p:nvPr/>
            </p:nvSpPr>
            <p:spPr bwMode="auto">
              <a:xfrm>
                <a:off x="10778606"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22" name="Group 21">
              <a:extLst>
                <a:ext uri="{FF2B5EF4-FFF2-40B4-BE49-F238E27FC236}">
                  <a16:creationId xmlns:a16="http://schemas.microsoft.com/office/drawing/2014/main" id="{FB7D5961-32DA-485F-5505-17D837494917}"/>
                </a:ext>
              </a:extLst>
            </p:cNvPr>
            <p:cNvGrpSpPr/>
            <p:nvPr/>
          </p:nvGrpSpPr>
          <p:grpSpPr>
            <a:xfrm>
              <a:off x="10126451" y="192765"/>
              <a:ext cx="548640" cy="548640"/>
              <a:chOff x="10126451" y="192765"/>
              <a:chExt cx="548640" cy="548640"/>
            </a:xfrm>
          </p:grpSpPr>
          <p:grpSp>
            <p:nvGrpSpPr>
              <p:cNvPr id="62" name="Group 61">
                <a:extLst>
                  <a:ext uri="{FF2B5EF4-FFF2-40B4-BE49-F238E27FC236}">
                    <a16:creationId xmlns:a16="http://schemas.microsoft.com/office/drawing/2014/main" id="{FC1FDF7F-00AE-24A8-5C8C-51526A7F97BC}"/>
                  </a:ext>
                </a:extLst>
              </p:cNvPr>
              <p:cNvGrpSpPr/>
              <p:nvPr/>
            </p:nvGrpSpPr>
            <p:grpSpPr>
              <a:xfrm>
                <a:off x="10126451" y="192765"/>
                <a:ext cx="548640" cy="548640"/>
                <a:chOff x="10753659" y="196490"/>
                <a:chExt cx="548640" cy="548640"/>
              </a:xfrm>
            </p:grpSpPr>
            <p:sp>
              <p:nvSpPr>
                <p:cNvPr id="67" name="Oval 66">
                  <a:extLst>
                    <a:ext uri="{FF2B5EF4-FFF2-40B4-BE49-F238E27FC236}">
                      <a16:creationId xmlns:a16="http://schemas.microsoft.com/office/drawing/2014/main" id="{FBC677A7-80F2-C4F1-8F7C-4F76BDC29554}"/>
                    </a:ext>
                  </a:extLst>
                </p:cNvPr>
                <p:cNvSpPr/>
                <p:nvPr/>
              </p:nvSpPr>
              <p:spPr bwMode="auto">
                <a:xfrm>
                  <a:off x="10753659"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68" name="Oval 67">
                  <a:extLst>
                    <a:ext uri="{FF2B5EF4-FFF2-40B4-BE49-F238E27FC236}">
                      <a16:creationId xmlns:a16="http://schemas.microsoft.com/office/drawing/2014/main" id="{8F7A0D68-0B77-548A-CDEE-8E74D862FB3E}"/>
                    </a:ext>
                  </a:extLst>
                </p:cNvPr>
                <p:cNvSpPr>
                  <a:spLocks/>
                </p:cNvSpPr>
                <p:nvPr/>
              </p:nvSpPr>
              <p:spPr bwMode="auto">
                <a:xfrm>
                  <a:off x="10779997"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63" name="Group 62">
                <a:extLst>
                  <a:ext uri="{FF2B5EF4-FFF2-40B4-BE49-F238E27FC236}">
                    <a16:creationId xmlns:a16="http://schemas.microsoft.com/office/drawing/2014/main" id="{B1A43ABD-6371-C09B-5439-EADD8129A898}"/>
                  </a:ext>
                </a:extLst>
              </p:cNvPr>
              <p:cNvGrpSpPr/>
              <p:nvPr/>
            </p:nvGrpSpPr>
            <p:grpSpPr>
              <a:xfrm>
                <a:off x="10243674" y="318889"/>
                <a:ext cx="314209" cy="303840"/>
                <a:chOff x="3504064" y="4676412"/>
                <a:chExt cx="509193" cy="492392"/>
              </a:xfrm>
            </p:grpSpPr>
            <p:sp>
              <p:nvSpPr>
                <p:cNvPr id="64" name="Oval 63">
                  <a:extLst>
                    <a:ext uri="{FF2B5EF4-FFF2-40B4-BE49-F238E27FC236}">
                      <a16:creationId xmlns:a16="http://schemas.microsoft.com/office/drawing/2014/main" id="{ADC2A572-71F2-B7CB-D6F5-B03CCA6C0AE8}"/>
                    </a:ext>
                  </a:extLst>
                </p:cNvPr>
                <p:cNvSpPr/>
                <p:nvPr/>
              </p:nvSpPr>
              <p:spPr bwMode="auto">
                <a:xfrm>
                  <a:off x="3504064"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5" name="Oval 64">
                  <a:extLst>
                    <a:ext uri="{FF2B5EF4-FFF2-40B4-BE49-F238E27FC236}">
                      <a16:creationId xmlns:a16="http://schemas.microsoft.com/office/drawing/2014/main" id="{9023708B-3F6D-28D0-8C04-82232F7B920A}"/>
                    </a:ext>
                  </a:extLst>
                </p:cNvPr>
                <p:cNvSpPr/>
                <p:nvPr/>
              </p:nvSpPr>
              <p:spPr bwMode="auto">
                <a:xfrm>
                  <a:off x="3671817"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6" name="Oval 65">
                  <a:extLst>
                    <a:ext uri="{FF2B5EF4-FFF2-40B4-BE49-F238E27FC236}">
                      <a16:creationId xmlns:a16="http://schemas.microsoft.com/office/drawing/2014/main" id="{7A03567B-4A73-A591-583D-1239FD0773E9}"/>
                    </a:ext>
                  </a:extLst>
                </p:cNvPr>
                <p:cNvSpPr/>
                <p:nvPr/>
              </p:nvSpPr>
              <p:spPr bwMode="auto">
                <a:xfrm>
                  <a:off x="3587940" y="4676412"/>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grpSp>
          <p:nvGrpSpPr>
            <p:cNvPr id="23" name="Group 22">
              <a:extLst>
                <a:ext uri="{FF2B5EF4-FFF2-40B4-BE49-F238E27FC236}">
                  <a16:creationId xmlns:a16="http://schemas.microsoft.com/office/drawing/2014/main" id="{CE196CEA-29EE-C4B5-97A9-38B1DF3C39F3}"/>
                </a:ext>
              </a:extLst>
            </p:cNvPr>
            <p:cNvGrpSpPr/>
            <p:nvPr/>
          </p:nvGrpSpPr>
          <p:grpSpPr>
            <a:xfrm>
              <a:off x="11380867" y="196490"/>
              <a:ext cx="548640" cy="548640"/>
              <a:chOff x="11380867" y="196490"/>
              <a:chExt cx="548640" cy="548640"/>
            </a:xfrm>
          </p:grpSpPr>
          <p:sp>
            <p:nvSpPr>
              <p:cNvPr id="24" name="Oval 23">
                <a:extLst>
                  <a:ext uri="{FF2B5EF4-FFF2-40B4-BE49-F238E27FC236}">
                    <a16:creationId xmlns:a16="http://schemas.microsoft.com/office/drawing/2014/main" id="{F5697CEB-CC45-2087-9E46-858FFEE339A3}"/>
                  </a:ext>
                </a:extLst>
              </p:cNvPr>
              <p:cNvSpPr/>
              <p:nvPr/>
            </p:nvSpPr>
            <p:spPr bwMode="auto">
              <a:xfrm>
                <a:off x="11380867" y="196490"/>
                <a:ext cx="548640" cy="548640"/>
              </a:xfrm>
              <a:prstGeom prst="ellipse">
                <a:avLst/>
              </a:prstGeom>
              <a:solidFill>
                <a:srgbClr val="1A2B46"/>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5" name="Oval 24">
                <a:extLst>
                  <a:ext uri="{FF2B5EF4-FFF2-40B4-BE49-F238E27FC236}">
                    <a16:creationId xmlns:a16="http://schemas.microsoft.com/office/drawing/2014/main" id="{5737D71F-0311-AC43-4E65-86282C4D0EEE}"/>
                  </a:ext>
                </a:extLst>
              </p:cNvPr>
              <p:cNvSpPr>
                <a:spLocks/>
              </p:cNvSpPr>
              <p:nvPr/>
            </p:nvSpPr>
            <p:spPr bwMode="auto">
              <a:xfrm>
                <a:off x="11407205"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26" name="Group 25">
                <a:extLst>
                  <a:ext uri="{FF2B5EF4-FFF2-40B4-BE49-F238E27FC236}">
                    <a16:creationId xmlns:a16="http://schemas.microsoft.com/office/drawing/2014/main" id="{B23CB64B-38F2-82E3-4A57-48C7FF4B76C2}"/>
                  </a:ext>
                </a:extLst>
              </p:cNvPr>
              <p:cNvGrpSpPr/>
              <p:nvPr/>
            </p:nvGrpSpPr>
            <p:grpSpPr>
              <a:xfrm>
                <a:off x="11478807" y="317384"/>
                <a:ext cx="352760" cy="306952"/>
                <a:chOff x="10772223" y="7410567"/>
                <a:chExt cx="346174" cy="301219"/>
              </a:xfrm>
            </p:grpSpPr>
            <p:sp>
              <p:nvSpPr>
                <p:cNvPr id="33" name="Freeform: Shape 32">
                  <a:extLst>
                    <a:ext uri="{FF2B5EF4-FFF2-40B4-BE49-F238E27FC236}">
                      <a16:creationId xmlns:a16="http://schemas.microsoft.com/office/drawing/2014/main" id="{3F770E63-AA90-D669-C613-070BC9827FC7}"/>
                    </a:ext>
                  </a:extLst>
                </p:cNvPr>
                <p:cNvSpPr/>
                <p:nvPr/>
              </p:nvSpPr>
              <p:spPr>
                <a:xfrm>
                  <a:off x="10840877" y="7661402"/>
                  <a:ext cx="236157" cy="47232"/>
                </a:xfrm>
                <a:custGeom>
                  <a:avLst/>
                  <a:gdLst>
                    <a:gd name="connsiteX0" fmla="*/ 121141 w 259772"/>
                    <a:gd name="connsiteY0" fmla="*/ 17145 h 51954"/>
                    <a:gd name="connsiteX1" fmla="*/ 267306 w 259772"/>
                    <a:gd name="connsiteY1" fmla="*/ 0 h 51954"/>
                    <a:gd name="connsiteX2" fmla="*/ 267306 w 259772"/>
                    <a:gd name="connsiteY2" fmla="*/ 25718 h 51954"/>
                    <a:gd name="connsiteX3" fmla="*/ 238039 w 259772"/>
                    <a:gd name="connsiteY3" fmla="*/ 60008 h 51954"/>
                    <a:gd name="connsiteX4" fmla="*/ 33424 w 259772"/>
                    <a:gd name="connsiteY4" fmla="*/ 60008 h 51954"/>
                    <a:gd name="connsiteX5" fmla="*/ 0 w 259772"/>
                    <a:gd name="connsiteY5" fmla="*/ 25718 h 51954"/>
                    <a:gd name="connsiteX6" fmla="*/ 0 w 259772"/>
                    <a:gd name="connsiteY6" fmla="*/ 4330 h 51954"/>
                    <a:gd name="connsiteX7" fmla="*/ 121141 w 259772"/>
                    <a:gd name="connsiteY7" fmla="*/ 17145 h 51954"/>
                    <a:gd name="connsiteX8" fmla="*/ 121141 w 259772"/>
                    <a:gd name="connsiteY8" fmla="*/ 17145 h 51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772" h="51954">
                      <a:moveTo>
                        <a:pt x="121141" y="17145"/>
                      </a:moveTo>
                      <a:cubicBezTo>
                        <a:pt x="175433" y="17145"/>
                        <a:pt x="225569" y="12902"/>
                        <a:pt x="267306" y="0"/>
                      </a:cubicBezTo>
                      <a:cubicBezTo>
                        <a:pt x="267306" y="8573"/>
                        <a:pt x="267306" y="17145"/>
                        <a:pt x="267306" y="25718"/>
                      </a:cubicBezTo>
                      <a:cubicBezTo>
                        <a:pt x="267306" y="42863"/>
                        <a:pt x="254751" y="60008"/>
                        <a:pt x="238039" y="60008"/>
                      </a:cubicBezTo>
                      <a:cubicBezTo>
                        <a:pt x="238039" y="60008"/>
                        <a:pt x="238039" y="60008"/>
                        <a:pt x="33424" y="60008"/>
                      </a:cubicBezTo>
                      <a:cubicBezTo>
                        <a:pt x="16712" y="60008"/>
                        <a:pt x="0" y="42863"/>
                        <a:pt x="0" y="25718"/>
                      </a:cubicBezTo>
                      <a:cubicBezTo>
                        <a:pt x="0" y="25718"/>
                        <a:pt x="0" y="25718"/>
                        <a:pt x="0" y="4330"/>
                      </a:cubicBezTo>
                      <a:cubicBezTo>
                        <a:pt x="37580" y="12815"/>
                        <a:pt x="79404" y="17145"/>
                        <a:pt x="121141" y="17145"/>
                      </a:cubicBezTo>
                      <a:lnTo>
                        <a:pt x="121141" y="17145"/>
                      </a:lnTo>
                      <a:close/>
                    </a:path>
                  </a:pathLst>
                </a:custGeom>
                <a:solidFill>
                  <a:schemeClr val="accent1"/>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nvGrpSpPr>
                <p:cNvPr id="35" name="Group 34">
                  <a:extLst>
                    <a:ext uri="{FF2B5EF4-FFF2-40B4-BE49-F238E27FC236}">
                      <a16:creationId xmlns:a16="http://schemas.microsoft.com/office/drawing/2014/main" id="{60822D32-02DD-84A5-5B03-D5FE2A8018E7}"/>
                    </a:ext>
                  </a:extLst>
                </p:cNvPr>
                <p:cNvGrpSpPr/>
                <p:nvPr/>
              </p:nvGrpSpPr>
              <p:grpSpPr>
                <a:xfrm>
                  <a:off x="10772223" y="7410567"/>
                  <a:ext cx="346174" cy="301219"/>
                  <a:chOff x="10772223" y="1543167"/>
                  <a:chExt cx="346174" cy="301219"/>
                </a:xfrm>
              </p:grpSpPr>
              <p:sp>
                <p:nvSpPr>
                  <p:cNvPr id="46" name="Freeform: Shape 45">
                    <a:extLst>
                      <a:ext uri="{FF2B5EF4-FFF2-40B4-BE49-F238E27FC236}">
                        <a16:creationId xmlns:a16="http://schemas.microsoft.com/office/drawing/2014/main" id="{54B3F07A-7A3D-20C2-B64A-4F6AF930EC98}"/>
                      </a:ext>
                    </a:extLst>
                  </p:cNvPr>
                  <p:cNvSpPr/>
                  <p:nvPr/>
                </p:nvSpPr>
                <p:spPr>
                  <a:xfrm rot="13310739">
                    <a:off x="10772223" y="1543167"/>
                    <a:ext cx="346174" cy="301219"/>
                  </a:xfrm>
                  <a:custGeom>
                    <a:avLst/>
                    <a:gdLst>
                      <a:gd name="connsiteX0" fmla="*/ 335526 w 346174"/>
                      <a:gd name="connsiteY0" fmla="*/ 221002 h 301219"/>
                      <a:gd name="connsiteX1" fmla="*/ 256301 w 346174"/>
                      <a:gd name="connsiteY1" fmla="*/ 291951 h 301219"/>
                      <a:gd name="connsiteX2" fmla="*/ 228767 w 346174"/>
                      <a:gd name="connsiteY2" fmla="*/ 300970 h 301219"/>
                      <a:gd name="connsiteX3" fmla="*/ 144718 w 346174"/>
                      <a:gd name="connsiteY3" fmla="*/ 292547 h 301219"/>
                      <a:gd name="connsiteX4" fmla="*/ 112227 w 346174"/>
                      <a:gd name="connsiteY4" fmla="*/ 290366 h 301219"/>
                      <a:gd name="connsiteX5" fmla="*/ 104454 w 346174"/>
                      <a:gd name="connsiteY5" fmla="*/ 281687 h 301219"/>
                      <a:gd name="connsiteX6" fmla="*/ 0 w 346174"/>
                      <a:gd name="connsiteY6" fmla="*/ 165049 h 301219"/>
                      <a:gd name="connsiteX7" fmla="*/ 88589 w 346174"/>
                      <a:gd name="connsiteY7" fmla="*/ 64791 h 301219"/>
                      <a:gd name="connsiteX8" fmla="*/ 178400 w 346174"/>
                      <a:gd name="connsiteY8" fmla="*/ 0 h 301219"/>
                      <a:gd name="connsiteX9" fmla="*/ 295826 w 346174"/>
                      <a:gd name="connsiteY9" fmla="*/ 131123 h 301219"/>
                      <a:gd name="connsiteX10" fmla="*/ 311423 w 346174"/>
                      <a:gd name="connsiteY10" fmla="*/ 148540 h 301219"/>
                      <a:gd name="connsiteX11" fmla="*/ 329593 w 346174"/>
                      <a:gd name="connsiteY11" fmla="*/ 168830 h 301219"/>
                      <a:gd name="connsiteX12" fmla="*/ 339992 w 346174"/>
                      <a:gd name="connsiteY12" fmla="*/ 180441 h 301219"/>
                      <a:gd name="connsiteX13" fmla="*/ 335526 w 346174"/>
                      <a:gd name="connsiteY13" fmla="*/ 221002 h 30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174" h="301219">
                        <a:moveTo>
                          <a:pt x="335526" y="221002"/>
                        </a:moveTo>
                        <a:cubicBezTo>
                          <a:pt x="335526" y="221002"/>
                          <a:pt x="335526" y="221002"/>
                          <a:pt x="256301" y="291951"/>
                        </a:cubicBezTo>
                        <a:cubicBezTo>
                          <a:pt x="247857" y="299513"/>
                          <a:pt x="244983" y="302087"/>
                          <a:pt x="228767" y="300970"/>
                        </a:cubicBezTo>
                        <a:cubicBezTo>
                          <a:pt x="228767" y="300970"/>
                          <a:pt x="228767" y="300970"/>
                          <a:pt x="144718" y="292547"/>
                        </a:cubicBezTo>
                        <a:lnTo>
                          <a:pt x="112227" y="290366"/>
                        </a:lnTo>
                        <a:cubicBezTo>
                          <a:pt x="107027" y="284560"/>
                          <a:pt x="104454" y="281687"/>
                          <a:pt x="104454" y="281687"/>
                        </a:cubicBezTo>
                        <a:cubicBezTo>
                          <a:pt x="104454" y="281687"/>
                          <a:pt x="49365" y="220171"/>
                          <a:pt x="0" y="165049"/>
                        </a:cubicBezTo>
                        <a:cubicBezTo>
                          <a:pt x="17436" y="138972"/>
                          <a:pt x="46132" y="102813"/>
                          <a:pt x="88589" y="64791"/>
                        </a:cubicBezTo>
                        <a:cubicBezTo>
                          <a:pt x="119728" y="36905"/>
                          <a:pt x="150565" y="14466"/>
                          <a:pt x="178400" y="0"/>
                        </a:cubicBezTo>
                        <a:cubicBezTo>
                          <a:pt x="186172" y="8679"/>
                          <a:pt x="269831" y="102096"/>
                          <a:pt x="295826" y="131123"/>
                        </a:cubicBezTo>
                        <a:lnTo>
                          <a:pt x="311423" y="148540"/>
                        </a:lnTo>
                        <a:cubicBezTo>
                          <a:pt x="321821" y="160151"/>
                          <a:pt x="329593" y="168830"/>
                          <a:pt x="329593" y="168830"/>
                        </a:cubicBezTo>
                        <a:cubicBezTo>
                          <a:pt x="332219" y="171762"/>
                          <a:pt x="337419" y="177568"/>
                          <a:pt x="339992" y="180441"/>
                        </a:cubicBezTo>
                        <a:cubicBezTo>
                          <a:pt x="350390" y="192052"/>
                          <a:pt x="346844" y="210867"/>
                          <a:pt x="335526" y="221002"/>
                        </a:cubicBezTo>
                        <a:close/>
                      </a:path>
                    </a:pathLst>
                  </a:custGeom>
                  <a:solidFill>
                    <a:schemeClr val="accent1"/>
                  </a:solidFill>
                  <a:ln w="8603"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61" name="Freeform: Shape 60">
                    <a:extLst>
                      <a:ext uri="{FF2B5EF4-FFF2-40B4-BE49-F238E27FC236}">
                        <a16:creationId xmlns:a16="http://schemas.microsoft.com/office/drawing/2014/main" id="{C58A59DD-705D-ECCE-3EFC-D70D47EB640E}"/>
                      </a:ext>
                    </a:extLst>
                  </p:cNvPr>
                  <p:cNvSpPr/>
                  <p:nvPr/>
                </p:nvSpPr>
                <p:spPr>
                  <a:xfrm>
                    <a:off x="10892650" y="1664886"/>
                    <a:ext cx="141110" cy="110872"/>
                  </a:xfrm>
                  <a:custGeom>
                    <a:avLst/>
                    <a:gdLst>
                      <a:gd name="connsiteX0" fmla="*/ 106680 w 121227"/>
                      <a:gd name="connsiteY0" fmla="*/ 0 h 95250"/>
                      <a:gd name="connsiteX1" fmla="*/ 48751 w 121227"/>
                      <a:gd name="connsiteY1" fmla="*/ 64683 h 95250"/>
                      <a:gd name="connsiteX2" fmla="*/ 18271 w 121227"/>
                      <a:gd name="connsiteY2" fmla="*/ 35416 h 95250"/>
                      <a:gd name="connsiteX3" fmla="*/ 0 w 121227"/>
                      <a:gd name="connsiteY3" fmla="*/ 55418 h 95250"/>
                      <a:gd name="connsiteX4" fmla="*/ 48837 w 121227"/>
                      <a:gd name="connsiteY4" fmla="*/ 100013 h 95250"/>
                      <a:gd name="connsiteX5" fmla="*/ 125124 w 121227"/>
                      <a:gd name="connsiteY5" fmla="*/ 20003 h 95250"/>
                      <a:gd name="connsiteX6" fmla="*/ 106680 w 121227"/>
                      <a:gd name="connsiteY6" fmla="*/ 0 h 95250"/>
                      <a:gd name="connsiteX7" fmla="*/ 106680 w 121227"/>
                      <a:gd name="connsiteY7" fmla="*/ 0 h 95250"/>
                      <a:gd name="connsiteX8" fmla="*/ 106680 w 121227"/>
                      <a:gd name="connsiteY8"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227" h="95250">
                        <a:moveTo>
                          <a:pt x="106680" y="0"/>
                        </a:moveTo>
                        <a:cubicBezTo>
                          <a:pt x="106680" y="0"/>
                          <a:pt x="74641" y="35416"/>
                          <a:pt x="48751" y="64683"/>
                        </a:cubicBezTo>
                        <a:cubicBezTo>
                          <a:pt x="36541" y="53946"/>
                          <a:pt x="18271" y="35416"/>
                          <a:pt x="18271" y="35416"/>
                        </a:cubicBezTo>
                        <a:cubicBezTo>
                          <a:pt x="0" y="55418"/>
                          <a:pt x="0" y="55418"/>
                          <a:pt x="0" y="55418"/>
                        </a:cubicBezTo>
                        <a:cubicBezTo>
                          <a:pt x="48837" y="100013"/>
                          <a:pt x="48837" y="100013"/>
                          <a:pt x="48837" y="100013"/>
                        </a:cubicBezTo>
                        <a:cubicBezTo>
                          <a:pt x="125124" y="20003"/>
                          <a:pt x="125124" y="20003"/>
                          <a:pt x="125124" y="20003"/>
                        </a:cubicBezTo>
                        <a:cubicBezTo>
                          <a:pt x="106680" y="0"/>
                          <a:pt x="106680" y="0"/>
                          <a:pt x="106680" y="0"/>
                        </a:cubicBezTo>
                        <a:lnTo>
                          <a:pt x="106680" y="0"/>
                        </a:lnTo>
                        <a:lnTo>
                          <a:pt x="106680" y="0"/>
                        </a:lnTo>
                        <a:close/>
                      </a:path>
                    </a:pathLst>
                  </a:custGeom>
                  <a:solidFill>
                    <a:srgbClr val="50E6FF"/>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grpSp>
        </p:grpSp>
      </p:grpSp>
      <p:sp>
        <p:nvSpPr>
          <p:cNvPr id="74" name="Title 1">
            <a:extLst>
              <a:ext uri="{FF2B5EF4-FFF2-40B4-BE49-F238E27FC236}">
                <a16:creationId xmlns:a16="http://schemas.microsoft.com/office/drawing/2014/main" id="{853DD487-E72E-6C91-047A-46F0C13E931F}"/>
              </a:ext>
            </a:extLst>
          </p:cNvPr>
          <p:cNvSpPr txBox="1">
            <a:spLocks/>
          </p:cNvSpPr>
          <p:nvPr/>
        </p:nvSpPr>
        <p:spPr>
          <a:xfrm>
            <a:off x="15475" y="224772"/>
            <a:ext cx="2636285" cy="809669"/>
          </a:xfrm>
          <a:prstGeom prst="rect">
            <a:avLst/>
          </a:prstGeom>
        </p:spPr>
        <p:txBody>
          <a:bodyPr lIns="274320" tIns="182880"/>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0" normalizeH="0" baseline="0" noProof="0">
                <a:ln w="3175">
                  <a:noFill/>
                </a:ln>
                <a:solidFill>
                  <a:schemeClr val="tx2"/>
                </a:solidFill>
                <a:effectLst/>
                <a:uLnTx/>
                <a:uFillTx/>
                <a:ea typeface="+mn-ea"/>
                <a:cs typeface="Segoe UI" pitchFamily="34" charset="0"/>
              </a:rPr>
              <a:t>The commercial </a:t>
            </a:r>
            <a:r>
              <a:rPr lang="en-US" sz="1800" spc="0">
                <a:solidFill>
                  <a:schemeClr val="tx2"/>
                </a:solidFill>
              </a:rPr>
              <a:t>m</a:t>
            </a:r>
            <a:r>
              <a:rPr kumimoji="0" lang="en-US" sz="1800" b="0" i="0" u="none" strike="noStrike" kern="1200" cap="none" spc="0" normalizeH="0" baseline="0" noProof="0" err="1">
                <a:ln w="3175">
                  <a:noFill/>
                </a:ln>
                <a:solidFill>
                  <a:schemeClr val="tx2"/>
                </a:solidFill>
                <a:effectLst/>
                <a:uLnTx/>
                <a:uFillTx/>
                <a:ea typeface="+mn-ea"/>
                <a:cs typeface="Segoe UI" pitchFamily="34" charset="0"/>
              </a:rPr>
              <a:t>arketplace</a:t>
            </a:r>
            <a:endParaRPr kumimoji="0" lang="en-US" sz="1800" b="0" i="0" u="none" strike="noStrike" kern="1200" cap="none" spc="0" normalizeH="0" baseline="0" noProof="0">
              <a:ln w="3175">
                <a:noFill/>
              </a:ln>
              <a:solidFill>
                <a:schemeClr val="tx2"/>
              </a:solidFill>
              <a:effectLst/>
              <a:uLnTx/>
              <a:uFillTx/>
              <a:ea typeface="+mn-ea"/>
              <a:cs typeface="Segoe UI" pitchFamily="34" charset="0"/>
            </a:endParaRPr>
          </a:p>
        </p:txBody>
      </p:sp>
      <p:sp>
        <p:nvSpPr>
          <p:cNvPr id="76" name="Rectangle: Rounded Corners 75">
            <a:extLst>
              <a:ext uri="{FF2B5EF4-FFF2-40B4-BE49-F238E27FC236}">
                <a16:creationId xmlns:a16="http://schemas.microsoft.com/office/drawing/2014/main" id="{296FEAE6-A65A-ABE3-CFB5-094C5492E502}"/>
              </a:ext>
            </a:extLst>
          </p:cNvPr>
          <p:cNvSpPr/>
          <p:nvPr/>
        </p:nvSpPr>
        <p:spPr bwMode="auto">
          <a:xfrm>
            <a:off x="-279050" y="3562784"/>
            <a:ext cx="2651760" cy="365760"/>
          </a:xfrm>
          <a:prstGeom prst="roundRect">
            <a:avLst>
              <a:gd name="adj" fmla="val 50000"/>
            </a:avLst>
          </a:prstGeom>
          <a:solidFill>
            <a:srgbClr val="C73EC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0" rIns="9144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bg1"/>
              </a:solidFill>
              <a:effectLst/>
              <a:uLnTx/>
              <a:uFillTx/>
              <a:latin typeface="Segoe UI Semibold"/>
              <a:ea typeface="+mn-ea"/>
              <a:cs typeface="Segoe UI Semilight" panose="020B0402040204020203" pitchFamily="34" charset="0"/>
            </a:endParaRPr>
          </a:p>
        </p:txBody>
      </p:sp>
      <p:sp>
        <p:nvSpPr>
          <p:cNvPr id="77" name="Rectangle: Rounded Corners 76">
            <a:extLst>
              <a:ext uri="{FF2B5EF4-FFF2-40B4-BE49-F238E27FC236}">
                <a16:creationId xmlns:a16="http://schemas.microsoft.com/office/drawing/2014/main" id="{7AC00AB2-DC47-27DD-A9B4-ED2C548BF5B7}"/>
              </a:ext>
            </a:extLst>
          </p:cNvPr>
          <p:cNvSpPr/>
          <p:nvPr/>
        </p:nvSpPr>
        <p:spPr bwMode="auto">
          <a:xfrm>
            <a:off x="0" y="180602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Setup</a:t>
            </a:r>
          </a:p>
        </p:txBody>
      </p:sp>
      <p:sp>
        <p:nvSpPr>
          <p:cNvPr id="78" name="Rectangle: Rounded Corners 77">
            <a:extLst>
              <a:ext uri="{FF2B5EF4-FFF2-40B4-BE49-F238E27FC236}">
                <a16:creationId xmlns:a16="http://schemas.microsoft.com/office/drawing/2014/main" id="{E0669AFF-4A7C-0548-0A87-46C599210740}"/>
              </a:ext>
            </a:extLst>
          </p:cNvPr>
          <p:cNvSpPr/>
          <p:nvPr/>
        </p:nvSpPr>
        <p:spPr bwMode="auto">
          <a:xfrm>
            <a:off x="0" y="2245217"/>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Properties</a:t>
            </a:r>
          </a:p>
        </p:txBody>
      </p:sp>
      <p:sp>
        <p:nvSpPr>
          <p:cNvPr id="79" name="Rectangle: Rounded Corners 78">
            <a:extLst>
              <a:ext uri="{FF2B5EF4-FFF2-40B4-BE49-F238E27FC236}">
                <a16:creationId xmlns:a16="http://schemas.microsoft.com/office/drawing/2014/main" id="{B9DD8DC9-2363-F452-87DF-781731F9913B}"/>
              </a:ext>
            </a:extLst>
          </p:cNvPr>
          <p:cNvSpPr/>
          <p:nvPr/>
        </p:nvSpPr>
        <p:spPr bwMode="auto">
          <a:xfrm>
            <a:off x="0" y="2684406"/>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Listing</a:t>
            </a:r>
          </a:p>
        </p:txBody>
      </p:sp>
      <p:sp>
        <p:nvSpPr>
          <p:cNvPr id="80" name="Rectangle: Rounded Corners 79">
            <a:extLst>
              <a:ext uri="{FF2B5EF4-FFF2-40B4-BE49-F238E27FC236}">
                <a16:creationId xmlns:a16="http://schemas.microsoft.com/office/drawing/2014/main" id="{8676452A-17BA-5BC1-C4B2-B116EC1E772E}"/>
              </a:ext>
            </a:extLst>
          </p:cNvPr>
          <p:cNvSpPr/>
          <p:nvPr/>
        </p:nvSpPr>
        <p:spPr bwMode="auto">
          <a:xfrm>
            <a:off x="0" y="312359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Pricing and Availability</a:t>
            </a:r>
          </a:p>
        </p:txBody>
      </p:sp>
      <p:sp>
        <p:nvSpPr>
          <p:cNvPr id="81" name="Rectangle: Rounded Corners 80">
            <a:extLst>
              <a:ext uri="{FF2B5EF4-FFF2-40B4-BE49-F238E27FC236}">
                <a16:creationId xmlns:a16="http://schemas.microsoft.com/office/drawing/2014/main" id="{3D3A2A31-68F0-DE05-78E9-E75EDBB890DB}"/>
              </a:ext>
            </a:extLst>
          </p:cNvPr>
          <p:cNvSpPr/>
          <p:nvPr/>
        </p:nvSpPr>
        <p:spPr bwMode="auto">
          <a:xfrm>
            <a:off x="0" y="356278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j-lt"/>
                <a:ea typeface="+mn-ea"/>
                <a:cs typeface="Segoe UI Semilight" panose="020B0402040204020203" pitchFamily="34" charset="0"/>
              </a:rPr>
              <a:t>Co-sell with Microsoft </a:t>
            </a:r>
          </a:p>
        </p:txBody>
      </p:sp>
      <p:sp>
        <p:nvSpPr>
          <p:cNvPr id="82" name="Rectangle: Rounded Corners 81">
            <a:extLst>
              <a:ext uri="{FF2B5EF4-FFF2-40B4-BE49-F238E27FC236}">
                <a16:creationId xmlns:a16="http://schemas.microsoft.com/office/drawing/2014/main" id="{E2D92E29-4E65-3517-2A0D-B2993645C59D}"/>
              </a:ext>
            </a:extLst>
          </p:cNvPr>
          <p:cNvSpPr/>
          <p:nvPr/>
        </p:nvSpPr>
        <p:spPr bwMode="auto">
          <a:xfrm>
            <a:off x="0" y="136683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Setup</a:t>
            </a:r>
          </a:p>
        </p:txBody>
      </p:sp>
      <p:sp>
        <p:nvSpPr>
          <p:cNvPr id="83" name="Rectangle: Rounded Corners 82">
            <a:extLst>
              <a:ext uri="{FF2B5EF4-FFF2-40B4-BE49-F238E27FC236}">
                <a16:creationId xmlns:a16="http://schemas.microsoft.com/office/drawing/2014/main" id="{E7943D6E-2EB8-C7EC-BEE6-6886E7168804}"/>
              </a:ext>
            </a:extLst>
          </p:cNvPr>
          <p:cNvSpPr/>
          <p:nvPr/>
        </p:nvSpPr>
        <p:spPr bwMode="auto">
          <a:xfrm>
            <a:off x="117782" y="4100757"/>
            <a:ext cx="2580740" cy="1562760"/>
          </a:xfrm>
          <a:prstGeom prst="roundRect">
            <a:avLst>
              <a:gd name="adj" fmla="val 4994"/>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84" name="Picture 83">
            <a:extLst>
              <a:ext uri="{FF2B5EF4-FFF2-40B4-BE49-F238E27FC236}">
                <a16:creationId xmlns:a16="http://schemas.microsoft.com/office/drawing/2014/main" id="{F3026F81-1F0F-64A6-953F-F70D78321935}"/>
              </a:ext>
            </a:extLst>
          </p:cNvPr>
          <p:cNvPicPr>
            <a:picLocks noChangeAspect="1"/>
          </p:cNvPicPr>
          <p:nvPr/>
        </p:nvPicPr>
        <p:blipFill>
          <a:blip r:embed="rId8"/>
          <a:stretch>
            <a:fillRect/>
          </a:stretch>
        </p:blipFill>
        <p:spPr>
          <a:xfrm>
            <a:off x="292859" y="4201324"/>
            <a:ext cx="2330962" cy="1453424"/>
          </a:xfrm>
          <a:prstGeom prst="rect">
            <a:avLst/>
          </a:prstGeom>
          <a:effectLst/>
        </p:spPr>
      </p:pic>
      <p:sp>
        <p:nvSpPr>
          <p:cNvPr id="85" name="Rectangle 84">
            <a:extLst>
              <a:ext uri="{FF2B5EF4-FFF2-40B4-BE49-F238E27FC236}">
                <a16:creationId xmlns:a16="http://schemas.microsoft.com/office/drawing/2014/main" id="{44DD603B-8854-4178-F8AA-2F6982407FA5}"/>
              </a:ext>
            </a:extLst>
          </p:cNvPr>
          <p:cNvSpPr/>
          <p:nvPr/>
        </p:nvSpPr>
        <p:spPr bwMode="auto">
          <a:xfrm>
            <a:off x="223520" y="4835991"/>
            <a:ext cx="2400301" cy="402113"/>
          </a:xfrm>
          <a:prstGeom prst="rect">
            <a:avLst/>
          </a:prstGeom>
          <a:noFill/>
          <a:ln w="381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4" name="Rectangle 33">
            <a:extLst>
              <a:ext uri="{FF2B5EF4-FFF2-40B4-BE49-F238E27FC236}">
                <a16:creationId xmlns:a16="http://schemas.microsoft.com/office/drawing/2014/main" id="{62F9770F-3342-46D4-B472-3601B6EFC534}"/>
              </a:ext>
            </a:extLst>
          </p:cNvPr>
          <p:cNvSpPr/>
          <p:nvPr/>
        </p:nvSpPr>
        <p:spPr bwMode="auto">
          <a:xfrm>
            <a:off x="9987802" y="5906861"/>
            <a:ext cx="801905" cy="338554"/>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2" name="Straight Connector 1">
            <a:extLst>
              <a:ext uri="{FF2B5EF4-FFF2-40B4-BE49-F238E27FC236}">
                <a16:creationId xmlns:a16="http://schemas.microsoft.com/office/drawing/2014/main" id="{599F051C-FDA2-EDC0-2D39-340CE745C155}"/>
              </a:ext>
            </a:extLst>
          </p:cNvPr>
          <p:cNvCxnSpPr/>
          <p:nvPr/>
        </p:nvCxnSpPr>
        <p:spPr>
          <a:xfrm>
            <a:off x="223520" y="1154149"/>
            <a:ext cx="2011680" cy="0"/>
          </a:xfrm>
          <a:prstGeom prst="line">
            <a:avLst/>
          </a:prstGeom>
          <a:noFill/>
          <a:ln w="25400" cap="rnd">
            <a:gradFill flip="none" rotWithShape="1">
              <a:gsLst>
                <a:gs pos="30000">
                  <a:srgbClr val="2DB4FF"/>
                </a:gs>
                <a:gs pos="35000">
                  <a:srgbClr val="2DB4FF"/>
                </a:gs>
                <a:gs pos="3000">
                  <a:srgbClr val="0078D4"/>
                </a:gs>
                <a:gs pos="52000">
                  <a:srgbClr val="818EFF"/>
                </a:gs>
                <a:gs pos="70000">
                  <a:srgbClr val="D660FF"/>
                </a:gs>
                <a:gs pos="97000">
                  <a:srgbClr val="FEA87A"/>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3" name="Slide Number Placeholder 2">
            <a:extLst>
              <a:ext uri="{FF2B5EF4-FFF2-40B4-BE49-F238E27FC236}">
                <a16:creationId xmlns:a16="http://schemas.microsoft.com/office/drawing/2014/main" id="{3A1211F3-B832-901C-5D5C-00F8BB82A2C1}"/>
              </a:ext>
            </a:extLst>
          </p:cNvPr>
          <p:cNvSpPr>
            <a:spLocks noGrp="1"/>
          </p:cNvSpPr>
          <p:nvPr>
            <p:ph type="sldNum" sz="quarter" idx="11"/>
          </p:nvPr>
        </p:nvSpPr>
        <p:spPr/>
        <p:txBody>
          <a:bodyPr/>
          <a:lstStyle/>
          <a:p>
            <a:fld id="{5763EE98-C176-4152-A50F-E68840BAFA00}" type="slidenum">
              <a:rPr lang="en-US" smtClean="0"/>
              <a:pPr/>
              <a:t>41</a:t>
            </a:fld>
            <a:endParaRPr lang="en-US"/>
          </a:p>
        </p:txBody>
      </p:sp>
    </p:spTree>
    <p:extLst>
      <p:ext uri="{BB962C8B-B14F-4D97-AF65-F5344CB8AC3E}">
        <p14:creationId xmlns:p14="http://schemas.microsoft.com/office/powerpoint/2010/main" val="3589589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 name="Picture 81">
            <a:extLst>
              <a:ext uri="{FF2B5EF4-FFF2-40B4-BE49-F238E27FC236}">
                <a16:creationId xmlns:a16="http://schemas.microsoft.com/office/drawing/2014/main" id="{AE484D63-EF81-43E4-6DD0-8B07613CAC90}"/>
              </a:ext>
            </a:extLst>
          </p:cNvPr>
          <p:cNvPicPr>
            <a:picLocks noChangeAspect="1"/>
          </p:cNvPicPr>
          <p:nvPr/>
        </p:nvPicPr>
        <p:blipFill>
          <a:blip r:embed="rId3"/>
          <a:stretch>
            <a:fillRect/>
          </a:stretch>
        </p:blipFill>
        <p:spPr>
          <a:xfrm>
            <a:off x="9946302" y="5767692"/>
            <a:ext cx="1657435" cy="482625"/>
          </a:xfrm>
          <a:prstGeom prst="rect">
            <a:avLst/>
          </a:prstGeom>
          <a:ln>
            <a:noFill/>
          </a:ln>
          <a:effectLst>
            <a:outerShdw blurRad="50800" dist="38100" dir="2700000" algn="tl" rotWithShape="0">
              <a:prstClr val="black">
                <a:alpha val="40000"/>
              </a:prstClr>
            </a:outerShdw>
          </a:effectLst>
        </p:spPr>
      </p:pic>
      <p:sp>
        <p:nvSpPr>
          <p:cNvPr id="39" name="Title 38">
            <a:extLst>
              <a:ext uri="{FF2B5EF4-FFF2-40B4-BE49-F238E27FC236}">
                <a16:creationId xmlns:a16="http://schemas.microsoft.com/office/drawing/2014/main" id="{EECDD5CF-2D0F-4F1B-A160-12C815F23DB5}"/>
              </a:ext>
            </a:extLst>
          </p:cNvPr>
          <p:cNvSpPr>
            <a:spLocks noGrp="1"/>
          </p:cNvSpPr>
          <p:nvPr>
            <p:ph type="title"/>
          </p:nvPr>
        </p:nvSpPr>
        <p:spPr/>
        <p:txBody>
          <a:bodyPr/>
          <a:lstStyle/>
          <a:p>
            <a:pPr lvl="0"/>
            <a:r>
              <a:rPr lang="en-US" noProof="0"/>
              <a:t>Microsoft 365 Copilot offer</a:t>
            </a:r>
          </a:p>
        </p:txBody>
      </p:sp>
      <p:sp>
        <p:nvSpPr>
          <p:cNvPr id="15" name="TextBox 14">
            <a:extLst>
              <a:ext uri="{FF2B5EF4-FFF2-40B4-BE49-F238E27FC236}">
                <a16:creationId xmlns:a16="http://schemas.microsoft.com/office/drawing/2014/main" id="{C58FCCEA-62CF-465C-9EBB-CB40CF5C62B7}"/>
              </a:ext>
            </a:extLst>
          </p:cNvPr>
          <p:cNvSpPr txBox="1">
            <a:spLocks/>
          </p:cNvSpPr>
          <p:nvPr/>
        </p:nvSpPr>
        <p:spPr>
          <a:xfrm>
            <a:off x="3003233" y="1326190"/>
            <a:ext cx="2542112" cy="1723549"/>
          </a:xfrm>
          <a:prstGeom prst="rect">
            <a:avLst/>
          </a:prstGeom>
          <a:noFill/>
          <a:ln>
            <a:noFill/>
          </a:ln>
        </p:spPr>
        <p:txBody>
          <a:bodyPr wrap="square" lIns="0" tIns="0" rIns="0" bIns="0" rtlCol="0" anchor="t" anchorCtr="0">
            <a:spAutoFit/>
          </a:bodyPr>
          <a:lstStyle/>
          <a:p>
            <a:pPr marL="342900" marR="0" lvl="0" indent="-342900" algn="l" defTabSz="932472" rtl="0" eaLnBrk="1" fontAlgn="base" latinLnBrk="0" hangingPunct="1">
              <a:lnSpc>
                <a:spcPct val="100000"/>
              </a:lnSpc>
              <a:spcBef>
                <a:spcPts val="600"/>
              </a:spcBef>
              <a:spcAft>
                <a:spcPts val="1200"/>
              </a:spcAft>
              <a:buClr>
                <a:srgbClr val="000000"/>
              </a:buClr>
              <a:buSzPct val="100000"/>
              <a:buFont typeface="+mj-lt"/>
              <a:buAutoNum type="arabicPeriod" startAt="8"/>
              <a:tabLst/>
              <a:defRPr/>
            </a:pPr>
            <a:r>
              <a:rPr kumimoji="0" lang="en-US" sz="1400" b="1" i="0" u="none" strike="noStrike" kern="1200" cap="none" spc="0" normalizeH="0" baseline="0" noProof="0">
                <a:ln>
                  <a:noFill/>
                </a:ln>
                <a:solidFill>
                  <a:srgbClr val="000000"/>
                </a:solidFill>
                <a:effectLst/>
                <a:uLnTx/>
                <a:uFillTx/>
                <a:ea typeface="+mn-ea"/>
                <a:cs typeface="Segoe UI" pitchFamily="34" charset="0"/>
              </a:rPr>
              <a:t>Contacts:</a:t>
            </a:r>
            <a:r>
              <a:rPr kumimoji="0" lang="en-US" sz="1400" b="0" i="0" u="none" strike="noStrike" kern="1200" cap="none" spc="0" normalizeH="0" baseline="0" noProof="0">
                <a:ln>
                  <a:noFill/>
                </a:ln>
                <a:solidFill>
                  <a:srgbClr val="000000"/>
                </a:solidFill>
                <a:effectLst/>
                <a:uLnTx/>
                <a:uFillTx/>
                <a:ea typeface="+mn-ea"/>
                <a:cs typeface="Segoe UI" pitchFamily="34" charset="0"/>
              </a:rPr>
              <a:t> </a:t>
            </a:r>
            <a:br>
              <a:rPr kumimoji="0" lang="en-US" sz="1400" b="0" i="0" u="none" strike="noStrike" kern="1200" cap="none" spc="0" normalizeH="0" baseline="0" noProof="0">
                <a:ln>
                  <a:noFill/>
                </a:ln>
                <a:solidFill>
                  <a:srgbClr val="000000"/>
                </a:solidFill>
                <a:effectLst/>
                <a:uLnTx/>
                <a:uFillTx/>
                <a:ea typeface="+mn-ea"/>
                <a:cs typeface="Segoe UI" pitchFamily="34" charset="0"/>
              </a:rPr>
            </a:br>
            <a:r>
              <a:rPr kumimoji="0" lang="en-US" sz="1400" b="1" i="0" u="none" strike="noStrike" kern="1200" cap="none" spc="0" normalizeH="0" baseline="0" noProof="0">
                <a:ln>
                  <a:noFill/>
                </a:ln>
                <a:solidFill>
                  <a:srgbClr val="000000"/>
                </a:solidFill>
                <a:effectLst/>
                <a:uLnTx/>
                <a:uFillTx/>
                <a:ea typeface="+mn-ea"/>
                <a:cs typeface="Segoe UI" pitchFamily="34" charset="0"/>
              </a:rPr>
              <a:t>a. </a:t>
            </a:r>
            <a:r>
              <a:rPr kumimoji="0" lang="en-US" sz="1400" b="0" i="0" u="none" strike="noStrike" kern="1200" cap="none" spc="0" normalizeH="0" baseline="0" noProof="0">
                <a:ln>
                  <a:noFill/>
                </a:ln>
                <a:solidFill>
                  <a:srgbClr val="000000"/>
                </a:solidFill>
                <a:effectLst/>
                <a:uLnTx/>
                <a:uFillTx/>
                <a:ea typeface="+mn-ea"/>
                <a:cs typeface="Segoe UI" pitchFamily="34" charset="0"/>
              </a:rPr>
              <a:t>Download the contacts template.</a:t>
            </a:r>
            <a:br>
              <a:rPr kumimoji="0" lang="en-US" sz="1400" b="1" i="0" u="none" strike="noStrike" kern="1200" cap="none" spc="0" normalizeH="0" baseline="0" noProof="0">
                <a:ln>
                  <a:noFill/>
                </a:ln>
                <a:solidFill>
                  <a:srgbClr val="000000"/>
                </a:solidFill>
                <a:effectLst/>
                <a:uLnTx/>
                <a:uFillTx/>
                <a:ea typeface="+mn-ea"/>
                <a:cs typeface="Segoe UI" pitchFamily="34" charset="0"/>
              </a:rPr>
            </a:br>
            <a:br>
              <a:rPr kumimoji="0" lang="en-US" sz="1400" b="1" i="0" u="none" strike="noStrike" kern="1200" cap="none" spc="0" normalizeH="0" baseline="0" noProof="0">
                <a:ln>
                  <a:noFill/>
                </a:ln>
                <a:solidFill>
                  <a:srgbClr val="000000"/>
                </a:solidFill>
                <a:effectLst/>
                <a:uLnTx/>
                <a:uFillTx/>
                <a:ea typeface="+mn-ea"/>
                <a:cs typeface="Segoe UI" pitchFamily="34" charset="0"/>
              </a:rPr>
            </a:br>
            <a:r>
              <a:rPr kumimoji="0" lang="en-US" sz="1400" b="1" i="0" u="none" strike="noStrike" kern="1200" cap="none" spc="0" normalizeH="0" baseline="0" noProof="0">
                <a:ln>
                  <a:noFill/>
                </a:ln>
                <a:solidFill>
                  <a:srgbClr val="000000"/>
                </a:solidFill>
                <a:effectLst/>
                <a:uLnTx/>
                <a:uFillTx/>
                <a:ea typeface="+mn-ea"/>
                <a:cs typeface="Segoe UI" pitchFamily="34" charset="0"/>
              </a:rPr>
              <a:t>b.</a:t>
            </a:r>
            <a:r>
              <a:rPr kumimoji="0" lang="en-US" sz="1400" b="0" i="0" u="none" strike="noStrike" kern="1200" cap="none" spc="0" normalizeH="0" baseline="0" noProof="0">
                <a:ln>
                  <a:noFill/>
                </a:ln>
                <a:solidFill>
                  <a:srgbClr val="000000"/>
                </a:solidFill>
                <a:effectLst/>
                <a:uLnTx/>
                <a:uFillTx/>
                <a:ea typeface="+mn-ea"/>
                <a:cs typeface="Segoe UI" pitchFamily="34" charset="0"/>
              </a:rPr>
              <a:t> Re-upload the template with your partner sales contacts for each location where you are selling.</a:t>
            </a:r>
          </a:p>
        </p:txBody>
      </p:sp>
      <p:pic>
        <p:nvPicPr>
          <p:cNvPr id="38" name="Picture 37">
            <a:extLst>
              <a:ext uri="{FF2B5EF4-FFF2-40B4-BE49-F238E27FC236}">
                <a16:creationId xmlns:a16="http://schemas.microsoft.com/office/drawing/2014/main" id="{42AEC967-26BF-488B-8CA1-29E2C77F658B}"/>
              </a:ext>
            </a:extLst>
          </p:cNvPr>
          <p:cNvPicPr>
            <a:picLocks noChangeAspect="1"/>
          </p:cNvPicPr>
          <p:nvPr/>
        </p:nvPicPr>
        <p:blipFill>
          <a:blip r:embed="rId4"/>
          <a:stretch>
            <a:fillRect/>
          </a:stretch>
        </p:blipFill>
        <p:spPr>
          <a:xfrm>
            <a:off x="6949991" y="2047330"/>
            <a:ext cx="4457202" cy="1866617"/>
          </a:xfrm>
          <a:prstGeom prst="rect">
            <a:avLst/>
          </a:prstGeom>
          <a:ln w="9525">
            <a:noFill/>
          </a:ln>
          <a:effectLst>
            <a:outerShdw blurRad="50800" dist="38100" dir="2700000" algn="tl" rotWithShape="0">
              <a:prstClr val="black">
                <a:alpha val="40000"/>
              </a:prstClr>
            </a:outerShdw>
          </a:effectLst>
        </p:spPr>
      </p:pic>
      <p:sp>
        <p:nvSpPr>
          <p:cNvPr id="40" name="Freeform: Shape 39">
            <a:extLst>
              <a:ext uri="{FF2B5EF4-FFF2-40B4-BE49-F238E27FC236}">
                <a16:creationId xmlns:a16="http://schemas.microsoft.com/office/drawing/2014/main" id="{F27A3195-7BDE-4422-9B03-247131335629}"/>
              </a:ext>
            </a:extLst>
          </p:cNvPr>
          <p:cNvSpPr/>
          <p:nvPr/>
        </p:nvSpPr>
        <p:spPr bwMode="auto">
          <a:xfrm>
            <a:off x="5545344" y="2554978"/>
            <a:ext cx="1279317" cy="950300"/>
          </a:xfrm>
          <a:custGeom>
            <a:avLst/>
            <a:gdLst>
              <a:gd name="connsiteX0" fmla="*/ 0 w 800100"/>
              <a:gd name="connsiteY0" fmla="*/ 0 h 257175"/>
              <a:gd name="connsiteX1" fmla="*/ 328612 w 800100"/>
              <a:gd name="connsiteY1" fmla="*/ 0 h 257175"/>
              <a:gd name="connsiteX2" fmla="*/ 328612 w 800100"/>
              <a:gd name="connsiteY2" fmla="*/ 257175 h 257175"/>
              <a:gd name="connsiteX3" fmla="*/ 800100 w 800100"/>
              <a:gd name="connsiteY3" fmla="*/ 257175 h 257175"/>
              <a:gd name="connsiteX0" fmla="*/ 0 w 681845"/>
              <a:gd name="connsiteY0" fmla="*/ 0 h 257175"/>
              <a:gd name="connsiteX1" fmla="*/ 328612 w 681845"/>
              <a:gd name="connsiteY1" fmla="*/ 0 h 257175"/>
              <a:gd name="connsiteX2" fmla="*/ 328612 w 681845"/>
              <a:gd name="connsiteY2" fmla="*/ 257175 h 257175"/>
              <a:gd name="connsiteX3" fmla="*/ 681845 w 681845"/>
              <a:gd name="connsiteY3" fmla="*/ 257175 h 257175"/>
            </a:gdLst>
            <a:ahLst/>
            <a:cxnLst>
              <a:cxn ang="0">
                <a:pos x="connsiteX0" y="connsiteY0"/>
              </a:cxn>
              <a:cxn ang="0">
                <a:pos x="connsiteX1" y="connsiteY1"/>
              </a:cxn>
              <a:cxn ang="0">
                <a:pos x="connsiteX2" y="connsiteY2"/>
              </a:cxn>
              <a:cxn ang="0">
                <a:pos x="connsiteX3" y="connsiteY3"/>
              </a:cxn>
            </a:cxnLst>
            <a:rect l="l" t="t" r="r" b="b"/>
            <a:pathLst>
              <a:path w="681845" h="257175">
                <a:moveTo>
                  <a:pt x="0" y="0"/>
                </a:moveTo>
                <a:lnTo>
                  <a:pt x="328612" y="0"/>
                </a:lnTo>
                <a:lnTo>
                  <a:pt x="328612" y="257175"/>
                </a:lnTo>
                <a:lnTo>
                  <a:pt x="681845" y="257175"/>
                </a:lnTo>
              </a:path>
            </a:pathLst>
          </a:custGeom>
          <a:ln w="22225" cap="rnd">
            <a:solidFill>
              <a:schemeClr val="tx2">
                <a:lumMod val="50000"/>
                <a:lumOff val="50000"/>
              </a:schemeClr>
            </a:solidFill>
            <a:prstDash val="sysDot"/>
            <a:headEnd type="none" w="lg" len="med"/>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4F19B7C9-3D4E-0AB1-B076-05347CDE6346}"/>
              </a:ext>
            </a:extLst>
          </p:cNvPr>
          <p:cNvSpPr/>
          <p:nvPr/>
        </p:nvSpPr>
        <p:spPr bwMode="auto">
          <a:xfrm>
            <a:off x="6923089" y="3142777"/>
            <a:ext cx="2097086" cy="870149"/>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8942DE62-6279-CBE3-1D0F-1A0599B120B7}"/>
              </a:ext>
            </a:extLst>
          </p:cNvPr>
          <p:cNvSpPr txBox="1">
            <a:spLocks/>
          </p:cNvSpPr>
          <p:nvPr/>
        </p:nvSpPr>
        <p:spPr>
          <a:xfrm>
            <a:off x="3003233" y="4425471"/>
            <a:ext cx="1512680" cy="215444"/>
          </a:xfrm>
          <a:prstGeom prst="rect">
            <a:avLst/>
          </a:prstGeom>
          <a:noFill/>
          <a:ln>
            <a:noFill/>
          </a:ln>
        </p:spPr>
        <p:txBody>
          <a:bodyPr wrap="square" lIns="0" tIns="0" rIns="0" bIns="0" rtlCol="0" anchor="t" anchorCtr="0">
            <a:spAutoFit/>
          </a:bodyPr>
          <a:lstStyle/>
          <a:p>
            <a:pPr marL="342900" marR="0" lvl="0" indent="-342900" algn="l" defTabSz="932472" rtl="0" eaLnBrk="1" fontAlgn="base" latinLnBrk="0" hangingPunct="1">
              <a:lnSpc>
                <a:spcPct val="100000"/>
              </a:lnSpc>
              <a:spcBef>
                <a:spcPts val="600"/>
              </a:spcBef>
              <a:spcAft>
                <a:spcPts val="1200"/>
              </a:spcAft>
              <a:buClr>
                <a:srgbClr val="000000"/>
              </a:buClr>
              <a:buSzPct val="100000"/>
              <a:buFont typeface="+mj-lt"/>
              <a:buAutoNum type="arabicPeriod" startAt="9"/>
              <a:tabLst/>
              <a:defRPr/>
            </a:pPr>
            <a:r>
              <a:rPr kumimoji="0" lang="en-US" sz="1400" b="1" i="0" u="none" strike="noStrike" kern="1200" cap="none" spc="0" normalizeH="0" baseline="0" noProof="0" dirty="0">
                <a:ln>
                  <a:noFill/>
                </a:ln>
                <a:solidFill>
                  <a:srgbClr val="000000"/>
                </a:solidFill>
                <a:effectLst/>
                <a:uLnTx/>
                <a:uFillTx/>
                <a:ea typeface="+mn-ea"/>
                <a:cs typeface="Segoe UI" pitchFamily="34" charset="0"/>
              </a:rPr>
              <a:t>​</a:t>
            </a:r>
            <a:r>
              <a:rPr kumimoji="0" lang="en-US" sz="1400" i="0" u="none" strike="noStrike" kern="1200" cap="none" spc="0" normalizeH="0" baseline="0" noProof="0" dirty="0">
                <a:ln>
                  <a:noFill/>
                </a:ln>
                <a:solidFill>
                  <a:srgbClr val="000000"/>
                </a:solidFill>
                <a:effectLst/>
                <a:uLnTx/>
                <a:uFillTx/>
                <a:ea typeface="+mn-ea"/>
                <a:cs typeface="Segoe UI" pitchFamily="34" charset="0"/>
              </a:rPr>
              <a:t>Select</a:t>
            </a:r>
            <a:r>
              <a:rPr kumimoji="0" lang="en-US" sz="1400" b="1" i="0" u="none" strike="noStrike" kern="1200" cap="none" spc="0" normalizeH="0" baseline="0" noProof="0" dirty="0">
                <a:ln>
                  <a:noFill/>
                </a:ln>
                <a:solidFill>
                  <a:srgbClr val="000000"/>
                </a:solidFill>
                <a:effectLst/>
                <a:uLnTx/>
                <a:uFillTx/>
                <a:ea typeface="+mn-ea"/>
                <a:cs typeface="Segoe UI" pitchFamily="34" charset="0"/>
              </a:rPr>
              <a:t> Save</a:t>
            </a:r>
            <a:endParaRPr kumimoji="0" lang="en-US" sz="1400" b="1" i="0" u="none" strike="noStrike" kern="1200" cap="none" spc="0" normalizeH="0" baseline="0" noProof="0" dirty="0">
              <a:ln>
                <a:noFill/>
              </a:ln>
              <a:solidFill>
                <a:srgbClr val="000000"/>
              </a:solidFill>
              <a:effectLst/>
              <a:highlight>
                <a:srgbClr val="FFFF00"/>
              </a:highlight>
              <a:uLnTx/>
              <a:uFillTx/>
              <a:ea typeface="+mn-ea"/>
              <a:cs typeface="Segoe UI" pitchFamily="34" charset="0"/>
            </a:endParaRPr>
          </a:p>
        </p:txBody>
      </p:sp>
      <p:cxnSp>
        <p:nvCxnSpPr>
          <p:cNvPr id="48" name="Connector: Elbow 47">
            <a:extLst>
              <a:ext uri="{FF2B5EF4-FFF2-40B4-BE49-F238E27FC236}">
                <a16:creationId xmlns:a16="http://schemas.microsoft.com/office/drawing/2014/main" id="{08128B11-428F-C9E1-E015-2ACF8C4815AC}"/>
              </a:ext>
            </a:extLst>
          </p:cNvPr>
          <p:cNvCxnSpPr>
            <a:cxnSpLocks/>
            <a:endCxn id="82" idx="1"/>
          </p:cNvCxnSpPr>
          <p:nvPr/>
        </p:nvCxnSpPr>
        <p:spPr>
          <a:xfrm>
            <a:off x="4408185" y="4545101"/>
            <a:ext cx="5538117" cy="1463904"/>
          </a:xfrm>
          <a:prstGeom prst="bentConnector3">
            <a:avLst>
              <a:gd name="adj1" fmla="val 50000"/>
            </a:avLst>
          </a:prstGeom>
          <a:ln w="22225" cap="rnd">
            <a:solidFill>
              <a:schemeClr val="tx2">
                <a:lumMod val="50000"/>
                <a:lumOff val="50000"/>
              </a:schemeClr>
            </a:solidFill>
            <a:prstDash val="sysDot"/>
            <a:headEnd type="none" w="lg" len="med"/>
            <a:tailEnd type="triangle" w="lg" len="lg"/>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56A8AB1D-5B4D-1E43-8A8F-A0B21A949D88}"/>
              </a:ext>
            </a:extLst>
          </p:cNvPr>
          <p:cNvGrpSpPr/>
          <p:nvPr/>
        </p:nvGrpSpPr>
        <p:grpSpPr>
          <a:xfrm>
            <a:off x="9800681" y="299796"/>
            <a:ext cx="1803056" cy="552365"/>
            <a:chOff x="10126451" y="192765"/>
            <a:chExt cx="1803056" cy="552365"/>
          </a:xfrm>
        </p:grpSpPr>
        <p:grpSp>
          <p:nvGrpSpPr>
            <p:cNvPr id="22" name="Group 21">
              <a:extLst>
                <a:ext uri="{FF2B5EF4-FFF2-40B4-BE49-F238E27FC236}">
                  <a16:creationId xmlns:a16="http://schemas.microsoft.com/office/drawing/2014/main" id="{31DAEAC3-2A97-9CBB-424A-D7EB19824748}"/>
                </a:ext>
              </a:extLst>
            </p:cNvPr>
            <p:cNvGrpSpPr/>
            <p:nvPr/>
          </p:nvGrpSpPr>
          <p:grpSpPr>
            <a:xfrm>
              <a:off x="10752268" y="196490"/>
              <a:ext cx="548640" cy="548640"/>
              <a:chOff x="10752268" y="196490"/>
              <a:chExt cx="548640" cy="548640"/>
            </a:xfrm>
          </p:grpSpPr>
          <p:sp>
            <p:nvSpPr>
              <p:cNvPr id="65" name="Oval 64">
                <a:extLst>
                  <a:ext uri="{FF2B5EF4-FFF2-40B4-BE49-F238E27FC236}">
                    <a16:creationId xmlns:a16="http://schemas.microsoft.com/office/drawing/2014/main" id="{6F9BD5A5-7D0F-F7D8-0B0B-D2FDE7C37A9A}"/>
                  </a:ext>
                </a:extLst>
              </p:cNvPr>
              <p:cNvSpPr/>
              <p:nvPr/>
            </p:nvSpPr>
            <p:spPr bwMode="auto">
              <a:xfrm>
                <a:off x="10752268"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66" name="gear" descr="gear, wrench, engineer">
                <a:extLst>
                  <a:ext uri="{FF2B5EF4-FFF2-40B4-BE49-F238E27FC236}">
                    <a16:creationId xmlns:a16="http://schemas.microsoft.com/office/drawing/2014/main" id="{8F230A48-53D1-E16D-DA57-78FC0A148BBC}"/>
                  </a:ext>
                </a:extLst>
              </p:cNvPr>
              <p:cNvGrpSpPr/>
              <p:nvPr/>
            </p:nvGrpSpPr>
            <p:grpSpPr>
              <a:xfrm>
                <a:off x="10883844" y="326676"/>
                <a:ext cx="288269" cy="288268"/>
                <a:chOff x="3510968" y="2992337"/>
                <a:chExt cx="498751" cy="498751"/>
              </a:xfrm>
              <a:solidFill>
                <a:schemeClr val="bg1"/>
              </a:solidFill>
            </p:grpSpPr>
            <p:sp>
              <p:nvSpPr>
                <p:cNvPr id="68" name="Freeform: Shape 67">
                  <a:extLst>
                    <a:ext uri="{FF2B5EF4-FFF2-40B4-BE49-F238E27FC236}">
                      <a16:creationId xmlns:a16="http://schemas.microsoft.com/office/drawing/2014/main" id="{24CE2BE5-5454-4ECC-BC2B-665CA555F9CE}"/>
                    </a:ext>
                  </a:extLst>
                </p:cNvPr>
                <p:cNvSpPr/>
                <p:nvPr/>
              </p:nvSpPr>
              <p:spPr>
                <a:xfrm>
                  <a:off x="3510968" y="2992337"/>
                  <a:ext cx="498751" cy="498751"/>
                </a:xfrm>
                <a:custGeom>
                  <a:avLst/>
                  <a:gdLst>
                    <a:gd name="connsiteX0" fmla="*/ 499635 w 498751"/>
                    <a:gd name="connsiteY0" fmla="*/ 277035 h 498751"/>
                    <a:gd name="connsiteX1" fmla="*/ 499635 w 498751"/>
                    <a:gd name="connsiteY1" fmla="*/ 224623 h 498751"/>
                    <a:gd name="connsiteX2" fmla="*/ 445560 w 498751"/>
                    <a:gd name="connsiteY2" fmla="*/ 224623 h 498751"/>
                    <a:gd name="connsiteX3" fmla="*/ 407060 w 498751"/>
                    <a:gd name="connsiteY3" fmla="*/ 131698 h 498751"/>
                    <a:gd name="connsiteX4" fmla="*/ 445298 w 498751"/>
                    <a:gd name="connsiteY4" fmla="*/ 93460 h 498751"/>
                    <a:gd name="connsiteX5" fmla="*/ 408285 w 498751"/>
                    <a:gd name="connsiteY5" fmla="*/ 56448 h 498751"/>
                    <a:gd name="connsiteX6" fmla="*/ 370048 w 498751"/>
                    <a:gd name="connsiteY6" fmla="*/ 94686 h 498751"/>
                    <a:gd name="connsiteX7" fmla="*/ 277123 w 498751"/>
                    <a:gd name="connsiteY7" fmla="*/ 56186 h 498751"/>
                    <a:gd name="connsiteX8" fmla="*/ 277123 w 498751"/>
                    <a:gd name="connsiteY8" fmla="*/ 2111 h 498751"/>
                    <a:gd name="connsiteX9" fmla="*/ 224710 w 498751"/>
                    <a:gd name="connsiteY9" fmla="*/ 2111 h 498751"/>
                    <a:gd name="connsiteX10" fmla="*/ 224710 w 498751"/>
                    <a:gd name="connsiteY10" fmla="*/ 56186 h 498751"/>
                    <a:gd name="connsiteX11" fmla="*/ 131785 w 498751"/>
                    <a:gd name="connsiteY11" fmla="*/ 94686 h 498751"/>
                    <a:gd name="connsiteX12" fmla="*/ 93548 w 498751"/>
                    <a:gd name="connsiteY12" fmla="*/ 56448 h 498751"/>
                    <a:gd name="connsiteX13" fmla="*/ 56536 w 498751"/>
                    <a:gd name="connsiteY13" fmla="*/ 93460 h 498751"/>
                    <a:gd name="connsiteX14" fmla="*/ 94773 w 498751"/>
                    <a:gd name="connsiteY14" fmla="*/ 131698 h 498751"/>
                    <a:gd name="connsiteX15" fmla="*/ 56273 w 498751"/>
                    <a:gd name="connsiteY15" fmla="*/ 224623 h 498751"/>
                    <a:gd name="connsiteX16" fmla="*/ 2111 w 498751"/>
                    <a:gd name="connsiteY16" fmla="*/ 224623 h 498751"/>
                    <a:gd name="connsiteX17" fmla="*/ 2111 w 498751"/>
                    <a:gd name="connsiteY17" fmla="*/ 277035 h 498751"/>
                    <a:gd name="connsiteX18" fmla="*/ 56186 w 498751"/>
                    <a:gd name="connsiteY18" fmla="*/ 277035 h 498751"/>
                    <a:gd name="connsiteX19" fmla="*/ 112010 w 498751"/>
                    <a:gd name="connsiteY19" fmla="*/ 389735 h 498751"/>
                    <a:gd name="connsiteX20" fmla="*/ 224710 w 498751"/>
                    <a:gd name="connsiteY20" fmla="*/ 445560 h 498751"/>
                    <a:gd name="connsiteX21" fmla="*/ 224710 w 498751"/>
                    <a:gd name="connsiteY21" fmla="*/ 499635 h 498751"/>
                    <a:gd name="connsiteX22" fmla="*/ 277123 w 498751"/>
                    <a:gd name="connsiteY22" fmla="*/ 499635 h 498751"/>
                    <a:gd name="connsiteX23" fmla="*/ 277123 w 498751"/>
                    <a:gd name="connsiteY23" fmla="*/ 445560 h 498751"/>
                    <a:gd name="connsiteX24" fmla="*/ 370048 w 498751"/>
                    <a:gd name="connsiteY24" fmla="*/ 407060 h 498751"/>
                    <a:gd name="connsiteX25" fmla="*/ 408285 w 498751"/>
                    <a:gd name="connsiteY25" fmla="*/ 445298 h 498751"/>
                    <a:gd name="connsiteX26" fmla="*/ 445298 w 498751"/>
                    <a:gd name="connsiteY26" fmla="*/ 408285 h 498751"/>
                    <a:gd name="connsiteX27" fmla="*/ 407060 w 498751"/>
                    <a:gd name="connsiteY27" fmla="*/ 370048 h 498751"/>
                    <a:gd name="connsiteX28" fmla="*/ 445560 w 498751"/>
                    <a:gd name="connsiteY28" fmla="*/ 277123 h 498751"/>
                    <a:gd name="connsiteX29" fmla="*/ 499635 w 498751"/>
                    <a:gd name="connsiteY29" fmla="*/ 277123 h 498751"/>
                    <a:gd name="connsiteX30" fmla="*/ 499635 w 498751"/>
                    <a:gd name="connsiteY30" fmla="*/ 277035 h 498751"/>
                    <a:gd name="connsiteX31" fmla="*/ 106848 w 498751"/>
                    <a:gd name="connsiteY31" fmla="*/ 250873 h 498751"/>
                    <a:gd name="connsiteX32" fmla="*/ 139573 w 498751"/>
                    <a:gd name="connsiteY32" fmla="*/ 159523 h 498751"/>
                    <a:gd name="connsiteX33" fmla="*/ 222786 w 498751"/>
                    <a:gd name="connsiteY33" fmla="*/ 109648 h 498751"/>
                    <a:gd name="connsiteX34" fmla="*/ 318773 w 498751"/>
                    <a:gd name="connsiteY34" fmla="*/ 123910 h 498751"/>
                    <a:gd name="connsiteX35" fmla="*/ 383960 w 498751"/>
                    <a:gd name="connsiteY35" fmla="*/ 195835 h 498751"/>
                    <a:gd name="connsiteX36" fmla="*/ 388685 w 498751"/>
                    <a:gd name="connsiteY36" fmla="*/ 292785 h 498751"/>
                    <a:gd name="connsiteX37" fmla="*/ 330848 w 498751"/>
                    <a:gd name="connsiteY37" fmla="*/ 370748 h 498751"/>
                    <a:gd name="connsiteX38" fmla="*/ 236698 w 498751"/>
                    <a:gd name="connsiteY38" fmla="*/ 394285 h 498751"/>
                    <a:gd name="connsiteX39" fmla="*/ 148936 w 498751"/>
                    <a:gd name="connsiteY39" fmla="*/ 352810 h 498751"/>
                    <a:gd name="connsiteX40" fmla="*/ 117610 w 498751"/>
                    <a:gd name="connsiteY40" fmla="*/ 306085 h 498751"/>
                    <a:gd name="connsiteX41" fmla="*/ 106848 w 498751"/>
                    <a:gd name="connsiteY41" fmla="*/ 250873 h 498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98751" h="498751">
                      <a:moveTo>
                        <a:pt x="499635" y="277035"/>
                      </a:moveTo>
                      <a:lnTo>
                        <a:pt x="499635" y="224623"/>
                      </a:lnTo>
                      <a:lnTo>
                        <a:pt x="445560" y="224623"/>
                      </a:lnTo>
                      <a:cubicBezTo>
                        <a:pt x="441098" y="190848"/>
                        <a:pt x="427798" y="158823"/>
                        <a:pt x="407060" y="131698"/>
                      </a:cubicBezTo>
                      <a:lnTo>
                        <a:pt x="445298" y="93460"/>
                      </a:lnTo>
                      <a:lnTo>
                        <a:pt x="408285" y="56448"/>
                      </a:lnTo>
                      <a:lnTo>
                        <a:pt x="370048" y="94686"/>
                      </a:lnTo>
                      <a:cubicBezTo>
                        <a:pt x="342923" y="73948"/>
                        <a:pt x="310898" y="60648"/>
                        <a:pt x="277123" y="56186"/>
                      </a:cubicBezTo>
                      <a:lnTo>
                        <a:pt x="277123" y="2111"/>
                      </a:lnTo>
                      <a:lnTo>
                        <a:pt x="224710" y="2111"/>
                      </a:lnTo>
                      <a:lnTo>
                        <a:pt x="224710" y="56186"/>
                      </a:lnTo>
                      <a:cubicBezTo>
                        <a:pt x="190935" y="60648"/>
                        <a:pt x="158911" y="73948"/>
                        <a:pt x="131785" y="94686"/>
                      </a:cubicBezTo>
                      <a:lnTo>
                        <a:pt x="93548" y="56448"/>
                      </a:lnTo>
                      <a:lnTo>
                        <a:pt x="56536" y="93460"/>
                      </a:lnTo>
                      <a:lnTo>
                        <a:pt x="94773" y="131698"/>
                      </a:lnTo>
                      <a:cubicBezTo>
                        <a:pt x="74036" y="158823"/>
                        <a:pt x="60736" y="190848"/>
                        <a:pt x="56273" y="224623"/>
                      </a:cubicBezTo>
                      <a:lnTo>
                        <a:pt x="2111" y="224623"/>
                      </a:lnTo>
                      <a:lnTo>
                        <a:pt x="2111" y="277035"/>
                      </a:lnTo>
                      <a:lnTo>
                        <a:pt x="56186" y="277035"/>
                      </a:lnTo>
                      <a:cubicBezTo>
                        <a:pt x="61961" y="319648"/>
                        <a:pt x="81561" y="359285"/>
                        <a:pt x="112010" y="389735"/>
                      </a:cubicBezTo>
                      <a:cubicBezTo>
                        <a:pt x="142461" y="420185"/>
                        <a:pt x="182011" y="439785"/>
                        <a:pt x="224710" y="445560"/>
                      </a:cubicBezTo>
                      <a:lnTo>
                        <a:pt x="224710" y="499635"/>
                      </a:lnTo>
                      <a:lnTo>
                        <a:pt x="277123" y="499635"/>
                      </a:lnTo>
                      <a:lnTo>
                        <a:pt x="277123" y="445560"/>
                      </a:lnTo>
                      <a:cubicBezTo>
                        <a:pt x="310898" y="441098"/>
                        <a:pt x="342923" y="427798"/>
                        <a:pt x="370048" y="407060"/>
                      </a:cubicBezTo>
                      <a:lnTo>
                        <a:pt x="408285" y="445298"/>
                      </a:lnTo>
                      <a:lnTo>
                        <a:pt x="445298" y="408285"/>
                      </a:lnTo>
                      <a:lnTo>
                        <a:pt x="407060" y="370048"/>
                      </a:lnTo>
                      <a:cubicBezTo>
                        <a:pt x="427798" y="342923"/>
                        <a:pt x="441098" y="310898"/>
                        <a:pt x="445560" y="277123"/>
                      </a:cubicBezTo>
                      <a:lnTo>
                        <a:pt x="499635" y="277123"/>
                      </a:lnTo>
                      <a:lnTo>
                        <a:pt x="499635" y="277035"/>
                      </a:lnTo>
                      <a:close/>
                      <a:moveTo>
                        <a:pt x="106848" y="250873"/>
                      </a:moveTo>
                      <a:cubicBezTo>
                        <a:pt x="106848" y="217535"/>
                        <a:pt x="118398" y="185248"/>
                        <a:pt x="139573" y="159523"/>
                      </a:cubicBezTo>
                      <a:cubicBezTo>
                        <a:pt x="160748" y="133798"/>
                        <a:pt x="190148" y="116123"/>
                        <a:pt x="222786" y="109648"/>
                      </a:cubicBezTo>
                      <a:cubicBezTo>
                        <a:pt x="255423" y="103173"/>
                        <a:pt x="289373" y="108161"/>
                        <a:pt x="318773" y="123910"/>
                      </a:cubicBezTo>
                      <a:cubicBezTo>
                        <a:pt x="348173" y="139573"/>
                        <a:pt x="371185" y="165035"/>
                        <a:pt x="383960" y="195835"/>
                      </a:cubicBezTo>
                      <a:cubicBezTo>
                        <a:pt x="396735" y="226635"/>
                        <a:pt x="398397" y="260848"/>
                        <a:pt x="388685" y="292785"/>
                      </a:cubicBezTo>
                      <a:cubicBezTo>
                        <a:pt x="378973" y="324635"/>
                        <a:pt x="358585" y="352197"/>
                        <a:pt x="330848" y="370748"/>
                      </a:cubicBezTo>
                      <a:cubicBezTo>
                        <a:pt x="303110" y="389298"/>
                        <a:pt x="269860" y="397610"/>
                        <a:pt x="236698" y="394285"/>
                      </a:cubicBezTo>
                      <a:cubicBezTo>
                        <a:pt x="203535" y="391048"/>
                        <a:pt x="172560" y="376347"/>
                        <a:pt x="148936" y="352810"/>
                      </a:cubicBezTo>
                      <a:cubicBezTo>
                        <a:pt x="135548" y="339510"/>
                        <a:pt x="124873" y="323585"/>
                        <a:pt x="117610" y="306085"/>
                      </a:cubicBezTo>
                      <a:cubicBezTo>
                        <a:pt x="110523" y="288498"/>
                        <a:pt x="106761" y="269773"/>
                        <a:pt x="106848" y="25087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69" name="Freeform: Shape 68">
                  <a:extLst>
                    <a:ext uri="{FF2B5EF4-FFF2-40B4-BE49-F238E27FC236}">
                      <a16:creationId xmlns:a16="http://schemas.microsoft.com/office/drawing/2014/main" id="{0B45DC3D-8760-2E8B-CEA8-E5DB77BD6218}"/>
                    </a:ext>
                  </a:extLst>
                </p:cNvPr>
                <p:cNvSpPr/>
                <p:nvPr/>
              </p:nvSpPr>
              <p:spPr>
                <a:xfrm>
                  <a:off x="3525494" y="3127375"/>
                  <a:ext cx="348087" cy="348087"/>
                </a:xfrm>
                <a:custGeom>
                  <a:avLst/>
                  <a:gdLst>
                    <a:gd name="connsiteX0" fmla="*/ 286398 w 348086"/>
                    <a:gd name="connsiteY0" fmla="*/ 124333 h 348086"/>
                    <a:gd name="connsiteX1" fmla="*/ 226548 w 348086"/>
                    <a:gd name="connsiteY1" fmla="*/ 64483 h 348086"/>
                    <a:gd name="connsiteX2" fmla="*/ 280448 w 348086"/>
                    <a:gd name="connsiteY2" fmla="*/ 10583 h 348086"/>
                    <a:gd name="connsiteX3" fmla="*/ 216923 w 348086"/>
                    <a:gd name="connsiteY3" fmla="*/ 4108 h 348086"/>
                    <a:gd name="connsiteX4" fmla="*/ 160310 w 348086"/>
                    <a:gd name="connsiteY4" fmla="*/ 33683 h 348086"/>
                    <a:gd name="connsiteX5" fmla="*/ 129335 w 348086"/>
                    <a:gd name="connsiteY5" fmla="*/ 89508 h 348086"/>
                    <a:gd name="connsiteX6" fmla="*/ 134235 w 348086"/>
                    <a:gd name="connsiteY6" fmla="*/ 153121 h 348086"/>
                    <a:gd name="connsiteX7" fmla="*/ 15236 w 348086"/>
                    <a:gd name="connsiteY7" fmla="*/ 272121 h 348086"/>
                    <a:gd name="connsiteX8" fmla="*/ 2111 w 348086"/>
                    <a:gd name="connsiteY8" fmla="*/ 303883 h 348086"/>
                    <a:gd name="connsiteX9" fmla="*/ 15236 w 348086"/>
                    <a:gd name="connsiteY9" fmla="*/ 335645 h 348086"/>
                    <a:gd name="connsiteX10" fmla="*/ 46998 w 348086"/>
                    <a:gd name="connsiteY10" fmla="*/ 348770 h 348086"/>
                    <a:gd name="connsiteX11" fmla="*/ 78760 w 348086"/>
                    <a:gd name="connsiteY11" fmla="*/ 335645 h 348086"/>
                    <a:gd name="connsiteX12" fmla="*/ 197760 w 348086"/>
                    <a:gd name="connsiteY12" fmla="*/ 216645 h 348086"/>
                    <a:gd name="connsiteX13" fmla="*/ 261373 w 348086"/>
                    <a:gd name="connsiteY13" fmla="*/ 221546 h 348086"/>
                    <a:gd name="connsiteX14" fmla="*/ 317198 w 348086"/>
                    <a:gd name="connsiteY14" fmla="*/ 190571 h 348086"/>
                    <a:gd name="connsiteX15" fmla="*/ 346773 w 348086"/>
                    <a:gd name="connsiteY15" fmla="*/ 134045 h 348086"/>
                    <a:gd name="connsiteX16" fmla="*/ 340298 w 348086"/>
                    <a:gd name="connsiteY16" fmla="*/ 70521 h 348086"/>
                    <a:gd name="connsiteX17" fmla="*/ 286398 w 348086"/>
                    <a:gd name="connsiteY17" fmla="*/ 124333 h 348086"/>
                    <a:gd name="connsiteX18" fmla="*/ 63011 w 348086"/>
                    <a:gd name="connsiteY18" fmla="*/ 319633 h 348086"/>
                    <a:gd name="connsiteX19" fmla="*/ 51548 w 348086"/>
                    <a:gd name="connsiteY19" fmla="*/ 325758 h 348086"/>
                    <a:gd name="connsiteX20" fmla="*/ 38598 w 348086"/>
                    <a:gd name="connsiteY20" fmla="*/ 324445 h 348086"/>
                    <a:gd name="connsiteX21" fmla="*/ 28536 w 348086"/>
                    <a:gd name="connsiteY21" fmla="*/ 316220 h 348086"/>
                    <a:gd name="connsiteX22" fmla="*/ 24773 w 348086"/>
                    <a:gd name="connsiteY22" fmla="*/ 303795 h 348086"/>
                    <a:gd name="connsiteX23" fmla="*/ 28536 w 348086"/>
                    <a:gd name="connsiteY23" fmla="*/ 291371 h 348086"/>
                    <a:gd name="connsiteX24" fmla="*/ 38598 w 348086"/>
                    <a:gd name="connsiteY24" fmla="*/ 283146 h 348086"/>
                    <a:gd name="connsiteX25" fmla="*/ 51548 w 348086"/>
                    <a:gd name="connsiteY25" fmla="*/ 281833 h 348086"/>
                    <a:gd name="connsiteX26" fmla="*/ 63011 w 348086"/>
                    <a:gd name="connsiteY26" fmla="*/ 287958 h 348086"/>
                    <a:gd name="connsiteX27" fmla="*/ 69573 w 348086"/>
                    <a:gd name="connsiteY27" fmla="*/ 303795 h 348086"/>
                    <a:gd name="connsiteX28" fmla="*/ 63011 w 348086"/>
                    <a:gd name="connsiteY28" fmla="*/ 319633 h 348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48086" h="348086">
                      <a:moveTo>
                        <a:pt x="286398" y="124333"/>
                      </a:moveTo>
                      <a:lnTo>
                        <a:pt x="226548" y="64483"/>
                      </a:lnTo>
                      <a:lnTo>
                        <a:pt x="280448" y="10583"/>
                      </a:lnTo>
                      <a:cubicBezTo>
                        <a:pt x="260410" y="2271"/>
                        <a:pt x="238273" y="-4"/>
                        <a:pt x="216923" y="4108"/>
                      </a:cubicBezTo>
                      <a:cubicBezTo>
                        <a:pt x="195573" y="8221"/>
                        <a:pt x="175885" y="18458"/>
                        <a:pt x="160310" y="33683"/>
                      </a:cubicBezTo>
                      <a:cubicBezTo>
                        <a:pt x="144735" y="48821"/>
                        <a:pt x="133973" y="68246"/>
                        <a:pt x="129335" y="89508"/>
                      </a:cubicBezTo>
                      <a:cubicBezTo>
                        <a:pt x="124698" y="110771"/>
                        <a:pt x="126448" y="132908"/>
                        <a:pt x="134235" y="153121"/>
                      </a:cubicBezTo>
                      <a:lnTo>
                        <a:pt x="15236" y="272121"/>
                      </a:lnTo>
                      <a:cubicBezTo>
                        <a:pt x="6836" y="280520"/>
                        <a:pt x="2111" y="291983"/>
                        <a:pt x="2111" y="303883"/>
                      </a:cubicBezTo>
                      <a:cubicBezTo>
                        <a:pt x="2111" y="315783"/>
                        <a:pt x="6836" y="327158"/>
                        <a:pt x="15236" y="335645"/>
                      </a:cubicBezTo>
                      <a:cubicBezTo>
                        <a:pt x="23636" y="344046"/>
                        <a:pt x="35098" y="348770"/>
                        <a:pt x="46998" y="348770"/>
                      </a:cubicBezTo>
                      <a:cubicBezTo>
                        <a:pt x="58898" y="348770"/>
                        <a:pt x="70273" y="344046"/>
                        <a:pt x="78760" y="335645"/>
                      </a:cubicBezTo>
                      <a:lnTo>
                        <a:pt x="197760" y="216645"/>
                      </a:lnTo>
                      <a:cubicBezTo>
                        <a:pt x="218060" y="224520"/>
                        <a:pt x="240110" y="226183"/>
                        <a:pt x="261373" y="221546"/>
                      </a:cubicBezTo>
                      <a:cubicBezTo>
                        <a:pt x="282635" y="216908"/>
                        <a:pt x="301973" y="206146"/>
                        <a:pt x="317198" y="190571"/>
                      </a:cubicBezTo>
                      <a:cubicBezTo>
                        <a:pt x="332335" y="174996"/>
                        <a:pt x="342660" y="155308"/>
                        <a:pt x="346773" y="134045"/>
                      </a:cubicBezTo>
                      <a:cubicBezTo>
                        <a:pt x="350885" y="112696"/>
                        <a:pt x="348610" y="90646"/>
                        <a:pt x="340298" y="70521"/>
                      </a:cubicBezTo>
                      <a:lnTo>
                        <a:pt x="286398" y="124333"/>
                      </a:lnTo>
                      <a:close/>
                      <a:moveTo>
                        <a:pt x="63011" y="319633"/>
                      </a:moveTo>
                      <a:cubicBezTo>
                        <a:pt x="59861" y="322783"/>
                        <a:pt x="55835" y="324883"/>
                        <a:pt x="51548" y="325758"/>
                      </a:cubicBezTo>
                      <a:cubicBezTo>
                        <a:pt x="47173" y="326633"/>
                        <a:pt x="42710" y="326196"/>
                        <a:pt x="38598" y="324445"/>
                      </a:cubicBezTo>
                      <a:cubicBezTo>
                        <a:pt x="34486" y="322783"/>
                        <a:pt x="30986" y="319896"/>
                        <a:pt x="28536" y="316220"/>
                      </a:cubicBezTo>
                      <a:cubicBezTo>
                        <a:pt x="26086" y="312545"/>
                        <a:pt x="24773" y="308170"/>
                        <a:pt x="24773" y="303795"/>
                      </a:cubicBezTo>
                      <a:cubicBezTo>
                        <a:pt x="24773" y="299333"/>
                        <a:pt x="26086" y="295045"/>
                        <a:pt x="28536" y="291371"/>
                      </a:cubicBezTo>
                      <a:cubicBezTo>
                        <a:pt x="30986" y="287696"/>
                        <a:pt x="34486" y="284808"/>
                        <a:pt x="38598" y="283146"/>
                      </a:cubicBezTo>
                      <a:cubicBezTo>
                        <a:pt x="42710" y="281483"/>
                        <a:pt x="47173" y="281046"/>
                        <a:pt x="51548" y="281833"/>
                      </a:cubicBezTo>
                      <a:cubicBezTo>
                        <a:pt x="55923" y="282708"/>
                        <a:pt x="59861" y="284808"/>
                        <a:pt x="63011" y="287958"/>
                      </a:cubicBezTo>
                      <a:cubicBezTo>
                        <a:pt x="67211" y="292158"/>
                        <a:pt x="69573" y="297846"/>
                        <a:pt x="69573" y="303795"/>
                      </a:cubicBezTo>
                      <a:cubicBezTo>
                        <a:pt x="69573" y="309746"/>
                        <a:pt x="67211" y="315433"/>
                        <a:pt x="63011" y="319633"/>
                      </a:cubicBezTo>
                      <a:close/>
                    </a:path>
                  </a:pathLst>
                </a:custGeom>
                <a:solidFill>
                  <a:schemeClr val="bg1"/>
                </a:solidFill>
                <a:ln w="51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sp>
            <p:nvSpPr>
              <p:cNvPr id="67" name="Oval 66">
                <a:extLst>
                  <a:ext uri="{FF2B5EF4-FFF2-40B4-BE49-F238E27FC236}">
                    <a16:creationId xmlns:a16="http://schemas.microsoft.com/office/drawing/2014/main" id="{305145A0-A54D-053C-146A-BCDBA8E6AC2D}"/>
                  </a:ext>
                </a:extLst>
              </p:cNvPr>
              <p:cNvSpPr>
                <a:spLocks/>
              </p:cNvSpPr>
              <p:nvPr/>
            </p:nvSpPr>
            <p:spPr bwMode="auto">
              <a:xfrm>
                <a:off x="10778606"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23" name="Group 22">
              <a:extLst>
                <a:ext uri="{FF2B5EF4-FFF2-40B4-BE49-F238E27FC236}">
                  <a16:creationId xmlns:a16="http://schemas.microsoft.com/office/drawing/2014/main" id="{24A3F757-E9B0-6CF6-E024-C0F6F2477305}"/>
                </a:ext>
              </a:extLst>
            </p:cNvPr>
            <p:cNvGrpSpPr/>
            <p:nvPr/>
          </p:nvGrpSpPr>
          <p:grpSpPr>
            <a:xfrm>
              <a:off x="10126451" y="192765"/>
              <a:ext cx="548640" cy="548640"/>
              <a:chOff x="10126451" y="192765"/>
              <a:chExt cx="548640" cy="548640"/>
            </a:xfrm>
          </p:grpSpPr>
          <p:grpSp>
            <p:nvGrpSpPr>
              <p:cNvPr id="36" name="Group 35">
                <a:extLst>
                  <a:ext uri="{FF2B5EF4-FFF2-40B4-BE49-F238E27FC236}">
                    <a16:creationId xmlns:a16="http://schemas.microsoft.com/office/drawing/2014/main" id="{A8671EB7-8D5C-2188-3399-6106F062DF27}"/>
                  </a:ext>
                </a:extLst>
              </p:cNvPr>
              <p:cNvGrpSpPr/>
              <p:nvPr/>
            </p:nvGrpSpPr>
            <p:grpSpPr>
              <a:xfrm>
                <a:off x="10126451" y="192765"/>
                <a:ext cx="548640" cy="548640"/>
                <a:chOff x="10753659" y="196490"/>
                <a:chExt cx="548640" cy="548640"/>
              </a:xfrm>
            </p:grpSpPr>
            <p:sp>
              <p:nvSpPr>
                <p:cNvPr id="63" name="Oval 62">
                  <a:extLst>
                    <a:ext uri="{FF2B5EF4-FFF2-40B4-BE49-F238E27FC236}">
                      <a16:creationId xmlns:a16="http://schemas.microsoft.com/office/drawing/2014/main" id="{BF8B0C95-5669-B9A9-4781-3BE7DB3A9A20}"/>
                    </a:ext>
                  </a:extLst>
                </p:cNvPr>
                <p:cNvSpPr/>
                <p:nvPr/>
              </p:nvSpPr>
              <p:spPr bwMode="auto">
                <a:xfrm>
                  <a:off x="10753659" y="196490"/>
                  <a:ext cx="548640" cy="548640"/>
                </a:xfrm>
                <a:prstGeom prst="ellipse">
                  <a:avLst/>
                </a:prstGeom>
                <a:solidFill>
                  <a:schemeClr val="tx2">
                    <a:lumMod val="50000"/>
                    <a:lumOff val="50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4" name="Oval 63">
                  <a:extLst>
                    <a:ext uri="{FF2B5EF4-FFF2-40B4-BE49-F238E27FC236}">
                      <a16:creationId xmlns:a16="http://schemas.microsoft.com/office/drawing/2014/main" id="{103103EC-11F9-2137-E77C-E58E090B06E0}"/>
                    </a:ext>
                  </a:extLst>
                </p:cNvPr>
                <p:cNvSpPr>
                  <a:spLocks/>
                </p:cNvSpPr>
                <p:nvPr/>
              </p:nvSpPr>
              <p:spPr bwMode="auto">
                <a:xfrm>
                  <a:off x="10779997"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37" name="Group 36">
                <a:extLst>
                  <a:ext uri="{FF2B5EF4-FFF2-40B4-BE49-F238E27FC236}">
                    <a16:creationId xmlns:a16="http://schemas.microsoft.com/office/drawing/2014/main" id="{34C49A38-4B04-D66E-3F7B-E76B015EFAD4}"/>
                  </a:ext>
                </a:extLst>
              </p:cNvPr>
              <p:cNvGrpSpPr/>
              <p:nvPr/>
            </p:nvGrpSpPr>
            <p:grpSpPr>
              <a:xfrm>
                <a:off x="10243674" y="318889"/>
                <a:ext cx="314209" cy="303840"/>
                <a:chOff x="3504064" y="4676412"/>
                <a:chExt cx="509193" cy="492392"/>
              </a:xfrm>
            </p:grpSpPr>
            <p:sp>
              <p:nvSpPr>
                <p:cNvPr id="41" name="Oval 40">
                  <a:extLst>
                    <a:ext uri="{FF2B5EF4-FFF2-40B4-BE49-F238E27FC236}">
                      <a16:creationId xmlns:a16="http://schemas.microsoft.com/office/drawing/2014/main" id="{6561278C-4FE3-2DA5-5410-8E736F912F31}"/>
                    </a:ext>
                  </a:extLst>
                </p:cNvPr>
                <p:cNvSpPr/>
                <p:nvPr/>
              </p:nvSpPr>
              <p:spPr bwMode="auto">
                <a:xfrm>
                  <a:off x="3504064"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2" name="Oval 41">
                  <a:extLst>
                    <a:ext uri="{FF2B5EF4-FFF2-40B4-BE49-F238E27FC236}">
                      <a16:creationId xmlns:a16="http://schemas.microsoft.com/office/drawing/2014/main" id="{9A8977DE-7A30-F318-06CC-47087DFDE08C}"/>
                    </a:ext>
                  </a:extLst>
                </p:cNvPr>
                <p:cNvSpPr/>
                <p:nvPr/>
              </p:nvSpPr>
              <p:spPr bwMode="auto">
                <a:xfrm>
                  <a:off x="3671817" y="4827364"/>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3" name="Oval 42">
                  <a:extLst>
                    <a:ext uri="{FF2B5EF4-FFF2-40B4-BE49-F238E27FC236}">
                      <a16:creationId xmlns:a16="http://schemas.microsoft.com/office/drawing/2014/main" id="{701ED668-034A-F847-90A2-43E9E2FC5238}"/>
                    </a:ext>
                  </a:extLst>
                </p:cNvPr>
                <p:cNvSpPr/>
                <p:nvPr/>
              </p:nvSpPr>
              <p:spPr bwMode="auto">
                <a:xfrm>
                  <a:off x="3587940" y="4676412"/>
                  <a:ext cx="341440" cy="341440"/>
                </a:xfrm>
                <a:prstGeom prst="ellipse">
                  <a:avLst/>
                </a:prstGeom>
                <a:noFill/>
                <a:ln w="19050"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grpSp>
          <p:nvGrpSpPr>
            <p:cNvPr id="24" name="Group 23">
              <a:extLst>
                <a:ext uri="{FF2B5EF4-FFF2-40B4-BE49-F238E27FC236}">
                  <a16:creationId xmlns:a16="http://schemas.microsoft.com/office/drawing/2014/main" id="{B343D115-0B4A-5117-B61A-84AD3D575073}"/>
                </a:ext>
              </a:extLst>
            </p:cNvPr>
            <p:cNvGrpSpPr/>
            <p:nvPr/>
          </p:nvGrpSpPr>
          <p:grpSpPr>
            <a:xfrm>
              <a:off x="11380867" y="196490"/>
              <a:ext cx="548640" cy="548640"/>
              <a:chOff x="11380867" y="196490"/>
              <a:chExt cx="548640" cy="548640"/>
            </a:xfrm>
          </p:grpSpPr>
          <p:sp>
            <p:nvSpPr>
              <p:cNvPr id="25" name="Oval 24">
                <a:extLst>
                  <a:ext uri="{FF2B5EF4-FFF2-40B4-BE49-F238E27FC236}">
                    <a16:creationId xmlns:a16="http://schemas.microsoft.com/office/drawing/2014/main" id="{86C6A350-ADC3-F9D2-5A11-B908E61C8A4A}"/>
                  </a:ext>
                </a:extLst>
              </p:cNvPr>
              <p:cNvSpPr/>
              <p:nvPr/>
            </p:nvSpPr>
            <p:spPr bwMode="auto">
              <a:xfrm>
                <a:off x="11380867" y="196490"/>
                <a:ext cx="548640" cy="548640"/>
              </a:xfrm>
              <a:prstGeom prst="ellipse">
                <a:avLst/>
              </a:prstGeom>
              <a:solidFill>
                <a:srgbClr val="1A2B46"/>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6" name="Oval 25">
                <a:extLst>
                  <a:ext uri="{FF2B5EF4-FFF2-40B4-BE49-F238E27FC236}">
                    <a16:creationId xmlns:a16="http://schemas.microsoft.com/office/drawing/2014/main" id="{FCB3BF91-050E-606A-3D9D-F2612ED9BE54}"/>
                  </a:ext>
                </a:extLst>
              </p:cNvPr>
              <p:cNvSpPr>
                <a:spLocks/>
              </p:cNvSpPr>
              <p:nvPr/>
            </p:nvSpPr>
            <p:spPr bwMode="auto">
              <a:xfrm>
                <a:off x="11407205" y="222829"/>
                <a:ext cx="495964" cy="495962"/>
              </a:xfrm>
              <a:prstGeom prst="ellipse">
                <a:avLst/>
              </a:prstGeom>
              <a:noFill/>
              <a:ln w="6350" cap="flat" cmpd="sng" algn="ctr">
                <a:solidFill>
                  <a:schemeClr val="bg1"/>
                </a:solidFill>
                <a:prstDash val="dash"/>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auto" latinLnBrk="0" hangingPunct="1">
                  <a:lnSpc>
                    <a:spcPct val="100000"/>
                  </a:lnSpc>
                  <a:spcBef>
                    <a:spcPct val="0"/>
                  </a:spcBef>
                  <a:spcAft>
                    <a:spcPct val="0"/>
                  </a:spcAft>
                  <a:buClrTx/>
                  <a:buSzTx/>
                  <a:buFontTx/>
                  <a:buNone/>
                  <a:tabLst/>
                  <a:defRPr/>
                </a:pPr>
                <a:endParaRPr kumimoji="0" lang="en-US" sz="3264" b="1"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31" name="Group 30">
                <a:extLst>
                  <a:ext uri="{FF2B5EF4-FFF2-40B4-BE49-F238E27FC236}">
                    <a16:creationId xmlns:a16="http://schemas.microsoft.com/office/drawing/2014/main" id="{55BF058C-4896-FF58-40E8-2BE84A1968EB}"/>
                  </a:ext>
                </a:extLst>
              </p:cNvPr>
              <p:cNvGrpSpPr/>
              <p:nvPr/>
            </p:nvGrpSpPr>
            <p:grpSpPr>
              <a:xfrm>
                <a:off x="11478807" y="317384"/>
                <a:ext cx="352760" cy="306952"/>
                <a:chOff x="10772223" y="7410567"/>
                <a:chExt cx="346174" cy="301219"/>
              </a:xfrm>
            </p:grpSpPr>
            <p:sp>
              <p:nvSpPr>
                <p:cNvPr id="32" name="Freeform: Shape 31">
                  <a:extLst>
                    <a:ext uri="{FF2B5EF4-FFF2-40B4-BE49-F238E27FC236}">
                      <a16:creationId xmlns:a16="http://schemas.microsoft.com/office/drawing/2014/main" id="{A320D70B-93A7-A1D5-5238-FFDB976BD919}"/>
                    </a:ext>
                  </a:extLst>
                </p:cNvPr>
                <p:cNvSpPr/>
                <p:nvPr/>
              </p:nvSpPr>
              <p:spPr>
                <a:xfrm>
                  <a:off x="10840877" y="7661402"/>
                  <a:ext cx="236157" cy="47232"/>
                </a:xfrm>
                <a:custGeom>
                  <a:avLst/>
                  <a:gdLst>
                    <a:gd name="connsiteX0" fmla="*/ 121141 w 259772"/>
                    <a:gd name="connsiteY0" fmla="*/ 17145 h 51954"/>
                    <a:gd name="connsiteX1" fmla="*/ 267306 w 259772"/>
                    <a:gd name="connsiteY1" fmla="*/ 0 h 51954"/>
                    <a:gd name="connsiteX2" fmla="*/ 267306 w 259772"/>
                    <a:gd name="connsiteY2" fmla="*/ 25718 h 51954"/>
                    <a:gd name="connsiteX3" fmla="*/ 238039 w 259772"/>
                    <a:gd name="connsiteY3" fmla="*/ 60008 h 51954"/>
                    <a:gd name="connsiteX4" fmla="*/ 33424 w 259772"/>
                    <a:gd name="connsiteY4" fmla="*/ 60008 h 51954"/>
                    <a:gd name="connsiteX5" fmla="*/ 0 w 259772"/>
                    <a:gd name="connsiteY5" fmla="*/ 25718 h 51954"/>
                    <a:gd name="connsiteX6" fmla="*/ 0 w 259772"/>
                    <a:gd name="connsiteY6" fmla="*/ 4330 h 51954"/>
                    <a:gd name="connsiteX7" fmla="*/ 121141 w 259772"/>
                    <a:gd name="connsiteY7" fmla="*/ 17145 h 51954"/>
                    <a:gd name="connsiteX8" fmla="*/ 121141 w 259772"/>
                    <a:gd name="connsiteY8" fmla="*/ 17145 h 51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772" h="51954">
                      <a:moveTo>
                        <a:pt x="121141" y="17145"/>
                      </a:moveTo>
                      <a:cubicBezTo>
                        <a:pt x="175433" y="17145"/>
                        <a:pt x="225569" y="12902"/>
                        <a:pt x="267306" y="0"/>
                      </a:cubicBezTo>
                      <a:cubicBezTo>
                        <a:pt x="267306" y="8573"/>
                        <a:pt x="267306" y="17145"/>
                        <a:pt x="267306" y="25718"/>
                      </a:cubicBezTo>
                      <a:cubicBezTo>
                        <a:pt x="267306" y="42863"/>
                        <a:pt x="254751" y="60008"/>
                        <a:pt x="238039" y="60008"/>
                      </a:cubicBezTo>
                      <a:cubicBezTo>
                        <a:pt x="238039" y="60008"/>
                        <a:pt x="238039" y="60008"/>
                        <a:pt x="33424" y="60008"/>
                      </a:cubicBezTo>
                      <a:cubicBezTo>
                        <a:pt x="16712" y="60008"/>
                        <a:pt x="0" y="42863"/>
                        <a:pt x="0" y="25718"/>
                      </a:cubicBezTo>
                      <a:cubicBezTo>
                        <a:pt x="0" y="25718"/>
                        <a:pt x="0" y="25718"/>
                        <a:pt x="0" y="4330"/>
                      </a:cubicBezTo>
                      <a:cubicBezTo>
                        <a:pt x="37580" y="12815"/>
                        <a:pt x="79404" y="17145"/>
                        <a:pt x="121141" y="17145"/>
                      </a:cubicBezTo>
                      <a:lnTo>
                        <a:pt x="121141" y="17145"/>
                      </a:lnTo>
                      <a:close/>
                    </a:path>
                  </a:pathLst>
                </a:custGeom>
                <a:solidFill>
                  <a:schemeClr val="accent1"/>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nvGrpSpPr>
                <p:cNvPr id="33" name="Group 32">
                  <a:extLst>
                    <a:ext uri="{FF2B5EF4-FFF2-40B4-BE49-F238E27FC236}">
                      <a16:creationId xmlns:a16="http://schemas.microsoft.com/office/drawing/2014/main" id="{AE8012A2-2E0B-FF2F-C240-30B3F44AEA68}"/>
                    </a:ext>
                  </a:extLst>
                </p:cNvPr>
                <p:cNvGrpSpPr/>
                <p:nvPr/>
              </p:nvGrpSpPr>
              <p:grpSpPr>
                <a:xfrm>
                  <a:off x="10772223" y="7410567"/>
                  <a:ext cx="346174" cy="301219"/>
                  <a:chOff x="10772223" y="1543167"/>
                  <a:chExt cx="346174" cy="301219"/>
                </a:xfrm>
              </p:grpSpPr>
              <p:sp>
                <p:nvSpPr>
                  <p:cNvPr id="34" name="Freeform: Shape 33">
                    <a:extLst>
                      <a:ext uri="{FF2B5EF4-FFF2-40B4-BE49-F238E27FC236}">
                        <a16:creationId xmlns:a16="http://schemas.microsoft.com/office/drawing/2014/main" id="{87AE420B-DE8B-9C85-B566-979E262F4B39}"/>
                      </a:ext>
                    </a:extLst>
                  </p:cNvPr>
                  <p:cNvSpPr/>
                  <p:nvPr/>
                </p:nvSpPr>
                <p:spPr>
                  <a:xfrm rot="13310739">
                    <a:off x="10772223" y="1543167"/>
                    <a:ext cx="346174" cy="301219"/>
                  </a:xfrm>
                  <a:custGeom>
                    <a:avLst/>
                    <a:gdLst>
                      <a:gd name="connsiteX0" fmla="*/ 335526 w 346174"/>
                      <a:gd name="connsiteY0" fmla="*/ 221002 h 301219"/>
                      <a:gd name="connsiteX1" fmla="*/ 256301 w 346174"/>
                      <a:gd name="connsiteY1" fmla="*/ 291951 h 301219"/>
                      <a:gd name="connsiteX2" fmla="*/ 228767 w 346174"/>
                      <a:gd name="connsiteY2" fmla="*/ 300970 h 301219"/>
                      <a:gd name="connsiteX3" fmla="*/ 144718 w 346174"/>
                      <a:gd name="connsiteY3" fmla="*/ 292547 h 301219"/>
                      <a:gd name="connsiteX4" fmla="*/ 112227 w 346174"/>
                      <a:gd name="connsiteY4" fmla="*/ 290366 h 301219"/>
                      <a:gd name="connsiteX5" fmla="*/ 104454 w 346174"/>
                      <a:gd name="connsiteY5" fmla="*/ 281687 h 301219"/>
                      <a:gd name="connsiteX6" fmla="*/ 0 w 346174"/>
                      <a:gd name="connsiteY6" fmla="*/ 165049 h 301219"/>
                      <a:gd name="connsiteX7" fmla="*/ 88589 w 346174"/>
                      <a:gd name="connsiteY7" fmla="*/ 64791 h 301219"/>
                      <a:gd name="connsiteX8" fmla="*/ 178400 w 346174"/>
                      <a:gd name="connsiteY8" fmla="*/ 0 h 301219"/>
                      <a:gd name="connsiteX9" fmla="*/ 295826 w 346174"/>
                      <a:gd name="connsiteY9" fmla="*/ 131123 h 301219"/>
                      <a:gd name="connsiteX10" fmla="*/ 311423 w 346174"/>
                      <a:gd name="connsiteY10" fmla="*/ 148540 h 301219"/>
                      <a:gd name="connsiteX11" fmla="*/ 329593 w 346174"/>
                      <a:gd name="connsiteY11" fmla="*/ 168830 h 301219"/>
                      <a:gd name="connsiteX12" fmla="*/ 339992 w 346174"/>
                      <a:gd name="connsiteY12" fmla="*/ 180441 h 301219"/>
                      <a:gd name="connsiteX13" fmla="*/ 335526 w 346174"/>
                      <a:gd name="connsiteY13" fmla="*/ 221002 h 30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174" h="301219">
                        <a:moveTo>
                          <a:pt x="335526" y="221002"/>
                        </a:moveTo>
                        <a:cubicBezTo>
                          <a:pt x="335526" y="221002"/>
                          <a:pt x="335526" y="221002"/>
                          <a:pt x="256301" y="291951"/>
                        </a:cubicBezTo>
                        <a:cubicBezTo>
                          <a:pt x="247857" y="299513"/>
                          <a:pt x="244983" y="302087"/>
                          <a:pt x="228767" y="300970"/>
                        </a:cubicBezTo>
                        <a:cubicBezTo>
                          <a:pt x="228767" y="300970"/>
                          <a:pt x="228767" y="300970"/>
                          <a:pt x="144718" y="292547"/>
                        </a:cubicBezTo>
                        <a:lnTo>
                          <a:pt x="112227" y="290366"/>
                        </a:lnTo>
                        <a:cubicBezTo>
                          <a:pt x="107027" y="284560"/>
                          <a:pt x="104454" y="281687"/>
                          <a:pt x="104454" y="281687"/>
                        </a:cubicBezTo>
                        <a:cubicBezTo>
                          <a:pt x="104454" y="281687"/>
                          <a:pt x="49365" y="220171"/>
                          <a:pt x="0" y="165049"/>
                        </a:cubicBezTo>
                        <a:cubicBezTo>
                          <a:pt x="17436" y="138972"/>
                          <a:pt x="46132" y="102813"/>
                          <a:pt x="88589" y="64791"/>
                        </a:cubicBezTo>
                        <a:cubicBezTo>
                          <a:pt x="119728" y="36905"/>
                          <a:pt x="150565" y="14466"/>
                          <a:pt x="178400" y="0"/>
                        </a:cubicBezTo>
                        <a:cubicBezTo>
                          <a:pt x="186172" y="8679"/>
                          <a:pt x="269831" y="102096"/>
                          <a:pt x="295826" y="131123"/>
                        </a:cubicBezTo>
                        <a:lnTo>
                          <a:pt x="311423" y="148540"/>
                        </a:lnTo>
                        <a:cubicBezTo>
                          <a:pt x="321821" y="160151"/>
                          <a:pt x="329593" y="168830"/>
                          <a:pt x="329593" y="168830"/>
                        </a:cubicBezTo>
                        <a:cubicBezTo>
                          <a:pt x="332219" y="171762"/>
                          <a:pt x="337419" y="177568"/>
                          <a:pt x="339992" y="180441"/>
                        </a:cubicBezTo>
                        <a:cubicBezTo>
                          <a:pt x="350390" y="192052"/>
                          <a:pt x="346844" y="210867"/>
                          <a:pt x="335526" y="221002"/>
                        </a:cubicBezTo>
                        <a:close/>
                      </a:path>
                    </a:pathLst>
                  </a:custGeom>
                  <a:solidFill>
                    <a:schemeClr val="accent1"/>
                  </a:solidFill>
                  <a:ln w="8603"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sp>
                <p:nvSpPr>
                  <p:cNvPr id="35" name="Freeform: Shape 34">
                    <a:extLst>
                      <a:ext uri="{FF2B5EF4-FFF2-40B4-BE49-F238E27FC236}">
                        <a16:creationId xmlns:a16="http://schemas.microsoft.com/office/drawing/2014/main" id="{F8655F72-EF24-8979-D940-5CCD9A3DDA42}"/>
                      </a:ext>
                    </a:extLst>
                  </p:cNvPr>
                  <p:cNvSpPr/>
                  <p:nvPr/>
                </p:nvSpPr>
                <p:spPr>
                  <a:xfrm>
                    <a:off x="10892650" y="1664886"/>
                    <a:ext cx="141110" cy="110872"/>
                  </a:xfrm>
                  <a:custGeom>
                    <a:avLst/>
                    <a:gdLst>
                      <a:gd name="connsiteX0" fmla="*/ 106680 w 121227"/>
                      <a:gd name="connsiteY0" fmla="*/ 0 h 95250"/>
                      <a:gd name="connsiteX1" fmla="*/ 48751 w 121227"/>
                      <a:gd name="connsiteY1" fmla="*/ 64683 h 95250"/>
                      <a:gd name="connsiteX2" fmla="*/ 18271 w 121227"/>
                      <a:gd name="connsiteY2" fmla="*/ 35416 h 95250"/>
                      <a:gd name="connsiteX3" fmla="*/ 0 w 121227"/>
                      <a:gd name="connsiteY3" fmla="*/ 55418 h 95250"/>
                      <a:gd name="connsiteX4" fmla="*/ 48837 w 121227"/>
                      <a:gd name="connsiteY4" fmla="*/ 100013 h 95250"/>
                      <a:gd name="connsiteX5" fmla="*/ 125124 w 121227"/>
                      <a:gd name="connsiteY5" fmla="*/ 20003 h 95250"/>
                      <a:gd name="connsiteX6" fmla="*/ 106680 w 121227"/>
                      <a:gd name="connsiteY6" fmla="*/ 0 h 95250"/>
                      <a:gd name="connsiteX7" fmla="*/ 106680 w 121227"/>
                      <a:gd name="connsiteY7" fmla="*/ 0 h 95250"/>
                      <a:gd name="connsiteX8" fmla="*/ 106680 w 121227"/>
                      <a:gd name="connsiteY8"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227" h="95250">
                        <a:moveTo>
                          <a:pt x="106680" y="0"/>
                        </a:moveTo>
                        <a:cubicBezTo>
                          <a:pt x="106680" y="0"/>
                          <a:pt x="74641" y="35416"/>
                          <a:pt x="48751" y="64683"/>
                        </a:cubicBezTo>
                        <a:cubicBezTo>
                          <a:pt x="36541" y="53946"/>
                          <a:pt x="18271" y="35416"/>
                          <a:pt x="18271" y="35416"/>
                        </a:cubicBezTo>
                        <a:cubicBezTo>
                          <a:pt x="0" y="55418"/>
                          <a:pt x="0" y="55418"/>
                          <a:pt x="0" y="55418"/>
                        </a:cubicBezTo>
                        <a:cubicBezTo>
                          <a:pt x="48837" y="100013"/>
                          <a:pt x="48837" y="100013"/>
                          <a:pt x="48837" y="100013"/>
                        </a:cubicBezTo>
                        <a:cubicBezTo>
                          <a:pt x="125124" y="20003"/>
                          <a:pt x="125124" y="20003"/>
                          <a:pt x="125124" y="20003"/>
                        </a:cubicBezTo>
                        <a:cubicBezTo>
                          <a:pt x="106680" y="0"/>
                          <a:pt x="106680" y="0"/>
                          <a:pt x="106680" y="0"/>
                        </a:cubicBezTo>
                        <a:lnTo>
                          <a:pt x="106680" y="0"/>
                        </a:lnTo>
                        <a:lnTo>
                          <a:pt x="106680" y="0"/>
                        </a:lnTo>
                        <a:close/>
                      </a:path>
                    </a:pathLst>
                  </a:custGeom>
                  <a:solidFill>
                    <a:srgbClr val="50E6FF"/>
                  </a:solidFill>
                  <a:ln w="8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000000"/>
                      </a:solidFill>
                      <a:effectLst/>
                      <a:uLnTx/>
                      <a:uFillTx/>
                      <a:latin typeface="Segoe UI"/>
                      <a:ea typeface="+mn-ea"/>
                      <a:cs typeface="+mn-cs"/>
                    </a:endParaRPr>
                  </a:p>
                </p:txBody>
              </p:sp>
            </p:grpSp>
          </p:grpSp>
        </p:grpSp>
      </p:grpSp>
      <p:sp>
        <p:nvSpPr>
          <p:cNvPr id="70" name="Title 1">
            <a:extLst>
              <a:ext uri="{FF2B5EF4-FFF2-40B4-BE49-F238E27FC236}">
                <a16:creationId xmlns:a16="http://schemas.microsoft.com/office/drawing/2014/main" id="{C3A266F7-2FD7-4DB1-0EA8-AC8D4971FB22}"/>
              </a:ext>
            </a:extLst>
          </p:cNvPr>
          <p:cNvSpPr txBox="1">
            <a:spLocks/>
          </p:cNvSpPr>
          <p:nvPr/>
        </p:nvSpPr>
        <p:spPr>
          <a:xfrm>
            <a:off x="15475" y="224772"/>
            <a:ext cx="2636285" cy="809669"/>
          </a:xfrm>
          <a:prstGeom prst="rect">
            <a:avLst/>
          </a:prstGeom>
        </p:spPr>
        <p:txBody>
          <a:bodyPr lIns="274320" tIns="182880"/>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0" normalizeH="0" baseline="0" noProof="0">
                <a:ln w="3175">
                  <a:noFill/>
                </a:ln>
                <a:solidFill>
                  <a:schemeClr val="tx2"/>
                </a:solidFill>
                <a:effectLst/>
                <a:uLnTx/>
                <a:uFillTx/>
                <a:ea typeface="+mn-ea"/>
                <a:cs typeface="Segoe UI" pitchFamily="34" charset="0"/>
              </a:rPr>
              <a:t>The commercial </a:t>
            </a:r>
            <a:r>
              <a:rPr lang="en-US" sz="1800" spc="0">
                <a:solidFill>
                  <a:schemeClr val="tx2"/>
                </a:solidFill>
              </a:rPr>
              <a:t>m</a:t>
            </a:r>
            <a:r>
              <a:rPr kumimoji="0" lang="en-US" sz="1800" b="0" i="0" u="none" strike="noStrike" kern="1200" cap="none" spc="0" normalizeH="0" baseline="0" noProof="0" err="1">
                <a:ln w="3175">
                  <a:noFill/>
                </a:ln>
                <a:solidFill>
                  <a:schemeClr val="tx2"/>
                </a:solidFill>
                <a:effectLst/>
                <a:uLnTx/>
                <a:uFillTx/>
                <a:ea typeface="+mn-ea"/>
                <a:cs typeface="Segoe UI" pitchFamily="34" charset="0"/>
              </a:rPr>
              <a:t>arketplace</a:t>
            </a:r>
            <a:endParaRPr kumimoji="0" lang="en-US" sz="1800" b="0" i="0" u="none" strike="noStrike" kern="1200" cap="none" spc="0" normalizeH="0" baseline="0" noProof="0">
              <a:ln w="3175">
                <a:noFill/>
              </a:ln>
              <a:solidFill>
                <a:schemeClr val="tx2"/>
              </a:solidFill>
              <a:effectLst/>
              <a:uLnTx/>
              <a:uFillTx/>
              <a:ea typeface="+mn-ea"/>
              <a:cs typeface="Segoe UI" pitchFamily="34" charset="0"/>
            </a:endParaRPr>
          </a:p>
        </p:txBody>
      </p:sp>
      <p:cxnSp>
        <p:nvCxnSpPr>
          <p:cNvPr id="71" name="Straight Connector 70">
            <a:extLst>
              <a:ext uri="{FF2B5EF4-FFF2-40B4-BE49-F238E27FC236}">
                <a16:creationId xmlns:a16="http://schemas.microsoft.com/office/drawing/2014/main" id="{1E8A2F5F-62CF-DEEA-2B48-2CD64F2CFA82}"/>
              </a:ext>
            </a:extLst>
          </p:cNvPr>
          <p:cNvCxnSpPr/>
          <p:nvPr/>
        </p:nvCxnSpPr>
        <p:spPr>
          <a:xfrm>
            <a:off x="223520" y="1154149"/>
            <a:ext cx="2011680" cy="0"/>
          </a:xfrm>
          <a:prstGeom prst="line">
            <a:avLst/>
          </a:prstGeom>
          <a:noFill/>
          <a:ln w="25400" cap="rnd">
            <a:gradFill flip="none" rotWithShape="1">
              <a:gsLst>
                <a:gs pos="30000">
                  <a:srgbClr val="2DB4FF"/>
                </a:gs>
                <a:gs pos="35000">
                  <a:srgbClr val="2DB4FF"/>
                </a:gs>
                <a:gs pos="3000">
                  <a:srgbClr val="0078D4"/>
                </a:gs>
                <a:gs pos="52000">
                  <a:srgbClr val="818EFF"/>
                </a:gs>
                <a:gs pos="70000">
                  <a:srgbClr val="D660FF"/>
                </a:gs>
                <a:gs pos="97000">
                  <a:srgbClr val="FEA87A"/>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72" name="Rectangle: Rounded Corners 71">
            <a:extLst>
              <a:ext uri="{FF2B5EF4-FFF2-40B4-BE49-F238E27FC236}">
                <a16:creationId xmlns:a16="http://schemas.microsoft.com/office/drawing/2014/main" id="{DB59E3D2-E955-2993-2710-72EBE93EAF82}"/>
              </a:ext>
            </a:extLst>
          </p:cNvPr>
          <p:cNvSpPr/>
          <p:nvPr/>
        </p:nvSpPr>
        <p:spPr bwMode="auto">
          <a:xfrm>
            <a:off x="-279050" y="3562784"/>
            <a:ext cx="2651760" cy="365760"/>
          </a:xfrm>
          <a:prstGeom prst="roundRect">
            <a:avLst>
              <a:gd name="adj" fmla="val 50000"/>
            </a:avLst>
          </a:prstGeom>
          <a:solidFill>
            <a:srgbClr val="C73EC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0" rIns="9144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bg1"/>
              </a:solidFill>
              <a:effectLst/>
              <a:uLnTx/>
              <a:uFillTx/>
              <a:latin typeface="Segoe UI Semibold"/>
              <a:ea typeface="+mn-ea"/>
              <a:cs typeface="Segoe UI Semilight" panose="020B0402040204020203" pitchFamily="34" charset="0"/>
            </a:endParaRPr>
          </a:p>
        </p:txBody>
      </p:sp>
      <p:sp>
        <p:nvSpPr>
          <p:cNvPr id="73" name="Rectangle: Rounded Corners 72">
            <a:extLst>
              <a:ext uri="{FF2B5EF4-FFF2-40B4-BE49-F238E27FC236}">
                <a16:creationId xmlns:a16="http://schemas.microsoft.com/office/drawing/2014/main" id="{DA02A7A0-7F2A-5BDB-1896-A8C9EB1320C9}"/>
              </a:ext>
            </a:extLst>
          </p:cNvPr>
          <p:cNvSpPr/>
          <p:nvPr/>
        </p:nvSpPr>
        <p:spPr bwMode="auto">
          <a:xfrm>
            <a:off x="0" y="180602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Setup</a:t>
            </a:r>
          </a:p>
        </p:txBody>
      </p:sp>
      <p:sp>
        <p:nvSpPr>
          <p:cNvPr id="74" name="Rectangle: Rounded Corners 73">
            <a:extLst>
              <a:ext uri="{FF2B5EF4-FFF2-40B4-BE49-F238E27FC236}">
                <a16:creationId xmlns:a16="http://schemas.microsoft.com/office/drawing/2014/main" id="{111ADC34-B769-3FAF-D2C7-87EDFF7C735D}"/>
              </a:ext>
            </a:extLst>
          </p:cNvPr>
          <p:cNvSpPr/>
          <p:nvPr/>
        </p:nvSpPr>
        <p:spPr bwMode="auto">
          <a:xfrm>
            <a:off x="0" y="2245217"/>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Properties</a:t>
            </a:r>
          </a:p>
        </p:txBody>
      </p:sp>
      <p:sp>
        <p:nvSpPr>
          <p:cNvPr id="75" name="Rectangle: Rounded Corners 74">
            <a:extLst>
              <a:ext uri="{FF2B5EF4-FFF2-40B4-BE49-F238E27FC236}">
                <a16:creationId xmlns:a16="http://schemas.microsoft.com/office/drawing/2014/main" id="{61F041A2-4741-BDD7-8571-EE5D372CCF37}"/>
              </a:ext>
            </a:extLst>
          </p:cNvPr>
          <p:cNvSpPr/>
          <p:nvPr/>
        </p:nvSpPr>
        <p:spPr bwMode="auto">
          <a:xfrm>
            <a:off x="0" y="2684406"/>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Listing</a:t>
            </a:r>
          </a:p>
        </p:txBody>
      </p:sp>
      <p:sp>
        <p:nvSpPr>
          <p:cNvPr id="76" name="Rectangle: Rounded Corners 75">
            <a:extLst>
              <a:ext uri="{FF2B5EF4-FFF2-40B4-BE49-F238E27FC236}">
                <a16:creationId xmlns:a16="http://schemas.microsoft.com/office/drawing/2014/main" id="{EACE55DB-F1EE-E1DB-552E-64F450D25F67}"/>
              </a:ext>
            </a:extLst>
          </p:cNvPr>
          <p:cNvSpPr/>
          <p:nvPr/>
        </p:nvSpPr>
        <p:spPr bwMode="auto">
          <a:xfrm>
            <a:off x="0" y="312359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Pricing and Availability</a:t>
            </a:r>
          </a:p>
        </p:txBody>
      </p:sp>
      <p:sp>
        <p:nvSpPr>
          <p:cNvPr id="77" name="Rectangle: Rounded Corners 76">
            <a:extLst>
              <a:ext uri="{FF2B5EF4-FFF2-40B4-BE49-F238E27FC236}">
                <a16:creationId xmlns:a16="http://schemas.microsoft.com/office/drawing/2014/main" id="{54573BAE-B665-46A6-24FA-6291C6AFADCA}"/>
              </a:ext>
            </a:extLst>
          </p:cNvPr>
          <p:cNvSpPr/>
          <p:nvPr/>
        </p:nvSpPr>
        <p:spPr bwMode="auto">
          <a:xfrm>
            <a:off x="0" y="3562785"/>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j-lt"/>
                <a:ea typeface="+mn-ea"/>
                <a:cs typeface="Segoe UI Semilight" panose="020B0402040204020203" pitchFamily="34" charset="0"/>
              </a:rPr>
              <a:t>Co-sell with Microsoft </a:t>
            </a:r>
          </a:p>
        </p:txBody>
      </p:sp>
      <p:sp>
        <p:nvSpPr>
          <p:cNvPr id="78" name="Rectangle: Rounded Corners 77">
            <a:extLst>
              <a:ext uri="{FF2B5EF4-FFF2-40B4-BE49-F238E27FC236}">
                <a16:creationId xmlns:a16="http://schemas.microsoft.com/office/drawing/2014/main" id="{36AC62BB-39ED-78BE-B108-BD3811289A20}"/>
              </a:ext>
            </a:extLst>
          </p:cNvPr>
          <p:cNvSpPr/>
          <p:nvPr/>
        </p:nvSpPr>
        <p:spPr bwMode="auto">
          <a:xfrm>
            <a:off x="0" y="1366838"/>
            <a:ext cx="2651760" cy="365760"/>
          </a:xfrm>
          <a:prstGeom prst="roundRect">
            <a:avLst>
              <a:gd name="adj" fmla="val 5000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2"/>
                </a:solidFill>
                <a:effectLst/>
                <a:uLnTx/>
                <a:uFillTx/>
                <a:latin typeface="+mj-lt"/>
                <a:ea typeface="+mn-ea"/>
                <a:cs typeface="Segoe UI Semilight" panose="020B0402040204020203" pitchFamily="34" charset="0"/>
              </a:rPr>
              <a:t>Offer Setup</a:t>
            </a:r>
          </a:p>
        </p:txBody>
      </p:sp>
      <p:sp>
        <p:nvSpPr>
          <p:cNvPr id="79" name="Rectangle: Rounded Corners 78">
            <a:extLst>
              <a:ext uri="{FF2B5EF4-FFF2-40B4-BE49-F238E27FC236}">
                <a16:creationId xmlns:a16="http://schemas.microsoft.com/office/drawing/2014/main" id="{055086F6-2F49-264B-C937-D9DA147A70FA}"/>
              </a:ext>
            </a:extLst>
          </p:cNvPr>
          <p:cNvSpPr/>
          <p:nvPr/>
        </p:nvSpPr>
        <p:spPr bwMode="auto">
          <a:xfrm>
            <a:off x="117782" y="4100757"/>
            <a:ext cx="2580740" cy="1562760"/>
          </a:xfrm>
          <a:prstGeom prst="roundRect">
            <a:avLst>
              <a:gd name="adj" fmla="val 4994"/>
            </a:avLst>
          </a:prstGeom>
          <a:solidFill>
            <a:schemeClr val="bg1"/>
          </a:solidFill>
          <a:ln>
            <a:noFill/>
            <a:headEnd type="none" w="med" len="med"/>
            <a:tailEnd type="none" w="med" len="med"/>
          </a:ln>
          <a:effectLst>
            <a:outerShdw blurRad="203200" sx="102000" sy="102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80" name="Picture 79">
            <a:extLst>
              <a:ext uri="{FF2B5EF4-FFF2-40B4-BE49-F238E27FC236}">
                <a16:creationId xmlns:a16="http://schemas.microsoft.com/office/drawing/2014/main" id="{1791DA56-6B59-E9DF-4C9F-E60E82722560}"/>
              </a:ext>
            </a:extLst>
          </p:cNvPr>
          <p:cNvPicPr>
            <a:picLocks noChangeAspect="1"/>
          </p:cNvPicPr>
          <p:nvPr/>
        </p:nvPicPr>
        <p:blipFill>
          <a:blip r:embed="rId5"/>
          <a:stretch>
            <a:fillRect/>
          </a:stretch>
        </p:blipFill>
        <p:spPr>
          <a:xfrm>
            <a:off x="292859" y="4201324"/>
            <a:ext cx="2330962" cy="1453424"/>
          </a:xfrm>
          <a:prstGeom prst="rect">
            <a:avLst/>
          </a:prstGeom>
          <a:effectLst/>
        </p:spPr>
      </p:pic>
      <p:sp>
        <p:nvSpPr>
          <p:cNvPr id="81" name="Rectangle 80">
            <a:extLst>
              <a:ext uri="{FF2B5EF4-FFF2-40B4-BE49-F238E27FC236}">
                <a16:creationId xmlns:a16="http://schemas.microsoft.com/office/drawing/2014/main" id="{7B2FAD09-EA53-8A31-2E6B-95B2EC894A18}"/>
              </a:ext>
            </a:extLst>
          </p:cNvPr>
          <p:cNvSpPr/>
          <p:nvPr/>
        </p:nvSpPr>
        <p:spPr bwMode="auto">
          <a:xfrm>
            <a:off x="223520" y="5215149"/>
            <a:ext cx="2400301" cy="386052"/>
          </a:xfrm>
          <a:prstGeom prst="rect">
            <a:avLst/>
          </a:prstGeom>
          <a:noFill/>
          <a:ln w="381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6" name="Rectangle 45">
            <a:extLst>
              <a:ext uri="{FF2B5EF4-FFF2-40B4-BE49-F238E27FC236}">
                <a16:creationId xmlns:a16="http://schemas.microsoft.com/office/drawing/2014/main" id="{907F573C-48DC-8C39-0ABF-955F5D11A6B0}"/>
              </a:ext>
            </a:extLst>
          </p:cNvPr>
          <p:cNvSpPr/>
          <p:nvPr/>
        </p:nvSpPr>
        <p:spPr bwMode="auto">
          <a:xfrm>
            <a:off x="9999865" y="5941434"/>
            <a:ext cx="784676" cy="308884"/>
          </a:xfrm>
          <a:prstGeom prst="rect">
            <a:avLst/>
          </a:prstGeom>
          <a:noFill/>
          <a:ln w="381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Slide Number Placeholder 1">
            <a:extLst>
              <a:ext uri="{FF2B5EF4-FFF2-40B4-BE49-F238E27FC236}">
                <a16:creationId xmlns:a16="http://schemas.microsoft.com/office/drawing/2014/main" id="{B1D467F9-4D01-BC64-CD07-01FB4B12D2BA}"/>
              </a:ext>
            </a:extLst>
          </p:cNvPr>
          <p:cNvSpPr>
            <a:spLocks noGrp="1"/>
          </p:cNvSpPr>
          <p:nvPr>
            <p:ph type="sldNum" sz="quarter" idx="11"/>
          </p:nvPr>
        </p:nvSpPr>
        <p:spPr/>
        <p:txBody>
          <a:bodyPr/>
          <a:lstStyle/>
          <a:p>
            <a:fld id="{5763EE98-C176-4152-A50F-E68840BAFA00}" type="slidenum">
              <a:rPr lang="en-US" smtClean="0"/>
              <a:pPr/>
              <a:t>42</a:t>
            </a:fld>
            <a:endParaRPr lang="en-US"/>
          </a:p>
        </p:txBody>
      </p:sp>
    </p:spTree>
    <p:extLst>
      <p:ext uri="{BB962C8B-B14F-4D97-AF65-F5344CB8AC3E}">
        <p14:creationId xmlns:p14="http://schemas.microsoft.com/office/powerpoint/2010/main" val="1406721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67000"/>
            <a:lum/>
          </a:blip>
          <a:srcRect/>
          <a:stretch>
            <a:fillRect t="-39000" b="-39000"/>
          </a:stretch>
        </a:blipFill>
        <a:effectLst/>
      </p:bgPr>
    </p:bg>
    <p:spTree>
      <p:nvGrpSpPr>
        <p:cNvPr id="1" name="">
          <a:extLst>
            <a:ext uri="{FF2B5EF4-FFF2-40B4-BE49-F238E27FC236}">
              <a16:creationId xmlns:a16="http://schemas.microsoft.com/office/drawing/2014/main" id="{3A09CBF8-E30E-495B-C1B9-056EBE1C9BDC}"/>
            </a:ext>
          </a:extLst>
        </p:cNvPr>
        <p:cNvGrpSpPr/>
        <p:nvPr/>
      </p:nvGrpSpPr>
      <p:grpSpPr>
        <a:xfrm>
          <a:off x="0" y="0"/>
          <a:ext cx="0" cy="0"/>
          <a:chOff x="0" y="0"/>
          <a:chExt cx="0" cy="0"/>
        </a:xfrm>
      </p:grpSpPr>
      <p:sp>
        <p:nvSpPr>
          <p:cNvPr id="15" name="Rounded Rectangle 8">
            <a:extLst>
              <a:ext uri="{FF2B5EF4-FFF2-40B4-BE49-F238E27FC236}">
                <a16:creationId xmlns:a16="http://schemas.microsoft.com/office/drawing/2014/main" id="{29107380-853E-F896-0D77-9CF2DF3DE7DC}"/>
              </a:ext>
              <a:ext uri="{C183D7F6-B498-43B3-948B-1728B52AA6E4}">
                <adec:decorative xmlns:adec="http://schemas.microsoft.com/office/drawing/2017/decorative" val="1"/>
              </a:ext>
            </a:extLst>
          </p:cNvPr>
          <p:cNvSpPr>
            <a:spLocks/>
          </p:cNvSpPr>
          <p:nvPr/>
        </p:nvSpPr>
        <p:spPr bwMode="auto">
          <a:xfrm>
            <a:off x="581539" y="3758321"/>
            <a:ext cx="11046822" cy="1728079"/>
          </a:xfrm>
          <a:prstGeom prst="roundRect">
            <a:avLst>
              <a:gd name="adj" fmla="val 3577"/>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vert="horz" wrap="square" lIns="182880" tIns="91440" rIns="182880" bIns="91440" rtlCol="0" anchor="t" anchorCtr="0">
            <a:noAutofit/>
          </a:bodyPr>
          <a:lstStyle/>
          <a:p>
            <a:pPr defTabSz="932742">
              <a:spcBef>
                <a:spcPts val="600"/>
              </a:spcBef>
              <a:buSzPct val="90000"/>
            </a:pPr>
            <a:endParaRPr lang="en-US" baseline="30000">
              <a:solidFill>
                <a:schemeClr val="tx1"/>
              </a:solidFill>
              <a:cs typeface="Segoe Sans Display" pitchFamily="2" charset="0"/>
            </a:endParaRPr>
          </a:p>
        </p:txBody>
      </p:sp>
      <p:sp>
        <p:nvSpPr>
          <p:cNvPr id="12" name="Rounded Rectangle 8">
            <a:extLst>
              <a:ext uri="{FF2B5EF4-FFF2-40B4-BE49-F238E27FC236}">
                <a16:creationId xmlns:a16="http://schemas.microsoft.com/office/drawing/2014/main" id="{542768F0-B6BB-4C9F-4424-C940963CED7D}"/>
              </a:ext>
              <a:ext uri="{C183D7F6-B498-43B3-948B-1728B52AA6E4}">
                <adec:decorative xmlns:adec="http://schemas.microsoft.com/office/drawing/2017/decorative" val="1"/>
              </a:ext>
            </a:extLst>
          </p:cNvPr>
          <p:cNvSpPr>
            <a:spLocks/>
          </p:cNvSpPr>
          <p:nvPr/>
        </p:nvSpPr>
        <p:spPr bwMode="auto">
          <a:xfrm>
            <a:off x="581539" y="1436688"/>
            <a:ext cx="11046822" cy="2035457"/>
          </a:xfrm>
          <a:prstGeom prst="roundRect">
            <a:avLst>
              <a:gd name="adj" fmla="val 3577"/>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vert="horz" wrap="square" lIns="182880" tIns="91440" rIns="182880" bIns="91440" rtlCol="0" anchor="t" anchorCtr="0">
            <a:noAutofit/>
          </a:bodyPr>
          <a:lstStyle/>
          <a:p>
            <a:pPr defTabSz="932742">
              <a:spcBef>
                <a:spcPts val="600"/>
              </a:spcBef>
              <a:buSzPct val="90000"/>
            </a:pPr>
            <a:endParaRPr lang="en-US" baseline="30000">
              <a:solidFill>
                <a:schemeClr val="tx1"/>
              </a:solidFill>
              <a:cs typeface="Segoe Sans Display" pitchFamily="2" charset="0"/>
            </a:endParaRPr>
          </a:p>
        </p:txBody>
      </p:sp>
      <p:sp>
        <p:nvSpPr>
          <p:cNvPr id="19" name="Title 14">
            <a:extLst>
              <a:ext uri="{FF2B5EF4-FFF2-40B4-BE49-F238E27FC236}">
                <a16:creationId xmlns:a16="http://schemas.microsoft.com/office/drawing/2014/main" id="{349901D5-F620-85EA-873D-7DD26F26F761}"/>
              </a:ext>
              <a:ext uri="{C183D7F6-B498-43B3-948B-1728B52AA6E4}">
                <adec:decorative xmlns:adec="http://schemas.microsoft.com/office/drawing/2017/decorative" val="1"/>
              </a:ext>
            </a:extLst>
          </p:cNvPr>
          <p:cNvSpPr txBox="1">
            <a:spLocks/>
          </p:cNvSpPr>
          <p:nvPr/>
        </p:nvSpPr>
        <p:spPr>
          <a:xfrm>
            <a:off x="4356101" y="4373060"/>
            <a:ext cx="5657850" cy="498598"/>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defTabSz="914400">
              <a:lnSpc>
                <a:spcPct val="100000"/>
              </a:lnSpc>
              <a:spcBef>
                <a:spcPts val="2100"/>
              </a:spcBef>
              <a:buNone/>
              <a:defRPr sz="2800" b="0" kern="0" cap="none" spc="0" baseline="0">
                <a:ln>
                  <a:noFill/>
                </a:ln>
                <a:gradFill>
                  <a:gsLst>
                    <a:gs pos="575">
                      <a:schemeClr val="tx1"/>
                    </a:gs>
                    <a:gs pos="17416">
                      <a:schemeClr val="tx1"/>
                    </a:gs>
                  </a:gsLst>
                  <a:path path="circle">
                    <a:fillToRect l="100000" b="100000"/>
                  </a:path>
                </a:gradFill>
                <a:effectLst/>
                <a:latin typeface="+mj-lt"/>
              </a:defRPr>
            </a:lvl1pPr>
          </a:lstStyle>
          <a:p>
            <a:pPr marL="0" marR="0" lvl="0" indent="0" algn="l" defTabSz="914400" rtl="0" eaLnBrk="1" fontAlgn="auto" latinLnBrk="0" hangingPunct="1">
              <a:lnSpc>
                <a:spcPct val="90000"/>
              </a:lnSpc>
              <a:spcBef>
                <a:spcPts val="0"/>
              </a:spcBef>
              <a:spcAft>
                <a:spcPts val="1800"/>
              </a:spcAft>
              <a:buClrTx/>
              <a:buSzTx/>
              <a:buFontTx/>
              <a:buNone/>
              <a:tabLst/>
              <a:defRPr/>
            </a:pPr>
            <a:r>
              <a:rPr lang="en-US" sz="1800" kern="1200" dirty="0">
                <a:solidFill>
                  <a:schemeClr val="tx2"/>
                </a:solidFill>
                <a:latin typeface="Segoe UI Variable Display Semib" pitchFamily="2" charset="0"/>
                <a:cs typeface="Segoe UI Semibold" panose="020B0702040204020203" pitchFamily="34" charset="0"/>
              </a:rPr>
              <a:t>Nominate yourself:</a:t>
            </a:r>
            <a:br>
              <a:rPr lang="en-US" sz="1800" kern="1200" dirty="0">
                <a:solidFill>
                  <a:schemeClr val="tx2"/>
                </a:solidFill>
                <a:latin typeface="Segoe UI Variable Display Semib" pitchFamily="2" charset="0"/>
                <a:cs typeface="Segoe UI Semibold" panose="020B0702040204020203" pitchFamily="34" charset="0"/>
              </a:rPr>
            </a:br>
            <a:r>
              <a:rPr kumimoji="0" lang="en-US" sz="1800" i="0" u="none" strike="noStrike" kern="1200" cap="none" normalizeH="0" baseline="0" noProof="0" dirty="0">
                <a:ln>
                  <a:noFill/>
                </a:ln>
                <a:solidFill>
                  <a:schemeClr val="tx2"/>
                </a:solidFill>
                <a:effectLst/>
                <a:uLnTx/>
                <a:uFillTx/>
                <a:latin typeface="Segoe UI Semibold" panose="020B0702040204020203" pitchFamily="34" charset="0"/>
                <a:cs typeface="Segoe UI Semibold" panose="020B0702040204020203" pitchFamily="34" charset="0"/>
                <a:hlinkClick r:id="rId4">
                  <a:extLst>
                    <a:ext uri="{A12FA001-AC4F-418D-AE19-62706E023703}">
                      <ahyp:hlinkClr xmlns:ahyp="http://schemas.microsoft.com/office/drawing/2018/hyperlinkcolor" val="tx"/>
                    </a:ext>
                  </a:extLst>
                </a:hlinkClick>
              </a:rPr>
              <a:t>https://aka.ms/CopilotPartnerCommunity</a:t>
            </a:r>
            <a:r>
              <a:rPr kumimoji="0" lang="en-US" sz="1800" i="0" u="none" strike="noStrike" kern="1200" cap="none" normalizeH="0" baseline="0" noProof="0" dirty="0">
                <a:ln>
                  <a:noFill/>
                </a:ln>
                <a:solidFill>
                  <a:schemeClr val="tx2"/>
                </a:solidFill>
                <a:effectLst/>
                <a:uLnTx/>
                <a:uFillTx/>
                <a:latin typeface="Segoe UI Semibold" panose="020B0702040204020203" pitchFamily="34" charset="0"/>
                <a:cs typeface="Segoe UI Semibold" panose="020B0702040204020203" pitchFamily="34" charset="0"/>
              </a:rPr>
              <a:t>  </a:t>
            </a:r>
          </a:p>
        </p:txBody>
      </p:sp>
      <p:sp>
        <p:nvSpPr>
          <p:cNvPr id="3" name="TextBox 2">
            <a:extLst>
              <a:ext uri="{FF2B5EF4-FFF2-40B4-BE49-F238E27FC236}">
                <a16:creationId xmlns:a16="http://schemas.microsoft.com/office/drawing/2014/main" id="{062C5314-B369-6890-8A56-72D3DD006F92}"/>
              </a:ext>
            </a:extLst>
          </p:cNvPr>
          <p:cNvSpPr txBox="1"/>
          <p:nvPr/>
        </p:nvSpPr>
        <p:spPr>
          <a:xfrm>
            <a:off x="4356100" y="1769647"/>
            <a:ext cx="5381730" cy="1384995"/>
          </a:xfrm>
          <a:prstGeom prst="rect">
            <a:avLst/>
          </a:prstGeom>
          <a:noFill/>
        </p:spPr>
        <p:txBody>
          <a:bodyPr wrap="square" lIns="0" tIns="0" rIns="0" bIns="0" rtlCol="0" anchor="t">
            <a:spAutoFit/>
          </a:bodyPr>
          <a:lstStyle/>
          <a:p>
            <a:pPr>
              <a:defRPr/>
            </a:pPr>
            <a:r>
              <a:rPr lang="en-US" dirty="0">
                <a:solidFill>
                  <a:schemeClr val="tx2"/>
                </a:solidFill>
                <a:latin typeface="Segoe UI Variable Display Semib" pitchFamily="2" charset="0"/>
                <a:cs typeface="Segoe UI Semibold" panose="020B0702040204020203" pitchFamily="34" charset="0"/>
              </a:rPr>
              <a:t>Access all the key resources at:</a:t>
            </a:r>
            <a:br>
              <a:rPr lang="en-US" dirty="0">
                <a:solidFill>
                  <a:schemeClr val="tx2"/>
                </a:solidFill>
                <a:latin typeface="Segoe UI Variable Display Semib" pitchFamily="2" charset="0"/>
                <a:cs typeface="Segoe UI Semibold" panose="020B0702040204020203" pitchFamily="34" charset="0"/>
              </a:rPr>
            </a:br>
            <a:r>
              <a:rPr kumimoji="0" lang="en-US" b="0" i="0" u="none" strike="noStrike" kern="1200" cap="none" normalizeH="0" baseline="0" noProof="0" dirty="0">
                <a:ln w="3175">
                  <a:noFill/>
                </a:ln>
                <a:solidFill>
                  <a:srgbClr val="0078D4"/>
                </a:solidFill>
                <a:effectLst/>
                <a:uLnTx/>
                <a:uFillTx/>
                <a:latin typeface="Segoe UI Semibold"/>
                <a:ea typeface="+mn-ea"/>
                <a:cs typeface="Segoe UI" pitchFamily="34" charset="0"/>
                <a:hlinkClick r:id="rId5">
                  <a:extLst>
                    <a:ext uri="{A12FA001-AC4F-418D-AE19-62706E023703}">
                      <ahyp:hlinkClr xmlns:ahyp="http://schemas.microsoft.com/office/drawing/2018/hyperlinkcolor" val="tx"/>
                    </a:ext>
                  </a:extLst>
                </a:hlinkClick>
              </a:rPr>
              <a:t>aka.ms/</a:t>
            </a:r>
            <a:r>
              <a:rPr kumimoji="0" lang="en-US" b="0" i="0" u="none" strike="noStrike" kern="1200" cap="none" normalizeH="0" baseline="0" noProof="0" dirty="0" err="1">
                <a:ln w="3175">
                  <a:noFill/>
                </a:ln>
                <a:solidFill>
                  <a:srgbClr val="0078D4"/>
                </a:solidFill>
                <a:effectLst/>
                <a:uLnTx/>
                <a:uFillTx/>
                <a:latin typeface="Segoe UI Semibold"/>
                <a:ea typeface="+mn-ea"/>
                <a:cs typeface="Segoe UI" pitchFamily="34" charset="0"/>
                <a:hlinkClick r:id="rId5">
                  <a:extLst>
                    <a:ext uri="{A12FA001-AC4F-418D-AE19-62706E023703}">
                      <ahyp:hlinkClr xmlns:ahyp="http://schemas.microsoft.com/office/drawing/2018/hyperlinkcolor" val="tx"/>
                    </a:ext>
                  </a:extLst>
                </a:hlinkClick>
              </a:rPr>
              <a:t>AIFutureOfWorkPartner</a:t>
            </a:r>
            <a:r>
              <a:rPr kumimoji="0" lang="en-US" b="0" i="0" u="none" strike="noStrike" kern="1200" cap="none" normalizeH="0" baseline="0" noProof="0" dirty="0">
                <a:ln w="3175">
                  <a:noFill/>
                </a:ln>
                <a:solidFill>
                  <a:schemeClr val="tx2"/>
                </a:solidFill>
                <a:effectLst/>
                <a:uLnTx/>
                <a:uFillTx/>
                <a:latin typeface="Segoe UI Semibold"/>
                <a:ea typeface="+mn-ea"/>
                <a:cs typeface="Segoe UI" pitchFamily="34" charset="0"/>
                <a:hlinkClick r:id="rId5">
                  <a:extLst>
                    <a:ext uri="{A12FA001-AC4F-418D-AE19-62706E023703}">
                      <ahyp:hlinkClr xmlns:ahyp="http://schemas.microsoft.com/office/drawing/2018/hyperlinkcolor" val="tx"/>
                    </a:ext>
                  </a:extLst>
                </a:hlinkClick>
              </a:rPr>
              <a:t>  </a:t>
            </a:r>
            <a:endParaRPr kumimoji="0" lang="en-US" b="0" i="0" u="none" strike="noStrike" kern="1200" cap="none" normalizeH="0" baseline="0" noProof="0" dirty="0">
              <a:ln w="3175">
                <a:noFill/>
              </a:ln>
              <a:solidFill>
                <a:schemeClr val="tx2"/>
              </a:solidFill>
              <a:effectLst/>
              <a:uLnTx/>
              <a:uFillTx/>
              <a:latin typeface="Segoe UI Semibold"/>
              <a:ea typeface="+mn-ea"/>
              <a:cs typeface="Segoe UI" pitchFamily="34" charset="0"/>
            </a:endParaRPr>
          </a:p>
          <a:p>
            <a:pPr>
              <a:defRPr/>
            </a:pPr>
            <a:endParaRPr lang="en-US" dirty="0">
              <a:ln w="3175">
                <a:noFill/>
              </a:ln>
              <a:solidFill>
                <a:schemeClr val="tx2"/>
              </a:solidFill>
              <a:latin typeface="Segoe UI Semibold"/>
              <a:cs typeface="Segoe UI" pitchFamily="34" charset="0"/>
            </a:endParaRPr>
          </a:p>
          <a:p>
            <a:pPr>
              <a:defRPr/>
            </a:pPr>
            <a:r>
              <a:rPr lang="en-US" dirty="0">
                <a:solidFill>
                  <a:schemeClr val="tx2"/>
                </a:solidFill>
                <a:latin typeface="Segoe UI Variable Display Semib" pitchFamily="2" charset="0"/>
                <a:cs typeface="Segoe UI Semibold" panose="020B0702040204020203" pitchFamily="34" charset="0"/>
              </a:rPr>
              <a:t>The Microsoft 365 Copilot site:</a:t>
            </a:r>
          </a:p>
          <a:p>
            <a:pPr>
              <a:defRPr/>
            </a:pPr>
            <a:r>
              <a:rPr lang="en-US" dirty="0">
                <a:ln w="3175">
                  <a:noFill/>
                </a:ln>
                <a:solidFill>
                  <a:schemeClr val="tx2"/>
                </a:solidFill>
                <a:latin typeface="Segoe UI Semibold"/>
                <a:cs typeface="Segoe UI" pitchFamily="34" charset="0"/>
                <a:hlinkClick r:id="rId6">
                  <a:extLst>
                    <a:ext uri="{A12FA001-AC4F-418D-AE19-62706E023703}">
                      <ahyp:hlinkClr xmlns:ahyp="http://schemas.microsoft.com/office/drawing/2018/hyperlinkcolor" val="tx"/>
                    </a:ext>
                  </a:extLst>
                </a:hlinkClick>
              </a:rPr>
              <a:t>Microsoft 365 Copilot – Microsoft Adoption</a:t>
            </a:r>
            <a:r>
              <a:rPr lang="en-US" dirty="0">
                <a:ln w="3175">
                  <a:noFill/>
                </a:ln>
                <a:solidFill>
                  <a:schemeClr val="tx2"/>
                </a:solidFill>
                <a:latin typeface="Segoe UI Semibold"/>
                <a:cs typeface="Segoe UI" pitchFamily="34" charset="0"/>
              </a:rPr>
              <a:t> </a:t>
            </a:r>
          </a:p>
        </p:txBody>
      </p:sp>
      <p:sp>
        <p:nvSpPr>
          <p:cNvPr id="9" name="TextBox 8">
            <a:extLst>
              <a:ext uri="{FF2B5EF4-FFF2-40B4-BE49-F238E27FC236}">
                <a16:creationId xmlns:a16="http://schemas.microsoft.com/office/drawing/2014/main" id="{0A26A752-6DD9-DB4F-9A7C-D1FC5E6F11F9}"/>
              </a:ext>
            </a:extLst>
          </p:cNvPr>
          <p:cNvSpPr txBox="1"/>
          <p:nvPr/>
        </p:nvSpPr>
        <p:spPr>
          <a:xfrm>
            <a:off x="824520" y="1436688"/>
            <a:ext cx="2298093" cy="2050914"/>
          </a:xfrm>
          <a:prstGeom prst="rect">
            <a:avLst/>
          </a:prstGeom>
          <a:noFill/>
        </p:spPr>
        <p:txBody>
          <a:bodyPr wrap="square" lIns="0" tIns="0" rIns="0" bIns="0" anchor="ctr">
            <a:noAutofit/>
          </a:bodyPr>
          <a:lstStyle/>
          <a:p>
            <a:r>
              <a:rPr lang="en-US" sz="2400">
                <a:solidFill>
                  <a:prstClr val="black"/>
                </a:solidFill>
                <a:latin typeface="Segoe UI Variable Display Semib" pitchFamily="2" charset="0"/>
                <a:cs typeface="Segoe UI Semibold" panose="020B0702040204020203" pitchFamily="34" charset="0"/>
              </a:rPr>
              <a:t>Resources</a:t>
            </a:r>
          </a:p>
        </p:txBody>
      </p:sp>
      <p:sp>
        <p:nvSpPr>
          <p:cNvPr id="10" name="TextBox 9">
            <a:extLst>
              <a:ext uri="{FF2B5EF4-FFF2-40B4-BE49-F238E27FC236}">
                <a16:creationId xmlns:a16="http://schemas.microsoft.com/office/drawing/2014/main" id="{D288C2EE-9C0C-2837-E9AB-224C10E51452}"/>
              </a:ext>
            </a:extLst>
          </p:cNvPr>
          <p:cNvSpPr txBox="1"/>
          <p:nvPr/>
        </p:nvSpPr>
        <p:spPr>
          <a:xfrm>
            <a:off x="7491758" y="5611020"/>
            <a:ext cx="4457010" cy="3385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mn-cs"/>
              </a:rPr>
              <a:t>Microsoft 365 Copilot falls under the </a:t>
            </a:r>
            <a:r>
              <a:rPr kumimoji="0" lang="en-US" sz="1100" b="0" i="0" u="sng" strike="noStrike" kern="1200" cap="none" spc="0" normalizeH="0" baseline="0" noProof="0" dirty="0">
                <a:ln>
                  <a:noFill/>
                </a:ln>
                <a:solidFill>
                  <a:srgbClr val="0563C1"/>
                </a:solidFill>
                <a:effectLst/>
                <a:uLnTx/>
                <a:uFillTx/>
                <a:latin typeface="Segoe UI"/>
                <a:ea typeface="Calibri" panose="020F0502020204030204" pitchFamily="34" charset="0"/>
                <a:cs typeface="Arial" panose="020B0604020202020204" pitchFamily="34" charset="0"/>
                <a:hlinkClick r:id="rId7"/>
              </a:rPr>
              <a:t>Microsoft 365 Product Terms</a:t>
            </a:r>
            <a:r>
              <a:rPr kumimoji="0" lang="en-US" sz="1100" b="0" i="0" u="none" strike="noStrike" kern="1200" cap="none" spc="0" normalizeH="0" baseline="0" noProof="0" dirty="0">
                <a:ln>
                  <a:noFill/>
                </a:ln>
                <a:solidFill>
                  <a:srgbClr val="000000"/>
                </a:solidFill>
                <a:effectLst/>
                <a:uLnTx/>
                <a:uFillTx/>
                <a:latin typeface="Segoe UI"/>
                <a:ea typeface="Calibri" panose="020F0502020204030204" pitchFamily="34" charset="0"/>
                <a:cs typeface="Arial" panose="020B0604020202020204" pitchFamily="34" charset="0"/>
              </a:rPr>
              <a:t>. Review the </a:t>
            </a:r>
            <a:r>
              <a:rPr kumimoji="0" lang="en-US" sz="1100" b="0" i="0" u="none" strike="noStrike" kern="1200" cap="none" spc="0" normalizeH="0" baseline="0" noProof="0" dirty="0">
                <a:ln>
                  <a:noFill/>
                </a:ln>
                <a:solidFill>
                  <a:srgbClr val="0563C1"/>
                </a:solidFill>
                <a:effectLst/>
                <a:uLnTx/>
                <a:uFillTx/>
                <a:latin typeface="Segoe UI"/>
                <a:ea typeface="Calibri" panose="020F0502020204030204" pitchFamily="34" charset="0"/>
                <a:cs typeface="Arial" panose="020B0604020202020204" pitchFamily="34" charset="0"/>
                <a:hlinkClick r:id="rId8" tooltip="https://privacy.microsoft.com/en-us/"/>
              </a:rPr>
              <a:t>Microsoft privacy policy and service documentation</a:t>
            </a:r>
            <a:r>
              <a:rPr kumimoji="0" lang="en-US" sz="1100" b="0" i="0" u="none" strike="noStrike" kern="1200" cap="none" spc="0" normalizeH="0" baseline="0" noProof="0" dirty="0">
                <a:ln>
                  <a:noFill/>
                </a:ln>
                <a:solidFill>
                  <a:srgbClr val="0563C1"/>
                </a:solidFill>
                <a:effectLst/>
                <a:uLnTx/>
                <a:uFillTx/>
                <a:latin typeface="Segoe UI"/>
                <a:ea typeface="Calibri" panose="020F0502020204030204" pitchFamily="34" charset="0"/>
                <a:cs typeface="Arial" panose="020B0604020202020204" pitchFamily="34" charset="0"/>
              </a:rPr>
              <a:t>.</a:t>
            </a:r>
            <a:endParaRPr kumimoji="0" lang="en-US" sz="11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 name="Title 4">
            <a:extLst>
              <a:ext uri="{FF2B5EF4-FFF2-40B4-BE49-F238E27FC236}">
                <a16:creationId xmlns:a16="http://schemas.microsoft.com/office/drawing/2014/main" id="{26D9D0E0-8506-8DDD-1D5F-24D3CA8F39F1}"/>
              </a:ext>
            </a:extLst>
          </p:cNvPr>
          <p:cNvSpPr>
            <a:spLocks noGrp="1"/>
          </p:cNvSpPr>
          <p:nvPr>
            <p:ph type="title"/>
          </p:nvPr>
        </p:nvSpPr>
        <p:spPr>
          <a:xfrm>
            <a:off x="588263" y="457200"/>
            <a:ext cx="11018520" cy="553998"/>
          </a:xfrm>
        </p:spPr>
        <p:txBody>
          <a:bodyPr/>
          <a:lstStyle/>
          <a:p>
            <a:r>
              <a:rPr lang="en-US" dirty="0"/>
              <a:t>Microsoft 365 Copilot</a:t>
            </a:r>
          </a:p>
        </p:txBody>
      </p:sp>
      <p:sp>
        <p:nvSpPr>
          <p:cNvPr id="8" name="TextBox 7">
            <a:extLst>
              <a:ext uri="{FF2B5EF4-FFF2-40B4-BE49-F238E27FC236}">
                <a16:creationId xmlns:a16="http://schemas.microsoft.com/office/drawing/2014/main" id="{8A8AD0CE-6355-A7F4-6D24-78756408BDF9}"/>
              </a:ext>
            </a:extLst>
          </p:cNvPr>
          <p:cNvSpPr txBox="1"/>
          <p:nvPr/>
        </p:nvSpPr>
        <p:spPr>
          <a:xfrm>
            <a:off x="806620" y="3758320"/>
            <a:ext cx="2293861" cy="1728079"/>
          </a:xfrm>
          <a:prstGeom prst="rect">
            <a:avLst/>
          </a:prstGeom>
          <a:noFill/>
        </p:spPr>
        <p:txBody>
          <a:bodyPr wrap="square" lIns="0" tIns="0" rIns="0" bIns="0" anchor="ctr">
            <a:noAutofit/>
          </a:bodyPr>
          <a:lstStyle/>
          <a:p>
            <a:r>
              <a:rPr lang="en-US" sz="2400">
                <a:solidFill>
                  <a:prstClr val="black"/>
                </a:solidFill>
                <a:latin typeface="Segoe UI Variable Display Semib" pitchFamily="2" charset="0"/>
                <a:cs typeface="Segoe UI Semibold" panose="020B0702040204020203" pitchFamily="34" charset="0"/>
              </a:rPr>
              <a:t>Partner Community</a:t>
            </a:r>
          </a:p>
        </p:txBody>
      </p:sp>
      <p:sp>
        <p:nvSpPr>
          <p:cNvPr id="14" name="Slide Number Placeholder 13">
            <a:extLst>
              <a:ext uri="{FF2B5EF4-FFF2-40B4-BE49-F238E27FC236}">
                <a16:creationId xmlns:a16="http://schemas.microsoft.com/office/drawing/2014/main" id="{3D9967C3-BEE6-3D44-7865-418AE2CDC422}"/>
              </a:ext>
            </a:extLst>
          </p:cNvPr>
          <p:cNvSpPr>
            <a:spLocks noGrp="1"/>
          </p:cNvSpPr>
          <p:nvPr>
            <p:ph type="sldNum" sz="quarter" idx="13"/>
          </p:nvPr>
        </p:nvSpPr>
        <p:spPr/>
        <p:txBody>
          <a:bodyPr/>
          <a:lstStyle/>
          <a:p>
            <a:fld id="{5763EE98-C176-4152-A50F-E68840BAFA00}" type="slidenum">
              <a:rPr lang="en-US" smtClean="0">
                <a:solidFill>
                  <a:schemeClr val="bg1"/>
                </a:solidFill>
              </a:rPr>
              <a:pPr/>
              <a:t>43</a:t>
            </a:fld>
            <a:endParaRPr lang="en-US">
              <a:solidFill>
                <a:schemeClr val="bg1"/>
              </a:solidFill>
            </a:endParaRPr>
          </a:p>
        </p:txBody>
      </p:sp>
      <p:cxnSp>
        <p:nvCxnSpPr>
          <p:cNvPr id="17" name="Straight Connector 16">
            <a:extLst>
              <a:ext uri="{FF2B5EF4-FFF2-40B4-BE49-F238E27FC236}">
                <a16:creationId xmlns:a16="http://schemas.microsoft.com/office/drawing/2014/main" id="{A8911C7F-3542-5A2D-1CBF-262182FFC420}"/>
              </a:ext>
            </a:extLst>
          </p:cNvPr>
          <p:cNvCxnSpPr>
            <a:cxnSpLocks/>
          </p:cNvCxnSpPr>
          <p:nvPr/>
        </p:nvCxnSpPr>
        <p:spPr>
          <a:xfrm>
            <a:off x="3413125" y="1707406"/>
            <a:ext cx="4753" cy="1494020"/>
          </a:xfrm>
          <a:prstGeom prst="line">
            <a:avLst/>
          </a:prstGeom>
          <a:noFill/>
          <a:ln w="25400">
            <a:gradFill flip="none" rotWithShape="1">
              <a:gsLst>
                <a:gs pos="30000">
                  <a:srgbClr val="2DB4FF"/>
                </a:gs>
                <a:gs pos="35000">
                  <a:srgbClr val="2DB4FF"/>
                </a:gs>
                <a:gs pos="3000">
                  <a:srgbClr val="0078D4"/>
                </a:gs>
                <a:gs pos="52000">
                  <a:srgbClr val="818EFF"/>
                </a:gs>
                <a:gs pos="70000">
                  <a:srgbClr val="D660FF"/>
                </a:gs>
                <a:gs pos="97000">
                  <a:srgbClr val="FEA87A"/>
                </a:gs>
              </a:gsLst>
              <a:lin ang="5400000" scaled="0"/>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8" name="Straight Connector 17">
            <a:extLst>
              <a:ext uri="{FF2B5EF4-FFF2-40B4-BE49-F238E27FC236}">
                <a16:creationId xmlns:a16="http://schemas.microsoft.com/office/drawing/2014/main" id="{C7B2F308-3C83-DE3D-4D23-F16EBBEFDC8B}"/>
              </a:ext>
            </a:extLst>
          </p:cNvPr>
          <p:cNvCxnSpPr>
            <a:cxnSpLocks/>
          </p:cNvCxnSpPr>
          <p:nvPr/>
        </p:nvCxnSpPr>
        <p:spPr>
          <a:xfrm>
            <a:off x="3413125" y="3992380"/>
            <a:ext cx="0" cy="1265420"/>
          </a:xfrm>
          <a:prstGeom prst="line">
            <a:avLst/>
          </a:prstGeom>
          <a:noFill/>
          <a:ln w="25400">
            <a:gradFill flip="none" rotWithShape="1">
              <a:gsLst>
                <a:gs pos="30000">
                  <a:srgbClr val="2DB4FF"/>
                </a:gs>
                <a:gs pos="35000">
                  <a:srgbClr val="2DB4FF"/>
                </a:gs>
                <a:gs pos="3000">
                  <a:srgbClr val="0078D4"/>
                </a:gs>
                <a:gs pos="52000">
                  <a:srgbClr val="818EFF"/>
                </a:gs>
                <a:gs pos="70000">
                  <a:srgbClr val="D660FF"/>
                </a:gs>
                <a:gs pos="97000">
                  <a:srgbClr val="FEA87A"/>
                </a:gs>
              </a:gsLst>
              <a:lin ang="5400000" scaled="0"/>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2" name="Footer Placeholder 1">
            <a:extLst>
              <a:ext uri="{FF2B5EF4-FFF2-40B4-BE49-F238E27FC236}">
                <a16:creationId xmlns:a16="http://schemas.microsoft.com/office/drawing/2014/main" id="{F794AB49-8551-4FD7-9DE8-1A689C434064}"/>
              </a:ext>
            </a:extLst>
          </p:cNvPr>
          <p:cNvSpPr>
            <a:spLocks noGrp="1"/>
          </p:cNvSpPr>
          <p:nvPr>
            <p:ph type="ftr" sz="quarter" idx="12"/>
          </p:nvPr>
        </p:nvSpPr>
        <p:spPr/>
        <p:txBody>
          <a:bodyPr/>
          <a:lstStyle/>
          <a:p>
            <a:r>
              <a:rPr lang="en-US"/>
              <a:t>Building Customer-Centric Services offers</a:t>
            </a:r>
          </a:p>
        </p:txBody>
      </p:sp>
    </p:spTree>
    <p:extLst>
      <p:ext uri="{BB962C8B-B14F-4D97-AF65-F5344CB8AC3E}">
        <p14:creationId xmlns:p14="http://schemas.microsoft.com/office/powerpoint/2010/main" val="1519314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67000"/>
            <a:lum/>
          </a:blip>
          <a:srcRect/>
          <a:stretch>
            <a:fillRect/>
          </a:stretch>
        </a:blip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7D2F8A8-A80B-10BF-1F2C-54785E462D13}"/>
              </a:ext>
              <a:ext uri="{C183D7F6-B498-43B3-948B-1728B52AA6E4}">
                <adec:decorative xmlns:adec="http://schemas.microsoft.com/office/drawing/2017/decorative" val="1"/>
              </a:ext>
            </a:extLst>
          </p:cNvPr>
          <p:cNvSpPr/>
          <p:nvPr/>
        </p:nvSpPr>
        <p:spPr>
          <a:xfrm>
            <a:off x="0" y="0"/>
            <a:ext cx="12192000" cy="3442144"/>
          </a:xfrm>
          <a:prstGeom prst="rect">
            <a:avLst/>
          </a:prstGeom>
          <a:gradFill flip="none" rotWithShape="1">
            <a:gsLst>
              <a:gs pos="100000">
                <a:schemeClr val="bg1">
                  <a:alpha val="0"/>
                </a:schemeClr>
              </a:gs>
              <a:gs pos="37000">
                <a:schemeClr val="bg2"/>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DA57D5A-20A7-5106-FEC9-679CE147E6BA}"/>
              </a:ext>
              <a:ext uri="{C183D7F6-B498-43B3-948B-1728B52AA6E4}">
                <adec:decorative xmlns:adec="http://schemas.microsoft.com/office/drawing/2017/decorative" val="1"/>
              </a:ext>
            </a:extLst>
          </p:cNvPr>
          <p:cNvSpPr/>
          <p:nvPr/>
        </p:nvSpPr>
        <p:spPr>
          <a:xfrm>
            <a:off x="0" y="1346200"/>
            <a:ext cx="12192000" cy="4916488"/>
          </a:xfrm>
          <a:prstGeom prst="rect">
            <a:avLst/>
          </a:prstGeom>
          <a:solidFill>
            <a:srgbClr val="FFFFFF">
              <a:alpha val="59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a:cs typeface="Segoe UI" pitchFamily="34" charset="0"/>
            </a:endParaRPr>
          </a:p>
        </p:txBody>
      </p:sp>
      <p:sp>
        <p:nvSpPr>
          <p:cNvPr id="60" name="Rectangle: Rounded Corners 59">
            <a:extLst>
              <a:ext uri="{FF2B5EF4-FFF2-40B4-BE49-F238E27FC236}">
                <a16:creationId xmlns:a16="http://schemas.microsoft.com/office/drawing/2014/main" id="{85298502-EAA4-2C90-8C01-BDDE5A00A436}"/>
              </a:ext>
              <a:ext uri="{C183D7F6-B498-43B3-948B-1728B52AA6E4}">
                <adec:decorative xmlns:adec="http://schemas.microsoft.com/office/drawing/2017/decorative" val="1"/>
              </a:ext>
            </a:extLst>
          </p:cNvPr>
          <p:cNvSpPr/>
          <p:nvPr/>
        </p:nvSpPr>
        <p:spPr bwMode="auto">
          <a:xfrm>
            <a:off x="635490" y="5144713"/>
            <a:ext cx="10920890" cy="663141"/>
          </a:xfrm>
          <a:custGeom>
            <a:avLst/>
            <a:gdLst>
              <a:gd name="connsiteX0" fmla="*/ 0 w 10920760"/>
              <a:gd name="connsiteY0" fmla="*/ 130089 h 1132985"/>
              <a:gd name="connsiteX1" fmla="*/ 130089 w 10920760"/>
              <a:gd name="connsiteY1" fmla="*/ 0 h 1132985"/>
              <a:gd name="connsiteX2" fmla="*/ 10790671 w 10920760"/>
              <a:gd name="connsiteY2" fmla="*/ 0 h 1132985"/>
              <a:gd name="connsiteX3" fmla="*/ 10920760 w 10920760"/>
              <a:gd name="connsiteY3" fmla="*/ 130089 h 1132985"/>
              <a:gd name="connsiteX4" fmla="*/ 10920760 w 10920760"/>
              <a:gd name="connsiteY4" fmla="*/ 1002896 h 1132985"/>
              <a:gd name="connsiteX5" fmla="*/ 10790671 w 10920760"/>
              <a:gd name="connsiteY5" fmla="*/ 1132985 h 1132985"/>
              <a:gd name="connsiteX6" fmla="*/ 130089 w 10920760"/>
              <a:gd name="connsiteY6" fmla="*/ 1132985 h 1132985"/>
              <a:gd name="connsiteX7" fmla="*/ 0 w 10920760"/>
              <a:gd name="connsiteY7" fmla="*/ 1002896 h 1132985"/>
              <a:gd name="connsiteX8" fmla="*/ 0 w 10920760"/>
              <a:gd name="connsiteY8" fmla="*/ 130089 h 1132985"/>
              <a:gd name="connsiteX0" fmla="*/ 130 w 10920890"/>
              <a:gd name="connsiteY0" fmla="*/ 130089 h 1132985"/>
              <a:gd name="connsiteX1" fmla="*/ 130219 w 10920890"/>
              <a:gd name="connsiteY1" fmla="*/ 0 h 1132985"/>
              <a:gd name="connsiteX2" fmla="*/ 10790801 w 10920890"/>
              <a:gd name="connsiteY2" fmla="*/ 0 h 1132985"/>
              <a:gd name="connsiteX3" fmla="*/ 10920890 w 10920890"/>
              <a:gd name="connsiteY3" fmla="*/ 130089 h 1132985"/>
              <a:gd name="connsiteX4" fmla="*/ 10920890 w 10920890"/>
              <a:gd name="connsiteY4" fmla="*/ 1002896 h 1132985"/>
              <a:gd name="connsiteX5" fmla="*/ 10790801 w 10920890"/>
              <a:gd name="connsiteY5" fmla="*/ 1132985 h 1132985"/>
              <a:gd name="connsiteX6" fmla="*/ 130219 w 10920890"/>
              <a:gd name="connsiteY6" fmla="*/ 1132985 h 1132985"/>
              <a:gd name="connsiteX7" fmla="*/ 130 w 10920890"/>
              <a:gd name="connsiteY7" fmla="*/ 1002896 h 1132985"/>
              <a:gd name="connsiteX8" fmla="*/ 0 w 10920890"/>
              <a:gd name="connsiteY8" fmla="*/ 497316 h 1132985"/>
              <a:gd name="connsiteX9" fmla="*/ 130 w 10920890"/>
              <a:gd name="connsiteY9" fmla="*/ 130089 h 1132985"/>
              <a:gd name="connsiteX0" fmla="*/ 130 w 10920890"/>
              <a:gd name="connsiteY0" fmla="*/ 130089 h 1132985"/>
              <a:gd name="connsiteX1" fmla="*/ 130219 w 10920890"/>
              <a:gd name="connsiteY1" fmla="*/ 0 h 1132985"/>
              <a:gd name="connsiteX2" fmla="*/ 10790801 w 10920890"/>
              <a:gd name="connsiteY2" fmla="*/ 0 h 1132985"/>
              <a:gd name="connsiteX3" fmla="*/ 10920890 w 10920890"/>
              <a:gd name="connsiteY3" fmla="*/ 130089 h 1132985"/>
              <a:gd name="connsiteX4" fmla="*/ 10919843 w 10920890"/>
              <a:gd name="connsiteY4" fmla="*/ 490255 h 1132985"/>
              <a:gd name="connsiteX5" fmla="*/ 10920890 w 10920890"/>
              <a:gd name="connsiteY5" fmla="*/ 1002896 h 1132985"/>
              <a:gd name="connsiteX6" fmla="*/ 10790801 w 10920890"/>
              <a:gd name="connsiteY6" fmla="*/ 1132985 h 1132985"/>
              <a:gd name="connsiteX7" fmla="*/ 130219 w 10920890"/>
              <a:gd name="connsiteY7" fmla="*/ 1132985 h 1132985"/>
              <a:gd name="connsiteX8" fmla="*/ 130 w 10920890"/>
              <a:gd name="connsiteY8" fmla="*/ 1002896 h 1132985"/>
              <a:gd name="connsiteX9" fmla="*/ 0 w 10920890"/>
              <a:gd name="connsiteY9" fmla="*/ 497316 h 1132985"/>
              <a:gd name="connsiteX10" fmla="*/ 130 w 10920890"/>
              <a:gd name="connsiteY10" fmla="*/ 130089 h 1132985"/>
              <a:gd name="connsiteX0" fmla="*/ 699154 w 11620044"/>
              <a:gd name="connsiteY0" fmla="*/ 497316 h 1132985"/>
              <a:gd name="connsiteX1" fmla="*/ 829373 w 11620044"/>
              <a:gd name="connsiteY1" fmla="*/ 0 h 1132985"/>
              <a:gd name="connsiteX2" fmla="*/ 11489955 w 11620044"/>
              <a:gd name="connsiteY2" fmla="*/ 0 h 1132985"/>
              <a:gd name="connsiteX3" fmla="*/ 11620044 w 11620044"/>
              <a:gd name="connsiteY3" fmla="*/ 130089 h 1132985"/>
              <a:gd name="connsiteX4" fmla="*/ 11618997 w 11620044"/>
              <a:gd name="connsiteY4" fmla="*/ 490255 h 1132985"/>
              <a:gd name="connsiteX5" fmla="*/ 11620044 w 11620044"/>
              <a:gd name="connsiteY5" fmla="*/ 1002896 h 1132985"/>
              <a:gd name="connsiteX6" fmla="*/ 11489955 w 11620044"/>
              <a:gd name="connsiteY6" fmla="*/ 1132985 h 1132985"/>
              <a:gd name="connsiteX7" fmla="*/ 829373 w 11620044"/>
              <a:gd name="connsiteY7" fmla="*/ 1132985 h 1132985"/>
              <a:gd name="connsiteX8" fmla="*/ 699284 w 11620044"/>
              <a:gd name="connsiteY8" fmla="*/ 1002896 h 1132985"/>
              <a:gd name="connsiteX9" fmla="*/ 699154 w 11620044"/>
              <a:gd name="connsiteY9" fmla="*/ 497316 h 1132985"/>
              <a:gd name="connsiteX0" fmla="*/ 804699 w 11595370"/>
              <a:gd name="connsiteY0" fmla="*/ 0 h 1132985"/>
              <a:gd name="connsiteX1" fmla="*/ 11465281 w 11595370"/>
              <a:gd name="connsiteY1" fmla="*/ 0 h 1132985"/>
              <a:gd name="connsiteX2" fmla="*/ 11595370 w 11595370"/>
              <a:gd name="connsiteY2" fmla="*/ 130089 h 1132985"/>
              <a:gd name="connsiteX3" fmla="*/ 11594323 w 11595370"/>
              <a:gd name="connsiteY3" fmla="*/ 490255 h 1132985"/>
              <a:gd name="connsiteX4" fmla="*/ 11595370 w 11595370"/>
              <a:gd name="connsiteY4" fmla="*/ 1002896 h 1132985"/>
              <a:gd name="connsiteX5" fmla="*/ 11465281 w 11595370"/>
              <a:gd name="connsiteY5" fmla="*/ 1132985 h 1132985"/>
              <a:gd name="connsiteX6" fmla="*/ 804699 w 11595370"/>
              <a:gd name="connsiteY6" fmla="*/ 1132985 h 1132985"/>
              <a:gd name="connsiteX7" fmla="*/ 674610 w 11595370"/>
              <a:gd name="connsiteY7" fmla="*/ 1002896 h 1132985"/>
              <a:gd name="connsiteX8" fmla="*/ 674480 w 11595370"/>
              <a:gd name="connsiteY8" fmla="*/ 497316 h 1132985"/>
              <a:gd name="connsiteX9" fmla="*/ 896139 w 11595370"/>
              <a:gd name="connsiteY9" fmla="*/ 91440 h 1132985"/>
              <a:gd name="connsiteX0" fmla="*/ 130219 w 10920890"/>
              <a:gd name="connsiteY0" fmla="*/ 0 h 1132985"/>
              <a:gd name="connsiteX1" fmla="*/ 10790801 w 10920890"/>
              <a:gd name="connsiteY1" fmla="*/ 0 h 1132985"/>
              <a:gd name="connsiteX2" fmla="*/ 10920890 w 10920890"/>
              <a:gd name="connsiteY2" fmla="*/ 130089 h 1132985"/>
              <a:gd name="connsiteX3" fmla="*/ 10919843 w 10920890"/>
              <a:gd name="connsiteY3" fmla="*/ 490255 h 1132985"/>
              <a:gd name="connsiteX4" fmla="*/ 10920890 w 10920890"/>
              <a:gd name="connsiteY4" fmla="*/ 1002896 h 1132985"/>
              <a:gd name="connsiteX5" fmla="*/ 10790801 w 10920890"/>
              <a:gd name="connsiteY5" fmla="*/ 1132985 h 1132985"/>
              <a:gd name="connsiteX6" fmla="*/ 130219 w 10920890"/>
              <a:gd name="connsiteY6" fmla="*/ 1132985 h 1132985"/>
              <a:gd name="connsiteX7" fmla="*/ 130 w 10920890"/>
              <a:gd name="connsiteY7" fmla="*/ 1002896 h 1132985"/>
              <a:gd name="connsiteX8" fmla="*/ 0 w 10920890"/>
              <a:gd name="connsiteY8" fmla="*/ 497316 h 1132985"/>
              <a:gd name="connsiteX0" fmla="*/ 10790801 w 10920890"/>
              <a:gd name="connsiteY0" fmla="*/ 0 h 1132985"/>
              <a:gd name="connsiteX1" fmla="*/ 10920890 w 10920890"/>
              <a:gd name="connsiteY1" fmla="*/ 130089 h 1132985"/>
              <a:gd name="connsiteX2" fmla="*/ 10919843 w 10920890"/>
              <a:gd name="connsiteY2" fmla="*/ 490255 h 1132985"/>
              <a:gd name="connsiteX3" fmla="*/ 10920890 w 10920890"/>
              <a:gd name="connsiteY3" fmla="*/ 1002896 h 1132985"/>
              <a:gd name="connsiteX4" fmla="*/ 10790801 w 10920890"/>
              <a:gd name="connsiteY4" fmla="*/ 1132985 h 1132985"/>
              <a:gd name="connsiteX5" fmla="*/ 130219 w 10920890"/>
              <a:gd name="connsiteY5" fmla="*/ 1132985 h 1132985"/>
              <a:gd name="connsiteX6" fmla="*/ 130 w 10920890"/>
              <a:gd name="connsiteY6" fmla="*/ 1002896 h 1132985"/>
              <a:gd name="connsiteX7" fmla="*/ 0 w 10920890"/>
              <a:gd name="connsiteY7" fmla="*/ 497316 h 1132985"/>
              <a:gd name="connsiteX0" fmla="*/ 10920890 w 10920890"/>
              <a:gd name="connsiteY0" fmla="*/ 0 h 1002896"/>
              <a:gd name="connsiteX1" fmla="*/ 10919843 w 10920890"/>
              <a:gd name="connsiteY1" fmla="*/ 360166 h 1002896"/>
              <a:gd name="connsiteX2" fmla="*/ 10920890 w 10920890"/>
              <a:gd name="connsiteY2" fmla="*/ 872807 h 1002896"/>
              <a:gd name="connsiteX3" fmla="*/ 10790801 w 10920890"/>
              <a:gd name="connsiteY3" fmla="*/ 1002896 h 1002896"/>
              <a:gd name="connsiteX4" fmla="*/ 130219 w 10920890"/>
              <a:gd name="connsiteY4" fmla="*/ 1002896 h 1002896"/>
              <a:gd name="connsiteX5" fmla="*/ 130 w 10920890"/>
              <a:gd name="connsiteY5" fmla="*/ 872807 h 1002896"/>
              <a:gd name="connsiteX6" fmla="*/ 0 w 10920890"/>
              <a:gd name="connsiteY6" fmla="*/ 367227 h 1002896"/>
              <a:gd name="connsiteX0" fmla="*/ 10919843 w 10920890"/>
              <a:gd name="connsiteY0" fmla="*/ 0 h 642730"/>
              <a:gd name="connsiteX1" fmla="*/ 10920890 w 10920890"/>
              <a:gd name="connsiteY1" fmla="*/ 512641 h 642730"/>
              <a:gd name="connsiteX2" fmla="*/ 10790801 w 10920890"/>
              <a:gd name="connsiteY2" fmla="*/ 642730 h 642730"/>
              <a:gd name="connsiteX3" fmla="*/ 130219 w 10920890"/>
              <a:gd name="connsiteY3" fmla="*/ 642730 h 642730"/>
              <a:gd name="connsiteX4" fmla="*/ 130 w 10920890"/>
              <a:gd name="connsiteY4" fmla="*/ 512641 h 642730"/>
              <a:gd name="connsiteX5" fmla="*/ 0 w 10920890"/>
              <a:gd name="connsiteY5" fmla="*/ 7061 h 642730"/>
              <a:gd name="connsiteX0" fmla="*/ 10919843 w 10920890"/>
              <a:gd name="connsiteY0" fmla="*/ 0 h 660391"/>
              <a:gd name="connsiteX1" fmla="*/ 10920890 w 10920890"/>
              <a:gd name="connsiteY1" fmla="*/ 530302 h 660391"/>
              <a:gd name="connsiteX2" fmla="*/ 10790801 w 10920890"/>
              <a:gd name="connsiteY2" fmla="*/ 660391 h 660391"/>
              <a:gd name="connsiteX3" fmla="*/ 130219 w 10920890"/>
              <a:gd name="connsiteY3" fmla="*/ 660391 h 660391"/>
              <a:gd name="connsiteX4" fmla="*/ 130 w 10920890"/>
              <a:gd name="connsiteY4" fmla="*/ 530302 h 660391"/>
              <a:gd name="connsiteX5" fmla="*/ 0 w 10920890"/>
              <a:gd name="connsiteY5" fmla="*/ 24722 h 660391"/>
              <a:gd name="connsiteX0" fmla="*/ 10919843 w 10920890"/>
              <a:gd name="connsiteY0" fmla="*/ 2750 h 663141"/>
              <a:gd name="connsiteX1" fmla="*/ 10920890 w 10920890"/>
              <a:gd name="connsiteY1" fmla="*/ 533052 h 663141"/>
              <a:gd name="connsiteX2" fmla="*/ 10790801 w 10920890"/>
              <a:gd name="connsiteY2" fmla="*/ 663141 h 663141"/>
              <a:gd name="connsiteX3" fmla="*/ 130219 w 10920890"/>
              <a:gd name="connsiteY3" fmla="*/ 663141 h 663141"/>
              <a:gd name="connsiteX4" fmla="*/ 130 w 10920890"/>
              <a:gd name="connsiteY4" fmla="*/ 533052 h 663141"/>
              <a:gd name="connsiteX5" fmla="*/ 0 w 10920890"/>
              <a:gd name="connsiteY5" fmla="*/ 0 h 663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20890" h="663141">
                <a:moveTo>
                  <a:pt x="10919843" y="2750"/>
                </a:moveTo>
                <a:lnTo>
                  <a:pt x="10920890" y="533052"/>
                </a:lnTo>
                <a:cubicBezTo>
                  <a:pt x="10920890" y="604898"/>
                  <a:pt x="10862647" y="663141"/>
                  <a:pt x="10790801" y="663141"/>
                </a:cubicBezTo>
                <a:lnTo>
                  <a:pt x="130219" y="663141"/>
                </a:lnTo>
                <a:cubicBezTo>
                  <a:pt x="58373" y="663141"/>
                  <a:pt x="130" y="604898"/>
                  <a:pt x="130" y="533052"/>
                </a:cubicBezTo>
                <a:cubicBezTo>
                  <a:pt x="87" y="364525"/>
                  <a:pt x="43" y="168527"/>
                  <a:pt x="0" y="0"/>
                </a:cubicBezTo>
              </a:path>
            </a:pathLst>
          </a:custGeom>
          <a:noFill/>
          <a:ln w="25400">
            <a:gradFill flip="none" rotWithShape="1">
              <a:gsLst>
                <a:gs pos="30000">
                  <a:srgbClr val="2DB4FF"/>
                </a:gs>
                <a:gs pos="35000">
                  <a:srgbClr val="2DB4FF"/>
                </a:gs>
                <a:gs pos="3000">
                  <a:srgbClr val="0078D4"/>
                </a:gs>
                <a:gs pos="52000">
                  <a:srgbClr val="818EFF"/>
                </a:gs>
                <a:gs pos="70000">
                  <a:srgbClr val="D660FF"/>
                </a:gs>
                <a:gs pos="97000">
                  <a:srgbClr val="FEA87A"/>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cs typeface="Segoe UI" pitchFamily="34" charset="0"/>
            </a:endParaRPr>
          </a:p>
        </p:txBody>
      </p:sp>
      <p:sp>
        <p:nvSpPr>
          <p:cNvPr id="29" name="Title 28">
            <a:extLst>
              <a:ext uri="{FF2B5EF4-FFF2-40B4-BE49-F238E27FC236}">
                <a16:creationId xmlns:a16="http://schemas.microsoft.com/office/drawing/2014/main" id="{5F007AD7-AAD9-4C0E-F97E-97F7DB9EAF39}"/>
              </a:ext>
            </a:extLst>
          </p:cNvPr>
          <p:cNvSpPr>
            <a:spLocks noGrp="1"/>
          </p:cNvSpPr>
          <p:nvPr>
            <p:ph type="title"/>
          </p:nvPr>
        </p:nvSpPr>
        <p:spPr/>
        <p:txBody>
          <a:bodyPr/>
          <a:lstStyle/>
          <a:p>
            <a:pPr algn="ctr"/>
            <a:r>
              <a:rPr lang="en-US"/>
              <a:t>Copilot Success Kit</a:t>
            </a:r>
          </a:p>
        </p:txBody>
      </p:sp>
      <p:sp>
        <p:nvSpPr>
          <p:cNvPr id="44" name="Title 4">
            <a:extLst>
              <a:ext uri="{FF2B5EF4-FFF2-40B4-BE49-F238E27FC236}">
                <a16:creationId xmlns:a16="http://schemas.microsoft.com/office/drawing/2014/main" id="{98272FE0-1123-9E01-2F5C-8360A093C898}"/>
              </a:ext>
            </a:extLst>
          </p:cNvPr>
          <p:cNvSpPr txBox="1">
            <a:spLocks/>
          </p:cNvSpPr>
          <p:nvPr/>
        </p:nvSpPr>
        <p:spPr>
          <a:xfrm>
            <a:off x="4022334" y="1330986"/>
            <a:ext cx="4147329" cy="6896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4200">
                <a:ln w="3175">
                  <a:noFill/>
                </a:ln>
                <a:gradFill flip="none" rotWithShape="1">
                  <a:gsLst>
                    <a:gs pos="74000">
                      <a:srgbClr val="D660FF"/>
                    </a:gs>
                    <a:gs pos="52000">
                      <a:srgbClr val="818EFF"/>
                    </a:gs>
                    <a:gs pos="32000">
                      <a:srgbClr val="2DB4FF"/>
                    </a:gs>
                    <a:gs pos="27566">
                      <a:srgbClr val="2DB4FF"/>
                    </a:gs>
                    <a:gs pos="3000">
                      <a:srgbClr val="0078D4"/>
                    </a:gs>
                    <a:gs pos="97000">
                      <a:srgbClr val="FEA87A"/>
                    </a:gs>
                  </a:gsLst>
                  <a:lin ang="10800000" scaled="1"/>
                  <a:tileRect/>
                </a:gradFill>
                <a:latin typeface="+mj-lt"/>
                <a:cs typeface="Segoe UI" panose="020B0502040204020203"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2600">
                <a:solidFill>
                  <a:schemeClr val="accent4">
                    <a:lumMod val="75000"/>
                  </a:schemeClr>
                </a:solidFill>
              </a:rPr>
              <a:t>What’s included</a:t>
            </a:r>
          </a:p>
        </p:txBody>
      </p:sp>
      <p:sp>
        <p:nvSpPr>
          <p:cNvPr id="15" name="Rectangle: Rounded Corners 14">
            <a:extLst>
              <a:ext uri="{FF2B5EF4-FFF2-40B4-BE49-F238E27FC236}">
                <a16:creationId xmlns:a16="http://schemas.microsoft.com/office/drawing/2014/main" id="{329A26B0-24BB-13F9-1907-B68049E5CAEE}"/>
              </a:ext>
              <a:ext uri="{C183D7F6-B498-43B3-948B-1728B52AA6E4}">
                <adec:decorative xmlns:adec="http://schemas.microsoft.com/office/drawing/2017/decorative" val="1"/>
              </a:ext>
            </a:extLst>
          </p:cNvPr>
          <p:cNvSpPr/>
          <p:nvPr/>
        </p:nvSpPr>
        <p:spPr>
          <a:xfrm>
            <a:off x="2652843" y="1982461"/>
            <a:ext cx="2210386" cy="3155443"/>
          </a:xfrm>
          <a:prstGeom prst="roundRect">
            <a:avLst>
              <a:gd name="adj" fmla="val 5002"/>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vert="horz" wrap="square" lIns="182880" tIns="91440" rIns="182880" bIns="91440" rtlCol="0" anchor="t" anchorCtr="0">
            <a:noAutofit/>
          </a:bodyPr>
          <a:lstStyle/>
          <a:p>
            <a:pPr defTabSz="932742">
              <a:spcBef>
                <a:spcPts val="600"/>
              </a:spcBef>
              <a:buSzPct val="90000"/>
            </a:pPr>
            <a:endParaRPr lang="en-US" baseline="30000">
              <a:solidFill>
                <a:schemeClr val="tx1"/>
              </a:solidFill>
              <a:cs typeface="Segoe Sans Display" pitchFamily="2" charset="0"/>
            </a:endParaRPr>
          </a:p>
        </p:txBody>
      </p:sp>
      <p:sp>
        <p:nvSpPr>
          <p:cNvPr id="17" name="Rectangle: Rounded Corners 16">
            <a:extLst>
              <a:ext uri="{FF2B5EF4-FFF2-40B4-BE49-F238E27FC236}">
                <a16:creationId xmlns:a16="http://schemas.microsoft.com/office/drawing/2014/main" id="{408B6A44-E51C-90F2-43A7-3AF6B0DE97B2}"/>
              </a:ext>
              <a:ext uri="{C183D7F6-B498-43B3-948B-1728B52AA6E4}">
                <adec:decorative xmlns:adec="http://schemas.microsoft.com/office/drawing/2017/decorative" val="1"/>
              </a:ext>
            </a:extLst>
          </p:cNvPr>
          <p:cNvSpPr/>
          <p:nvPr/>
        </p:nvSpPr>
        <p:spPr>
          <a:xfrm>
            <a:off x="4995738" y="1982461"/>
            <a:ext cx="2210386" cy="3155443"/>
          </a:xfrm>
          <a:prstGeom prst="roundRect">
            <a:avLst>
              <a:gd name="adj" fmla="val 5002"/>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vert="horz" wrap="square" lIns="182880" tIns="91440" rIns="182880" bIns="91440" rtlCol="0" anchor="t" anchorCtr="0">
            <a:noAutofit/>
          </a:bodyPr>
          <a:lstStyle/>
          <a:p>
            <a:pPr defTabSz="932742">
              <a:spcBef>
                <a:spcPts val="600"/>
              </a:spcBef>
              <a:buSzPct val="90000"/>
            </a:pPr>
            <a:endParaRPr lang="en-US" baseline="30000">
              <a:solidFill>
                <a:schemeClr val="tx1"/>
              </a:solidFill>
              <a:cs typeface="Segoe Sans Display" pitchFamily="2" charset="0"/>
            </a:endParaRPr>
          </a:p>
        </p:txBody>
      </p:sp>
      <p:sp>
        <p:nvSpPr>
          <p:cNvPr id="18" name="Rectangle: Rounded Corners 17">
            <a:extLst>
              <a:ext uri="{FF2B5EF4-FFF2-40B4-BE49-F238E27FC236}">
                <a16:creationId xmlns:a16="http://schemas.microsoft.com/office/drawing/2014/main" id="{514DCC7D-B073-C71F-6F36-98364EED8958}"/>
              </a:ext>
              <a:ext uri="{C183D7F6-B498-43B3-948B-1728B52AA6E4}">
                <adec:decorative xmlns:adec="http://schemas.microsoft.com/office/drawing/2017/decorative" val="1"/>
              </a:ext>
            </a:extLst>
          </p:cNvPr>
          <p:cNvSpPr/>
          <p:nvPr/>
        </p:nvSpPr>
        <p:spPr>
          <a:xfrm>
            <a:off x="7338633" y="1982461"/>
            <a:ext cx="2210386" cy="3155443"/>
          </a:xfrm>
          <a:prstGeom prst="roundRect">
            <a:avLst>
              <a:gd name="adj" fmla="val 5002"/>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vert="horz" wrap="square" lIns="182880" tIns="91440" rIns="182880" bIns="91440" rtlCol="0" anchor="t" anchorCtr="0">
            <a:noAutofit/>
          </a:bodyPr>
          <a:lstStyle/>
          <a:p>
            <a:pPr defTabSz="932742">
              <a:spcBef>
                <a:spcPts val="600"/>
              </a:spcBef>
              <a:buSzPct val="90000"/>
            </a:pPr>
            <a:endParaRPr lang="en-US" baseline="30000">
              <a:solidFill>
                <a:schemeClr val="tx1"/>
              </a:solidFill>
              <a:cs typeface="Segoe Sans Display" pitchFamily="2" charset="0"/>
            </a:endParaRPr>
          </a:p>
        </p:txBody>
      </p:sp>
      <p:sp>
        <p:nvSpPr>
          <p:cNvPr id="19" name="Rectangle: Rounded Corners 18">
            <a:extLst>
              <a:ext uri="{FF2B5EF4-FFF2-40B4-BE49-F238E27FC236}">
                <a16:creationId xmlns:a16="http://schemas.microsoft.com/office/drawing/2014/main" id="{09819706-F371-41BF-9C8C-DD45E003C37B}"/>
              </a:ext>
              <a:ext uri="{C183D7F6-B498-43B3-948B-1728B52AA6E4}">
                <adec:decorative xmlns:adec="http://schemas.microsoft.com/office/drawing/2017/decorative" val="1"/>
              </a:ext>
            </a:extLst>
          </p:cNvPr>
          <p:cNvSpPr/>
          <p:nvPr/>
        </p:nvSpPr>
        <p:spPr>
          <a:xfrm>
            <a:off x="9685760" y="1982461"/>
            <a:ext cx="2210386" cy="3155443"/>
          </a:xfrm>
          <a:prstGeom prst="roundRect">
            <a:avLst>
              <a:gd name="adj" fmla="val 5002"/>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vert="horz" wrap="square" lIns="182880" tIns="91440" rIns="182880" bIns="91440" rtlCol="0" anchor="t" anchorCtr="0">
            <a:noAutofit/>
          </a:bodyPr>
          <a:lstStyle/>
          <a:p>
            <a:pPr defTabSz="932742">
              <a:spcBef>
                <a:spcPts val="600"/>
              </a:spcBef>
              <a:buSzPct val="90000"/>
            </a:pPr>
            <a:endParaRPr lang="en-US" baseline="30000">
              <a:solidFill>
                <a:schemeClr val="tx1"/>
              </a:solidFill>
              <a:cs typeface="Segoe Sans Display" pitchFamily="2" charset="0"/>
            </a:endParaRPr>
          </a:p>
        </p:txBody>
      </p:sp>
      <p:sp>
        <p:nvSpPr>
          <p:cNvPr id="21" name="Rectangle: Rounded Corners 20">
            <a:extLst>
              <a:ext uri="{FF2B5EF4-FFF2-40B4-BE49-F238E27FC236}">
                <a16:creationId xmlns:a16="http://schemas.microsoft.com/office/drawing/2014/main" id="{97CCA164-96F8-8C31-0E23-1B2DAFB71BAD}"/>
              </a:ext>
              <a:ext uri="{C183D7F6-B498-43B3-948B-1728B52AA6E4}">
                <adec:decorative xmlns:adec="http://schemas.microsoft.com/office/drawing/2017/decorative" val="1"/>
              </a:ext>
            </a:extLst>
          </p:cNvPr>
          <p:cNvSpPr/>
          <p:nvPr/>
        </p:nvSpPr>
        <p:spPr>
          <a:xfrm>
            <a:off x="296863" y="1982461"/>
            <a:ext cx="2223471" cy="3155443"/>
          </a:xfrm>
          <a:prstGeom prst="roundRect">
            <a:avLst>
              <a:gd name="adj" fmla="val 5002"/>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vert="horz" wrap="square" lIns="182880" tIns="91440" rIns="182880" bIns="91440" rtlCol="0" anchor="t" anchorCtr="0">
            <a:noAutofit/>
          </a:bodyPr>
          <a:lstStyle/>
          <a:p>
            <a:pPr defTabSz="932742">
              <a:spcBef>
                <a:spcPts val="600"/>
              </a:spcBef>
              <a:buSzPct val="90000"/>
            </a:pPr>
            <a:endParaRPr lang="en-US" baseline="30000">
              <a:solidFill>
                <a:schemeClr val="tx1"/>
              </a:solidFill>
              <a:cs typeface="Segoe Sans Display" pitchFamily="2" charset="0"/>
            </a:endParaRPr>
          </a:p>
        </p:txBody>
      </p:sp>
      <p:sp>
        <p:nvSpPr>
          <p:cNvPr id="4" name="Rectangle 3">
            <a:extLst>
              <a:ext uri="{FF2B5EF4-FFF2-40B4-BE49-F238E27FC236}">
                <a16:creationId xmlns:a16="http://schemas.microsoft.com/office/drawing/2014/main" id="{02451F41-D0DA-9443-10D4-6AE4CEB7249D}"/>
              </a:ext>
              <a:ext uri="{C183D7F6-B498-43B3-948B-1728B52AA6E4}">
                <adec:decorative xmlns:adec="http://schemas.microsoft.com/office/drawing/2017/decorative" val="1"/>
              </a:ext>
            </a:extLst>
          </p:cNvPr>
          <p:cNvSpPr>
            <a:spLocks noChangeAspect="1"/>
          </p:cNvSpPr>
          <p:nvPr/>
        </p:nvSpPr>
        <p:spPr bwMode="auto">
          <a:xfrm>
            <a:off x="296863" y="2968999"/>
            <a:ext cx="2224819" cy="1216057"/>
          </a:xfrm>
          <a:prstGeom prst="rect">
            <a:avLst/>
          </a:prstGeom>
          <a:blipFill>
            <a:blip r:embed="rId4"/>
            <a:stretch>
              <a:fillRect/>
            </a:stretch>
          </a:bli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1" i="0" u="none" strike="noStrike" kern="1200" cap="none" spc="0" normalizeH="0" baseline="0" noProof="0">
              <a:ln w="3175">
                <a:noFill/>
              </a:ln>
              <a:gradFill>
                <a:gsLst>
                  <a:gs pos="77528">
                    <a:srgbClr val="000000"/>
                  </a:gs>
                  <a:gs pos="53933">
                    <a:srgbClr val="000000"/>
                  </a:gs>
                </a:gsLst>
                <a:path path="circle">
                  <a:fillToRect l="100000" b="100000"/>
                </a:path>
              </a:gradFill>
              <a:effectLst/>
              <a:uLnTx/>
              <a:uFillTx/>
              <a:latin typeface="Segoe UI Semibold"/>
              <a:ea typeface="+mn-ea"/>
              <a:cs typeface="Segoe UI" pitchFamily="34" charset="0"/>
            </a:endParaRPr>
          </a:p>
        </p:txBody>
      </p:sp>
      <p:sp>
        <p:nvSpPr>
          <p:cNvPr id="8" name="Rectangle 7">
            <a:extLst>
              <a:ext uri="{FF2B5EF4-FFF2-40B4-BE49-F238E27FC236}">
                <a16:creationId xmlns:a16="http://schemas.microsoft.com/office/drawing/2014/main" id="{F31C5187-8CBB-C503-EC14-BD08CD97154B}"/>
              </a:ext>
              <a:ext uri="{C183D7F6-B498-43B3-948B-1728B52AA6E4}">
                <adec:decorative xmlns:adec="http://schemas.microsoft.com/office/drawing/2017/decorative" val="1"/>
              </a:ext>
            </a:extLst>
          </p:cNvPr>
          <p:cNvSpPr>
            <a:spLocks noChangeAspect="1"/>
          </p:cNvSpPr>
          <p:nvPr/>
        </p:nvSpPr>
        <p:spPr bwMode="auto">
          <a:xfrm>
            <a:off x="2662872" y="2968217"/>
            <a:ext cx="2204590" cy="1217622"/>
          </a:xfrm>
          <a:prstGeom prst="rect">
            <a:avLst/>
          </a:prstGeom>
          <a:blipFill>
            <a:blip r:embed="rId5"/>
            <a:stretch>
              <a:fillRect r="-918"/>
            </a:stretch>
          </a:bli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1" i="0" u="none" strike="noStrike" kern="1200" cap="none" spc="0" normalizeH="0" baseline="0" noProof="0">
              <a:ln w="3175">
                <a:noFill/>
              </a:ln>
              <a:gradFill>
                <a:gsLst>
                  <a:gs pos="77528">
                    <a:srgbClr val="000000"/>
                  </a:gs>
                  <a:gs pos="53933">
                    <a:srgbClr val="000000"/>
                  </a:gs>
                </a:gsLst>
                <a:path path="circle">
                  <a:fillToRect l="100000" b="100000"/>
                </a:path>
              </a:gradFill>
              <a:effectLst/>
              <a:uLnTx/>
              <a:uFillTx/>
              <a:latin typeface="Segoe UI Semibold"/>
              <a:ea typeface="+mn-ea"/>
              <a:cs typeface="Segoe UI" pitchFamily="34" charset="0"/>
            </a:endParaRPr>
          </a:p>
        </p:txBody>
      </p:sp>
      <p:sp>
        <p:nvSpPr>
          <p:cNvPr id="12" name="Rectangle 11">
            <a:extLst>
              <a:ext uri="{FF2B5EF4-FFF2-40B4-BE49-F238E27FC236}">
                <a16:creationId xmlns:a16="http://schemas.microsoft.com/office/drawing/2014/main" id="{8CD56626-A871-C3D5-FEDE-2972DE260AF5}"/>
              </a:ext>
              <a:ext uri="{C183D7F6-B498-43B3-948B-1728B52AA6E4}">
                <adec:decorative xmlns:adec="http://schemas.microsoft.com/office/drawing/2017/decorative" val="1"/>
              </a:ext>
            </a:extLst>
          </p:cNvPr>
          <p:cNvSpPr>
            <a:spLocks noChangeAspect="1"/>
          </p:cNvSpPr>
          <p:nvPr/>
        </p:nvSpPr>
        <p:spPr bwMode="auto">
          <a:xfrm>
            <a:off x="4989558" y="2968216"/>
            <a:ext cx="2210386" cy="1217623"/>
          </a:xfrm>
          <a:prstGeom prst="rect">
            <a:avLst/>
          </a:prstGeom>
          <a:blipFill>
            <a:blip r:embed="rId6"/>
            <a:stretch>
              <a:fillRect l="-654"/>
            </a:stretch>
          </a:bli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1" i="0" u="none" strike="noStrike" kern="1200" cap="none" spc="0" normalizeH="0" baseline="0" noProof="0">
              <a:ln w="3175">
                <a:noFill/>
              </a:ln>
              <a:gradFill>
                <a:gsLst>
                  <a:gs pos="77528">
                    <a:srgbClr val="000000"/>
                  </a:gs>
                  <a:gs pos="53933">
                    <a:srgbClr val="000000"/>
                  </a:gs>
                </a:gsLst>
                <a:path path="circle">
                  <a:fillToRect l="100000" b="100000"/>
                </a:path>
              </a:gradFill>
              <a:effectLst/>
              <a:uLnTx/>
              <a:uFillTx/>
              <a:latin typeface="Segoe UI Semibold"/>
              <a:ea typeface="+mn-ea"/>
              <a:cs typeface="Segoe UI" pitchFamily="34" charset="0"/>
            </a:endParaRPr>
          </a:p>
        </p:txBody>
      </p:sp>
      <p:sp>
        <p:nvSpPr>
          <p:cNvPr id="16" name="Rectangle 15">
            <a:extLst>
              <a:ext uri="{FF2B5EF4-FFF2-40B4-BE49-F238E27FC236}">
                <a16:creationId xmlns:a16="http://schemas.microsoft.com/office/drawing/2014/main" id="{A6EB2294-D7E2-9D66-54D2-3EAA9D08CCD6}"/>
              </a:ext>
              <a:ext uri="{C183D7F6-B498-43B3-948B-1728B52AA6E4}">
                <adec:decorative xmlns:adec="http://schemas.microsoft.com/office/drawing/2017/decorative" val="1"/>
              </a:ext>
            </a:extLst>
          </p:cNvPr>
          <p:cNvSpPr>
            <a:spLocks noChangeAspect="1"/>
          </p:cNvSpPr>
          <p:nvPr/>
        </p:nvSpPr>
        <p:spPr bwMode="auto">
          <a:xfrm>
            <a:off x="7342865" y="2968217"/>
            <a:ext cx="2207535" cy="1217622"/>
          </a:xfrm>
          <a:prstGeom prst="rect">
            <a:avLst/>
          </a:prstGeom>
          <a:blipFill>
            <a:blip r:embed="rId7"/>
            <a:stretch>
              <a:fillRect l="-1" r="-782"/>
            </a:stretch>
          </a:bli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1" i="0" u="none" strike="noStrike" kern="1200" cap="none" spc="0" normalizeH="0" baseline="0" noProof="0" err="1">
              <a:ln w="3175">
                <a:noFill/>
              </a:ln>
              <a:gradFill>
                <a:gsLst>
                  <a:gs pos="77528">
                    <a:srgbClr val="000000"/>
                  </a:gs>
                  <a:gs pos="53933">
                    <a:srgbClr val="000000"/>
                  </a:gs>
                </a:gsLst>
                <a:path path="circle">
                  <a:fillToRect l="100000" b="100000"/>
                </a:path>
              </a:gradFill>
              <a:effectLst/>
              <a:uLnTx/>
              <a:uFillTx/>
              <a:latin typeface="Segoe UI Semibold"/>
              <a:ea typeface="+mn-ea"/>
              <a:cs typeface="Segoe UI" pitchFamily="34" charset="0"/>
            </a:endParaRPr>
          </a:p>
        </p:txBody>
      </p:sp>
      <p:pic>
        <p:nvPicPr>
          <p:cNvPr id="36" name="Picture 35">
            <a:extLst>
              <a:ext uri="{FF2B5EF4-FFF2-40B4-BE49-F238E27FC236}">
                <a16:creationId xmlns:a16="http://schemas.microsoft.com/office/drawing/2014/main" id="{D0AD1A8C-4062-50BA-A38B-256E961689E2}"/>
              </a:ext>
              <a:ext uri="{C183D7F6-B498-43B3-948B-1728B52AA6E4}">
                <adec:decorative xmlns:adec="http://schemas.microsoft.com/office/drawing/2017/decorative" val="1"/>
              </a:ext>
            </a:extLst>
          </p:cNvPr>
          <p:cNvPicPr>
            <a:picLocks noChangeAspect="1"/>
          </p:cNvPicPr>
          <p:nvPr/>
        </p:nvPicPr>
        <p:blipFill rotWithShape="1">
          <a:blip r:embed="rId8"/>
          <a:srcRect r="480"/>
          <a:stretch/>
        </p:blipFill>
        <p:spPr>
          <a:xfrm>
            <a:off x="9681528" y="2946669"/>
            <a:ext cx="2214140" cy="1260717"/>
          </a:xfrm>
          <a:prstGeom prst="rect">
            <a:avLst/>
          </a:prstGeom>
        </p:spPr>
      </p:pic>
      <p:sp>
        <p:nvSpPr>
          <p:cNvPr id="20" name="TextBox 19">
            <a:extLst>
              <a:ext uri="{FF2B5EF4-FFF2-40B4-BE49-F238E27FC236}">
                <a16:creationId xmlns:a16="http://schemas.microsoft.com/office/drawing/2014/main" id="{E0D2455B-7DE4-14D3-AA13-E935AAE21647}"/>
              </a:ext>
              <a:ext uri="{C183D7F6-B498-43B3-948B-1728B52AA6E4}">
                <adec:decorative xmlns:adec="http://schemas.microsoft.com/office/drawing/2017/decorative" val="1"/>
              </a:ext>
            </a:extLst>
          </p:cNvPr>
          <p:cNvSpPr txBox="1"/>
          <p:nvPr/>
        </p:nvSpPr>
        <p:spPr>
          <a:xfrm>
            <a:off x="307662" y="2270450"/>
            <a:ext cx="2212671" cy="430887"/>
          </a:xfrm>
          <a:prstGeom prst="rect">
            <a:avLst/>
          </a:prstGeom>
          <a:noFill/>
        </p:spPr>
        <p:txBody>
          <a:bodyPr wrap="square" lIns="137160" tIns="0" rIns="137160" bIns="0" anchor="ctr" anchorCtr="0">
            <a:noAutofit/>
          </a:bodyPr>
          <a:lstStyle/>
          <a:p>
            <a:pPr marL="0" marR="0" lvl="0" indent="0" algn="ctr" defTabSz="914400" rtl="0" eaLnBrk="1" fontAlgn="auto" latinLnBrk="0" hangingPunct="1">
              <a:lnSpc>
                <a:spcPct val="100000"/>
              </a:lnSpc>
              <a:spcBef>
                <a:spcPts val="400"/>
              </a:spcBef>
              <a:spcAft>
                <a:spcPts val="0"/>
              </a:spcAft>
              <a:buClrTx/>
              <a:buSzTx/>
              <a:buFontTx/>
              <a:buNone/>
              <a:tabLst/>
              <a:defRPr/>
            </a:pPr>
            <a:r>
              <a:rPr kumimoji="0" lang="en-US" sz="1400" b="1" i="0" u="none" strike="noStrike" kern="1200" cap="none" spc="0" normalizeH="0" baseline="0" noProof="0">
                <a:ln>
                  <a:noFill/>
                </a:ln>
                <a:solidFill>
                  <a:srgbClr val="0078D4"/>
                </a:solidFill>
                <a:effectLst/>
                <a:uLnTx/>
                <a:uFillTx/>
                <a:latin typeface="+mj-lt"/>
                <a:ea typeface="+mn-ea"/>
                <a:cs typeface="Segoe UI Semibold" panose="020B0502040204020203" pitchFamily="34" charset="0"/>
                <a:hlinkClick r:id="rId9">
                  <a:extLst>
                    <a:ext uri="{A12FA001-AC4F-418D-AE19-62706E023703}">
                      <ahyp:hlinkClr xmlns:ahyp="http://schemas.microsoft.com/office/drawing/2018/hyperlinkcolor" val="tx"/>
                    </a:ext>
                  </a:extLst>
                </a:hlinkClick>
              </a:rPr>
              <a:t>Implementation</a:t>
            </a:r>
            <a:br>
              <a:rPr kumimoji="0" lang="en-US" sz="1400" b="1" i="0" u="none" strike="noStrike" kern="1200" cap="none" spc="0" normalizeH="0" baseline="0" noProof="0">
                <a:ln>
                  <a:noFill/>
                </a:ln>
                <a:solidFill>
                  <a:srgbClr val="0078D4"/>
                </a:solidFill>
                <a:effectLst/>
                <a:uLnTx/>
                <a:uFillTx/>
                <a:latin typeface="+mj-lt"/>
                <a:ea typeface="+mn-ea"/>
                <a:cs typeface="Segoe UI Semibold" panose="020B0502040204020203" pitchFamily="34" charset="0"/>
                <a:hlinkClick r:id="rId9">
                  <a:extLst>
                    <a:ext uri="{A12FA001-AC4F-418D-AE19-62706E023703}">
                      <ahyp:hlinkClr xmlns:ahyp="http://schemas.microsoft.com/office/drawing/2018/hyperlinkcolor" val="tx"/>
                    </a:ext>
                  </a:extLst>
                </a:hlinkClick>
              </a:rPr>
            </a:br>
            <a:r>
              <a:rPr kumimoji="0" lang="en-US" sz="1400" b="1" i="0" u="none" strike="noStrike" kern="1200" cap="none" spc="0" normalizeH="0" baseline="0" noProof="0">
                <a:ln>
                  <a:noFill/>
                </a:ln>
                <a:solidFill>
                  <a:srgbClr val="0078D4"/>
                </a:solidFill>
                <a:effectLst/>
                <a:uLnTx/>
                <a:uFillTx/>
                <a:latin typeface="+mj-lt"/>
                <a:ea typeface="+mn-ea"/>
                <a:cs typeface="Segoe UI Semibold" panose="020B0502040204020203" pitchFamily="34" charset="0"/>
                <a:hlinkClick r:id="rId9">
                  <a:extLst>
                    <a:ext uri="{A12FA001-AC4F-418D-AE19-62706E023703}">
                      <ahyp:hlinkClr xmlns:ahyp="http://schemas.microsoft.com/office/drawing/2018/hyperlinkcolor" val="tx"/>
                    </a:ext>
                  </a:extLst>
                </a:hlinkClick>
              </a:rPr>
              <a:t>summary guide</a:t>
            </a:r>
            <a:endParaRPr kumimoji="0" lang="en-US" sz="1400" b="1" i="0" u="none" strike="noStrike" kern="1200" cap="none" spc="0" normalizeH="0" baseline="0" noProof="0">
              <a:ln>
                <a:noFill/>
              </a:ln>
              <a:solidFill>
                <a:srgbClr val="0078D4"/>
              </a:solidFill>
              <a:effectLst/>
              <a:uLnTx/>
              <a:uFillTx/>
              <a:latin typeface="+mj-lt"/>
              <a:ea typeface="+mn-ea"/>
              <a:cs typeface="Segoe UI Semibold" panose="020B0502040204020203" pitchFamily="34" charset="0"/>
            </a:endParaRPr>
          </a:p>
        </p:txBody>
      </p:sp>
      <p:sp>
        <p:nvSpPr>
          <p:cNvPr id="51" name="TextBox 50">
            <a:extLst>
              <a:ext uri="{FF2B5EF4-FFF2-40B4-BE49-F238E27FC236}">
                <a16:creationId xmlns:a16="http://schemas.microsoft.com/office/drawing/2014/main" id="{9256FB5B-A562-3F49-3A4D-7D0587330A45}"/>
              </a:ext>
              <a:ext uri="{C183D7F6-B498-43B3-948B-1728B52AA6E4}">
                <adec:decorative xmlns:adec="http://schemas.microsoft.com/office/drawing/2017/decorative" val="1"/>
              </a:ext>
            </a:extLst>
          </p:cNvPr>
          <p:cNvSpPr txBox="1"/>
          <p:nvPr/>
        </p:nvSpPr>
        <p:spPr>
          <a:xfrm>
            <a:off x="412313" y="4369517"/>
            <a:ext cx="2015162" cy="536622"/>
          </a:xfrm>
          <a:prstGeom prst="rect">
            <a:avLst/>
          </a:prstGeom>
          <a:noFill/>
        </p:spPr>
        <p:txBody>
          <a:bodyPr wrap="square" lIns="182880" tIns="146304" rIns="0" bIns="146304" rtlCol="0">
            <a:spAutoFit/>
          </a:bodyPr>
          <a:lstStyle>
            <a:defPPr>
              <a:defRPr lang="en-US"/>
            </a:defPPr>
            <a:lvl1pPr algn="r">
              <a:lnSpc>
                <a:spcPct val="107000"/>
              </a:lnSpc>
              <a:spcAft>
                <a:spcPts val="800"/>
              </a:spcAft>
              <a:defRPr sz="1600" kern="0">
                <a:gradFill flip="none" rotWithShape="1">
                  <a:gsLst>
                    <a:gs pos="100000">
                      <a:srgbClr val="FF9622"/>
                    </a:gs>
                    <a:gs pos="14000">
                      <a:srgbClr val="3B0304"/>
                    </a:gs>
                  </a:gsLst>
                  <a:lin ang="2700000" scaled="1"/>
                  <a:tileRect/>
                </a:gradFill>
                <a:latin typeface="Segoe Sans Text Semibold"/>
                <a:ea typeface="Segoe UI Regular" pitchFamily="34" charset="-122"/>
              </a:defRPr>
            </a:lvl1pPr>
          </a:lstStyle>
          <a:p>
            <a:pPr algn="ctr"/>
            <a:r>
              <a:rPr lang="en-US">
                <a:solidFill>
                  <a:schemeClr val="accent4">
                    <a:lumMod val="75000"/>
                  </a:schemeClr>
                </a:solidFill>
                <a:latin typeface="+mj-lt"/>
              </a:rPr>
              <a:t>PowerPoint</a:t>
            </a:r>
          </a:p>
        </p:txBody>
      </p:sp>
      <p:sp>
        <p:nvSpPr>
          <p:cNvPr id="25" name="TextBox 24">
            <a:extLst>
              <a:ext uri="{FF2B5EF4-FFF2-40B4-BE49-F238E27FC236}">
                <a16:creationId xmlns:a16="http://schemas.microsoft.com/office/drawing/2014/main" id="{81AEE11B-7A62-F28A-433D-C67ECB5361FD}"/>
              </a:ext>
              <a:ext uri="{C183D7F6-B498-43B3-948B-1728B52AA6E4}">
                <adec:decorative xmlns:adec="http://schemas.microsoft.com/office/drawing/2017/decorative" val="1"/>
              </a:ext>
            </a:extLst>
          </p:cNvPr>
          <p:cNvSpPr txBox="1"/>
          <p:nvPr/>
        </p:nvSpPr>
        <p:spPr>
          <a:xfrm>
            <a:off x="2650557" y="2162728"/>
            <a:ext cx="2210386" cy="646331"/>
          </a:xfrm>
          <a:prstGeom prst="rect">
            <a:avLst/>
          </a:prstGeom>
          <a:noFill/>
        </p:spPr>
        <p:txBody>
          <a:bodyPr wrap="square" lIns="137160" tIns="0" rIns="137160" bIns="0" anchor="ctr" anchorCtr="0">
            <a:noAutofit/>
          </a:bodyPr>
          <a:lstStyle/>
          <a:p>
            <a:pPr marL="0" marR="0" lvl="0" indent="0" algn="ctr" defTabSz="914400" rtl="0" eaLnBrk="1" fontAlgn="auto" latinLnBrk="0" hangingPunct="1">
              <a:lnSpc>
                <a:spcPct val="100000"/>
              </a:lnSpc>
              <a:spcBef>
                <a:spcPts val="400"/>
              </a:spcBef>
              <a:spcAft>
                <a:spcPts val="0"/>
              </a:spcAft>
              <a:buClrTx/>
              <a:buSzTx/>
              <a:buFontTx/>
              <a:buNone/>
              <a:tabLst/>
              <a:defRPr/>
            </a:pPr>
            <a:r>
              <a:rPr kumimoji="0" lang="en-US" sz="1400" b="1" i="0" u="none" strike="noStrike" kern="1200" cap="none" spc="0" normalizeH="0" baseline="0" noProof="0">
                <a:ln>
                  <a:noFill/>
                </a:ln>
                <a:solidFill>
                  <a:srgbClr val="0078D4"/>
                </a:solidFill>
                <a:effectLst/>
                <a:uLnTx/>
                <a:uFillTx/>
                <a:latin typeface="+mj-lt"/>
                <a:ea typeface="+mn-ea"/>
                <a:cs typeface="Segoe UI Semibold" panose="020B0502040204020203" pitchFamily="34" charset="0"/>
                <a:hlinkClick r:id="rId10">
                  <a:extLst>
                    <a:ext uri="{A12FA001-AC4F-418D-AE19-62706E023703}">
                      <ahyp:hlinkClr xmlns:ahyp="http://schemas.microsoft.com/office/drawing/2018/hyperlinkcolor" val="tx"/>
                    </a:ext>
                  </a:extLst>
                </a:hlinkClick>
              </a:rPr>
              <a:t>Copilot adoption guide</a:t>
            </a:r>
            <a:br>
              <a:rPr kumimoji="0" lang="en-US" sz="1400" b="1" i="0" u="none" strike="noStrike" kern="1200" cap="none" spc="0" normalizeH="0" baseline="0" noProof="0">
                <a:ln>
                  <a:noFill/>
                </a:ln>
                <a:solidFill>
                  <a:srgbClr val="0078D4"/>
                </a:solidFill>
                <a:effectLst/>
                <a:uLnTx/>
                <a:uFillTx/>
                <a:latin typeface="+mj-lt"/>
                <a:ea typeface="+mn-ea"/>
                <a:cs typeface="Segoe UI Semibold" panose="020B0502040204020203" pitchFamily="34" charset="0"/>
                <a:hlinkClick r:id="rId10">
                  <a:extLst>
                    <a:ext uri="{A12FA001-AC4F-418D-AE19-62706E023703}">
                      <ahyp:hlinkClr xmlns:ahyp="http://schemas.microsoft.com/office/drawing/2018/hyperlinkcolor" val="tx"/>
                    </a:ext>
                  </a:extLst>
                </a:hlinkClick>
              </a:rPr>
            </a:br>
            <a:r>
              <a:rPr kumimoji="0" lang="en-US" sz="1400" b="1" i="0" u="none" strike="noStrike" kern="1200" cap="none" spc="0" normalizeH="0" baseline="0" noProof="0">
                <a:ln>
                  <a:noFill/>
                </a:ln>
                <a:solidFill>
                  <a:srgbClr val="0078D4"/>
                </a:solidFill>
                <a:effectLst/>
                <a:uLnTx/>
                <a:uFillTx/>
                <a:latin typeface="+mj-lt"/>
                <a:ea typeface="+mn-ea"/>
                <a:cs typeface="Segoe UI Semibold" panose="020B0502040204020203" pitchFamily="34" charset="0"/>
                <a:hlinkClick r:id="rId10">
                  <a:extLst>
                    <a:ext uri="{A12FA001-AC4F-418D-AE19-62706E023703}">
                      <ahyp:hlinkClr xmlns:ahyp="http://schemas.microsoft.com/office/drawing/2018/hyperlinkcolor" val="tx"/>
                    </a:ext>
                  </a:extLst>
                </a:hlinkClick>
              </a:rPr>
              <a:t>for business leaders</a:t>
            </a:r>
            <a:endParaRPr kumimoji="0" lang="en-US" sz="1400" b="1" i="0" u="none" strike="noStrike" kern="1200" cap="none" spc="0" normalizeH="0" baseline="0" noProof="0">
              <a:ln>
                <a:noFill/>
              </a:ln>
              <a:solidFill>
                <a:srgbClr val="0078D4"/>
              </a:solidFill>
              <a:effectLst/>
              <a:uLnTx/>
              <a:uFillTx/>
              <a:latin typeface="+mj-lt"/>
              <a:ea typeface="+mn-ea"/>
              <a:cs typeface="Segoe UI Semibold" panose="020B0502040204020203" pitchFamily="34" charset="0"/>
            </a:endParaRPr>
          </a:p>
        </p:txBody>
      </p:sp>
      <p:sp>
        <p:nvSpPr>
          <p:cNvPr id="53" name="TextBox 52">
            <a:extLst>
              <a:ext uri="{FF2B5EF4-FFF2-40B4-BE49-F238E27FC236}">
                <a16:creationId xmlns:a16="http://schemas.microsoft.com/office/drawing/2014/main" id="{7A9493A6-722E-E9C3-55D0-32CBF5DD75EB}"/>
              </a:ext>
              <a:ext uri="{C183D7F6-B498-43B3-948B-1728B52AA6E4}">
                <adec:decorative xmlns:adec="http://schemas.microsoft.com/office/drawing/2017/decorative" val="1"/>
              </a:ext>
            </a:extLst>
          </p:cNvPr>
          <p:cNvSpPr txBox="1"/>
          <p:nvPr/>
        </p:nvSpPr>
        <p:spPr>
          <a:xfrm>
            <a:off x="2733015" y="4514718"/>
            <a:ext cx="2041146" cy="246221"/>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400"/>
              </a:spcBef>
              <a:spcAft>
                <a:spcPts val="0"/>
              </a:spcAft>
              <a:buClrTx/>
              <a:buSzTx/>
              <a:buFontTx/>
              <a:buNone/>
              <a:tabLst/>
              <a:defRPr/>
            </a:pPr>
            <a:r>
              <a:rPr lang="en-US" sz="1600" kern="0">
                <a:solidFill>
                  <a:schemeClr val="accent4">
                    <a:lumMod val="75000"/>
                  </a:schemeClr>
                </a:solidFill>
                <a:latin typeface="+mj-lt"/>
                <a:ea typeface="Segoe UI Regular" pitchFamily="34" charset="-122"/>
              </a:rPr>
              <a:t>eBook</a:t>
            </a:r>
          </a:p>
        </p:txBody>
      </p:sp>
      <p:sp>
        <p:nvSpPr>
          <p:cNvPr id="30" name="TextBox 29">
            <a:extLst>
              <a:ext uri="{FF2B5EF4-FFF2-40B4-BE49-F238E27FC236}">
                <a16:creationId xmlns:a16="http://schemas.microsoft.com/office/drawing/2014/main" id="{BAE31AC6-28E6-ACD8-661D-81050C71679D}"/>
              </a:ext>
              <a:ext uri="{C183D7F6-B498-43B3-948B-1728B52AA6E4}">
                <adec:decorative xmlns:adec="http://schemas.microsoft.com/office/drawing/2017/decorative" val="1"/>
              </a:ext>
            </a:extLst>
          </p:cNvPr>
          <p:cNvSpPr txBox="1"/>
          <p:nvPr/>
        </p:nvSpPr>
        <p:spPr>
          <a:xfrm>
            <a:off x="5004791" y="2270450"/>
            <a:ext cx="2199048" cy="430887"/>
          </a:xfrm>
          <a:prstGeom prst="rect">
            <a:avLst/>
          </a:prstGeom>
          <a:noFill/>
        </p:spPr>
        <p:txBody>
          <a:bodyPr wrap="square" lIns="137160" tIns="0" rIns="137160" bIns="0" anchor="ctr" anchorCtr="0">
            <a:noAutofit/>
          </a:bodyPr>
          <a:lstStyle/>
          <a:p>
            <a:pPr marL="0" marR="0" lvl="0" indent="0" algn="ctr" defTabSz="914400" rtl="0" eaLnBrk="1" fontAlgn="auto" latinLnBrk="0" hangingPunct="1">
              <a:lnSpc>
                <a:spcPct val="100000"/>
              </a:lnSpc>
              <a:spcBef>
                <a:spcPts val="1400"/>
              </a:spcBef>
              <a:spcAft>
                <a:spcPts val="0"/>
              </a:spcAft>
              <a:buClrTx/>
              <a:buSzTx/>
              <a:buFontTx/>
              <a:buNone/>
              <a:tabLst/>
              <a:defRPr/>
            </a:pPr>
            <a:r>
              <a:rPr kumimoji="0" lang="en-US" sz="1400" b="1" i="0" u="none" strike="noStrike" kern="1200" cap="none" spc="0" normalizeH="0" baseline="0" noProof="0">
                <a:ln>
                  <a:noFill/>
                </a:ln>
                <a:solidFill>
                  <a:srgbClr val="0078D4"/>
                </a:solidFill>
                <a:effectLst/>
                <a:uLnTx/>
                <a:uFillTx/>
                <a:latin typeface="+mj-lt"/>
                <a:ea typeface="+mn-ea"/>
                <a:cs typeface="Segoe UI Semibold" panose="020B0502040204020203" pitchFamily="34" charset="0"/>
                <a:hlinkClick r:id="rId11">
                  <a:extLst>
                    <a:ext uri="{A12FA001-AC4F-418D-AE19-62706E023703}">
                      <ahyp:hlinkClr xmlns:ahyp="http://schemas.microsoft.com/office/drawing/2018/hyperlinkcolor" val="tx"/>
                    </a:ext>
                  </a:extLst>
                </a:hlinkClick>
              </a:rPr>
              <a:t>User Enablement</a:t>
            </a:r>
            <a:br>
              <a:rPr kumimoji="0" lang="en-US" sz="1400" b="1" i="0" u="none" strike="noStrike" kern="1200" cap="none" spc="0" normalizeH="0" baseline="0" noProof="0">
                <a:ln>
                  <a:noFill/>
                </a:ln>
                <a:solidFill>
                  <a:srgbClr val="0078D4"/>
                </a:solidFill>
                <a:effectLst/>
                <a:uLnTx/>
                <a:uFillTx/>
                <a:latin typeface="+mj-lt"/>
                <a:ea typeface="+mn-ea"/>
                <a:cs typeface="Segoe UI Semibold" panose="020B0502040204020203" pitchFamily="34" charset="0"/>
                <a:hlinkClick r:id="rId11">
                  <a:extLst>
                    <a:ext uri="{A12FA001-AC4F-418D-AE19-62706E023703}">
                      <ahyp:hlinkClr xmlns:ahyp="http://schemas.microsoft.com/office/drawing/2018/hyperlinkcolor" val="tx"/>
                    </a:ext>
                  </a:extLst>
                </a:hlinkClick>
              </a:rPr>
            </a:br>
            <a:r>
              <a:rPr kumimoji="0" lang="en-US" sz="1400" b="1" i="0" u="none" strike="noStrike" kern="1200" cap="none" spc="0" normalizeH="0" baseline="0" noProof="0">
                <a:ln>
                  <a:noFill/>
                </a:ln>
                <a:solidFill>
                  <a:srgbClr val="0078D4"/>
                </a:solidFill>
                <a:effectLst/>
                <a:uLnTx/>
                <a:uFillTx/>
                <a:latin typeface="+mj-lt"/>
                <a:ea typeface="+mn-ea"/>
                <a:cs typeface="Segoe UI Semibold" panose="020B0502040204020203" pitchFamily="34" charset="0"/>
                <a:hlinkClick r:id="rId11">
                  <a:extLst>
                    <a:ext uri="{A12FA001-AC4F-418D-AE19-62706E023703}">
                      <ahyp:hlinkClr xmlns:ahyp="http://schemas.microsoft.com/office/drawing/2018/hyperlinkcolor" val="tx"/>
                    </a:ext>
                  </a:extLst>
                </a:hlinkClick>
              </a:rPr>
              <a:t>Guide</a:t>
            </a:r>
            <a:endParaRPr kumimoji="0" lang="en-US" sz="1400" b="1" i="0" u="none" strike="noStrike" kern="1200" cap="none" spc="0" normalizeH="0" baseline="0" noProof="0">
              <a:ln>
                <a:noFill/>
              </a:ln>
              <a:solidFill>
                <a:srgbClr val="0078D4"/>
              </a:solidFill>
              <a:effectLst/>
              <a:uLnTx/>
              <a:uFillTx/>
              <a:latin typeface="+mj-lt"/>
              <a:ea typeface="+mn-ea"/>
              <a:cs typeface="Segoe UI Semibold" panose="020B0502040204020203" pitchFamily="34" charset="0"/>
            </a:endParaRPr>
          </a:p>
        </p:txBody>
      </p:sp>
      <p:sp>
        <p:nvSpPr>
          <p:cNvPr id="54" name="TextBox 53">
            <a:extLst>
              <a:ext uri="{FF2B5EF4-FFF2-40B4-BE49-F238E27FC236}">
                <a16:creationId xmlns:a16="http://schemas.microsoft.com/office/drawing/2014/main" id="{998531B6-2E9A-92F5-C6DC-93DAA569F3D1}"/>
              </a:ext>
              <a:ext uri="{C183D7F6-B498-43B3-948B-1728B52AA6E4}">
                <adec:decorative xmlns:adec="http://schemas.microsoft.com/office/drawing/2017/decorative" val="1"/>
              </a:ext>
            </a:extLst>
          </p:cNvPr>
          <p:cNvSpPr txBox="1"/>
          <p:nvPr/>
        </p:nvSpPr>
        <p:spPr>
          <a:xfrm>
            <a:off x="4904384" y="4369517"/>
            <a:ext cx="2390466" cy="536622"/>
          </a:xfrm>
          <a:prstGeom prst="rect">
            <a:avLst/>
          </a:prstGeom>
          <a:noFill/>
        </p:spPr>
        <p:txBody>
          <a:bodyPr wrap="square" lIns="182880" tIns="146304" rIns="0" bIns="146304" rtlCol="0">
            <a:spAutoFit/>
          </a:bodyPr>
          <a:lstStyle>
            <a:defPPr>
              <a:defRPr lang="en-US"/>
            </a:defPPr>
            <a:lvl1pPr algn="r">
              <a:lnSpc>
                <a:spcPct val="107000"/>
              </a:lnSpc>
              <a:spcAft>
                <a:spcPts val="800"/>
              </a:spcAft>
              <a:defRPr sz="1600" kern="0">
                <a:gradFill flip="none" rotWithShape="1">
                  <a:gsLst>
                    <a:gs pos="100000">
                      <a:srgbClr val="FF9622"/>
                    </a:gs>
                    <a:gs pos="14000">
                      <a:srgbClr val="3B0304"/>
                    </a:gs>
                  </a:gsLst>
                  <a:lin ang="2700000" scaled="1"/>
                  <a:tileRect/>
                </a:gradFill>
                <a:latin typeface="Segoe Sans Text Semibold"/>
                <a:ea typeface="Segoe UI Regular" pitchFamily="34" charset="-122"/>
              </a:defRPr>
            </a:lvl1pPr>
          </a:lstStyle>
          <a:p>
            <a:pPr algn="ctr"/>
            <a:r>
              <a:rPr lang="en-US">
                <a:solidFill>
                  <a:schemeClr val="accent4">
                    <a:lumMod val="75000"/>
                  </a:schemeClr>
                </a:solidFill>
                <a:latin typeface="+mj-lt"/>
              </a:rPr>
              <a:t>PowerPoint</a:t>
            </a:r>
          </a:p>
        </p:txBody>
      </p:sp>
      <p:sp>
        <p:nvSpPr>
          <p:cNvPr id="35" name="TextBox 34">
            <a:extLst>
              <a:ext uri="{FF2B5EF4-FFF2-40B4-BE49-F238E27FC236}">
                <a16:creationId xmlns:a16="http://schemas.microsoft.com/office/drawing/2014/main" id="{D06D1FB7-E999-769B-DD30-280A8847CFF4}"/>
              </a:ext>
              <a:ext uri="{C183D7F6-B498-43B3-948B-1728B52AA6E4}">
                <adec:decorative xmlns:adec="http://schemas.microsoft.com/office/drawing/2017/decorative" val="1"/>
              </a:ext>
            </a:extLst>
          </p:cNvPr>
          <p:cNvSpPr txBox="1"/>
          <p:nvPr/>
        </p:nvSpPr>
        <p:spPr>
          <a:xfrm>
            <a:off x="7336347" y="2270450"/>
            <a:ext cx="2210386" cy="430887"/>
          </a:xfrm>
          <a:prstGeom prst="rect">
            <a:avLst/>
          </a:prstGeom>
          <a:noFill/>
        </p:spPr>
        <p:txBody>
          <a:bodyPr wrap="square" lIns="137160" tIns="0" rIns="137160" bIns="0" anchor="ctr" anchorCtr="0">
            <a:noAutofit/>
          </a:bodyPr>
          <a:lstStyle/>
          <a:p>
            <a:pPr marL="0" marR="0" lvl="0" indent="0" algn="ctr" defTabSz="914400" rtl="0" eaLnBrk="1" fontAlgn="auto" latinLnBrk="0" hangingPunct="1">
              <a:lnSpc>
                <a:spcPct val="100000"/>
              </a:lnSpc>
              <a:spcBef>
                <a:spcPts val="1400"/>
              </a:spcBef>
              <a:spcAft>
                <a:spcPts val="0"/>
              </a:spcAft>
              <a:buClrTx/>
              <a:buSzTx/>
              <a:buFontTx/>
              <a:buNone/>
              <a:tabLst/>
              <a:defRPr/>
            </a:pPr>
            <a:r>
              <a:rPr kumimoji="0" lang="en-US" sz="1400" b="1" i="0" u="none" strike="noStrike" kern="1200" cap="none" spc="0" normalizeH="0" baseline="0" noProof="0">
                <a:ln>
                  <a:noFill/>
                </a:ln>
                <a:solidFill>
                  <a:srgbClr val="0078D4"/>
                </a:solidFill>
                <a:effectLst/>
                <a:uLnTx/>
                <a:uFillTx/>
                <a:latin typeface="+mj-lt"/>
                <a:ea typeface="+mn-ea"/>
                <a:cs typeface="Segoe UI Semibold" panose="020B0502040204020203" pitchFamily="34" charset="0"/>
                <a:hlinkClick r:id="rId12">
                  <a:extLst>
                    <a:ext uri="{A12FA001-AC4F-418D-AE19-62706E023703}">
                      <ahyp:hlinkClr xmlns:ahyp="http://schemas.microsoft.com/office/drawing/2018/hyperlinkcolor" val="tx"/>
                    </a:ext>
                  </a:extLst>
                </a:hlinkClick>
              </a:rPr>
              <a:t>Technical Readiness</a:t>
            </a:r>
            <a:br>
              <a:rPr kumimoji="0" lang="en-US" sz="1400" b="1" i="0" u="none" strike="noStrike" kern="1200" cap="none" spc="0" normalizeH="0" baseline="0" noProof="0">
                <a:ln>
                  <a:noFill/>
                </a:ln>
                <a:solidFill>
                  <a:srgbClr val="0078D4"/>
                </a:solidFill>
                <a:effectLst/>
                <a:uLnTx/>
                <a:uFillTx/>
                <a:latin typeface="+mj-lt"/>
                <a:ea typeface="+mn-ea"/>
                <a:cs typeface="Segoe UI Semibold" panose="020B0502040204020203" pitchFamily="34" charset="0"/>
                <a:hlinkClick r:id="rId12">
                  <a:extLst>
                    <a:ext uri="{A12FA001-AC4F-418D-AE19-62706E023703}">
                      <ahyp:hlinkClr xmlns:ahyp="http://schemas.microsoft.com/office/drawing/2018/hyperlinkcolor" val="tx"/>
                    </a:ext>
                  </a:extLst>
                </a:hlinkClick>
              </a:rPr>
            </a:br>
            <a:r>
              <a:rPr kumimoji="0" lang="en-US" sz="1400" b="1" i="0" u="none" strike="noStrike" kern="1200" cap="none" spc="0" normalizeH="0" baseline="0" noProof="0">
                <a:ln>
                  <a:noFill/>
                </a:ln>
                <a:solidFill>
                  <a:srgbClr val="0078D4"/>
                </a:solidFill>
                <a:effectLst/>
                <a:uLnTx/>
                <a:uFillTx/>
                <a:latin typeface="+mj-lt"/>
                <a:ea typeface="+mn-ea"/>
                <a:cs typeface="Segoe UI Semibold" panose="020B0502040204020203" pitchFamily="34" charset="0"/>
                <a:hlinkClick r:id="rId12">
                  <a:extLst>
                    <a:ext uri="{A12FA001-AC4F-418D-AE19-62706E023703}">
                      <ahyp:hlinkClr xmlns:ahyp="http://schemas.microsoft.com/office/drawing/2018/hyperlinkcolor" val="tx"/>
                    </a:ext>
                  </a:extLst>
                </a:hlinkClick>
              </a:rPr>
              <a:t>Guide</a:t>
            </a:r>
            <a:endParaRPr kumimoji="0" lang="en-US" sz="1400" b="1" i="0" u="none" strike="noStrike" kern="1200" cap="none" spc="0" normalizeH="0" baseline="0" noProof="0">
              <a:ln>
                <a:noFill/>
              </a:ln>
              <a:solidFill>
                <a:srgbClr val="0078D4"/>
              </a:solidFill>
              <a:effectLst/>
              <a:uLnTx/>
              <a:uFillTx/>
              <a:latin typeface="+mj-lt"/>
              <a:ea typeface="+mn-ea"/>
              <a:cs typeface="Segoe UI Semibold" panose="020B0502040204020203" pitchFamily="34" charset="0"/>
            </a:endParaRPr>
          </a:p>
        </p:txBody>
      </p:sp>
      <p:sp>
        <p:nvSpPr>
          <p:cNvPr id="55" name="TextBox 54">
            <a:extLst>
              <a:ext uri="{FF2B5EF4-FFF2-40B4-BE49-F238E27FC236}">
                <a16:creationId xmlns:a16="http://schemas.microsoft.com/office/drawing/2014/main" id="{64D80477-BF37-BB9C-A4EC-479DF17F622F}"/>
              </a:ext>
              <a:ext uri="{C183D7F6-B498-43B3-948B-1728B52AA6E4}">
                <adec:decorative xmlns:adec="http://schemas.microsoft.com/office/drawing/2017/decorative" val="1"/>
              </a:ext>
            </a:extLst>
          </p:cNvPr>
          <p:cNvSpPr txBox="1"/>
          <p:nvPr/>
        </p:nvSpPr>
        <p:spPr>
          <a:xfrm>
            <a:off x="7559428" y="4514718"/>
            <a:ext cx="1764223" cy="246221"/>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400"/>
              </a:spcBef>
              <a:spcAft>
                <a:spcPts val="0"/>
              </a:spcAft>
              <a:buClrTx/>
              <a:buSzTx/>
              <a:buFontTx/>
              <a:buNone/>
              <a:tabLst/>
              <a:defRPr/>
            </a:pPr>
            <a:r>
              <a:rPr lang="en-US" sz="1600" kern="0">
                <a:solidFill>
                  <a:schemeClr val="accent4">
                    <a:lumMod val="75000"/>
                  </a:schemeClr>
                </a:solidFill>
                <a:latin typeface="+mj-lt"/>
                <a:ea typeface="Segoe UI Regular" pitchFamily="34" charset="-122"/>
              </a:rPr>
              <a:t>PowerPoint</a:t>
            </a:r>
          </a:p>
        </p:txBody>
      </p:sp>
      <p:sp>
        <p:nvSpPr>
          <p:cNvPr id="27" name="TextBox 26">
            <a:extLst>
              <a:ext uri="{FF2B5EF4-FFF2-40B4-BE49-F238E27FC236}">
                <a16:creationId xmlns:a16="http://schemas.microsoft.com/office/drawing/2014/main" id="{7911F71E-BACA-2D60-BE85-28A57B4BBEFC}"/>
              </a:ext>
              <a:ext uri="{C183D7F6-B498-43B3-948B-1728B52AA6E4}">
                <adec:decorative xmlns:adec="http://schemas.microsoft.com/office/drawing/2017/decorative" val="1"/>
              </a:ext>
            </a:extLst>
          </p:cNvPr>
          <p:cNvSpPr txBox="1"/>
          <p:nvPr/>
        </p:nvSpPr>
        <p:spPr>
          <a:xfrm>
            <a:off x="9679242" y="2162728"/>
            <a:ext cx="2214308" cy="646331"/>
          </a:xfrm>
          <a:prstGeom prst="rect">
            <a:avLst/>
          </a:prstGeom>
          <a:noFill/>
        </p:spPr>
        <p:txBody>
          <a:bodyPr wrap="square" lIns="137160" tIns="0" rIns="137160" bIns="0" anchor="ctr" anchorCtr="0">
            <a:noAutofit/>
          </a:bodyPr>
          <a:lstStyle/>
          <a:p>
            <a:pPr marL="0" marR="0" lvl="0" indent="0" algn="ctr" defTabSz="914400" rtl="0" eaLnBrk="1" fontAlgn="auto" latinLnBrk="0" hangingPunct="1">
              <a:lnSpc>
                <a:spcPct val="100000"/>
              </a:lnSpc>
              <a:spcBef>
                <a:spcPts val="1400"/>
              </a:spcBef>
              <a:spcAft>
                <a:spcPts val="0"/>
              </a:spcAft>
              <a:buClrTx/>
              <a:buSzTx/>
              <a:buFontTx/>
              <a:buNone/>
              <a:tabLst/>
              <a:defRPr/>
            </a:pPr>
            <a:r>
              <a:rPr kumimoji="0" lang="en-US" sz="1400" b="1" i="0" u="none" strike="noStrike" kern="1200" cap="none" spc="0" normalizeH="0" baseline="0" noProof="0">
                <a:ln>
                  <a:noFill/>
                </a:ln>
                <a:solidFill>
                  <a:srgbClr val="0078D4"/>
                </a:solidFill>
                <a:effectLst/>
                <a:uLnTx/>
                <a:uFillTx/>
                <a:latin typeface="+mj-lt"/>
                <a:ea typeface="+mn-ea"/>
                <a:cs typeface="Segoe UI Semibold" panose="020B0502040204020203" pitchFamily="34" charset="0"/>
                <a:hlinkClick r:id="rId13">
                  <a:extLst>
                    <a:ext uri="{A12FA001-AC4F-418D-AE19-62706E023703}">
                      <ahyp:hlinkClr xmlns:ahyp="http://schemas.microsoft.com/office/drawing/2018/hyperlinkcolor" val="tx"/>
                    </a:ext>
                  </a:extLst>
                </a:hlinkClick>
              </a:rPr>
              <a:t>Accelerate your path </a:t>
            </a:r>
            <a:br>
              <a:rPr kumimoji="0" lang="en-US" sz="1400" b="1" i="0" u="none" strike="noStrike" kern="1200" cap="none" spc="0" normalizeH="0" baseline="0" noProof="0">
                <a:ln>
                  <a:noFill/>
                </a:ln>
                <a:solidFill>
                  <a:srgbClr val="0078D4"/>
                </a:solidFill>
                <a:effectLst/>
                <a:uLnTx/>
                <a:uFillTx/>
                <a:latin typeface="+mj-lt"/>
                <a:ea typeface="+mn-ea"/>
                <a:cs typeface="Segoe UI Semibold" panose="020B0502040204020203" pitchFamily="34" charset="0"/>
                <a:hlinkClick r:id="rId13">
                  <a:extLst>
                    <a:ext uri="{A12FA001-AC4F-418D-AE19-62706E023703}">
                      <ahyp:hlinkClr xmlns:ahyp="http://schemas.microsoft.com/office/drawing/2018/hyperlinkcolor" val="tx"/>
                    </a:ext>
                  </a:extLst>
                </a:hlinkClick>
              </a:rPr>
            </a:br>
            <a:r>
              <a:rPr kumimoji="0" lang="en-US" sz="1400" b="1" i="0" u="none" strike="noStrike" kern="1200" cap="none" spc="0" normalizeH="0" baseline="0" noProof="0">
                <a:ln>
                  <a:noFill/>
                </a:ln>
                <a:solidFill>
                  <a:srgbClr val="0078D4"/>
                </a:solidFill>
                <a:effectLst/>
                <a:uLnTx/>
                <a:uFillTx/>
                <a:latin typeface="+mj-lt"/>
                <a:ea typeface="+mn-ea"/>
                <a:cs typeface="Segoe UI Semibold" panose="020B0502040204020203" pitchFamily="34" charset="0"/>
                <a:hlinkClick r:id="rId13">
                  <a:extLst>
                    <a:ext uri="{A12FA001-AC4F-418D-AE19-62706E023703}">
                      <ahyp:hlinkClr xmlns:ahyp="http://schemas.microsoft.com/office/drawing/2018/hyperlinkcolor" val="tx"/>
                    </a:ext>
                  </a:extLst>
                </a:hlinkClick>
              </a:rPr>
              <a:t>with Microsoft Viva</a:t>
            </a:r>
            <a:endParaRPr kumimoji="0" lang="en-US" sz="1400" b="1" i="0" u="none" strike="noStrike" kern="1200" cap="none" spc="0" normalizeH="0" baseline="0" noProof="0">
              <a:ln>
                <a:noFill/>
              </a:ln>
              <a:solidFill>
                <a:srgbClr val="0078D4"/>
              </a:solidFill>
              <a:effectLst/>
              <a:uLnTx/>
              <a:uFillTx/>
              <a:latin typeface="+mj-lt"/>
              <a:ea typeface="+mn-ea"/>
              <a:cs typeface="Segoe UI Semibold" panose="020B0502040204020203" pitchFamily="34" charset="0"/>
            </a:endParaRPr>
          </a:p>
        </p:txBody>
      </p:sp>
      <p:sp>
        <p:nvSpPr>
          <p:cNvPr id="28" name="TextBox 27">
            <a:extLst>
              <a:ext uri="{FF2B5EF4-FFF2-40B4-BE49-F238E27FC236}">
                <a16:creationId xmlns:a16="http://schemas.microsoft.com/office/drawing/2014/main" id="{6A7CDB92-1B0D-24CF-53E1-2FE46D47C3E7}"/>
              </a:ext>
              <a:ext uri="{C183D7F6-B498-43B3-948B-1728B52AA6E4}">
                <adec:decorative xmlns:adec="http://schemas.microsoft.com/office/drawing/2017/decorative" val="1"/>
              </a:ext>
            </a:extLst>
          </p:cNvPr>
          <p:cNvSpPr txBox="1"/>
          <p:nvPr/>
        </p:nvSpPr>
        <p:spPr>
          <a:xfrm>
            <a:off x="9738096" y="4514718"/>
            <a:ext cx="2096599" cy="253429"/>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400"/>
              </a:spcBef>
              <a:spcAft>
                <a:spcPts val="0"/>
              </a:spcAft>
              <a:buClrTx/>
              <a:buSzTx/>
              <a:buFontTx/>
              <a:buNone/>
              <a:tabLst/>
              <a:defRPr/>
            </a:pPr>
            <a:r>
              <a:rPr lang="en-US" sz="1600" kern="0">
                <a:solidFill>
                  <a:schemeClr val="accent4">
                    <a:lumMod val="75000"/>
                  </a:schemeClr>
                </a:solidFill>
                <a:latin typeface="+mj-lt"/>
                <a:ea typeface="Segoe UI Regular" pitchFamily="34" charset="-122"/>
              </a:rPr>
              <a:t>PowerPoint</a:t>
            </a:r>
          </a:p>
        </p:txBody>
      </p:sp>
      <p:sp>
        <p:nvSpPr>
          <p:cNvPr id="14" name="Rectangle: Rounded Corners 10">
            <a:hlinkClick r:id="rId14"/>
            <a:extLst>
              <a:ext uri="{FF2B5EF4-FFF2-40B4-BE49-F238E27FC236}">
                <a16:creationId xmlns:a16="http://schemas.microsoft.com/office/drawing/2014/main" id="{35A80F17-A121-248C-F1DF-7CD08C36C5EC}"/>
              </a:ext>
              <a:ext uri="{C183D7F6-B498-43B3-948B-1728B52AA6E4}">
                <adec:decorative xmlns:adec="http://schemas.microsoft.com/office/drawing/2017/decorative" val="1"/>
              </a:ext>
            </a:extLst>
          </p:cNvPr>
          <p:cNvSpPr/>
          <p:nvPr/>
        </p:nvSpPr>
        <p:spPr>
          <a:xfrm>
            <a:off x="4393896" y="5588666"/>
            <a:ext cx="3404209" cy="406303"/>
          </a:xfrm>
          <a:prstGeom prst="roundRect">
            <a:avLst>
              <a:gd name="adj" fmla="val 50000"/>
            </a:avLst>
          </a:prstGeom>
          <a:gradFill flip="none" rotWithShape="1">
            <a:gsLst>
              <a:gs pos="35000">
                <a:srgbClr val="2DB4FF"/>
              </a:gs>
              <a:gs pos="70000">
                <a:srgbClr val="D660FF"/>
              </a:gs>
              <a:gs pos="52000">
                <a:srgbClr val="818EFF"/>
              </a:gs>
              <a:gs pos="30000">
                <a:srgbClr val="2DB4FF"/>
              </a:gs>
              <a:gs pos="3000">
                <a:srgbClr val="0078D4"/>
              </a:gs>
              <a:gs pos="97000">
                <a:srgbClr val="FEA87A"/>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en-US" sz="1800" b="1"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aka.ms/</a:t>
            </a:r>
            <a:r>
              <a:rPr kumimoji="0" lang="en-US" sz="1800" b="1" i="0" u="none" strike="noStrike" kern="1200" cap="none" spc="0" normalizeH="0" baseline="0" noProof="0" err="1">
                <a:ln>
                  <a:noFill/>
                </a:ln>
                <a:solidFill>
                  <a:srgbClr val="FFFFFF"/>
                </a:solidFill>
                <a:effectLst/>
                <a:uLnTx/>
                <a:uFillTx/>
                <a:latin typeface="Segoe UI Semibold"/>
                <a:ea typeface="+mn-ea"/>
                <a:cs typeface="Segoe UI" panose="020B0502040204020203" pitchFamily="34" charset="0"/>
              </a:rPr>
              <a:t>CopilotSuccessKit</a:t>
            </a:r>
            <a:endParaRPr lang="en-US">
              <a:solidFill>
                <a:schemeClr val="bg1"/>
              </a:solidFill>
              <a:latin typeface="+mj-lt"/>
            </a:endParaRPr>
          </a:p>
        </p:txBody>
      </p:sp>
      <p:sp>
        <p:nvSpPr>
          <p:cNvPr id="7" name="Slide Number Placeholder 6">
            <a:extLst>
              <a:ext uri="{FF2B5EF4-FFF2-40B4-BE49-F238E27FC236}">
                <a16:creationId xmlns:a16="http://schemas.microsoft.com/office/drawing/2014/main" id="{08E4D30B-0CA5-C7F0-4A1F-5A1976F2C2EB}"/>
              </a:ext>
            </a:extLst>
          </p:cNvPr>
          <p:cNvSpPr>
            <a:spLocks noGrp="1"/>
          </p:cNvSpPr>
          <p:nvPr>
            <p:ph type="sldNum" sz="quarter" idx="13"/>
          </p:nvPr>
        </p:nvSpPr>
        <p:spPr/>
        <p:txBody>
          <a:bodyPr/>
          <a:lstStyle/>
          <a:p>
            <a:fld id="{5763EE98-C176-4152-A50F-E68840BAFA00}" type="slidenum">
              <a:rPr lang="en-US" smtClean="0"/>
              <a:pPr/>
              <a:t>44</a:t>
            </a:fld>
            <a:endParaRPr lang="en-US"/>
          </a:p>
        </p:txBody>
      </p:sp>
      <p:sp>
        <p:nvSpPr>
          <p:cNvPr id="2" name="Footer Placeholder 1">
            <a:extLst>
              <a:ext uri="{FF2B5EF4-FFF2-40B4-BE49-F238E27FC236}">
                <a16:creationId xmlns:a16="http://schemas.microsoft.com/office/drawing/2014/main" id="{19FC7C1C-4588-AA79-DDAC-CD46F41C9974}"/>
              </a:ext>
            </a:extLst>
          </p:cNvPr>
          <p:cNvSpPr>
            <a:spLocks noGrp="1"/>
          </p:cNvSpPr>
          <p:nvPr>
            <p:ph type="ftr" sz="quarter" idx="12"/>
          </p:nvPr>
        </p:nvSpPr>
        <p:spPr/>
        <p:txBody>
          <a:bodyPr/>
          <a:lstStyle/>
          <a:p>
            <a:r>
              <a:rPr lang="en-US"/>
              <a:t>Building Customer-Centric Services offers</a:t>
            </a:r>
          </a:p>
        </p:txBody>
      </p:sp>
    </p:spTree>
    <p:extLst>
      <p:ext uri="{BB962C8B-B14F-4D97-AF65-F5344CB8AC3E}">
        <p14:creationId xmlns:p14="http://schemas.microsoft.com/office/powerpoint/2010/main" val="910351116"/>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A47F92D4-E904-ED0D-15F1-D94581C6BC48}"/>
              </a:ext>
              <a:ext uri="{C183D7F6-B498-43B3-948B-1728B52AA6E4}">
                <adec:decorative xmlns:adec="http://schemas.microsoft.com/office/drawing/2017/decorative" val="1"/>
              </a:ext>
            </a:extLst>
          </p:cNvPr>
          <p:cNvPicPr>
            <a:picLocks noChangeAspect="1"/>
          </p:cNvPicPr>
          <p:nvPr/>
        </p:nvPicPr>
        <p:blipFill>
          <a:blip r:embed="rId3"/>
          <a:srcRect/>
          <a:stretch/>
        </p:blipFill>
        <p:spPr>
          <a:xfrm>
            <a:off x="99" y="0"/>
            <a:ext cx="12191801" cy="6858000"/>
          </a:xfrm>
          <a:prstGeom prst="rect">
            <a:avLst/>
          </a:prstGeom>
        </p:spPr>
      </p:pic>
      <p:sp>
        <p:nvSpPr>
          <p:cNvPr id="5" name="Title 10">
            <a:extLst>
              <a:ext uri="{FF2B5EF4-FFF2-40B4-BE49-F238E27FC236}">
                <a16:creationId xmlns:a16="http://schemas.microsoft.com/office/drawing/2014/main" id="{5A5DC789-70B4-E408-022A-86CA40B5844C}"/>
              </a:ext>
            </a:extLst>
          </p:cNvPr>
          <p:cNvSpPr>
            <a:spLocks noGrp="1"/>
          </p:cNvSpPr>
          <p:nvPr>
            <p:ph type="title"/>
          </p:nvPr>
        </p:nvSpPr>
        <p:spPr/>
        <p:txBody>
          <a:bodyPr anchor="t">
            <a:noAutofit/>
          </a:bodyPr>
          <a:lstStyle/>
          <a:p>
            <a:r>
              <a:rPr lang="en-US"/>
              <a:t>Microsoft 365 Copilot skilling experiences</a:t>
            </a:r>
          </a:p>
        </p:txBody>
      </p:sp>
      <p:sp>
        <p:nvSpPr>
          <p:cNvPr id="11" name="Rounded Rectangle 8">
            <a:extLst>
              <a:ext uri="{FF2B5EF4-FFF2-40B4-BE49-F238E27FC236}">
                <a16:creationId xmlns:a16="http://schemas.microsoft.com/office/drawing/2014/main" id="{1991E1C9-16FB-7083-5ADC-1ECE22EC5E07}"/>
              </a:ext>
              <a:ext uri="{C183D7F6-B498-43B3-948B-1728B52AA6E4}">
                <adec:decorative xmlns:adec="http://schemas.microsoft.com/office/drawing/2017/decorative" val="1"/>
              </a:ext>
            </a:extLst>
          </p:cNvPr>
          <p:cNvSpPr>
            <a:spLocks/>
          </p:cNvSpPr>
          <p:nvPr/>
        </p:nvSpPr>
        <p:spPr bwMode="auto">
          <a:xfrm>
            <a:off x="593724" y="1316115"/>
            <a:ext cx="4064000" cy="4549140"/>
          </a:xfrm>
          <a:prstGeom prst="roundRect">
            <a:avLst>
              <a:gd name="adj" fmla="val 3577"/>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vert="horz" wrap="square" lIns="182880" tIns="91440" rIns="182880" bIns="91440" rtlCol="0" anchor="t" anchorCtr="0">
            <a:noAutofit/>
          </a:bodyPr>
          <a:lstStyle/>
          <a:p>
            <a:pPr defTabSz="932742">
              <a:spcBef>
                <a:spcPts val="600"/>
              </a:spcBef>
              <a:buSzPct val="90000"/>
            </a:pPr>
            <a:endParaRPr lang="en-US" baseline="30000">
              <a:solidFill>
                <a:schemeClr val="tx1"/>
              </a:solidFill>
              <a:cs typeface="Segoe Sans Display" pitchFamily="2" charset="0"/>
            </a:endParaRPr>
          </a:p>
        </p:txBody>
      </p:sp>
      <p:sp>
        <p:nvSpPr>
          <p:cNvPr id="12" name="Rounded Rectangle 8">
            <a:extLst>
              <a:ext uri="{FF2B5EF4-FFF2-40B4-BE49-F238E27FC236}">
                <a16:creationId xmlns:a16="http://schemas.microsoft.com/office/drawing/2014/main" id="{DA24DAE5-3772-4CD2-A52D-C721B45E3637}"/>
              </a:ext>
              <a:ext uri="{C183D7F6-B498-43B3-948B-1728B52AA6E4}">
                <adec:decorative xmlns:adec="http://schemas.microsoft.com/office/drawing/2017/decorative" val="1"/>
              </a:ext>
            </a:extLst>
          </p:cNvPr>
          <p:cNvSpPr>
            <a:spLocks/>
          </p:cNvSpPr>
          <p:nvPr/>
        </p:nvSpPr>
        <p:spPr bwMode="auto">
          <a:xfrm>
            <a:off x="4958844" y="1316114"/>
            <a:ext cx="6291767" cy="2126139"/>
          </a:xfrm>
          <a:prstGeom prst="roundRect">
            <a:avLst>
              <a:gd name="adj" fmla="val 3577"/>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vert="horz" wrap="square" lIns="182880" tIns="91440" rIns="182880" bIns="91440" rtlCol="0" anchor="t" anchorCtr="0">
            <a:noAutofit/>
          </a:bodyPr>
          <a:lstStyle/>
          <a:p>
            <a:pPr defTabSz="932742">
              <a:spcBef>
                <a:spcPts val="600"/>
              </a:spcBef>
              <a:buSzPct val="90000"/>
            </a:pPr>
            <a:endParaRPr lang="en-US" baseline="30000">
              <a:solidFill>
                <a:schemeClr val="tx1"/>
              </a:solidFill>
              <a:cs typeface="Segoe Sans Display" pitchFamily="2" charset="0"/>
            </a:endParaRPr>
          </a:p>
        </p:txBody>
      </p:sp>
      <p:sp>
        <p:nvSpPr>
          <p:cNvPr id="13" name="Rounded Rectangle 8">
            <a:extLst>
              <a:ext uri="{FF2B5EF4-FFF2-40B4-BE49-F238E27FC236}">
                <a16:creationId xmlns:a16="http://schemas.microsoft.com/office/drawing/2014/main" id="{A007339D-6133-A45D-4ECC-BD45FDE7DFBE}"/>
              </a:ext>
              <a:ext uri="{C183D7F6-B498-43B3-948B-1728B52AA6E4}">
                <adec:decorative xmlns:adec="http://schemas.microsoft.com/office/drawing/2017/decorative" val="1"/>
              </a:ext>
            </a:extLst>
          </p:cNvPr>
          <p:cNvSpPr>
            <a:spLocks/>
          </p:cNvSpPr>
          <p:nvPr/>
        </p:nvSpPr>
        <p:spPr bwMode="auto">
          <a:xfrm>
            <a:off x="4958844" y="3739116"/>
            <a:ext cx="6291767" cy="2126139"/>
          </a:xfrm>
          <a:prstGeom prst="roundRect">
            <a:avLst>
              <a:gd name="adj" fmla="val 3577"/>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vert="horz" wrap="square" lIns="182880" tIns="91440" rIns="182880" bIns="91440" rtlCol="0" anchor="t" anchorCtr="0">
            <a:noAutofit/>
          </a:bodyPr>
          <a:lstStyle/>
          <a:p>
            <a:pPr defTabSz="932742">
              <a:spcBef>
                <a:spcPts val="600"/>
              </a:spcBef>
              <a:buSzPct val="90000"/>
            </a:pPr>
            <a:endParaRPr lang="en-US" baseline="30000">
              <a:solidFill>
                <a:schemeClr val="tx1"/>
              </a:solidFill>
              <a:cs typeface="Segoe Sans Display" pitchFamily="2" charset="0"/>
            </a:endParaRPr>
          </a:p>
        </p:txBody>
      </p:sp>
      <p:pic>
        <p:nvPicPr>
          <p:cNvPr id="16" name="Picture 15" descr="Screenshot of the Copilot Academy dashboard.">
            <a:extLst>
              <a:ext uri="{FF2B5EF4-FFF2-40B4-BE49-F238E27FC236}">
                <a16:creationId xmlns:a16="http://schemas.microsoft.com/office/drawing/2014/main" id="{1E9282B8-7CDF-065F-D029-42CA8823D825}"/>
              </a:ext>
            </a:extLst>
          </p:cNvPr>
          <p:cNvPicPr>
            <a:picLocks noChangeAspect="1"/>
          </p:cNvPicPr>
          <p:nvPr/>
        </p:nvPicPr>
        <p:blipFill rotWithShape="1">
          <a:blip r:embed="rId4"/>
          <a:srcRect b="12323"/>
          <a:stretch/>
        </p:blipFill>
        <p:spPr>
          <a:xfrm>
            <a:off x="890585" y="1635919"/>
            <a:ext cx="1722518" cy="2140572"/>
          </a:xfrm>
          <a:prstGeom prst="roundRect">
            <a:avLst>
              <a:gd name="adj" fmla="val 4376"/>
            </a:avLst>
          </a:prstGeom>
          <a:ln w="3175">
            <a:solidFill>
              <a:schemeClr val="bg1">
                <a:lumMod val="50000"/>
              </a:schemeClr>
            </a:solidFill>
          </a:ln>
        </p:spPr>
      </p:pic>
      <p:sp>
        <p:nvSpPr>
          <p:cNvPr id="23" name="TextBox 22">
            <a:extLst>
              <a:ext uri="{FF2B5EF4-FFF2-40B4-BE49-F238E27FC236}">
                <a16:creationId xmlns:a16="http://schemas.microsoft.com/office/drawing/2014/main" id="{A3031927-EB33-6B7D-8656-B7F08DD9326A}"/>
              </a:ext>
            </a:extLst>
          </p:cNvPr>
          <p:cNvSpPr txBox="1"/>
          <p:nvPr/>
        </p:nvSpPr>
        <p:spPr>
          <a:xfrm>
            <a:off x="890587" y="3997565"/>
            <a:ext cx="3468688" cy="1528624"/>
          </a:xfrm>
          <a:prstGeom prst="rect">
            <a:avLst/>
          </a:prstGeom>
          <a:noFill/>
        </p:spPr>
        <p:txBody>
          <a:bodyPr wrap="square" lIns="0" tIns="0" rIns="0" bIns="0" rtlCol="0">
            <a:spAutoFit/>
          </a:bodyPr>
          <a:lstStyle/>
          <a:p>
            <a:pPr marL="0" marR="0" lvl="0" algn="l" defTabSz="914367" rtl="0" eaLnBrk="1" fontAlgn="auto" latinLnBrk="0" hangingPunct="1">
              <a:lnSpc>
                <a:spcPct val="100000"/>
              </a:lnSpc>
              <a:spcBef>
                <a:spcPts val="0"/>
              </a:spcBef>
              <a:spcAft>
                <a:spcPts val="400"/>
              </a:spcAft>
              <a:buClrTx/>
              <a:buSzTx/>
              <a:buFontTx/>
              <a:buNone/>
              <a:tabLst/>
              <a:defRPr/>
            </a:pPr>
            <a:r>
              <a:rPr kumimoji="0" lang="en-US" sz="1600" b="0" i="0" u="none" strike="noStrike" kern="1200" cap="none" spc="0" normalizeH="0" baseline="0" noProof="0">
                <a:ln>
                  <a:noFill/>
                </a:ln>
                <a:solidFill>
                  <a:srgbClr val="0078D4"/>
                </a:solidFill>
                <a:effectLst/>
                <a:uLnTx/>
                <a:uFillTx/>
                <a:latin typeface="+mj-lt"/>
                <a:ea typeface="+mn-ea"/>
                <a:cs typeface="Segoe UI Semibold" panose="020B0502040204020203" pitchFamily="34" charset="0"/>
                <a:hlinkClick r:id="rId5">
                  <a:extLst>
                    <a:ext uri="{A12FA001-AC4F-418D-AE19-62706E023703}">
                      <ahyp:hlinkClr xmlns:ahyp="http://schemas.microsoft.com/office/drawing/2018/hyperlinkcolor" val="tx"/>
                    </a:ext>
                  </a:extLst>
                </a:hlinkClick>
              </a:rPr>
              <a:t>Microsoft Copilot Academy</a:t>
            </a:r>
            <a:endParaRPr kumimoji="0" lang="en-US" sz="1600" b="0" i="0" u="none" strike="noStrike" kern="1200" cap="none" spc="0" normalizeH="0" baseline="0" noProof="0">
              <a:ln>
                <a:noFill/>
              </a:ln>
              <a:solidFill>
                <a:srgbClr val="0078D4"/>
              </a:solidFill>
              <a:effectLst/>
              <a:uLnTx/>
              <a:uFillTx/>
              <a:latin typeface="+mj-lt"/>
              <a:ea typeface="+mn-ea"/>
              <a:cs typeface="Segoe UI Semibold" panose="020B0502040204020203" pitchFamily="34" charset="0"/>
            </a:endParaRPr>
          </a:p>
          <a:p>
            <a:pPr marR="0" lvl="0" algn="l" defTabSz="914400" rtl="0" eaLnBrk="1" fontAlgn="auto" latinLnBrk="0" hangingPunct="1">
              <a:lnSpc>
                <a:spcPct val="100000"/>
              </a:lnSpc>
              <a:spcBef>
                <a:spcPts val="0"/>
              </a:spcBef>
              <a:spcAft>
                <a:spcPts val="600"/>
              </a:spcAft>
              <a:buClrTx/>
              <a:buSzTx/>
              <a:tabLst/>
              <a:defRPr/>
            </a:pPr>
            <a:r>
              <a:rPr kumimoji="0" lang="en-US" sz="1000" b="0" i="0" u="none" strike="noStrike" kern="1200" cap="none" spc="0" normalizeH="0" baseline="0" noProof="0">
                <a:ln>
                  <a:noFill/>
                </a:ln>
                <a:solidFill>
                  <a:prstClr val="black"/>
                </a:solidFill>
                <a:effectLst/>
                <a:uLnTx/>
                <a:uFillTx/>
                <a:ea typeface="+mn-ea"/>
                <a:cs typeface="+mn-cs"/>
              </a:rPr>
              <a:t>Centralized location to help with the basics of Copilot learning and upskilling, pulling the best content from available free Microsoft sources.</a:t>
            </a:r>
          </a:p>
          <a:p>
            <a:pPr marR="0" lvl="0" algn="l" defTabSz="914400" rtl="0" eaLnBrk="1" fontAlgn="auto" latinLnBrk="0" hangingPunct="1">
              <a:lnSpc>
                <a:spcPct val="100000"/>
              </a:lnSpc>
              <a:spcBef>
                <a:spcPts val="0"/>
              </a:spcBef>
              <a:spcAft>
                <a:spcPts val="600"/>
              </a:spcAft>
              <a:buClrTx/>
              <a:buSzTx/>
              <a:tabLst/>
              <a:defRPr/>
            </a:pPr>
            <a:r>
              <a:rPr kumimoji="0" lang="en-US" sz="1000" b="0" i="0" u="none" strike="noStrike" kern="1200" cap="none" spc="0" normalizeH="0" baseline="0" noProof="0">
                <a:ln>
                  <a:noFill/>
                </a:ln>
                <a:solidFill>
                  <a:prstClr val="black"/>
                </a:solidFill>
                <a:effectLst/>
                <a:uLnTx/>
                <a:uFillTx/>
                <a:ea typeface="+mn-ea"/>
                <a:cs typeface="+mn-cs"/>
              </a:rPr>
              <a:t>Structured content in easily consumable learning paths curated by Microsoft experts.</a:t>
            </a:r>
          </a:p>
          <a:p>
            <a:pPr marR="0" lvl="0" algn="l" defTabSz="914400" rtl="0" eaLnBrk="1" fontAlgn="auto" latinLnBrk="0" hangingPunct="1">
              <a:lnSpc>
                <a:spcPct val="100000"/>
              </a:lnSpc>
              <a:spcBef>
                <a:spcPts val="0"/>
              </a:spcBef>
              <a:spcAft>
                <a:spcPts val="600"/>
              </a:spcAft>
              <a:buClrTx/>
              <a:buSzTx/>
              <a:tabLst/>
              <a:defRPr/>
            </a:pPr>
            <a:r>
              <a:rPr kumimoji="0" lang="en-US" sz="1000" b="0" i="0" u="none" strike="noStrike" kern="1200" cap="none" spc="0" normalizeH="0" baseline="0" noProof="0">
                <a:ln>
                  <a:noFill/>
                </a:ln>
                <a:solidFill>
                  <a:prstClr val="black"/>
                </a:solidFill>
                <a:effectLst/>
                <a:uLnTx/>
                <a:uFillTx/>
                <a:ea typeface="+mn-ea"/>
                <a:cs typeface="+mn-cs"/>
              </a:rPr>
              <a:t>Develop your AI interaction skills from your Viva Learning app in Teams or webapp.</a:t>
            </a:r>
          </a:p>
        </p:txBody>
      </p:sp>
      <p:pic>
        <p:nvPicPr>
          <p:cNvPr id="19" name="Picture 18" descr="A screen capture of Microsoft 365 learning pathway page">
            <a:extLst>
              <a:ext uri="{FF2B5EF4-FFF2-40B4-BE49-F238E27FC236}">
                <a16:creationId xmlns:a16="http://schemas.microsoft.com/office/drawing/2014/main" id="{5C72680C-E8CA-D382-2AF3-DE4E0B15F6AA}"/>
              </a:ext>
            </a:extLst>
          </p:cNvPr>
          <p:cNvPicPr>
            <a:picLocks/>
          </p:cNvPicPr>
          <p:nvPr/>
        </p:nvPicPr>
        <p:blipFill rotWithShape="1">
          <a:blip r:embed="rId6">
            <a:extLst>
              <a:ext uri="{28A0092B-C50C-407E-A947-70E740481C1C}">
                <a14:useLocalDpi xmlns:a14="http://schemas.microsoft.com/office/drawing/2010/main" val="0"/>
              </a:ext>
            </a:extLst>
          </a:blip>
          <a:srcRect l="117" t="-1" r="38971"/>
          <a:stretch/>
        </p:blipFill>
        <p:spPr>
          <a:xfrm>
            <a:off x="5098028" y="1449043"/>
            <a:ext cx="1947814" cy="1860282"/>
          </a:xfrm>
          <a:prstGeom prst="roundRect">
            <a:avLst>
              <a:gd name="adj" fmla="val 4376"/>
            </a:avLst>
          </a:prstGeom>
          <a:solidFill>
            <a:srgbClr val="FFFFFF">
              <a:alpha val="55000"/>
            </a:srgbClr>
          </a:solidFill>
          <a:ln w="3175">
            <a:noFill/>
          </a:ln>
        </p:spPr>
      </p:pic>
      <p:sp>
        <p:nvSpPr>
          <p:cNvPr id="21" name="TextBox 20">
            <a:extLst>
              <a:ext uri="{FF2B5EF4-FFF2-40B4-BE49-F238E27FC236}">
                <a16:creationId xmlns:a16="http://schemas.microsoft.com/office/drawing/2014/main" id="{2A43618D-B19E-93FA-245D-FF48DC7EC991}"/>
              </a:ext>
            </a:extLst>
          </p:cNvPr>
          <p:cNvSpPr txBox="1">
            <a:spLocks/>
          </p:cNvSpPr>
          <p:nvPr/>
        </p:nvSpPr>
        <p:spPr>
          <a:xfrm>
            <a:off x="7414438" y="1679983"/>
            <a:ext cx="3537724" cy="823302"/>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300"/>
              </a:spcAft>
              <a:buClrTx/>
              <a:buSzTx/>
              <a:buFontTx/>
              <a:buNone/>
              <a:tabLst/>
              <a:defRPr/>
            </a:pPr>
            <a:r>
              <a:rPr kumimoji="0" lang="en-US" sz="1600" b="0" i="0" u="none" strike="noStrike" kern="1200" cap="none" spc="0" normalizeH="0" baseline="0" noProof="0">
                <a:ln>
                  <a:noFill/>
                </a:ln>
                <a:solidFill>
                  <a:srgbClr val="0078D4"/>
                </a:solidFill>
                <a:effectLst/>
                <a:uLnTx/>
                <a:uFillTx/>
                <a:latin typeface="+mj-lt"/>
                <a:ea typeface="+mn-ea"/>
                <a:cs typeface="Segoe UI Semibold" panose="020B0502040204020203" pitchFamily="34" charset="0"/>
                <a:hlinkClick r:id="rId7">
                  <a:extLst>
                    <a:ext uri="{A12FA001-AC4F-418D-AE19-62706E023703}">
                      <ahyp:hlinkClr xmlns:ahyp="http://schemas.microsoft.com/office/drawing/2018/hyperlinkcolor" val="tx"/>
                    </a:ext>
                  </a:extLst>
                </a:hlinkClick>
              </a:rPr>
              <a:t>Microsoft Learn</a:t>
            </a:r>
            <a:endParaRPr kumimoji="0" lang="en-US" sz="1600" b="0" i="0" u="none" strike="noStrike" kern="1200" cap="none" spc="0" normalizeH="0" baseline="0" noProof="0">
              <a:ln>
                <a:noFill/>
              </a:ln>
              <a:solidFill>
                <a:srgbClr val="0078D4"/>
              </a:solidFill>
              <a:effectLst/>
              <a:uLnTx/>
              <a:uFillTx/>
              <a:latin typeface="+mj-lt"/>
              <a:ea typeface="+mn-ea"/>
              <a:cs typeface="Segoe UI Semibold" panose="020B0502040204020203" pitchFamily="34" charset="0"/>
            </a:endParaRPr>
          </a:p>
          <a:p>
            <a:pPr marR="0" lvl="0" algn="l" defTabSz="914400" rtl="0" eaLnBrk="1" fontAlgn="auto" latinLnBrk="0" hangingPunct="1">
              <a:lnSpc>
                <a:spcPct val="100000"/>
              </a:lnSpc>
              <a:spcBef>
                <a:spcPts val="0"/>
              </a:spcBef>
              <a:spcAft>
                <a:spcPts val="600"/>
              </a:spcAft>
              <a:buClrTx/>
              <a:buSzTx/>
              <a:tabLst/>
              <a:defRPr/>
            </a:pPr>
            <a:r>
              <a:rPr kumimoji="0" lang="en-US" sz="1000" b="0" i="0" u="none" strike="noStrike" kern="1200" cap="none" spc="0" normalizeH="0" baseline="0" noProof="0">
                <a:ln>
                  <a:noFill/>
                </a:ln>
                <a:solidFill>
                  <a:prstClr val="black"/>
                </a:solidFill>
                <a:effectLst/>
                <a:uLnTx/>
                <a:uFillTx/>
                <a:ea typeface="+mn-ea"/>
                <a:cs typeface="+mn-cs"/>
              </a:rPr>
              <a:t>Free, on-demand training content for skill development.</a:t>
            </a:r>
          </a:p>
          <a:p>
            <a:pPr marR="0" lvl="0" algn="l" defTabSz="914400" rtl="0" eaLnBrk="1" fontAlgn="auto" latinLnBrk="0" hangingPunct="1">
              <a:lnSpc>
                <a:spcPct val="100000"/>
              </a:lnSpc>
              <a:spcBef>
                <a:spcPts val="0"/>
              </a:spcBef>
              <a:spcAft>
                <a:spcPts val="600"/>
              </a:spcAft>
              <a:buClrTx/>
              <a:buSzTx/>
              <a:tabLst/>
              <a:defRPr/>
            </a:pPr>
            <a:r>
              <a:rPr kumimoji="0" lang="en-US" sz="1000" b="0" i="0" u="none" strike="noStrike" kern="1200" cap="none" spc="0" normalizeH="0" baseline="0" noProof="0">
                <a:ln>
                  <a:noFill/>
                </a:ln>
                <a:solidFill>
                  <a:prstClr val="black"/>
                </a:solidFill>
                <a:effectLst/>
                <a:uLnTx/>
                <a:uFillTx/>
                <a:ea typeface="+mn-ea"/>
                <a:cs typeface="+mn-cs"/>
              </a:rPr>
              <a:t>Step-by-step exercises guiding learners through common Copilot prompts and use cases.</a:t>
            </a:r>
          </a:p>
        </p:txBody>
      </p:sp>
      <p:pic>
        <p:nvPicPr>
          <p:cNvPr id="20" name="Picture 19" descr="Screenshot of the Copilot Lab home page.">
            <a:extLst>
              <a:ext uri="{FF2B5EF4-FFF2-40B4-BE49-F238E27FC236}">
                <a16:creationId xmlns:a16="http://schemas.microsoft.com/office/drawing/2014/main" id="{8EA87041-9EF0-2147-7388-E8C64F9EE0E5}"/>
              </a:ext>
            </a:extLst>
          </p:cNvPr>
          <p:cNvPicPr>
            <a:picLocks/>
          </p:cNvPicPr>
          <p:nvPr/>
        </p:nvPicPr>
        <p:blipFill rotWithShape="1">
          <a:blip r:embed="rId8"/>
          <a:srcRect l="19795" r="19795" b="-17"/>
          <a:stretch/>
        </p:blipFill>
        <p:spPr>
          <a:xfrm>
            <a:off x="5090940" y="3864937"/>
            <a:ext cx="1961990" cy="1874138"/>
          </a:xfrm>
          <a:prstGeom prst="roundRect">
            <a:avLst>
              <a:gd name="adj" fmla="val 4376"/>
            </a:avLst>
          </a:prstGeom>
          <a:solidFill>
            <a:srgbClr val="FFFFFF">
              <a:alpha val="55000"/>
            </a:srgbClr>
          </a:solidFill>
          <a:ln w="3175">
            <a:noFill/>
          </a:ln>
        </p:spPr>
      </p:pic>
      <p:sp>
        <p:nvSpPr>
          <p:cNvPr id="22" name="TextBox 21">
            <a:extLst>
              <a:ext uri="{FF2B5EF4-FFF2-40B4-BE49-F238E27FC236}">
                <a16:creationId xmlns:a16="http://schemas.microsoft.com/office/drawing/2014/main" id="{AE049AB8-1763-8767-709D-6F196A96F276}"/>
              </a:ext>
            </a:extLst>
          </p:cNvPr>
          <p:cNvSpPr txBox="1">
            <a:spLocks/>
          </p:cNvSpPr>
          <p:nvPr/>
        </p:nvSpPr>
        <p:spPr>
          <a:xfrm>
            <a:off x="7414438" y="4180877"/>
            <a:ext cx="3537724" cy="977191"/>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300"/>
              </a:spcAft>
              <a:buClrTx/>
              <a:buSzTx/>
              <a:buFontTx/>
              <a:buNone/>
              <a:tabLst/>
              <a:defRPr/>
            </a:pPr>
            <a:r>
              <a:rPr kumimoji="0" lang="en-US" sz="1600" b="0" i="0" u="none" strike="noStrike" kern="1200" cap="none" spc="0" normalizeH="0" baseline="0" noProof="0">
                <a:ln>
                  <a:noFill/>
                </a:ln>
                <a:solidFill>
                  <a:srgbClr val="0078D4"/>
                </a:solidFill>
                <a:effectLst/>
                <a:uLnTx/>
                <a:uFillTx/>
                <a:latin typeface="+mj-lt"/>
                <a:ea typeface="+mn-ea"/>
                <a:cs typeface="Segoe UI Semibold" panose="020B0502040204020203" pitchFamily="34" charset="0"/>
                <a:hlinkClick r:id="rId9">
                  <a:extLst>
                    <a:ext uri="{A12FA001-AC4F-418D-AE19-62706E023703}">
                      <ahyp:hlinkClr xmlns:ahyp="http://schemas.microsoft.com/office/drawing/2018/hyperlinkcolor" val="tx"/>
                    </a:ext>
                  </a:extLst>
                </a:hlinkClick>
              </a:rPr>
              <a:t>Copilot Lab</a:t>
            </a:r>
            <a:endParaRPr kumimoji="0" lang="en-US" sz="1600" b="0" i="0" u="none" strike="noStrike" kern="1200" cap="none" spc="0" normalizeH="0" baseline="0" noProof="0">
              <a:ln>
                <a:noFill/>
              </a:ln>
              <a:solidFill>
                <a:srgbClr val="0078D4"/>
              </a:solidFill>
              <a:effectLst/>
              <a:uLnTx/>
              <a:uFillTx/>
              <a:latin typeface="+mj-lt"/>
              <a:ea typeface="+mn-ea"/>
              <a:cs typeface="Segoe UI Semibold" panose="020B0502040204020203" pitchFamily="34" charset="0"/>
            </a:endParaRPr>
          </a:p>
          <a:p>
            <a:pPr marR="0" lvl="0" algn="l" defTabSz="914400" rtl="0" eaLnBrk="1" fontAlgn="auto" latinLnBrk="0" hangingPunct="1">
              <a:lnSpc>
                <a:spcPct val="100000"/>
              </a:lnSpc>
              <a:spcBef>
                <a:spcPts val="0"/>
              </a:spcBef>
              <a:spcAft>
                <a:spcPts val="600"/>
              </a:spcAft>
              <a:buClrTx/>
              <a:buSzTx/>
              <a:tabLst/>
              <a:defRPr/>
            </a:pPr>
            <a:r>
              <a:rPr kumimoji="0" lang="en-US" sz="1000" b="0" i="0" u="none" strike="noStrike" kern="1200" cap="none" spc="0" normalizeH="0" baseline="0" noProof="0">
                <a:ln>
                  <a:noFill/>
                </a:ln>
                <a:solidFill>
                  <a:prstClr val="black"/>
                </a:solidFill>
                <a:effectLst/>
                <a:uLnTx/>
                <a:uFillTx/>
                <a:ea typeface="+mn-ea"/>
                <a:cs typeface="+mn-cs"/>
              </a:rPr>
              <a:t>Free location to meet, learn about, and test the capabilities of Copilot.</a:t>
            </a:r>
          </a:p>
          <a:p>
            <a:pPr marR="0" lvl="0" algn="l" defTabSz="914400" rtl="0" eaLnBrk="1" fontAlgn="auto" latinLnBrk="0" hangingPunct="1">
              <a:lnSpc>
                <a:spcPct val="100000"/>
              </a:lnSpc>
              <a:spcBef>
                <a:spcPts val="0"/>
              </a:spcBef>
              <a:spcAft>
                <a:spcPts val="600"/>
              </a:spcAft>
              <a:buClrTx/>
              <a:buSzTx/>
              <a:tabLst/>
              <a:defRPr/>
            </a:pPr>
            <a:r>
              <a:rPr kumimoji="0" lang="en-US" sz="1000" b="0" i="0" u="none" strike="noStrike" kern="1200" cap="none" spc="0" normalizeH="0" baseline="0" noProof="0">
                <a:ln>
                  <a:noFill/>
                </a:ln>
                <a:solidFill>
                  <a:prstClr val="black"/>
                </a:solidFill>
                <a:effectLst/>
                <a:uLnTx/>
                <a:uFillTx/>
                <a:ea typeface="+mn-ea"/>
                <a:cs typeface="+mn-cs"/>
              </a:rPr>
              <a:t>Improve your prompt engineering skills in an interactive hands-on environment.</a:t>
            </a:r>
          </a:p>
        </p:txBody>
      </p:sp>
      <p:sp>
        <p:nvSpPr>
          <p:cNvPr id="28" name="Rounded Rectangle 26">
            <a:extLst>
              <a:ext uri="{FF2B5EF4-FFF2-40B4-BE49-F238E27FC236}">
                <a16:creationId xmlns:a16="http://schemas.microsoft.com/office/drawing/2014/main" id="{8494D74B-859C-B131-2F2D-58E8F13E89F0}"/>
              </a:ext>
            </a:extLst>
          </p:cNvPr>
          <p:cNvSpPr/>
          <p:nvPr/>
        </p:nvSpPr>
        <p:spPr>
          <a:xfrm>
            <a:off x="593724" y="6068112"/>
            <a:ext cx="11001376" cy="24622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noProof="0">
                <a:ln>
                  <a:noFill/>
                </a:ln>
                <a:solidFill>
                  <a:schemeClr val="tx1"/>
                </a:solidFill>
                <a:effectLst/>
                <a:uLnTx/>
                <a:uFillTx/>
                <a:ea typeface="+mn-ea"/>
                <a:cs typeface="Segoe UI Semibold" panose="020B0502040204020203" pitchFamily="34" charset="0"/>
              </a:rPr>
              <a:t>Downloadable assets for customization available at </a:t>
            </a:r>
            <a:r>
              <a:rPr kumimoji="0" lang="en-US" sz="1600" b="0" i="0" u="none" strike="noStrike" kern="1200" cap="none" spc="0" normalizeH="0" noProof="0">
                <a:ln>
                  <a:noFill/>
                </a:ln>
                <a:solidFill>
                  <a:schemeClr val="tx1"/>
                </a:solidFill>
                <a:effectLst/>
                <a:uLnTx/>
                <a:uFillTx/>
                <a:latin typeface="+mj-lt"/>
                <a:ea typeface="+mn-ea"/>
                <a:cs typeface="Segoe UI Semibold" panose="020B0502040204020203" pitchFamily="34" charset="0"/>
                <a:hlinkClick r:id="rId10"/>
              </a:rPr>
              <a:t>adoption.microsoft.com/copilot</a:t>
            </a:r>
            <a:endParaRPr kumimoji="0" lang="en-US" sz="1600" b="0" i="0" u="none" strike="noStrike" kern="1200" cap="none" spc="0" normalizeH="0" noProof="0">
              <a:ln>
                <a:noFill/>
              </a:ln>
              <a:solidFill>
                <a:schemeClr val="tx1"/>
              </a:solidFill>
              <a:effectLst/>
              <a:uLnTx/>
              <a:uFillTx/>
              <a:latin typeface="+mj-lt"/>
              <a:ea typeface="+mn-ea"/>
              <a:cs typeface="Segoe UI Semibold" panose="020B0502040204020203" pitchFamily="34" charset="0"/>
            </a:endParaRPr>
          </a:p>
        </p:txBody>
      </p:sp>
      <p:cxnSp>
        <p:nvCxnSpPr>
          <p:cNvPr id="29" name="Connector: Elbow 28">
            <a:extLst>
              <a:ext uri="{FF2B5EF4-FFF2-40B4-BE49-F238E27FC236}">
                <a16:creationId xmlns:a16="http://schemas.microsoft.com/office/drawing/2014/main" id="{5E5CF13E-24B0-66C5-7F24-5C321A452725}"/>
              </a:ext>
              <a:ext uri="{C183D7F6-B498-43B3-948B-1728B52AA6E4}">
                <adec:decorative xmlns:adec="http://schemas.microsoft.com/office/drawing/2017/decorative" val="1"/>
              </a:ext>
            </a:extLst>
          </p:cNvPr>
          <p:cNvCxnSpPr>
            <a:cxnSpLocks/>
            <a:stCxn id="12" idx="1"/>
            <a:endCxn id="13" idx="1"/>
          </p:cNvCxnSpPr>
          <p:nvPr/>
        </p:nvCxnSpPr>
        <p:spPr>
          <a:xfrm rot="10800000" flipV="1">
            <a:off x="4958844" y="2379184"/>
            <a:ext cx="12700" cy="2423002"/>
          </a:xfrm>
          <a:prstGeom prst="bentConnector3">
            <a:avLst>
              <a:gd name="adj1" fmla="val 1320000"/>
            </a:avLst>
          </a:prstGeom>
          <a:ln w="12700" cap="rnd">
            <a:solidFill>
              <a:schemeClr val="bg1"/>
            </a:solidFill>
            <a:headEnd type="oval"/>
            <a:tailEnd type="oval"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C785880-4BD2-342D-BDB9-083F909F2F96}"/>
              </a:ext>
              <a:ext uri="{C183D7F6-B498-43B3-948B-1728B52AA6E4}">
                <adec:decorative xmlns:adec="http://schemas.microsoft.com/office/drawing/2017/decorative" val="1"/>
              </a:ext>
            </a:extLst>
          </p:cNvPr>
          <p:cNvCxnSpPr>
            <a:cxnSpLocks/>
            <a:stCxn id="11" idx="3"/>
          </p:cNvCxnSpPr>
          <p:nvPr/>
        </p:nvCxnSpPr>
        <p:spPr>
          <a:xfrm>
            <a:off x="4657724" y="3590685"/>
            <a:ext cx="145097" cy="0"/>
          </a:xfrm>
          <a:prstGeom prst="line">
            <a:avLst/>
          </a:prstGeom>
          <a:ln w="12700" cap="rnd">
            <a:solidFill>
              <a:schemeClr val="bg1"/>
            </a:solidFill>
            <a:headEnd type="oval"/>
            <a:tailEnd type="oval" w="med" len="med"/>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00C0569F-0279-7389-9B0E-1F3B9B91DAAD}"/>
              </a:ext>
            </a:extLst>
          </p:cNvPr>
          <p:cNvSpPr>
            <a:spLocks noGrp="1"/>
          </p:cNvSpPr>
          <p:nvPr>
            <p:ph type="sldNum" sz="quarter" idx="13"/>
          </p:nvPr>
        </p:nvSpPr>
        <p:spPr/>
        <p:txBody>
          <a:bodyPr/>
          <a:lstStyle/>
          <a:p>
            <a:fld id="{5763EE98-C176-4152-A50F-E68840BAFA00}" type="slidenum">
              <a:rPr lang="en-US" smtClean="0"/>
              <a:pPr/>
              <a:t>45</a:t>
            </a:fld>
            <a:endParaRPr lang="en-US"/>
          </a:p>
        </p:txBody>
      </p:sp>
      <p:sp>
        <p:nvSpPr>
          <p:cNvPr id="2" name="Footer Placeholder 1">
            <a:extLst>
              <a:ext uri="{FF2B5EF4-FFF2-40B4-BE49-F238E27FC236}">
                <a16:creationId xmlns:a16="http://schemas.microsoft.com/office/drawing/2014/main" id="{FF77D375-C2F5-46B9-BD29-3532B9F7557A}"/>
              </a:ext>
            </a:extLst>
          </p:cNvPr>
          <p:cNvSpPr>
            <a:spLocks noGrp="1"/>
          </p:cNvSpPr>
          <p:nvPr>
            <p:ph type="ftr" sz="quarter" idx="12"/>
          </p:nvPr>
        </p:nvSpPr>
        <p:spPr/>
        <p:txBody>
          <a:bodyPr/>
          <a:lstStyle/>
          <a:p>
            <a:r>
              <a:rPr lang="en-US"/>
              <a:t>Building Customer-Centric Services offers</a:t>
            </a:r>
          </a:p>
        </p:txBody>
      </p:sp>
    </p:spTree>
    <p:extLst>
      <p:ext uri="{BB962C8B-B14F-4D97-AF65-F5344CB8AC3E}">
        <p14:creationId xmlns:p14="http://schemas.microsoft.com/office/powerpoint/2010/main" val="284435706"/>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67000"/>
            <a:lum/>
          </a:blip>
          <a:srcRect/>
          <a:stretch>
            <a:fillRect t="-39000" b="-39000"/>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92A9137-DA2A-4453-9598-F79B1BA83E9A}"/>
              </a:ext>
            </a:extLst>
          </p:cNvPr>
          <p:cNvSpPr txBox="1">
            <a:spLocks noGrp="1"/>
          </p:cNvSpPr>
          <p:nvPr>
            <p:ph type="title"/>
          </p:nvPr>
        </p:nvSpPr>
        <p:spPr>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200" b="0" kern="1200" cap="none" spc="-50" baseline="0">
                <a:ln w="3175">
                  <a:noFill/>
                </a:ln>
                <a:gradFill>
                  <a:gsLst>
                    <a:gs pos="50000">
                      <a:schemeClr val="accent5"/>
                    </a:gs>
                    <a:gs pos="0">
                      <a:schemeClr val="accent1"/>
                    </a:gs>
                    <a:gs pos="100000">
                      <a:srgbClr val="C73ECC"/>
                    </a:gs>
                  </a:gsLst>
                  <a:lin ang="2700000" scaled="1"/>
                </a:gradFill>
                <a:effectLst/>
                <a:latin typeface="+mj-lt"/>
                <a:ea typeface="+mn-ea"/>
                <a:cs typeface="Segoe UI" pitchFamily="34" charset="0"/>
              </a:defRPr>
            </a:lvl1pPr>
          </a:lstStyle>
          <a:p>
            <a:r>
              <a:rPr lang="en-CA" sz="3600" kern="0" dirty="0">
                <a:gradFill>
                  <a:gsLst>
                    <a:gs pos="35000">
                      <a:srgbClr val="2DB4FF"/>
                    </a:gs>
                    <a:gs pos="70000">
                      <a:srgbClr val="D660FF"/>
                    </a:gs>
                    <a:gs pos="52000">
                      <a:srgbClr val="818EFF"/>
                    </a:gs>
                    <a:gs pos="30000">
                      <a:srgbClr val="2DB4FF"/>
                    </a:gs>
                    <a:gs pos="3000">
                      <a:srgbClr val="0078D4"/>
                    </a:gs>
                    <a:gs pos="97000">
                      <a:srgbClr val="FEA87A"/>
                    </a:gs>
                  </a:gsLst>
                  <a:lin ang="0" scaled="1"/>
                </a:gradFill>
                <a:latin typeface="Segoe Sans Text Semibold"/>
                <a:ea typeface="Segoe UI Regular" pitchFamily="34" charset="-122"/>
                <a:cs typeface="+mn-cs"/>
              </a:rPr>
              <a:t>Top 10 to ‘Try First’</a:t>
            </a:r>
            <a:r>
              <a:rPr lang="en-US" sz="3600" kern="0" dirty="0">
                <a:gradFill>
                  <a:gsLst>
                    <a:gs pos="35000">
                      <a:srgbClr val="2DB4FF"/>
                    </a:gs>
                    <a:gs pos="70000">
                      <a:srgbClr val="D660FF"/>
                    </a:gs>
                    <a:gs pos="52000">
                      <a:srgbClr val="818EFF"/>
                    </a:gs>
                    <a:gs pos="30000">
                      <a:srgbClr val="2DB4FF"/>
                    </a:gs>
                    <a:gs pos="3000">
                      <a:srgbClr val="0078D4"/>
                    </a:gs>
                    <a:gs pos="97000">
                      <a:srgbClr val="FEA87A"/>
                    </a:gs>
                  </a:gsLst>
                  <a:lin ang="0" scaled="1"/>
                </a:gradFill>
                <a:latin typeface="Segoe Sans Text Semibold"/>
                <a:ea typeface="Segoe UI Regular" pitchFamily="34" charset="-122"/>
                <a:cs typeface="+mn-cs"/>
              </a:rPr>
              <a:t> </a:t>
            </a:r>
            <a:r>
              <a:rPr kumimoji="0" lang="en-US" sz="3600" b="0" i="0" u="none" strike="noStrike" kern="1200" cap="none" spc="-50" normalizeH="0" baseline="0" noProof="0" dirty="0">
                <a:ln w="3175">
                  <a:noFill/>
                </a:ln>
                <a:solidFill>
                  <a:srgbClr val="000000"/>
                </a:solidFill>
                <a:effectLst/>
                <a:uLnTx/>
                <a:uFillTx/>
                <a:ea typeface="+mn-ea"/>
                <a:cs typeface="Segoe UI"/>
              </a:rPr>
              <a:t>with Microsoft 365 Copilot</a:t>
            </a:r>
            <a:endParaRPr lang="en-CA" sz="3600" noProof="0" dirty="0">
              <a:solidFill>
                <a:schemeClr val="tx1"/>
              </a:solidFill>
            </a:endParaRPr>
          </a:p>
        </p:txBody>
      </p:sp>
      <p:sp>
        <p:nvSpPr>
          <p:cNvPr id="2" name="Title 34">
            <a:extLst>
              <a:ext uri="{FF2B5EF4-FFF2-40B4-BE49-F238E27FC236}">
                <a16:creationId xmlns:a16="http://schemas.microsoft.com/office/drawing/2014/main" id="{4EF50D1C-054A-142E-D1C2-8BE365BDD92A}"/>
              </a:ext>
            </a:extLst>
          </p:cNvPr>
          <p:cNvSpPr>
            <a:spLocks noGrp="1"/>
          </p:cNvSpPr>
          <p:nvPr/>
        </p:nvSpPr>
        <p:spPr>
          <a:xfrm>
            <a:off x="615189" y="1029363"/>
            <a:ext cx="10594360" cy="430212"/>
          </a:xfrm>
          <a:prstGeom prst="rect">
            <a:avLst/>
          </a:prstGeom>
        </p:spPr>
        <p:txBody>
          <a:bodyPr vert="horz" wrap="square" lIns="0" tIns="0" rIns="0" bIns="0" rtlCol="0" anchor="t">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noProof="0">
                <a:ln w="3175">
                  <a:noFill/>
                </a:ln>
                <a:solidFill>
                  <a:srgbClr val="000000"/>
                </a:solidFill>
                <a:effectLst/>
                <a:uLnTx/>
                <a:uFillTx/>
                <a:latin typeface="+mn-lt"/>
                <a:ea typeface="+mn-ea"/>
                <a:cs typeface="Segoe UI"/>
              </a:rPr>
              <a:t>Foundational skills for new users</a:t>
            </a:r>
            <a:endParaRPr kumimoji="0" lang="en-US" sz="2000" b="0" i="0" u="none" strike="noStrike" kern="1200" cap="none" spc="0" normalizeH="0" noProof="0">
              <a:ln w="3175">
                <a:noFill/>
              </a:ln>
              <a:solidFill>
                <a:srgbClr val="000000"/>
              </a:solidFill>
              <a:effectLst/>
              <a:uLnTx/>
              <a:uFillTx/>
              <a:latin typeface="+mn-lt"/>
              <a:ea typeface="+mn-ea"/>
              <a:cs typeface="Segoe UI" pitchFamily="34" charset="0"/>
            </a:endParaRPr>
          </a:p>
        </p:txBody>
      </p:sp>
      <p:grpSp>
        <p:nvGrpSpPr>
          <p:cNvPr id="3" name="Group 2">
            <a:extLst>
              <a:ext uri="{FF2B5EF4-FFF2-40B4-BE49-F238E27FC236}">
                <a16:creationId xmlns:a16="http://schemas.microsoft.com/office/drawing/2014/main" id="{B6736B90-BDB5-E9D1-FB3B-ED6F150926A2}"/>
              </a:ext>
              <a:ext uri="{C183D7F6-B498-43B3-948B-1728B52AA6E4}">
                <adec:decorative xmlns:adec="http://schemas.microsoft.com/office/drawing/2017/decorative" val="1"/>
              </a:ext>
            </a:extLst>
          </p:cNvPr>
          <p:cNvGrpSpPr/>
          <p:nvPr/>
        </p:nvGrpSpPr>
        <p:grpSpPr>
          <a:xfrm>
            <a:off x="505272" y="1463713"/>
            <a:ext cx="2153223" cy="2221428"/>
            <a:chOff x="505272" y="1463713"/>
            <a:chExt cx="2153223" cy="2221428"/>
          </a:xfrm>
        </p:grpSpPr>
        <p:sp>
          <p:nvSpPr>
            <p:cNvPr id="111" name="Rounded Rectangle 1">
              <a:extLst>
                <a:ext uri="{FF2B5EF4-FFF2-40B4-BE49-F238E27FC236}">
                  <a16:creationId xmlns:a16="http://schemas.microsoft.com/office/drawing/2014/main" id="{8DA2CC22-80EC-7260-5797-4C3CDDB05B9F}"/>
                </a:ext>
                <a:ext uri="{C183D7F6-B498-43B3-948B-1728B52AA6E4}">
                  <adec:decorative xmlns:adec="http://schemas.microsoft.com/office/drawing/2017/decorative" val="1"/>
                </a:ext>
              </a:extLst>
            </p:cNvPr>
            <p:cNvSpPr/>
            <p:nvPr/>
          </p:nvSpPr>
          <p:spPr bwMode="auto">
            <a:xfrm>
              <a:off x="505272" y="1463713"/>
              <a:ext cx="2153223" cy="2221428"/>
            </a:xfrm>
            <a:prstGeom prst="roundRect">
              <a:avLst>
                <a:gd name="adj" fmla="val 2901"/>
              </a:avLst>
            </a:prstGeom>
            <a:solidFill>
              <a:schemeClr val="bg1">
                <a:alpha val="70000"/>
              </a:schemeClr>
            </a:solidFill>
            <a:ln>
              <a:noFill/>
              <a:headEnd type="none" w="med" len="med"/>
              <a:tailEnd type="none" w="med" len="med"/>
            </a:ln>
            <a:effectLst>
              <a:outerShdw blurRad="63500" dist="127000" dir="2700000" algn="tl" rotWithShape="0">
                <a:srgbClr val="454142">
                  <a:alpha val="1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ea typeface="+mn-ea"/>
                <a:cs typeface="Segoe UI" pitchFamily="34" charset="0"/>
              </a:endParaRPr>
            </a:p>
          </p:txBody>
        </p:sp>
        <p:sp>
          <p:nvSpPr>
            <p:cNvPr id="112" name="TextBox 19">
              <a:extLst>
                <a:ext uri="{FF2B5EF4-FFF2-40B4-BE49-F238E27FC236}">
                  <a16:creationId xmlns:a16="http://schemas.microsoft.com/office/drawing/2014/main" id="{5E31174D-9FE0-9C57-5C69-AB32C7491FDE}"/>
                </a:ext>
              </a:extLst>
            </p:cNvPr>
            <p:cNvSpPr txBox="1"/>
            <p:nvPr/>
          </p:nvSpPr>
          <p:spPr>
            <a:xfrm>
              <a:off x="626192" y="1957766"/>
              <a:ext cx="1922209" cy="1077218"/>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400" i="0" u="none" strike="noStrike" kern="1200" cap="none" spc="0" normalizeH="0" baseline="0" noProof="0">
                  <a:ln>
                    <a:noFill/>
                  </a:ln>
                  <a:solidFill>
                    <a:schemeClr val="accent4"/>
                  </a:solidFill>
                  <a:effectLst/>
                  <a:uLnTx/>
                  <a:uFillTx/>
                  <a:latin typeface="+mj-lt"/>
                  <a:ea typeface="+mn-ea"/>
                  <a:cs typeface="Segoe UI Semibold" panose="020B0502040204020203" pitchFamily="34" charset="0"/>
                </a:rPr>
                <a:t>Recap a meeting</a:t>
              </a:r>
              <a:br>
                <a:rPr kumimoji="0" lang="en-US" sz="1400" b="1" i="0" u="none" strike="noStrike" kern="1200" cap="none" spc="0" normalizeH="0" baseline="0" noProof="0">
                  <a:ln>
                    <a:noFill/>
                  </a:ln>
                  <a:solidFill>
                    <a:srgbClr val="8661C5"/>
                  </a:solidFill>
                  <a:effectLst/>
                  <a:uLnTx/>
                  <a:uFillTx/>
                  <a:ea typeface="+mn-ea"/>
                  <a:cs typeface="Segoe UI Semibold" panose="020B0502040204020203" pitchFamily="34" charset="0"/>
                </a:rPr>
              </a:br>
              <a:r>
                <a:rPr kumimoji="0" lang="en-US" sz="1000" b="0" i="0" u="none" strike="noStrike" kern="1200" cap="none" spc="0" normalizeH="0" baseline="0" noProof="0">
                  <a:ln>
                    <a:noFill/>
                  </a:ln>
                  <a:solidFill>
                    <a:prstClr val="black"/>
                  </a:solidFill>
                  <a:effectLst/>
                  <a:uLnTx/>
                  <a:uFillTx/>
                  <a:ea typeface="+mn-ea"/>
                  <a:cs typeface="+mn-cs"/>
                </a:rPr>
                <a:t>– Let Copilot keep track of key topics and action items so you can stay focused during the meeting and avoid listening to the recording after.</a:t>
              </a:r>
              <a:endParaRPr kumimoji="0" lang="en-US" sz="1200" b="0" i="0" u="none" strike="noStrike" kern="1200" cap="none" spc="0" normalizeH="0" baseline="0" noProof="0">
                <a:ln>
                  <a:noFill/>
                </a:ln>
                <a:solidFill>
                  <a:prstClr val="black"/>
                </a:solidFill>
                <a:effectLst/>
                <a:uLnTx/>
                <a:uFillTx/>
                <a:ea typeface="+mn-ea"/>
                <a:cs typeface="+mn-cs"/>
              </a:endParaRPr>
            </a:p>
          </p:txBody>
        </p:sp>
        <p:sp>
          <p:nvSpPr>
            <p:cNvPr id="113" name="TextBox 1">
              <a:extLst>
                <a:ext uri="{FF2B5EF4-FFF2-40B4-BE49-F238E27FC236}">
                  <a16:creationId xmlns:a16="http://schemas.microsoft.com/office/drawing/2014/main" id="{3F31713F-7599-1164-9E6B-AEFC2B34F335}"/>
                </a:ext>
              </a:extLst>
            </p:cNvPr>
            <p:cNvSpPr txBox="1"/>
            <p:nvPr/>
          </p:nvSpPr>
          <p:spPr>
            <a:xfrm>
              <a:off x="2318337" y="1463713"/>
              <a:ext cx="340158" cy="52322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0000"/>
                  </a:solidFill>
                  <a:effectLst/>
                  <a:uLnTx/>
                  <a:uFillTx/>
                  <a:ea typeface="+mn-ea"/>
                  <a:cs typeface="Segoe UI"/>
                </a:rPr>
                <a:t>1</a:t>
              </a:r>
            </a:p>
          </p:txBody>
        </p:sp>
        <p:pic>
          <p:nvPicPr>
            <p:cNvPr id="114" name="Picture 113" descr="A logo of a company&#10;&#10;Description automatically generated">
              <a:extLst>
                <a:ext uri="{FF2B5EF4-FFF2-40B4-BE49-F238E27FC236}">
                  <a16:creationId xmlns:a16="http://schemas.microsoft.com/office/drawing/2014/main" id="{301C1C7A-9A5E-44B2-A474-10F2D26C378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97684" y="1612148"/>
              <a:ext cx="318387" cy="296130"/>
            </a:xfrm>
            <a:prstGeom prst="rect">
              <a:avLst/>
            </a:prstGeom>
          </p:spPr>
        </p:pic>
        <p:sp>
          <p:nvSpPr>
            <p:cNvPr id="115" name="TextBox 37">
              <a:extLst>
                <a:ext uri="{FF2B5EF4-FFF2-40B4-BE49-F238E27FC236}">
                  <a16:creationId xmlns:a16="http://schemas.microsoft.com/office/drawing/2014/main" id="{A7CC5D06-F6BC-0CFF-D489-96D38F400E9A}"/>
                </a:ext>
              </a:extLst>
            </p:cNvPr>
            <p:cNvSpPr txBox="1"/>
            <p:nvPr/>
          </p:nvSpPr>
          <p:spPr>
            <a:xfrm>
              <a:off x="827732" y="3171742"/>
              <a:ext cx="1549719" cy="338554"/>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mn-cs"/>
                </a:rPr>
                <a:t>Draft an email with notes and action items from</a:t>
              </a:r>
              <a:r>
                <a:rPr kumimoji="0" lang="en-US" sz="800" b="0" i="0" u="none" strike="noStrike" kern="1200" cap="none" spc="0" normalizeH="0" baseline="0" noProof="0">
                  <a:ln>
                    <a:noFill/>
                  </a:ln>
                  <a:solidFill>
                    <a:srgbClr val="463668"/>
                  </a:solidFill>
                  <a:effectLst/>
                  <a:uLnTx/>
                  <a:uFillTx/>
                  <a:ea typeface="+mn-ea"/>
                  <a:cs typeface="+mn-cs"/>
                </a:rPr>
                <a:t> meeting.</a:t>
              </a:r>
              <a:endParaRPr kumimoji="0" lang="en-US" sz="1050" b="0" i="0" u="none" strike="noStrike" kern="1200" cap="none" spc="0" normalizeH="0" baseline="0" noProof="0">
                <a:ln>
                  <a:noFill/>
                </a:ln>
                <a:solidFill>
                  <a:srgbClr val="463668"/>
                </a:solidFill>
                <a:effectLst/>
                <a:uLnTx/>
                <a:uFillTx/>
                <a:ea typeface="+mn-ea"/>
                <a:cs typeface="+mn-cs"/>
              </a:endParaRPr>
            </a:p>
          </p:txBody>
        </p:sp>
        <p:pic>
          <p:nvPicPr>
            <p:cNvPr id="116" name="Graphic 38">
              <a:extLst>
                <a:ext uri="{FF2B5EF4-FFF2-40B4-BE49-F238E27FC236}">
                  <a16:creationId xmlns:a16="http://schemas.microsoft.com/office/drawing/2014/main" id="{62E8FC91-9535-A8C5-934C-8ED62C1B75A0}"/>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00506" y="3201363"/>
              <a:ext cx="163426" cy="163426"/>
            </a:xfrm>
            <a:prstGeom prst="rect">
              <a:avLst/>
            </a:prstGeom>
          </p:spPr>
        </p:pic>
      </p:grpSp>
      <p:grpSp>
        <p:nvGrpSpPr>
          <p:cNvPr id="46" name="Group 45">
            <a:extLst>
              <a:ext uri="{FF2B5EF4-FFF2-40B4-BE49-F238E27FC236}">
                <a16:creationId xmlns:a16="http://schemas.microsoft.com/office/drawing/2014/main" id="{BC6877D7-A943-6257-D723-1C6E69046304}"/>
              </a:ext>
              <a:ext uri="{C183D7F6-B498-43B3-948B-1728B52AA6E4}">
                <adec:decorative xmlns:adec="http://schemas.microsoft.com/office/drawing/2017/decorative" val="1"/>
              </a:ext>
            </a:extLst>
          </p:cNvPr>
          <p:cNvGrpSpPr/>
          <p:nvPr/>
        </p:nvGrpSpPr>
        <p:grpSpPr>
          <a:xfrm>
            <a:off x="2766319" y="1463713"/>
            <a:ext cx="2153223" cy="2221428"/>
            <a:chOff x="2766319" y="1463713"/>
            <a:chExt cx="2153223" cy="2221428"/>
          </a:xfrm>
        </p:grpSpPr>
        <p:sp>
          <p:nvSpPr>
            <p:cNvPr id="105" name="Rounded Rectangle 1">
              <a:extLst>
                <a:ext uri="{FF2B5EF4-FFF2-40B4-BE49-F238E27FC236}">
                  <a16:creationId xmlns:a16="http://schemas.microsoft.com/office/drawing/2014/main" id="{3BF57255-97D8-2143-312F-06BE5A239045}"/>
                </a:ext>
                <a:ext uri="{C183D7F6-B498-43B3-948B-1728B52AA6E4}">
                  <adec:decorative xmlns:adec="http://schemas.microsoft.com/office/drawing/2017/decorative" val="1"/>
                </a:ext>
              </a:extLst>
            </p:cNvPr>
            <p:cNvSpPr/>
            <p:nvPr/>
          </p:nvSpPr>
          <p:spPr bwMode="auto">
            <a:xfrm>
              <a:off x="2766319" y="1463713"/>
              <a:ext cx="2153223" cy="2221428"/>
            </a:xfrm>
            <a:prstGeom prst="roundRect">
              <a:avLst>
                <a:gd name="adj" fmla="val 2901"/>
              </a:avLst>
            </a:prstGeom>
            <a:solidFill>
              <a:schemeClr val="bg1">
                <a:alpha val="70000"/>
              </a:schemeClr>
            </a:solidFill>
            <a:ln>
              <a:noFill/>
              <a:headEnd type="none" w="med" len="med"/>
              <a:tailEnd type="none" w="med" len="med"/>
            </a:ln>
            <a:effectLst>
              <a:outerShdw blurRad="63500" dist="127000" dir="2700000" algn="tl" rotWithShape="0">
                <a:srgbClr val="454142">
                  <a:alpha val="1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ea typeface="+mn-ea"/>
                <a:cs typeface="Segoe UI" pitchFamily="34" charset="0"/>
              </a:endParaRPr>
            </a:p>
          </p:txBody>
        </p:sp>
        <p:sp>
          <p:nvSpPr>
            <p:cNvPr id="106" name="TextBox 45">
              <a:extLst>
                <a:ext uri="{FF2B5EF4-FFF2-40B4-BE49-F238E27FC236}">
                  <a16:creationId xmlns:a16="http://schemas.microsoft.com/office/drawing/2014/main" id="{28571CE6-5C70-E911-C95B-E7FBD2DF145D}"/>
                </a:ext>
              </a:extLst>
            </p:cNvPr>
            <p:cNvSpPr txBox="1"/>
            <p:nvPr/>
          </p:nvSpPr>
          <p:spPr>
            <a:xfrm>
              <a:off x="2887239" y="1957766"/>
              <a:ext cx="1859859" cy="88229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lang="en-US" sz="1400">
                  <a:solidFill>
                    <a:schemeClr val="accent4"/>
                  </a:solidFill>
                  <a:latin typeface="+mj-lt"/>
                  <a:cs typeface="Segoe UI Semibold" panose="020B0502040204020203" pitchFamily="34" charset="0"/>
                </a:rPr>
                <a:t>Summarize an </a:t>
              </a:r>
              <a:br>
                <a:rPr lang="en-US" sz="1400">
                  <a:solidFill>
                    <a:schemeClr val="accent4"/>
                  </a:solidFill>
                  <a:latin typeface="+mj-lt"/>
                  <a:cs typeface="Segoe UI Semibold" panose="020B0502040204020203" pitchFamily="34" charset="0"/>
                </a:rPr>
              </a:br>
              <a:r>
                <a:rPr lang="en-US" sz="1400">
                  <a:solidFill>
                    <a:schemeClr val="accent4"/>
                  </a:solidFill>
                  <a:latin typeface="+mj-lt"/>
                  <a:cs typeface="Segoe UI Semibold" panose="020B0502040204020203" pitchFamily="34" charset="0"/>
                </a:rPr>
                <a:t>email thread </a:t>
              </a:r>
            </a:p>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mn-cs"/>
                </a:rPr>
                <a:t>– Get quickly caught up </a:t>
              </a:r>
              <a:r>
                <a:rPr lang="en-US" sz="1000">
                  <a:solidFill>
                    <a:prstClr val="black"/>
                  </a:solidFill>
                </a:rPr>
                <a:t>with</a:t>
              </a:r>
              <a:r>
                <a:rPr kumimoji="0" lang="en-US" sz="1000" b="0" i="0" u="none" strike="noStrike" kern="1200" cap="none" spc="0" normalizeH="0" baseline="0" noProof="0">
                  <a:ln>
                    <a:noFill/>
                  </a:ln>
                  <a:solidFill>
                    <a:prstClr val="black"/>
                  </a:solidFill>
                  <a:effectLst/>
                  <a:uLnTx/>
                  <a:uFillTx/>
                  <a:ea typeface="+mn-ea"/>
                  <a:cs typeface="+mn-cs"/>
                </a:rPr>
                <a:t> a long, complex email thread.</a:t>
              </a:r>
            </a:p>
          </p:txBody>
        </p:sp>
        <p:sp>
          <p:nvSpPr>
            <p:cNvPr id="107" name="TextBox 2">
              <a:extLst>
                <a:ext uri="{FF2B5EF4-FFF2-40B4-BE49-F238E27FC236}">
                  <a16:creationId xmlns:a16="http://schemas.microsoft.com/office/drawing/2014/main" id="{5539DA7A-A479-46A1-C0DB-D07595F9BA9E}"/>
                </a:ext>
              </a:extLst>
            </p:cNvPr>
            <p:cNvSpPr txBox="1"/>
            <p:nvPr/>
          </p:nvSpPr>
          <p:spPr>
            <a:xfrm>
              <a:off x="4528088" y="1463713"/>
              <a:ext cx="391454" cy="52322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0000"/>
                  </a:solidFill>
                  <a:effectLst/>
                  <a:uLnTx/>
                  <a:uFillTx/>
                  <a:ea typeface="+mn-ea"/>
                  <a:cs typeface="Segoe UI"/>
                </a:rPr>
                <a:t>2</a:t>
              </a:r>
            </a:p>
          </p:txBody>
        </p:sp>
        <p:pic>
          <p:nvPicPr>
            <p:cNvPr id="108" name="Picture 107" descr="A blue square with a letter o&#10;&#10;Description automatically generated">
              <a:extLst>
                <a:ext uri="{FF2B5EF4-FFF2-40B4-BE49-F238E27FC236}">
                  <a16:creationId xmlns:a16="http://schemas.microsoft.com/office/drawing/2014/main" id="{11D76BA5-1B39-F310-E3A8-D6383F8B8312}"/>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985814" y="1619990"/>
              <a:ext cx="301524" cy="280446"/>
            </a:xfrm>
            <a:prstGeom prst="rect">
              <a:avLst/>
            </a:prstGeom>
          </p:spPr>
        </p:pic>
        <p:sp>
          <p:nvSpPr>
            <p:cNvPr id="109" name="TextBox 39">
              <a:extLst>
                <a:ext uri="{FF2B5EF4-FFF2-40B4-BE49-F238E27FC236}">
                  <a16:creationId xmlns:a16="http://schemas.microsoft.com/office/drawing/2014/main" id="{B2591651-A27E-3469-E87B-301996FC0823}"/>
                </a:ext>
              </a:extLst>
            </p:cNvPr>
            <p:cNvSpPr txBox="1"/>
            <p:nvPr/>
          </p:nvSpPr>
          <p:spPr>
            <a:xfrm>
              <a:off x="3085792" y="3171742"/>
              <a:ext cx="1549719" cy="21544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mn-cs"/>
                </a:rPr>
                <a:t>Click the Summarize icon.</a:t>
              </a:r>
              <a:endParaRPr kumimoji="0" lang="en-US" sz="1050" b="0" i="0" u="none" strike="noStrike" kern="1200" cap="none" spc="0" normalizeH="0" baseline="0" noProof="0">
                <a:ln>
                  <a:noFill/>
                </a:ln>
                <a:solidFill>
                  <a:prstClr val="black"/>
                </a:solidFill>
                <a:effectLst/>
                <a:uLnTx/>
                <a:uFillTx/>
                <a:ea typeface="+mn-ea"/>
                <a:cs typeface="+mn-cs"/>
              </a:endParaRPr>
            </a:p>
          </p:txBody>
        </p:sp>
        <p:pic>
          <p:nvPicPr>
            <p:cNvPr id="110" name="Graphic 40">
              <a:extLst>
                <a:ext uri="{FF2B5EF4-FFF2-40B4-BE49-F238E27FC236}">
                  <a16:creationId xmlns:a16="http://schemas.microsoft.com/office/drawing/2014/main" id="{B62054DC-91C2-7E86-D757-AF1BAD1B050F}"/>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958566" y="3201363"/>
              <a:ext cx="163426" cy="163426"/>
            </a:xfrm>
            <a:prstGeom prst="rect">
              <a:avLst/>
            </a:prstGeom>
          </p:spPr>
        </p:pic>
      </p:grpSp>
      <p:grpSp>
        <p:nvGrpSpPr>
          <p:cNvPr id="47" name="Group 46">
            <a:extLst>
              <a:ext uri="{FF2B5EF4-FFF2-40B4-BE49-F238E27FC236}">
                <a16:creationId xmlns:a16="http://schemas.microsoft.com/office/drawing/2014/main" id="{7D2FF1C3-2CC3-6F84-6243-A6D2D9C93C3D}"/>
              </a:ext>
              <a:ext uri="{C183D7F6-B498-43B3-948B-1728B52AA6E4}">
                <adec:decorative xmlns:adec="http://schemas.microsoft.com/office/drawing/2017/decorative" val="1"/>
              </a:ext>
            </a:extLst>
          </p:cNvPr>
          <p:cNvGrpSpPr/>
          <p:nvPr/>
        </p:nvGrpSpPr>
        <p:grpSpPr>
          <a:xfrm>
            <a:off x="7288413" y="1463713"/>
            <a:ext cx="2153223" cy="2221428"/>
            <a:chOff x="7288413" y="1463713"/>
            <a:chExt cx="2153223" cy="2221428"/>
          </a:xfrm>
        </p:grpSpPr>
        <p:sp>
          <p:nvSpPr>
            <p:cNvPr id="99" name="Rounded Rectangle 1">
              <a:extLst>
                <a:ext uri="{FF2B5EF4-FFF2-40B4-BE49-F238E27FC236}">
                  <a16:creationId xmlns:a16="http://schemas.microsoft.com/office/drawing/2014/main" id="{F416E7D1-4882-AA85-DED7-A89777B1C87E}"/>
                </a:ext>
                <a:ext uri="{C183D7F6-B498-43B3-948B-1728B52AA6E4}">
                  <adec:decorative xmlns:adec="http://schemas.microsoft.com/office/drawing/2017/decorative" val="1"/>
                </a:ext>
              </a:extLst>
            </p:cNvPr>
            <p:cNvSpPr/>
            <p:nvPr/>
          </p:nvSpPr>
          <p:spPr bwMode="auto">
            <a:xfrm>
              <a:off x="7288413" y="1463713"/>
              <a:ext cx="2153223" cy="2221428"/>
            </a:xfrm>
            <a:prstGeom prst="roundRect">
              <a:avLst>
                <a:gd name="adj" fmla="val 2901"/>
              </a:avLst>
            </a:prstGeom>
            <a:solidFill>
              <a:schemeClr val="bg1">
                <a:alpha val="70000"/>
              </a:schemeClr>
            </a:solidFill>
            <a:ln>
              <a:noFill/>
              <a:headEnd type="none" w="med" len="med"/>
              <a:tailEnd type="none" w="med" len="med"/>
            </a:ln>
            <a:effectLst>
              <a:outerShdw blurRad="63500" dist="127000" dir="2700000" algn="tl" rotWithShape="0">
                <a:srgbClr val="454142">
                  <a:alpha val="1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ea typeface="+mn-ea"/>
                <a:cs typeface="Segoe UI" pitchFamily="34" charset="0"/>
              </a:endParaRPr>
            </a:p>
          </p:txBody>
        </p:sp>
        <p:sp>
          <p:nvSpPr>
            <p:cNvPr id="100" name="TextBox 53">
              <a:extLst>
                <a:ext uri="{FF2B5EF4-FFF2-40B4-BE49-F238E27FC236}">
                  <a16:creationId xmlns:a16="http://schemas.microsoft.com/office/drawing/2014/main" id="{3FDDF2BD-1775-C987-49BE-5364A0DB5793}"/>
                </a:ext>
              </a:extLst>
            </p:cNvPr>
            <p:cNvSpPr txBox="1"/>
            <p:nvPr/>
          </p:nvSpPr>
          <p:spPr>
            <a:xfrm>
              <a:off x="7409333" y="1957766"/>
              <a:ext cx="1814387" cy="119006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fontAlgn="auto">
                <a:lnSpc>
                  <a:spcPct val="100000"/>
                </a:lnSpc>
                <a:spcBef>
                  <a:spcPts val="200"/>
                </a:spcBef>
                <a:spcAft>
                  <a:spcPts val="200"/>
                </a:spcAft>
                <a:buClrTx/>
                <a:buSzTx/>
                <a:buFontTx/>
                <a:buNone/>
                <a:tabLst/>
                <a:defRPr/>
              </a:pPr>
              <a:r>
                <a:rPr lang="en-US" sz="1400">
                  <a:solidFill>
                    <a:schemeClr val="accent4"/>
                  </a:solidFill>
                  <a:latin typeface="+mj-lt"/>
                  <a:cs typeface="Segoe UI Semibold" panose="020B0502040204020203" pitchFamily="34" charset="0"/>
                </a:rPr>
                <a:t>Summarize a document </a:t>
              </a:r>
            </a:p>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mn-cs"/>
                </a:rPr>
                <a:t>– Get right down to business by summarizing long documents and focusing </a:t>
              </a:r>
              <a:br>
                <a:rPr kumimoji="0" lang="en-US" sz="1000" b="0" i="0" u="none" strike="noStrike" kern="1200" cap="none" spc="0" normalizeH="0" baseline="0" noProof="0">
                  <a:ln>
                    <a:noFill/>
                  </a:ln>
                  <a:solidFill>
                    <a:prstClr val="black"/>
                  </a:solidFill>
                  <a:effectLst/>
                  <a:uLnTx/>
                  <a:uFillTx/>
                  <a:ea typeface="+mn-ea"/>
                  <a:cs typeface="+mn-cs"/>
                </a:rPr>
              </a:br>
              <a:r>
                <a:rPr kumimoji="0" lang="en-US" sz="1000" b="0" i="0" u="none" strike="noStrike" kern="1200" cap="none" spc="0" normalizeH="0" baseline="0" noProof="0">
                  <a:ln>
                    <a:noFill/>
                  </a:ln>
                  <a:solidFill>
                    <a:prstClr val="black"/>
                  </a:solidFill>
                  <a:effectLst/>
                  <a:uLnTx/>
                  <a:uFillTx/>
                  <a:ea typeface="+mn-ea"/>
                  <a:cs typeface="+mn-cs"/>
                </a:rPr>
                <a:t>on the relevant sections.</a:t>
              </a:r>
            </a:p>
          </p:txBody>
        </p:sp>
        <p:sp>
          <p:nvSpPr>
            <p:cNvPr id="101" name="TextBox 5">
              <a:extLst>
                <a:ext uri="{FF2B5EF4-FFF2-40B4-BE49-F238E27FC236}">
                  <a16:creationId xmlns:a16="http://schemas.microsoft.com/office/drawing/2014/main" id="{3F3B948A-BD26-1C50-E43F-79F5DEFF792C}"/>
                </a:ext>
              </a:extLst>
            </p:cNvPr>
            <p:cNvSpPr txBox="1"/>
            <p:nvPr/>
          </p:nvSpPr>
          <p:spPr>
            <a:xfrm>
              <a:off x="9050182" y="1463713"/>
              <a:ext cx="391454" cy="52322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0000"/>
                  </a:solidFill>
                  <a:effectLst/>
                  <a:uLnTx/>
                  <a:uFillTx/>
                  <a:ea typeface="+mn-ea"/>
                  <a:cs typeface="Segoe UI"/>
                </a:rPr>
                <a:t>4</a:t>
              </a:r>
            </a:p>
          </p:txBody>
        </p:sp>
        <p:pic>
          <p:nvPicPr>
            <p:cNvPr id="102" name="Picture 101">
              <a:extLst>
                <a:ext uri="{FF2B5EF4-FFF2-40B4-BE49-F238E27FC236}">
                  <a16:creationId xmlns:a16="http://schemas.microsoft.com/office/drawing/2014/main" id="{ADB43BA0-7E69-FE03-1F2C-52E00D13AFE7}"/>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7483196" y="1619990"/>
              <a:ext cx="318387" cy="280446"/>
            </a:xfrm>
            <a:prstGeom prst="rect">
              <a:avLst/>
            </a:prstGeom>
          </p:spPr>
        </p:pic>
        <p:sp>
          <p:nvSpPr>
            <p:cNvPr id="103" name="TextBox 44">
              <a:extLst>
                <a:ext uri="{FF2B5EF4-FFF2-40B4-BE49-F238E27FC236}">
                  <a16:creationId xmlns:a16="http://schemas.microsoft.com/office/drawing/2014/main" id="{BDEFC89D-A942-BFA8-EAE8-43445CFC2413}"/>
                </a:ext>
              </a:extLst>
            </p:cNvPr>
            <p:cNvSpPr txBox="1"/>
            <p:nvPr/>
          </p:nvSpPr>
          <p:spPr>
            <a:xfrm>
              <a:off x="7602300" y="3171742"/>
              <a:ext cx="1340058" cy="338554"/>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mn-cs"/>
                </a:rPr>
                <a:t>Give me a bulleted list of key points from the </a:t>
              </a:r>
              <a:r>
                <a:rPr kumimoji="0" lang="en-US" sz="800" b="0" i="0" u="none" strike="noStrike" kern="1200" cap="none" spc="0" normalizeH="0" baseline="0" noProof="0">
                  <a:ln>
                    <a:noFill/>
                  </a:ln>
                  <a:solidFill>
                    <a:srgbClr val="463668"/>
                  </a:solidFill>
                  <a:effectLst/>
                  <a:uLnTx/>
                  <a:uFillTx/>
                  <a:ea typeface="+mn-ea"/>
                  <a:cs typeface="+mn-cs"/>
                </a:rPr>
                <a:t>file.</a:t>
              </a:r>
            </a:p>
          </p:txBody>
        </p:sp>
        <p:pic>
          <p:nvPicPr>
            <p:cNvPr id="104" name="Graphic 46">
              <a:extLst>
                <a:ext uri="{FF2B5EF4-FFF2-40B4-BE49-F238E27FC236}">
                  <a16:creationId xmlns:a16="http://schemas.microsoft.com/office/drawing/2014/main" id="{D402084C-DA8C-FFB6-ED67-C3D35E381E0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475073" y="3201363"/>
              <a:ext cx="163426" cy="163426"/>
            </a:xfrm>
            <a:prstGeom prst="rect">
              <a:avLst/>
            </a:prstGeom>
          </p:spPr>
        </p:pic>
      </p:grpSp>
      <p:grpSp>
        <p:nvGrpSpPr>
          <p:cNvPr id="48" name="Group 47">
            <a:extLst>
              <a:ext uri="{FF2B5EF4-FFF2-40B4-BE49-F238E27FC236}">
                <a16:creationId xmlns:a16="http://schemas.microsoft.com/office/drawing/2014/main" id="{33B643B3-399D-DE7C-B363-FCC4ED39BE39}"/>
              </a:ext>
              <a:ext uri="{C183D7F6-B498-43B3-948B-1728B52AA6E4}">
                <adec:decorative xmlns:adec="http://schemas.microsoft.com/office/drawing/2017/decorative" val="1"/>
              </a:ext>
            </a:extLst>
          </p:cNvPr>
          <p:cNvGrpSpPr/>
          <p:nvPr/>
        </p:nvGrpSpPr>
        <p:grpSpPr>
          <a:xfrm>
            <a:off x="9549461" y="1463713"/>
            <a:ext cx="2261048" cy="2221428"/>
            <a:chOff x="9549461" y="1463713"/>
            <a:chExt cx="2261048" cy="2221428"/>
          </a:xfrm>
        </p:grpSpPr>
        <p:sp>
          <p:nvSpPr>
            <p:cNvPr id="93" name="Rounded Rectangle 1">
              <a:extLst>
                <a:ext uri="{FF2B5EF4-FFF2-40B4-BE49-F238E27FC236}">
                  <a16:creationId xmlns:a16="http://schemas.microsoft.com/office/drawing/2014/main" id="{7D5EBB9E-45AD-0BAB-B9E5-A79A371B818C}"/>
                </a:ext>
                <a:ext uri="{C183D7F6-B498-43B3-948B-1728B52AA6E4}">
                  <adec:decorative xmlns:adec="http://schemas.microsoft.com/office/drawing/2017/decorative" val="1"/>
                </a:ext>
              </a:extLst>
            </p:cNvPr>
            <p:cNvSpPr/>
            <p:nvPr/>
          </p:nvSpPr>
          <p:spPr bwMode="auto">
            <a:xfrm>
              <a:off x="9549461" y="1463713"/>
              <a:ext cx="2153223" cy="2221428"/>
            </a:xfrm>
            <a:prstGeom prst="roundRect">
              <a:avLst>
                <a:gd name="adj" fmla="val 2901"/>
              </a:avLst>
            </a:prstGeom>
            <a:solidFill>
              <a:schemeClr val="bg1">
                <a:alpha val="70000"/>
              </a:schemeClr>
            </a:solidFill>
            <a:ln>
              <a:noFill/>
              <a:headEnd type="none" w="med" len="med"/>
              <a:tailEnd type="none" w="med" len="med"/>
            </a:ln>
            <a:effectLst>
              <a:outerShdw blurRad="63500" dist="127000" dir="2700000" algn="tl" rotWithShape="0">
                <a:srgbClr val="454142">
                  <a:alpha val="1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ea typeface="+mn-ea"/>
                <a:cs typeface="Segoe UI" pitchFamily="34" charset="0"/>
              </a:endParaRPr>
            </a:p>
          </p:txBody>
        </p:sp>
        <p:sp>
          <p:nvSpPr>
            <p:cNvPr id="94" name="TextBox 57">
              <a:extLst>
                <a:ext uri="{FF2B5EF4-FFF2-40B4-BE49-F238E27FC236}">
                  <a16:creationId xmlns:a16="http://schemas.microsoft.com/office/drawing/2014/main" id="{DB64048F-37F7-62E9-647E-C4483A22B5AA}"/>
                </a:ext>
              </a:extLst>
            </p:cNvPr>
            <p:cNvSpPr txBox="1"/>
            <p:nvPr/>
          </p:nvSpPr>
          <p:spPr>
            <a:xfrm>
              <a:off x="9670382" y="1957766"/>
              <a:ext cx="1895426" cy="103618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200"/>
                </a:spcBef>
                <a:spcAft>
                  <a:spcPts val="200"/>
                </a:spcAft>
                <a:defRPr/>
              </a:pPr>
              <a:r>
                <a:rPr lang="en-US" sz="1400">
                  <a:solidFill>
                    <a:schemeClr val="accent4"/>
                  </a:solidFill>
                  <a:latin typeface="+mj-lt"/>
                  <a:cs typeface="Segoe UI Semibold" panose="020B0502040204020203" pitchFamily="34" charset="0"/>
                </a:rPr>
                <a:t>Tell me about a topic/project </a:t>
              </a:r>
            </a:p>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mn-cs"/>
                </a:rPr>
                <a:t>– Provide insights and analysis from across multiple sources to get up to speed quickly.</a:t>
              </a:r>
            </a:p>
          </p:txBody>
        </p:sp>
        <p:sp>
          <p:nvSpPr>
            <p:cNvPr id="95" name="TextBox 6">
              <a:extLst>
                <a:ext uri="{FF2B5EF4-FFF2-40B4-BE49-F238E27FC236}">
                  <a16:creationId xmlns:a16="http://schemas.microsoft.com/office/drawing/2014/main" id="{36487B07-29F3-118B-39AB-51AE75816EB4}"/>
                </a:ext>
              </a:extLst>
            </p:cNvPr>
            <p:cNvSpPr txBox="1"/>
            <p:nvPr/>
          </p:nvSpPr>
          <p:spPr>
            <a:xfrm>
              <a:off x="11311230" y="1463713"/>
              <a:ext cx="391454" cy="52322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0000"/>
                  </a:solidFill>
                  <a:effectLst/>
                  <a:uLnTx/>
                  <a:uFillTx/>
                  <a:ea typeface="+mn-ea"/>
                  <a:cs typeface="Segoe UI"/>
                </a:rPr>
                <a:t>5</a:t>
              </a:r>
            </a:p>
          </p:txBody>
        </p:sp>
        <p:pic>
          <p:nvPicPr>
            <p:cNvPr id="96" name="Picture 95">
              <a:extLst>
                <a:ext uri="{FF2B5EF4-FFF2-40B4-BE49-F238E27FC236}">
                  <a16:creationId xmlns:a16="http://schemas.microsoft.com/office/drawing/2014/main" id="{F0D613E1-55EC-03EC-149B-E26495436A87}"/>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9740013" y="1619990"/>
              <a:ext cx="318387" cy="280446"/>
            </a:xfrm>
            <a:prstGeom prst="rect">
              <a:avLst/>
            </a:prstGeom>
          </p:spPr>
        </p:pic>
        <p:sp>
          <p:nvSpPr>
            <p:cNvPr id="97" name="TextBox 48">
              <a:extLst>
                <a:ext uri="{FF2B5EF4-FFF2-40B4-BE49-F238E27FC236}">
                  <a16:creationId xmlns:a16="http://schemas.microsoft.com/office/drawing/2014/main" id="{31A3A63C-23A1-503B-29A7-E22B8018F27D}"/>
                </a:ext>
              </a:extLst>
            </p:cNvPr>
            <p:cNvSpPr txBox="1"/>
            <p:nvPr/>
          </p:nvSpPr>
          <p:spPr>
            <a:xfrm>
              <a:off x="9866807" y="3171742"/>
              <a:ext cx="1943702" cy="338554"/>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mn-cs"/>
                </a:rPr>
                <a:t>Tell me what’s new about</a:t>
              </a:r>
              <a:r>
                <a:rPr kumimoji="0" lang="en-US" sz="800" b="0" i="0" u="none" strike="noStrike" kern="1200" cap="none" spc="0" normalizeH="0" baseline="0" noProof="0">
                  <a:ln>
                    <a:noFill/>
                  </a:ln>
                  <a:solidFill>
                    <a:srgbClr val="463668"/>
                  </a:solidFill>
                  <a:effectLst/>
                  <a:uLnTx/>
                  <a:uFillTx/>
                  <a:ea typeface="+mn-ea"/>
                  <a:cs typeface="+mn-cs"/>
                </a:rPr>
                <a:t> topic</a:t>
              </a:r>
              <a:r>
                <a:rPr kumimoji="0" lang="en-US" sz="800" b="0" i="0" u="none" strike="noStrike" kern="1200" cap="none" spc="0" normalizeH="0" baseline="0" noProof="0">
                  <a:ln>
                    <a:noFill/>
                  </a:ln>
                  <a:solidFill>
                    <a:prstClr val="black"/>
                  </a:solidFill>
                  <a:effectLst/>
                  <a:uLnTx/>
                  <a:uFillTx/>
                  <a:ea typeface="+mn-ea"/>
                  <a:cs typeface="+mn-cs"/>
                </a:rPr>
                <a:t> organized by emails, chats, and files.</a:t>
              </a:r>
              <a:endParaRPr kumimoji="0" lang="en-US" sz="1050" b="0" i="0" u="none" strike="noStrike" kern="1200" cap="none" spc="0" normalizeH="0" baseline="0" noProof="0">
                <a:ln>
                  <a:noFill/>
                </a:ln>
                <a:solidFill>
                  <a:prstClr val="black"/>
                </a:solidFill>
                <a:effectLst/>
                <a:uLnTx/>
                <a:uFillTx/>
                <a:ea typeface="+mn-ea"/>
                <a:cs typeface="+mn-cs"/>
              </a:endParaRPr>
            </a:p>
          </p:txBody>
        </p:sp>
        <p:pic>
          <p:nvPicPr>
            <p:cNvPr id="98" name="Graphic 50">
              <a:extLst>
                <a:ext uri="{FF2B5EF4-FFF2-40B4-BE49-F238E27FC236}">
                  <a16:creationId xmlns:a16="http://schemas.microsoft.com/office/drawing/2014/main" id="{B232F48A-1F1B-3189-F607-A5BE39B67A42}"/>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39581" y="3201363"/>
              <a:ext cx="163426" cy="163426"/>
            </a:xfrm>
            <a:prstGeom prst="rect">
              <a:avLst/>
            </a:prstGeom>
          </p:spPr>
        </p:pic>
      </p:grpSp>
      <p:grpSp>
        <p:nvGrpSpPr>
          <p:cNvPr id="49" name="Group 48">
            <a:extLst>
              <a:ext uri="{FF2B5EF4-FFF2-40B4-BE49-F238E27FC236}">
                <a16:creationId xmlns:a16="http://schemas.microsoft.com/office/drawing/2014/main" id="{42ED8587-0BC3-0990-2346-ED37EEEA6CA6}"/>
              </a:ext>
              <a:ext uri="{C183D7F6-B498-43B3-948B-1728B52AA6E4}">
                <adec:decorative xmlns:adec="http://schemas.microsoft.com/office/drawing/2017/decorative" val="1"/>
              </a:ext>
            </a:extLst>
          </p:cNvPr>
          <p:cNvGrpSpPr/>
          <p:nvPr/>
        </p:nvGrpSpPr>
        <p:grpSpPr>
          <a:xfrm>
            <a:off x="505272" y="3809424"/>
            <a:ext cx="2153223" cy="2221429"/>
            <a:chOff x="505272" y="3809424"/>
            <a:chExt cx="2153223" cy="2221429"/>
          </a:xfrm>
        </p:grpSpPr>
        <p:sp>
          <p:nvSpPr>
            <p:cNvPr id="87" name="Rounded Rectangle 1">
              <a:extLst>
                <a:ext uri="{FF2B5EF4-FFF2-40B4-BE49-F238E27FC236}">
                  <a16:creationId xmlns:a16="http://schemas.microsoft.com/office/drawing/2014/main" id="{C7B3060C-AF00-97CD-3719-19187DC17CF3}"/>
                </a:ext>
                <a:ext uri="{C183D7F6-B498-43B3-948B-1728B52AA6E4}">
                  <adec:decorative xmlns:adec="http://schemas.microsoft.com/office/drawing/2017/decorative" val="1"/>
                </a:ext>
              </a:extLst>
            </p:cNvPr>
            <p:cNvSpPr/>
            <p:nvPr/>
          </p:nvSpPr>
          <p:spPr bwMode="auto">
            <a:xfrm>
              <a:off x="505272" y="3809425"/>
              <a:ext cx="2153223" cy="2221428"/>
            </a:xfrm>
            <a:prstGeom prst="roundRect">
              <a:avLst>
                <a:gd name="adj" fmla="val 2901"/>
              </a:avLst>
            </a:prstGeom>
            <a:solidFill>
              <a:schemeClr val="bg1">
                <a:alpha val="70000"/>
              </a:schemeClr>
            </a:solidFill>
            <a:ln>
              <a:noFill/>
              <a:headEnd type="none" w="med" len="med"/>
              <a:tailEnd type="none" w="med" len="med"/>
            </a:ln>
            <a:effectLst>
              <a:outerShdw blurRad="63500" dist="127000" dir="2700000" algn="tl" rotWithShape="0">
                <a:srgbClr val="454142">
                  <a:alpha val="1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ea typeface="+mn-ea"/>
                <a:cs typeface="Segoe UI" pitchFamily="34" charset="0"/>
              </a:endParaRPr>
            </a:p>
          </p:txBody>
        </p:sp>
        <p:sp>
          <p:nvSpPr>
            <p:cNvPr id="88" name="TextBox 61">
              <a:extLst>
                <a:ext uri="{FF2B5EF4-FFF2-40B4-BE49-F238E27FC236}">
                  <a16:creationId xmlns:a16="http://schemas.microsoft.com/office/drawing/2014/main" id="{3D0E65BC-434B-8E16-4EB5-623E132C9AB5}"/>
                </a:ext>
              </a:extLst>
            </p:cNvPr>
            <p:cNvSpPr txBox="1"/>
            <p:nvPr/>
          </p:nvSpPr>
          <p:spPr>
            <a:xfrm>
              <a:off x="626191" y="4303478"/>
              <a:ext cx="1751259" cy="119006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fontAlgn="auto">
                <a:lnSpc>
                  <a:spcPct val="100000"/>
                </a:lnSpc>
                <a:spcBef>
                  <a:spcPts val="200"/>
                </a:spcBef>
                <a:spcAft>
                  <a:spcPts val="200"/>
                </a:spcAft>
                <a:buClrTx/>
                <a:buSzTx/>
                <a:buFontTx/>
                <a:buNone/>
                <a:tabLst/>
                <a:defRPr/>
              </a:pPr>
              <a:r>
                <a:rPr lang="en-US" sz="1400">
                  <a:solidFill>
                    <a:schemeClr val="accent4"/>
                  </a:solidFill>
                  <a:latin typeface="+mj-lt"/>
                  <a:cs typeface="Segoe UI Semibold" panose="020B0502040204020203" pitchFamily="34" charset="0"/>
                </a:rPr>
                <a:t>Give me some ideas for …</a:t>
              </a:r>
            </a:p>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mn-cs"/>
                </a:rPr>
                <a:t>– Boost your creativity with ideas for your work, such as agendas, product names, social media posts, etc.</a:t>
              </a:r>
            </a:p>
          </p:txBody>
        </p:sp>
        <p:sp>
          <p:nvSpPr>
            <p:cNvPr id="89" name="TextBox 7">
              <a:extLst>
                <a:ext uri="{FF2B5EF4-FFF2-40B4-BE49-F238E27FC236}">
                  <a16:creationId xmlns:a16="http://schemas.microsoft.com/office/drawing/2014/main" id="{E175F923-A844-B59C-CFDA-D5E0D4DA0EFF}"/>
                </a:ext>
              </a:extLst>
            </p:cNvPr>
            <p:cNvSpPr txBox="1"/>
            <p:nvPr/>
          </p:nvSpPr>
          <p:spPr>
            <a:xfrm>
              <a:off x="2267041" y="3809424"/>
              <a:ext cx="391454" cy="52322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0000"/>
                  </a:solidFill>
                  <a:effectLst/>
                  <a:uLnTx/>
                  <a:uFillTx/>
                  <a:ea typeface="+mn-ea"/>
                  <a:cs typeface="Segoe UI"/>
                </a:rPr>
                <a:t>6</a:t>
              </a:r>
            </a:p>
          </p:txBody>
        </p:sp>
        <p:pic>
          <p:nvPicPr>
            <p:cNvPr id="90" name="Picture 89">
              <a:extLst>
                <a:ext uri="{FF2B5EF4-FFF2-40B4-BE49-F238E27FC236}">
                  <a16:creationId xmlns:a16="http://schemas.microsoft.com/office/drawing/2014/main" id="{0484EE98-3E27-6130-8E00-7175F86EB7C4}"/>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697685" y="3990229"/>
              <a:ext cx="318387" cy="280446"/>
            </a:xfrm>
            <a:prstGeom prst="rect">
              <a:avLst/>
            </a:prstGeom>
          </p:spPr>
        </p:pic>
        <p:sp>
          <p:nvSpPr>
            <p:cNvPr id="91" name="TextBox 52">
              <a:extLst>
                <a:ext uri="{FF2B5EF4-FFF2-40B4-BE49-F238E27FC236}">
                  <a16:creationId xmlns:a16="http://schemas.microsoft.com/office/drawing/2014/main" id="{E4EACBFB-4D56-491D-377C-5DCABE4CD787}"/>
                </a:ext>
              </a:extLst>
            </p:cNvPr>
            <p:cNvSpPr txBox="1"/>
            <p:nvPr/>
          </p:nvSpPr>
          <p:spPr>
            <a:xfrm>
              <a:off x="827732" y="5531704"/>
              <a:ext cx="1549719" cy="338554"/>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mn-cs"/>
                </a:rPr>
                <a:t>Suggest 10 compelling taglines based on </a:t>
              </a:r>
              <a:r>
                <a:rPr kumimoji="0" lang="en-US" sz="800" b="0" i="0" u="none" strike="noStrike" kern="1200" cap="none" spc="0" normalizeH="0" baseline="0" noProof="0">
                  <a:ln>
                    <a:noFill/>
                  </a:ln>
                  <a:solidFill>
                    <a:srgbClr val="463668"/>
                  </a:solidFill>
                  <a:effectLst/>
                  <a:uLnTx/>
                  <a:uFillTx/>
                  <a:ea typeface="+mn-ea"/>
                  <a:cs typeface="+mn-cs"/>
                </a:rPr>
                <a:t>file. </a:t>
              </a:r>
              <a:endParaRPr kumimoji="0" lang="en-US" sz="800" b="0" i="0" u="none" strike="noStrike" kern="1200" cap="none" spc="0" normalizeH="0" baseline="0" noProof="0">
                <a:ln>
                  <a:noFill/>
                </a:ln>
                <a:solidFill>
                  <a:prstClr val="black"/>
                </a:solidFill>
                <a:effectLst/>
                <a:uLnTx/>
                <a:uFillTx/>
                <a:ea typeface="+mn-ea"/>
                <a:cs typeface="+mn-cs"/>
              </a:endParaRPr>
            </a:p>
          </p:txBody>
        </p:sp>
        <p:pic>
          <p:nvPicPr>
            <p:cNvPr id="92" name="Graphic 54">
              <a:extLst>
                <a:ext uri="{FF2B5EF4-FFF2-40B4-BE49-F238E27FC236}">
                  <a16:creationId xmlns:a16="http://schemas.microsoft.com/office/drawing/2014/main" id="{13F9B81F-B121-5293-8649-5375AB3B4D6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00506" y="5561325"/>
              <a:ext cx="163426" cy="163426"/>
            </a:xfrm>
            <a:prstGeom prst="rect">
              <a:avLst/>
            </a:prstGeom>
          </p:spPr>
        </p:pic>
      </p:grpSp>
      <p:grpSp>
        <p:nvGrpSpPr>
          <p:cNvPr id="50" name="Group 49">
            <a:extLst>
              <a:ext uri="{FF2B5EF4-FFF2-40B4-BE49-F238E27FC236}">
                <a16:creationId xmlns:a16="http://schemas.microsoft.com/office/drawing/2014/main" id="{B9EC7C92-A6DD-10CC-7C09-636F60CBC88D}"/>
              </a:ext>
              <a:ext uri="{C183D7F6-B498-43B3-948B-1728B52AA6E4}">
                <adec:decorative xmlns:adec="http://schemas.microsoft.com/office/drawing/2017/decorative" val="1"/>
              </a:ext>
            </a:extLst>
          </p:cNvPr>
          <p:cNvGrpSpPr/>
          <p:nvPr/>
        </p:nvGrpSpPr>
        <p:grpSpPr>
          <a:xfrm>
            <a:off x="5027366" y="3809424"/>
            <a:ext cx="2153223" cy="2221428"/>
            <a:chOff x="5027366" y="3809424"/>
            <a:chExt cx="2153223" cy="2221428"/>
          </a:xfrm>
        </p:grpSpPr>
        <p:sp>
          <p:nvSpPr>
            <p:cNvPr id="81" name="Rounded Rectangle 1">
              <a:extLst>
                <a:ext uri="{FF2B5EF4-FFF2-40B4-BE49-F238E27FC236}">
                  <a16:creationId xmlns:a16="http://schemas.microsoft.com/office/drawing/2014/main" id="{563A5B59-0179-0F1E-6C75-8810EA1BFD5D}"/>
                </a:ext>
                <a:ext uri="{C183D7F6-B498-43B3-948B-1728B52AA6E4}">
                  <adec:decorative xmlns:adec="http://schemas.microsoft.com/office/drawing/2017/decorative" val="1"/>
                </a:ext>
              </a:extLst>
            </p:cNvPr>
            <p:cNvSpPr/>
            <p:nvPr/>
          </p:nvSpPr>
          <p:spPr bwMode="auto">
            <a:xfrm>
              <a:off x="5027366" y="3809424"/>
              <a:ext cx="2153223" cy="2221428"/>
            </a:xfrm>
            <a:prstGeom prst="roundRect">
              <a:avLst>
                <a:gd name="adj" fmla="val 2901"/>
              </a:avLst>
            </a:prstGeom>
            <a:solidFill>
              <a:schemeClr val="bg1">
                <a:alpha val="70000"/>
              </a:schemeClr>
            </a:solidFill>
            <a:ln>
              <a:noFill/>
              <a:headEnd type="none" w="med" len="med"/>
              <a:tailEnd type="none" w="med" len="med"/>
            </a:ln>
            <a:effectLst>
              <a:outerShdw blurRad="63500" dist="127000" dir="2700000" algn="tl" rotWithShape="0">
                <a:srgbClr val="454142">
                  <a:alpha val="1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ea typeface="+mn-ea"/>
                <a:cs typeface="Segoe UI" pitchFamily="34" charset="0"/>
              </a:endParaRPr>
            </a:p>
          </p:txBody>
        </p:sp>
        <p:sp>
          <p:nvSpPr>
            <p:cNvPr id="82" name="TextBox 69">
              <a:extLst>
                <a:ext uri="{FF2B5EF4-FFF2-40B4-BE49-F238E27FC236}">
                  <a16:creationId xmlns:a16="http://schemas.microsoft.com/office/drawing/2014/main" id="{67F532B8-3E19-40C1-D8A2-05D91FB5E4B3}"/>
                </a:ext>
              </a:extLst>
            </p:cNvPr>
            <p:cNvSpPr txBox="1"/>
            <p:nvPr/>
          </p:nvSpPr>
          <p:spPr>
            <a:xfrm>
              <a:off x="5148286" y="4303478"/>
              <a:ext cx="1932245" cy="820738"/>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fontAlgn="auto">
                <a:lnSpc>
                  <a:spcPct val="100000"/>
                </a:lnSpc>
                <a:spcBef>
                  <a:spcPts val="200"/>
                </a:spcBef>
                <a:spcAft>
                  <a:spcPts val="200"/>
                </a:spcAft>
                <a:buClrTx/>
                <a:buSzTx/>
                <a:buFontTx/>
                <a:buNone/>
                <a:tabLst/>
                <a:defRPr/>
              </a:pPr>
              <a:r>
                <a:rPr lang="en-US" sz="1400">
                  <a:solidFill>
                    <a:schemeClr val="accent4"/>
                  </a:solidFill>
                  <a:latin typeface="+mj-lt"/>
                  <a:cs typeface="Segoe UI Semibold" panose="020B0502040204020203" pitchFamily="34" charset="0"/>
                </a:rPr>
                <a:t>What did they say … </a:t>
              </a:r>
            </a:p>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mn-cs"/>
                </a:rPr>
                <a:t>– When you vaguely remember someone mentioning a topic, have Copilot do the research.</a:t>
              </a:r>
            </a:p>
          </p:txBody>
        </p:sp>
        <p:sp>
          <p:nvSpPr>
            <p:cNvPr id="83" name="TextBox 9">
              <a:extLst>
                <a:ext uri="{FF2B5EF4-FFF2-40B4-BE49-F238E27FC236}">
                  <a16:creationId xmlns:a16="http://schemas.microsoft.com/office/drawing/2014/main" id="{B4735CA1-3A1C-1A4D-A304-C07B3D573C2C}"/>
                </a:ext>
              </a:extLst>
            </p:cNvPr>
            <p:cNvSpPr txBox="1"/>
            <p:nvPr/>
          </p:nvSpPr>
          <p:spPr>
            <a:xfrm>
              <a:off x="6789135" y="3809424"/>
              <a:ext cx="391454" cy="52322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0000"/>
                  </a:solidFill>
                  <a:effectLst/>
                  <a:uLnTx/>
                  <a:uFillTx/>
                  <a:ea typeface="+mn-ea"/>
                  <a:cs typeface="Segoe UI"/>
                </a:rPr>
                <a:t>8</a:t>
              </a:r>
            </a:p>
          </p:txBody>
        </p:sp>
        <p:pic>
          <p:nvPicPr>
            <p:cNvPr id="84" name="Picture 83">
              <a:extLst>
                <a:ext uri="{FF2B5EF4-FFF2-40B4-BE49-F238E27FC236}">
                  <a16:creationId xmlns:a16="http://schemas.microsoft.com/office/drawing/2014/main" id="{41305DB5-8C50-D33F-4610-4CA7C7456C5E}"/>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5204834" y="3990229"/>
              <a:ext cx="318387" cy="280446"/>
            </a:xfrm>
            <a:prstGeom prst="rect">
              <a:avLst/>
            </a:prstGeom>
          </p:spPr>
        </p:pic>
        <p:sp>
          <p:nvSpPr>
            <p:cNvPr id="85" name="TextBox 60">
              <a:extLst>
                <a:ext uri="{FF2B5EF4-FFF2-40B4-BE49-F238E27FC236}">
                  <a16:creationId xmlns:a16="http://schemas.microsoft.com/office/drawing/2014/main" id="{DCE1BE93-206A-BC4F-408A-606DD1B58171}"/>
                </a:ext>
              </a:extLst>
            </p:cNvPr>
            <p:cNvSpPr txBox="1"/>
            <p:nvPr/>
          </p:nvSpPr>
          <p:spPr>
            <a:xfrm>
              <a:off x="5338447" y="5531704"/>
              <a:ext cx="1062417" cy="338554"/>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mn-cs"/>
                </a:rPr>
                <a:t>What did </a:t>
              </a:r>
              <a:r>
                <a:rPr kumimoji="0" lang="en-US" sz="800" b="0" i="0" u="none" strike="noStrike" kern="1200" cap="none" spc="0" normalizeH="0" baseline="0" noProof="0">
                  <a:ln>
                    <a:noFill/>
                  </a:ln>
                  <a:solidFill>
                    <a:srgbClr val="463668"/>
                  </a:solidFill>
                  <a:effectLst/>
                  <a:uLnTx/>
                  <a:uFillTx/>
                  <a:ea typeface="+mn-ea"/>
                  <a:cs typeface="+mn-cs"/>
                </a:rPr>
                <a:t>person</a:t>
              </a:r>
              <a:r>
                <a:rPr kumimoji="0" lang="en-US" sz="800" b="0" i="0" u="none" strike="noStrike" kern="1200" cap="none" spc="0" normalizeH="0" baseline="0" noProof="0">
                  <a:ln>
                    <a:noFill/>
                  </a:ln>
                  <a:solidFill>
                    <a:prstClr val="black"/>
                  </a:solidFill>
                  <a:effectLst/>
                  <a:uLnTx/>
                  <a:uFillTx/>
                  <a:ea typeface="+mn-ea"/>
                  <a:cs typeface="+mn-cs"/>
                </a:rPr>
                <a:t> say about </a:t>
              </a:r>
              <a:r>
                <a:rPr kumimoji="0" lang="en-US" sz="800" b="0" i="0" u="none" strike="noStrike" kern="1200" cap="none" spc="0" normalizeH="0" baseline="0" noProof="0">
                  <a:ln>
                    <a:noFill/>
                  </a:ln>
                  <a:solidFill>
                    <a:srgbClr val="463668"/>
                  </a:solidFill>
                  <a:effectLst/>
                  <a:uLnTx/>
                  <a:uFillTx/>
                  <a:ea typeface="+mn-ea"/>
                  <a:cs typeface="+mn-cs"/>
                </a:rPr>
                <a:t>topic</a:t>
              </a:r>
              <a:r>
                <a:rPr lang="en-US" sz="800">
                  <a:solidFill>
                    <a:srgbClr val="463668"/>
                  </a:solidFill>
                </a:rPr>
                <a:t>?</a:t>
              </a:r>
              <a:endParaRPr kumimoji="0" lang="en-US" sz="800" b="0" i="0" u="none" strike="noStrike" kern="1200" cap="none" spc="0" normalizeH="0" baseline="0" noProof="0">
                <a:ln>
                  <a:noFill/>
                </a:ln>
                <a:solidFill>
                  <a:srgbClr val="463668"/>
                </a:solidFill>
                <a:effectLst/>
                <a:uLnTx/>
                <a:uFillTx/>
                <a:ea typeface="+mn-ea"/>
                <a:cs typeface="+mn-cs"/>
              </a:endParaRPr>
            </a:p>
          </p:txBody>
        </p:sp>
        <p:pic>
          <p:nvPicPr>
            <p:cNvPr id="86" name="Graphic 62">
              <a:extLst>
                <a:ext uri="{FF2B5EF4-FFF2-40B4-BE49-F238E27FC236}">
                  <a16:creationId xmlns:a16="http://schemas.microsoft.com/office/drawing/2014/main" id="{14B84A4B-DE4A-28E5-888B-55AA5CD07C9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211221" y="5561325"/>
              <a:ext cx="163426" cy="163426"/>
            </a:xfrm>
            <a:prstGeom prst="rect">
              <a:avLst/>
            </a:prstGeom>
          </p:spPr>
        </p:pic>
      </p:grpSp>
      <p:grpSp>
        <p:nvGrpSpPr>
          <p:cNvPr id="51" name="Group 50">
            <a:extLst>
              <a:ext uri="{FF2B5EF4-FFF2-40B4-BE49-F238E27FC236}">
                <a16:creationId xmlns:a16="http://schemas.microsoft.com/office/drawing/2014/main" id="{A63E87EF-53E1-B9B4-C184-73D9C0449301}"/>
              </a:ext>
              <a:ext uri="{C183D7F6-B498-43B3-948B-1728B52AA6E4}">
                <adec:decorative xmlns:adec="http://schemas.microsoft.com/office/drawing/2017/decorative" val="1"/>
              </a:ext>
            </a:extLst>
          </p:cNvPr>
          <p:cNvGrpSpPr/>
          <p:nvPr/>
        </p:nvGrpSpPr>
        <p:grpSpPr>
          <a:xfrm>
            <a:off x="9549461" y="3809424"/>
            <a:ext cx="2153223" cy="2221427"/>
            <a:chOff x="9549461" y="3809424"/>
            <a:chExt cx="2153223" cy="2221427"/>
          </a:xfrm>
        </p:grpSpPr>
        <p:sp>
          <p:nvSpPr>
            <p:cNvPr id="75" name="Rounded Rectangle 1">
              <a:extLst>
                <a:ext uri="{FF2B5EF4-FFF2-40B4-BE49-F238E27FC236}">
                  <a16:creationId xmlns:a16="http://schemas.microsoft.com/office/drawing/2014/main" id="{2E5AF0A8-5F61-5634-0A42-C6FA55940E9D}"/>
                </a:ext>
                <a:ext uri="{C183D7F6-B498-43B3-948B-1728B52AA6E4}">
                  <adec:decorative xmlns:adec="http://schemas.microsoft.com/office/drawing/2017/decorative" val="1"/>
                </a:ext>
              </a:extLst>
            </p:cNvPr>
            <p:cNvSpPr/>
            <p:nvPr/>
          </p:nvSpPr>
          <p:spPr bwMode="auto">
            <a:xfrm>
              <a:off x="9549461" y="3809424"/>
              <a:ext cx="2153223" cy="2221427"/>
            </a:xfrm>
            <a:prstGeom prst="roundRect">
              <a:avLst>
                <a:gd name="adj" fmla="val 2901"/>
              </a:avLst>
            </a:prstGeom>
            <a:solidFill>
              <a:schemeClr val="bg1">
                <a:alpha val="70000"/>
              </a:schemeClr>
            </a:solidFill>
            <a:ln>
              <a:noFill/>
              <a:headEnd type="none" w="med" len="med"/>
              <a:tailEnd type="none" w="med" len="med"/>
            </a:ln>
            <a:effectLst>
              <a:outerShdw blurRad="63500" dist="127000" dir="2700000" algn="tl" rotWithShape="0">
                <a:srgbClr val="454142">
                  <a:alpha val="1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ea typeface="+mn-ea"/>
                <a:cs typeface="Segoe UI" pitchFamily="34" charset="0"/>
              </a:endParaRPr>
            </a:p>
          </p:txBody>
        </p:sp>
        <p:sp>
          <p:nvSpPr>
            <p:cNvPr id="76" name="TextBox 77">
              <a:extLst>
                <a:ext uri="{FF2B5EF4-FFF2-40B4-BE49-F238E27FC236}">
                  <a16:creationId xmlns:a16="http://schemas.microsoft.com/office/drawing/2014/main" id="{2EF9DFE6-2DBC-77F0-3141-713430C700D6}"/>
                </a:ext>
              </a:extLst>
            </p:cNvPr>
            <p:cNvSpPr txBox="1"/>
            <p:nvPr/>
          </p:nvSpPr>
          <p:spPr>
            <a:xfrm>
              <a:off x="9670381" y="4303478"/>
              <a:ext cx="1895427" cy="112851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fontAlgn="auto">
                <a:lnSpc>
                  <a:spcPct val="100000"/>
                </a:lnSpc>
                <a:spcBef>
                  <a:spcPts val="200"/>
                </a:spcBef>
                <a:spcAft>
                  <a:spcPts val="200"/>
                </a:spcAft>
                <a:buClrTx/>
                <a:buSzTx/>
                <a:buFontTx/>
                <a:buNone/>
                <a:tabLst/>
                <a:defRPr/>
              </a:pPr>
              <a:r>
                <a:rPr lang="en-US" sz="1400">
                  <a:solidFill>
                    <a:schemeClr val="accent4"/>
                  </a:solidFill>
                  <a:latin typeface="+mj-lt"/>
                  <a:cs typeface="Segoe UI Semibold" panose="020B0502040204020203" pitchFamily="34" charset="0"/>
                </a:rPr>
                <a:t>Translate a message </a:t>
              </a:r>
            </a:p>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mn-cs"/>
                </a:rPr>
                <a:t>– With business becoming increasingly international, it’s important to be able to read or write messages in other languages.</a:t>
              </a:r>
            </a:p>
          </p:txBody>
        </p:sp>
        <p:sp>
          <p:nvSpPr>
            <p:cNvPr id="77" name="TextBox 11">
              <a:extLst>
                <a:ext uri="{FF2B5EF4-FFF2-40B4-BE49-F238E27FC236}">
                  <a16:creationId xmlns:a16="http://schemas.microsoft.com/office/drawing/2014/main" id="{FB1657F5-8E66-1673-DC62-70328F60428B}"/>
                </a:ext>
              </a:extLst>
            </p:cNvPr>
            <p:cNvSpPr txBox="1"/>
            <p:nvPr/>
          </p:nvSpPr>
          <p:spPr>
            <a:xfrm>
              <a:off x="11155739" y="3809424"/>
              <a:ext cx="546945" cy="52322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0000"/>
                  </a:solidFill>
                  <a:effectLst/>
                  <a:uLnTx/>
                  <a:uFillTx/>
                  <a:ea typeface="+mn-ea"/>
                  <a:cs typeface="Segoe UI"/>
                </a:rPr>
                <a:t>10</a:t>
              </a:r>
            </a:p>
          </p:txBody>
        </p:sp>
        <p:pic>
          <p:nvPicPr>
            <p:cNvPr id="78" name="Picture 77">
              <a:extLst>
                <a:ext uri="{FF2B5EF4-FFF2-40B4-BE49-F238E27FC236}">
                  <a16:creationId xmlns:a16="http://schemas.microsoft.com/office/drawing/2014/main" id="{7091938E-3D14-159B-B3DB-3379B8478099}"/>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9740013" y="3990229"/>
              <a:ext cx="318387" cy="280446"/>
            </a:xfrm>
            <a:prstGeom prst="rect">
              <a:avLst/>
            </a:prstGeom>
          </p:spPr>
        </p:pic>
        <p:sp>
          <p:nvSpPr>
            <p:cNvPr id="79" name="TextBox 68">
              <a:extLst>
                <a:ext uri="{FF2B5EF4-FFF2-40B4-BE49-F238E27FC236}">
                  <a16:creationId xmlns:a16="http://schemas.microsoft.com/office/drawing/2014/main" id="{C3B7A1FE-0D19-09B0-DC92-27095CADECA8}"/>
                </a:ext>
              </a:extLst>
            </p:cNvPr>
            <p:cNvSpPr txBox="1"/>
            <p:nvPr/>
          </p:nvSpPr>
          <p:spPr>
            <a:xfrm>
              <a:off x="9866807" y="5531704"/>
              <a:ext cx="1237635" cy="33855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mn-cs"/>
                </a:rPr>
                <a:t>Translate the following text into French: </a:t>
              </a:r>
              <a:endParaRPr kumimoji="0" lang="en-US" sz="1050" b="0" i="0" u="none" strike="noStrike" kern="1200" cap="none" spc="0" normalizeH="0" baseline="0" noProof="0">
                <a:ln>
                  <a:noFill/>
                </a:ln>
                <a:solidFill>
                  <a:prstClr val="black"/>
                </a:solidFill>
                <a:effectLst/>
                <a:uLnTx/>
                <a:uFillTx/>
                <a:ea typeface="+mn-ea"/>
                <a:cs typeface="+mn-cs"/>
              </a:endParaRPr>
            </a:p>
          </p:txBody>
        </p:sp>
        <p:pic>
          <p:nvPicPr>
            <p:cNvPr id="80" name="Graphic 70">
              <a:extLst>
                <a:ext uri="{FF2B5EF4-FFF2-40B4-BE49-F238E27FC236}">
                  <a16:creationId xmlns:a16="http://schemas.microsoft.com/office/drawing/2014/main" id="{839B92B3-DFF9-3259-3C12-684ADC2BBC26}"/>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39581" y="5561325"/>
              <a:ext cx="163426" cy="163426"/>
            </a:xfrm>
            <a:prstGeom prst="rect">
              <a:avLst/>
            </a:prstGeom>
          </p:spPr>
        </p:pic>
      </p:grpSp>
      <p:grpSp>
        <p:nvGrpSpPr>
          <p:cNvPr id="52" name="Group 51">
            <a:extLst>
              <a:ext uri="{FF2B5EF4-FFF2-40B4-BE49-F238E27FC236}">
                <a16:creationId xmlns:a16="http://schemas.microsoft.com/office/drawing/2014/main" id="{722EE5A4-BD3A-F9F7-6BD8-24912FE097E6}"/>
              </a:ext>
              <a:ext uri="{C183D7F6-B498-43B3-948B-1728B52AA6E4}">
                <adec:decorative xmlns:adec="http://schemas.microsoft.com/office/drawing/2017/decorative" val="1"/>
              </a:ext>
            </a:extLst>
          </p:cNvPr>
          <p:cNvGrpSpPr/>
          <p:nvPr/>
        </p:nvGrpSpPr>
        <p:grpSpPr>
          <a:xfrm>
            <a:off x="5027366" y="1463713"/>
            <a:ext cx="2153223" cy="2221428"/>
            <a:chOff x="5027366" y="1463713"/>
            <a:chExt cx="2153223" cy="2221428"/>
          </a:xfrm>
        </p:grpSpPr>
        <p:sp>
          <p:nvSpPr>
            <p:cNvPr id="69" name="Rounded Rectangle 1">
              <a:extLst>
                <a:ext uri="{FF2B5EF4-FFF2-40B4-BE49-F238E27FC236}">
                  <a16:creationId xmlns:a16="http://schemas.microsoft.com/office/drawing/2014/main" id="{56FD64EF-18C7-0F21-F028-292B7D748793}"/>
                </a:ext>
                <a:ext uri="{C183D7F6-B498-43B3-948B-1728B52AA6E4}">
                  <adec:decorative xmlns:adec="http://schemas.microsoft.com/office/drawing/2017/decorative" val="1"/>
                </a:ext>
              </a:extLst>
            </p:cNvPr>
            <p:cNvSpPr/>
            <p:nvPr/>
          </p:nvSpPr>
          <p:spPr bwMode="auto">
            <a:xfrm>
              <a:off x="5027366" y="1463713"/>
              <a:ext cx="2153223" cy="2221428"/>
            </a:xfrm>
            <a:prstGeom prst="roundRect">
              <a:avLst>
                <a:gd name="adj" fmla="val 2901"/>
              </a:avLst>
            </a:prstGeom>
            <a:solidFill>
              <a:schemeClr val="bg1">
                <a:alpha val="70000"/>
              </a:schemeClr>
            </a:solidFill>
            <a:ln>
              <a:noFill/>
              <a:headEnd type="none" w="med" len="med"/>
              <a:tailEnd type="none" w="med" len="med"/>
            </a:ln>
            <a:effectLst>
              <a:outerShdw blurRad="63500" dist="127000" dir="2700000" algn="tl" rotWithShape="0">
                <a:srgbClr val="454142">
                  <a:alpha val="1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ea typeface="+mn-ea"/>
                <a:cs typeface="Segoe UI" pitchFamily="34" charset="0"/>
              </a:endParaRPr>
            </a:p>
          </p:txBody>
        </p:sp>
        <p:sp>
          <p:nvSpPr>
            <p:cNvPr id="70" name="TextBox 49">
              <a:extLst>
                <a:ext uri="{FF2B5EF4-FFF2-40B4-BE49-F238E27FC236}">
                  <a16:creationId xmlns:a16="http://schemas.microsoft.com/office/drawing/2014/main" id="{16C91A7C-147D-AED6-AE46-D620F9261E2D}"/>
                </a:ext>
              </a:extLst>
            </p:cNvPr>
            <p:cNvSpPr txBox="1"/>
            <p:nvPr/>
          </p:nvSpPr>
          <p:spPr>
            <a:xfrm>
              <a:off x="5148286" y="1957766"/>
              <a:ext cx="1814385" cy="66684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200"/>
                </a:spcBef>
                <a:spcAft>
                  <a:spcPts val="200"/>
                </a:spcAft>
                <a:defRPr/>
              </a:pPr>
              <a:r>
                <a:rPr lang="en-US" sz="1400">
                  <a:solidFill>
                    <a:schemeClr val="accent4"/>
                  </a:solidFill>
                  <a:latin typeface="+mj-lt"/>
                  <a:cs typeface="Segoe UI Semibold" panose="020B0502040204020203" pitchFamily="34" charset="0"/>
                </a:rPr>
                <a:t>Draft email </a:t>
              </a:r>
            </a:p>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mn-cs"/>
                </a:rPr>
                <a:t>– Personalize the tone and length.</a:t>
              </a:r>
            </a:p>
          </p:txBody>
        </p:sp>
        <p:sp>
          <p:nvSpPr>
            <p:cNvPr id="71" name="TextBox 3">
              <a:extLst>
                <a:ext uri="{FF2B5EF4-FFF2-40B4-BE49-F238E27FC236}">
                  <a16:creationId xmlns:a16="http://schemas.microsoft.com/office/drawing/2014/main" id="{DF06F8A9-7D24-EEA4-3AEB-DCD8DE151FB4}"/>
                </a:ext>
              </a:extLst>
            </p:cNvPr>
            <p:cNvSpPr txBox="1"/>
            <p:nvPr/>
          </p:nvSpPr>
          <p:spPr>
            <a:xfrm>
              <a:off x="6789135" y="1463713"/>
              <a:ext cx="391454" cy="52322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0000"/>
                  </a:solidFill>
                  <a:effectLst/>
                  <a:uLnTx/>
                  <a:uFillTx/>
                  <a:ea typeface="+mn-ea"/>
                  <a:cs typeface="Segoe UI"/>
                </a:rPr>
                <a:t>3</a:t>
              </a:r>
            </a:p>
          </p:txBody>
        </p:sp>
        <p:sp>
          <p:nvSpPr>
            <p:cNvPr id="72" name="TextBox 41">
              <a:extLst>
                <a:ext uri="{FF2B5EF4-FFF2-40B4-BE49-F238E27FC236}">
                  <a16:creationId xmlns:a16="http://schemas.microsoft.com/office/drawing/2014/main" id="{AC6D93A9-0D89-0B94-B2A8-A8B2411BEEF4}"/>
                </a:ext>
              </a:extLst>
            </p:cNvPr>
            <p:cNvSpPr txBox="1"/>
            <p:nvPr/>
          </p:nvSpPr>
          <p:spPr>
            <a:xfrm>
              <a:off x="5338447" y="2983690"/>
              <a:ext cx="1637348" cy="58477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mn-cs"/>
                </a:rPr>
                <a:t>Draft an email to [name] that informs them that Project X is delayed two weeks. Make it short and casual in tone. </a:t>
              </a:r>
              <a:endParaRPr kumimoji="0" lang="en-US" sz="1050" b="0" i="0" u="none" strike="noStrike" kern="1200" cap="none" spc="0" normalizeH="0" baseline="0" noProof="0">
                <a:ln>
                  <a:noFill/>
                </a:ln>
                <a:solidFill>
                  <a:prstClr val="black"/>
                </a:solidFill>
                <a:effectLst/>
                <a:uLnTx/>
                <a:uFillTx/>
                <a:ea typeface="+mn-ea"/>
                <a:cs typeface="+mn-cs"/>
              </a:endParaRPr>
            </a:p>
          </p:txBody>
        </p:sp>
        <p:pic>
          <p:nvPicPr>
            <p:cNvPr id="73" name="Graphic 42">
              <a:extLst>
                <a:ext uri="{FF2B5EF4-FFF2-40B4-BE49-F238E27FC236}">
                  <a16:creationId xmlns:a16="http://schemas.microsoft.com/office/drawing/2014/main" id="{6CD0DA8E-202C-A0B2-62E3-5A4287F41469}"/>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211221" y="3013311"/>
              <a:ext cx="163426" cy="163426"/>
            </a:xfrm>
            <a:prstGeom prst="rect">
              <a:avLst/>
            </a:prstGeom>
          </p:spPr>
        </p:pic>
        <p:pic>
          <p:nvPicPr>
            <p:cNvPr id="74" name="Picture 73" descr="A blue square with a letter o&#10;&#10;Description automatically generated">
              <a:extLst>
                <a:ext uri="{FF2B5EF4-FFF2-40B4-BE49-F238E27FC236}">
                  <a16:creationId xmlns:a16="http://schemas.microsoft.com/office/drawing/2014/main" id="{DE022132-5DCC-5089-9F19-AD83DC8BD180}"/>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249116" y="1619990"/>
              <a:ext cx="301524" cy="280446"/>
            </a:xfrm>
            <a:prstGeom prst="rect">
              <a:avLst/>
            </a:prstGeom>
          </p:spPr>
        </p:pic>
      </p:grpSp>
      <p:grpSp>
        <p:nvGrpSpPr>
          <p:cNvPr id="53" name="Group 52">
            <a:extLst>
              <a:ext uri="{FF2B5EF4-FFF2-40B4-BE49-F238E27FC236}">
                <a16:creationId xmlns:a16="http://schemas.microsoft.com/office/drawing/2014/main" id="{5A22F642-79AB-22B6-663B-E1845D7437CD}"/>
              </a:ext>
              <a:ext uri="{C183D7F6-B498-43B3-948B-1728B52AA6E4}">
                <adec:decorative xmlns:adec="http://schemas.microsoft.com/office/drawing/2017/decorative" val="1"/>
              </a:ext>
            </a:extLst>
          </p:cNvPr>
          <p:cNvGrpSpPr/>
          <p:nvPr/>
        </p:nvGrpSpPr>
        <p:grpSpPr>
          <a:xfrm>
            <a:off x="7288413" y="3809424"/>
            <a:ext cx="2153223" cy="2221428"/>
            <a:chOff x="7288413" y="3809424"/>
            <a:chExt cx="2153223" cy="2221428"/>
          </a:xfrm>
        </p:grpSpPr>
        <p:sp>
          <p:nvSpPr>
            <p:cNvPr id="63" name="Rounded Rectangle 1">
              <a:extLst>
                <a:ext uri="{FF2B5EF4-FFF2-40B4-BE49-F238E27FC236}">
                  <a16:creationId xmlns:a16="http://schemas.microsoft.com/office/drawing/2014/main" id="{CA23F9B4-07C5-3F1A-21A7-2A4598C079EF}"/>
                </a:ext>
                <a:ext uri="{C183D7F6-B498-43B3-948B-1728B52AA6E4}">
                  <adec:decorative xmlns:adec="http://schemas.microsoft.com/office/drawing/2017/decorative" val="1"/>
                </a:ext>
              </a:extLst>
            </p:cNvPr>
            <p:cNvSpPr/>
            <p:nvPr/>
          </p:nvSpPr>
          <p:spPr bwMode="auto">
            <a:xfrm>
              <a:off x="7288413" y="3809424"/>
              <a:ext cx="2153223" cy="2221428"/>
            </a:xfrm>
            <a:prstGeom prst="roundRect">
              <a:avLst>
                <a:gd name="adj" fmla="val 2901"/>
              </a:avLst>
            </a:prstGeom>
            <a:solidFill>
              <a:schemeClr val="bg1">
                <a:alpha val="70000"/>
              </a:schemeClr>
            </a:solidFill>
            <a:ln>
              <a:noFill/>
              <a:headEnd type="none" w="med" len="med"/>
              <a:tailEnd type="none" w="med" len="med"/>
            </a:ln>
            <a:effectLst>
              <a:outerShdw blurRad="63500" dist="127000" dir="2700000" algn="tl" rotWithShape="0">
                <a:srgbClr val="454142">
                  <a:alpha val="1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ea typeface="+mn-ea"/>
                <a:cs typeface="Segoe UI" pitchFamily="34" charset="0"/>
              </a:endParaRPr>
            </a:p>
          </p:txBody>
        </p:sp>
        <p:sp>
          <p:nvSpPr>
            <p:cNvPr id="64" name="TextBox 73">
              <a:extLst>
                <a:ext uri="{FF2B5EF4-FFF2-40B4-BE49-F238E27FC236}">
                  <a16:creationId xmlns:a16="http://schemas.microsoft.com/office/drawing/2014/main" id="{E34E7F58-7275-4440-928D-22F67DFEFC8A}"/>
                </a:ext>
              </a:extLst>
            </p:cNvPr>
            <p:cNvSpPr txBox="1"/>
            <p:nvPr/>
          </p:nvSpPr>
          <p:spPr>
            <a:xfrm>
              <a:off x="7409333" y="4303478"/>
              <a:ext cx="1742685" cy="97462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200"/>
                </a:spcBef>
                <a:spcAft>
                  <a:spcPts val="200"/>
                </a:spcAft>
                <a:defRPr/>
              </a:pPr>
              <a:r>
                <a:rPr lang="en-US" sz="1400">
                  <a:solidFill>
                    <a:schemeClr val="accent4"/>
                  </a:solidFill>
                  <a:latin typeface="+mj-lt"/>
                  <a:cs typeface="Segoe UI Semibold" panose="020B0502040204020203" pitchFamily="34" charset="0"/>
                </a:rPr>
                <a:t>Revise this content </a:t>
              </a:r>
            </a:p>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mn-cs"/>
                </a:rPr>
                <a:t>– When you’ve got a rough draft of an idea, turn it into usable text, and then vary the length and tone.</a:t>
              </a:r>
            </a:p>
          </p:txBody>
        </p:sp>
        <p:sp>
          <p:nvSpPr>
            <p:cNvPr id="65" name="TextBox 10">
              <a:extLst>
                <a:ext uri="{FF2B5EF4-FFF2-40B4-BE49-F238E27FC236}">
                  <a16:creationId xmlns:a16="http://schemas.microsoft.com/office/drawing/2014/main" id="{8621EA2F-9C37-32B6-22BA-FE15FA445CE3}"/>
                </a:ext>
              </a:extLst>
            </p:cNvPr>
            <p:cNvSpPr txBox="1"/>
            <p:nvPr/>
          </p:nvSpPr>
          <p:spPr>
            <a:xfrm>
              <a:off x="9050182" y="3809424"/>
              <a:ext cx="391454" cy="52322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0000"/>
                  </a:solidFill>
                  <a:effectLst/>
                  <a:uLnTx/>
                  <a:uFillTx/>
                  <a:ea typeface="+mn-ea"/>
                  <a:cs typeface="Segoe UI"/>
                </a:rPr>
                <a:t>9</a:t>
              </a:r>
            </a:p>
          </p:txBody>
        </p:sp>
        <p:sp>
          <p:nvSpPr>
            <p:cNvPr id="66" name="TextBox 64">
              <a:extLst>
                <a:ext uri="{FF2B5EF4-FFF2-40B4-BE49-F238E27FC236}">
                  <a16:creationId xmlns:a16="http://schemas.microsoft.com/office/drawing/2014/main" id="{101100B7-8CED-4EAB-42EB-B9B33CD29CE2}"/>
                </a:ext>
              </a:extLst>
            </p:cNvPr>
            <p:cNvSpPr txBox="1"/>
            <p:nvPr/>
          </p:nvSpPr>
          <p:spPr>
            <a:xfrm>
              <a:off x="7602299" y="5531704"/>
              <a:ext cx="1549719" cy="21544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mn-cs"/>
                </a:rPr>
                <a:t>Rewrite with Copilot.</a:t>
              </a:r>
              <a:endParaRPr kumimoji="0" lang="en-US" sz="1050" b="0" i="0" u="none" strike="noStrike" kern="1200" cap="none" spc="0" normalizeH="0" baseline="0" noProof="0">
                <a:ln>
                  <a:noFill/>
                </a:ln>
                <a:solidFill>
                  <a:prstClr val="black"/>
                </a:solidFill>
                <a:effectLst/>
                <a:uLnTx/>
                <a:uFillTx/>
                <a:ea typeface="+mn-ea"/>
                <a:cs typeface="+mn-cs"/>
              </a:endParaRPr>
            </a:p>
          </p:txBody>
        </p:sp>
        <p:pic>
          <p:nvPicPr>
            <p:cNvPr id="67" name="Graphic 66">
              <a:extLst>
                <a:ext uri="{FF2B5EF4-FFF2-40B4-BE49-F238E27FC236}">
                  <a16:creationId xmlns:a16="http://schemas.microsoft.com/office/drawing/2014/main" id="{B3FEB858-854F-62DD-B79B-982B367377DC}"/>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475073" y="5561325"/>
              <a:ext cx="163426" cy="163426"/>
            </a:xfrm>
            <a:prstGeom prst="rect">
              <a:avLst/>
            </a:prstGeom>
          </p:spPr>
        </p:pic>
        <p:pic>
          <p:nvPicPr>
            <p:cNvPr id="68" name="Picture 67" descr="A blue square with white letter on it&#10;&#10;Description automatically generated">
              <a:extLst>
                <a:ext uri="{FF2B5EF4-FFF2-40B4-BE49-F238E27FC236}">
                  <a16:creationId xmlns:a16="http://schemas.microsoft.com/office/drawing/2014/main" id="{63969A7F-746A-70D0-AE6B-9D5637911291}"/>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7500058" y="3990160"/>
              <a:ext cx="301525" cy="280584"/>
            </a:xfrm>
            <a:prstGeom prst="rect">
              <a:avLst/>
            </a:prstGeom>
          </p:spPr>
        </p:pic>
      </p:grpSp>
      <p:sp>
        <p:nvSpPr>
          <p:cNvPr id="54" name="TextBox 108">
            <a:extLst>
              <a:ext uri="{FF2B5EF4-FFF2-40B4-BE49-F238E27FC236}">
                <a16:creationId xmlns:a16="http://schemas.microsoft.com/office/drawing/2014/main" id="{981F4ED5-39D6-B70F-8D4C-7F03CA27ED09}"/>
              </a:ext>
            </a:extLst>
          </p:cNvPr>
          <p:cNvSpPr txBox="1"/>
          <p:nvPr/>
        </p:nvSpPr>
        <p:spPr>
          <a:xfrm>
            <a:off x="2147212" y="6079240"/>
            <a:ext cx="7894400" cy="33586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600" b="1" i="0" u="none" strike="noStrike" kern="100" cap="none" spc="0" normalizeH="0" baseline="0" noProof="0">
                <a:ln>
                  <a:noFill/>
                </a:ln>
                <a:solidFill>
                  <a:srgbClr val="000000"/>
                </a:solidFill>
                <a:effectLst/>
                <a:uLnTx/>
                <a:uFillTx/>
                <a:latin typeface="+mj-lt"/>
                <a:ea typeface="Aptos" panose="020B0004020202020204" pitchFamily="34" charset="0"/>
                <a:cs typeface="Segoe UI Semibold" panose="020B0502040204020203" pitchFamily="34" charset="0"/>
              </a:rPr>
              <a:t> For more prompts, visit the Copilot Lab at: </a:t>
            </a:r>
            <a:r>
              <a:rPr lang="en-US" sz="1600" kern="0">
                <a:gradFill flip="none" rotWithShape="1">
                  <a:gsLst>
                    <a:gs pos="35000">
                      <a:srgbClr val="2DB4FF"/>
                    </a:gs>
                    <a:gs pos="70000">
                      <a:srgbClr val="D660FF"/>
                    </a:gs>
                    <a:gs pos="52000">
                      <a:srgbClr val="818EFF"/>
                    </a:gs>
                    <a:gs pos="30000">
                      <a:srgbClr val="2DB4FF"/>
                    </a:gs>
                    <a:gs pos="3000">
                      <a:srgbClr val="0078D4"/>
                    </a:gs>
                    <a:gs pos="97000">
                      <a:srgbClr val="FEA87A"/>
                    </a:gs>
                  </a:gsLst>
                  <a:lin ang="10800000" scaled="1"/>
                  <a:tileRect/>
                </a:gradFill>
                <a:latin typeface="+mj-lt"/>
                <a:ea typeface="Segoe UI Regular" pitchFamily="34" charset="-122"/>
                <a:hlinkClick r:id="rId10">
                  <a:extLst>
                    <a:ext uri="{A12FA001-AC4F-418D-AE19-62706E023703}">
                      <ahyp:hlinkClr xmlns:ahyp="http://schemas.microsoft.com/office/drawing/2018/hyperlinkcolor" val="tx"/>
                    </a:ext>
                  </a:extLst>
                </a:hlinkClick>
              </a:rPr>
              <a:t>aka.ms/</a:t>
            </a:r>
            <a:r>
              <a:rPr lang="en-US" sz="1600" kern="0" err="1">
                <a:gradFill flip="none" rotWithShape="1">
                  <a:gsLst>
                    <a:gs pos="35000">
                      <a:srgbClr val="2DB4FF"/>
                    </a:gs>
                    <a:gs pos="70000">
                      <a:srgbClr val="D660FF"/>
                    </a:gs>
                    <a:gs pos="52000">
                      <a:srgbClr val="818EFF"/>
                    </a:gs>
                    <a:gs pos="30000">
                      <a:srgbClr val="2DB4FF"/>
                    </a:gs>
                    <a:gs pos="3000">
                      <a:srgbClr val="0078D4"/>
                    </a:gs>
                    <a:gs pos="97000">
                      <a:srgbClr val="FEA87A"/>
                    </a:gs>
                  </a:gsLst>
                  <a:lin ang="10800000" scaled="1"/>
                  <a:tileRect/>
                </a:gradFill>
                <a:latin typeface="+mj-lt"/>
                <a:ea typeface="Segoe UI Regular" pitchFamily="34" charset="-122"/>
                <a:hlinkClick r:id="rId10">
                  <a:extLst>
                    <a:ext uri="{A12FA001-AC4F-418D-AE19-62706E023703}">
                      <ahyp:hlinkClr xmlns:ahyp="http://schemas.microsoft.com/office/drawing/2018/hyperlinkcolor" val="tx"/>
                    </a:ext>
                  </a:extLst>
                </a:hlinkClick>
              </a:rPr>
              <a:t>CopilotLab</a:t>
            </a:r>
            <a:r>
              <a:rPr lang="en-US" sz="1600" kern="0">
                <a:gradFill flip="none" rotWithShape="1">
                  <a:gsLst>
                    <a:gs pos="35000">
                      <a:srgbClr val="2DB4FF"/>
                    </a:gs>
                    <a:gs pos="70000">
                      <a:srgbClr val="D660FF"/>
                    </a:gs>
                    <a:gs pos="52000">
                      <a:srgbClr val="818EFF"/>
                    </a:gs>
                    <a:gs pos="30000">
                      <a:srgbClr val="2DB4FF"/>
                    </a:gs>
                    <a:gs pos="3000">
                      <a:srgbClr val="0078D4"/>
                    </a:gs>
                    <a:gs pos="97000">
                      <a:srgbClr val="FEA87A"/>
                    </a:gs>
                  </a:gsLst>
                  <a:lin ang="10800000" scaled="1"/>
                  <a:tileRect/>
                </a:gradFill>
                <a:latin typeface="+mj-lt"/>
                <a:ea typeface="Segoe UI Regular" pitchFamily="34" charset="-122"/>
              </a:rPr>
              <a:t> </a:t>
            </a:r>
            <a:endParaRPr lang="en-CA" sz="1600" kern="0">
              <a:gradFill flip="none" rotWithShape="1">
                <a:gsLst>
                  <a:gs pos="35000">
                    <a:srgbClr val="2DB4FF"/>
                  </a:gs>
                  <a:gs pos="70000">
                    <a:srgbClr val="D660FF"/>
                  </a:gs>
                  <a:gs pos="52000">
                    <a:srgbClr val="818EFF"/>
                  </a:gs>
                  <a:gs pos="30000">
                    <a:srgbClr val="2DB4FF"/>
                  </a:gs>
                  <a:gs pos="3000">
                    <a:srgbClr val="0078D4"/>
                  </a:gs>
                  <a:gs pos="97000">
                    <a:srgbClr val="FEA87A"/>
                  </a:gs>
                </a:gsLst>
                <a:lin ang="10800000" scaled="1"/>
                <a:tileRect/>
              </a:gradFill>
              <a:latin typeface="+mj-lt"/>
              <a:ea typeface="Segoe UI Regular" pitchFamily="34" charset="-122"/>
            </a:endParaRPr>
          </a:p>
        </p:txBody>
      </p:sp>
      <p:grpSp>
        <p:nvGrpSpPr>
          <p:cNvPr id="55" name="Group 54">
            <a:extLst>
              <a:ext uri="{FF2B5EF4-FFF2-40B4-BE49-F238E27FC236}">
                <a16:creationId xmlns:a16="http://schemas.microsoft.com/office/drawing/2014/main" id="{8C2FA365-CA53-31EA-4EA1-3F733DC62F84}"/>
              </a:ext>
              <a:ext uri="{C183D7F6-B498-43B3-948B-1728B52AA6E4}">
                <adec:decorative xmlns:adec="http://schemas.microsoft.com/office/drawing/2017/decorative" val="1"/>
              </a:ext>
            </a:extLst>
          </p:cNvPr>
          <p:cNvGrpSpPr/>
          <p:nvPr/>
        </p:nvGrpSpPr>
        <p:grpSpPr>
          <a:xfrm>
            <a:off x="2766319" y="3809424"/>
            <a:ext cx="2153223" cy="2221428"/>
            <a:chOff x="2766319" y="3809424"/>
            <a:chExt cx="2153223" cy="2221428"/>
          </a:xfrm>
        </p:grpSpPr>
        <p:grpSp>
          <p:nvGrpSpPr>
            <p:cNvPr id="56" name="Group 55">
              <a:extLst>
                <a:ext uri="{FF2B5EF4-FFF2-40B4-BE49-F238E27FC236}">
                  <a16:creationId xmlns:a16="http://schemas.microsoft.com/office/drawing/2014/main" id="{7514B82E-FFE3-EA48-32D8-B97ED4E263B6}"/>
                </a:ext>
              </a:extLst>
            </p:cNvPr>
            <p:cNvGrpSpPr/>
            <p:nvPr/>
          </p:nvGrpSpPr>
          <p:grpSpPr>
            <a:xfrm>
              <a:off x="2766319" y="3809424"/>
              <a:ext cx="2153223" cy="2221428"/>
              <a:chOff x="2766319" y="3809424"/>
              <a:chExt cx="2153223" cy="2221428"/>
            </a:xfrm>
          </p:grpSpPr>
          <p:sp>
            <p:nvSpPr>
              <p:cNvPr id="58" name="Rounded Rectangle 1">
                <a:extLst>
                  <a:ext uri="{FF2B5EF4-FFF2-40B4-BE49-F238E27FC236}">
                    <a16:creationId xmlns:a16="http://schemas.microsoft.com/office/drawing/2014/main" id="{61343778-9C24-1713-9A84-D5E5CA10B1F6}"/>
                  </a:ext>
                  <a:ext uri="{C183D7F6-B498-43B3-948B-1728B52AA6E4}">
                    <adec:decorative xmlns:adec="http://schemas.microsoft.com/office/drawing/2017/decorative" val="1"/>
                  </a:ext>
                </a:extLst>
              </p:cNvPr>
              <p:cNvSpPr/>
              <p:nvPr/>
            </p:nvSpPr>
            <p:spPr bwMode="auto">
              <a:xfrm>
                <a:off x="2766319" y="3809424"/>
                <a:ext cx="2153223" cy="2221428"/>
              </a:xfrm>
              <a:prstGeom prst="roundRect">
                <a:avLst>
                  <a:gd name="adj" fmla="val 2901"/>
                </a:avLst>
              </a:prstGeom>
              <a:solidFill>
                <a:schemeClr val="bg1">
                  <a:alpha val="70000"/>
                </a:schemeClr>
              </a:solidFill>
              <a:ln>
                <a:noFill/>
                <a:headEnd type="none" w="med" len="med"/>
                <a:tailEnd type="none" w="med" len="med"/>
              </a:ln>
              <a:effectLst>
                <a:outerShdw blurRad="63500" dist="127000" dir="2700000" algn="tl" rotWithShape="0">
                  <a:srgbClr val="454142">
                    <a:alpha val="1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ea typeface="+mn-ea"/>
                  <a:cs typeface="Segoe UI" pitchFamily="34" charset="0"/>
                </a:endParaRPr>
              </a:p>
            </p:txBody>
          </p:sp>
          <p:sp>
            <p:nvSpPr>
              <p:cNvPr id="59" name="TextBox 65">
                <a:extLst>
                  <a:ext uri="{FF2B5EF4-FFF2-40B4-BE49-F238E27FC236}">
                    <a16:creationId xmlns:a16="http://schemas.microsoft.com/office/drawing/2014/main" id="{D1BB983D-BD6C-4F09-6D03-BA8A5EDE9CE7}"/>
                  </a:ext>
                </a:extLst>
              </p:cNvPr>
              <p:cNvSpPr txBox="1"/>
              <p:nvPr/>
            </p:nvSpPr>
            <p:spPr>
              <a:xfrm>
                <a:off x="2887238" y="4303478"/>
                <a:ext cx="1972597" cy="820738"/>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200"/>
                  </a:spcBef>
                  <a:spcAft>
                    <a:spcPts val="200"/>
                  </a:spcAft>
                  <a:defRPr/>
                </a:pPr>
                <a:r>
                  <a:rPr lang="en-US" sz="1400">
                    <a:solidFill>
                      <a:schemeClr val="accent4"/>
                    </a:solidFill>
                    <a:latin typeface="+mj-lt"/>
                    <a:cs typeface="Segoe UI Semibold" panose="020B0502040204020203" pitchFamily="34" charset="0"/>
                  </a:rPr>
                  <a:t>Help me write … </a:t>
                </a:r>
              </a:p>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mn-cs"/>
                  </a:rPr>
                  <a:t>– Jumpstart creativity and write and edit like a pro by getting a first draft in seconds.</a:t>
                </a:r>
              </a:p>
            </p:txBody>
          </p:sp>
          <p:sp>
            <p:nvSpPr>
              <p:cNvPr id="60" name="TextBox 8">
                <a:extLst>
                  <a:ext uri="{FF2B5EF4-FFF2-40B4-BE49-F238E27FC236}">
                    <a16:creationId xmlns:a16="http://schemas.microsoft.com/office/drawing/2014/main" id="{E5A12A2C-C9B0-D34C-75E2-71AC98A667CB}"/>
                  </a:ext>
                </a:extLst>
              </p:cNvPr>
              <p:cNvSpPr txBox="1"/>
              <p:nvPr/>
            </p:nvSpPr>
            <p:spPr>
              <a:xfrm>
                <a:off x="4528088" y="3809424"/>
                <a:ext cx="391454" cy="52322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0000"/>
                    </a:solidFill>
                    <a:effectLst/>
                    <a:uLnTx/>
                    <a:uFillTx/>
                    <a:ea typeface="+mn-ea"/>
                    <a:cs typeface="Segoe UI"/>
                  </a:rPr>
                  <a:t>7</a:t>
                </a:r>
              </a:p>
            </p:txBody>
          </p:sp>
          <p:sp>
            <p:nvSpPr>
              <p:cNvPr id="61" name="TextBox 56">
                <a:extLst>
                  <a:ext uri="{FF2B5EF4-FFF2-40B4-BE49-F238E27FC236}">
                    <a16:creationId xmlns:a16="http://schemas.microsoft.com/office/drawing/2014/main" id="{C44C52D2-9F6F-5B1B-6BBD-166421B461BF}"/>
                  </a:ext>
                </a:extLst>
              </p:cNvPr>
              <p:cNvSpPr txBox="1"/>
              <p:nvPr/>
            </p:nvSpPr>
            <p:spPr>
              <a:xfrm>
                <a:off x="3085792" y="5531704"/>
                <a:ext cx="1149873" cy="33855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800" b="0" i="0" u="none" strike="noStrike" kern="1200" cap="none" spc="0" normalizeH="0" baseline="0" noProof="0">
                    <a:ln>
                      <a:noFill/>
                    </a:ln>
                    <a:solidFill>
                      <a:prstClr val="black"/>
                    </a:solidFill>
                    <a:effectLst/>
                    <a:uLnTx/>
                    <a:uFillTx/>
                    <a:ea typeface="+mn-ea"/>
                    <a:cs typeface="+mn-cs"/>
                  </a:rPr>
                  <a:t>Generate three ways to say [x]. </a:t>
                </a:r>
                <a:endParaRPr kumimoji="0" lang="en-US" sz="1050" b="0" i="0" u="none" strike="noStrike" kern="1200" cap="none" spc="0" normalizeH="0" baseline="0" noProof="0">
                  <a:ln>
                    <a:noFill/>
                  </a:ln>
                  <a:solidFill>
                    <a:prstClr val="black"/>
                  </a:solidFill>
                  <a:effectLst/>
                  <a:uLnTx/>
                  <a:uFillTx/>
                  <a:ea typeface="+mn-ea"/>
                  <a:cs typeface="+mn-cs"/>
                </a:endParaRPr>
              </a:p>
            </p:txBody>
          </p:sp>
          <p:pic>
            <p:nvPicPr>
              <p:cNvPr id="62" name="Graphic 58">
                <a:extLst>
                  <a:ext uri="{FF2B5EF4-FFF2-40B4-BE49-F238E27FC236}">
                    <a16:creationId xmlns:a16="http://schemas.microsoft.com/office/drawing/2014/main" id="{8174F0D8-4B2B-C222-2B1C-A4E1371BC668}"/>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958566" y="5561325"/>
                <a:ext cx="163426" cy="163426"/>
              </a:xfrm>
              <a:prstGeom prst="rect">
                <a:avLst/>
              </a:prstGeom>
            </p:spPr>
          </p:pic>
        </p:grpSp>
        <p:pic>
          <p:nvPicPr>
            <p:cNvPr id="57" name="Picture 56" descr="A blue square with white letter on it&#10;&#10;Description automatically generated">
              <a:extLst>
                <a:ext uri="{FF2B5EF4-FFF2-40B4-BE49-F238E27FC236}">
                  <a16:creationId xmlns:a16="http://schemas.microsoft.com/office/drawing/2014/main" id="{67D73CC4-F608-4CAA-3E2E-EE692F4CBC9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2960920" y="3990160"/>
              <a:ext cx="301525" cy="280584"/>
            </a:xfrm>
            <a:prstGeom prst="rect">
              <a:avLst/>
            </a:prstGeom>
          </p:spPr>
        </p:pic>
      </p:grpSp>
      <p:sp>
        <p:nvSpPr>
          <p:cNvPr id="7" name="Slide Number Placeholder 6">
            <a:extLst>
              <a:ext uri="{FF2B5EF4-FFF2-40B4-BE49-F238E27FC236}">
                <a16:creationId xmlns:a16="http://schemas.microsoft.com/office/drawing/2014/main" id="{2B373054-8A49-87E3-1F89-1AFAFFD27060}"/>
              </a:ext>
            </a:extLst>
          </p:cNvPr>
          <p:cNvSpPr>
            <a:spLocks noGrp="1"/>
          </p:cNvSpPr>
          <p:nvPr>
            <p:ph type="sldNum" sz="quarter" idx="13"/>
          </p:nvPr>
        </p:nvSpPr>
        <p:spPr/>
        <p:txBody>
          <a:bodyPr/>
          <a:lstStyle/>
          <a:p>
            <a:fld id="{5763EE98-C176-4152-A50F-E68840BAFA00}" type="slidenum">
              <a:rPr lang="en-US" smtClean="0"/>
              <a:pPr/>
              <a:t>46</a:t>
            </a:fld>
            <a:endParaRPr lang="en-US"/>
          </a:p>
        </p:txBody>
      </p:sp>
      <p:sp>
        <p:nvSpPr>
          <p:cNvPr id="5" name="Footer Placeholder 4">
            <a:extLst>
              <a:ext uri="{FF2B5EF4-FFF2-40B4-BE49-F238E27FC236}">
                <a16:creationId xmlns:a16="http://schemas.microsoft.com/office/drawing/2014/main" id="{0639E27E-8B7D-3EBF-C1DD-A5B093822D10}"/>
              </a:ext>
            </a:extLst>
          </p:cNvPr>
          <p:cNvSpPr>
            <a:spLocks noGrp="1"/>
          </p:cNvSpPr>
          <p:nvPr>
            <p:ph type="ftr" sz="quarter" idx="12"/>
          </p:nvPr>
        </p:nvSpPr>
        <p:spPr/>
        <p:txBody>
          <a:bodyPr/>
          <a:lstStyle/>
          <a:p>
            <a:r>
              <a:rPr lang="en-US"/>
              <a:t>Building Customer-Centric Services offers</a:t>
            </a:r>
          </a:p>
        </p:txBody>
      </p:sp>
    </p:spTree>
    <p:extLst>
      <p:ext uri="{BB962C8B-B14F-4D97-AF65-F5344CB8AC3E}">
        <p14:creationId xmlns:p14="http://schemas.microsoft.com/office/powerpoint/2010/main" val="3960782882"/>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B8786-EF10-0F27-13E0-00B40E15E23F}"/>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1B0241EA-EFC7-4F58-E205-E925F5A1693E}"/>
              </a:ext>
            </a:extLst>
          </p:cNvPr>
          <p:cNvSpPr>
            <a:spLocks noGrp="1"/>
          </p:cNvSpPr>
          <p:nvPr>
            <p:ph type="title" idx="4294967295"/>
          </p:nvPr>
        </p:nvSpPr>
        <p:spPr>
          <a:xfrm>
            <a:off x="571500" y="3152001"/>
            <a:ext cx="4829175" cy="553998"/>
          </a:xfrm>
        </p:spPr>
        <p:txBody>
          <a:bodyPr anchor="ctr"/>
          <a:lstStyle/>
          <a:p>
            <a:r>
              <a:rPr lang="en-US"/>
              <a:t>Thank you</a:t>
            </a:r>
          </a:p>
        </p:txBody>
      </p:sp>
    </p:spTree>
    <p:extLst>
      <p:ext uri="{BB962C8B-B14F-4D97-AF65-F5344CB8AC3E}">
        <p14:creationId xmlns:p14="http://schemas.microsoft.com/office/powerpoint/2010/main" val="969326354"/>
      </p:ext>
    </p:extLst>
  </p:cSld>
  <p:clrMapOvr>
    <a:masterClrMapping/>
  </p:clrMapOvr>
  <p:transition>
    <p:fade/>
  </p:transition>
</p:sld>
</file>

<file path=ppt/theme/theme1.xml><?xml version="1.0" encoding="utf-8"?>
<a:theme xmlns:a="http://schemas.openxmlformats.org/drawingml/2006/main" name="1_Microsoft 365 Copilot Template">
  <a:themeElements>
    <a:clrScheme name="Microsoft 365 Copilot">
      <a:dk1>
        <a:srgbClr val="091F2C"/>
      </a:dk1>
      <a:lt1>
        <a:srgbClr val="FFFFFF"/>
      </a:lt1>
      <a:dk2>
        <a:srgbClr val="000000"/>
      </a:dk2>
      <a:lt2>
        <a:srgbClr val="FFF8F5"/>
      </a:lt2>
      <a:accent1>
        <a:srgbClr val="0078D4"/>
      </a:accent1>
      <a:accent2>
        <a:srgbClr val="C03BC4"/>
      </a:accent2>
      <a:accent3>
        <a:srgbClr val="FFA38B"/>
      </a:accent3>
      <a:accent4>
        <a:srgbClr val="8661C5"/>
      </a:accent4>
      <a:accent5>
        <a:srgbClr val="8DC8E8"/>
      </a:accent5>
      <a:accent6>
        <a:srgbClr val="FF5C39"/>
      </a:accent6>
      <a:hlink>
        <a:srgbClr val="0078D4"/>
      </a:hlink>
      <a:folHlink>
        <a:srgbClr val="C03BC4"/>
      </a:folHlink>
    </a:clrScheme>
    <a:fontScheme name="FantasyxMSFT">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37823CB9-DC0F-DE49-A7F7-325A4228CCF9}" vid="{6CB80000-F9EA-4D40-9817-2B5CD0D7D27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82c9b6bc-f466-41b0-a79d-3cd02aa4996e">
      <UserInfo>
        <DisplayName>Uriel Rootshtain</DisplayName>
        <AccountId>33</AccountId>
        <AccountType/>
      </UserInfo>
      <UserInfo>
        <DisplayName>Jojo Wright (SHE/HER)</DisplayName>
        <AccountId>24</AccountId>
        <AccountType/>
      </UserInfo>
      <UserInfo>
        <DisplayName>Chris DePalma</DisplayName>
        <AccountId>29</AccountId>
        <AccountType/>
      </UserInfo>
      <UserInfo>
        <DisplayName>Ananthram Balakrishnan</DisplayName>
        <AccountId>18</AccountId>
        <AccountType/>
      </UserInfo>
      <UserInfo>
        <DisplayName>Matt Ontell</DisplayName>
        <AccountId>45</AccountId>
        <AccountType/>
      </UserInfo>
      <UserInfo>
        <DisplayName>Chewy Chong</DisplayName>
        <AccountId>23</AccountId>
        <AccountType/>
      </UserInfo>
      <UserInfo>
        <DisplayName>Chris Large</DisplayName>
        <AccountId>46</AccountId>
        <AccountType/>
      </UserInfo>
      <UserInfo>
        <DisplayName>Ginny Hoban</DisplayName>
        <AccountId>392</AccountId>
        <AccountType/>
      </UserInfo>
      <UserInfo>
        <DisplayName>Keith Overa</DisplayName>
        <AccountId>385</AccountId>
        <AccountType/>
      </UserInfo>
      <UserInfo>
        <DisplayName>Becky Lymberis</DisplayName>
        <AccountId>396</AccountId>
        <AccountType/>
      </UserInfo>
      <UserInfo>
        <DisplayName>Matthew Davis</DisplayName>
        <AccountId>383</AccountId>
        <AccountType/>
      </UserInfo>
      <UserInfo>
        <DisplayName>Zak Bendaga (AG Consulting Partners Inc)</DisplayName>
        <AccountId>466</AccountId>
        <AccountType/>
      </UserInfo>
      <UserInfo>
        <DisplayName>Gloria Sanchez Hernandez</DisplayName>
        <AccountId>17</AccountId>
        <AccountType/>
      </UserInfo>
      <UserInfo>
        <DisplayName>Lisa Proctor (DAVES ASSOCIATES)</DisplayName>
        <AccountId>35</AccountId>
        <AccountType/>
      </UserInfo>
      <UserInfo>
        <DisplayName>Kristi Duarte (Beyondsoft Consulting Inc)</DisplayName>
        <AccountId>6</AccountId>
        <AccountType/>
      </UserInfo>
    </SharedWithUsers>
    <TaxCatchAll xmlns="82c9b6bc-f466-41b0-a79d-3cd02aa4996e" xsi:nil="true"/>
    <lcf76f155ced4ddcb4097134ff3c332f xmlns="cbf19d9c-79bf-4a0e-8372-1ddc31056594">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0399B4BB10B024F9E4CD006D3A2CF1C" ma:contentTypeVersion="17" ma:contentTypeDescription="Create a new document." ma:contentTypeScope="" ma:versionID="39a607acae145bbd07f76374e737882f">
  <xsd:schema xmlns:xsd="http://www.w3.org/2001/XMLSchema" xmlns:xs="http://www.w3.org/2001/XMLSchema" xmlns:p="http://schemas.microsoft.com/office/2006/metadata/properties" xmlns:ns1="http://schemas.microsoft.com/sharepoint/v3" xmlns:ns2="cbf19d9c-79bf-4a0e-8372-1ddc31056594" xmlns:ns3="82c9b6bc-f466-41b0-a79d-3cd02aa4996e" targetNamespace="http://schemas.microsoft.com/office/2006/metadata/properties" ma:root="true" ma:fieldsID="19f903a70fc873d1cef6e0a458ac7b76" ns1:_="" ns2:_="" ns3:_="">
    <xsd:import namespace="http://schemas.microsoft.com/sharepoint/v3"/>
    <xsd:import namespace="cbf19d9c-79bf-4a0e-8372-1ddc31056594"/>
    <xsd:import namespace="82c9b6bc-f466-41b0-a79d-3cd02aa4996e"/>
    <xsd:element name="properties">
      <xsd:complexType>
        <xsd:sequence>
          <xsd:element name="documentManagement">
            <xsd:complexType>
              <xsd:all>
                <xsd:element ref="ns2:MediaServiceMetadata" minOccurs="0"/>
                <xsd:element ref="ns2:MediaServiceSearchProperties" minOccurs="0"/>
                <xsd:element ref="ns2:MediaServiceObjectDetectorVersions" minOccurs="0"/>
                <xsd:element ref="ns1:_ip_UnifiedCompliancePolicyProperties" minOccurs="0"/>
                <xsd:element ref="ns1:_ip_UnifiedCompliancePolicyUIAction" minOccurs="0"/>
                <xsd:element ref="ns2:MediaServiceFastMetadata" minOccurs="0"/>
                <xsd:element ref="ns3:SharedWithUsers" minOccurs="0"/>
                <xsd:element ref="ns3:SharedWithDetail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DateTaken"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bf19d9c-79bf-4a0e-8372-1ddc3105659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SearchProperties" ma:index="9" nillable="true" ma:displayName="MediaServiceSearchProperties" ma:hidden="true" ma:internalName="MediaServiceSearchProperties"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2c9b6bc-f466-41b0-a79d-3cd02aa4996e"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35214d67-09d2-4bcc-8b56-62de3680ecfc}" ma:internalName="TaxCatchAll" ma:showField="CatchAllData" ma:web="82c9b6bc-f466-41b0-a79d-3cd02aa4996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87FD569-B42D-48CF-8785-5980AB3CCDC9}">
  <ds:schemaRefs>
    <ds:schemaRef ds:uri="http://schemas.microsoft.com/sharepoint/v3/contenttype/forms"/>
  </ds:schemaRefs>
</ds:datastoreItem>
</file>

<file path=customXml/itemProps2.xml><?xml version="1.0" encoding="utf-8"?>
<ds:datastoreItem xmlns:ds="http://schemas.openxmlformats.org/officeDocument/2006/customXml" ds:itemID="{4B1A335F-79E5-4135-BB1E-CE7221B97F69}">
  <ds:schemaRefs>
    <ds:schemaRef ds:uri="http://www.w3.org/XML/1998/namespace"/>
    <ds:schemaRef ds:uri="82c9b6bc-f466-41b0-a79d-3cd02aa4996e"/>
    <ds:schemaRef ds:uri="http://schemas.openxmlformats.org/package/2006/metadata/core-properties"/>
    <ds:schemaRef ds:uri="http://schemas.microsoft.com/office/2006/documentManagement/types"/>
    <ds:schemaRef ds:uri="cbf19d9c-79bf-4a0e-8372-1ddc31056594"/>
    <ds:schemaRef ds:uri="http://purl.org/dc/terms/"/>
    <ds:schemaRef ds:uri="http://purl.org/dc/dcmitype/"/>
    <ds:schemaRef ds:uri="http://schemas.microsoft.com/office/2006/metadata/properties"/>
    <ds:schemaRef ds:uri="http://schemas.microsoft.com/office/infopath/2007/PartnerControls"/>
    <ds:schemaRef ds:uri="http://schemas.microsoft.com/sharepoint/v3"/>
    <ds:schemaRef ds:uri="http://purl.org/dc/elements/1.1/"/>
  </ds:schemaRefs>
</ds:datastoreItem>
</file>

<file path=customXml/itemProps3.xml><?xml version="1.0" encoding="utf-8"?>
<ds:datastoreItem xmlns:ds="http://schemas.openxmlformats.org/officeDocument/2006/customXml" ds:itemID="{D36EFAE9-49C5-497A-9623-72587533E11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cbf19d9c-79bf-4a0e-8372-1ddc31056594"/>
    <ds:schemaRef ds:uri="82c9b6bc-f466-41b0-a79d-3cd02aa4996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87</TotalTime>
  <Words>7491</Words>
  <Application>Microsoft Office PowerPoint</Application>
  <PresentationFormat>Widescreen</PresentationFormat>
  <Paragraphs>938</Paragraphs>
  <Slides>47</Slides>
  <Notes>46</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47</vt:i4>
      </vt:variant>
    </vt:vector>
  </HeadingPairs>
  <TitlesOfParts>
    <vt:vector size="63" baseType="lpstr">
      <vt:lpstr>MS Gothic</vt:lpstr>
      <vt:lpstr>Segoe UI Regular</vt:lpstr>
      <vt:lpstr>Aptos</vt:lpstr>
      <vt:lpstr>Arial</vt:lpstr>
      <vt:lpstr>Calibri</vt:lpstr>
      <vt:lpstr>Consolas</vt:lpstr>
      <vt:lpstr>Segoe Sans Display</vt:lpstr>
      <vt:lpstr>Segoe Sans Display Semibold</vt:lpstr>
      <vt:lpstr>Segoe Sans Text</vt:lpstr>
      <vt:lpstr>Segoe Sans Text Semibold</vt:lpstr>
      <vt:lpstr>Segoe UI</vt:lpstr>
      <vt:lpstr>Segoe UI Semibold</vt:lpstr>
      <vt:lpstr>Segoe UI Variable Display Semib</vt:lpstr>
      <vt:lpstr>Segoe UI Variable Display Semibold</vt:lpstr>
      <vt:lpstr>Wingdings</vt:lpstr>
      <vt:lpstr>1_Microsoft 365 Copilot Template</vt:lpstr>
      <vt:lpstr>Building Customer-Centric Services offers</vt:lpstr>
      <vt:lpstr>Guidance and purpose of this deck</vt:lpstr>
      <vt:lpstr>Contents</vt:lpstr>
      <vt:lpstr>Why Microsoft 365 Copilot?</vt:lpstr>
      <vt:lpstr>What sets Microsoft 365 Copilot apart?</vt:lpstr>
      <vt:lpstr>Foundational AI Commitments</vt:lpstr>
      <vt:lpstr>PowerPoint Presentation</vt:lpstr>
      <vt:lpstr>Copilot Studio</vt:lpstr>
      <vt:lpstr>Microsoft 365 + Microsoft Purview are a complete solution to secure and govern Copilot</vt:lpstr>
      <vt:lpstr>Activate the power of Copilot with customers</vt:lpstr>
      <vt:lpstr>M365 Copilot Total Economic Impact (TEI) by Forrester</vt:lpstr>
      <vt:lpstr>Copilot Services Partner Capability View</vt:lpstr>
      <vt:lpstr>Partner services practice activation</vt:lpstr>
      <vt:lpstr>Partner opportunity with Agents</vt:lpstr>
      <vt:lpstr>Implement functional go-to-market strategies across services</vt:lpstr>
      <vt:lpstr>Driving AI transformation with your customers </vt:lpstr>
      <vt:lpstr>Position Copilot offer to include functional scenarios and key business outcomes for customers</vt:lpstr>
      <vt:lpstr>Anatomy of the offer: Construct offer pitch</vt:lpstr>
      <vt:lpstr>AppSource listing guidance</vt:lpstr>
      <vt:lpstr>Examples of a good offer vs bad offer </vt:lpstr>
      <vt:lpstr>Anatomy of a strong ACM Offer – Example</vt:lpstr>
      <vt:lpstr>Example offer for Customer Service</vt:lpstr>
      <vt:lpstr>Example offer for Finance</vt:lpstr>
      <vt:lpstr>Example offer for HR</vt:lpstr>
      <vt:lpstr>Example offer for Legal</vt:lpstr>
      <vt:lpstr>Example offer for Marketing</vt:lpstr>
      <vt:lpstr>Example offer for Sales</vt:lpstr>
      <vt:lpstr>Publishing an offer</vt:lpstr>
      <vt:lpstr>Microsoft 365 Copilot offer</vt:lpstr>
      <vt:lpstr>Microsoft 365 Copilot offer</vt:lpstr>
      <vt:lpstr>Microsoft 365 Copilot offer</vt:lpstr>
      <vt:lpstr>Microsoft 365 Copilot offer</vt:lpstr>
      <vt:lpstr>Microsoft 365 Copilot offer</vt:lpstr>
      <vt:lpstr>Microsoft 365 Copilot offer</vt:lpstr>
      <vt:lpstr>Microsoft 365 Copilot offer</vt:lpstr>
      <vt:lpstr>Microsoft 365 Copilot offer</vt:lpstr>
      <vt:lpstr>Microsoft 365 Copilot offer</vt:lpstr>
      <vt:lpstr>Microsoft 365 Copilot offer</vt:lpstr>
      <vt:lpstr>Microsoft 365 Copilot offer</vt:lpstr>
      <vt:lpstr>Microsoft 365 Copilot offer</vt:lpstr>
      <vt:lpstr>Microsoft 365 Copilot offer</vt:lpstr>
      <vt:lpstr>Microsoft 365 Copilot offer</vt:lpstr>
      <vt:lpstr>Microsoft 365 Copilot</vt:lpstr>
      <vt:lpstr>Copilot Success Kit</vt:lpstr>
      <vt:lpstr>Microsoft 365 Copilot skilling experiences</vt:lpstr>
      <vt:lpstr>Top 10 to ‘Try First’ with Microsoft 365 Copilot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365 Copilot Offer Development Guide</dc:title>
  <dc:creator>Lauren Holland</dc:creator>
  <cp:lastModifiedBy>Monica Yen (BEYONDSOFT CONSULTING INC)</cp:lastModifiedBy>
  <cp:revision>5</cp:revision>
  <dcterms:created xsi:type="dcterms:W3CDTF">2021-09-01T20:36:51Z</dcterms:created>
  <dcterms:modified xsi:type="dcterms:W3CDTF">2025-10-31T21:21:58Z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0x01010020399B4BB10B024F9E4CD006D3A2CF1C</vt:lpwstr>
  </property>
  <property fmtid="{D5CDD505-2E9C-101B-9397-08002B2CF9AE}" pid="3" name="Order">
    <vt:lpwstr>18000.0000000000</vt:lpwstr>
  </property>
  <property fmtid="{D5CDD505-2E9C-101B-9397-08002B2CF9AE}" pid="4" name="xd_Signature">
    <vt:lpwstr/>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MediaServiceImageTags">
    <vt:lpwstr/>
  </property>
</Properties>
</file>